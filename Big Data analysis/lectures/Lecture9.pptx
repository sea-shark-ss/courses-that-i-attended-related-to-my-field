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6"/>
  </p:notesMasterIdLst>
  <p:sldIdLst>
    <p:sldId id="34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Mohammad Rezwanul Huq" initials="DMRH" lastIdx="1" clrIdx="0">
    <p:extLst>
      <p:ext uri="{19B8F6BF-5375-455C-9EA6-DF929625EA0E}">
        <p15:presenceInfo xmlns:p15="http://schemas.microsoft.com/office/powerpoint/2012/main" userId="Dr. Mohammad Rezwanul Huq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59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C4647-674B-45E2-97B4-1E30E228595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BDEC1-A130-4A18-95C6-FEC45539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99426"/>
            <a:ext cx="9144000" cy="11048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19175"/>
            <a:ext cx="9144000" cy="47625"/>
          </a:xfrm>
          <a:custGeom>
            <a:avLst/>
            <a:gdLst/>
            <a:ahLst/>
            <a:cxnLst/>
            <a:rect l="l" t="t" r="r" b="b"/>
            <a:pathLst>
              <a:path w="9144000" h="47625">
                <a:moveTo>
                  <a:pt x="9144000" y="0"/>
                </a:moveTo>
                <a:lnTo>
                  <a:pt x="0" y="0"/>
                </a:lnTo>
                <a:lnTo>
                  <a:pt x="0" y="47625"/>
                </a:lnTo>
                <a:lnTo>
                  <a:pt x="9144000" y="4762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1019175"/>
          </a:xfrm>
          <a:custGeom>
            <a:avLst/>
            <a:gdLst/>
            <a:ahLst/>
            <a:cxnLst/>
            <a:rect l="l" t="t" r="r" b="b"/>
            <a:pathLst>
              <a:path w="9144000" h="1019175">
                <a:moveTo>
                  <a:pt x="9144000" y="0"/>
                </a:moveTo>
                <a:lnTo>
                  <a:pt x="0" y="0"/>
                </a:lnTo>
                <a:lnTo>
                  <a:pt x="0" y="1019175"/>
                </a:lnTo>
                <a:lnTo>
                  <a:pt x="9144000" y="1019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333311"/>
            <a:ext cx="6196076" cy="58578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99426"/>
            <a:ext cx="9144000" cy="11048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19175"/>
            <a:ext cx="9144000" cy="47625"/>
          </a:xfrm>
          <a:custGeom>
            <a:avLst/>
            <a:gdLst/>
            <a:ahLst/>
            <a:cxnLst/>
            <a:rect l="l" t="t" r="r" b="b"/>
            <a:pathLst>
              <a:path w="9144000" h="47625">
                <a:moveTo>
                  <a:pt x="9144000" y="0"/>
                </a:moveTo>
                <a:lnTo>
                  <a:pt x="0" y="0"/>
                </a:lnTo>
                <a:lnTo>
                  <a:pt x="0" y="47625"/>
                </a:lnTo>
                <a:lnTo>
                  <a:pt x="9144000" y="4762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1019175"/>
          </a:xfrm>
          <a:custGeom>
            <a:avLst/>
            <a:gdLst/>
            <a:ahLst/>
            <a:cxnLst/>
            <a:rect l="l" t="t" r="r" b="b"/>
            <a:pathLst>
              <a:path w="9144000" h="1019175">
                <a:moveTo>
                  <a:pt x="9144000" y="0"/>
                </a:moveTo>
                <a:lnTo>
                  <a:pt x="0" y="0"/>
                </a:lnTo>
                <a:lnTo>
                  <a:pt x="0" y="1019175"/>
                </a:lnTo>
                <a:lnTo>
                  <a:pt x="9144000" y="1019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8530" y="1347787"/>
            <a:ext cx="7567930" cy="149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8530" y="1347787"/>
            <a:ext cx="7567930" cy="149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04960" y="6736715"/>
            <a:ext cx="19050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" Type="http://schemas.openxmlformats.org/officeDocument/2006/relationships/image" Target="../media/image36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31" Type="http://schemas.openxmlformats.org/officeDocument/2006/relationships/image" Target="../media/image6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3.png"/><Relationship Id="rId7" Type="http://schemas.openxmlformats.org/officeDocument/2006/relationships/image" Target="../media/image72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3.png"/><Relationship Id="rId7" Type="http://schemas.openxmlformats.org/officeDocument/2006/relationships/image" Target="../media/image76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5.png"/><Relationship Id="rId7" Type="http://schemas.openxmlformats.org/officeDocument/2006/relationships/image" Target="../media/image86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tanford.edu/" TargetMode="External"/><Relationship Id="rId5" Type="http://schemas.openxmlformats.org/officeDocument/2006/relationships/hyperlink" Target="https://thispersondoesnotexist.com/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hispersondoesnotexist.com/" TargetMode="External"/><Relationship Id="rId4" Type="http://schemas.openxmlformats.org/officeDocument/2006/relationships/hyperlink" Target="http://www.stanford.edu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26" Type="http://schemas.openxmlformats.org/officeDocument/2006/relationships/image" Target="../media/image118.png"/><Relationship Id="rId3" Type="http://schemas.openxmlformats.org/officeDocument/2006/relationships/image" Target="../media/image3.png"/><Relationship Id="rId21" Type="http://schemas.openxmlformats.org/officeDocument/2006/relationships/image" Target="../media/image113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5" Type="http://schemas.openxmlformats.org/officeDocument/2006/relationships/image" Target="../media/image117.png"/><Relationship Id="rId2" Type="http://schemas.openxmlformats.org/officeDocument/2006/relationships/image" Target="../media/image95.png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116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23" Type="http://schemas.openxmlformats.org/officeDocument/2006/relationships/image" Target="../media/image115.png"/><Relationship Id="rId28" Type="http://schemas.openxmlformats.org/officeDocument/2006/relationships/image" Target="../media/image120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114.png"/><Relationship Id="rId27" Type="http://schemas.openxmlformats.org/officeDocument/2006/relationships/image" Target="../media/image1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6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2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6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6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4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3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3.png"/><Relationship Id="rId7" Type="http://schemas.openxmlformats.org/officeDocument/2006/relationships/image" Target="../media/image174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5" Type="http://schemas.openxmlformats.org/officeDocument/2006/relationships/image" Target="../media/image172.png"/><Relationship Id="rId10" Type="http://schemas.openxmlformats.org/officeDocument/2006/relationships/image" Target="../media/image177.png"/><Relationship Id="rId4" Type="http://schemas.openxmlformats.org/officeDocument/2006/relationships/image" Target="../media/image136.png"/><Relationship Id="rId9" Type="http://schemas.openxmlformats.org/officeDocument/2006/relationships/image" Target="../media/image17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4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3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3.png"/><Relationship Id="rId7" Type="http://schemas.openxmlformats.org/officeDocument/2006/relationships/image" Target="../media/image183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10" Type="http://schemas.openxmlformats.org/officeDocument/2006/relationships/image" Target="../media/image178.png"/><Relationship Id="rId4" Type="http://schemas.openxmlformats.org/officeDocument/2006/relationships/image" Target="../media/image136.png"/><Relationship Id="rId9" Type="http://schemas.openxmlformats.org/officeDocument/2006/relationships/image" Target="../media/image17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image" Target="../media/image3.png"/><Relationship Id="rId7" Type="http://schemas.openxmlformats.org/officeDocument/2006/relationships/image" Target="../media/image191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9.png"/><Relationship Id="rId10" Type="http://schemas.openxmlformats.org/officeDocument/2006/relationships/image" Target="../media/image194.png"/><Relationship Id="rId4" Type="http://schemas.openxmlformats.org/officeDocument/2006/relationships/image" Target="../media/image188.png"/><Relationship Id="rId9" Type="http://schemas.openxmlformats.org/officeDocument/2006/relationships/image" Target="../media/image19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93.png"/><Relationship Id="rId18" Type="http://schemas.openxmlformats.org/officeDocument/2006/relationships/image" Target="../media/image215.png"/><Relationship Id="rId3" Type="http://schemas.openxmlformats.org/officeDocument/2006/relationships/image" Target="../media/image204.png"/><Relationship Id="rId21" Type="http://schemas.openxmlformats.org/officeDocument/2006/relationships/image" Target="../media/image218.png"/><Relationship Id="rId7" Type="http://schemas.openxmlformats.org/officeDocument/2006/relationships/image" Target="../media/image208.png"/><Relationship Id="rId12" Type="http://schemas.openxmlformats.org/officeDocument/2006/relationships/image" Target="../media/image131.png"/><Relationship Id="rId17" Type="http://schemas.openxmlformats.org/officeDocument/2006/relationships/image" Target="../media/image214.png"/><Relationship Id="rId2" Type="http://schemas.openxmlformats.org/officeDocument/2006/relationships/image" Target="../media/image203.png"/><Relationship Id="rId16" Type="http://schemas.openxmlformats.org/officeDocument/2006/relationships/image" Target="../media/image213.png"/><Relationship Id="rId20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11" Type="http://schemas.openxmlformats.org/officeDocument/2006/relationships/image" Target="../media/image211.png"/><Relationship Id="rId24" Type="http://schemas.openxmlformats.org/officeDocument/2006/relationships/image" Target="../media/image221.png"/><Relationship Id="rId5" Type="http://schemas.openxmlformats.org/officeDocument/2006/relationships/image" Target="../media/image206.png"/><Relationship Id="rId15" Type="http://schemas.openxmlformats.org/officeDocument/2006/relationships/image" Target="../media/image212.png"/><Relationship Id="rId23" Type="http://schemas.openxmlformats.org/officeDocument/2006/relationships/image" Target="../media/image220.png"/><Relationship Id="rId10" Type="http://schemas.openxmlformats.org/officeDocument/2006/relationships/image" Target="../media/image210.png"/><Relationship Id="rId19" Type="http://schemas.openxmlformats.org/officeDocument/2006/relationships/image" Target="../media/image216.png"/><Relationship Id="rId4" Type="http://schemas.openxmlformats.org/officeDocument/2006/relationships/image" Target="../media/image205.png"/><Relationship Id="rId9" Type="http://schemas.openxmlformats.org/officeDocument/2006/relationships/image" Target="../media/image209.png"/><Relationship Id="rId14" Type="http://schemas.openxmlformats.org/officeDocument/2006/relationships/image" Target="../media/image191.png"/><Relationship Id="rId22" Type="http://schemas.openxmlformats.org/officeDocument/2006/relationships/image" Target="../media/image21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8.png"/><Relationship Id="rId4" Type="http://schemas.openxmlformats.org/officeDocument/2006/relationships/image" Target="../media/image20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6.jp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jpg"/><Relationship Id="rId5" Type="http://schemas.openxmlformats.org/officeDocument/2006/relationships/image" Target="../media/image234.jpg"/><Relationship Id="rId4" Type="http://schemas.openxmlformats.org/officeDocument/2006/relationships/image" Target="../media/image23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13300" y="5224398"/>
            <a:ext cx="4330700" cy="11174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Dr. Mohammad Rezwanul Huq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Associate Professor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East West University</a:t>
            </a:r>
            <a:endParaRPr sz="2000" dirty="0">
              <a:latin typeface="Corbel"/>
              <a:cs typeface="Corbe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8D84B-8AF9-4ABB-AF8C-ED978638D2A0}"/>
              </a:ext>
            </a:extLst>
          </p:cNvPr>
          <p:cNvSpPr txBox="1"/>
          <p:nvPr/>
        </p:nvSpPr>
        <p:spPr>
          <a:xfrm>
            <a:off x="304800" y="1905000"/>
            <a:ext cx="883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CSE488: Big Data Analytics</a:t>
            </a:r>
          </a:p>
          <a:p>
            <a:pPr algn="ctr"/>
            <a:endParaRPr lang="en-AU" sz="32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  <a:p>
            <a:pPr algn="ctr"/>
            <a:r>
              <a:rPr lang="en-AU" sz="3600" dirty="0">
                <a:solidFill>
                  <a:srgbClr val="00B0F0"/>
                </a:solidFill>
                <a:latin typeface="Palatino Linotype" panose="02040502050505030304" pitchFamily="18" charset="0"/>
              </a:rPr>
              <a:t>Lecture 9: Analysis of Large Graphs</a:t>
            </a:r>
          </a:p>
          <a:p>
            <a:pPr algn="ctr"/>
            <a:r>
              <a:rPr lang="en-AU" sz="3600" dirty="0">
                <a:solidFill>
                  <a:srgbClr val="00B0F0"/>
                </a:solidFill>
                <a:latin typeface="Palatino Linotype" panose="02040502050505030304" pitchFamily="18" charset="0"/>
              </a:rPr>
              <a:t>           Page Rank Algorithm</a:t>
            </a:r>
            <a:endParaRPr lang="en-US" sz="3600" dirty="0">
              <a:solidFill>
                <a:srgbClr val="00B0F0"/>
              </a:solidFill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5738876" cy="57626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71450" y="1285794"/>
            <a:ext cx="1824355" cy="5320030"/>
            <a:chOff x="171450" y="1285794"/>
            <a:chExt cx="1824355" cy="53200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948" y="1285794"/>
              <a:ext cx="1690904" cy="531981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50" y="1600136"/>
              <a:ext cx="1824101" cy="10906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8600" y="1295400"/>
              <a:ext cx="1638300" cy="5257800"/>
            </a:xfrm>
            <a:custGeom>
              <a:avLst/>
              <a:gdLst/>
              <a:ahLst/>
              <a:cxnLst/>
              <a:rect l="l" t="t" r="r" b="b"/>
              <a:pathLst>
                <a:path w="1638300" h="5257800">
                  <a:moveTo>
                    <a:pt x="1474470" y="0"/>
                  </a:moveTo>
                  <a:lnTo>
                    <a:pt x="163829" y="0"/>
                  </a:lnTo>
                  <a:lnTo>
                    <a:pt x="120279" y="5856"/>
                  </a:lnTo>
                  <a:lnTo>
                    <a:pt x="81144" y="22380"/>
                  </a:lnTo>
                  <a:lnTo>
                    <a:pt x="47986" y="48005"/>
                  </a:lnTo>
                  <a:lnTo>
                    <a:pt x="22368" y="81167"/>
                  </a:lnTo>
                  <a:lnTo>
                    <a:pt x="5852" y="120297"/>
                  </a:lnTo>
                  <a:lnTo>
                    <a:pt x="0" y="163829"/>
                  </a:lnTo>
                  <a:lnTo>
                    <a:pt x="0" y="5093970"/>
                  </a:lnTo>
                  <a:lnTo>
                    <a:pt x="5852" y="5137520"/>
                  </a:lnTo>
                  <a:lnTo>
                    <a:pt x="22368" y="5176655"/>
                  </a:lnTo>
                  <a:lnTo>
                    <a:pt x="47986" y="5209813"/>
                  </a:lnTo>
                  <a:lnTo>
                    <a:pt x="81144" y="5235431"/>
                  </a:lnTo>
                  <a:lnTo>
                    <a:pt x="120279" y="5251947"/>
                  </a:lnTo>
                  <a:lnTo>
                    <a:pt x="163829" y="5257800"/>
                  </a:lnTo>
                  <a:lnTo>
                    <a:pt x="1474470" y="5257800"/>
                  </a:lnTo>
                  <a:lnTo>
                    <a:pt x="1518002" y="5251947"/>
                  </a:lnTo>
                  <a:lnTo>
                    <a:pt x="1557132" y="5235431"/>
                  </a:lnTo>
                  <a:lnTo>
                    <a:pt x="1590294" y="5209813"/>
                  </a:lnTo>
                  <a:lnTo>
                    <a:pt x="1615919" y="5176655"/>
                  </a:lnTo>
                  <a:lnTo>
                    <a:pt x="1632443" y="5137520"/>
                  </a:lnTo>
                  <a:lnTo>
                    <a:pt x="1638300" y="5093970"/>
                  </a:lnTo>
                  <a:lnTo>
                    <a:pt x="1638300" y="163829"/>
                  </a:lnTo>
                  <a:lnTo>
                    <a:pt x="1632443" y="120297"/>
                  </a:lnTo>
                  <a:lnTo>
                    <a:pt x="1615919" y="81167"/>
                  </a:lnTo>
                  <a:lnTo>
                    <a:pt x="1590294" y="48005"/>
                  </a:lnTo>
                  <a:lnTo>
                    <a:pt x="1557132" y="22380"/>
                  </a:lnTo>
                  <a:lnTo>
                    <a:pt x="1518002" y="5856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D2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8145" y="1691322"/>
            <a:ext cx="1306830" cy="7258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5080" indent="-343535">
              <a:lnSpc>
                <a:spcPts val="2630"/>
              </a:lnSpc>
              <a:spcBef>
                <a:spcPts val="395"/>
              </a:spcBef>
            </a:pPr>
            <a:r>
              <a:rPr sz="2400" b="1" dirty="0">
                <a:latin typeface="Corbel"/>
                <a:cs typeface="Corbel"/>
              </a:rPr>
              <a:t>High</a:t>
            </a:r>
            <a:r>
              <a:rPr sz="2400" b="1" spc="-114" dirty="0">
                <a:latin typeface="Corbel"/>
                <a:cs typeface="Corbel"/>
              </a:rPr>
              <a:t> </a:t>
            </a:r>
            <a:r>
              <a:rPr sz="2400" b="1" spc="-5" dirty="0">
                <a:latin typeface="Corbel"/>
                <a:cs typeface="Corbel"/>
              </a:rPr>
              <a:t>dim.  </a:t>
            </a:r>
            <a:r>
              <a:rPr sz="2400" b="1" spc="-10" dirty="0">
                <a:latin typeface="Corbel"/>
                <a:cs typeface="Corbel"/>
              </a:rPr>
              <a:t>data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3375" y="2838386"/>
            <a:ext cx="1433449" cy="114776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32459" y="2966148"/>
            <a:ext cx="843915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7625" algn="just">
              <a:lnSpc>
                <a:spcPct val="92100"/>
              </a:lnSpc>
              <a:spcBef>
                <a:spcPts val="270"/>
              </a:spcBef>
            </a:pP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Locality 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  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hashing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3375" y="4029011"/>
            <a:ext cx="1433449" cy="114776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65784" y="4411281"/>
            <a:ext cx="9702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6225" y="5219700"/>
            <a:ext cx="1557274" cy="114776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60692" y="5353050"/>
            <a:ext cx="1193800" cy="80645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algn="ctr">
              <a:lnSpc>
                <a:spcPct val="92200"/>
              </a:lnSpc>
              <a:spcBef>
                <a:spcPts val="270"/>
              </a:spcBef>
            </a:pP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 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ity 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reduction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33575" y="1266761"/>
            <a:ext cx="1748155" cy="5367655"/>
            <a:chOff x="1933575" y="1266761"/>
            <a:chExt cx="1748155" cy="536765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33575" y="1266761"/>
              <a:ext cx="1747901" cy="53674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62175" y="1600136"/>
              <a:ext cx="1347724" cy="10906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990725" y="1295400"/>
              <a:ext cx="1638300" cy="5257800"/>
            </a:xfrm>
            <a:custGeom>
              <a:avLst/>
              <a:gdLst/>
              <a:ahLst/>
              <a:cxnLst/>
              <a:rect l="l" t="t" r="r" b="b"/>
              <a:pathLst>
                <a:path w="1638300" h="5257800">
                  <a:moveTo>
                    <a:pt x="1474470" y="0"/>
                  </a:moveTo>
                  <a:lnTo>
                    <a:pt x="163830" y="0"/>
                  </a:lnTo>
                  <a:lnTo>
                    <a:pt x="120297" y="5856"/>
                  </a:lnTo>
                  <a:lnTo>
                    <a:pt x="81167" y="22380"/>
                  </a:lnTo>
                  <a:lnTo>
                    <a:pt x="48006" y="48005"/>
                  </a:lnTo>
                  <a:lnTo>
                    <a:pt x="22380" y="81167"/>
                  </a:lnTo>
                  <a:lnTo>
                    <a:pt x="5856" y="120297"/>
                  </a:lnTo>
                  <a:lnTo>
                    <a:pt x="0" y="163829"/>
                  </a:lnTo>
                  <a:lnTo>
                    <a:pt x="0" y="5093970"/>
                  </a:lnTo>
                  <a:lnTo>
                    <a:pt x="5856" y="5137520"/>
                  </a:lnTo>
                  <a:lnTo>
                    <a:pt x="22380" y="5176655"/>
                  </a:lnTo>
                  <a:lnTo>
                    <a:pt x="48006" y="5209813"/>
                  </a:lnTo>
                  <a:lnTo>
                    <a:pt x="81167" y="5235431"/>
                  </a:lnTo>
                  <a:lnTo>
                    <a:pt x="120297" y="5251947"/>
                  </a:lnTo>
                  <a:lnTo>
                    <a:pt x="163830" y="5257800"/>
                  </a:lnTo>
                  <a:lnTo>
                    <a:pt x="1474470" y="5257800"/>
                  </a:lnTo>
                  <a:lnTo>
                    <a:pt x="1518002" y="5251947"/>
                  </a:lnTo>
                  <a:lnTo>
                    <a:pt x="1557132" y="5235431"/>
                  </a:lnTo>
                  <a:lnTo>
                    <a:pt x="1590294" y="5209813"/>
                  </a:lnTo>
                  <a:lnTo>
                    <a:pt x="1615919" y="5176655"/>
                  </a:lnTo>
                  <a:lnTo>
                    <a:pt x="1632443" y="5137520"/>
                  </a:lnTo>
                  <a:lnTo>
                    <a:pt x="1638300" y="5093970"/>
                  </a:lnTo>
                  <a:lnTo>
                    <a:pt x="1638300" y="163829"/>
                  </a:lnTo>
                  <a:lnTo>
                    <a:pt x="1632443" y="120297"/>
                  </a:lnTo>
                  <a:lnTo>
                    <a:pt x="1615919" y="81167"/>
                  </a:lnTo>
                  <a:lnTo>
                    <a:pt x="1590294" y="48005"/>
                  </a:lnTo>
                  <a:lnTo>
                    <a:pt x="1557132" y="22380"/>
                  </a:lnTo>
                  <a:lnTo>
                    <a:pt x="1518002" y="5856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D2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98395" y="1691322"/>
            <a:ext cx="835025" cy="7258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17475" marR="5080" indent="-104775">
              <a:lnSpc>
                <a:spcPts val="2630"/>
              </a:lnSpc>
              <a:spcBef>
                <a:spcPts val="395"/>
              </a:spcBef>
            </a:pPr>
            <a:r>
              <a:rPr sz="2400" b="1" spc="35" dirty="0">
                <a:latin typeface="Corbel"/>
                <a:cs typeface="Corbel"/>
              </a:rPr>
              <a:t>G</a:t>
            </a:r>
            <a:r>
              <a:rPr sz="2400" b="1" spc="-20" dirty="0">
                <a:latin typeface="Corbel"/>
                <a:cs typeface="Corbel"/>
              </a:rPr>
              <a:t>r</a:t>
            </a:r>
            <a:r>
              <a:rPr sz="2400" b="1" spc="-35" dirty="0">
                <a:latin typeface="Corbel"/>
                <a:cs typeface="Corbel"/>
              </a:rPr>
              <a:t>a</a:t>
            </a:r>
            <a:r>
              <a:rPr sz="2400" b="1" spc="25" dirty="0">
                <a:latin typeface="Corbel"/>
                <a:cs typeface="Corbel"/>
              </a:rPr>
              <a:t>p</a:t>
            </a:r>
            <a:r>
              <a:rPr sz="2400" b="1" dirty="0">
                <a:latin typeface="Corbel"/>
                <a:cs typeface="Corbel"/>
              </a:rPr>
              <a:t>h  </a:t>
            </a:r>
            <a:r>
              <a:rPr sz="2400" b="1" spc="-10" dirty="0">
                <a:latin typeface="Corbel"/>
                <a:cs typeface="Corbel"/>
              </a:rPr>
              <a:t>data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85975" y="2838386"/>
            <a:ext cx="1462024" cy="1147762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299080" y="3091878"/>
            <a:ext cx="1026160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5"/>
              </a:lnSpc>
              <a:spcBef>
                <a:spcPts val="100"/>
              </a:spcBef>
            </a:pPr>
            <a:r>
              <a:rPr sz="1800" b="1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b="1" spc="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800" b="1" spc="3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endParaRPr sz="1800">
              <a:latin typeface="Calibri"/>
              <a:cs typeface="Calibri"/>
            </a:endParaRPr>
          </a:p>
          <a:p>
            <a:pPr marL="107314">
              <a:lnSpc>
                <a:spcPts val="2055"/>
              </a:lnSpc>
            </a:pP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SimRank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57400" y="4029011"/>
            <a:ext cx="1538224" cy="114776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251329" y="4285297"/>
            <a:ext cx="1119505" cy="54864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98425" marR="5080" indent="-85725">
              <a:lnSpc>
                <a:spcPts val="1960"/>
              </a:lnSpc>
              <a:spcBef>
                <a:spcPts val="334"/>
              </a:spcBef>
            </a:pP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mm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ty 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85975" y="5219700"/>
            <a:ext cx="1442974" cy="114776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337054" y="5479097"/>
            <a:ext cx="945515" cy="548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200025">
              <a:lnSpc>
                <a:spcPts val="1950"/>
              </a:lnSpc>
              <a:spcBef>
                <a:spcPts val="340"/>
              </a:spcBef>
            </a:pP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Spam 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ete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724198" y="1285794"/>
            <a:ext cx="1691005" cy="5320030"/>
            <a:chOff x="3724198" y="1285794"/>
            <a:chExt cx="1691005" cy="532003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24198" y="1285794"/>
              <a:ext cx="1690904" cy="531981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48099" y="1600136"/>
              <a:ext cx="1490599" cy="109061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752849" y="1295400"/>
              <a:ext cx="1638300" cy="5257800"/>
            </a:xfrm>
            <a:custGeom>
              <a:avLst/>
              <a:gdLst/>
              <a:ahLst/>
              <a:cxnLst/>
              <a:rect l="l" t="t" r="r" b="b"/>
              <a:pathLst>
                <a:path w="1638300" h="5257800">
                  <a:moveTo>
                    <a:pt x="1474470" y="0"/>
                  </a:moveTo>
                  <a:lnTo>
                    <a:pt x="163829" y="0"/>
                  </a:lnTo>
                  <a:lnTo>
                    <a:pt x="120297" y="5856"/>
                  </a:lnTo>
                  <a:lnTo>
                    <a:pt x="81167" y="22380"/>
                  </a:lnTo>
                  <a:lnTo>
                    <a:pt x="48005" y="48005"/>
                  </a:lnTo>
                  <a:lnTo>
                    <a:pt x="22380" y="81167"/>
                  </a:lnTo>
                  <a:lnTo>
                    <a:pt x="5856" y="120297"/>
                  </a:lnTo>
                  <a:lnTo>
                    <a:pt x="0" y="163829"/>
                  </a:lnTo>
                  <a:lnTo>
                    <a:pt x="0" y="5093970"/>
                  </a:lnTo>
                  <a:lnTo>
                    <a:pt x="5856" y="5137520"/>
                  </a:lnTo>
                  <a:lnTo>
                    <a:pt x="22380" y="5176655"/>
                  </a:lnTo>
                  <a:lnTo>
                    <a:pt x="48005" y="5209813"/>
                  </a:lnTo>
                  <a:lnTo>
                    <a:pt x="81167" y="5235431"/>
                  </a:lnTo>
                  <a:lnTo>
                    <a:pt x="120297" y="5251947"/>
                  </a:lnTo>
                  <a:lnTo>
                    <a:pt x="163829" y="5257800"/>
                  </a:lnTo>
                  <a:lnTo>
                    <a:pt x="1474470" y="5257800"/>
                  </a:lnTo>
                  <a:lnTo>
                    <a:pt x="1518002" y="5251947"/>
                  </a:lnTo>
                  <a:lnTo>
                    <a:pt x="1557132" y="5235431"/>
                  </a:lnTo>
                  <a:lnTo>
                    <a:pt x="1590294" y="5209813"/>
                  </a:lnTo>
                  <a:lnTo>
                    <a:pt x="1615919" y="5176655"/>
                  </a:lnTo>
                  <a:lnTo>
                    <a:pt x="1632443" y="5137520"/>
                  </a:lnTo>
                  <a:lnTo>
                    <a:pt x="1638300" y="5093970"/>
                  </a:lnTo>
                  <a:lnTo>
                    <a:pt x="1638300" y="163829"/>
                  </a:lnTo>
                  <a:lnTo>
                    <a:pt x="1632443" y="120297"/>
                  </a:lnTo>
                  <a:lnTo>
                    <a:pt x="1615919" y="81167"/>
                  </a:lnTo>
                  <a:lnTo>
                    <a:pt x="1590294" y="48005"/>
                  </a:lnTo>
                  <a:lnTo>
                    <a:pt x="1557132" y="22380"/>
                  </a:lnTo>
                  <a:lnTo>
                    <a:pt x="1518002" y="5856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D2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084065" y="1691322"/>
            <a:ext cx="981710" cy="7258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93675" marR="5080" indent="-181610">
              <a:lnSpc>
                <a:spcPts val="2630"/>
              </a:lnSpc>
              <a:spcBef>
                <a:spcPts val="395"/>
              </a:spcBef>
            </a:pPr>
            <a:r>
              <a:rPr sz="2400" b="1" spc="5" dirty="0">
                <a:latin typeface="Corbel"/>
                <a:cs typeface="Corbel"/>
              </a:rPr>
              <a:t>I</a:t>
            </a:r>
            <a:r>
              <a:rPr sz="2400" b="1" spc="15" dirty="0">
                <a:latin typeface="Corbel"/>
                <a:cs typeface="Corbel"/>
              </a:rPr>
              <a:t>n</a:t>
            </a:r>
            <a:r>
              <a:rPr sz="2400" b="1" spc="30" dirty="0">
                <a:latin typeface="Corbel"/>
                <a:cs typeface="Corbel"/>
              </a:rPr>
              <a:t>f</a:t>
            </a:r>
            <a:r>
              <a:rPr sz="2400" b="1" dirty="0">
                <a:latin typeface="Corbel"/>
                <a:cs typeface="Corbel"/>
              </a:rPr>
              <a:t>i</a:t>
            </a:r>
            <a:r>
              <a:rPr sz="2400" b="1" spc="20" dirty="0">
                <a:latin typeface="Corbel"/>
                <a:cs typeface="Corbel"/>
              </a:rPr>
              <a:t>n</a:t>
            </a:r>
            <a:r>
              <a:rPr sz="2400" b="1" dirty="0">
                <a:latin typeface="Corbel"/>
                <a:cs typeface="Corbel"/>
              </a:rPr>
              <a:t>i</a:t>
            </a:r>
            <a:r>
              <a:rPr sz="2400" b="1" spc="-10" dirty="0">
                <a:latin typeface="Corbel"/>
                <a:cs typeface="Corbel"/>
              </a:rPr>
              <a:t>t</a:t>
            </a:r>
            <a:r>
              <a:rPr sz="2400" b="1" dirty="0">
                <a:latin typeface="Corbel"/>
                <a:cs typeface="Corbel"/>
              </a:rPr>
              <a:t>e  </a:t>
            </a:r>
            <a:r>
              <a:rPr sz="2400" b="1" spc="-15" dirty="0">
                <a:latin typeface="Corbel"/>
                <a:cs typeface="Corbel"/>
              </a:rPr>
              <a:t>data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48100" y="2838386"/>
            <a:ext cx="1442974" cy="1147762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4175125" y="2966148"/>
            <a:ext cx="801370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065" marR="5080" algn="ctr">
              <a:lnSpc>
                <a:spcPct val="92100"/>
              </a:lnSpc>
              <a:spcBef>
                <a:spcPts val="27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 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data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streams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48100" y="4029011"/>
            <a:ext cx="1442974" cy="1147762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041775" y="4285297"/>
            <a:ext cx="1065530" cy="54864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 marR="5080" indent="304800">
              <a:lnSpc>
                <a:spcPts val="1960"/>
              </a:lnSpc>
              <a:spcBef>
                <a:spcPts val="334"/>
              </a:spcBef>
            </a:pP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Web  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48100" y="5219700"/>
            <a:ext cx="1471549" cy="1147762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4051300" y="5479097"/>
            <a:ext cx="1040765" cy="548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55575" marR="5080" indent="-142875">
              <a:lnSpc>
                <a:spcPts val="1950"/>
              </a:lnSpc>
              <a:spcBef>
                <a:spcPts val="34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on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streams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486323" y="1285794"/>
            <a:ext cx="1710055" cy="5320030"/>
            <a:chOff x="5486323" y="1285794"/>
            <a:chExt cx="1710055" cy="5320030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323" y="1285794"/>
              <a:ext cx="1690904" cy="531981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34024" y="1600136"/>
              <a:ext cx="1662176" cy="109061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514974" y="1295400"/>
              <a:ext cx="1638300" cy="5257800"/>
            </a:xfrm>
            <a:custGeom>
              <a:avLst/>
              <a:gdLst/>
              <a:ahLst/>
              <a:cxnLst/>
              <a:rect l="l" t="t" r="r" b="b"/>
              <a:pathLst>
                <a:path w="1638300" h="5257800">
                  <a:moveTo>
                    <a:pt x="1474470" y="0"/>
                  </a:moveTo>
                  <a:lnTo>
                    <a:pt x="163829" y="0"/>
                  </a:lnTo>
                  <a:lnTo>
                    <a:pt x="120297" y="5856"/>
                  </a:lnTo>
                  <a:lnTo>
                    <a:pt x="81167" y="22380"/>
                  </a:lnTo>
                  <a:lnTo>
                    <a:pt x="48005" y="48005"/>
                  </a:lnTo>
                  <a:lnTo>
                    <a:pt x="22380" y="81167"/>
                  </a:lnTo>
                  <a:lnTo>
                    <a:pt x="5856" y="120297"/>
                  </a:lnTo>
                  <a:lnTo>
                    <a:pt x="0" y="163829"/>
                  </a:lnTo>
                  <a:lnTo>
                    <a:pt x="0" y="5093970"/>
                  </a:lnTo>
                  <a:lnTo>
                    <a:pt x="5856" y="5137520"/>
                  </a:lnTo>
                  <a:lnTo>
                    <a:pt x="22380" y="5176655"/>
                  </a:lnTo>
                  <a:lnTo>
                    <a:pt x="48005" y="5209813"/>
                  </a:lnTo>
                  <a:lnTo>
                    <a:pt x="81167" y="5235431"/>
                  </a:lnTo>
                  <a:lnTo>
                    <a:pt x="120297" y="5251947"/>
                  </a:lnTo>
                  <a:lnTo>
                    <a:pt x="163829" y="5257800"/>
                  </a:lnTo>
                  <a:lnTo>
                    <a:pt x="1474470" y="5257800"/>
                  </a:lnTo>
                  <a:lnTo>
                    <a:pt x="1518002" y="5251947"/>
                  </a:lnTo>
                  <a:lnTo>
                    <a:pt x="1557132" y="5235431"/>
                  </a:lnTo>
                  <a:lnTo>
                    <a:pt x="1590294" y="5209813"/>
                  </a:lnTo>
                  <a:lnTo>
                    <a:pt x="1615919" y="5176655"/>
                  </a:lnTo>
                  <a:lnTo>
                    <a:pt x="1632443" y="5137520"/>
                  </a:lnTo>
                  <a:lnTo>
                    <a:pt x="1638300" y="5093970"/>
                  </a:lnTo>
                  <a:lnTo>
                    <a:pt x="1638300" y="163829"/>
                  </a:lnTo>
                  <a:lnTo>
                    <a:pt x="1632443" y="120297"/>
                  </a:lnTo>
                  <a:lnTo>
                    <a:pt x="1615919" y="81167"/>
                  </a:lnTo>
                  <a:lnTo>
                    <a:pt x="1590294" y="48005"/>
                  </a:lnTo>
                  <a:lnTo>
                    <a:pt x="1557132" y="22380"/>
                  </a:lnTo>
                  <a:lnTo>
                    <a:pt x="1518002" y="5856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D2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769609" y="1691322"/>
            <a:ext cx="1135380" cy="7258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1750" marR="5080" indent="-19050">
              <a:lnSpc>
                <a:spcPts val="2630"/>
              </a:lnSpc>
              <a:spcBef>
                <a:spcPts val="395"/>
              </a:spcBef>
            </a:pPr>
            <a:r>
              <a:rPr sz="2400" b="1" spc="-35" dirty="0">
                <a:latin typeface="Corbel"/>
                <a:cs typeface="Corbel"/>
              </a:rPr>
              <a:t>Ma</a:t>
            </a:r>
            <a:r>
              <a:rPr sz="2400" b="1" spc="-10" dirty="0">
                <a:latin typeface="Corbel"/>
                <a:cs typeface="Corbel"/>
              </a:rPr>
              <a:t>c</a:t>
            </a:r>
            <a:r>
              <a:rPr sz="2400" b="1" dirty="0">
                <a:latin typeface="Corbel"/>
                <a:cs typeface="Corbel"/>
              </a:rPr>
              <a:t>h</a:t>
            </a:r>
            <a:r>
              <a:rPr sz="2400" b="1" spc="5" dirty="0">
                <a:latin typeface="Corbel"/>
                <a:cs typeface="Corbel"/>
              </a:rPr>
              <a:t>i</a:t>
            </a:r>
            <a:r>
              <a:rPr sz="2400" b="1" spc="15" dirty="0">
                <a:latin typeface="Corbel"/>
                <a:cs typeface="Corbel"/>
              </a:rPr>
              <a:t>n</a:t>
            </a:r>
            <a:r>
              <a:rPr sz="2400" b="1" dirty="0">
                <a:latin typeface="Corbel"/>
                <a:cs typeface="Corbel"/>
              </a:rPr>
              <a:t>e  </a:t>
            </a:r>
            <a:r>
              <a:rPr sz="2400" b="1" spc="-10" dirty="0">
                <a:latin typeface="Corbel"/>
                <a:cs typeface="Corbel"/>
              </a:rPr>
              <a:t>learning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610225" y="2838386"/>
            <a:ext cx="1442974" cy="1147762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6108700" y="3217862"/>
            <a:ext cx="4591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610225" y="4029011"/>
            <a:ext cx="1442974" cy="1147762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5927725" y="4285297"/>
            <a:ext cx="821055" cy="54864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65100" marR="5080" indent="-152400">
              <a:lnSpc>
                <a:spcPts val="1960"/>
              </a:lnSpc>
              <a:spcBef>
                <a:spcPts val="334"/>
              </a:spcBef>
            </a:pP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 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Trees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5" name="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581650" y="5219700"/>
            <a:ext cx="1528699" cy="1147762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5775071" y="5479097"/>
            <a:ext cx="1120140" cy="548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5080" indent="-343535">
              <a:lnSpc>
                <a:spcPts val="1950"/>
              </a:lnSpc>
              <a:spcBef>
                <a:spcPts val="340"/>
              </a:spcBef>
            </a:pP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, 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kNN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248448" y="1285794"/>
            <a:ext cx="1691005" cy="5320030"/>
            <a:chOff x="7248448" y="1285794"/>
            <a:chExt cx="1691005" cy="5320030"/>
          </a:xfrm>
        </p:grpSpPr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48448" y="1285794"/>
              <a:ext cx="1690904" cy="531981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515224" y="1762061"/>
              <a:ext cx="1157287" cy="75723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277099" y="1295400"/>
              <a:ext cx="1638300" cy="5257800"/>
            </a:xfrm>
            <a:custGeom>
              <a:avLst/>
              <a:gdLst/>
              <a:ahLst/>
              <a:cxnLst/>
              <a:rect l="l" t="t" r="r" b="b"/>
              <a:pathLst>
                <a:path w="1638300" h="5257800">
                  <a:moveTo>
                    <a:pt x="1474470" y="0"/>
                  </a:moveTo>
                  <a:lnTo>
                    <a:pt x="163829" y="0"/>
                  </a:lnTo>
                  <a:lnTo>
                    <a:pt x="120297" y="5856"/>
                  </a:lnTo>
                  <a:lnTo>
                    <a:pt x="81167" y="22380"/>
                  </a:lnTo>
                  <a:lnTo>
                    <a:pt x="48005" y="48005"/>
                  </a:lnTo>
                  <a:lnTo>
                    <a:pt x="22380" y="81167"/>
                  </a:lnTo>
                  <a:lnTo>
                    <a:pt x="5856" y="120297"/>
                  </a:lnTo>
                  <a:lnTo>
                    <a:pt x="0" y="163829"/>
                  </a:lnTo>
                  <a:lnTo>
                    <a:pt x="0" y="5093970"/>
                  </a:lnTo>
                  <a:lnTo>
                    <a:pt x="5856" y="5137520"/>
                  </a:lnTo>
                  <a:lnTo>
                    <a:pt x="22380" y="5176655"/>
                  </a:lnTo>
                  <a:lnTo>
                    <a:pt x="48005" y="5209813"/>
                  </a:lnTo>
                  <a:lnTo>
                    <a:pt x="81167" y="5235431"/>
                  </a:lnTo>
                  <a:lnTo>
                    <a:pt x="120297" y="5251947"/>
                  </a:lnTo>
                  <a:lnTo>
                    <a:pt x="163829" y="5257800"/>
                  </a:lnTo>
                  <a:lnTo>
                    <a:pt x="1474470" y="5257800"/>
                  </a:lnTo>
                  <a:lnTo>
                    <a:pt x="1518002" y="5251947"/>
                  </a:lnTo>
                  <a:lnTo>
                    <a:pt x="1557132" y="5235431"/>
                  </a:lnTo>
                  <a:lnTo>
                    <a:pt x="1590294" y="5209813"/>
                  </a:lnTo>
                  <a:lnTo>
                    <a:pt x="1615919" y="5176655"/>
                  </a:lnTo>
                  <a:lnTo>
                    <a:pt x="1632443" y="5137520"/>
                  </a:lnTo>
                  <a:lnTo>
                    <a:pt x="1638300" y="5093970"/>
                  </a:lnTo>
                  <a:lnTo>
                    <a:pt x="1638300" y="163829"/>
                  </a:lnTo>
                  <a:lnTo>
                    <a:pt x="1632443" y="120297"/>
                  </a:lnTo>
                  <a:lnTo>
                    <a:pt x="1615919" y="81167"/>
                  </a:lnTo>
                  <a:lnTo>
                    <a:pt x="1590294" y="48005"/>
                  </a:lnTo>
                  <a:lnTo>
                    <a:pt x="1557132" y="22380"/>
                  </a:lnTo>
                  <a:lnTo>
                    <a:pt x="1518002" y="5856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D2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750809" y="1858962"/>
            <a:ext cx="6985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rbel"/>
                <a:cs typeface="Corbel"/>
              </a:rPr>
              <a:t>A</a:t>
            </a:r>
            <a:r>
              <a:rPr sz="2400" b="1" spc="25" dirty="0">
                <a:latin typeface="Corbel"/>
                <a:cs typeface="Corbel"/>
              </a:rPr>
              <a:t>pp</a:t>
            </a:r>
            <a:r>
              <a:rPr sz="2400" b="1" dirty="0">
                <a:latin typeface="Corbel"/>
                <a:cs typeface="Corbel"/>
              </a:rPr>
              <a:t>s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52" name="object 5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343775" y="2838386"/>
            <a:ext cx="1490599" cy="1147762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7536815" y="3091878"/>
            <a:ext cx="1125855" cy="5480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19050">
              <a:lnSpc>
                <a:spcPts val="1950"/>
              </a:lnSpc>
              <a:spcBef>
                <a:spcPts val="34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Recommen 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der</a:t>
            </a:r>
            <a:r>
              <a:rPr sz="18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systems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4" name="object 5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353300" y="4029011"/>
            <a:ext cx="1500124" cy="1147762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7546340" y="4285297"/>
            <a:ext cx="1099820" cy="54864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298450" marR="5080" indent="-286385">
              <a:lnSpc>
                <a:spcPts val="1960"/>
              </a:lnSpc>
              <a:spcBef>
                <a:spcPts val="334"/>
              </a:spcBef>
            </a:pP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ss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ia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 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6" name="object 5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372350" y="5219700"/>
            <a:ext cx="1433449" cy="1147762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7603490" y="5353050"/>
            <a:ext cx="989330" cy="80645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28575" algn="just">
              <a:lnSpc>
                <a:spcPct val="92200"/>
              </a:lnSpc>
              <a:spcBef>
                <a:spcPts val="270"/>
              </a:spcBef>
            </a:pP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Duplicate  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 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986026" y="1300225"/>
            <a:ext cx="1676400" cy="5257800"/>
          </a:xfrm>
          <a:custGeom>
            <a:avLst/>
            <a:gdLst/>
            <a:ahLst/>
            <a:cxnLst/>
            <a:rect l="l" t="t" r="r" b="b"/>
            <a:pathLst>
              <a:path w="1676400" h="5257800">
                <a:moveTo>
                  <a:pt x="0" y="279400"/>
                </a:moveTo>
                <a:lnTo>
                  <a:pt x="3653" y="234049"/>
                </a:lnTo>
                <a:lnTo>
                  <a:pt x="14232" y="191040"/>
                </a:lnTo>
                <a:lnTo>
                  <a:pt x="31162" y="150945"/>
                </a:lnTo>
                <a:lnTo>
                  <a:pt x="53872" y="114336"/>
                </a:lnTo>
                <a:lnTo>
                  <a:pt x="81788" y="81787"/>
                </a:lnTo>
                <a:lnTo>
                  <a:pt x="114336" y="53872"/>
                </a:lnTo>
                <a:lnTo>
                  <a:pt x="150945" y="31162"/>
                </a:lnTo>
                <a:lnTo>
                  <a:pt x="191040" y="14232"/>
                </a:lnTo>
                <a:lnTo>
                  <a:pt x="234049" y="3653"/>
                </a:lnTo>
                <a:lnTo>
                  <a:pt x="279400" y="0"/>
                </a:lnTo>
                <a:lnTo>
                  <a:pt x="1396873" y="0"/>
                </a:lnTo>
                <a:lnTo>
                  <a:pt x="1442226" y="3653"/>
                </a:lnTo>
                <a:lnTo>
                  <a:pt x="1485245" y="14232"/>
                </a:lnTo>
                <a:lnTo>
                  <a:pt x="1525355" y="31162"/>
                </a:lnTo>
                <a:lnTo>
                  <a:pt x="1561981" y="53872"/>
                </a:lnTo>
                <a:lnTo>
                  <a:pt x="1594548" y="81788"/>
                </a:lnTo>
                <a:lnTo>
                  <a:pt x="1622482" y="114336"/>
                </a:lnTo>
                <a:lnTo>
                  <a:pt x="1645209" y="150945"/>
                </a:lnTo>
                <a:lnTo>
                  <a:pt x="1662154" y="191040"/>
                </a:lnTo>
                <a:lnTo>
                  <a:pt x="1672742" y="234049"/>
                </a:lnTo>
                <a:lnTo>
                  <a:pt x="1676400" y="279400"/>
                </a:lnTo>
                <a:lnTo>
                  <a:pt x="1676400" y="4978336"/>
                </a:lnTo>
                <a:lnTo>
                  <a:pt x="1672742" y="5023655"/>
                </a:lnTo>
                <a:lnTo>
                  <a:pt x="1662154" y="5066647"/>
                </a:lnTo>
                <a:lnTo>
                  <a:pt x="1645209" y="5106735"/>
                </a:lnTo>
                <a:lnTo>
                  <a:pt x="1622482" y="5143345"/>
                </a:lnTo>
                <a:lnTo>
                  <a:pt x="1594548" y="5175900"/>
                </a:lnTo>
                <a:lnTo>
                  <a:pt x="1561981" y="5203827"/>
                </a:lnTo>
                <a:lnTo>
                  <a:pt x="1525355" y="5226549"/>
                </a:lnTo>
                <a:lnTo>
                  <a:pt x="1485245" y="5243492"/>
                </a:lnTo>
                <a:lnTo>
                  <a:pt x="1442226" y="5254079"/>
                </a:lnTo>
                <a:lnTo>
                  <a:pt x="1396873" y="5257736"/>
                </a:lnTo>
                <a:lnTo>
                  <a:pt x="279400" y="5257736"/>
                </a:lnTo>
                <a:lnTo>
                  <a:pt x="234049" y="5254079"/>
                </a:lnTo>
                <a:lnTo>
                  <a:pt x="191040" y="5243492"/>
                </a:lnTo>
                <a:lnTo>
                  <a:pt x="150945" y="5226549"/>
                </a:lnTo>
                <a:lnTo>
                  <a:pt x="114336" y="5203827"/>
                </a:lnTo>
                <a:lnTo>
                  <a:pt x="81787" y="5175900"/>
                </a:lnTo>
                <a:lnTo>
                  <a:pt x="53872" y="5143345"/>
                </a:lnTo>
                <a:lnTo>
                  <a:pt x="31162" y="5106735"/>
                </a:lnTo>
                <a:lnTo>
                  <a:pt x="14232" y="5066647"/>
                </a:lnTo>
                <a:lnTo>
                  <a:pt x="3653" y="5023655"/>
                </a:lnTo>
                <a:lnTo>
                  <a:pt x="0" y="4978336"/>
                </a:lnTo>
                <a:lnTo>
                  <a:pt x="0" y="279400"/>
                </a:lnTo>
                <a:close/>
              </a:path>
            </a:pathLst>
          </a:custGeom>
          <a:ln w="12700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8762110" y="6736715"/>
            <a:ext cx="1346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33311"/>
            <a:ext cx="7100951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325" y="1571625"/>
            <a:ext cx="8515350" cy="42195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18869" y="6041707"/>
            <a:ext cx="6913880" cy="6064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" algn="ctr">
              <a:lnSpc>
                <a:spcPts val="2390"/>
              </a:lnSpc>
              <a:spcBef>
                <a:spcPts val="130"/>
              </a:spcBef>
            </a:pPr>
            <a:r>
              <a:rPr sz="2000" b="1" spc="10" dirty="0">
                <a:latin typeface="Corbel"/>
                <a:cs typeface="Corbel"/>
              </a:rPr>
              <a:t>Facebook </a:t>
            </a:r>
            <a:r>
              <a:rPr sz="2000" b="1" spc="5" dirty="0">
                <a:latin typeface="Corbel"/>
                <a:cs typeface="Corbel"/>
              </a:rPr>
              <a:t>social</a:t>
            </a:r>
            <a:r>
              <a:rPr sz="2000" b="1" spc="-225" dirty="0">
                <a:latin typeface="Corbel"/>
                <a:cs typeface="Corbel"/>
              </a:rPr>
              <a:t> </a:t>
            </a:r>
            <a:r>
              <a:rPr sz="2000" b="1" spc="10" dirty="0">
                <a:latin typeface="Corbel"/>
                <a:cs typeface="Corbel"/>
              </a:rPr>
              <a:t>graph</a:t>
            </a:r>
            <a:endParaRPr sz="2000" dirty="0">
              <a:latin typeface="Corbel"/>
              <a:cs typeface="Corbel"/>
            </a:endParaRPr>
          </a:p>
          <a:p>
            <a:pPr algn="ctr">
              <a:lnSpc>
                <a:spcPts val="2150"/>
              </a:lnSpc>
            </a:pPr>
            <a:r>
              <a:rPr sz="1800" b="1" spc="-15" dirty="0">
                <a:solidFill>
                  <a:srgbClr val="7E7E7E"/>
                </a:solidFill>
                <a:latin typeface="Corbel"/>
                <a:cs typeface="Corbel"/>
              </a:rPr>
              <a:t>4-degrees of separation [Backstrom-Boldi-Rosa-Ugander-Vigna,</a:t>
            </a:r>
            <a:r>
              <a:rPr sz="1800" b="1" spc="-10" dirty="0">
                <a:solidFill>
                  <a:srgbClr val="7E7E7E"/>
                </a:solidFill>
                <a:latin typeface="Corbel"/>
                <a:cs typeface="Corbel"/>
              </a:rPr>
              <a:t> </a:t>
            </a:r>
            <a:r>
              <a:rPr sz="1800" b="1" spc="-5" dirty="0">
                <a:solidFill>
                  <a:srgbClr val="7E7E7E"/>
                </a:solidFill>
                <a:latin typeface="Corbel"/>
                <a:cs typeface="Corbel"/>
              </a:rPr>
              <a:t>2011]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62110" y="6736715"/>
            <a:ext cx="1346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3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33311"/>
            <a:ext cx="7148576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1219200"/>
            <a:ext cx="6400800" cy="4800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86610" y="6041707"/>
            <a:ext cx="4987290" cy="6064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" algn="ctr">
              <a:lnSpc>
                <a:spcPts val="2390"/>
              </a:lnSpc>
              <a:spcBef>
                <a:spcPts val="130"/>
              </a:spcBef>
            </a:pPr>
            <a:r>
              <a:rPr sz="2000" b="1" spc="15" dirty="0">
                <a:latin typeface="Corbel"/>
                <a:cs typeface="Corbel"/>
              </a:rPr>
              <a:t>Connections</a:t>
            </a:r>
            <a:r>
              <a:rPr sz="2000" b="1" spc="-145" dirty="0">
                <a:latin typeface="Corbel"/>
                <a:cs typeface="Corbel"/>
              </a:rPr>
              <a:t> </a:t>
            </a:r>
            <a:r>
              <a:rPr sz="2000" b="1" spc="10" dirty="0">
                <a:latin typeface="Corbel"/>
                <a:cs typeface="Corbel"/>
              </a:rPr>
              <a:t>between</a:t>
            </a:r>
            <a:r>
              <a:rPr sz="2000" b="1" spc="-110" dirty="0">
                <a:latin typeface="Corbel"/>
                <a:cs typeface="Corbel"/>
              </a:rPr>
              <a:t> </a:t>
            </a:r>
            <a:r>
              <a:rPr sz="2000" b="1" spc="15" dirty="0">
                <a:latin typeface="Corbel"/>
                <a:cs typeface="Corbel"/>
              </a:rPr>
              <a:t>political</a:t>
            </a:r>
            <a:r>
              <a:rPr sz="2000" b="1" spc="-100" dirty="0">
                <a:latin typeface="Corbel"/>
                <a:cs typeface="Corbel"/>
              </a:rPr>
              <a:t> </a:t>
            </a:r>
            <a:r>
              <a:rPr sz="2000" b="1" spc="15" dirty="0">
                <a:latin typeface="Corbel"/>
                <a:cs typeface="Corbel"/>
              </a:rPr>
              <a:t>blogs</a:t>
            </a:r>
            <a:endParaRPr sz="2000">
              <a:latin typeface="Corbel"/>
              <a:cs typeface="Corbel"/>
            </a:endParaRPr>
          </a:p>
          <a:p>
            <a:pPr algn="ctr">
              <a:lnSpc>
                <a:spcPts val="2150"/>
              </a:lnSpc>
            </a:pPr>
            <a:r>
              <a:rPr sz="1800" b="1" spc="-25" dirty="0">
                <a:solidFill>
                  <a:srgbClr val="7E7E7E"/>
                </a:solidFill>
                <a:latin typeface="Corbel"/>
                <a:cs typeface="Corbel"/>
              </a:rPr>
              <a:t>Polarization </a:t>
            </a:r>
            <a:r>
              <a:rPr sz="1800" b="1" spc="-15" dirty="0">
                <a:solidFill>
                  <a:srgbClr val="7E7E7E"/>
                </a:solidFill>
                <a:latin typeface="Corbel"/>
                <a:cs typeface="Corbel"/>
              </a:rPr>
              <a:t>of </a:t>
            </a:r>
            <a:r>
              <a:rPr sz="1800" b="1" spc="-20" dirty="0">
                <a:solidFill>
                  <a:srgbClr val="7E7E7E"/>
                </a:solidFill>
                <a:latin typeface="Corbel"/>
                <a:cs typeface="Corbel"/>
              </a:rPr>
              <a:t>the network </a:t>
            </a:r>
            <a:r>
              <a:rPr sz="1800" b="1" spc="-5" dirty="0">
                <a:solidFill>
                  <a:srgbClr val="7E7E7E"/>
                </a:solidFill>
                <a:latin typeface="Corbel"/>
                <a:cs typeface="Corbel"/>
              </a:rPr>
              <a:t>[Adamic-Glance,</a:t>
            </a:r>
            <a:r>
              <a:rPr sz="1800" b="1" spc="-204" dirty="0">
                <a:solidFill>
                  <a:srgbClr val="7E7E7E"/>
                </a:solidFill>
                <a:latin typeface="Corbel"/>
                <a:cs typeface="Corbel"/>
              </a:rPr>
              <a:t> </a:t>
            </a:r>
            <a:r>
              <a:rPr sz="1800" b="1" spc="-10" dirty="0">
                <a:solidFill>
                  <a:srgbClr val="7E7E7E"/>
                </a:solidFill>
                <a:latin typeface="Corbel"/>
                <a:cs typeface="Corbel"/>
              </a:rPr>
              <a:t>2005]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62110" y="6736715"/>
            <a:ext cx="1346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083" y="1676400"/>
            <a:ext cx="7991856" cy="42414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323786"/>
            <a:ext cx="7348601" cy="5857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56179" y="5965825"/>
            <a:ext cx="4232910" cy="605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2390"/>
              </a:lnSpc>
              <a:spcBef>
                <a:spcPts val="125"/>
              </a:spcBef>
            </a:pPr>
            <a:r>
              <a:rPr sz="2000" b="1" spc="10" dirty="0">
                <a:latin typeface="Corbel"/>
                <a:cs typeface="Corbel"/>
              </a:rPr>
              <a:t>Citation </a:t>
            </a:r>
            <a:r>
              <a:rPr sz="2000" b="1" dirty="0">
                <a:latin typeface="Corbel"/>
                <a:cs typeface="Corbel"/>
              </a:rPr>
              <a:t>networks </a:t>
            </a:r>
            <a:r>
              <a:rPr sz="2000" b="1" spc="10" dirty="0">
                <a:latin typeface="Corbel"/>
                <a:cs typeface="Corbel"/>
              </a:rPr>
              <a:t>and Maps of</a:t>
            </a:r>
            <a:r>
              <a:rPr sz="2000" b="1" spc="-290" dirty="0">
                <a:latin typeface="Corbel"/>
                <a:cs typeface="Corbel"/>
              </a:rPr>
              <a:t> </a:t>
            </a:r>
            <a:r>
              <a:rPr sz="2000" b="1" spc="10" dirty="0">
                <a:latin typeface="Corbel"/>
                <a:cs typeface="Corbel"/>
              </a:rPr>
              <a:t>science</a:t>
            </a:r>
            <a:endParaRPr sz="2000">
              <a:latin typeface="Corbel"/>
              <a:cs typeface="Corbel"/>
            </a:endParaRPr>
          </a:p>
          <a:p>
            <a:pPr marL="635" algn="ctr">
              <a:lnSpc>
                <a:spcPts val="2150"/>
              </a:lnSpc>
            </a:pPr>
            <a:r>
              <a:rPr sz="1800" b="1" spc="-15" dirty="0">
                <a:solidFill>
                  <a:srgbClr val="7E7E7E"/>
                </a:solidFill>
                <a:latin typeface="Corbel"/>
                <a:cs typeface="Corbel"/>
              </a:rPr>
              <a:t>[Börner et al.,</a:t>
            </a:r>
            <a:r>
              <a:rPr sz="1800" b="1" spc="165" dirty="0">
                <a:solidFill>
                  <a:srgbClr val="7E7E7E"/>
                </a:solidFill>
                <a:latin typeface="Corbel"/>
                <a:cs typeface="Corbel"/>
              </a:rPr>
              <a:t> </a:t>
            </a:r>
            <a:r>
              <a:rPr sz="1800" b="1" spc="-5" dirty="0">
                <a:solidFill>
                  <a:srgbClr val="7E7E7E"/>
                </a:solidFill>
                <a:latin typeface="Corbel"/>
                <a:cs typeface="Corbel"/>
              </a:rPr>
              <a:t>2012]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62110" y="6736715"/>
            <a:ext cx="1346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29169" y="2181054"/>
            <a:ext cx="2386330" cy="2014855"/>
            <a:chOff x="5229169" y="2181054"/>
            <a:chExt cx="2386330" cy="20148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9169" y="2181054"/>
              <a:ext cx="2386185" cy="201470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257799" y="2190749"/>
              <a:ext cx="2333625" cy="1952625"/>
            </a:xfrm>
            <a:custGeom>
              <a:avLst/>
              <a:gdLst/>
              <a:ahLst/>
              <a:cxnLst/>
              <a:rect l="l" t="t" r="r" b="b"/>
              <a:pathLst>
                <a:path w="2333625" h="1952625">
                  <a:moveTo>
                    <a:pt x="1166876" y="0"/>
                  </a:moveTo>
                  <a:lnTo>
                    <a:pt x="1114892" y="951"/>
                  </a:lnTo>
                  <a:lnTo>
                    <a:pt x="1063492" y="3778"/>
                  </a:lnTo>
                  <a:lnTo>
                    <a:pt x="1012722" y="8442"/>
                  </a:lnTo>
                  <a:lnTo>
                    <a:pt x="962630" y="14903"/>
                  </a:lnTo>
                  <a:lnTo>
                    <a:pt x="913262" y="23121"/>
                  </a:lnTo>
                  <a:lnTo>
                    <a:pt x="864668" y="33056"/>
                  </a:lnTo>
                  <a:lnTo>
                    <a:pt x="816893" y="44668"/>
                  </a:lnTo>
                  <a:lnTo>
                    <a:pt x="769985" y="57919"/>
                  </a:lnTo>
                  <a:lnTo>
                    <a:pt x="723992" y="72768"/>
                  </a:lnTo>
                  <a:lnTo>
                    <a:pt x="678961" y="89176"/>
                  </a:lnTo>
                  <a:lnTo>
                    <a:pt x="634940" y="107102"/>
                  </a:lnTo>
                  <a:lnTo>
                    <a:pt x="591975" y="126507"/>
                  </a:lnTo>
                  <a:lnTo>
                    <a:pt x="550115" y="147352"/>
                  </a:lnTo>
                  <a:lnTo>
                    <a:pt x="509406" y="169597"/>
                  </a:lnTo>
                  <a:lnTo>
                    <a:pt x="469897" y="193202"/>
                  </a:lnTo>
                  <a:lnTo>
                    <a:pt x="431634" y="218127"/>
                  </a:lnTo>
                  <a:lnTo>
                    <a:pt x="394665" y="244333"/>
                  </a:lnTo>
                  <a:lnTo>
                    <a:pt x="359037" y="271780"/>
                  </a:lnTo>
                  <a:lnTo>
                    <a:pt x="324798" y="300428"/>
                  </a:lnTo>
                  <a:lnTo>
                    <a:pt x="291995" y="330237"/>
                  </a:lnTo>
                  <a:lnTo>
                    <a:pt x="260675" y="361169"/>
                  </a:lnTo>
                  <a:lnTo>
                    <a:pt x="230886" y="393182"/>
                  </a:lnTo>
                  <a:lnTo>
                    <a:pt x="202676" y="426238"/>
                  </a:lnTo>
                  <a:lnTo>
                    <a:pt x="176092" y="460297"/>
                  </a:lnTo>
                  <a:lnTo>
                    <a:pt x="151180" y="495319"/>
                  </a:lnTo>
                  <a:lnTo>
                    <a:pt x="127989" y="531264"/>
                  </a:lnTo>
                  <a:lnTo>
                    <a:pt x="106566" y="568093"/>
                  </a:lnTo>
                  <a:lnTo>
                    <a:pt x="86958" y="605766"/>
                  </a:lnTo>
                  <a:lnTo>
                    <a:pt x="69213" y="644243"/>
                  </a:lnTo>
                  <a:lnTo>
                    <a:pt x="53378" y="683484"/>
                  </a:lnTo>
                  <a:lnTo>
                    <a:pt x="39501" y="723451"/>
                  </a:lnTo>
                  <a:lnTo>
                    <a:pt x="27629" y="764102"/>
                  </a:lnTo>
                  <a:lnTo>
                    <a:pt x="17809" y="805400"/>
                  </a:lnTo>
                  <a:lnTo>
                    <a:pt x="10088" y="847302"/>
                  </a:lnTo>
                  <a:lnTo>
                    <a:pt x="4515" y="889771"/>
                  </a:lnTo>
                  <a:lnTo>
                    <a:pt x="1136" y="932767"/>
                  </a:lnTo>
                  <a:lnTo>
                    <a:pt x="0" y="976249"/>
                  </a:lnTo>
                  <a:lnTo>
                    <a:pt x="1136" y="1019740"/>
                  </a:lnTo>
                  <a:lnTo>
                    <a:pt x="4515" y="1062745"/>
                  </a:lnTo>
                  <a:lnTo>
                    <a:pt x="10088" y="1105223"/>
                  </a:lnTo>
                  <a:lnTo>
                    <a:pt x="17809" y="1147134"/>
                  </a:lnTo>
                  <a:lnTo>
                    <a:pt x="27629" y="1188439"/>
                  </a:lnTo>
                  <a:lnTo>
                    <a:pt x="39501" y="1229099"/>
                  </a:lnTo>
                  <a:lnTo>
                    <a:pt x="53378" y="1269072"/>
                  </a:lnTo>
                  <a:lnTo>
                    <a:pt x="69213" y="1308320"/>
                  </a:lnTo>
                  <a:lnTo>
                    <a:pt x="86958" y="1346803"/>
                  </a:lnTo>
                  <a:lnTo>
                    <a:pt x="106566" y="1384482"/>
                  </a:lnTo>
                  <a:lnTo>
                    <a:pt x="127989" y="1421316"/>
                  </a:lnTo>
                  <a:lnTo>
                    <a:pt x="151180" y="1457266"/>
                  </a:lnTo>
                  <a:lnTo>
                    <a:pt x="176092" y="1492292"/>
                  </a:lnTo>
                  <a:lnTo>
                    <a:pt x="202676" y="1526355"/>
                  </a:lnTo>
                  <a:lnTo>
                    <a:pt x="230886" y="1559415"/>
                  </a:lnTo>
                  <a:lnTo>
                    <a:pt x="260675" y="1591432"/>
                  </a:lnTo>
                  <a:lnTo>
                    <a:pt x="291995" y="1622367"/>
                  </a:lnTo>
                  <a:lnTo>
                    <a:pt x="324798" y="1652179"/>
                  </a:lnTo>
                  <a:lnTo>
                    <a:pt x="359037" y="1680830"/>
                  </a:lnTo>
                  <a:lnTo>
                    <a:pt x="394665" y="1708279"/>
                  </a:lnTo>
                  <a:lnTo>
                    <a:pt x="431634" y="1734487"/>
                  </a:lnTo>
                  <a:lnTo>
                    <a:pt x="469897" y="1759414"/>
                  </a:lnTo>
                  <a:lnTo>
                    <a:pt x="509406" y="1783020"/>
                  </a:lnTo>
                  <a:lnTo>
                    <a:pt x="550115" y="1805266"/>
                  </a:lnTo>
                  <a:lnTo>
                    <a:pt x="591975" y="1826112"/>
                  </a:lnTo>
                  <a:lnTo>
                    <a:pt x="634940" y="1845519"/>
                  </a:lnTo>
                  <a:lnTo>
                    <a:pt x="678961" y="1863446"/>
                  </a:lnTo>
                  <a:lnTo>
                    <a:pt x="723992" y="1879854"/>
                  </a:lnTo>
                  <a:lnTo>
                    <a:pt x="769985" y="1894704"/>
                  </a:lnTo>
                  <a:lnTo>
                    <a:pt x="816893" y="1907955"/>
                  </a:lnTo>
                  <a:lnTo>
                    <a:pt x="864668" y="1919568"/>
                  </a:lnTo>
                  <a:lnTo>
                    <a:pt x="913262" y="1929503"/>
                  </a:lnTo>
                  <a:lnTo>
                    <a:pt x="962630" y="1937721"/>
                  </a:lnTo>
                  <a:lnTo>
                    <a:pt x="1012722" y="1944182"/>
                  </a:lnTo>
                  <a:lnTo>
                    <a:pt x="1063492" y="1948846"/>
                  </a:lnTo>
                  <a:lnTo>
                    <a:pt x="1114892" y="1951673"/>
                  </a:lnTo>
                  <a:lnTo>
                    <a:pt x="1166876" y="1952625"/>
                  </a:lnTo>
                  <a:lnTo>
                    <a:pt x="1218849" y="1951673"/>
                  </a:lnTo>
                  <a:lnTo>
                    <a:pt x="1270239" y="1948846"/>
                  </a:lnTo>
                  <a:lnTo>
                    <a:pt x="1321001" y="1944182"/>
                  </a:lnTo>
                  <a:lnTo>
                    <a:pt x="1371084" y="1937721"/>
                  </a:lnTo>
                  <a:lnTo>
                    <a:pt x="1420444" y="1929503"/>
                  </a:lnTo>
                  <a:lnTo>
                    <a:pt x="1469031" y="1919568"/>
                  </a:lnTo>
                  <a:lnTo>
                    <a:pt x="1516799" y="1907955"/>
                  </a:lnTo>
                  <a:lnTo>
                    <a:pt x="1563700" y="1894704"/>
                  </a:lnTo>
                  <a:lnTo>
                    <a:pt x="1609687" y="1879854"/>
                  </a:lnTo>
                  <a:lnTo>
                    <a:pt x="1654712" y="1863446"/>
                  </a:lnTo>
                  <a:lnTo>
                    <a:pt x="1698729" y="1845519"/>
                  </a:lnTo>
                  <a:lnTo>
                    <a:pt x="1741688" y="1826112"/>
                  </a:lnTo>
                  <a:lnTo>
                    <a:pt x="1783544" y="1805266"/>
                  </a:lnTo>
                  <a:lnTo>
                    <a:pt x="1824248" y="1783020"/>
                  </a:lnTo>
                  <a:lnTo>
                    <a:pt x="1863754" y="1759414"/>
                  </a:lnTo>
                  <a:lnTo>
                    <a:pt x="1902014" y="1734487"/>
                  </a:lnTo>
                  <a:lnTo>
                    <a:pt x="1938980" y="1708279"/>
                  </a:lnTo>
                  <a:lnTo>
                    <a:pt x="1974604" y="1680830"/>
                  </a:lnTo>
                  <a:lnTo>
                    <a:pt x="2008841" y="1652179"/>
                  </a:lnTo>
                  <a:lnTo>
                    <a:pt x="2041642" y="1622367"/>
                  </a:lnTo>
                  <a:lnTo>
                    <a:pt x="2072959" y="1591432"/>
                  </a:lnTo>
                  <a:lnTo>
                    <a:pt x="2102746" y="1559415"/>
                  </a:lnTo>
                  <a:lnTo>
                    <a:pt x="2130955" y="1526355"/>
                  </a:lnTo>
                  <a:lnTo>
                    <a:pt x="2157538" y="1492292"/>
                  </a:lnTo>
                  <a:lnTo>
                    <a:pt x="2182448" y="1457266"/>
                  </a:lnTo>
                  <a:lnTo>
                    <a:pt x="2205638" y="1421316"/>
                  </a:lnTo>
                  <a:lnTo>
                    <a:pt x="2227060" y="1384482"/>
                  </a:lnTo>
                  <a:lnTo>
                    <a:pt x="2246667" y="1346803"/>
                  </a:lnTo>
                  <a:lnTo>
                    <a:pt x="2264412" y="1308320"/>
                  </a:lnTo>
                  <a:lnTo>
                    <a:pt x="2280246" y="1269072"/>
                  </a:lnTo>
                  <a:lnTo>
                    <a:pt x="2294123" y="1229099"/>
                  </a:lnTo>
                  <a:lnTo>
                    <a:pt x="2305996" y="1188439"/>
                  </a:lnTo>
                  <a:lnTo>
                    <a:pt x="2315816" y="1147134"/>
                  </a:lnTo>
                  <a:lnTo>
                    <a:pt x="2323536" y="1105223"/>
                  </a:lnTo>
                  <a:lnTo>
                    <a:pt x="2329109" y="1062745"/>
                  </a:lnTo>
                  <a:lnTo>
                    <a:pt x="2332488" y="1019740"/>
                  </a:lnTo>
                  <a:lnTo>
                    <a:pt x="2333625" y="976249"/>
                  </a:lnTo>
                  <a:lnTo>
                    <a:pt x="2332488" y="932767"/>
                  </a:lnTo>
                  <a:lnTo>
                    <a:pt x="2329109" y="889771"/>
                  </a:lnTo>
                  <a:lnTo>
                    <a:pt x="2323536" y="847302"/>
                  </a:lnTo>
                  <a:lnTo>
                    <a:pt x="2315816" y="805400"/>
                  </a:lnTo>
                  <a:lnTo>
                    <a:pt x="2305996" y="764102"/>
                  </a:lnTo>
                  <a:lnTo>
                    <a:pt x="2294123" y="723451"/>
                  </a:lnTo>
                  <a:lnTo>
                    <a:pt x="2280246" y="683484"/>
                  </a:lnTo>
                  <a:lnTo>
                    <a:pt x="2264412" y="644243"/>
                  </a:lnTo>
                  <a:lnTo>
                    <a:pt x="2246667" y="605766"/>
                  </a:lnTo>
                  <a:lnTo>
                    <a:pt x="2227060" y="568093"/>
                  </a:lnTo>
                  <a:lnTo>
                    <a:pt x="2205638" y="531264"/>
                  </a:lnTo>
                  <a:lnTo>
                    <a:pt x="2182448" y="495319"/>
                  </a:lnTo>
                  <a:lnTo>
                    <a:pt x="2157538" y="460297"/>
                  </a:lnTo>
                  <a:lnTo>
                    <a:pt x="2130955" y="426238"/>
                  </a:lnTo>
                  <a:lnTo>
                    <a:pt x="2102746" y="393182"/>
                  </a:lnTo>
                  <a:lnTo>
                    <a:pt x="2072959" y="361169"/>
                  </a:lnTo>
                  <a:lnTo>
                    <a:pt x="2041642" y="330237"/>
                  </a:lnTo>
                  <a:lnTo>
                    <a:pt x="2008841" y="300428"/>
                  </a:lnTo>
                  <a:lnTo>
                    <a:pt x="1974604" y="271780"/>
                  </a:lnTo>
                  <a:lnTo>
                    <a:pt x="1938980" y="244333"/>
                  </a:lnTo>
                  <a:lnTo>
                    <a:pt x="1902014" y="218127"/>
                  </a:lnTo>
                  <a:lnTo>
                    <a:pt x="1863754" y="193202"/>
                  </a:lnTo>
                  <a:lnTo>
                    <a:pt x="1824248" y="169597"/>
                  </a:lnTo>
                  <a:lnTo>
                    <a:pt x="1783544" y="147352"/>
                  </a:lnTo>
                  <a:lnTo>
                    <a:pt x="1741688" y="126507"/>
                  </a:lnTo>
                  <a:lnTo>
                    <a:pt x="1698729" y="107102"/>
                  </a:lnTo>
                  <a:lnTo>
                    <a:pt x="1654712" y="89176"/>
                  </a:lnTo>
                  <a:lnTo>
                    <a:pt x="1609687" y="72768"/>
                  </a:lnTo>
                  <a:lnTo>
                    <a:pt x="1563700" y="57919"/>
                  </a:lnTo>
                  <a:lnTo>
                    <a:pt x="1516799" y="44668"/>
                  </a:lnTo>
                  <a:lnTo>
                    <a:pt x="1469031" y="33056"/>
                  </a:lnTo>
                  <a:lnTo>
                    <a:pt x="1420444" y="23121"/>
                  </a:lnTo>
                  <a:lnTo>
                    <a:pt x="1371084" y="14903"/>
                  </a:lnTo>
                  <a:lnTo>
                    <a:pt x="1321001" y="8442"/>
                  </a:lnTo>
                  <a:lnTo>
                    <a:pt x="1270239" y="3778"/>
                  </a:lnTo>
                  <a:lnTo>
                    <a:pt x="1218849" y="951"/>
                  </a:lnTo>
                  <a:lnTo>
                    <a:pt x="1166876" y="0"/>
                  </a:lnTo>
                  <a:close/>
                </a:path>
              </a:pathLst>
            </a:custGeom>
            <a:solidFill>
              <a:srgbClr val="9FD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590727" y="2181167"/>
            <a:ext cx="1786255" cy="1557655"/>
            <a:chOff x="2590727" y="2181167"/>
            <a:chExt cx="1786255" cy="15576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0727" y="2181167"/>
              <a:ext cx="1786146" cy="15574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19374" y="2190749"/>
              <a:ext cx="1733550" cy="1495425"/>
            </a:xfrm>
            <a:custGeom>
              <a:avLst/>
              <a:gdLst/>
              <a:ahLst/>
              <a:cxnLst/>
              <a:rect l="l" t="t" r="r" b="b"/>
              <a:pathLst>
                <a:path w="1733550" h="1495425">
                  <a:moveTo>
                    <a:pt x="866775" y="0"/>
                  </a:moveTo>
                  <a:lnTo>
                    <a:pt x="815849" y="1269"/>
                  </a:lnTo>
                  <a:lnTo>
                    <a:pt x="765698" y="5030"/>
                  </a:lnTo>
                  <a:lnTo>
                    <a:pt x="716403" y="11213"/>
                  </a:lnTo>
                  <a:lnTo>
                    <a:pt x="668045" y="19747"/>
                  </a:lnTo>
                  <a:lnTo>
                    <a:pt x="620705" y="30563"/>
                  </a:lnTo>
                  <a:lnTo>
                    <a:pt x="574464" y="43591"/>
                  </a:lnTo>
                  <a:lnTo>
                    <a:pt x="529405" y="58759"/>
                  </a:lnTo>
                  <a:lnTo>
                    <a:pt x="485608" y="75998"/>
                  </a:lnTo>
                  <a:lnTo>
                    <a:pt x="443154" y="95238"/>
                  </a:lnTo>
                  <a:lnTo>
                    <a:pt x="402126" y="116409"/>
                  </a:lnTo>
                  <a:lnTo>
                    <a:pt x="362604" y="139440"/>
                  </a:lnTo>
                  <a:lnTo>
                    <a:pt x="324669" y="164262"/>
                  </a:lnTo>
                  <a:lnTo>
                    <a:pt x="288404" y="190803"/>
                  </a:lnTo>
                  <a:lnTo>
                    <a:pt x="253888" y="218995"/>
                  </a:lnTo>
                  <a:lnTo>
                    <a:pt x="221205" y="248767"/>
                  </a:lnTo>
                  <a:lnTo>
                    <a:pt x="190434" y="280048"/>
                  </a:lnTo>
                  <a:lnTo>
                    <a:pt x="161658" y="312769"/>
                  </a:lnTo>
                  <a:lnTo>
                    <a:pt x="134957" y="346860"/>
                  </a:lnTo>
                  <a:lnTo>
                    <a:pt x="110413" y="382249"/>
                  </a:lnTo>
                  <a:lnTo>
                    <a:pt x="88107" y="418868"/>
                  </a:lnTo>
                  <a:lnTo>
                    <a:pt x="68121" y="456646"/>
                  </a:lnTo>
                  <a:lnTo>
                    <a:pt x="50536" y="495512"/>
                  </a:lnTo>
                  <a:lnTo>
                    <a:pt x="35433" y="535398"/>
                  </a:lnTo>
                  <a:lnTo>
                    <a:pt x="22894" y="576231"/>
                  </a:lnTo>
                  <a:lnTo>
                    <a:pt x="13000" y="617944"/>
                  </a:lnTo>
                  <a:lnTo>
                    <a:pt x="5832" y="660464"/>
                  </a:lnTo>
                  <a:lnTo>
                    <a:pt x="1471" y="703722"/>
                  </a:lnTo>
                  <a:lnTo>
                    <a:pt x="0" y="747649"/>
                  </a:lnTo>
                  <a:lnTo>
                    <a:pt x="1471" y="791588"/>
                  </a:lnTo>
                  <a:lnTo>
                    <a:pt x="5832" y="834858"/>
                  </a:lnTo>
                  <a:lnTo>
                    <a:pt x="13000" y="877390"/>
                  </a:lnTo>
                  <a:lnTo>
                    <a:pt x="22894" y="919113"/>
                  </a:lnTo>
                  <a:lnTo>
                    <a:pt x="35433" y="959956"/>
                  </a:lnTo>
                  <a:lnTo>
                    <a:pt x="50536" y="999850"/>
                  </a:lnTo>
                  <a:lnTo>
                    <a:pt x="68121" y="1038725"/>
                  </a:lnTo>
                  <a:lnTo>
                    <a:pt x="88107" y="1076510"/>
                  </a:lnTo>
                  <a:lnTo>
                    <a:pt x="110413" y="1113135"/>
                  </a:lnTo>
                  <a:lnTo>
                    <a:pt x="134957" y="1148531"/>
                  </a:lnTo>
                  <a:lnTo>
                    <a:pt x="161658" y="1182626"/>
                  </a:lnTo>
                  <a:lnTo>
                    <a:pt x="190434" y="1215352"/>
                  </a:lnTo>
                  <a:lnTo>
                    <a:pt x="221205" y="1246638"/>
                  </a:lnTo>
                  <a:lnTo>
                    <a:pt x="253888" y="1276413"/>
                  </a:lnTo>
                  <a:lnTo>
                    <a:pt x="288404" y="1304608"/>
                  </a:lnTo>
                  <a:lnTo>
                    <a:pt x="324669" y="1331152"/>
                  </a:lnTo>
                  <a:lnTo>
                    <a:pt x="362604" y="1355976"/>
                  </a:lnTo>
                  <a:lnTo>
                    <a:pt x="402126" y="1379009"/>
                  </a:lnTo>
                  <a:lnTo>
                    <a:pt x="443154" y="1400182"/>
                  </a:lnTo>
                  <a:lnTo>
                    <a:pt x="485608" y="1419423"/>
                  </a:lnTo>
                  <a:lnTo>
                    <a:pt x="529405" y="1436663"/>
                  </a:lnTo>
                  <a:lnTo>
                    <a:pt x="574464" y="1451832"/>
                  </a:lnTo>
                  <a:lnTo>
                    <a:pt x="620705" y="1464860"/>
                  </a:lnTo>
                  <a:lnTo>
                    <a:pt x="668045" y="1475676"/>
                  </a:lnTo>
                  <a:lnTo>
                    <a:pt x="716403" y="1484211"/>
                  </a:lnTo>
                  <a:lnTo>
                    <a:pt x="765698" y="1490394"/>
                  </a:lnTo>
                  <a:lnTo>
                    <a:pt x="815849" y="1494155"/>
                  </a:lnTo>
                  <a:lnTo>
                    <a:pt x="866775" y="1495425"/>
                  </a:lnTo>
                  <a:lnTo>
                    <a:pt x="917700" y="1494155"/>
                  </a:lnTo>
                  <a:lnTo>
                    <a:pt x="967851" y="1490394"/>
                  </a:lnTo>
                  <a:lnTo>
                    <a:pt x="1017146" y="1484211"/>
                  </a:lnTo>
                  <a:lnTo>
                    <a:pt x="1065504" y="1475676"/>
                  </a:lnTo>
                  <a:lnTo>
                    <a:pt x="1112844" y="1464860"/>
                  </a:lnTo>
                  <a:lnTo>
                    <a:pt x="1159085" y="1451832"/>
                  </a:lnTo>
                  <a:lnTo>
                    <a:pt x="1204144" y="1436663"/>
                  </a:lnTo>
                  <a:lnTo>
                    <a:pt x="1247941" y="1419423"/>
                  </a:lnTo>
                  <a:lnTo>
                    <a:pt x="1290395" y="1400182"/>
                  </a:lnTo>
                  <a:lnTo>
                    <a:pt x="1331423" y="1379009"/>
                  </a:lnTo>
                  <a:lnTo>
                    <a:pt x="1370945" y="1355976"/>
                  </a:lnTo>
                  <a:lnTo>
                    <a:pt x="1408880" y="1331152"/>
                  </a:lnTo>
                  <a:lnTo>
                    <a:pt x="1445145" y="1304608"/>
                  </a:lnTo>
                  <a:lnTo>
                    <a:pt x="1479661" y="1276413"/>
                  </a:lnTo>
                  <a:lnTo>
                    <a:pt x="1512344" y="1246638"/>
                  </a:lnTo>
                  <a:lnTo>
                    <a:pt x="1543115" y="1215352"/>
                  </a:lnTo>
                  <a:lnTo>
                    <a:pt x="1571891" y="1182626"/>
                  </a:lnTo>
                  <a:lnTo>
                    <a:pt x="1598592" y="1148531"/>
                  </a:lnTo>
                  <a:lnTo>
                    <a:pt x="1623136" y="1113135"/>
                  </a:lnTo>
                  <a:lnTo>
                    <a:pt x="1645442" y="1076510"/>
                  </a:lnTo>
                  <a:lnTo>
                    <a:pt x="1665428" y="1038725"/>
                  </a:lnTo>
                  <a:lnTo>
                    <a:pt x="1683013" y="999850"/>
                  </a:lnTo>
                  <a:lnTo>
                    <a:pt x="1698116" y="959956"/>
                  </a:lnTo>
                  <a:lnTo>
                    <a:pt x="1710655" y="919113"/>
                  </a:lnTo>
                  <a:lnTo>
                    <a:pt x="1720549" y="877390"/>
                  </a:lnTo>
                  <a:lnTo>
                    <a:pt x="1727717" y="834858"/>
                  </a:lnTo>
                  <a:lnTo>
                    <a:pt x="1732078" y="791588"/>
                  </a:lnTo>
                  <a:lnTo>
                    <a:pt x="1733550" y="747649"/>
                  </a:lnTo>
                  <a:lnTo>
                    <a:pt x="1732078" y="703722"/>
                  </a:lnTo>
                  <a:lnTo>
                    <a:pt x="1727717" y="660464"/>
                  </a:lnTo>
                  <a:lnTo>
                    <a:pt x="1720549" y="617944"/>
                  </a:lnTo>
                  <a:lnTo>
                    <a:pt x="1710655" y="576231"/>
                  </a:lnTo>
                  <a:lnTo>
                    <a:pt x="1698116" y="535398"/>
                  </a:lnTo>
                  <a:lnTo>
                    <a:pt x="1683013" y="495512"/>
                  </a:lnTo>
                  <a:lnTo>
                    <a:pt x="1665428" y="456646"/>
                  </a:lnTo>
                  <a:lnTo>
                    <a:pt x="1645442" y="418868"/>
                  </a:lnTo>
                  <a:lnTo>
                    <a:pt x="1623136" y="382249"/>
                  </a:lnTo>
                  <a:lnTo>
                    <a:pt x="1598592" y="346860"/>
                  </a:lnTo>
                  <a:lnTo>
                    <a:pt x="1571891" y="312769"/>
                  </a:lnTo>
                  <a:lnTo>
                    <a:pt x="1543115" y="280048"/>
                  </a:lnTo>
                  <a:lnTo>
                    <a:pt x="1512344" y="248767"/>
                  </a:lnTo>
                  <a:lnTo>
                    <a:pt x="1479661" y="218995"/>
                  </a:lnTo>
                  <a:lnTo>
                    <a:pt x="1445145" y="190803"/>
                  </a:lnTo>
                  <a:lnTo>
                    <a:pt x="1408880" y="164262"/>
                  </a:lnTo>
                  <a:lnTo>
                    <a:pt x="1370945" y="139440"/>
                  </a:lnTo>
                  <a:lnTo>
                    <a:pt x="1331423" y="116409"/>
                  </a:lnTo>
                  <a:lnTo>
                    <a:pt x="1290395" y="95238"/>
                  </a:lnTo>
                  <a:lnTo>
                    <a:pt x="1247941" y="75998"/>
                  </a:lnTo>
                  <a:lnTo>
                    <a:pt x="1204144" y="58759"/>
                  </a:lnTo>
                  <a:lnTo>
                    <a:pt x="1159085" y="43591"/>
                  </a:lnTo>
                  <a:lnTo>
                    <a:pt x="1112844" y="30563"/>
                  </a:lnTo>
                  <a:lnTo>
                    <a:pt x="1065504" y="19747"/>
                  </a:lnTo>
                  <a:lnTo>
                    <a:pt x="1017146" y="11213"/>
                  </a:lnTo>
                  <a:lnTo>
                    <a:pt x="967851" y="5030"/>
                  </a:lnTo>
                  <a:lnTo>
                    <a:pt x="917700" y="1269"/>
                  </a:lnTo>
                  <a:lnTo>
                    <a:pt x="866775" y="0"/>
                  </a:lnTo>
                  <a:close/>
                </a:path>
              </a:pathLst>
            </a:custGeom>
            <a:solidFill>
              <a:srgbClr val="9FD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390722" y="4219463"/>
            <a:ext cx="2491105" cy="1805305"/>
            <a:chOff x="2390722" y="4219463"/>
            <a:chExt cx="2491105" cy="180530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0722" y="4219463"/>
              <a:ext cx="2490956" cy="180517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19350" y="4229100"/>
              <a:ext cx="2438400" cy="1743075"/>
            </a:xfrm>
            <a:custGeom>
              <a:avLst/>
              <a:gdLst/>
              <a:ahLst/>
              <a:cxnLst/>
              <a:rect l="l" t="t" r="r" b="b"/>
              <a:pathLst>
                <a:path w="2438400" h="1743075">
                  <a:moveTo>
                    <a:pt x="1219200" y="0"/>
                  </a:moveTo>
                  <a:lnTo>
                    <a:pt x="1163391" y="896"/>
                  </a:lnTo>
                  <a:lnTo>
                    <a:pt x="1108226" y="3561"/>
                  </a:lnTo>
                  <a:lnTo>
                    <a:pt x="1053760" y="7954"/>
                  </a:lnTo>
                  <a:lnTo>
                    <a:pt x="1000045" y="14039"/>
                  </a:lnTo>
                  <a:lnTo>
                    <a:pt x="947135" y="21776"/>
                  </a:lnTo>
                  <a:lnTo>
                    <a:pt x="895085" y="31127"/>
                  </a:lnTo>
                  <a:lnTo>
                    <a:pt x="843948" y="42054"/>
                  </a:lnTo>
                  <a:lnTo>
                    <a:pt x="793778" y="54518"/>
                  </a:lnTo>
                  <a:lnTo>
                    <a:pt x="744628" y="68480"/>
                  </a:lnTo>
                  <a:lnTo>
                    <a:pt x="696553" y="83903"/>
                  </a:lnTo>
                  <a:lnTo>
                    <a:pt x="649607" y="100747"/>
                  </a:lnTo>
                  <a:lnTo>
                    <a:pt x="603842" y="118975"/>
                  </a:lnTo>
                  <a:lnTo>
                    <a:pt x="559314" y="138548"/>
                  </a:lnTo>
                  <a:lnTo>
                    <a:pt x="516075" y="159427"/>
                  </a:lnTo>
                  <a:lnTo>
                    <a:pt x="474179" y="181573"/>
                  </a:lnTo>
                  <a:lnTo>
                    <a:pt x="433681" y="204950"/>
                  </a:lnTo>
                  <a:lnTo>
                    <a:pt x="394634" y="229518"/>
                  </a:lnTo>
                  <a:lnTo>
                    <a:pt x="357092" y="255238"/>
                  </a:lnTo>
                  <a:lnTo>
                    <a:pt x="321108" y="282072"/>
                  </a:lnTo>
                  <a:lnTo>
                    <a:pt x="286737" y="309982"/>
                  </a:lnTo>
                  <a:lnTo>
                    <a:pt x="254033" y="338930"/>
                  </a:lnTo>
                  <a:lnTo>
                    <a:pt x="223048" y="368876"/>
                  </a:lnTo>
                  <a:lnTo>
                    <a:pt x="193837" y="399783"/>
                  </a:lnTo>
                  <a:lnTo>
                    <a:pt x="166454" y="431611"/>
                  </a:lnTo>
                  <a:lnTo>
                    <a:pt x="140953" y="464324"/>
                  </a:lnTo>
                  <a:lnTo>
                    <a:pt x="117386" y="497881"/>
                  </a:lnTo>
                  <a:lnTo>
                    <a:pt x="95809" y="532245"/>
                  </a:lnTo>
                  <a:lnTo>
                    <a:pt x="76275" y="567377"/>
                  </a:lnTo>
                  <a:lnTo>
                    <a:pt x="58837" y="603238"/>
                  </a:lnTo>
                  <a:lnTo>
                    <a:pt x="43550" y="639791"/>
                  </a:lnTo>
                  <a:lnTo>
                    <a:pt x="30467" y="676997"/>
                  </a:lnTo>
                  <a:lnTo>
                    <a:pt x="19642" y="714818"/>
                  </a:lnTo>
                  <a:lnTo>
                    <a:pt x="11129" y="753214"/>
                  </a:lnTo>
                  <a:lnTo>
                    <a:pt x="4982" y="792147"/>
                  </a:lnTo>
                  <a:lnTo>
                    <a:pt x="1254" y="831580"/>
                  </a:lnTo>
                  <a:lnTo>
                    <a:pt x="0" y="871474"/>
                  </a:lnTo>
                  <a:lnTo>
                    <a:pt x="1254" y="911377"/>
                  </a:lnTo>
                  <a:lnTo>
                    <a:pt x="4982" y="950820"/>
                  </a:lnTo>
                  <a:lnTo>
                    <a:pt x="11129" y="989762"/>
                  </a:lnTo>
                  <a:lnTo>
                    <a:pt x="19642" y="1028167"/>
                  </a:lnTo>
                  <a:lnTo>
                    <a:pt x="30467" y="1065996"/>
                  </a:lnTo>
                  <a:lnTo>
                    <a:pt x="43550" y="1103209"/>
                  </a:lnTo>
                  <a:lnTo>
                    <a:pt x="58837" y="1139769"/>
                  </a:lnTo>
                  <a:lnTo>
                    <a:pt x="76275" y="1175638"/>
                  </a:lnTo>
                  <a:lnTo>
                    <a:pt x="95809" y="1210776"/>
                  </a:lnTo>
                  <a:lnTo>
                    <a:pt x="117386" y="1245145"/>
                  </a:lnTo>
                  <a:lnTo>
                    <a:pt x="140953" y="1278708"/>
                  </a:lnTo>
                  <a:lnTo>
                    <a:pt x="166454" y="1311425"/>
                  </a:lnTo>
                  <a:lnTo>
                    <a:pt x="193837" y="1343258"/>
                  </a:lnTo>
                  <a:lnTo>
                    <a:pt x="223048" y="1374169"/>
                  </a:lnTo>
                  <a:lnTo>
                    <a:pt x="254033" y="1404119"/>
                  </a:lnTo>
                  <a:lnTo>
                    <a:pt x="286737" y="1433070"/>
                  </a:lnTo>
                  <a:lnTo>
                    <a:pt x="321108" y="1460983"/>
                  </a:lnTo>
                  <a:lnTo>
                    <a:pt x="357092" y="1487820"/>
                  </a:lnTo>
                  <a:lnTo>
                    <a:pt x="394634" y="1513543"/>
                  </a:lnTo>
                  <a:lnTo>
                    <a:pt x="433681" y="1538113"/>
                  </a:lnTo>
                  <a:lnTo>
                    <a:pt x="474179" y="1561491"/>
                  </a:lnTo>
                  <a:lnTo>
                    <a:pt x="516075" y="1583640"/>
                  </a:lnTo>
                  <a:lnTo>
                    <a:pt x="559314" y="1604520"/>
                  </a:lnTo>
                  <a:lnTo>
                    <a:pt x="603842" y="1624094"/>
                  </a:lnTo>
                  <a:lnTo>
                    <a:pt x="649607" y="1642323"/>
                  </a:lnTo>
                  <a:lnTo>
                    <a:pt x="696553" y="1659168"/>
                  </a:lnTo>
                  <a:lnTo>
                    <a:pt x="744628" y="1674592"/>
                  </a:lnTo>
                  <a:lnTo>
                    <a:pt x="793778" y="1688555"/>
                  </a:lnTo>
                  <a:lnTo>
                    <a:pt x="843948" y="1701019"/>
                  </a:lnTo>
                  <a:lnTo>
                    <a:pt x="895085" y="1711946"/>
                  </a:lnTo>
                  <a:lnTo>
                    <a:pt x="947135" y="1721297"/>
                  </a:lnTo>
                  <a:lnTo>
                    <a:pt x="1000045" y="1729035"/>
                  </a:lnTo>
                  <a:lnTo>
                    <a:pt x="1053760" y="1735119"/>
                  </a:lnTo>
                  <a:lnTo>
                    <a:pt x="1108226" y="1739513"/>
                  </a:lnTo>
                  <a:lnTo>
                    <a:pt x="1163391" y="1742178"/>
                  </a:lnTo>
                  <a:lnTo>
                    <a:pt x="1219200" y="1743075"/>
                  </a:lnTo>
                  <a:lnTo>
                    <a:pt x="1275008" y="1742178"/>
                  </a:lnTo>
                  <a:lnTo>
                    <a:pt x="1330173" y="1739513"/>
                  </a:lnTo>
                  <a:lnTo>
                    <a:pt x="1384639" y="1735119"/>
                  </a:lnTo>
                  <a:lnTo>
                    <a:pt x="1438354" y="1729035"/>
                  </a:lnTo>
                  <a:lnTo>
                    <a:pt x="1491264" y="1721297"/>
                  </a:lnTo>
                  <a:lnTo>
                    <a:pt x="1543314" y="1711946"/>
                  </a:lnTo>
                  <a:lnTo>
                    <a:pt x="1594451" y="1701019"/>
                  </a:lnTo>
                  <a:lnTo>
                    <a:pt x="1644621" y="1688555"/>
                  </a:lnTo>
                  <a:lnTo>
                    <a:pt x="1693771" y="1674592"/>
                  </a:lnTo>
                  <a:lnTo>
                    <a:pt x="1741846" y="1659168"/>
                  </a:lnTo>
                  <a:lnTo>
                    <a:pt x="1788792" y="1642323"/>
                  </a:lnTo>
                  <a:lnTo>
                    <a:pt x="1834557" y="1624094"/>
                  </a:lnTo>
                  <a:lnTo>
                    <a:pt x="1879085" y="1604520"/>
                  </a:lnTo>
                  <a:lnTo>
                    <a:pt x="1922324" y="1583640"/>
                  </a:lnTo>
                  <a:lnTo>
                    <a:pt x="1964220" y="1561491"/>
                  </a:lnTo>
                  <a:lnTo>
                    <a:pt x="2004718" y="1538113"/>
                  </a:lnTo>
                  <a:lnTo>
                    <a:pt x="2043765" y="1513543"/>
                  </a:lnTo>
                  <a:lnTo>
                    <a:pt x="2081307" y="1487820"/>
                  </a:lnTo>
                  <a:lnTo>
                    <a:pt x="2117291" y="1460983"/>
                  </a:lnTo>
                  <a:lnTo>
                    <a:pt x="2151662" y="1433070"/>
                  </a:lnTo>
                  <a:lnTo>
                    <a:pt x="2184366" y="1404119"/>
                  </a:lnTo>
                  <a:lnTo>
                    <a:pt x="2215351" y="1374169"/>
                  </a:lnTo>
                  <a:lnTo>
                    <a:pt x="2244562" y="1343258"/>
                  </a:lnTo>
                  <a:lnTo>
                    <a:pt x="2271945" y="1311425"/>
                  </a:lnTo>
                  <a:lnTo>
                    <a:pt x="2297446" y="1278708"/>
                  </a:lnTo>
                  <a:lnTo>
                    <a:pt x="2321013" y="1245145"/>
                  </a:lnTo>
                  <a:lnTo>
                    <a:pt x="2342590" y="1210776"/>
                  </a:lnTo>
                  <a:lnTo>
                    <a:pt x="2362124" y="1175638"/>
                  </a:lnTo>
                  <a:lnTo>
                    <a:pt x="2379562" y="1139769"/>
                  </a:lnTo>
                  <a:lnTo>
                    <a:pt x="2394849" y="1103209"/>
                  </a:lnTo>
                  <a:lnTo>
                    <a:pt x="2407932" y="1065996"/>
                  </a:lnTo>
                  <a:lnTo>
                    <a:pt x="2418757" y="1028167"/>
                  </a:lnTo>
                  <a:lnTo>
                    <a:pt x="2427270" y="989762"/>
                  </a:lnTo>
                  <a:lnTo>
                    <a:pt x="2433417" y="950820"/>
                  </a:lnTo>
                  <a:lnTo>
                    <a:pt x="2437145" y="911377"/>
                  </a:lnTo>
                  <a:lnTo>
                    <a:pt x="2438400" y="871474"/>
                  </a:lnTo>
                  <a:lnTo>
                    <a:pt x="2437145" y="831580"/>
                  </a:lnTo>
                  <a:lnTo>
                    <a:pt x="2433417" y="792147"/>
                  </a:lnTo>
                  <a:lnTo>
                    <a:pt x="2427270" y="753214"/>
                  </a:lnTo>
                  <a:lnTo>
                    <a:pt x="2418757" y="714818"/>
                  </a:lnTo>
                  <a:lnTo>
                    <a:pt x="2407932" y="676997"/>
                  </a:lnTo>
                  <a:lnTo>
                    <a:pt x="2394849" y="639791"/>
                  </a:lnTo>
                  <a:lnTo>
                    <a:pt x="2379562" y="603238"/>
                  </a:lnTo>
                  <a:lnTo>
                    <a:pt x="2362124" y="567377"/>
                  </a:lnTo>
                  <a:lnTo>
                    <a:pt x="2342590" y="532245"/>
                  </a:lnTo>
                  <a:lnTo>
                    <a:pt x="2321013" y="497881"/>
                  </a:lnTo>
                  <a:lnTo>
                    <a:pt x="2297446" y="464324"/>
                  </a:lnTo>
                  <a:lnTo>
                    <a:pt x="2271945" y="431611"/>
                  </a:lnTo>
                  <a:lnTo>
                    <a:pt x="2244562" y="399783"/>
                  </a:lnTo>
                  <a:lnTo>
                    <a:pt x="2215351" y="368876"/>
                  </a:lnTo>
                  <a:lnTo>
                    <a:pt x="2184366" y="338930"/>
                  </a:lnTo>
                  <a:lnTo>
                    <a:pt x="2151662" y="309982"/>
                  </a:lnTo>
                  <a:lnTo>
                    <a:pt x="2117291" y="282072"/>
                  </a:lnTo>
                  <a:lnTo>
                    <a:pt x="2081307" y="255238"/>
                  </a:lnTo>
                  <a:lnTo>
                    <a:pt x="2043765" y="229518"/>
                  </a:lnTo>
                  <a:lnTo>
                    <a:pt x="2004718" y="204950"/>
                  </a:lnTo>
                  <a:lnTo>
                    <a:pt x="1964220" y="181573"/>
                  </a:lnTo>
                  <a:lnTo>
                    <a:pt x="1922324" y="159427"/>
                  </a:lnTo>
                  <a:lnTo>
                    <a:pt x="1879085" y="138548"/>
                  </a:lnTo>
                  <a:lnTo>
                    <a:pt x="1834557" y="118975"/>
                  </a:lnTo>
                  <a:lnTo>
                    <a:pt x="1788792" y="100747"/>
                  </a:lnTo>
                  <a:lnTo>
                    <a:pt x="1741846" y="83903"/>
                  </a:lnTo>
                  <a:lnTo>
                    <a:pt x="1693771" y="68480"/>
                  </a:lnTo>
                  <a:lnTo>
                    <a:pt x="1644621" y="54518"/>
                  </a:lnTo>
                  <a:lnTo>
                    <a:pt x="1594451" y="42054"/>
                  </a:lnTo>
                  <a:lnTo>
                    <a:pt x="1543314" y="31127"/>
                  </a:lnTo>
                  <a:lnTo>
                    <a:pt x="1491264" y="21776"/>
                  </a:lnTo>
                  <a:lnTo>
                    <a:pt x="1438354" y="14039"/>
                  </a:lnTo>
                  <a:lnTo>
                    <a:pt x="1384639" y="7954"/>
                  </a:lnTo>
                  <a:lnTo>
                    <a:pt x="1330173" y="3561"/>
                  </a:lnTo>
                  <a:lnTo>
                    <a:pt x="1275008" y="896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9FD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171763" y="1533588"/>
            <a:ext cx="742950" cy="695325"/>
            <a:chOff x="2171763" y="1533588"/>
            <a:chExt cx="742950" cy="695325"/>
          </a:xfrm>
        </p:grpSpPr>
        <p:sp>
          <p:nvSpPr>
            <p:cNvPr id="12" name="object 12"/>
            <p:cNvSpPr/>
            <p:nvPr/>
          </p:nvSpPr>
          <p:spPr>
            <a:xfrm>
              <a:off x="2176526" y="1538350"/>
              <a:ext cx="733425" cy="685800"/>
            </a:xfrm>
            <a:custGeom>
              <a:avLst/>
              <a:gdLst/>
              <a:ahLst/>
              <a:cxnLst/>
              <a:rect l="l" t="t" r="r" b="b"/>
              <a:pathLst>
                <a:path w="733425" h="685800">
                  <a:moveTo>
                    <a:pt x="0" y="685800"/>
                  </a:moveTo>
                  <a:lnTo>
                    <a:pt x="199898" y="485775"/>
                  </a:lnTo>
                  <a:lnTo>
                    <a:pt x="733425" y="485775"/>
                  </a:lnTo>
                  <a:lnTo>
                    <a:pt x="533400" y="685800"/>
                  </a:lnTo>
                  <a:lnTo>
                    <a:pt x="0" y="685800"/>
                  </a:lnTo>
                  <a:close/>
                </a:path>
                <a:path w="733425" h="685800">
                  <a:moveTo>
                    <a:pt x="180975" y="485775"/>
                  </a:moveTo>
                  <a:lnTo>
                    <a:pt x="733425" y="485775"/>
                  </a:lnTo>
                  <a:lnTo>
                    <a:pt x="733425" y="0"/>
                  </a:lnTo>
                  <a:lnTo>
                    <a:pt x="180975" y="0"/>
                  </a:lnTo>
                  <a:lnTo>
                    <a:pt x="180975" y="4857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71776" y="2062225"/>
              <a:ext cx="552450" cy="104775"/>
            </a:xfrm>
            <a:custGeom>
              <a:avLst/>
              <a:gdLst/>
              <a:ahLst/>
              <a:cxnLst/>
              <a:rect l="l" t="t" r="r" b="b"/>
              <a:pathLst>
                <a:path w="552450" h="104775">
                  <a:moveTo>
                    <a:pt x="104775" y="0"/>
                  </a:moveTo>
                  <a:lnTo>
                    <a:pt x="552450" y="0"/>
                  </a:lnTo>
                </a:path>
                <a:path w="552450" h="104775">
                  <a:moveTo>
                    <a:pt x="76200" y="38100"/>
                  </a:moveTo>
                  <a:lnTo>
                    <a:pt x="523875" y="38100"/>
                  </a:lnTo>
                </a:path>
                <a:path w="552450" h="104775">
                  <a:moveTo>
                    <a:pt x="47625" y="66675"/>
                  </a:moveTo>
                  <a:lnTo>
                    <a:pt x="495300" y="66675"/>
                  </a:lnTo>
                </a:path>
                <a:path w="552450" h="104775">
                  <a:moveTo>
                    <a:pt x="0" y="104775"/>
                  </a:moveTo>
                  <a:lnTo>
                    <a:pt x="4476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457388" y="2409888"/>
            <a:ext cx="742950" cy="695325"/>
            <a:chOff x="1457388" y="2409888"/>
            <a:chExt cx="742950" cy="695325"/>
          </a:xfrm>
        </p:grpSpPr>
        <p:sp>
          <p:nvSpPr>
            <p:cNvPr id="15" name="object 15"/>
            <p:cNvSpPr/>
            <p:nvPr/>
          </p:nvSpPr>
          <p:spPr>
            <a:xfrm>
              <a:off x="1462150" y="2414651"/>
              <a:ext cx="733425" cy="685800"/>
            </a:xfrm>
            <a:custGeom>
              <a:avLst/>
              <a:gdLst/>
              <a:ahLst/>
              <a:cxnLst/>
              <a:rect l="l" t="t" r="r" b="b"/>
              <a:pathLst>
                <a:path w="733425" h="685800">
                  <a:moveTo>
                    <a:pt x="0" y="685800"/>
                  </a:moveTo>
                  <a:lnTo>
                    <a:pt x="199898" y="485775"/>
                  </a:lnTo>
                  <a:lnTo>
                    <a:pt x="733425" y="485775"/>
                  </a:lnTo>
                  <a:lnTo>
                    <a:pt x="533400" y="685800"/>
                  </a:lnTo>
                  <a:lnTo>
                    <a:pt x="0" y="685800"/>
                  </a:lnTo>
                  <a:close/>
                </a:path>
                <a:path w="733425" h="685800">
                  <a:moveTo>
                    <a:pt x="180975" y="485775"/>
                  </a:moveTo>
                  <a:lnTo>
                    <a:pt x="733425" y="485775"/>
                  </a:lnTo>
                  <a:lnTo>
                    <a:pt x="733425" y="0"/>
                  </a:lnTo>
                  <a:lnTo>
                    <a:pt x="180975" y="0"/>
                  </a:lnTo>
                  <a:lnTo>
                    <a:pt x="180975" y="4857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57400" y="2938526"/>
              <a:ext cx="552450" cy="104775"/>
            </a:xfrm>
            <a:custGeom>
              <a:avLst/>
              <a:gdLst/>
              <a:ahLst/>
              <a:cxnLst/>
              <a:rect l="l" t="t" r="r" b="b"/>
              <a:pathLst>
                <a:path w="552450" h="104775">
                  <a:moveTo>
                    <a:pt x="104775" y="0"/>
                  </a:moveTo>
                  <a:lnTo>
                    <a:pt x="552450" y="0"/>
                  </a:lnTo>
                </a:path>
                <a:path w="552450" h="104775">
                  <a:moveTo>
                    <a:pt x="76200" y="28575"/>
                  </a:moveTo>
                  <a:lnTo>
                    <a:pt x="523875" y="28575"/>
                  </a:lnTo>
                </a:path>
                <a:path w="552450" h="104775">
                  <a:moveTo>
                    <a:pt x="47625" y="66675"/>
                  </a:moveTo>
                  <a:lnTo>
                    <a:pt x="485775" y="66675"/>
                  </a:lnTo>
                </a:path>
                <a:path w="552450" h="104775">
                  <a:moveTo>
                    <a:pt x="0" y="104775"/>
                  </a:moveTo>
                  <a:lnTo>
                    <a:pt x="4476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714563" y="3219513"/>
            <a:ext cx="733425" cy="704850"/>
            <a:chOff x="1714563" y="3219513"/>
            <a:chExt cx="733425" cy="704850"/>
          </a:xfrm>
        </p:grpSpPr>
        <p:sp>
          <p:nvSpPr>
            <p:cNvPr id="18" name="object 18"/>
            <p:cNvSpPr/>
            <p:nvPr/>
          </p:nvSpPr>
          <p:spPr>
            <a:xfrm>
              <a:off x="1719326" y="3224276"/>
              <a:ext cx="723900" cy="695325"/>
            </a:xfrm>
            <a:custGeom>
              <a:avLst/>
              <a:gdLst/>
              <a:ahLst/>
              <a:cxnLst/>
              <a:rect l="l" t="t" r="r" b="b"/>
              <a:pathLst>
                <a:path w="723900" h="695325">
                  <a:moveTo>
                    <a:pt x="0" y="695325"/>
                  </a:moveTo>
                  <a:lnTo>
                    <a:pt x="200025" y="495300"/>
                  </a:lnTo>
                  <a:lnTo>
                    <a:pt x="723900" y="495300"/>
                  </a:lnTo>
                  <a:lnTo>
                    <a:pt x="523875" y="695325"/>
                  </a:lnTo>
                  <a:lnTo>
                    <a:pt x="0" y="695325"/>
                  </a:lnTo>
                  <a:close/>
                </a:path>
                <a:path w="723900" h="695325">
                  <a:moveTo>
                    <a:pt x="180975" y="495300"/>
                  </a:moveTo>
                  <a:lnTo>
                    <a:pt x="723900" y="495300"/>
                  </a:lnTo>
                  <a:lnTo>
                    <a:pt x="723900" y="0"/>
                  </a:lnTo>
                  <a:lnTo>
                    <a:pt x="180975" y="0"/>
                  </a:lnTo>
                  <a:lnTo>
                    <a:pt x="180975" y="495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14576" y="3757676"/>
              <a:ext cx="542925" cy="104775"/>
            </a:xfrm>
            <a:custGeom>
              <a:avLst/>
              <a:gdLst/>
              <a:ahLst/>
              <a:cxnLst/>
              <a:rect l="l" t="t" r="r" b="b"/>
              <a:pathLst>
                <a:path w="542925" h="104775">
                  <a:moveTo>
                    <a:pt x="95250" y="0"/>
                  </a:moveTo>
                  <a:lnTo>
                    <a:pt x="542925" y="0"/>
                  </a:lnTo>
                </a:path>
                <a:path w="542925" h="104775">
                  <a:moveTo>
                    <a:pt x="76200" y="28575"/>
                  </a:moveTo>
                  <a:lnTo>
                    <a:pt x="514350" y="28575"/>
                  </a:lnTo>
                </a:path>
                <a:path w="542925" h="104775">
                  <a:moveTo>
                    <a:pt x="38100" y="66675"/>
                  </a:moveTo>
                  <a:lnTo>
                    <a:pt x="485775" y="66675"/>
                  </a:lnTo>
                </a:path>
                <a:path w="542925" h="104775">
                  <a:moveTo>
                    <a:pt x="0" y="104775"/>
                  </a:moveTo>
                  <a:lnTo>
                    <a:pt x="4476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486213" y="1390713"/>
            <a:ext cx="742950" cy="695325"/>
            <a:chOff x="3486213" y="1390713"/>
            <a:chExt cx="742950" cy="695325"/>
          </a:xfrm>
        </p:grpSpPr>
        <p:sp>
          <p:nvSpPr>
            <p:cNvPr id="21" name="object 21"/>
            <p:cNvSpPr/>
            <p:nvPr/>
          </p:nvSpPr>
          <p:spPr>
            <a:xfrm>
              <a:off x="3490976" y="1395475"/>
              <a:ext cx="733425" cy="685800"/>
            </a:xfrm>
            <a:custGeom>
              <a:avLst/>
              <a:gdLst/>
              <a:ahLst/>
              <a:cxnLst/>
              <a:rect l="l" t="t" r="r" b="b"/>
              <a:pathLst>
                <a:path w="733425" h="685800">
                  <a:moveTo>
                    <a:pt x="0" y="685800"/>
                  </a:moveTo>
                  <a:lnTo>
                    <a:pt x="190500" y="495300"/>
                  </a:lnTo>
                  <a:lnTo>
                    <a:pt x="733425" y="495300"/>
                  </a:lnTo>
                  <a:lnTo>
                    <a:pt x="542925" y="685800"/>
                  </a:lnTo>
                  <a:lnTo>
                    <a:pt x="0" y="685800"/>
                  </a:lnTo>
                  <a:close/>
                </a:path>
                <a:path w="733425" h="685800">
                  <a:moveTo>
                    <a:pt x="180975" y="495300"/>
                  </a:moveTo>
                  <a:lnTo>
                    <a:pt x="733425" y="495300"/>
                  </a:lnTo>
                  <a:lnTo>
                    <a:pt x="733425" y="0"/>
                  </a:lnTo>
                  <a:lnTo>
                    <a:pt x="180975" y="0"/>
                  </a:lnTo>
                  <a:lnTo>
                    <a:pt x="180975" y="495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86226" y="1919350"/>
              <a:ext cx="542925" cy="104775"/>
            </a:xfrm>
            <a:custGeom>
              <a:avLst/>
              <a:gdLst/>
              <a:ahLst/>
              <a:cxnLst/>
              <a:rect l="l" t="t" r="r" b="b"/>
              <a:pathLst>
                <a:path w="542925" h="104775">
                  <a:moveTo>
                    <a:pt x="95250" y="0"/>
                  </a:moveTo>
                  <a:lnTo>
                    <a:pt x="542925" y="0"/>
                  </a:lnTo>
                </a:path>
                <a:path w="542925" h="104775">
                  <a:moveTo>
                    <a:pt x="76200" y="38100"/>
                  </a:moveTo>
                  <a:lnTo>
                    <a:pt x="523875" y="38100"/>
                  </a:lnTo>
                </a:path>
                <a:path w="542925" h="104775">
                  <a:moveTo>
                    <a:pt x="38100" y="76200"/>
                  </a:moveTo>
                  <a:lnTo>
                    <a:pt x="485775" y="76200"/>
                  </a:lnTo>
                </a:path>
                <a:path w="542925" h="104775">
                  <a:moveTo>
                    <a:pt x="0" y="104775"/>
                  </a:moveTo>
                  <a:lnTo>
                    <a:pt x="4476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810313" y="1295463"/>
            <a:ext cx="733425" cy="704850"/>
            <a:chOff x="5810313" y="1295463"/>
            <a:chExt cx="733425" cy="704850"/>
          </a:xfrm>
        </p:grpSpPr>
        <p:sp>
          <p:nvSpPr>
            <p:cNvPr id="24" name="object 24"/>
            <p:cNvSpPr/>
            <p:nvPr/>
          </p:nvSpPr>
          <p:spPr>
            <a:xfrm>
              <a:off x="5815076" y="1300225"/>
              <a:ext cx="723900" cy="695325"/>
            </a:xfrm>
            <a:custGeom>
              <a:avLst/>
              <a:gdLst/>
              <a:ahLst/>
              <a:cxnLst/>
              <a:rect l="l" t="t" r="r" b="b"/>
              <a:pathLst>
                <a:path w="723900" h="695325">
                  <a:moveTo>
                    <a:pt x="0" y="695325"/>
                  </a:moveTo>
                  <a:lnTo>
                    <a:pt x="200025" y="495300"/>
                  </a:lnTo>
                  <a:lnTo>
                    <a:pt x="723900" y="495300"/>
                  </a:lnTo>
                  <a:lnTo>
                    <a:pt x="523875" y="695325"/>
                  </a:lnTo>
                  <a:lnTo>
                    <a:pt x="0" y="695325"/>
                  </a:lnTo>
                  <a:close/>
                </a:path>
                <a:path w="723900" h="695325">
                  <a:moveTo>
                    <a:pt x="180975" y="495300"/>
                  </a:moveTo>
                  <a:lnTo>
                    <a:pt x="723900" y="495300"/>
                  </a:lnTo>
                  <a:lnTo>
                    <a:pt x="723900" y="0"/>
                  </a:lnTo>
                  <a:lnTo>
                    <a:pt x="180975" y="0"/>
                  </a:lnTo>
                  <a:lnTo>
                    <a:pt x="180975" y="495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10326" y="1833625"/>
              <a:ext cx="542925" cy="104775"/>
            </a:xfrm>
            <a:custGeom>
              <a:avLst/>
              <a:gdLst/>
              <a:ahLst/>
              <a:cxnLst/>
              <a:rect l="l" t="t" r="r" b="b"/>
              <a:pathLst>
                <a:path w="542925" h="104775">
                  <a:moveTo>
                    <a:pt x="95250" y="0"/>
                  </a:moveTo>
                  <a:lnTo>
                    <a:pt x="542925" y="0"/>
                  </a:lnTo>
                </a:path>
                <a:path w="542925" h="104775">
                  <a:moveTo>
                    <a:pt x="76200" y="28575"/>
                  </a:moveTo>
                  <a:lnTo>
                    <a:pt x="514350" y="28575"/>
                  </a:lnTo>
                </a:path>
                <a:path w="542925" h="104775">
                  <a:moveTo>
                    <a:pt x="38100" y="66675"/>
                  </a:moveTo>
                  <a:lnTo>
                    <a:pt x="485775" y="66675"/>
                  </a:lnTo>
                </a:path>
                <a:path w="542925" h="104775">
                  <a:moveTo>
                    <a:pt x="0" y="104775"/>
                  </a:moveTo>
                  <a:lnTo>
                    <a:pt x="4476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447863" y="5124450"/>
            <a:ext cx="742950" cy="695325"/>
            <a:chOff x="1447863" y="5124450"/>
            <a:chExt cx="742950" cy="695325"/>
          </a:xfrm>
        </p:grpSpPr>
        <p:sp>
          <p:nvSpPr>
            <p:cNvPr id="27" name="object 27"/>
            <p:cNvSpPr/>
            <p:nvPr/>
          </p:nvSpPr>
          <p:spPr>
            <a:xfrm>
              <a:off x="1452625" y="5129212"/>
              <a:ext cx="733425" cy="685800"/>
            </a:xfrm>
            <a:custGeom>
              <a:avLst/>
              <a:gdLst/>
              <a:ahLst/>
              <a:cxnLst/>
              <a:rect l="l" t="t" r="r" b="b"/>
              <a:pathLst>
                <a:path w="733425" h="685800">
                  <a:moveTo>
                    <a:pt x="0" y="685800"/>
                  </a:moveTo>
                  <a:lnTo>
                    <a:pt x="199898" y="485775"/>
                  </a:lnTo>
                  <a:lnTo>
                    <a:pt x="733425" y="485775"/>
                  </a:lnTo>
                  <a:lnTo>
                    <a:pt x="533400" y="685800"/>
                  </a:lnTo>
                  <a:lnTo>
                    <a:pt x="0" y="685800"/>
                  </a:lnTo>
                  <a:close/>
                </a:path>
                <a:path w="733425" h="685800">
                  <a:moveTo>
                    <a:pt x="180975" y="485775"/>
                  </a:moveTo>
                  <a:lnTo>
                    <a:pt x="733425" y="485775"/>
                  </a:lnTo>
                  <a:lnTo>
                    <a:pt x="733425" y="0"/>
                  </a:lnTo>
                  <a:lnTo>
                    <a:pt x="180975" y="0"/>
                  </a:lnTo>
                  <a:lnTo>
                    <a:pt x="180975" y="4857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47875" y="5653087"/>
              <a:ext cx="542925" cy="104775"/>
            </a:xfrm>
            <a:custGeom>
              <a:avLst/>
              <a:gdLst/>
              <a:ahLst/>
              <a:cxnLst/>
              <a:rect l="l" t="t" r="r" b="b"/>
              <a:pathLst>
                <a:path w="542925" h="104775">
                  <a:moveTo>
                    <a:pt x="95250" y="0"/>
                  </a:moveTo>
                  <a:lnTo>
                    <a:pt x="542925" y="0"/>
                  </a:lnTo>
                </a:path>
                <a:path w="542925" h="104775">
                  <a:moveTo>
                    <a:pt x="76200" y="38100"/>
                  </a:moveTo>
                  <a:lnTo>
                    <a:pt x="523875" y="38100"/>
                  </a:lnTo>
                </a:path>
                <a:path w="542925" h="104775">
                  <a:moveTo>
                    <a:pt x="38100" y="66675"/>
                  </a:moveTo>
                  <a:lnTo>
                    <a:pt x="485775" y="66675"/>
                  </a:lnTo>
                </a:path>
                <a:path w="542925" h="104775">
                  <a:moveTo>
                    <a:pt x="0" y="104775"/>
                  </a:moveTo>
                  <a:lnTo>
                    <a:pt x="4476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838763" y="5248275"/>
            <a:ext cx="742950" cy="704850"/>
            <a:chOff x="4838763" y="5248275"/>
            <a:chExt cx="742950" cy="704850"/>
          </a:xfrm>
        </p:grpSpPr>
        <p:sp>
          <p:nvSpPr>
            <p:cNvPr id="30" name="object 30"/>
            <p:cNvSpPr/>
            <p:nvPr/>
          </p:nvSpPr>
          <p:spPr>
            <a:xfrm>
              <a:off x="4843526" y="5253037"/>
              <a:ext cx="733425" cy="695325"/>
            </a:xfrm>
            <a:custGeom>
              <a:avLst/>
              <a:gdLst/>
              <a:ahLst/>
              <a:cxnLst/>
              <a:rect l="l" t="t" r="r" b="b"/>
              <a:pathLst>
                <a:path w="733425" h="695325">
                  <a:moveTo>
                    <a:pt x="0" y="695325"/>
                  </a:moveTo>
                  <a:lnTo>
                    <a:pt x="199898" y="495300"/>
                  </a:lnTo>
                  <a:lnTo>
                    <a:pt x="733425" y="495300"/>
                  </a:lnTo>
                  <a:lnTo>
                    <a:pt x="533400" y="695325"/>
                  </a:lnTo>
                  <a:lnTo>
                    <a:pt x="0" y="695325"/>
                  </a:lnTo>
                  <a:close/>
                </a:path>
                <a:path w="733425" h="695325">
                  <a:moveTo>
                    <a:pt x="180975" y="495300"/>
                  </a:moveTo>
                  <a:lnTo>
                    <a:pt x="733425" y="495300"/>
                  </a:lnTo>
                  <a:lnTo>
                    <a:pt x="733425" y="0"/>
                  </a:lnTo>
                  <a:lnTo>
                    <a:pt x="180975" y="0"/>
                  </a:lnTo>
                  <a:lnTo>
                    <a:pt x="180975" y="495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38776" y="5786437"/>
              <a:ext cx="552450" cy="104775"/>
            </a:xfrm>
            <a:custGeom>
              <a:avLst/>
              <a:gdLst/>
              <a:ahLst/>
              <a:cxnLst/>
              <a:rect l="l" t="t" r="r" b="b"/>
              <a:pathLst>
                <a:path w="552450" h="104775">
                  <a:moveTo>
                    <a:pt x="104775" y="0"/>
                  </a:moveTo>
                  <a:lnTo>
                    <a:pt x="552450" y="0"/>
                  </a:lnTo>
                </a:path>
                <a:path w="552450" h="104775">
                  <a:moveTo>
                    <a:pt x="76200" y="28575"/>
                  </a:moveTo>
                  <a:lnTo>
                    <a:pt x="523875" y="28575"/>
                  </a:lnTo>
                </a:path>
                <a:path w="552450" h="104775">
                  <a:moveTo>
                    <a:pt x="47625" y="66675"/>
                  </a:moveTo>
                  <a:lnTo>
                    <a:pt x="495300" y="66675"/>
                  </a:lnTo>
                </a:path>
                <a:path w="552450" h="104775">
                  <a:moveTo>
                    <a:pt x="0" y="104775"/>
                  </a:moveTo>
                  <a:lnTo>
                    <a:pt x="4476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219638" y="3314763"/>
            <a:ext cx="742950" cy="695325"/>
            <a:chOff x="4219638" y="3314763"/>
            <a:chExt cx="742950" cy="695325"/>
          </a:xfrm>
        </p:grpSpPr>
        <p:sp>
          <p:nvSpPr>
            <p:cNvPr id="33" name="object 33"/>
            <p:cNvSpPr/>
            <p:nvPr/>
          </p:nvSpPr>
          <p:spPr>
            <a:xfrm>
              <a:off x="4224401" y="3319526"/>
              <a:ext cx="733425" cy="685800"/>
            </a:xfrm>
            <a:custGeom>
              <a:avLst/>
              <a:gdLst/>
              <a:ahLst/>
              <a:cxnLst/>
              <a:rect l="l" t="t" r="r" b="b"/>
              <a:pathLst>
                <a:path w="733425" h="685800">
                  <a:moveTo>
                    <a:pt x="0" y="685800"/>
                  </a:moveTo>
                  <a:lnTo>
                    <a:pt x="190500" y="495300"/>
                  </a:lnTo>
                  <a:lnTo>
                    <a:pt x="733425" y="495300"/>
                  </a:lnTo>
                  <a:lnTo>
                    <a:pt x="542925" y="685800"/>
                  </a:lnTo>
                  <a:lnTo>
                    <a:pt x="0" y="685800"/>
                  </a:lnTo>
                  <a:close/>
                </a:path>
                <a:path w="733425" h="685800">
                  <a:moveTo>
                    <a:pt x="180975" y="495300"/>
                  </a:moveTo>
                  <a:lnTo>
                    <a:pt x="733425" y="495300"/>
                  </a:lnTo>
                  <a:lnTo>
                    <a:pt x="733425" y="0"/>
                  </a:lnTo>
                  <a:lnTo>
                    <a:pt x="180975" y="0"/>
                  </a:lnTo>
                  <a:lnTo>
                    <a:pt x="180975" y="495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319651" y="3852926"/>
              <a:ext cx="542925" cy="104775"/>
            </a:xfrm>
            <a:custGeom>
              <a:avLst/>
              <a:gdLst/>
              <a:ahLst/>
              <a:cxnLst/>
              <a:rect l="l" t="t" r="r" b="b"/>
              <a:pathLst>
                <a:path w="542925" h="104775">
                  <a:moveTo>
                    <a:pt x="95250" y="0"/>
                  </a:moveTo>
                  <a:lnTo>
                    <a:pt x="542925" y="0"/>
                  </a:lnTo>
                </a:path>
                <a:path w="542925" h="104775">
                  <a:moveTo>
                    <a:pt x="76200" y="28575"/>
                  </a:moveTo>
                  <a:lnTo>
                    <a:pt x="523875" y="28575"/>
                  </a:lnTo>
                </a:path>
                <a:path w="542925" h="104775">
                  <a:moveTo>
                    <a:pt x="38100" y="66675"/>
                  </a:moveTo>
                  <a:lnTo>
                    <a:pt x="485775" y="66675"/>
                  </a:lnTo>
                </a:path>
                <a:path w="542925" h="104775">
                  <a:moveTo>
                    <a:pt x="0" y="104775"/>
                  </a:moveTo>
                  <a:lnTo>
                    <a:pt x="4476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6534213" y="4305363"/>
            <a:ext cx="742950" cy="695325"/>
            <a:chOff x="6534213" y="4305363"/>
            <a:chExt cx="742950" cy="695325"/>
          </a:xfrm>
        </p:grpSpPr>
        <p:sp>
          <p:nvSpPr>
            <p:cNvPr id="36" name="object 36"/>
            <p:cNvSpPr/>
            <p:nvPr/>
          </p:nvSpPr>
          <p:spPr>
            <a:xfrm>
              <a:off x="6538976" y="4310126"/>
              <a:ext cx="733425" cy="685800"/>
            </a:xfrm>
            <a:custGeom>
              <a:avLst/>
              <a:gdLst/>
              <a:ahLst/>
              <a:cxnLst/>
              <a:rect l="l" t="t" r="r" b="b"/>
              <a:pathLst>
                <a:path w="733425" h="685800">
                  <a:moveTo>
                    <a:pt x="0" y="685800"/>
                  </a:moveTo>
                  <a:lnTo>
                    <a:pt x="190373" y="495300"/>
                  </a:lnTo>
                  <a:lnTo>
                    <a:pt x="733425" y="495300"/>
                  </a:lnTo>
                  <a:lnTo>
                    <a:pt x="542925" y="685800"/>
                  </a:lnTo>
                  <a:lnTo>
                    <a:pt x="0" y="685800"/>
                  </a:lnTo>
                  <a:close/>
                </a:path>
                <a:path w="733425" h="685800">
                  <a:moveTo>
                    <a:pt x="190500" y="495300"/>
                  </a:moveTo>
                  <a:lnTo>
                    <a:pt x="733425" y="495300"/>
                  </a:lnTo>
                  <a:lnTo>
                    <a:pt x="733425" y="0"/>
                  </a:lnTo>
                  <a:lnTo>
                    <a:pt x="190500" y="0"/>
                  </a:lnTo>
                  <a:lnTo>
                    <a:pt x="190500" y="495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43751" y="4843526"/>
              <a:ext cx="542925" cy="104775"/>
            </a:xfrm>
            <a:custGeom>
              <a:avLst/>
              <a:gdLst/>
              <a:ahLst/>
              <a:cxnLst/>
              <a:rect l="l" t="t" r="r" b="b"/>
              <a:pathLst>
                <a:path w="542925" h="104775">
                  <a:moveTo>
                    <a:pt x="95250" y="0"/>
                  </a:moveTo>
                  <a:lnTo>
                    <a:pt x="542925" y="0"/>
                  </a:lnTo>
                </a:path>
                <a:path w="542925" h="104775">
                  <a:moveTo>
                    <a:pt x="66675" y="28575"/>
                  </a:moveTo>
                  <a:lnTo>
                    <a:pt x="514350" y="28575"/>
                  </a:lnTo>
                </a:path>
                <a:path w="542925" h="104775">
                  <a:moveTo>
                    <a:pt x="38100" y="66675"/>
                  </a:moveTo>
                  <a:lnTo>
                    <a:pt x="485775" y="66675"/>
                  </a:lnTo>
                </a:path>
                <a:path w="542925" h="104775">
                  <a:moveTo>
                    <a:pt x="0" y="104775"/>
                  </a:moveTo>
                  <a:lnTo>
                    <a:pt x="4476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6924738" y="1400238"/>
            <a:ext cx="742950" cy="704850"/>
            <a:chOff x="6924738" y="1400238"/>
            <a:chExt cx="742950" cy="704850"/>
          </a:xfrm>
        </p:grpSpPr>
        <p:sp>
          <p:nvSpPr>
            <p:cNvPr id="39" name="object 39"/>
            <p:cNvSpPr/>
            <p:nvPr/>
          </p:nvSpPr>
          <p:spPr>
            <a:xfrm>
              <a:off x="6929501" y="1405000"/>
              <a:ext cx="733425" cy="695325"/>
            </a:xfrm>
            <a:custGeom>
              <a:avLst/>
              <a:gdLst/>
              <a:ahLst/>
              <a:cxnLst/>
              <a:rect l="l" t="t" r="r" b="b"/>
              <a:pathLst>
                <a:path w="733425" h="695325">
                  <a:moveTo>
                    <a:pt x="0" y="695325"/>
                  </a:moveTo>
                  <a:lnTo>
                    <a:pt x="199898" y="495300"/>
                  </a:lnTo>
                  <a:lnTo>
                    <a:pt x="733425" y="495300"/>
                  </a:lnTo>
                  <a:lnTo>
                    <a:pt x="533400" y="695325"/>
                  </a:lnTo>
                  <a:lnTo>
                    <a:pt x="0" y="695325"/>
                  </a:lnTo>
                  <a:close/>
                </a:path>
                <a:path w="733425" h="695325">
                  <a:moveTo>
                    <a:pt x="180975" y="495300"/>
                  </a:moveTo>
                  <a:lnTo>
                    <a:pt x="733425" y="495300"/>
                  </a:lnTo>
                  <a:lnTo>
                    <a:pt x="733425" y="0"/>
                  </a:lnTo>
                  <a:lnTo>
                    <a:pt x="180975" y="0"/>
                  </a:lnTo>
                  <a:lnTo>
                    <a:pt x="180975" y="495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24751" y="1938400"/>
              <a:ext cx="542925" cy="104775"/>
            </a:xfrm>
            <a:custGeom>
              <a:avLst/>
              <a:gdLst/>
              <a:ahLst/>
              <a:cxnLst/>
              <a:rect l="l" t="t" r="r" b="b"/>
              <a:pathLst>
                <a:path w="542925" h="104775">
                  <a:moveTo>
                    <a:pt x="104775" y="0"/>
                  </a:moveTo>
                  <a:lnTo>
                    <a:pt x="542925" y="0"/>
                  </a:lnTo>
                </a:path>
                <a:path w="542925" h="104775">
                  <a:moveTo>
                    <a:pt x="76200" y="28575"/>
                  </a:moveTo>
                  <a:lnTo>
                    <a:pt x="523875" y="28575"/>
                  </a:lnTo>
                </a:path>
                <a:path w="542925" h="104775">
                  <a:moveTo>
                    <a:pt x="47625" y="66675"/>
                  </a:moveTo>
                  <a:lnTo>
                    <a:pt x="485775" y="66675"/>
                  </a:lnTo>
                </a:path>
                <a:path w="542925" h="104775">
                  <a:moveTo>
                    <a:pt x="0" y="104775"/>
                  </a:moveTo>
                  <a:lnTo>
                    <a:pt x="447675" y="1047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5324475" y="2719451"/>
            <a:ext cx="490855" cy="619125"/>
            <a:chOff x="5324475" y="2719451"/>
            <a:chExt cx="490855" cy="619125"/>
          </a:xfrm>
        </p:grpSpPr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4475" y="3028886"/>
              <a:ext cx="490537" cy="30956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767451" y="2719451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4191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67000" y="2857436"/>
            <a:ext cx="490537" cy="309562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3686175" y="2605151"/>
            <a:ext cx="490855" cy="619125"/>
            <a:chOff x="3686175" y="2605151"/>
            <a:chExt cx="490855" cy="619125"/>
          </a:xfrm>
        </p:grpSpPr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6175" y="2914586"/>
              <a:ext cx="490537" cy="30956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129151" y="2605151"/>
              <a:ext cx="0" cy="409575"/>
            </a:xfrm>
            <a:custGeom>
              <a:avLst/>
              <a:gdLst/>
              <a:ahLst/>
              <a:cxnLst/>
              <a:rect l="l" t="t" r="r" b="b"/>
              <a:pathLst>
                <a:path h="409575">
                  <a:moveTo>
                    <a:pt x="0" y="40957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3105150" y="2976626"/>
            <a:ext cx="490855" cy="619125"/>
            <a:chOff x="3105150" y="2976626"/>
            <a:chExt cx="490855" cy="619125"/>
          </a:xfrm>
        </p:grpSpPr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05150" y="3286061"/>
              <a:ext cx="490537" cy="30956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557651" y="2976626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4191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2971800" y="5091176"/>
            <a:ext cx="481330" cy="619125"/>
            <a:chOff x="2971800" y="5091176"/>
            <a:chExt cx="481330" cy="619125"/>
          </a:xfrm>
        </p:grpSpPr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71800" y="5400675"/>
              <a:ext cx="481012" cy="30956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414776" y="5091176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4191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2647950" y="4395851"/>
            <a:ext cx="490855" cy="628650"/>
            <a:chOff x="2647950" y="4395851"/>
            <a:chExt cx="490855" cy="628650"/>
          </a:xfrm>
        </p:grpSpPr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7950" y="4714811"/>
              <a:ext cx="490537" cy="30956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090926" y="4395851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4191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3505200" y="4272026"/>
            <a:ext cx="490855" cy="619125"/>
            <a:chOff x="3505200" y="4272026"/>
            <a:chExt cx="490855" cy="619125"/>
          </a:xfrm>
        </p:grpSpPr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00" y="4581461"/>
              <a:ext cx="490537" cy="30956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957701" y="4272026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4191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4200525" y="4853051"/>
            <a:ext cx="490855" cy="619125"/>
            <a:chOff x="4200525" y="4853051"/>
            <a:chExt cx="490855" cy="619125"/>
          </a:xfrm>
        </p:grpSpPr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00525" y="5162613"/>
              <a:ext cx="490537" cy="30956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653026" y="4853051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4191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3257550" y="2195576"/>
            <a:ext cx="490855" cy="628650"/>
            <a:chOff x="3257550" y="2195576"/>
            <a:chExt cx="490855" cy="628650"/>
          </a:xfrm>
        </p:grpSpPr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7550" y="2514536"/>
              <a:ext cx="490537" cy="30956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700526" y="2195576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4191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6191250" y="2243201"/>
            <a:ext cx="481330" cy="619125"/>
            <a:chOff x="6191250" y="2243201"/>
            <a:chExt cx="481330" cy="619125"/>
          </a:xfrm>
        </p:grpSpPr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1250" y="2552636"/>
              <a:ext cx="481012" cy="309562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634226" y="2243201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4191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6705600" y="3243326"/>
            <a:ext cx="481330" cy="619125"/>
            <a:chOff x="6705600" y="3243326"/>
            <a:chExt cx="481330" cy="619125"/>
          </a:xfrm>
        </p:grpSpPr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05600" y="3552761"/>
              <a:ext cx="481012" cy="309562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7148576" y="3243326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4191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5781675" y="3176651"/>
            <a:ext cx="490855" cy="619125"/>
            <a:chOff x="5781675" y="3176651"/>
            <a:chExt cx="490855" cy="619125"/>
          </a:xfrm>
        </p:grpSpPr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1675" y="3486086"/>
              <a:ext cx="490537" cy="309562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6234176" y="3176651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4191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2114550" y="1762061"/>
            <a:ext cx="5520055" cy="4072254"/>
            <a:chOff x="2114550" y="1762061"/>
            <a:chExt cx="5520055" cy="4072254"/>
          </a:xfrm>
        </p:grpSpPr>
        <p:pic>
          <p:nvPicPr>
            <p:cNvPr id="76" name="object 7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14550" y="2505011"/>
              <a:ext cx="1052512" cy="48101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2176526" y="2538475"/>
              <a:ext cx="939165" cy="360680"/>
            </a:xfrm>
            <a:custGeom>
              <a:avLst/>
              <a:gdLst/>
              <a:ahLst/>
              <a:cxnLst/>
              <a:rect l="l" t="t" r="r" b="b"/>
              <a:pathLst>
                <a:path w="939164" h="360680">
                  <a:moveTo>
                    <a:pt x="939165" y="0"/>
                  </a:moveTo>
                  <a:lnTo>
                    <a:pt x="0" y="360299"/>
                  </a:lnTo>
                </a:path>
              </a:pathLst>
            </a:custGeom>
            <a:ln w="1269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47975" y="1981136"/>
              <a:ext cx="328612" cy="633412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2909951" y="2023998"/>
              <a:ext cx="207010" cy="514984"/>
            </a:xfrm>
            <a:custGeom>
              <a:avLst/>
              <a:gdLst/>
              <a:ahLst/>
              <a:cxnLst/>
              <a:rect l="l" t="t" r="r" b="b"/>
              <a:pathLst>
                <a:path w="207010" h="514985">
                  <a:moveTo>
                    <a:pt x="206501" y="514603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57525" y="2495486"/>
              <a:ext cx="557212" cy="557212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3119500" y="2538475"/>
              <a:ext cx="436880" cy="433070"/>
            </a:xfrm>
            <a:custGeom>
              <a:avLst/>
              <a:gdLst/>
              <a:ahLst/>
              <a:cxnLst/>
              <a:rect l="l" t="t" r="r" b="b"/>
              <a:pathLst>
                <a:path w="436879" h="433069">
                  <a:moveTo>
                    <a:pt x="436625" y="43268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95675" y="2571686"/>
              <a:ext cx="700087" cy="490537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3557650" y="2605150"/>
              <a:ext cx="577850" cy="375285"/>
            </a:xfrm>
            <a:custGeom>
              <a:avLst/>
              <a:gdLst/>
              <a:ahLst/>
              <a:cxnLst/>
              <a:rect l="l" t="t" r="r" b="b"/>
              <a:pathLst>
                <a:path w="577850" h="375285">
                  <a:moveTo>
                    <a:pt x="577596" y="0"/>
                  </a:moveTo>
                  <a:lnTo>
                    <a:pt x="0" y="374903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38550" y="2152586"/>
              <a:ext cx="547687" cy="528637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3700525" y="2195575"/>
              <a:ext cx="429895" cy="400685"/>
            </a:xfrm>
            <a:custGeom>
              <a:avLst/>
              <a:gdLst/>
              <a:ahLst/>
              <a:cxnLst/>
              <a:rect l="l" t="t" r="r" b="b"/>
              <a:pathLst>
                <a:path w="429895" h="400685">
                  <a:moveTo>
                    <a:pt x="429640" y="40055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38550" y="2047811"/>
              <a:ext cx="185737" cy="233362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3700525" y="2081275"/>
              <a:ext cx="63500" cy="116839"/>
            </a:xfrm>
            <a:custGeom>
              <a:avLst/>
              <a:gdLst/>
              <a:ahLst/>
              <a:cxnLst/>
              <a:rect l="l" t="t" r="r" b="b"/>
              <a:pathLst>
                <a:path w="63500" h="116839">
                  <a:moveTo>
                    <a:pt x="63373" y="0"/>
                  </a:moveTo>
                  <a:lnTo>
                    <a:pt x="0" y="116712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81250" y="2943161"/>
              <a:ext cx="1223962" cy="862012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2443225" y="2976625"/>
              <a:ext cx="1107440" cy="743585"/>
            </a:xfrm>
            <a:custGeom>
              <a:avLst/>
              <a:gdLst/>
              <a:ahLst/>
              <a:cxnLst/>
              <a:rect l="l" t="t" r="r" b="b"/>
              <a:pathLst>
                <a:path w="1107439" h="743585">
                  <a:moveTo>
                    <a:pt x="1107059" y="0"/>
                  </a:moveTo>
                  <a:lnTo>
                    <a:pt x="0" y="743331"/>
                  </a:lnTo>
                </a:path>
              </a:pathLst>
            </a:custGeom>
            <a:ln w="1269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28950" y="2943224"/>
              <a:ext cx="576262" cy="1538224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3090925" y="2976625"/>
              <a:ext cx="459740" cy="1424940"/>
            </a:xfrm>
            <a:custGeom>
              <a:avLst/>
              <a:gdLst/>
              <a:ahLst/>
              <a:cxnLst/>
              <a:rect l="l" t="t" r="r" b="b"/>
              <a:pathLst>
                <a:path w="459739" h="1424939">
                  <a:moveTo>
                    <a:pt x="459486" y="0"/>
                  </a:moveTo>
                  <a:lnTo>
                    <a:pt x="0" y="1424559"/>
                  </a:lnTo>
                </a:path>
              </a:pathLst>
            </a:custGeom>
            <a:ln w="1269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2800" y="4238561"/>
              <a:ext cx="661987" cy="93821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3414775" y="4272025"/>
              <a:ext cx="540385" cy="821690"/>
            </a:xfrm>
            <a:custGeom>
              <a:avLst/>
              <a:gdLst/>
              <a:ahLst/>
              <a:cxnLst/>
              <a:rect l="l" t="t" r="r" b="b"/>
              <a:pathLst>
                <a:path w="540385" h="821689">
                  <a:moveTo>
                    <a:pt x="539876" y="0"/>
                  </a:moveTo>
                  <a:lnTo>
                    <a:pt x="0" y="821309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95725" y="4238561"/>
              <a:ext cx="814387" cy="700087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3957701" y="4272025"/>
              <a:ext cx="695960" cy="579755"/>
            </a:xfrm>
            <a:custGeom>
              <a:avLst/>
              <a:gdLst/>
              <a:ahLst/>
              <a:cxnLst/>
              <a:rect l="l" t="t" r="r" b="b"/>
              <a:pathLst>
                <a:path w="695960" h="579754">
                  <a:moveTo>
                    <a:pt x="0" y="0"/>
                  </a:moveTo>
                  <a:lnTo>
                    <a:pt x="695833" y="579501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28950" y="4229036"/>
              <a:ext cx="976312" cy="252412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3090925" y="4272025"/>
              <a:ext cx="860425" cy="129539"/>
            </a:xfrm>
            <a:custGeom>
              <a:avLst/>
              <a:gdLst/>
              <a:ahLst/>
              <a:cxnLst/>
              <a:rect l="l" t="t" r="r" b="b"/>
              <a:pathLst>
                <a:path w="860425" h="129539">
                  <a:moveTo>
                    <a:pt x="860044" y="0"/>
                  </a:moveTo>
                  <a:lnTo>
                    <a:pt x="0" y="129412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28950" y="4362386"/>
              <a:ext cx="442912" cy="804862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3090925" y="4395723"/>
              <a:ext cx="320040" cy="692150"/>
            </a:xfrm>
            <a:custGeom>
              <a:avLst/>
              <a:gdLst/>
              <a:ahLst/>
              <a:cxnLst/>
              <a:rect l="l" t="t" r="r" b="b"/>
              <a:pathLst>
                <a:path w="320039" h="692150">
                  <a:moveTo>
                    <a:pt x="0" y="0"/>
                  </a:moveTo>
                  <a:lnTo>
                    <a:pt x="320039" y="691895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24075" y="5057775"/>
              <a:ext cx="1347724" cy="642937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2186051" y="5091176"/>
              <a:ext cx="1229995" cy="527050"/>
            </a:xfrm>
            <a:custGeom>
              <a:avLst/>
              <a:gdLst/>
              <a:ahLst/>
              <a:cxnLst/>
              <a:rect l="l" t="t" r="r" b="b"/>
              <a:pathLst>
                <a:path w="1229995" h="527050">
                  <a:moveTo>
                    <a:pt x="1229740" y="0"/>
                  </a:moveTo>
                  <a:lnTo>
                    <a:pt x="0" y="526516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91050" y="4819650"/>
              <a:ext cx="490537" cy="1014412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4653026" y="4853050"/>
              <a:ext cx="367030" cy="897890"/>
            </a:xfrm>
            <a:custGeom>
              <a:avLst/>
              <a:gdLst/>
              <a:ahLst/>
              <a:cxnLst/>
              <a:rect l="l" t="t" r="r" b="b"/>
              <a:pathLst>
                <a:path w="367029" h="897889">
                  <a:moveTo>
                    <a:pt x="0" y="0"/>
                  </a:moveTo>
                  <a:lnTo>
                    <a:pt x="366775" y="897851"/>
                  </a:lnTo>
                </a:path>
              </a:pathLst>
            </a:custGeom>
            <a:ln w="1269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895850" y="3133661"/>
              <a:ext cx="1395349" cy="757237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4957826" y="3176650"/>
              <a:ext cx="1276350" cy="633095"/>
            </a:xfrm>
            <a:custGeom>
              <a:avLst/>
              <a:gdLst/>
              <a:ahLst/>
              <a:cxnLst/>
              <a:rect l="l" t="t" r="r" b="b"/>
              <a:pathLst>
                <a:path w="1276350" h="633095">
                  <a:moveTo>
                    <a:pt x="0" y="632713"/>
                  </a:moveTo>
                  <a:lnTo>
                    <a:pt x="1275969" y="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705475" y="2676461"/>
              <a:ext cx="576262" cy="585787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5767451" y="2719450"/>
              <a:ext cx="462280" cy="460375"/>
            </a:xfrm>
            <a:custGeom>
              <a:avLst/>
              <a:gdLst/>
              <a:ahLst/>
              <a:cxnLst/>
              <a:rect l="l" t="t" r="r" b="b"/>
              <a:pathLst>
                <a:path w="462279" h="460375">
                  <a:moveTo>
                    <a:pt x="461772" y="45999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067175" y="2562161"/>
              <a:ext cx="1757426" cy="242887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4129151" y="2605150"/>
              <a:ext cx="1638935" cy="118745"/>
            </a:xfrm>
            <a:custGeom>
              <a:avLst/>
              <a:gdLst/>
              <a:ahLst/>
              <a:cxnLst/>
              <a:rect l="l" t="t" r="r" b="b"/>
              <a:pathLst>
                <a:path w="1638935" h="118744">
                  <a:moveTo>
                    <a:pt x="0" y="0"/>
                  </a:moveTo>
                  <a:lnTo>
                    <a:pt x="1638427" y="118745"/>
                  </a:lnTo>
                </a:path>
              </a:pathLst>
            </a:custGeom>
            <a:ln w="1269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67175" y="2200211"/>
              <a:ext cx="2624201" cy="481012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129151" y="2243200"/>
              <a:ext cx="2502535" cy="357505"/>
            </a:xfrm>
            <a:custGeom>
              <a:avLst/>
              <a:gdLst/>
              <a:ahLst/>
              <a:cxnLst/>
              <a:rect l="l" t="t" r="r" b="b"/>
              <a:pathLst>
                <a:path w="2502534" h="357505">
                  <a:moveTo>
                    <a:pt x="0" y="357377"/>
                  </a:moveTo>
                  <a:lnTo>
                    <a:pt x="2502280" y="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572250" y="2200211"/>
              <a:ext cx="633412" cy="1119187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6634226" y="2243200"/>
              <a:ext cx="514984" cy="1000760"/>
            </a:xfrm>
            <a:custGeom>
              <a:avLst/>
              <a:gdLst/>
              <a:ahLst/>
              <a:cxnLst/>
              <a:rect l="l" t="t" r="r" b="b"/>
              <a:pathLst>
                <a:path w="514984" h="1000760">
                  <a:moveTo>
                    <a:pt x="514730" y="1000506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477000" y="1762061"/>
              <a:ext cx="214312" cy="566737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6538976" y="1795525"/>
              <a:ext cx="91440" cy="450215"/>
            </a:xfrm>
            <a:custGeom>
              <a:avLst/>
              <a:gdLst/>
              <a:ahLst/>
              <a:cxnLst/>
              <a:rect l="l" t="t" r="r" b="b"/>
              <a:pathLst>
                <a:path w="91440" h="450214">
                  <a:moveTo>
                    <a:pt x="0" y="0"/>
                  </a:moveTo>
                  <a:lnTo>
                    <a:pt x="91058" y="449707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705475" y="2676461"/>
              <a:ext cx="1490599" cy="652462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5767323" y="2719450"/>
              <a:ext cx="1378585" cy="524510"/>
            </a:xfrm>
            <a:custGeom>
              <a:avLst/>
              <a:gdLst/>
              <a:ahLst/>
              <a:cxnLst/>
              <a:rect l="l" t="t" r="r" b="b"/>
              <a:pathLst>
                <a:path w="1378584" h="524510">
                  <a:moveTo>
                    <a:pt x="1378584" y="524256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086600" y="1962149"/>
              <a:ext cx="547687" cy="1366774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7148576" y="1995550"/>
              <a:ext cx="423545" cy="1246505"/>
            </a:xfrm>
            <a:custGeom>
              <a:avLst/>
              <a:gdLst/>
              <a:ahLst/>
              <a:cxnLst/>
              <a:rect l="l" t="t" r="r" b="b"/>
              <a:pathLst>
                <a:path w="423545" h="1246505">
                  <a:moveTo>
                    <a:pt x="423037" y="0"/>
                  </a:moveTo>
                  <a:lnTo>
                    <a:pt x="0" y="1246251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086600" y="3200272"/>
              <a:ext cx="242887" cy="1681226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7148576" y="3243198"/>
              <a:ext cx="127000" cy="1558925"/>
            </a:xfrm>
            <a:custGeom>
              <a:avLst/>
              <a:gdLst/>
              <a:ahLst/>
              <a:cxnLst/>
              <a:rect l="l" t="t" r="r" b="b"/>
              <a:pathLst>
                <a:path w="127000" h="1558925">
                  <a:moveTo>
                    <a:pt x="126746" y="1558417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591050" y="3200272"/>
              <a:ext cx="2614676" cy="1728851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4653026" y="3243325"/>
              <a:ext cx="2498725" cy="1606550"/>
            </a:xfrm>
            <a:custGeom>
              <a:avLst/>
              <a:gdLst/>
              <a:ahLst/>
              <a:cxnLst/>
              <a:rect l="l" t="t" r="r" b="b"/>
              <a:pathLst>
                <a:path w="2498725" h="1606550">
                  <a:moveTo>
                    <a:pt x="0" y="1606423"/>
                  </a:moveTo>
                  <a:lnTo>
                    <a:pt x="2498217" y="0"/>
                  </a:lnTo>
                </a:path>
              </a:pathLst>
            </a:custGeom>
            <a:ln w="1270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4033139" y="2122804"/>
            <a:ext cx="42672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latin typeface="Arial"/>
                <a:cs typeface="Arial"/>
              </a:rPr>
              <a:t>do</a:t>
            </a:r>
            <a:r>
              <a:rPr sz="800" i="1" spc="5" dirty="0">
                <a:latin typeface="Arial"/>
                <a:cs typeface="Arial"/>
              </a:rPr>
              <a:t>m</a:t>
            </a:r>
            <a:r>
              <a:rPr sz="800" i="1" dirty="0">
                <a:latin typeface="Arial"/>
                <a:cs typeface="Arial"/>
              </a:rPr>
              <a:t>a</a:t>
            </a:r>
            <a:r>
              <a:rPr sz="800" i="1" spc="45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n</a:t>
            </a:r>
            <a:r>
              <a:rPr sz="800" i="1" spc="1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235319" y="3145091"/>
            <a:ext cx="42735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spc="5" dirty="0">
                <a:latin typeface="Arial"/>
                <a:cs typeface="Arial"/>
              </a:rPr>
              <a:t>doma</a:t>
            </a:r>
            <a:r>
              <a:rPr sz="800" i="1" spc="45" dirty="0">
                <a:latin typeface="Arial"/>
                <a:cs typeface="Arial"/>
              </a:rPr>
              <a:t>i</a:t>
            </a:r>
            <a:r>
              <a:rPr sz="800" i="1" spc="5" dirty="0">
                <a:latin typeface="Arial"/>
                <a:cs typeface="Arial"/>
              </a:rPr>
              <a:t>n</a:t>
            </a:r>
            <a:r>
              <a:rPr sz="800" i="1" spc="1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610228" y="5501957"/>
            <a:ext cx="42672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dirty="0">
                <a:latin typeface="Arial"/>
                <a:cs typeface="Arial"/>
              </a:rPr>
              <a:t>do</a:t>
            </a:r>
            <a:r>
              <a:rPr sz="800" i="1" spc="5" dirty="0">
                <a:latin typeface="Arial"/>
                <a:cs typeface="Arial"/>
              </a:rPr>
              <a:t>m</a:t>
            </a:r>
            <a:r>
              <a:rPr sz="800" i="1" dirty="0">
                <a:latin typeface="Arial"/>
                <a:cs typeface="Arial"/>
              </a:rPr>
              <a:t>a</a:t>
            </a:r>
            <a:r>
              <a:rPr sz="800" i="1" spc="45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n</a:t>
            </a:r>
            <a:r>
              <a:rPr sz="800" i="1" spc="10" dirty="0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501771" y="4848288"/>
            <a:ext cx="29908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spc="25" dirty="0">
                <a:latin typeface="Arial"/>
                <a:cs typeface="Arial"/>
              </a:rPr>
              <a:t>r</a:t>
            </a:r>
            <a:r>
              <a:rPr sz="800" i="1" spc="5" dirty="0">
                <a:latin typeface="Arial"/>
                <a:cs typeface="Arial"/>
              </a:rPr>
              <a:t>ou</a:t>
            </a:r>
            <a:r>
              <a:rPr sz="800" i="1" dirty="0">
                <a:latin typeface="Arial"/>
                <a:cs typeface="Arial"/>
              </a:rPr>
              <a:t>t</a:t>
            </a:r>
            <a:r>
              <a:rPr sz="800" i="1" spc="5" dirty="0">
                <a:latin typeface="Arial"/>
                <a:cs typeface="Arial"/>
              </a:rPr>
              <a:t>er</a:t>
            </a:r>
            <a:endParaRPr sz="80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359403" y="5826442"/>
            <a:ext cx="2440940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1" dirty="0">
                <a:latin typeface="Corbel"/>
                <a:cs typeface="Corbel"/>
              </a:rPr>
              <a:t>Inte</a:t>
            </a:r>
            <a:r>
              <a:rPr sz="5400" b="1" spc="-25" dirty="0">
                <a:latin typeface="Corbel"/>
                <a:cs typeface="Corbel"/>
              </a:rPr>
              <a:t>r</a:t>
            </a:r>
            <a:r>
              <a:rPr sz="5400" b="1" dirty="0">
                <a:latin typeface="Corbel"/>
                <a:cs typeface="Corbel"/>
              </a:rPr>
              <a:t>net</a:t>
            </a:r>
            <a:endParaRPr sz="5400">
              <a:latin typeface="Corbel"/>
              <a:cs typeface="Corbel"/>
            </a:endParaRPr>
          </a:p>
        </p:txBody>
      </p:sp>
      <p:pic>
        <p:nvPicPr>
          <p:cNvPr id="129" name="object 12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95250" y="352361"/>
            <a:ext cx="8701151" cy="528637"/>
          </a:xfrm>
          <a:prstGeom prst="rect">
            <a:avLst/>
          </a:prstGeom>
        </p:spPr>
      </p:pic>
      <p:sp>
        <p:nvSpPr>
          <p:cNvPr id="132" name="object 132"/>
          <p:cNvSpPr txBox="1"/>
          <p:nvPr/>
        </p:nvSpPr>
        <p:spPr>
          <a:xfrm>
            <a:off x="8762110" y="6736715"/>
            <a:ext cx="1346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" y="333311"/>
            <a:ext cx="8986901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5025" y="1371600"/>
            <a:ext cx="4933950" cy="3886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22651" y="5314378"/>
            <a:ext cx="3300729" cy="1043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" algn="ctr">
              <a:lnSpc>
                <a:spcPts val="2390"/>
              </a:lnSpc>
              <a:spcBef>
                <a:spcPts val="125"/>
              </a:spcBef>
            </a:pPr>
            <a:r>
              <a:rPr sz="2000" b="1" spc="15" dirty="0">
                <a:latin typeface="Corbel"/>
                <a:cs typeface="Corbel"/>
              </a:rPr>
              <a:t>Seven </a:t>
            </a:r>
            <a:r>
              <a:rPr sz="2000" b="1" spc="10" dirty="0">
                <a:latin typeface="Corbel"/>
                <a:cs typeface="Corbel"/>
              </a:rPr>
              <a:t>Bridges of</a:t>
            </a:r>
            <a:r>
              <a:rPr sz="2000" b="1" spc="-254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Königsberg</a:t>
            </a:r>
            <a:endParaRPr sz="2000">
              <a:latin typeface="Corbel"/>
              <a:cs typeface="Corbel"/>
            </a:endParaRPr>
          </a:p>
          <a:p>
            <a:pPr algn="ctr">
              <a:lnSpc>
                <a:spcPts val="2150"/>
              </a:lnSpc>
            </a:pPr>
            <a:r>
              <a:rPr sz="1800" b="1" spc="-15" dirty="0">
                <a:solidFill>
                  <a:srgbClr val="7E7E7E"/>
                </a:solidFill>
                <a:latin typeface="Corbel"/>
                <a:cs typeface="Corbel"/>
              </a:rPr>
              <a:t>[Euler,</a:t>
            </a:r>
            <a:r>
              <a:rPr sz="1800" b="1" spc="-50" dirty="0">
                <a:solidFill>
                  <a:srgbClr val="7E7E7E"/>
                </a:solidFill>
                <a:latin typeface="Corbel"/>
                <a:cs typeface="Corbel"/>
              </a:rPr>
              <a:t> </a:t>
            </a:r>
            <a:r>
              <a:rPr sz="1800" b="1" spc="10" dirty="0">
                <a:solidFill>
                  <a:srgbClr val="7E7E7E"/>
                </a:solidFill>
                <a:latin typeface="Corbel"/>
                <a:cs typeface="Corbel"/>
              </a:rPr>
              <a:t>1735]</a:t>
            </a:r>
            <a:endParaRPr sz="18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latin typeface="Corbel"/>
                <a:cs typeface="Corbel"/>
              </a:rPr>
              <a:t>Return</a:t>
            </a:r>
            <a:r>
              <a:rPr sz="1400" spc="-60" dirty="0">
                <a:latin typeface="Corbel"/>
                <a:cs typeface="Corbel"/>
              </a:rPr>
              <a:t> </a:t>
            </a:r>
            <a:r>
              <a:rPr sz="1400" spc="20" dirty="0">
                <a:latin typeface="Corbel"/>
                <a:cs typeface="Corbel"/>
              </a:rPr>
              <a:t>to</a:t>
            </a:r>
            <a:r>
              <a:rPr sz="1400" spc="-70" dirty="0">
                <a:latin typeface="Corbel"/>
                <a:cs typeface="Corbel"/>
              </a:rPr>
              <a:t> </a:t>
            </a:r>
            <a:r>
              <a:rPr sz="1400" spc="15" dirty="0">
                <a:latin typeface="Corbel"/>
                <a:cs typeface="Corbel"/>
              </a:rPr>
              <a:t>the</a:t>
            </a:r>
            <a:r>
              <a:rPr sz="1400" spc="-20" dirty="0">
                <a:latin typeface="Corbel"/>
                <a:cs typeface="Corbel"/>
              </a:rPr>
              <a:t> </a:t>
            </a:r>
            <a:r>
              <a:rPr sz="1400" spc="5" dirty="0">
                <a:latin typeface="Corbel"/>
                <a:cs typeface="Corbel"/>
              </a:rPr>
              <a:t>starting</a:t>
            </a:r>
            <a:r>
              <a:rPr sz="1400" spc="-70" dirty="0">
                <a:latin typeface="Corbel"/>
                <a:cs typeface="Corbel"/>
              </a:rPr>
              <a:t> </a:t>
            </a:r>
            <a:r>
              <a:rPr sz="1400" spc="-5" dirty="0">
                <a:latin typeface="Corbel"/>
                <a:cs typeface="Corbel"/>
              </a:rPr>
              <a:t>point</a:t>
            </a:r>
            <a:r>
              <a:rPr sz="1400" spc="-25" dirty="0">
                <a:latin typeface="Corbel"/>
                <a:cs typeface="Corbel"/>
              </a:rPr>
              <a:t> </a:t>
            </a:r>
            <a:r>
              <a:rPr sz="1400" dirty="0">
                <a:latin typeface="Corbel"/>
                <a:cs typeface="Corbel"/>
              </a:rPr>
              <a:t>by</a:t>
            </a:r>
            <a:r>
              <a:rPr sz="1400" spc="-65" dirty="0">
                <a:latin typeface="Corbel"/>
                <a:cs typeface="Corbel"/>
              </a:rPr>
              <a:t> </a:t>
            </a:r>
            <a:r>
              <a:rPr sz="1400" spc="-5" dirty="0">
                <a:latin typeface="Corbel"/>
                <a:cs typeface="Corbel"/>
              </a:rPr>
              <a:t>traveling</a:t>
            </a:r>
            <a:r>
              <a:rPr sz="1400" spc="5" dirty="0">
                <a:latin typeface="Corbel"/>
                <a:cs typeface="Corbel"/>
              </a:rPr>
              <a:t> </a:t>
            </a:r>
            <a:r>
              <a:rPr sz="1400" spc="-15" dirty="0">
                <a:latin typeface="Corbel"/>
                <a:cs typeface="Corbel"/>
              </a:rPr>
              <a:t>each</a:t>
            </a:r>
            <a:endParaRPr sz="1400">
              <a:latin typeface="Corbel"/>
              <a:cs typeface="Corbel"/>
            </a:endParaRPr>
          </a:p>
          <a:p>
            <a:pPr marL="635" algn="ctr">
              <a:lnSpc>
                <a:spcPct val="100000"/>
              </a:lnSpc>
              <a:spcBef>
                <a:spcPts val="45"/>
              </a:spcBef>
            </a:pPr>
            <a:r>
              <a:rPr sz="1400" spc="-10" dirty="0">
                <a:latin typeface="Corbel"/>
                <a:cs typeface="Corbel"/>
              </a:rPr>
              <a:t>link </a:t>
            </a:r>
            <a:r>
              <a:rPr sz="1400" dirty="0">
                <a:latin typeface="Corbel"/>
                <a:cs typeface="Corbel"/>
              </a:rPr>
              <a:t>of </a:t>
            </a:r>
            <a:r>
              <a:rPr sz="1400" spc="15" dirty="0">
                <a:latin typeface="Corbel"/>
                <a:cs typeface="Corbel"/>
              </a:rPr>
              <a:t>the </a:t>
            </a:r>
            <a:r>
              <a:rPr sz="1400" spc="-5" dirty="0">
                <a:latin typeface="Corbel"/>
                <a:cs typeface="Corbel"/>
              </a:rPr>
              <a:t>graph </a:t>
            </a:r>
            <a:r>
              <a:rPr sz="1400" dirty="0">
                <a:latin typeface="Corbel"/>
                <a:cs typeface="Corbel"/>
              </a:rPr>
              <a:t>once and </a:t>
            </a:r>
            <a:r>
              <a:rPr sz="1400" spc="-5" dirty="0">
                <a:latin typeface="Corbel"/>
                <a:cs typeface="Corbel"/>
              </a:rPr>
              <a:t>only</a:t>
            </a:r>
            <a:r>
              <a:rPr sz="1400" spc="-85" dirty="0">
                <a:latin typeface="Corbel"/>
                <a:cs typeface="Corbel"/>
              </a:rPr>
              <a:t> </a:t>
            </a:r>
            <a:r>
              <a:rPr sz="1400" spc="-10" dirty="0">
                <a:latin typeface="Corbel"/>
                <a:cs typeface="Corbel"/>
              </a:rPr>
              <a:t>once.</a:t>
            </a:r>
            <a:endParaRPr sz="1400">
              <a:latin typeface="Corbel"/>
              <a:cs typeface="Corbe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4052" y="5252107"/>
            <a:ext cx="1689506" cy="114411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762110" y="6736715"/>
            <a:ext cx="1346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3786251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419862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-30" dirty="0">
                <a:solidFill>
                  <a:srgbClr val="D50092"/>
                </a:solidFill>
                <a:latin typeface="Calibri"/>
                <a:cs typeface="Calibri"/>
              </a:rPr>
              <a:t>Web </a:t>
            </a:r>
            <a:r>
              <a:rPr b="1" dirty="0">
                <a:solidFill>
                  <a:srgbClr val="D50092"/>
                </a:solidFill>
                <a:latin typeface="Calibri"/>
                <a:cs typeface="Calibri"/>
              </a:rPr>
              <a:t>as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a </a:t>
            </a:r>
            <a:r>
              <a:rPr b="1" spc="5" dirty="0">
                <a:solidFill>
                  <a:srgbClr val="D50092"/>
                </a:solidFill>
                <a:latin typeface="Calibri"/>
                <a:cs typeface="Calibri"/>
              </a:rPr>
              <a:t>directed</a:t>
            </a:r>
            <a:r>
              <a:rPr b="1" spc="-28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b="1" spc="-15" dirty="0">
                <a:solidFill>
                  <a:srgbClr val="D50092"/>
                </a:solidFill>
                <a:latin typeface="Calibri"/>
                <a:cs typeface="Calibri"/>
              </a:rPr>
              <a:t>graph: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7580" y="1837817"/>
            <a:ext cx="2957195" cy="105537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844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b="1" spc="15" dirty="0">
                <a:solidFill>
                  <a:srgbClr val="0000FF"/>
                </a:solidFill>
                <a:latin typeface="Calibri"/>
                <a:cs typeface="Calibri"/>
              </a:rPr>
              <a:t>Nodes:</a:t>
            </a:r>
            <a:r>
              <a:rPr sz="275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50" b="1" spc="15" dirty="0">
                <a:solidFill>
                  <a:srgbClr val="0000FF"/>
                </a:solidFill>
                <a:latin typeface="Calibri"/>
                <a:cs typeface="Calibri"/>
              </a:rPr>
              <a:t>Webpages</a:t>
            </a:r>
            <a:endParaRPr sz="2750">
              <a:latin typeface="Calibri"/>
              <a:cs typeface="Calibri"/>
            </a:endParaRPr>
          </a:p>
          <a:p>
            <a:pPr marL="28892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b="1" spc="10" dirty="0">
                <a:solidFill>
                  <a:srgbClr val="0000FF"/>
                </a:solidFill>
                <a:latin typeface="Calibri"/>
                <a:cs typeface="Calibri"/>
              </a:rPr>
              <a:t>Edges:</a:t>
            </a:r>
            <a:r>
              <a:rPr sz="2750" b="1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50" b="1" spc="10" dirty="0">
                <a:solidFill>
                  <a:srgbClr val="0000FF"/>
                </a:solidFill>
                <a:latin typeface="Calibri"/>
                <a:cs typeface="Calibri"/>
              </a:rPr>
              <a:t>Hyperlinks</a:t>
            </a:r>
            <a:endParaRPr sz="27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28631" y="2962095"/>
            <a:ext cx="1300480" cy="1652905"/>
            <a:chOff x="1028631" y="2962095"/>
            <a:chExt cx="1300480" cy="165290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631" y="2962095"/>
              <a:ext cx="1300235" cy="16527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1562" y="2976625"/>
              <a:ext cx="1219263" cy="157969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71562" y="2976625"/>
              <a:ext cx="1219835" cy="1579880"/>
            </a:xfrm>
            <a:custGeom>
              <a:avLst/>
              <a:gdLst/>
              <a:ahLst/>
              <a:cxnLst/>
              <a:rect l="l" t="t" r="r" b="b"/>
              <a:pathLst>
                <a:path w="1219835" h="1579879">
                  <a:moveTo>
                    <a:pt x="0" y="0"/>
                  </a:moveTo>
                  <a:lnTo>
                    <a:pt x="1219263" y="0"/>
                  </a:lnTo>
                  <a:lnTo>
                    <a:pt x="1219263" y="1283208"/>
                  </a:lnTo>
                  <a:lnTo>
                    <a:pt x="1168476" y="1284376"/>
                  </a:lnTo>
                  <a:lnTo>
                    <a:pt x="1120504" y="1287763"/>
                  </a:lnTo>
                  <a:lnTo>
                    <a:pt x="1075177" y="1293194"/>
                  </a:lnTo>
                  <a:lnTo>
                    <a:pt x="1032324" y="1300492"/>
                  </a:lnTo>
                  <a:lnTo>
                    <a:pt x="991774" y="1309482"/>
                  </a:lnTo>
                  <a:lnTo>
                    <a:pt x="953356" y="1319989"/>
                  </a:lnTo>
                  <a:lnTo>
                    <a:pt x="916901" y="1331836"/>
                  </a:lnTo>
                  <a:lnTo>
                    <a:pt x="849194" y="1358850"/>
                  </a:lnTo>
                  <a:lnTo>
                    <a:pt x="787287" y="1389116"/>
                  </a:lnTo>
                  <a:lnTo>
                    <a:pt x="729817" y="1421231"/>
                  </a:lnTo>
                  <a:lnTo>
                    <a:pt x="675417" y="1453788"/>
                  </a:lnTo>
                  <a:lnTo>
                    <a:pt x="648941" y="1469793"/>
                  </a:lnTo>
                  <a:lnTo>
                    <a:pt x="622722" y="1485381"/>
                  </a:lnTo>
                  <a:lnTo>
                    <a:pt x="570368" y="1514605"/>
                  </a:lnTo>
                  <a:lnTo>
                    <a:pt x="516990" y="1540053"/>
                  </a:lnTo>
                  <a:lnTo>
                    <a:pt x="461222" y="1560321"/>
                  </a:lnTo>
                  <a:lnTo>
                    <a:pt x="401701" y="1574002"/>
                  </a:lnTo>
                  <a:lnTo>
                    <a:pt x="337059" y="1579691"/>
                  </a:lnTo>
                  <a:lnTo>
                    <a:pt x="302392" y="1579099"/>
                  </a:lnTo>
                  <a:lnTo>
                    <a:pt x="227512" y="1570164"/>
                  </a:lnTo>
                  <a:lnTo>
                    <a:pt x="186958" y="1561469"/>
                  </a:lnTo>
                  <a:lnTo>
                    <a:pt x="144100" y="1549722"/>
                  </a:lnTo>
                  <a:lnTo>
                    <a:pt x="98769" y="1534746"/>
                  </a:lnTo>
                  <a:lnTo>
                    <a:pt x="50792" y="1516367"/>
                  </a:lnTo>
                  <a:lnTo>
                    <a:pt x="0" y="1494409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42694" y="3225228"/>
            <a:ext cx="870585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76200" algn="just">
              <a:lnSpc>
                <a:spcPct val="103000"/>
              </a:lnSpc>
              <a:spcBef>
                <a:spcPts val="70"/>
              </a:spcBef>
            </a:pPr>
            <a:r>
              <a:rPr sz="1550" spc="5" dirty="0">
                <a:latin typeface="Corbel"/>
                <a:cs typeface="Corbel"/>
              </a:rPr>
              <a:t>I </a:t>
            </a:r>
            <a:r>
              <a:rPr sz="1550" spc="-10" dirty="0">
                <a:latin typeface="Corbel"/>
                <a:cs typeface="Corbel"/>
              </a:rPr>
              <a:t>teach </a:t>
            </a:r>
            <a:r>
              <a:rPr sz="1550" spc="10" dirty="0">
                <a:latin typeface="Corbel"/>
                <a:cs typeface="Corbel"/>
              </a:rPr>
              <a:t>a  </a:t>
            </a:r>
            <a:r>
              <a:rPr sz="1550" spc="-10" dirty="0">
                <a:latin typeface="Corbel"/>
                <a:cs typeface="Corbel"/>
              </a:rPr>
              <a:t>class </a:t>
            </a:r>
            <a:r>
              <a:rPr sz="1550" dirty="0">
                <a:latin typeface="Corbel"/>
                <a:cs typeface="Corbel"/>
              </a:rPr>
              <a:t>on  </a:t>
            </a:r>
            <a:r>
              <a:rPr sz="1550" spc="40" dirty="0">
                <a:latin typeface="Corbel"/>
                <a:cs typeface="Corbel"/>
              </a:rPr>
              <a:t>N</a:t>
            </a:r>
            <a:r>
              <a:rPr sz="1550" spc="-25" dirty="0">
                <a:latin typeface="Corbel"/>
                <a:cs typeface="Corbel"/>
              </a:rPr>
              <a:t>e</a:t>
            </a:r>
            <a:r>
              <a:rPr sz="1550" spc="-20" dirty="0">
                <a:latin typeface="Corbel"/>
                <a:cs typeface="Corbel"/>
              </a:rPr>
              <a:t>t</a:t>
            </a:r>
            <a:r>
              <a:rPr sz="1550" spc="15" dirty="0">
                <a:latin typeface="Corbel"/>
                <a:cs typeface="Corbel"/>
              </a:rPr>
              <a:t>w</a:t>
            </a:r>
            <a:r>
              <a:rPr sz="1550" dirty="0">
                <a:latin typeface="Corbel"/>
                <a:cs typeface="Corbel"/>
              </a:rPr>
              <a:t>o</a:t>
            </a:r>
            <a:r>
              <a:rPr sz="1550" spc="5" dirty="0">
                <a:latin typeface="Corbel"/>
                <a:cs typeface="Corbel"/>
              </a:rPr>
              <a:t>r</a:t>
            </a:r>
            <a:r>
              <a:rPr sz="1550" spc="-10" dirty="0">
                <a:latin typeface="Corbel"/>
                <a:cs typeface="Corbel"/>
              </a:rPr>
              <a:t>k</a:t>
            </a:r>
            <a:r>
              <a:rPr sz="1550" spc="-30" dirty="0">
                <a:latin typeface="Corbel"/>
                <a:cs typeface="Corbel"/>
              </a:rPr>
              <a:t>s</a:t>
            </a:r>
            <a:r>
              <a:rPr sz="1550" spc="5" dirty="0">
                <a:latin typeface="Corbel"/>
                <a:cs typeface="Corbel"/>
              </a:rPr>
              <a:t>.</a:t>
            </a:r>
            <a:endParaRPr sz="1550">
              <a:latin typeface="Corbel"/>
              <a:cs typeface="Corbe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57456" y="3571829"/>
            <a:ext cx="1338580" cy="1910080"/>
            <a:chOff x="3057456" y="3571829"/>
            <a:chExt cx="1338580" cy="191008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57456" y="3571829"/>
              <a:ext cx="1300235" cy="190991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76575" y="3629025"/>
              <a:ext cx="1319149" cy="15001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00451" y="3586226"/>
              <a:ext cx="1219200" cy="183361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00451" y="3586226"/>
              <a:ext cx="1219200" cy="1833880"/>
            </a:xfrm>
            <a:custGeom>
              <a:avLst/>
              <a:gdLst/>
              <a:ahLst/>
              <a:cxnLst/>
              <a:rect l="l" t="t" r="r" b="b"/>
              <a:pathLst>
                <a:path w="1219200" h="1833879">
                  <a:moveTo>
                    <a:pt x="0" y="0"/>
                  </a:moveTo>
                  <a:lnTo>
                    <a:pt x="1219200" y="0"/>
                  </a:lnTo>
                  <a:lnTo>
                    <a:pt x="1219200" y="1489456"/>
                  </a:lnTo>
                  <a:lnTo>
                    <a:pt x="1171084" y="1490670"/>
                  </a:lnTo>
                  <a:lnTo>
                    <a:pt x="1125496" y="1494200"/>
                  </a:lnTo>
                  <a:lnTo>
                    <a:pt x="1082291" y="1499872"/>
                  </a:lnTo>
                  <a:lnTo>
                    <a:pt x="1041325" y="1507513"/>
                  </a:lnTo>
                  <a:lnTo>
                    <a:pt x="1002452" y="1516950"/>
                  </a:lnTo>
                  <a:lnTo>
                    <a:pt x="965529" y="1528012"/>
                  </a:lnTo>
                  <a:lnTo>
                    <a:pt x="896955" y="1554318"/>
                  </a:lnTo>
                  <a:lnTo>
                    <a:pt x="834446" y="1585048"/>
                  </a:lnTo>
                  <a:lnTo>
                    <a:pt x="776847" y="1618822"/>
                  </a:lnTo>
                  <a:lnTo>
                    <a:pt x="723004" y="1654259"/>
                  </a:lnTo>
                  <a:lnTo>
                    <a:pt x="671759" y="1689977"/>
                  </a:lnTo>
                  <a:lnTo>
                    <a:pt x="646751" y="1707510"/>
                  </a:lnTo>
                  <a:lnTo>
                    <a:pt x="597240" y="1741060"/>
                  </a:lnTo>
                  <a:lnTo>
                    <a:pt x="547440" y="1771439"/>
                  </a:lnTo>
                  <a:lnTo>
                    <a:pt x="496195" y="1797266"/>
                  </a:lnTo>
                  <a:lnTo>
                    <a:pt x="442352" y="1817159"/>
                  </a:lnTo>
                  <a:lnTo>
                    <a:pt x="384753" y="1829737"/>
                  </a:lnTo>
                  <a:lnTo>
                    <a:pt x="322244" y="1833619"/>
                  </a:lnTo>
                  <a:lnTo>
                    <a:pt x="288787" y="1831867"/>
                  </a:lnTo>
                  <a:lnTo>
                    <a:pt x="216747" y="1820116"/>
                  </a:lnTo>
                  <a:lnTo>
                    <a:pt x="177874" y="1809771"/>
                  </a:lnTo>
                  <a:lnTo>
                    <a:pt x="136908" y="1796216"/>
                  </a:lnTo>
                  <a:lnTo>
                    <a:pt x="93703" y="1779278"/>
                  </a:lnTo>
                  <a:lnTo>
                    <a:pt x="48115" y="1758786"/>
                  </a:lnTo>
                  <a:lnTo>
                    <a:pt x="0" y="1734565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38754" y="3694747"/>
            <a:ext cx="944244" cy="1238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latin typeface="Corbel"/>
                <a:cs typeface="Corbel"/>
              </a:rPr>
              <a:t>CS224W:</a:t>
            </a:r>
            <a:endParaRPr sz="1550">
              <a:latin typeface="Corbel"/>
              <a:cs typeface="Corbel"/>
            </a:endParaRPr>
          </a:p>
          <a:p>
            <a:pPr marL="12065" marR="5080" algn="ctr">
              <a:lnSpc>
                <a:spcPct val="102299"/>
              </a:lnSpc>
              <a:spcBef>
                <a:spcPts val="50"/>
              </a:spcBef>
            </a:pPr>
            <a:r>
              <a:rPr sz="1550" spc="-15" dirty="0">
                <a:latin typeface="Corbel"/>
                <a:cs typeface="Corbel"/>
              </a:rPr>
              <a:t>Classes </a:t>
            </a:r>
            <a:r>
              <a:rPr sz="1550" dirty="0">
                <a:latin typeface="Corbel"/>
                <a:cs typeface="Corbel"/>
              </a:rPr>
              <a:t>are  </a:t>
            </a:r>
            <a:r>
              <a:rPr sz="1550" spc="10" dirty="0">
                <a:latin typeface="Corbel"/>
                <a:cs typeface="Corbel"/>
              </a:rPr>
              <a:t>in </a:t>
            </a:r>
            <a:r>
              <a:rPr sz="1550" spc="-5" dirty="0">
                <a:latin typeface="Corbel"/>
                <a:cs typeface="Corbel"/>
              </a:rPr>
              <a:t>the  Gates  </a:t>
            </a:r>
            <a:r>
              <a:rPr sz="1550" spc="5" dirty="0">
                <a:latin typeface="Corbel"/>
                <a:cs typeface="Corbel"/>
              </a:rPr>
              <a:t>building</a:t>
            </a:r>
            <a:endParaRPr sz="1550">
              <a:latin typeface="Corbel"/>
              <a:cs typeface="Corbe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067300" y="4438533"/>
            <a:ext cx="1424305" cy="1652905"/>
            <a:chOff x="5067300" y="4438533"/>
            <a:chExt cx="1424305" cy="165290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5806" y="4438533"/>
              <a:ext cx="1300235" cy="16527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67300" y="4514850"/>
              <a:ext cx="1423924" cy="126206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8801" y="4453001"/>
              <a:ext cx="1219200" cy="157966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38801" y="4453001"/>
              <a:ext cx="1219200" cy="1579880"/>
            </a:xfrm>
            <a:custGeom>
              <a:avLst/>
              <a:gdLst/>
              <a:ahLst/>
              <a:cxnLst/>
              <a:rect l="l" t="t" r="r" b="b"/>
              <a:pathLst>
                <a:path w="1219200" h="1579879">
                  <a:moveTo>
                    <a:pt x="0" y="0"/>
                  </a:moveTo>
                  <a:lnTo>
                    <a:pt x="1219200" y="0"/>
                  </a:lnTo>
                  <a:lnTo>
                    <a:pt x="1219200" y="1283208"/>
                  </a:lnTo>
                  <a:lnTo>
                    <a:pt x="1168413" y="1284376"/>
                  </a:lnTo>
                  <a:lnTo>
                    <a:pt x="1120441" y="1287763"/>
                  </a:lnTo>
                  <a:lnTo>
                    <a:pt x="1075114" y="1293194"/>
                  </a:lnTo>
                  <a:lnTo>
                    <a:pt x="1032260" y="1300492"/>
                  </a:lnTo>
                  <a:lnTo>
                    <a:pt x="991710" y="1309482"/>
                  </a:lnTo>
                  <a:lnTo>
                    <a:pt x="953293" y="1319989"/>
                  </a:lnTo>
                  <a:lnTo>
                    <a:pt x="916838" y="1331836"/>
                  </a:lnTo>
                  <a:lnTo>
                    <a:pt x="849131" y="1358848"/>
                  </a:lnTo>
                  <a:lnTo>
                    <a:pt x="787226" y="1389114"/>
                  </a:lnTo>
                  <a:lnTo>
                    <a:pt x="729756" y="1421228"/>
                  </a:lnTo>
                  <a:lnTo>
                    <a:pt x="675358" y="1453783"/>
                  </a:lnTo>
                  <a:lnTo>
                    <a:pt x="648884" y="1469787"/>
                  </a:lnTo>
                  <a:lnTo>
                    <a:pt x="622666" y="1485374"/>
                  </a:lnTo>
                  <a:lnTo>
                    <a:pt x="570315" y="1514595"/>
                  </a:lnTo>
                  <a:lnTo>
                    <a:pt x="516940" y="1540040"/>
                  </a:lnTo>
                  <a:lnTo>
                    <a:pt x="461177" y="1560303"/>
                  </a:lnTo>
                  <a:lnTo>
                    <a:pt x="401660" y="1573979"/>
                  </a:lnTo>
                  <a:lnTo>
                    <a:pt x="337025" y="1579662"/>
                  </a:lnTo>
                  <a:lnTo>
                    <a:pt x="302361" y="1579067"/>
                  </a:lnTo>
                  <a:lnTo>
                    <a:pt x="227489" y="1570124"/>
                  </a:lnTo>
                  <a:lnTo>
                    <a:pt x="186939" y="1561425"/>
                  </a:lnTo>
                  <a:lnTo>
                    <a:pt x="144085" y="1549673"/>
                  </a:lnTo>
                  <a:lnTo>
                    <a:pt x="98758" y="1534693"/>
                  </a:lnTo>
                  <a:lnTo>
                    <a:pt x="50786" y="1516309"/>
                  </a:lnTo>
                  <a:lnTo>
                    <a:pt x="0" y="1494345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234559" y="4581588"/>
            <a:ext cx="1019810" cy="10001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-1270" algn="ctr">
              <a:lnSpc>
                <a:spcPct val="103600"/>
              </a:lnSpc>
              <a:spcBef>
                <a:spcPts val="60"/>
              </a:spcBef>
            </a:pPr>
            <a:r>
              <a:rPr sz="1550" spc="-5" dirty="0">
                <a:latin typeface="Corbel"/>
                <a:cs typeface="Corbel"/>
              </a:rPr>
              <a:t>Computer  </a:t>
            </a:r>
            <a:r>
              <a:rPr sz="1550" dirty="0">
                <a:latin typeface="Corbel"/>
                <a:cs typeface="Corbel"/>
              </a:rPr>
              <a:t>Science  </a:t>
            </a:r>
            <a:r>
              <a:rPr sz="1550" spc="5" dirty="0">
                <a:latin typeface="Corbel"/>
                <a:cs typeface="Corbel"/>
              </a:rPr>
              <a:t>D</a:t>
            </a:r>
            <a:r>
              <a:rPr sz="1550" spc="-30" dirty="0">
                <a:latin typeface="Corbel"/>
                <a:cs typeface="Corbel"/>
              </a:rPr>
              <a:t>e</a:t>
            </a:r>
            <a:r>
              <a:rPr sz="1550" spc="-5" dirty="0">
                <a:latin typeface="Corbel"/>
                <a:cs typeface="Corbel"/>
              </a:rPr>
              <a:t>p</a:t>
            </a:r>
            <a:r>
              <a:rPr sz="1550" spc="-15" dirty="0">
                <a:latin typeface="Corbel"/>
                <a:cs typeface="Corbel"/>
              </a:rPr>
              <a:t>a</a:t>
            </a:r>
            <a:r>
              <a:rPr sz="1550" spc="5" dirty="0">
                <a:latin typeface="Corbel"/>
                <a:cs typeface="Corbel"/>
              </a:rPr>
              <a:t>r</a:t>
            </a:r>
            <a:r>
              <a:rPr sz="1550" spc="-15" dirty="0">
                <a:latin typeface="Corbel"/>
                <a:cs typeface="Corbel"/>
              </a:rPr>
              <a:t>tm</a:t>
            </a:r>
            <a:r>
              <a:rPr sz="1550" spc="-30" dirty="0">
                <a:latin typeface="Corbel"/>
                <a:cs typeface="Corbel"/>
              </a:rPr>
              <a:t>e</a:t>
            </a:r>
            <a:r>
              <a:rPr sz="1550" dirty="0">
                <a:latin typeface="Corbel"/>
                <a:cs typeface="Corbel"/>
              </a:rPr>
              <a:t>n</a:t>
            </a:r>
            <a:r>
              <a:rPr sz="1550" spc="5" dirty="0">
                <a:latin typeface="Corbel"/>
                <a:cs typeface="Corbel"/>
              </a:rPr>
              <a:t>t  </a:t>
            </a:r>
            <a:r>
              <a:rPr sz="1550" spc="-5" dirty="0">
                <a:latin typeface="Corbel"/>
                <a:cs typeface="Corbel"/>
              </a:rPr>
              <a:t>at</a:t>
            </a:r>
            <a:r>
              <a:rPr sz="1550" spc="15" dirty="0">
                <a:latin typeface="Corbel"/>
                <a:cs typeface="Corbel"/>
              </a:rPr>
              <a:t> </a:t>
            </a:r>
            <a:r>
              <a:rPr sz="1550" spc="5" dirty="0">
                <a:latin typeface="Corbel"/>
                <a:cs typeface="Corbel"/>
              </a:rPr>
              <a:t>Stanford</a:t>
            </a:r>
            <a:endParaRPr sz="1550">
              <a:latin typeface="Corbel"/>
              <a:cs typeface="Corbe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124631" y="5171958"/>
            <a:ext cx="1300480" cy="1652905"/>
            <a:chOff x="7124631" y="5171958"/>
            <a:chExt cx="1300480" cy="1652905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24631" y="5171958"/>
              <a:ext cx="1300235" cy="16527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67626" y="5186426"/>
              <a:ext cx="1219200" cy="157966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167626" y="5186426"/>
              <a:ext cx="1219200" cy="1579880"/>
            </a:xfrm>
            <a:custGeom>
              <a:avLst/>
              <a:gdLst/>
              <a:ahLst/>
              <a:cxnLst/>
              <a:rect l="l" t="t" r="r" b="b"/>
              <a:pathLst>
                <a:path w="1219200" h="1579879">
                  <a:moveTo>
                    <a:pt x="0" y="0"/>
                  </a:moveTo>
                  <a:lnTo>
                    <a:pt x="1219200" y="0"/>
                  </a:lnTo>
                  <a:lnTo>
                    <a:pt x="1219200" y="1283208"/>
                  </a:lnTo>
                  <a:lnTo>
                    <a:pt x="1168413" y="1284376"/>
                  </a:lnTo>
                  <a:lnTo>
                    <a:pt x="1120441" y="1287763"/>
                  </a:lnTo>
                  <a:lnTo>
                    <a:pt x="1075114" y="1293194"/>
                  </a:lnTo>
                  <a:lnTo>
                    <a:pt x="1032260" y="1300492"/>
                  </a:lnTo>
                  <a:lnTo>
                    <a:pt x="991710" y="1309482"/>
                  </a:lnTo>
                  <a:lnTo>
                    <a:pt x="953293" y="1319989"/>
                  </a:lnTo>
                  <a:lnTo>
                    <a:pt x="916838" y="1331836"/>
                  </a:lnTo>
                  <a:lnTo>
                    <a:pt x="849131" y="1358848"/>
                  </a:lnTo>
                  <a:lnTo>
                    <a:pt x="787226" y="1389114"/>
                  </a:lnTo>
                  <a:lnTo>
                    <a:pt x="729756" y="1421228"/>
                  </a:lnTo>
                  <a:lnTo>
                    <a:pt x="675358" y="1453783"/>
                  </a:lnTo>
                  <a:lnTo>
                    <a:pt x="648884" y="1469787"/>
                  </a:lnTo>
                  <a:lnTo>
                    <a:pt x="622666" y="1485374"/>
                  </a:lnTo>
                  <a:lnTo>
                    <a:pt x="570315" y="1514595"/>
                  </a:lnTo>
                  <a:lnTo>
                    <a:pt x="516940" y="1540040"/>
                  </a:lnTo>
                  <a:lnTo>
                    <a:pt x="461177" y="1560303"/>
                  </a:lnTo>
                  <a:lnTo>
                    <a:pt x="401660" y="1573979"/>
                  </a:lnTo>
                  <a:lnTo>
                    <a:pt x="337025" y="1579662"/>
                  </a:lnTo>
                  <a:lnTo>
                    <a:pt x="302361" y="1579067"/>
                  </a:lnTo>
                  <a:lnTo>
                    <a:pt x="227489" y="1570124"/>
                  </a:lnTo>
                  <a:lnTo>
                    <a:pt x="186939" y="1561425"/>
                  </a:lnTo>
                  <a:lnTo>
                    <a:pt x="144085" y="1549673"/>
                  </a:lnTo>
                  <a:lnTo>
                    <a:pt x="98758" y="1534693"/>
                  </a:lnTo>
                  <a:lnTo>
                    <a:pt x="50786" y="1516309"/>
                  </a:lnTo>
                  <a:lnTo>
                    <a:pt x="0" y="1494345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354569" y="5564822"/>
            <a:ext cx="85471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7625">
              <a:lnSpc>
                <a:spcPct val="105000"/>
              </a:lnSpc>
              <a:spcBef>
                <a:spcPts val="35"/>
              </a:spcBef>
            </a:pPr>
            <a:r>
              <a:rPr sz="1550" spc="5" dirty="0">
                <a:latin typeface="Corbel"/>
                <a:cs typeface="Corbel"/>
              </a:rPr>
              <a:t>Stanford  Un</a:t>
            </a:r>
            <a:r>
              <a:rPr sz="1550" spc="10" dirty="0">
                <a:latin typeface="Corbel"/>
                <a:cs typeface="Corbel"/>
              </a:rPr>
              <a:t>i</a:t>
            </a:r>
            <a:r>
              <a:rPr sz="1550" spc="25" dirty="0">
                <a:latin typeface="Corbel"/>
                <a:cs typeface="Corbel"/>
              </a:rPr>
              <a:t>v</a:t>
            </a:r>
            <a:r>
              <a:rPr sz="1550" spc="-30" dirty="0">
                <a:latin typeface="Corbel"/>
                <a:cs typeface="Corbel"/>
              </a:rPr>
              <a:t>e</a:t>
            </a:r>
            <a:r>
              <a:rPr sz="1550" spc="5" dirty="0">
                <a:latin typeface="Corbel"/>
                <a:cs typeface="Corbel"/>
              </a:rPr>
              <a:t>r</a:t>
            </a:r>
            <a:r>
              <a:rPr sz="1550" spc="-35" dirty="0">
                <a:latin typeface="Corbel"/>
                <a:cs typeface="Corbel"/>
              </a:rPr>
              <a:t>s</a:t>
            </a:r>
            <a:r>
              <a:rPr sz="1550" spc="10" dirty="0">
                <a:latin typeface="Corbel"/>
                <a:cs typeface="Corbel"/>
              </a:rPr>
              <a:t>i</a:t>
            </a:r>
            <a:r>
              <a:rPr sz="1550" spc="-20" dirty="0">
                <a:latin typeface="Corbel"/>
                <a:cs typeface="Corbel"/>
              </a:rPr>
              <a:t>t</a:t>
            </a:r>
            <a:r>
              <a:rPr sz="1550" spc="10" dirty="0">
                <a:latin typeface="Corbel"/>
                <a:cs typeface="Corbel"/>
              </a:rPr>
              <a:t>y</a:t>
            </a:r>
            <a:endParaRPr sz="1550">
              <a:latin typeface="Corbel"/>
              <a:cs typeface="Corbe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62110" y="6736715"/>
            <a:ext cx="13462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8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3786251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419862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-30" dirty="0">
                <a:solidFill>
                  <a:srgbClr val="D50092"/>
                </a:solidFill>
                <a:latin typeface="Calibri"/>
                <a:cs typeface="Calibri"/>
              </a:rPr>
              <a:t>Web </a:t>
            </a:r>
            <a:r>
              <a:rPr b="1" dirty="0">
                <a:solidFill>
                  <a:srgbClr val="D50092"/>
                </a:solidFill>
                <a:latin typeface="Calibri"/>
                <a:cs typeface="Calibri"/>
              </a:rPr>
              <a:t>as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a </a:t>
            </a:r>
            <a:r>
              <a:rPr b="1" spc="5" dirty="0">
                <a:solidFill>
                  <a:srgbClr val="D50092"/>
                </a:solidFill>
                <a:latin typeface="Calibri"/>
                <a:cs typeface="Calibri"/>
              </a:rPr>
              <a:t>directed</a:t>
            </a:r>
            <a:r>
              <a:rPr b="1" spc="-28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b="1" spc="-15" dirty="0">
                <a:solidFill>
                  <a:srgbClr val="D50092"/>
                </a:solidFill>
                <a:latin typeface="Calibri"/>
                <a:cs typeface="Calibri"/>
              </a:rPr>
              <a:t>graph: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7580" y="1837817"/>
            <a:ext cx="2957195" cy="105537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844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b="1" spc="15" dirty="0">
                <a:solidFill>
                  <a:srgbClr val="0000FF"/>
                </a:solidFill>
                <a:latin typeface="Calibri"/>
                <a:cs typeface="Calibri"/>
              </a:rPr>
              <a:t>Nodes:</a:t>
            </a:r>
            <a:r>
              <a:rPr sz="275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50" b="1" spc="15" dirty="0">
                <a:solidFill>
                  <a:srgbClr val="0000FF"/>
                </a:solidFill>
                <a:latin typeface="Calibri"/>
                <a:cs typeface="Calibri"/>
              </a:rPr>
              <a:t>Webpages</a:t>
            </a:r>
            <a:endParaRPr sz="2750">
              <a:latin typeface="Calibri"/>
              <a:cs typeface="Calibri"/>
            </a:endParaRPr>
          </a:p>
          <a:p>
            <a:pPr marL="28892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b="1" spc="10" dirty="0">
                <a:solidFill>
                  <a:srgbClr val="0000FF"/>
                </a:solidFill>
                <a:latin typeface="Calibri"/>
                <a:cs typeface="Calibri"/>
              </a:rPr>
              <a:t>Edges:</a:t>
            </a:r>
            <a:r>
              <a:rPr sz="2750" b="1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50" b="1" spc="10" dirty="0">
                <a:solidFill>
                  <a:srgbClr val="0000FF"/>
                </a:solidFill>
                <a:latin typeface="Calibri"/>
                <a:cs typeface="Calibri"/>
              </a:rPr>
              <a:t>Hyperlinks</a:t>
            </a:r>
            <a:endParaRPr sz="27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28631" y="2962095"/>
            <a:ext cx="1300480" cy="1652905"/>
            <a:chOff x="1028631" y="2962095"/>
            <a:chExt cx="1300480" cy="165290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631" y="2962095"/>
              <a:ext cx="1300235" cy="16527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1562" y="2976625"/>
              <a:ext cx="1219263" cy="157969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71562" y="2976625"/>
              <a:ext cx="1219835" cy="1579880"/>
            </a:xfrm>
            <a:custGeom>
              <a:avLst/>
              <a:gdLst/>
              <a:ahLst/>
              <a:cxnLst/>
              <a:rect l="l" t="t" r="r" b="b"/>
              <a:pathLst>
                <a:path w="1219835" h="1579879">
                  <a:moveTo>
                    <a:pt x="0" y="0"/>
                  </a:moveTo>
                  <a:lnTo>
                    <a:pt x="1219263" y="0"/>
                  </a:lnTo>
                  <a:lnTo>
                    <a:pt x="1219263" y="1283208"/>
                  </a:lnTo>
                  <a:lnTo>
                    <a:pt x="1168476" y="1284376"/>
                  </a:lnTo>
                  <a:lnTo>
                    <a:pt x="1120504" y="1287763"/>
                  </a:lnTo>
                  <a:lnTo>
                    <a:pt x="1075177" y="1293194"/>
                  </a:lnTo>
                  <a:lnTo>
                    <a:pt x="1032324" y="1300492"/>
                  </a:lnTo>
                  <a:lnTo>
                    <a:pt x="991774" y="1309482"/>
                  </a:lnTo>
                  <a:lnTo>
                    <a:pt x="953356" y="1319989"/>
                  </a:lnTo>
                  <a:lnTo>
                    <a:pt x="916901" y="1331836"/>
                  </a:lnTo>
                  <a:lnTo>
                    <a:pt x="849194" y="1358850"/>
                  </a:lnTo>
                  <a:lnTo>
                    <a:pt x="787287" y="1389116"/>
                  </a:lnTo>
                  <a:lnTo>
                    <a:pt x="729817" y="1421231"/>
                  </a:lnTo>
                  <a:lnTo>
                    <a:pt x="675417" y="1453788"/>
                  </a:lnTo>
                  <a:lnTo>
                    <a:pt x="648941" y="1469793"/>
                  </a:lnTo>
                  <a:lnTo>
                    <a:pt x="622722" y="1485381"/>
                  </a:lnTo>
                  <a:lnTo>
                    <a:pt x="570368" y="1514605"/>
                  </a:lnTo>
                  <a:lnTo>
                    <a:pt x="516990" y="1540053"/>
                  </a:lnTo>
                  <a:lnTo>
                    <a:pt x="461222" y="1560321"/>
                  </a:lnTo>
                  <a:lnTo>
                    <a:pt x="401701" y="1574002"/>
                  </a:lnTo>
                  <a:lnTo>
                    <a:pt x="337059" y="1579691"/>
                  </a:lnTo>
                  <a:lnTo>
                    <a:pt x="302392" y="1579099"/>
                  </a:lnTo>
                  <a:lnTo>
                    <a:pt x="227512" y="1570164"/>
                  </a:lnTo>
                  <a:lnTo>
                    <a:pt x="186958" y="1561469"/>
                  </a:lnTo>
                  <a:lnTo>
                    <a:pt x="144100" y="1549722"/>
                  </a:lnTo>
                  <a:lnTo>
                    <a:pt x="98769" y="1534746"/>
                  </a:lnTo>
                  <a:lnTo>
                    <a:pt x="50792" y="1516367"/>
                  </a:lnTo>
                  <a:lnTo>
                    <a:pt x="0" y="1494409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42694" y="3225228"/>
            <a:ext cx="86995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76200" algn="just">
              <a:lnSpc>
                <a:spcPct val="103000"/>
              </a:lnSpc>
              <a:spcBef>
                <a:spcPts val="70"/>
              </a:spcBef>
            </a:pPr>
            <a:r>
              <a:rPr sz="1550" spc="5" dirty="0">
                <a:latin typeface="Corbel"/>
                <a:cs typeface="Corbel"/>
              </a:rPr>
              <a:t>I </a:t>
            </a:r>
            <a:r>
              <a:rPr sz="1550" spc="-10" dirty="0">
                <a:latin typeface="Corbel"/>
                <a:cs typeface="Corbel"/>
              </a:rPr>
              <a:t>teach </a:t>
            </a:r>
            <a:r>
              <a:rPr sz="1550" spc="10" dirty="0">
                <a:latin typeface="Corbel"/>
                <a:cs typeface="Corbel"/>
              </a:rPr>
              <a:t>a  </a:t>
            </a:r>
            <a:r>
              <a:rPr sz="1550" spc="-10" dirty="0">
                <a:latin typeface="Corbel"/>
                <a:cs typeface="Corbel"/>
              </a:rPr>
              <a:t>class </a:t>
            </a:r>
            <a:r>
              <a:rPr sz="1550" dirty="0">
                <a:latin typeface="Corbel"/>
                <a:cs typeface="Corbel"/>
              </a:rPr>
              <a:t>on  </a:t>
            </a:r>
            <a:r>
              <a:rPr sz="1550" u="sng" spc="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rbel"/>
                <a:cs typeface="Corbel"/>
              </a:rPr>
              <a:t>N</a:t>
            </a:r>
            <a:r>
              <a:rPr sz="155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rbel"/>
                <a:cs typeface="Corbel"/>
              </a:rPr>
              <a:t>e</a:t>
            </a:r>
            <a:r>
              <a:rPr sz="155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rbel"/>
                <a:cs typeface="Corbel"/>
              </a:rPr>
              <a:t>t</a:t>
            </a:r>
            <a:r>
              <a:rPr sz="1550" u="sng" spc="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rbel"/>
                <a:cs typeface="Corbel"/>
              </a:rPr>
              <a:t>w</a:t>
            </a:r>
            <a:r>
              <a:rPr sz="15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rbel"/>
                <a:cs typeface="Corbel"/>
              </a:rPr>
              <a:t>o</a:t>
            </a:r>
            <a:r>
              <a:rPr sz="155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rbel"/>
                <a:cs typeface="Corbel"/>
              </a:rPr>
              <a:t>r</a:t>
            </a:r>
            <a:r>
              <a:rPr sz="15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rbel"/>
                <a:cs typeface="Corbel"/>
              </a:rPr>
              <a:t>k</a:t>
            </a:r>
            <a:r>
              <a:rPr sz="155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rbel"/>
                <a:cs typeface="Corbel"/>
              </a:rPr>
              <a:t>s</a:t>
            </a:r>
            <a:r>
              <a:rPr sz="1550" spc="5" dirty="0">
                <a:latin typeface="Corbel"/>
                <a:cs typeface="Corbel"/>
              </a:rPr>
              <a:t>.</a:t>
            </a:r>
            <a:endParaRPr sz="1550">
              <a:latin typeface="Corbel"/>
              <a:cs typeface="Corbe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57456" y="3571829"/>
            <a:ext cx="1338580" cy="1910080"/>
            <a:chOff x="3057456" y="3571829"/>
            <a:chExt cx="1338580" cy="191008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57456" y="3571829"/>
              <a:ext cx="1300235" cy="190991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76575" y="3629025"/>
              <a:ext cx="1319149" cy="15001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00451" y="3586226"/>
              <a:ext cx="1219200" cy="183361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00451" y="3586226"/>
              <a:ext cx="1219200" cy="1833880"/>
            </a:xfrm>
            <a:custGeom>
              <a:avLst/>
              <a:gdLst/>
              <a:ahLst/>
              <a:cxnLst/>
              <a:rect l="l" t="t" r="r" b="b"/>
              <a:pathLst>
                <a:path w="1219200" h="1833879">
                  <a:moveTo>
                    <a:pt x="0" y="0"/>
                  </a:moveTo>
                  <a:lnTo>
                    <a:pt x="1219200" y="0"/>
                  </a:lnTo>
                  <a:lnTo>
                    <a:pt x="1219200" y="1489456"/>
                  </a:lnTo>
                  <a:lnTo>
                    <a:pt x="1171084" y="1490670"/>
                  </a:lnTo>
                  <a:lnTo>
                    <a:pt x="1125496" y="1494200"/>
                  </a:lnTo>
                  <a:lnTo>
                    <a:pt x="1082291" y="1499872"/>
                  </a:lnTo>
                  <a:lnTo>
                    <a:pt x="1041325" y="1507513"/>
                  </a:lnTo>
                  <a:lnTo>
                    <a:pt x="1002452" y="1516950"/>
                  </a:lnTo>
                  <a:lnTo>
                    <a:pt x="965529" y="1528012"/>
                  </a:lnTo>
                  <a:lnTo>
                    <a:pt x="896955" y="1554318"/>
                  </a:lnTo>
                  <a:lnTo>
                    <a:pt x="834446" y="1585048"/>
                  </a:lnTo>
                  <a:lnTo>
                    <a:pt x="776847" y="1618822"/>
                  </a:lnTo>
                  <a:lnTo>
                    <a:pt x="723004" y="1654259"/>
                  </a:lnTo>
                  <a:lnTo>
                    <a:pt x="671759" y="1689977"/>
                  </a:lnTo>
                  <a:lnTo>
                    <a:pt x="646751" y="1707510"/>
                  </a:lnTo>
                  <a:lnTo>
                    <a:pt x="597240" y="1741060"/>
                  </a:lnTo>
                  <a:lnTo>
                    <a:pt x="547440" y="1771439"/>
                  </a:lnTo>
                  <a:lnTo>
                    <a:pt x="496195" y="1797266"/>
                  </a:lnTo>
                  <a:lnTo>
                    <a:pt x="442352" y="1817159"/>
                  </a:lnTo>
                  <a:lnTo>
                    <a:pt x="384753" y="1829737"/>
                  </a:lnTo>
                  <a:lnTo>
                    <a:pt x="322244" y="1833619"/>
                  </a:lnTo>
                  <a:lnTo>
                    <a:pt x="288787" y="1831867"/>
                  </a:lnTo>
                  <a:lnTo>
                    <a:pt x="216747" y="1820116"/>
                  </a:lnTo>
                  <a:lnTo>
                    <a:pt x="177874" y="1809771"/>
                  </a:lnTo>
                  <a:lnTo>
                    <a:pt x="136908" y="1796216"/>
                  </a:lnTo>
                  <a:lnTo>
                    <a:pt x="93703" y="1779278"/>
                  </a:lnTo>
                  <a:lnTo>
                    <a:pt x="48115" y="1758786"/>
                  </a:lnTo>
                  <a:lnTo>
                    <a:pt x="0" y="1734565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38754" y="3694747"/>
            <a:ext cx="944244" cy="1238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latin typeface="Corbel"/>
                <a:cs typeface="Corbel"/>
              </a:rPr>
              <a:t>CS224W:</a:t>
            </a:r>
            <a:endParaRPr sz="1550">
              <a:latin typeface="Corbel"/>
              <a:cs typeface="Corbel"/>
            </a:endParaRPr>
          </a:p>
          <a:p>
            <a:pPr marL="12065" marR="5080" algn="ctr">
              <a:lnSpc>
                <a:spcPct val="102299"/>
              </a:lnSpc>
              <a:spcBef>
                <a:spcPts val="50"/>
              </a:spcBef>
            </a:pPr>
            <a:r>
              <a:rPr sz="1550" spc="-15" dirty="0">
                <a:latin typeface="Corbel"/>
                <a:cs typeface="Corbel"/>
              </a:rPr>
              <a:t>Classes </a:t>
            </a:r>
            <a:r>
              <a:rPr sz="1550" dirty="0">
                <a:latin typeface="Corbel"/>
                <a:cs typeface="Corbel"/>
              </a:rPr>
              <a:t>are  </a:t>
            </a:r>
            <a:r>
              <a:rPr sz="1550" spc="10" dirty="0">
                <a:latin typeface="Corbel"/>
                <a:cs typeface="Corbel"/>
              </a:rPr>
              <a:t>in </a:t>
            </a:r>
            <a:r>
              <a:rPr sz="1550" spc="-5" dirty="0">
                <a:latin typeface="Corbel"/>
                <a:cs typeface="Corbel"/>
              </a:rPr>
              <a:t>the  </a:t>
            </a:r>
            <a:r>
              <a:rPr sz="155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rbel"/>
                <a:cs typeface="Corbel"/>
              </a:rPr>
              <a:t>Gates </a:t>
            </a:r>
            <a:r>
              <a:rPr sz="1550" spc="-5" dirty="0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sz="1550" spc="5" dirty="0">
                <a:latin typeface="Corbel"/>
                <a:cs typeface="Corbel"/>
              </a:rPr>
              <a:t>building</a:t>
            </a:r>
            <a:endParaRPr sz="1550">
              <a:latin typeface="Corbel"/>
              <a:cs typeface="Corbe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067300" y="4438533"/>
            <a:ext cx="1424305" cy="1652905"/>
            <a:chOff x="5067300" y="4438533"/>
            <a:chExt cx="1424305" cy="165290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5806" y="4438533"/>
              <a:ext cx="1300235" cy="16527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67300" y="4514850"/>
              <a:ext cx="1423924" cy="126206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8801" y="4453001"/>
              <a:ext cx="1219200" cy="157966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38801" y="4453001"/>
              <a:ext cx="1219200" cy="1579880"/>
            </a:xfrm>
            <a:custGeom>
              <a:avLst/>
              <a:gdLst/>
              <a:ahLst/>
              <a:cxnLst/>
              <a:rect l="l" t="t" r="r" b="b"/>
              <a:pathLst>
                <a:path w="1219200" h="1579879">
                  <a:moveTo>
                    <a:pt x="0" y="0"/>
                  </a:moveTo>
                  <a:lnTo>
                    <a:pt x="1219200" y="0"/>
                  </a:lnTo>
                  <a:lnTo>
                    <a:pt x="1219200" y="1283208"/>
                  </a:lnTo>
                  <a:lnTo>
                    <a:pt x="1168413" y="1284376"/>
                  </a:lnTo>
                  <a:lnTo>
                    <a:pt x="1120441" y="1287763"/>
                  </a:lnTo>
                  <a:lnTo>
                    <a:pt x="1075114" y="1293194"/>
                  </a:lnTo>
                  <a:lnTo>
                    <a:pt x="1032260" y="1300492"/>
                  </a:lnTo>
                  <a:lnTo>
                    <a:pt x="991710" y="1309482"/>
                  </a:lnTo>
                  <a:lnTo>
                    <a:pt x="953293" y="1319989"/>
                  </a:lnTo>
                  <a:lnTo>
                    <a:pt x="916838" y="1331836"/>
                  </a:lnTo>
                  <a:lnTo>
                    <a:pt x="849131" y="1358848"/>
                  </a:lnTo>
                  <a:lnTo>
                    <a:pt x="787226" y="1389114"/>
                  </a:lnTo>
                  <a:lnTo>
                    <a:pt x="729756" y="1421228"/>
                  </a:lnTo>
                  <a:lnTo>
                    <a:pt x="675358" y="1453783"/>
                  </a:lnTo>
                  <a:lnTo>
                    <a:pt x="648884" y="1469787"/>
                  </a:lnTo>
                  <a:lnTo>
                    <a:pt x="622666" y="1485374"/>
                  </a:lnTo>
                  <a:lnTo>
                    <a:pt x="570315" y="1514595"/>
                  </a:lnTo>
                  <a:lnTo>
                    <a:pt x="516940" y="1540040"/>
                  </a:lnTo>
                  <a:lnTo>
                    <a:pt x="461177" y="1560303"/>
                  </a:lnTo>
                  <a:lnTo>
                    <a:pt x="401660" y="1573979"/>
                  </a:lnTo>
                  <a:lnTo>
                    <a:pt x="337025" y="1579662"/>
                  </a:lnTo>
                  <a:lnTo>
                    <a:pt x="302361" y="1579067"/>
                  </a:lnTo>
                  <a:lnTo>
                    <a:pt x="227489" y="1570124"/>
                  </a:lnTo>
                  <a:lnTo>
                    <a:pt x="186939" y="1561425"/>
                  </a:lnTo>
                  <a:lnTo>
                    <a:pt x="144085" y="1549673"/>
                  </a:lnTo>
                  <a:lnTo>
                    <a:pt x="98758" y="1534693"/>
                  </a:lnTo>
                  <a:lnTo>
                    <a:pt x="50786" y="1516309"/>
                  </a:lnTo>
                  <a:lnTo>
                    <a:pt x="0" y="1494345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234559" y="4581588"/>
            <a:ext cx="1019810" cy="10001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-1270" algn="ctr">
              <a:lnSpc>
                <a:spcPct val="103600"/>
              </a:lnSpc>
              <a:spcBef>
                <a:spcPts val="60"/>
              </a:spcBef>
            </a:pPr>
            <a:r>
              <a:rPr sz="1550" spc="-5" dirty="0">
                <a:latin typeface="Corbel"/>
                <a:cs typeface="Corbel"/>
              </a:rPr>
              <a:t>Computer  </a:t>
            </a:r>
            <a:r>
              <a:rPr sz="1550" dirty="0">
                <a:latin typeface="Corbel"/>
                <a:cs typeface="Corbel"/>
              </a:rPr>
              <a:t>Science  </a:t>
            </a:r>
            <a:r>
              <a:rPr sz="1550" spc="5" dirty="0">
                <a:latin typeface="Corbel"/>
                <a:cs typeface="Corbel"/>
              </a:rPr>
              <a:t>D</a:t>
            </a:r>
            <a:r>
              <a:rPr sz="1550" spc="-30" dirty="0">
                <a:latin typeface="Corbel"/>
                <a:cs typeface="Corbel"/>
              </a:rPr>
              <a:t>e</a:t>
            </a:r>
            <a:r>
              <a:rPr sz="1550" spc="-5" dirty="0">
                <a:latin typeface="Corbel"/>
                <a:cs typeface="Corbel"/>
              </a:rPr>
              <a:t>p</a:t>
            </a:r>
            <a:r>
              <a:rPr sz="1550" spc="-15" dirty="0">
                <a:latin typeface="Corbel"/>
                <a:cs typeface="Corbel"/>
              </a:rPr>
              <a:t>a</a:t>
            </a:r>
            <a:r>
              <a:rPr sz="1550" spc="5" dirty="0">
                <a:latin typeface="Corbel"/>
                <a:cs typeface="Corbel"/>
              </a:rPr>
              <a:t>r</a:t>
            </a:r>
            <a:r>
              <a:rPr sz="1550" spc="-15" dirty="0">
                <a:latin typeface="Corbel"/>
                <a:cs typeface="Corbel"/>
              </a:rPr>
              <a:t>tm</a:t>
            </a:r>
            <a:r>
              <a:rPr sz="1550" spc="-30" dirty="0">
                <a:latin typeface="Corbel"/>
                <a:cs typeface="Corbel"/>
              </a:rPr>
              <a:t>e</a:t>
            </a:r>
            <a:r>
              <a:rPr sz="1550" dirty="0">
                <a:latin typeface="Corbel"/>
                <a:cs typeface="Corbel"/>
              </a:rPr>
              <a:t>n</a:t>
            </a:r>
            <a:r>
              <a:rPr sz="1550" spc="5" dirty="0">
                <a:latin typeface="Corbel"/>
                <a:cs typeface="Corbel"/>
              </a:rPr>
              <a:t>t  </a:t>
            </a:r>
            <a:r>
              <a:rPr sz="1550" spc="-5" dirty="0">
                <a:latin typeface="Corbel"/>
                <a:cs typeface="Corbel"/>
              </a:rPr>
              <a:t>at</a:t>
            </a:r>
            <a:r>
              <a:rPr sz="1550" spc="10" dirty="0">
                <a:latin typeface="Corbel"/>
                <a:cs typeface="Corbel"/>
              </a:rPr>
              <a:t> </a:t>
            </a:r>
            <a:r>
              <a:rPr sz="155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rbel"/>
                <a:cs typeface="Corbel"/>
              </a:rPr>
              <a:t>Stanford</a:t>
            </a:r>
            <a:endParaRPr sz="1550">
              <a:latin typeface="Corbel"/>
              <a:cs typeface="Corbe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124631" y="5171958"/>
            <a:ext cx="1300480" cy="1652905"/>
            <a:chOff x="7124631" y="5171958"/>
            <a:chExt cx="1300480" cy="1652905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24631" y="5171958"/>
              <a:ext cx="1300235" cy="16527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67626" y="5186426"/>
              <a:ext cx="1219200" cy="157966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167626" y="5186426"/>
              <a:ext cx="1219200" cy="1579880"/>
            </a:xfrm>
            <a:custGeom>
              <a:avLst/>
              <a:gdLst/>
              <a:ahLst/>
              <a:cxnLst/>
              <a:rect l="l" t="t" r="r" b="b"/>
              <a:pathLst>
                <a:path w="1219200" h="1579879">
                  <a:moveTo>
                    <a:pt x="0" y="0"/>
                  </a:moveTo>
                  <a:lnTo>
                    <a:pt x="1219200" y="0"/>
                  </a:lnTo>
                  <a:lnTo>
                    <a:pt x="1219200" y="1283208"/>
                  </a:lnTo>
                  <a:lnTo>
                    <a:pt x="1168413" y="1284376"/>
                  </a:lnTo>
                  <a:lnTo>
                    <a:pt x="1120441" y="1287763"/>
                  </a:lnTo>
                  <a:lnTo>
                    <a:pt x="1075114" y="1293194"/>
                  </a:lnTo>
                  <a:lnTo>
                    <a:pt x="1032260" y="1300492"/>
                  </a:lnTo>
                  <a:lnTo>
                    <a:pt x="991710" y="1309482"/>
                  </a:lnTo>
                  <a:lnTo>
                    <a:pt x="953293" y="1319989"/>
                  </a:lnTo>
                  <a:lnTo>
                    <a:pt x="916838" y="1331836"/>
                  </a:lnTo>
                  <a:lnTo>
                    <a:pt x="849131" y="1358848"/>
                  </a:lnTo>
                  <a:lnTo>
                    <a:pt x="787226" y="1389114"/>
                  </a:lnTo>
                  <a:lnTo>
                    <a:pt x="729756" y="1421228"/>
                  </a:lnTo>
                  <a:lnTo>
                    <a:pt x="675358" y="1453783"/>
                  </a:lnTo>
                  <a:lnTo>
                    <a:pt x="648884" y="1469787"/>
                  </a:lnTo>
                  <a:lnTo>
                    <a:pt x="622666" y="1485374"/>
                  </a:lnTo>
                  <a:lnTo>
                    <a:pt x="570315" y="1514595"/>
                  </a:lnTo>
                  <a:lnTo>
                    <a:pt x="516940" y="1540040"/>
                  </a:lnTo>
                  <a:lnTo>
                    <a:pt x="461177" y="1560303"/>
                  </a:lnTo>
                  <a:lnTo>
                    <a:pt x="401660" y="1573979"/>
                  </a:lnTo>
                  <a:lnTo>
                    <a:pt x="337025" y="1579662"/>
                  </a:lnTo>
                  <a:lnTo>
                    <a:pt x="302361" y="1579067"/>
                  </a:lnTo>
                  <a:lnTo>
                    <a:pt x="227489" y="1570124"/>
                  </a:lnTo>
                  <a:lnTo>
                    <a:pt x="186939" y="1561425"/>
                  </a:lnTo>
                  <a:lnTo>
                    <a:pt x="144085" y="1549673"/>
                  </a:lnTo>
                  <a:lnTo>
                    <a:pt x="98758" y="1534693"/>
                  </a:lnTo>
                  <a:lnTo>
                    <a:pt x="50786" y="1516309"/>
                  </a:lnTo>
                  <a:lnTo>
                    <a:pt x="0" y="1494345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354569" y="5564822"/>
            <a:ext cx="85471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7625">
              <a:lnSpc>
                <a:spcPct val="105000"/>
              </a:lnSpc>
              <a:spcBef>
                <a:spcPts val="35"/>
              </a:spcBef>
            </a:pPr>
            <a:r>
              <a:rPr sz="1550" spc="5" dirty="0">
                <a:latin typeface="Corbel"/>
                <a:cs typeface="Corbel"/>
              </a:rPr>
              <a:t>Stanford  Un</a:t>
            </a:r>
            <a:r>
              <a:rPr sz="1550" spc="10" dirty="0">
                <a:latin typeface="Corbel"/>
                <a:cs typeface="Corbel"/>
              </a:rPr>
              <a:t>i</a:t>
            </a:r>
            <a:r>
              <a:rPr sz="1550" spc="25" dirty="0">
                <a:latin typeface="Corbel"/>
                <a:cs typeface="Corbel"/>
              </a:rPr>
              <a:t>v</a:t>
            </a:r>
            <a:r>
              <a:rPr sz="1550" spc="-30" dirty="0">
                <a:latin typeface="Corbel"/>
                <a:cs typeface="Corbel"/>
              </a:rPr>
              <a:t>e</a:t>
            </a:r>
            <a:r>
              <a:rPr sz="1550" spc="5" dirty="0">
                <a:latin typeface="Corbel"/>
                <a:cs typeface="Corbel"/>
              </a:rPr>
              <a:t>r</a:t>
            </a:r>
            <a:r>
              <a:rPr sz="1550" spc="-35" dirty="0">
                <a:latin typeface="Corbel"/>
                <a:cs typeface="Corbel"/>
              </a:rPr>
              <a:t>s</a:t>
            </a:r>
            <a:r>
              <a:rPr sz="1550" spc="10" dirty="0">
                <a:latin typeface="Corbel"/>
                <a:cs typeface="Corbel"/>
              </a:rPr>
              <a:t>i</a:t>
            </a:r>
            <a:r>
              <a:rPr sz="1550" spc="-20" dirty="0">
                <a:latin typeface="Corbel"/>
                <a:cs typeface="Corbel"/>
              </a:rPr>
              <a:t>t</a:t>
            </a:r>
            <a:r>
              <a:rPr sz="1550" spc="10" dirty="0">
                <a:latin typeface="Corbel"/>
                <a:cs typeface="Corbel"/>
              </a:rPr>
              <a:t>y</a:t>
            </a:r>
            <a:endParaRPr sz="1550">
              <a:latin typeface="Corbel"/>
              <a:cs typeface="Corbe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64970" y="3950970"/>
            <a:ext cx="1438910" cy="585470"/>
          </a:xfrm>
          <a:custGeom>
            <a:avLst/>
            <a:gdLst/>
            <a:ahLst/>
            <a:cxnLst/>
            <a:rect l="l" t="t" r="r" b="b"/>
            <a:pathLst>
              <a:path w="1438910" h="585470">
                <a:moveTo>
                  <a:pt x="1357749" y="548075"/>
                </a:moveTo>
                <a:lnTo>
                  <a:pt x="1311910" y="555497"/>
                </a:lnTo>
                <a:lnTo>
                  <a:pt x="1304163" y="556640"/>
                </a:lnTo>
                <a:lnTo>
                  <a:pt x="1298829" y="564006"/>
                </a:lnTo>
                <a:lnTo>
                  <a:pt x="1301369" y="579627"/>
                </a:lnTo>
                <a:lnTo>
                  <a:pt x="1308735" y="584961"/>
                </a:lnTo>
                <a:lnTo>
                  <a:pt x="1410639" y="568423"/>
                </a:lnTo>
                <a:lnTo>
                  <a:pt x="1357749" y="548075"/>
                </a:lnTo>
                <a:close/>
              </a:path>
              <a:path w="1438910" h="585470">
                <a:moveTo>
                  <a:pt x="1421566" y="566651"/>
                </a:moveTo>
                <a:lnTo>
                  <a:pt x="1410639" y="568423"/>
                </a:lnTo>
                <a:lnTo>
                  <a:pt x="1414399" y="569848"/>
                </a:lnTo>
                <a:lnTo>
                  <a:pt x="1421566" y="566651"/>
                </a:lnTo>
                <a:close/>
              </a:path>
              <a:path w="1438910" h="585470">
                <a:moveTo>
                  <a:pt x="1385775" y="543537"/>
                </a:moveTo>
                <a:lnTo>
                  <a:pt x="1357749" y="548075"/>
                </a:lnTo>
                <a:lnTo>
                  <a:pt x="1410639" y="568423"/>
                </a:lnTo>
                <a:lnTo>
                  <a:pt x="1421566" y="566651"/>
                </a:lnTo>
                <a:lnTo>
                  <a:pt x="1422654" y="566165"/>
                </a:lnTo>
                <a:lnTo>
                  <a:pt x="1424064" y="562609"/>
                </a:lnTo>
                <a:lnTo>
                  <a:pt x="1401064" y="562609"/>
                </a:lnTo>
                <a:lnTo>
                  <a:pt x="1385775" y="543537"/>
                </a:lnTo>
                <a:close/>
              </a:path>
              <a:path w="1438910" h="585470">
                <a:moveTo>
                  <a:pt x="1427957" y="550510"/>
                </a:moveTo>
                <a:lnTo>
                  <a:pt x="1428369" y="551433"/>
                </a:lnTo>
                <a:lnTo>
                  <a:pt x="1425575" y="558799"/>
                </a:lnTo>
                <a:lnTo>
                  <a:pt x="1422654" y="566165"/>
                </a:lnTo>
                <a:lnTo>
                  <a:pt x="1421566" y="566651"/>
                </a:lnTo>
                <a:lnTo>
                  <a:pt x="1438656" y="563879"/>
                </a:lnTo>
                <a:lnTo>
                  <a:pt x="1427957" y="550510"/>
                </a:lnTo>
                <a:close/>
              </a:path>
              <a:path w="1438910" h="585470">
                <a:moveTo>
                  <a:pt x="1409954" y="539622"/>
                </a:moveTo>
                <a:lnTo>
                  <a:pt x="1385775" y="543537"/>
                </a:lnTo>
                <a:lnTo>
                  <a:pt x="1401064" y="562609"/>
                </a:lnTo>
                <a:lnTo>
                  <a:pt x="1409954" y="539622"/>
                </a:lnTo>
                <a:close/>
              </a:path>
              <a:path w="1438910" h="585470">
                <a:moveTo>
                  <a:pt x="1415340" y="539622"/>
                </a:moveTo>
                <a:lnTo>
                  <a:pt x="1409954" y="539622"/>
                </a:lnTo>
                <a:lnTo>
                  <a:pt x="1401064" y="562609"/>
                </a:lnTo>
                <a:lnTo>
                  <a:pt x="1424064" y="562609"/>
                </a:lnTo>
                <a:lnTo>
                  <a:pt x="1425575" y="558799"/>
                </a:lnTo>
                <a:lnTo>
                  <a:pt x="1428369" y="551433"/>
                </a:lnTo>
                <a:lnTo>
                  <a:pt x="1427957" y="550510"/>
                </a:lnTo>
                <a:lnTo>
                  <a:pt x="1420958" y="541765"/>
                </a:lnTo>
                <a:lnTo>
                  <a:pt x="1415340" y="539622"/>
                </a:lnTo>
                <a:close/>
              </a:path>
              <a:path w="1438910" h="585470">
                <a:moveTo>
                  <a:pt x="1420958" y="541765"/>
                </a:moveTo>
                <a:lnTo>
                  <a:pt x="1427957" y="550510"/>
                </a:lnTo>
                <a:lnTo>
                  <a:pt x="1424686" y="543178"/>
                </a:lnTo>
                <a:lnTo>
                  <a:pt x="1420958" y="541765"/>
                </a:lnTo>
                <a:close/>
              </a:path>
              <a:path w="1438910" h="585470">
                <a:moveTo>
                  <a:pt x="13969" y="0"/>
                </a:moveTo>
                <a:lnTo>
                  <a:pt x="5715" y="3682"/>
                </a:lnTo>
                <a:lnTo>
                  <a:pt x="2921" y="11048"/>
                </a:lnTo>
                <a:lnTo>
                  <a:pt x="0" y="18414"/>
                </a:lnTo>
                <a:lnTo>
                  <a:pt x="3682" y="26669"/>
                </a:lnTo>
                <a:lnTo>
                  <a:pt x="1357749" y="548075"/>
                </a:lnTo>
                <a:lnTo>
                  <a:pt x="1385775" y="543537"/>
                </a:lnTo>
                <a:lnTo>
                  <a:pt x="1368037" y="521410"/>
                </a:lnTo>
                <a:lnTo>
                  <a:pt x="21336" y="2920"/>
                </a:lnTo>
                <a:lnTo>
                  <a:pt x="13969" y="0"/>
                </a:lnTo>
                <a:close/>
              </a:path>
              <a:path w="1438910" h="585470">
                <a:moveTo>
                  <a:pt x="1368037" y="521410"/>
                </a:moveTo>
                <a:lnTo>
                  <a:pt x="1385775" y="543537"/>
                </a:lnTo>
                <a:lnTo>
                  <a:pt x="1409954" y="539622"/>
                </a:lnTo>
                <a:lnTo>
                  <a:pt x="1415340" y="539622"/>
                </a:lnTo>
                <a:lnTo>
                  <a:pt x="1368037" y="521410"/>
                </a:lnTo>
                <a:close/>
              </a:path>
              <a:path w="1438910" h="585470">
                <a:moveTo>
                  <a:pt x="1347343" y="460120"/>
                </a:moveTo>
                <a:lnTo>
                  <a:pt x="1341247" y="465073"/>
                </a:lnTo>
                <a:lnTo>
                  <a:pt x="1335024" y="470026"/>
                </a:lnTo>
                <a:lnTo>
                  <a:pt x="1334135" y="478916"/>
                </a:lnTo>
                <a:lnTo>
                  <a:pt x="1338961" y="485139"/>
                </a:lnTo>
                <a:lnTo>
                  <a:pt x="1368037" y="521410"/>
                </a:lnTo>
                <a:lnTo>
                  <a:pt x="1420958" y="541765"/>
                </a:lnTo>
                <a:lnTo>
                  <a:pt x="1361313" y="467232"/>
                </a:lnTo>
                <a:lnTo>
                  <a:pt x="1356360" y="461136"/>
                </a:lnTo>
                <a:lnTo>
                  <a:pt x="1347343" y="460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874770" y="4712970"/>
            <a:ext cx="1261110" cy="557530"/>
          </a:xfrm>
          <a:custGeom>
            <a:avLst/>
            <a:gdLst/>
            <a:ahLst/>
            <a:cxnLst/>
            <a:rect l="l" t="t" r="r" b="b"/>
            <a:pathLst>
              <a:path w="1261110" h="557529">
                <a:moveTo>
                  <a:pt x="1180551" y="521677"/>
                </a:moveTo>
                <a:lnTo>
                  <a:pt x="1126616" y="528700"/>
                </a:lnTo>
                <a:lnTo>
                  <a:pt x="1121155" y="535812"/>
                </a:lnTo>
                <a:lnTo>
                  <a:pt x="1123188" y="551560"/>
                </a:lnTo>
                <a:lnTo>
                  <a:pt x="1130300" y="557021"/>
                </a:lnTo>
                <a:lnTo>
                  <a:pt x="1232791" y="543662"/>
                </a:lnTo>
                <a:lnTo>
                  <a:pt x="1180551" y="521677"/>
                </a:lnTo>
                <a:close/>
              </a:path>
              <a:path w="1261110" h="557529">
                <a:moveTo>
                  <a:pt x="1243749" y="542233"/>
                </a:moveTo>
                <a:lnTo>
                  <a:pt x="1232791" y="543662"/>
                </a:lnTo>
                <a:lnTo>
                  <a:pt x="1236471" y="545210"/>
                </a:lnTo>
                <a:lnTo>
                  <a:pt x="1243749" y="542233"/>
                </a:lnTo>
                <a:close/>
              </a:path>
              <a:path w="1261110" h="557529">
                <a:moveTo>
                  <a:pt x="1208583" y="518026"/>
                </a:moveTo>
                <a:lnTo>
                  <a:pt x="1180551" y="521677"/>
                </a:lnTo>
                <a:lnTo>
                  <a:pt x="1232791" y="543662"/>
                </a:lnTo>
                <a:lnTo>
                  <a:pt x="1243749" y="542233"/>
                </a:lnTo>
                <a:lnTo>
                  <a:pt x="1244853" y="541781"/>
                </a:lnTo>
                <a:lnTo>
                  <a:pt x="1246618" y="537590"/>
                </a:lnTo>
                <a:lnTo>
                  <a:pt x="1223264" y="537590"/>
                </a:lnTo>
                <a:lnTo>
                  <a:pt x="1208583" y="518026"/>
                </a:lnTo>
                <a:close/>
              </a:path>
              <a:path w="1261110" h="557529">
                <a:moveTo>
                  <a:pt x="1250508" y="526225"/>
                </a:moveTo>
                <a:lnTo>
                  <a:pt x="1250950" y="527303"/>
                </a:lnTo>
                <a:lnTo>
                  <a:pt x="1244853" y="541781"/>
                </a:lnTo>
                <a:lnTo>
                  <a:pt x="1243749" y="542233"/>
                </a:lnTo>
                <a:lnTo>
                  <a:pt x="1260855" y="540003"/>
                </a:lnTo>
                <a:lnTo>
                  <a:pt x="1250508" y="526225"/>
                </a:lnTo>
                <a:close/>
              </a:path>
              <a:path w="1261110" h="557529">
                <a:moveTo>
                  <a:pt x="1232915" y="514857"/>
                </a:moveTo>
                <a:lnTo>
                  <a:pt x="1208583" y="518026"/>
                </a:lnTo>
                <a:lnTo>
                  <a:pt x="1223264" y="537590"/>
                </a:lnTo>
                <a:lnTo>
                  <a:pt x="1232915" y="514857"/>
                </a:lnTo>
                <a:close/>
              </a:path>
              <a:path w="1261110" h="557529">
                <a:moveTo>
                  <a:pt x="1237864" y="514857"/>
                </a:moveTo>
                <a:lnTo>
                  <a:pt x="1232915" y="514857"/>
                </a:lnTo>
                <a:lnTo>
                  <a:pt x="1223264" y="537590"/>
                </a:lnTo>
                <a:lnTo>
                  <a:pt x="1246618" y="537590"/>
                </a:lnTo>
                <a:lnTo>
                  <a:pt x="1250950" y="527303"/>
                </a:lnTo>
                <a:lnTo>
                  <a:pt x="1250508" y="526225"/>
                </a:lnTo>
                <a:lnTo>
                  <a:pt x="1243870" y="517385"/>
                </a:lnTo>
                <a:lnTo>
                  <a:pt x="1237864" y="514857"/>
                </a:lnTo>
                <a:close/>
              </a:path>
              <a:path w="1261110" h="557529">
                <a:moveTo>
                  <a:pt x="1243870" y="517385"/>
                </a:moveTo>
                <a:lnTo>
                  <a:pt x="1250508" y="526225"/>
                </a:lnTo>
                <a:lnTo>
                  <a:pt x="1247520" y="518921"/>
                </a:lnTo>
                <a:lnTo>
                  <a:pt x="1243870" y="517385"/>
                </a:lnTo>
                <a:close/>
              </a:path>
              <a:path w="1261110" h="557529">
                <a:moveTo>
                  <a:pt x="14477" y="0"/>
                </a:moveTo>
                <a:lnTo>
                  <a:pt x="6095" y="3428"/>
                </a:lnTo>
                <a:lnTo>
                  <a:pt x="0" y="17906"/>
                </a:lnTo>
                <a:lnTo>
                  <a:pt x="3428" y="26288"/>
                </a:lnTo>
                <a:lnTo>
                  <a:pt x="1180551" y="521677"/>
                </a:lnTo>
                <a:lnTo>
                  <a:pt x="1208583" y="518026"/>
                </a:lnTo>
                <a:lnTo>
                  <a:pt x="1191592" y="495384"/>
                </a:lnTo>
                <a:lnTo>
                  <a:pt x="14477" y="0"/>
                </a:lnTo>
                <a:close/>
              </a:path>
              <a:path w="1261110" h="557529">
                <a:moveTo>
                  <a:pt x="1191592" y="495384"/>
                </a:moveTo>
                <a:lnTo>
                  <a:pt x="1208583" y="518026"/>
                </a:lnTo>
                <a:lnTo>
                  <a:pt x="1232915" y="514857"/>
                </a:lnTo>
                <a:lnTo>
                  <a:pt x="1237864" y="514857"/>
                </a:lnTo>
                <a:lnTo>
                  <a:pt x="1191592" y="495384"/>
                </a:lnTo>
                <a:close/>
              </a:path>
              <a:path w="1261110" h="557529">
                <a:moveTo>
                  <a:pt x="1172844" y="433450"/>
                </a:moveTo>
                <a:lnTo>
                  <a:pt x="1160271" y="442975"/>
                </a:lnTo>
                <a:lnTo>
                  <a:pt x="1159002" y="451992"/>
                </a:lnTo>
                <a:lnTo>
                  <a:pt x="1191592" y="495384"/>
                </a:lnTo>
                <a:lnTo>
                  <a:pt x="1243870" y="517385"/>
                </a:lnTo>
                <a:lnTo>
                  <a:pt x="1186560" y="441070"/>
                </a:lnTo>
                <a:lnTo>
                  <a:pt x="1181734" y="434720"/>
                </a:lnTo>
                <a:lnTo>
                  <a:pt x="1172844" y="433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32398" y="5551423"/>
            <a:ext cx="1438910" cy="471170"/>
          </a:xfrm>
          <a:custGeom>
            <a:avLst/>
            <a:gdLst/>
            <a:ahLst/>
            <a:cxnLst/>
            <a:rect l="l" t="t" r="r" b="b"/>
            <a:pathLst>
              <a:path w="1438909" h="471170">
                <a:moveTo>
                  <a:pt x="1356483" y="430202"/>
                </a:moveTo>
                <a:lnTo>
                  <a:pt x="1303781" y="443026"/>
                </a:lnTo>
                <a:lnTo>
                  <a:pt x="1299082" y="450761"/>
                </a:lnTo>
                <a:lnTo>
                  <a:pt x="1300860" y="458419"/>
                </a:lnTo>
                <a:lnTo>
                  <a:pt x="1302766" y="466089"/>
                </a:lnTo>
                <a:lnTo>
                  <a:pt x="1310512" y="470801"/>
                </a:lnTo>
                <a:lnTo>
                  <a:pt x="1410865" y="446393"/>
                </a:lnTo>
                <a:lnTo>
                  <a:pt x="1356483" y="430202"/>
                </a:lnTo>
                <a:close/>
              </a:path>
              <a:path w="1438909" h="471170">
                <a:moveTo>
                  <a:pt x="1421716" y="443755"/>
                </a:moveTo>
                <a:lnTo>
                  <a:pt x="1410865" y="446393"/>
                </a:lnTo>
                <a:lnTo>
                  <a:pt x="1414779" y="447547"/>
                </a:lnTo>
                <a:lnTo>
                  <a:pt x="1421716" y="443755"/>
                </a:lnTo>
                <a:close/>
              </a:path>
              <a:path w="1438909" h="471170">
                <a:moveTo>
                  <a:pt x="1384032" y="423498"/>
                </a:moveTo>
                <a:lnTo>
                  <a:pt x="1356483" y="430202"/>
                </a:lnTo>
                <a:lnTo>
                  <a:pt x="1410865" y="446393"/>
                </a:lnTo>
                <a:lnTo>
                  <a:pt x="1421716" y="443755"/>
                </a:lnTo>
                <a:lnTo>
                  <a:pt x="1422653" y="443242"/>
                </a:lnTo>
                <a:lnTo>
                  <a:pt x="1423218" y="441375"/>
                </a:lnTo>
                <a:lnTo>
                  <a:pt x="1400809" y="441375"/>
                </a:lnTo>
                <a:lnTo>
                  <a:pt x="1384032" y="423498"/>
                </a:lnTo>
                <a:close/>
              </a:path>
              <a:path w="1438909" h="471170">
                <a:moveTo>
                  <a:pt x="1426779" y="427295"/>
                </a:moveTo>
                <a:lnTo>
                  <a:pt x="1427226" y="428116"/>
                </a:lnTo>
                <a:lnTo>
                  <a:pt x="1422653" y="443242"/>
                </a:lnTo>
                <a:lnTo>
                  <a:pt x="1421716" y="443755"/>
                </a:lnTo>
                <a:lnTo>
                  <a:pt x="1438402" y="439699"/>
                </a:lnTo>
                <a:lnTo>
                  <a:pt x="1426779" y="427295"/>
                </a:lnTo>
                <a:close/>
              </a:path>
              <a:path w="1438909" h="471170">
                <a:moveTo>
                  <a:pt x="1407795" y="417715"/>
                </a:moveTo>
                <a:lnTo>
                  <a:pt x="1384032" y="423498"/>
                </a:lnTo>
                <a:lnTo>
                  <a:pt x="1400809" y="441375"/>
                </a:lnTo>
                <a:lnTo>
                  <a:pt x="1407795" y="417715"/>
                </a:lnTo>
                <a:close/>
              </a:path>
              <a:path w="1438909" h="471170">
                <a:moveTo>
                  <a:pt x="1414679" y="417715"/>
                </a:moveTo>
                <a:lnTo>
                  <a:pt x="1407795" y="417715"/>
                </a:lnTo>
                <a:lnTo>
                  <a:pt x="1400809" y="441375"/>
                </a:lnTo>
                <a:lnTo>
                  <a:pt x="1423218" y="441375"/>
                </a:lnTo>
                <a:lnTo>
                  <a:pt x="1427226" y="428116"/>
                </a:lnTo>
                <a:lnTo>
                  <a:pt x="1426779" y="427295"/>
                </a:lnTo>
                <a:lnTo>
                  <a:pt x="1419013" y="419006"/>
                </a:lnTo>
                <a:lnTo>
                  <a:pt x="1414679" y="417715"/>
                </a:lnTo>
                <a:close/>
              </a:path>
              <a:path w="1438909" h="471170">
                <a:moveTo>
                  <a:pt x="12446" y="0"/>
                </a:moveTo>
                <a:lnTo>
                  <a:pt x="4445" y="4317"/>
                </a:lnTo>
                <a:lnTo>
                  <a:pt x="2286" y="11810"/>
                </a:lnTo>
                <a:lnTo>
                  <a:pt x="0" y="19431"/>
                </a:lnTo>
                <a:lnTo>
                  <a:pt x="4317" y="27431"/>
                </a:lnTo>
                <a:lnTo>
                  <a:pt x="1356483" y="430202"/>
                </a:lnTo>
                <a:lnTo>
                  <a:pt x="1384032" y="423498"/>
                </a:lnTo>
                <a:lnTo>
                  <a:pt x="1364610" y="402800"/>
                </a:lnTo>
                <a:lnTo>
                  <a:pt x="12446" y="0"/>
                </a:lnTo>
                <a:close/>
              </a:path>
              <a:path w="1438909" h="471170">
                <a:moveTo>
                  <a:pt x="1419013" y="419006"/>
                </a:moveTo>
                <a:lnTo>
                  <a:pt x="1426779" y="427295"/>
                </a:lnTo>
                <a:lnTo>
                  <a:pt x="1422907" y="420166"/>
                </a:lnTo>
                <a:lnTo>
                  <a:pt x="1419013" y="419006"/>
                </a:lnTo>
                <a:close/>
              </a:path>
              <a:path w="1438909" h="471170">
                <a:moveTo>
                  <a:pt x="1364610" y="402800"/>
                </a:moveTo>
                <a:lnTo>
                  <a:pt x="1384032" y="423498"/>
                </a:lnTo>
                <a:lnTo>
                  <a:pt x="1407795" y="417715"/>
                </a:lnTo>
                <a:lnTo>
                  <a:pt x="1414679" y="417715"/>
                </a:lnTo>
                <a:lnTo>
                  <a:pt x="1364610" y="402800"/>
                </a:lnTo>
                <a:close/>
              </a:path>
              <a:path w="1438909" h="471170">
                <a:moveTo>
                  <a:pt x="1339342" y="343382"/>
                </a:moveTo>
                <a:lnTo>
                  <a:pt x="1333627" y="348780"/>
                </a:lnTo>
                <a:lnTo>
                  <a:pt x="1327784" y="354177"/>
                </a:lnTo>
                <a:lnTo>
                  <a:pt x="1327530" y="363219"/>
                </a:lnTo>
                <a:lnTo>
                  <a:pt x="1332865" y="368973"/>
                </a:lnTo>
                <a:lnTo>
                  <a:pt x="1364610" y="402800"/>
                </a:lnTo>
                <a:lnTo>
                  <a:pt x="1419013" y="419006"/>
                </a:lnTo>
                <a:lnTo>
                  <a:pt x="1353820" y="349427"/>
                </a:lnTo>
                <a:lnTo>
                  <a:pt x="1348358" y="343674"/>
                </a:lnTo>
                <a:lnTo>
                  <a:pt x="1339342" y="3433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704960" y="6736715"/>
            <a:ext cx="19177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9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6015101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300" y="1679388"/>
            <a:ext cx="6629400" cy="47976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04960" y="6736715"/>
            <a:ext cx="19177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10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3824351" cy="4524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74724"/>
            <a:ext cx="361950" cy="43878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469"/>
            <a:ext cx="503936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5" dirty="0">
                <a:solidFill>
                  <a:srgbClr val="CC0066"/>
                </a:solidFill>
                <a:latin typeface="Calibri"/>
                <a:cs typeface="Calibri"/>
              </a:rPr>
              <a:t>How </a:t>
            </a:r>
            <a:r>
              <a:rPr sz="3600" b="1" spc="15" dirty="0">
                <a:solidFill>
                  <a:srgbClr val="CC0066"/>
                </a:solidFill>
                <a:latin typeface="Calibri"/>
                <a:cs typeface="Calibri"/>
              </a:rPr>
              <a:t>to </a:t>
            </a:r>
            <a:r>
              <a:rPr sz="3600" b="1" spc="-25" dirty="0">
                <a:solidFill>
                  <a:srgbClr val="CC0066"/>
                </a:solidFill>
                <a:latin typeface="Calibri"/>
                <a:cs typeface="Calibri"/>
              </a:rPr>
              <a:t>organize </a:t>
            </a:r>
            <a:r>
              <a:rPr sz="3600" b="1" spc="10" dirty="0">
                <a:solidFill>
                  <a:srgbClr val="CC0066"/>
                </a:solidFill>
                <a:latin typeface="Calibri"/>
                <a:cs typeface="Calibri"/>
              </a:rPr>
              <a:t>the</a:t>
            </a:r>
            <a:r>
              <a:rPr sz="3600" b="1" spc="-160" dirty="0">
                <a:solidFill>
                  <a:srgbClr val="CC0066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CC0066"/>
                </a:solidFill>
                <a:latin typeface="Calibri"/>
                <a:cs typeface="Calibri"/>
              </a:rPr>
              <a:t>Web?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7062" y="2018283"/>
            <a:ext cx="323850" cy="4006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7062" y="3506406"/>
            <a:ext cx="323850" cy="4003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38530" y="1900555"/>
            <a:ext cx="7052945" cy="47510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835"/>
              </a:lnSpc>
              <a:spcBef>
                <a:spcPts val="130"/>
              </a:spcBef>
            </a:pPr>
            <a:r>
              <a:rPr sz="3200" b="1" spc="-5" dirty="0">
                <a:latin typeface="Calibri"/>
                <a:cs typeface="Calibri"/>
              </a:rPr>
              <a:t>First try: </a:t>
            </a:r>
            <a:r>
              <a:rPr sz="3200" spc="20" dirty="0">
                <a:latin typeface="Calibri"/>
                <a:cs typeface="Calibri"/>
              </a:rPr>
              <a:t>Human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curated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35"/>
              </a:lnSpc>
            </a:pPr>
            <a:r>
              <a:rPr sz="3200" b="1" spc="-25" dirty="0">
                <a:solidFill>
                  <a:srgbClr val="0000FF"/>
                </a:solidFill>
                <a:latin typeface="Calibri"/>
                <a:cs typeface="Calibri"/>
              </a:rPr>
              <a:t>Web</a:t>
            </a:r>
            <a:r>
              <a:rPr sz="32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directories</a:t>
            </a:r>
            <a:endParaRPr sz="32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20" dirty="0">
                <a:latin typeface="Calibri"/>
                <a:cs typeface="Calibri"/>
              </a:rPr>
              <a:t>Yahoo, </a:t>
            </a:r>
            <a:r>
              <a:rPr sz="2750" spc="5" dirty="0">
                <a:latin typeface="Calibri"/>
                <a:cs typeface="Calibri"/>
              </a:rPr>
              <a:t>DMOZ,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LookSmart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5" dirty="0">
                <a:latin typeface="Calibri"/>
                <a:cs typeface="Calibri"/>
              </a:rPr>
              <a:t>Second </a:t>
            </a:r>
            <a:r>
              <a:rPr sz="3200" b="1" spc="-5" dirty="0">
                <a:latin typeface="Calibri"/>
                <a:cs typeface="Calibri"/>
              </a:rPr>
              <a:t>try: </a:t>
            </a:r>
            <a:r>
              <a:rPr sz="3200" b="1" spc="-30" dirty="0">
                <a:solidFill>
                  <a:srgbClr val="0000FF"/>
                </a:solidFill>
                <a:latin typeface="Calibri"/>
                <a:cs typeface="Calibri"/>
              </a:rPr>
              <a:t>Web</a:t>
            </a:r>
            <a:r>
              <a:rPr sz="32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Calibri"/>
                <a:cs typeface="Calibri"/>
              </a:rPr>
              <a:t>Search</a:t>
            </a:r>
            <a:endParaRPr sz="32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spc="5" dirty="0">
                <a:solidFill>
                  <a:srgbClr val="008000"/>
                </a:solidFill>
                <a:latin typeface="Calibri"/>
                <a:cs typeface="Calibri"/>
              </a:rPr>
              <a:t>Information </a:t>
            </a:r>
            <a:r>
              <a:rPr sz="2750" b="1" spc="-5" dirty="0">
                <a:solidFill>
                  <a:srgbClr val="008000"/>
                </a:solidFill>
                <a:latin typeface="Calibri"/>
                <a:cs typeface="Calibri"/>
              </a:rPr>
              <a:t>Retrieval</a:t>
            </a:r>
            <a:r>
              <a:rPr sz="2750" b="1" spc="19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investigates:</a:t>
            </a:r>
            <a:endParaRPr sz="2750">
              <a:latin typeface="Calibri"/>
              <a:cs typeface="Calibri"/>
            </a:endParaRPr>
          </a:p>
          <a:p>
            <a:pPr marL="307975" marR="2686685">
              <a:lnSpc>
                <a:spcPct val="100000"/>
              </a:lnSpc>
              <a:spcBef>
                <a:spcPts val="80"/>
              </a:spcBef>
            </a:pPr>
            <a:r>
              <a:rPr sz="2750" spc="-10" dirty="0">
                <a:solidFill>
                  <a:srgbClr val="0000FF"/>
                </a:solidFill>
                <a:latin typeface="Calibri"/>
                <a:cs typeface="Calibri"/>
              </a:rPr>
              <a:t>Find </a:t>
            </a:r>
            <a:r>
              <a:rPr sz="2750" spc="-15" dirty="0">
                <a:solidFill>
                  <a:srgbClr val="0000FF"/>
                </a:solidFill>
                <a:latin typeface="Calibri"/>
                <a:cs typeface="Calibri"/>
              </a:rPr>
              <a:t>relevant </a:t>
            </a:r>
            <a:r>
              <a:rPr sz="2750" spc="15" dirty="0">
                <a:solidFill>
                  <a:srgbClr val="0000FF"/>
                </a:solidFill>
                <a:latin typeface="Calibri"/>
                <a:cs typeface="Calibri"/>
              </a:rPr>
              <a:t>docs </a:t>
            </a:r>
            <a:r>
              <a:rPr sz="2750" spc="-10" dirty="0">
                <a:solidFill>
                  <a:srgbClr val="0000FF"/>
                </a:solidFill>
                <a:latin typeface="Calibri"/>
                <a:cs typeface="Calibri"/>
              </a:rPr>
              <a:t>in </a:t>
            </a:r>
            <a:r>
              <a:rPr sz="2750" spc="10" dirty="0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sz="2750" dirty="0">
                <a:solidFill>
                  <a:srgbClr val="0000FF"/>
                </a:solidFill>
                <a:latin typeface="Calibri"/>
                <a:cs typeface="Calibri"/>
              </a:rPr>
              <a:t>small  </a:t>
            </a:r>
            <a:r>
              <a:rPr sz="2750" spc="5" dirty="0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sz="2750" spc="-15" dirty="0">
                <a:solidFill>
                  <a:srgbClr val="0000FF"/>
                </a:solidFill>
                <a:latin typeface="Calibri"/>
                <a:cs typeface="Calibri"/>
              </a:rPr>
              <a:t>trusted</a:t>
            </a:r>
            <a:r>
              <a:rPr sz="2750" spc="2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50" spc="-15" dirty="0">
                <a:solidFill>
                  <a:srgbClr val="0000FF"/>
                </a:solidFill>
                <a:latin typeface="Calibri"/>
                <a:cs typeface="Calibri"/>
              </a:rPr>
              <a:t>set</a:t>
            </a:r>
            <a:endParaRPr sz="2750">
              <a:latin typeface="Calibri"/>
              <a:cs typeface="Calibri"/>
            </a:endParaRPr>
          </a:p>
          <a:p>
            <a:pPr marL="575310" lvl="1" indent="-229235">
              <a:lnSpc>
                <a:spcPct val="100000"/>
              </a:lnSpc>
              <a:spcBef>
                <a:spcPts val="660"/>
              </a:spcBef>
              <a:buClr>
                <a:srgbClr val="E66C7C"/>
              </a:buClr>
              <a:buFont typeface="Wingdings"/>
              <a:buChar char=""/>
              <a:tabLst>
                <a:tab pos="575310" algn="l"/>
              </a:tabLst>
            </a:pPr>
            <a:r>
              <a:rPr sz="2400" spc="5" dirty="0">
                <a:latin typeface="Calibri"/>
                <a:cs typeface="Calibri"/>
              </a:rPr>
              <a:t>Newspaper </a:t>
            </a:r>
            <a:r>
              <a:rPr sz="2400" spc="-5" dirty="0">
                <a:latin typeface="Calibri"/>
                <a:cs typeface="Calibri"/>
              </a:rPr>
              <a:t>articles, </a:t>
            </a:r>
            <a:r>
              <a:rPr sz="2400" dirty="0">
                <a:latin typeface="Calibri"/>
                <a:cs typeface="Calibri"/>
              </a:rPr>
              <a:t>Patents,</a:t>
            </a:r>
            <a:r>
              <a:rPr sz="2400" spc="-30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307975" marR="5080" indent="-276860">
              <a:lnSpc>
                <a:spcPct val="102400"/>
              </a:lnSpc>
              <a:spcBef>
                <a:spcPts val="59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But:</a:t>
            </a:r>
            <a:r>
              <a:rPr sz="275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Web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b="1" spc="25" dirty="0">
                <a:latin typeface="Calibri"/>
                <a:cs typeface="Calibri"/>
              </a:rPr>
              <a:t>huge</a:t>
            </a:r>
            <a:r>
              <a:rPr sz="2750" spc="25" dirty="0">
                <a:latin typeface="Calibri"/>
                <a:cs typeface="Calibri"/>
              </a:rPr>
              <a:t>, </a:t>
            </a:r>
            <a:r>
              <a:rPr sz="2750" spc="-20" dirty="0">
                <a:latin typeface="Calibri"/>
                <a:cs typeface="Calibri"/>
              </a:rPr>
              <a:t>full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15" dirty="0">
                <a:latin typeface="Calibri"/>
                <a:cs typeface="Calibri"/>
              </a:rPr>
              <a:t>untrusted </a:t>
            </a:r>
            <a:r>
              <a:rPr sz="2750" dirty="0">
                <a:latin typeface="Calibri"/>
                <a:cs typeface="Calibri"/>
              </a:rPr>
              <a:t>documents,  </a:t>
            </a:r>
            <a:r>
              <a:rPr sz="2750" spc="-5" dirty="0">
                <a:latin typeface="Calibri"/>
                <a:cs typeface="Calibri"/>
              </a:rPr>
              <a:t>random </a:t>
            </a:r>
            <a:r>
              <a:rPr sz="2750" spc="-25" dirty="0">
                <a:latin typeface="Calibri"/>
                <a:cs typeface="Calibri"/>
              </a:rPr>
              <a:t>things, </a:t>
            </a:r>
            <a:r>
              <a:rPr sz="2750" spc="-10" dirty="0">
                <a:latin typeface="Calibri"/>
                <a:cs typeface="Calibri"/>
              </a:rPr>
              <a:t>web </a:t>
            </a:r>
            <a:r>
              <a:rPr sz="2750" spc="5" dirty="0">
                <a:latin typeface="Calibri"/>
                <a:cs typeface="Calibri"/>
              </a:rPr>
              <a:t>spam,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etc.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1143000"/>
            <a:ext cx="2981325" cy="28956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704960" y="6736715"/>
            <a:ext cx="19177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11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6281801" cy="5857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4362" y="1347787"/>
            <a:ext cx="464502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2 </a:t>
            </a:r>
            <a:r>
              <a:rPr b="1" spc="15" dirty="0">
                <a:solidFill>
                  <a:srgbClr val="0000FF"/>
                </a:solidFill>
                <a:latin typeface="Calibri"/>
                <a:cs typeface="Calibri"/>
              </a:rPr>
              <a:t>challenges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b="1" spc="20" dirty="0">
                <a:solidFill>
                  <a:srgbClr val="0000FF"/>
                </a:solidFill>
                <a:latin typeface="Calibri"/>
                <a:cs typeface="Calibri"/>
              </a:rPr>
              <a:t>web</a:t>
            </a:r>
            <a:r>
              <a:rPr b="1" spc="-43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00FF"/>
                </a:solidFill>
                <a:latin typeface="Calibri"/>
                <a:cs typeface="Calibri"/>
              </a:rPr>
              <a:t>search: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951608"/>
            <a:ext cx="323850" cy="4006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620770"/>
            <a:ext cx="323850" cy="4006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8530" y="1833880"/>
            <a:ext cx="7822565" cy="41313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835"/>
              </a:lnSpc>
              <a:spcBef>
                <a:spcPts val="130"/>
              </a:spcBef>
            </a:pP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(1) </a:t>
            </a:r>
            <a:r>
              <a:rPr sz="3200" b="1" spc="-25" dirty="0">
                <a:solidFill>
                  <a:srgbClr val="D50092"/>
                </a:solidFill>
                <a:latin typeface="Calibri"/>
                <a:cs typeface="Calibri"/>
              </a:rPr>
              <a:t>Web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contains </a:t>
            </a:r>
            <a:r>
              <a:rPr sz="3200" b="1" spc="-10" dirty="0">
                <a:solidFill>
                  <a:srgbClr val="D50092"/>
                </a:solidFill>
                <a:latin typeface="Calibri"/>
                <a:cs typeface="Calibri"/>
              </a:rPr>
              <a:t>many </a:t>
            </a:r>
            <a:r>
              <a:rPr sz="3200" b="1" spc="-5" dirty="0">
                <a:solidFill>
                  <a:srgbClr val="D50092"/>
                </a:solidFill>
                <a:latin typeface="Calibri"/>
                <a:cs typeface="Calibri"/>
              </a:rPr>
              <a:t>sources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of</a:t>
            </a:r>
            <a:r>
              <a:rPr sz="3200" b="1" spc="-30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information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35"/>
              </a:lnSpc>
            </a:pPr>
            <a:r>
              <a:rPr sz="3200" b="1" spc="15" dirty="0">
                <a:solidFill>
                  <a:srgbClr val="333399"/>
                </a:solidFill>
                <a:latin typeface="Calibri"/>
                <a:cs typeface="Calibri"/>
              </a:rPr>
              <a:t>Who </a:t>
            </a:r>
            <a:r>
              <a:rPr sz="3200" b="1" spc="1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3200" b="1" spc="-1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b="1" spc="20" dirty="0">
                <a:solidFill>
                  <a:srgbClr val="333399"/>
                </a:solidFill>
                <a:latin typeface="Calibri"/>
                <a:cs typeface="Calibri"/>
              </a:rPr>
              <a:t>“trust”?</a:t>
            </a:r>
            <a:endParaRPr sz="32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81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spc="-30" dirty="0">
                <a:solidFill>
                  <a:srgbClr val="008000"/>
                </a:solidFill>
                <a:latin typeface="Calibri"/>
                <a:cs typeface="Calibri"/>
              </a:rPr>
              <a:t>Trick: </a:t>
            </a:r>
            <a:r>
              <a:rPr sz="2750" spc="-25" dirty="0">
                <a:latin typeface="Calibri"/>
                <a:cs typeface="Calibri"/>
              </a:rPr>
              <a:t>Trustworthy </a:t>
            </a:r>
            <a:r>
              <a:rPr sz="2750" spc="-5" dirty="0">
                <a:latin typeface="Calibri"/>
                <a:cs typeface="Calibri"/>
              </a:rPr>
              <a:t>pages </a:t>
            </a:r>
            <a:r>
              <a:rPr sz="2750" spc="5" dirty="0">
                <a:latin typeface="Calibri"/>
                <a:cs typeface="Calibri"/>
              </a:rPr>
              <a:t>may </a:t>
            </a:r>
            <a:r>
              <a:rPr sz="2750" spc="-5" dirty="0">
                <a:latin typeface="Calibri"/>
                <a:cs typeface="Calibri"/>
              </a:rPr>
              <a:t>point to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each </a:t>
            </a:r>
            <a:r>
              <a:rPr sz="2750" dirty="0">
                <a:latin typeface="Calibri"/>
                <a:cs typeface="Calibri"/>
              </a:rPr>
              <a:t>other!</a:t>
            </a:r>
            <a:endParaRPr sz="2750">
              <a:latin typeface="Calibri"/>
              <a:cs typeface="Calibri"/>
            </a:endParaRPr>
          </a:p>
          <a:p>
            <a:pPr marL="12700" marR="1290320">
              <a:lnSpc>
                <a:spcPct val="101699"/>
              </a:lnSpc>
              <a:spcBef>
                <a:spcPts val="1290"/>
              </a:spcBef>
            </a:pP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(2)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What </a:t>
            </a:r>
            <a:r>
              <a:rPr sz="3200" b="1" spc="20" dirty="0">
                <a:solidFill>
                  <a:srgbClr val="D50092"/>
                </a:solidFill>
                <a:latin typeface="Calibri"/>
                <a:cs typeface="Calibri"/>
              </a:rPr>
              <a:t>is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the </a:t>
            </a:r>
            <a:r>
              <a:rPr sz="3200" b="1" spc="25" dirty="0">
                <a:solidFill>
                  <a:srgbClr val="D50092"/>
                </a:solidFill>
                <a:latin typeface="Calibri"/>
                <a:cs typeface="Calibri"/>
              </a:rPr>
              <a:t>“best”</a:t>
            </a:r>
            <a:r>
              <a:rPr sz="3200" b="1" spc="-55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answer to query  </a:t>
            </a:r>
            <a:r>
              <a:rPr sz="3200" b="1" spc="25" dirty="0">
                <a:solidFill>
                  <a:srgbClr val="D50092"/>
                </a:solidFill>
                <a:latin typeface="Calibri"/>
                <a:cs typeface="Calibri"/>
              </a:rPr>
              <a:t>“newspaper”?</a:t>
            </a:r>
            <a:endParaRPr sz="32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15" dirty="0">
                <a:latin typeface="Calibri"/>
                <a:cs typeface="Calibri"/>
              </a:rPr>
              <a:t>No </a:t>
            </a:r>
            <a:r>
              <a:rPr sz="2750" spc="-20" dirty="0">
                <a:latin typeface="Calibri"/>
                <a:cs typeface="Calibri"/>
              </a:rPr>
              <a:t>single </a:t>
            </a:r>
            <a:r>
              <a:rPr sz="2750" spc="-10" dirty="0">
                <a:latin typeface="Calibri"/>
                <a:cs typeface="Calibri"/>
              </a:rPr>
              <a:t>right</a:t>
            </a:r>
            <a:r>
              <a:rPr sz="2750" spc="-25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answer</a:t>
            </a:r>
            <a:endParaRPr sz="2750">
              <a:latin typeface="Calibri"/>
              <a:cs typeface="Calibri"/>
            </a:endParaRPr>
          </a:p>
          <a:p>
            <a:pPr marL="307975" marR="362585" indent="-276860">
              <a:lnSpc>
                <a:spcPct val="100000"/>
              </a:lnSpc>
              <a:spcBef>
                <a:spcPts val="76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spc="-30" dirty="0">
                <a:solidFill>
                  <a:srgbClr val="008000"/>
                </a:solidFill>
                <a:latin typeface="Calibri"/>
                <a:cs typeface="Calibri"/>
              </a:rPr>
              <a:t>Trick: </a:t>
            </a:r>
            <a:r>
              <a:rPr sz="2750" spc="-15" dirty="0">
                <a:latin typeface="Calibri"/>
                <a:cs typeface="Calibri"/>
              </a:rPr>
              <a:t>Pages </a:t>
            </a:r>
            <a:r>
              <a:rPr sz="2750" spc="-5" dirty="0">
                <a:latin typeface="Calibri"/>
                <a:cs typeface="Calibri"/>
              </a:rPr>
              <a:t>that actually </a:t>
            </a:r>
            <a:r>
              <a:rPr sz="2750" spc="15" dirty="0">
                <a:latin typeface="Calibri"/>
                <a:cs typeface="Calibri"/>
              </a:rPr>
              <a:t>know </a:t>
            </a:r>
            <a:r>
              <a:rPr sz="2750" spc="5" dirty="0">
                <a:latin typeface="Calibri"/>
                <a:cs typeface="Calibri"/>
              </a:rPr>
              <a:t>about </a:t>
            </a:r>
            <a:r>
              <a:rPr sz="2750" spc="-20" dirty="0">
                <a:latin typeface="Calibri"/>
                <a:cs typeface="Calibri"/>
              </a:rPr>
              <a:t>newspapers  </a:t>
            </a:r>
            <a:r>
              <a:rPr sz="2750" spc="-5" dirty="0">
                <a:latin typeface="Calibri"/>
                <a:cs typeface="Calibri"/>
              </a:rPr>
              <a:t>might </a:t>
            </a:r>
            <a:r>
              <a:rPr sz="2750" dirty="0">
                <a:latin typeface="Calibri"/>
                <a:cs typeface="Calibri"/>
              </a:rPr>
              <a:t>all </a:t>
            </a:r>
            <a:r>
              <a:rPr sz="2750" spc="-5" dirty="0">
                <a:latin typeface="Calibri"/>
                <a:cs typeface="Calibri"/>
              </a:rPr>
              <a:t>be </a:t>
            </a:r>
            <a:r>
              <a:rPr sz="2750" spc="-15" dirty="0">
                <a:latin typeface="Calibri"/>
                <a:cs typeface="Calibri"/>
              </a:rPr>
              <a:t>pointing </a:t>
            </a:r>
            <a:r>
              <a:rPr sz="2750" spc="-10" dirty="0">
                <a:latin typeface="Calibri"/>
                <a:cs typeface="Calibri"/>
              </a:rPr>
              <a:t>to </a:t>
            </a:r>
            <a:r>
              <a:rPr sz="2750" spc="-5" dirty="0">
                <a:latin typeface="Calibri"/>
                <a:cs typeface="Calibri"/>
              </a:rPr>
              <a:t>many</a:t>
            </a:r>
            <a:r>
              <a:rPr sz="2750" spc="-6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newspapers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04960" y="6736715"/>
            <a:ext cx="19177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12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3238" y="2943225"/>
            <a:ext cx="3960761" cy="30003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333311"/>
            <a:ext cx="7005701" cy="5857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38530" y="1243913"/>
            <a:ext cx="7303770" cy="113474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b="1" spc="15" dirty="0">
                <a:solidFill>
                  <a:srgbClr val="D50092"/>
                </a:solidFill>
                <a:latin typeface="Calibri"/>
                <a:cs typeface="Calibri"/>
              </a:rPr>
              <a:t>All </a:t>
            </a:r>
            <a:r>
              <a:rPr b="1" spc="20" dirty="0">
                <a:solidFill>
                  <a:srgbClr val="D50092"/>
                </a:solidFill>
                <a:latin typeface="Calibri"/>
                <a:cs typeface="Calibri"/>
              </a:rPr>
              <a:t>web </a:t>
            </a:r>
            <a:r>
              <a:rPr b="1" spc="5" dirty="0">
                <a:solidFill>
                  <a:srgbClr val="D50092"/>
                </a:solidFill>
                <a:latin typeface="Calibri"/>
                <a:cs typeface="Calibri"/>
              </a:rPr>
              <a:t>pages </a:t>
            </a:r>
            <a:r>
              <a:rPr b="1" spc="-5" dirty="0">
                <a:solidFill>
                  <a:srgbClr val="D50092"/>
                </a:solidFill>
                <a:latin typeface="Calibri"/>
                <a:cs typeface="Calibri"/>
              </a:rPr>
              <a:t>are </a:t>
            </a:r>
            <a:r>
              <a:rPr b="1" spc="5" dirty="0">
                <a:solidFill>
                  <a:srgbClr val="D50092"/>
                </a:solidFill>
                <a:latin typeface="Calibri"/>
                <a:cs typeface="Calibri"/>
              </a:rPr>
              <a:t>not </a:t>
            </a:r>
            <a:r>
              <a:rPr b="1" spc="15" dirty="0">
                <a:solidFill>
                  <a:srgbClr val="D50092"/>
                </a:solidFill>
                <a:latin typeface="Calibri"/>
                <a:cs typeface="Calibri"/>
              </a:rPr>
              <a:t>equally</a:t>
            </a:r>
            <a:r>
              <a:rPr b="1" spc="-48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b="1" spc="15" dirty="0">
                <a:solidFill>
                  <a:srgbClr val="D50092"/>
                </a:solidFill>
                <a:latin typeface="Calibri"/>
                <a:cs typeface="Calibri"/>
              </a:rPr>
              <a:t>“important”</a:t>
            </a:r>
          </a:p>
          <a:p>
            <a:pPr marL="31750">
              <a:lnSpc>
                <a:spcPct val="100000"/>
              </a:lnSpc>
              <a:spcBef>
                <a:spcPts val="740"/>
              </a:spcBef>
            </a:pPr>
            <a:r>
              <a:rPr sz="2750" u="heavy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hlinkClick r:id="rId5"/>
              </a:rPr>
              <a:t>thispersondoesnotexist.com </a:t>
            </a:r>
            <a:r>
              <a:rPr sz="2750" dirty="0"/>
              <a:t>vs.</a:t>
            </a:r>
            <a:r>
              <a:rPr sz="2750" spc="-305" dirty="0"/>
              <a:t> </a:t>
            </a:r>
            <a:r>
              <a:rPr sz="2750" u="heavy" spc="-20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hlinkClick r:id="rId6"/>
              </a:rPr>
              <a:t>www.stanford.edu</a:t>
            </a:r>
            <a:endParaRPr sz="275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7062" y="2953130"/>
            <a:ext cx="323850" cy="4006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38530" y="2835274"/>
            <a:ext cx="4011929" cy="24733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sz="3200" spc="-5" dirty="0">
                <a:latin typeface="Calibri"/>
                <a:cs typeface="Calibri"/>
              </a:rPr>
              <a:t>There </a:t>
            </a:r>
            <a:r>
              <a:rPr sz="3200" spc="5" dirty="0">
                <a:latin typeface="Calibri"/>
                <a:cs typeface="Calibri"/>
              </a:rPr>
              <a:t>is </a:t>
            </a:r>
            <a:r>
              <a:rPr sz="3200" spc="1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large</a:t>
            </a:r>
            <a:r>
              <a:rPr sz="3200" spc="-2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diversity  </a:t>
            </a:r>
            <a:r>
              <a:rPr sz="3200" spc="10" dirty="0">
                <a:latin typeface="Calibri"/>
                <a:cs typeface="Calibri"/>
              </a:rPr>
              <a:t>in 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web-graph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20"/>
              </a:lnSpc>
            </a:pPr>
            <a:r>
              <a:rPr sz="3200" spc="30" dirty="0">
                <a:latin typeface="Calibri"/>
                <a:cs typeface="Calibri"/>
              </a:rPr>
              <a:t>node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connectivity.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35"/>
              </a:lnSpc>
              <a:spcBef>
                <a:spcPts val="65"/>
              </a:spcBef>
            </a:pPr>
            <a:r>
              <a:rPr sz="3200" b="1" spc="-10" dirty="0">
                <a:solidFill>
                  <a:srgbClr val="0000FF"/>
                </a:solidFill>
                <a:latin typeface="Calibri"/>
                <a:cs typeface="Calibri"/>
              </a:rPr>
              <a:t>Let’s </a:t>
            </a:r>
            <a:r>
              <a:rPr sz="3200" b="1" spc="-20" dirty="0">
                <a:solidFill>
                  <a:srgbClr val="0000FF"/>
                </a:solidFill>
                <a:latin typeface="Calibri"/>
                <a:cs typeface="Calibri"/>
              </a:rPr>
              <a:t>rank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pages</a:t>
            </a:r>
            <a:r>
              <a:rPr sz="3200" b="1" spc="-2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by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35"/>
              </a:lnSpc>
            </a:pP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3200" b="1" spc="25" dirty="0">
                <a:solidFill>
                  <a:srgbClr val="0000FF"/>
                </a:solidFill>
                <a:latin typeface="Calibri"/>
                <a:cs typeface="Calibri"/>
              </a:rPr>
              <a:t>link</a:t>
            </a:r>
            <a:r>
              <a:rPr sz="3200" b="1" spc="-1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structure!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76950" y="5133975"/>
            <a:ext cx="161925" cy="1809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15300" y="2895600"/>
            <a:ext cx="161925" cy="1809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704960" y="6736715"/>
            <a:ext cx="19177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13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6024626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6755765" cy="14903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40"/>
              </a:spcBef>
            </a:pPr>
            <a:r>
              <a:rPr spc="-70" dirty="0">
                <a:solidFill>
                  <a:srgbClr val="D50092"/>
                </a:solidFill>
              </a:rPr>
              <a:t>We </a:t>
            </a:r>
            <a:r>
              <a:rPr spc="15" dirty="0">
                <a:solidFill>
                  <a:srgbClr val="D50092"/>
                </a:solidFill>
              </a:rPr>
              <a:t>will </a:t>
            </a:r>
            <a:r>
              <a:rPr spc="-5" dirty="0">
                <a:solidFill>
                  <a:srgbClr val="D50092"/>
                </a:solidFill>
              </a:rPr>
              <a:t>cover </a:t>
            </a:r>
            <a:r>
              <a:rPr spc="5" dirty="0">
                <a:solidFill>
                  <a:srgbClr val="D50092"/>
                </a:solidFill>
              </a:rPr>
              <a:t>the </a:t>
            </a:r>
            <a:r>
              <a:rPr spc="10" dirty="0">
                <a:solidFill>
                  <a:srgbClr val="D50092"/>
                </a:solidFill>
              </a:rPr>
              <a:t>following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Link</a:t>
            </a:r>
            <a:r>
              <a:rPr b="1" spc="-32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b="1" spc="5" dirty="0">
                <a:solidFill>
                  <a:srgbClr val="D50092"/>
                </a:solidFill>
                <a:latin typeface="Calibri"/>
                <a:cs typeface="Calibri"/>
              </a:rPr>
              <a:t>Analysis  </a:t>
            </a:r>
            <a:r>
              <a:rPr b="1" spc="-5" dirty="0">
                <a:solidFill>
                  <a:srgbClr val="D50092"/>
                </a:solidFill>
                <a:latin typeface="Calibri"/>
                <a:cs typeface="Calibri"/>
              </a:rPr>
              <a:t>approaches </a:t>
            </a:r>
            <a:r>
              <a:rPr spc="-15" dirty="0"/>
              <a:t>for </a:t>
            </a:r>
            <a:r>
              <a:rPr spc="10" dirty="0"/>
              <a:t>computing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importance  </a:t>
            </a:r>
            <a:r>
              <a:rPr spc="20" dirty="0">
                <a:solidFill>
                  <a:srgbClr val="0000FF"/>
                </a:solidFill>
              </a:rPr>
              <a:t>of nodes </a:t>
            </a:r>
            <a:r>
              <a:rPr spc="10" dirty="0">
                <a:solidFill>
                  <a:srgbClr val="0000FF"/>
                </a:solidFill>
              </a:rPr>
              <a:t>in a</a:t>
            </a:r>
            <a:r>
              <a:rPr spc="-275" dirty="0">
                <a:solidFill>
                  <a:srgbClr val="0000FF"/>
                </a:solidFill>
              </a:rPr>
              <a:t> </a:t>
            </a:r>
            <a:r>
              <a:rPr spc="10" dirty="0">
                <a:solidFill>
                  <a:srgbClr val="0000FF"/>
                </a:solidFill>
              </a:rPr>
              <a:t>graph</a:t>
            </a:r>
            <a:r>
              <a:rPr spc="10" dirty="0"/>
              <a:t>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04960" y="6736715"/>
            <a:ext cx="19177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z="900" dirty="0">
                <a:solidFill>
                  <a:srgbClr val="3E3E3E"/>
                </a:solidFill>
                <a:latin typeface="Calibri"/>
                <a:cs typeface="Calibri"/>
              </a:rPr>
              <a:t>14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7580" y="2829686"/>
            <a:ext cx="5826760" cy="155194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775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spc="-10" dirty="0">
                <a:latin typeface="Calibri"/>
                <a:cs typeface="Calibri"/>
              </a:rPr>
              <a:t>PageRank</a:t>
            </a:r>
            <a:endParaRPr sz="2750">
              <a:latin typeface="Calibri"/>
              <a:cs typeface="Calibri"/>
            </a:endParaRPr>
          </a:p>
          <a:p>
            <a:pPr marL="288925" indent="-276860">
              <a:lnSpc>
                <a:spcPct val="1000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spc="-20" dirty="0">
                <a:latin typeface="Calibri"/>
                <a:cs typeface="Calibri"/>
              </a:rPr>
              <a:t>Topic-Specific (Personalized)</a:t>
            </a:r>
            <a:r>
              <a:rPr sz="2750" spc="-10" dirty="0">
                <a:latin typeface="Calibri"/>
                <a:cs typeface="Calibri"/>
              </a:rPr>
              <a:t> PageRank</a:t>
            </a:r>
            <a:endParaRPr sz="2750">
              <a:latin typeface="Calibri"/>
              <a:cs typeface="Calibri"/>
            </a:endParaRPr>
          </a:p>
          <a:p>
            <a:pPr marL="28892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spc="-20" dirty="0">
                <a:latin typeface="Calibri"/>
                <a:cs typeface="Calibri"/>
              </a:rPr>
              <a:t>Web </a:t>
            </a:r>
            <a:r>
              <a:rPr sz="2750" spc="5" dirty="0">
                <a:latin typeface="Calibri"/>
                <a:cs typeface="Calibri"/>
              </a:rPr>
              <a:t>Spam </a:t>
            </a:r>
            <a:r>
              <a:rPr sz="2750" dirty="0">
                <a:latin typeface="Calibri"/>
                <a:cs typeface="Calibri"/>
              </a:rPr>
              <a:t>Detection</a:t>
            </a:r>
            <a:r>
              <a:rPr sz="2750" spc="26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Algorithms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0" y="3228911"/>
              <a:ext cx="6310376" cy="12144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3405251" cy="4524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522349"/>
            <a:ext cx="323850" cy="40068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404619"/>
            <a:ext cx="326771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solidFill>
                  <a:srgbClr val="0000FF"/>
                </a:solidFill>
                <a:latin typeface="Calibri"/>
                <a:cs typeface="Calibri"/>
              </a:rPr>
              <a:t>Idea: </a:t>
            </a:r>
            <a:r>
              <a:rPr b="1" spc="15" dirty="0">
                <a:solidFill>
                  <a:srgbClr val="0000FF"/>
                </a:solidFill>
                <a:latin typeface="Calibri"/>
                <a:cs typeface="Calibri"/>
              </a:rPr>
              <a:t>Links </a:t>
            </a:r>
            <a:r>
              <a:rPr b="1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b="1" spc="-2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0000FF"/>
                </a:solidFill>
                <a:latin typeface="Calibri"/>
                <a:cs typeface="Calibri"/>
              </a:rPr>
              <a:t>votes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962275"/>
            <a:ext cx="323850" cy="4006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373879"/>
            <a:ext cx="323850" cy="4006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38530" y="1912274"/>
            <a:ext cx="6545580" cy="38906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07975" indent="-276860">
              <a:lnSpc>
                <a:spcPct val="100000"/>
              </a:lnSpc>
              <a:spcBef>
                <a:spcPts val="78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dirty="0">
                <a:latin typeface="Calibri"/>
                <a:cs typeface="Calibri"/>
              </a:rPr>
              <a:t>Page is </a:t>
            </a:r>
            <a:r>
              <a:rPr sz="2750" b="1" spc="5" dirty="0">
                <a:latin typeface="Calibri"/>
                <a:cs typeface="Calibri"/>
              </a:rPr>
              <a:t>more important </a:t>
            </a:r>
            <a:r>
              <a:rPr sz="2750" b="1" dirty="0">
                <a:latin typeface="Calibri"/>
                <a:cs typeface="Calibri"/>
              </a:rPr>
              <a:t>if it </a:t>
            </a:r>
            <a:r>
              <a:rPr sz="2750" b="1" spc="5" dirty="0">
                <a:latin typeface="Calibri"/>
                <a:cs typeface="Calibri"/>
              </a:rPr>
              <a:t>has more</a:t>
            </a:r>
            <a:r>
              <a:rPr sz="2750" b="1" spc="300" dirty="0">
                <a:latin typeface="Calibri"/>
                <a:cs typeface="Calibri"/>
              </a:rPr>
              <a:t> </a:t>
            </a:r>
            <a:r>
              <a:rPr sz="2750" b="1" spc="10" dirty="0">
                <a:latin typeface="Calibri"/>
                <a:cs typeface="Calibri"/>
              </a:rPr>
              <a:t>links</a:t>
            </a:r>
            <a:endParaRPr sz="2750">
              <a:latin typeface="Calibri"/>
              <a:cs typeface="Calibri"/>
            </a:endParaRPr>
          </a:p>
          <a:p>
            <a:pPr marL="575310" lvl="1" indent="-229235">
              <a:lnSpc>
                <a:spcPts val="2840"/>
              </a:lnSpc>
              <a:spcBef>
                <a:spcPts val="580"/>
              </a:spcBef>
              <a:buClr>
                <a:srgbClr val="E66C7C"/>
              </a:buClr>
              <a:buFont typeface="Wingdings"/>
              <a:buChar char=""/>
              <a:tabLst>
                <a:tab pos="575310" algn="l"/>
              </a:tabLst>
            </a:pPr>
            <a:r>
              <a:rPr sz="2400" spc="5" dirty="0">
                <a:latin typeface="Calibri"/>
                <a:cs typeface="Calibri"/>
              </a:rPr>
              <a:t>In-coming </a:t>
            </a:r>
            <a:r>
              <a:rPr sz="2400" dirty="0">
                <a:latin typeface="Calibri"/>
                <a:cs typeface="Calibri"/>
              </a:rPr>
              <a:t>links? </a:t>
            </a:r>
            <a:r>
              <a:rPr sz="2400" spc="5" dirty="0">
                <a:latin typeface="Calibri"/>
                <a:cs typeface="Calibri"/>
              </a:rPr>
              <a:t>Out-going</a:t>
            </a:r>
            <a:r>
              <a:rPr sz="2400" spc="-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links?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3800"/>
              </a:lnSpc>
            </a:pP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Think </a:t>
            </a: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sz="3200" b="1" spc="20" dirty="0">
                <a:solidFill>
                  <a:srgbClr val="008000"/>
                </a:solidFill>
                <a:latin typeface="Calibri"/>
                <a:cs typeface="Calibri"/>
              </a:rPr>
              <a:t>in-links </a:t>
            </a:r>
            <a:r>
              <a:rPr sz="3200" b="1" dirty="0">
                <a:solidFill>
                  <a:srgbClr val="008000"/>
                </a:solidFill>
                <a:latin typeface="Calibri"/>
                <a:cs typeface="Calibri"/>
              </a:rPr>
              <a:t>as</a:t>
            </a:r>
            <a:r>
              <a:rPr sz="3200" b="1" spc="-38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008000"/>
                </a:solidFill>
                <a:latin typeface="Calibri"/>
                <a:cs typeface="Calibri"/>
              </a:rPr>
              <a:t>votes:</a:t>
            </a:r>
            <a:endParaRPr sz="32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59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000" u="heavy" spc="-15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Calibri"/>
                <a:cs typeface="Calibri"/>
                <a:hlinkClick r:id="rId4"/>
              </a:rPr>
              <a:t>www.stanford.edu</a:t>
            </a:r>
            <a:r>
              <a:rPr sz="2000" spc="-15" dirty="0">
                <a:solidFill>
                  <a:srgbClr val="168AB9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2000" spc="5" dirty="0">
                <a:latin typeface="Calibri"/>
                <a:cs typeface="Calibri"/>
              </a:rPr>
              <a:t>has </a:t>
            </a:r>
            <a:r>
              <a:rPr sz="2000" b="1" spc="20" dirty="0">
                <a:latin typeface="Calibri"/>
                <a:cs typeface="Calibri"/>
              </a:rPr>
              <a:t>millions</a:t>
            </a:r>
            <a:r>
              <a:rPr sz="2000" b="1" spc="-1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in-links</a:t>
            </a:r>
            <a:endParaRPr sz="20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45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000" u="heavy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Calibri"/>
                <a:cs typeface="Calibri"/>
                <a:hlinkClick r:id="rId5"/>
              </a:rPr>
              <a:t>thispersondoesnotexist.com</a:t>
            </a:r>
            <a:r>
              <a:rPr sz="2000" dirty="0">
                <a:solidFill>
                  <a:srgbClr val="168AB9"/>
                </a:solidFill>
                <a:latin typeface="Calibri"/>
                <a:cs typeface="Calibri"/>
                <a:hlinkClick r:id="rId5"/>
              </a:rPr>
              <a:t> </a:t>
            </a:r>
            <a:r>
              <a:rPr sz="2000" spc="5" dirty="0">
                <a:latin typeface="Calibri"/>
                <a:cs typeface="Calibri"/>
              </a:rPr>
              <a:t>has </a:t>
            </a:r>
            <a:r>
              <a:rPr sz="2000" spc="10" dirty="0">
                <a:latin typeface="Calibri"/>
                <a:cs typeface="Calibri"/>
              </a:rPr>
              <a:t>a </a:t>
            </a:r>
            <a:r>
              <a:rPr sz="2000" b="1" spc="30" dirty="0">
                <a:latin typeface="Calibri"/>
                <a:cs typeface="Calibri"/>
              </a:rPr>
              <a:t>few</a:t>
            </a:r>
            <a:r>
              <a:rPr sz="2000" b="1" spc="-2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thousands </a:t>
            </a:r>
            <a:r>
              <a:rPr sz="2000" spc="-10" dirty="0">
                <a:latin typeface="Calibri"/>
                <a:cs typeface="Calibri"/>
              </a:rPr>
              <a:t>in-link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Are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all </a:t>
            </a:r>
            <a:r>
              <a:rPr sz="3200" b="1" spc="20" dirty="0">
                <a:solidFill>
                  <a:srgbClr val="D50092"/>
                </a:solidFill>
                <a:latin typeface="Calibri"/>
                <a:cs typeface="Calibri"/>
              </a:rPr>
              <a:t>in-links</a:t>
            </a:r>
            <a:r>
              <a:rPr sz="3200" b="1" spc="-35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15" dirty="0">
                <a:solidFill>
                  <a:srgbClr val="D50092"/>
                </a:solidFill>
                <a:latin typeface="Calibri"/>
                <a:cs typeface="Calibri"/>
              </a:rPr>
              <a:t>equal?</a:t>
            </a:r>
            <a:endParaRPr sz="32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74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spc="15" dirty="0">
                <a:latin typeface="Calibri"/>
                <a:cs typeface="Calibri"/>
              </a:rPr>
              <a:t>Links </a:t>
            </a:r>
            <a:r>
              <a:rPr sz="2750" b="1" spc="10" dirty="0">
                <a:latin typeface="Calibri"/>
                <a:cs typeface="Calibri"/>
              </a:rPr>
              <a:t>from important </a:t>
            </a:r>
            <a:r>
              <a:rPr sz="2750" b="1" spc="15" dirty="0">
                <a:latin typeface="Calibri"/>
                <a:cs typeface="Calibri"/>
              </a:rPr>
              <a:t>pages </a:t>
            </a:r>
            <a:r>
              <a:rPr sz="2750" b="1" spc="5" dirty="0">
                <a:latin typeface="Calibri"/>
                <a:cs typeface="Calibri"/>
              </a:rPr>
              <a:t>count</a:t>
            </a:r>
            <a:r>
              <a:rPr sz="2750" b="1" spc="10" dirty="0">
                <a:latin typeface="Calibri"/>
                <a:cs typeface="Calibri"/>
              </a:rPr>
              <a:t> more</a:t>
            </a:r>
            <a:endParaRPr sz="275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20" dirty="0">
                <a:latin typeface="Calibri"/>
                <a:cs typeface="Calibri"/>
              </a:rPr>
              <a:t>Recursive</a:t>
            </a:r>
            <a:r>
              <a:rPr sz="2750" spc="23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question!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30360" y="6708140"/>
            <a:ext cx="139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3E3E3E"/>
                </a:solidFill>
                <a:latin typeface="Calibri"/>
                <a:cs typeface="Calibri"/>
              </a:rPr>
              <a:t>16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672" y="6708140"/>
            <a:ext cx="5238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r>
              <a:rPr sz="900" spc="25" dirty="0">
                <a:solidFill>
                  <a:srgbClr val="3E3E3E"/>
                </a:solidFill>
                <a:latin typeface="Calibri"/>
                <a:cs typeface="Calibri"/>
              </a:rPr>
              <a:t>/</a:t>
            </a:r>
            <a:r>
              <a:rPr sz="900" spc="-5" dirty="0">
                <a:solidFill>
                  <a:srgbClr val="3E3E3E"/>
                </a:solidFill>
                <a:latin typeface="Calibri"/>
                <a:cs typeface="Calibri"/>
              </a:rPr>
              <a:t>27</a:t>
            </a:r>
            <a:r>
              <a:rPr sz="900" spc="25" dirty="0">
                <a:solidFill>
                  <a:srgbClr val="3E3E3E"/>
                </a:solidFill>
                <a:latin typeface="Calibri"/>
                <a:cs typeface="Calibri"/>
              </a:rPr>
              <a:t>/</a:t>
            </a:r>
            <a:r>
              <a:rPr sz="900" spc="-5" dirty="0">
                <a:solidFill>
                  <a:srgbClr val="3E3E3E"/>
                </a:solidFill>
                <a:latin typeface="Calibri"/>
                <a:cs typeface="Calibri"/>
              </a:rPr>
              <a:t>202</a:t>
            </a:r>
            <a:r>
              <a:rPr sz="900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6525" y="6708140"/>
            <a:ext cx="26111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3E3E3E"/>
                </a:solidFill>
                <a:latin typeface="Calibri"/>
                <a:cs typeface="Calibri"/>
              </a:rPr>
              <a:t>Jure</a:t>
            </a:r>
            <a:r>
              <a:rPr sz="900" spc="15" dirty="0">
                <a:solidFill>
                  <a:srgbClr val="3E3E3E"/>
                </a:solidFill>
                <a:latin typeface="Calibri"/>
                <a:cs typeface="Calibri"/>
              </a:rPr>
              <a:t> Leskovec,</a:t>
            </a:r>
            <a:r>
              <a:rPr sz="9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E3E3E"/>
                </a:solidFill>
                <a:latin typeface="Calibri"/>
                <a:cs typeface="Calibri"/>
              </a:rPr>
              <a:t>Stanford</a:t>
            </a:r>
            <a:r>
              <a:rPr sz="900" spc="-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spc="-15" dirty="0">
                <a:solidFill>
                  <a:srgbClr val="3E3E3E"/>
                </a:solidFill>
                <a:latin typeface="Calibri"/>
                <a:cs typeface="Calibri"/>
              </a:rPr>
              <a:t>C246:</a:t>
            </a:r>
            <a:r>
              <a:rPr sz="9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spc="15" dirty="0">
                <a:solidFill>
                  <a:srgbClr val="3E3E3E"/>
                </a:solidFill>
                <a:latin typeface="Calibri"/>
                <a:cs typeface="Calibri"/>
              </a:rPr>
              <a:t>Mining</a:t>
            </a:r>
            <a:r>
              <a:rPr sz="9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E3E3E"/>
                </a:solidFill>
                <a:latin typeface="Calibri"/>
                <a:cs typeface="Calibri"/>
              </a:rPr>
              <a:t>Massive</a:t>
            </a:r>
            <a:r>
              <a:rPr sz="9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E3E3E"/>
                </a:solidFill>
                <a:latin typeface="Calibri"/>
                <a:cs typeface="Calibri"/>
              </a:rPr>
              <a:t>Datasets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3252851" cy="5381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438019"/>
            <a:ext cx="323850" cy="40068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84455">
              <a:lnSpc>
                <a:spcPct val="100000"/>
              </a:lnSpc>
              <a:spcBef>
                <a:spcPts val="125"/>
              </a:spcBef>
            </a:pP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Web </a:t>
            </a:r>
            <a:r>
              <a:rPr b="0" spc="10" dirty="0">
                <a:solidFill>
                  <a:srgbClr val="000000"/>
                </a:solidFill>
                <a:latin typeface="Calibri"/>
                <a:cs typeface="Calibri"/>
              </a:rPr>
              <a:t>pages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are 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important if </a:t>
            </a:r>
            <a:r>
              <a:rPr b="0" spc="15" dirty="0">
                <a:solidFill>
                  <a:srgbClr val="000000"/>
                </a:solidFill>
                <a:latin typeface="Calibri"/>
                <a:cs typeface="Calibri"/>
              </a:rPr>
              <a:t>people 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visit</a:t>
            </a:r>
            <a:r>
              <a:rPr b="0" spc="-3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them  </a:t>
            </a:r>
            <a:r>
              <a:rPr b="0" spc="1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lot.</a:t>
            </a:r>
          </a:p>
          <a:p>
            <a:pPr marL="12700">
              <a:lnSpc>
                <a:spcPts val="3820"/>
              </a:lnSpc>
            </a:pPr>
            <a:r>
              <a:rPr b="0" spc="10" dirty="0">
                <a:solidFill>
                  <a:srgbClr val="000000"/>
                </a:solidFill>
                <a:latin typeface="Calibri"/>
                <a:cs typeface="Calibri"/>
              </a:rPr>
              <a:t>But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25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20" dirty="0">
                <a:solidFill>
                  <a:srgbClr val="000000"/>
                </a:solidFill>
                <a:latin typeface="Calibri"/>
                <a:cs typeface="Calibri"/>
              </a:rPr>
              <a:t>can’t</a:t>
            </a:r>
            <a:r>
              <a:rPr b="0" spc="-1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watch</a:t>
            </a:r>
            <a:r>
              <a:rPr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everybody</a:t>
            </a:r>
            <a:r>
              <a:rPr b="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25" dirty="0">
                <a:solidFill>
                  <a:srgbClr val="000000"/>
                </a:solidFill>
                <a:latin typeface="Calibri"/>
                <a:cs typeface="Calibri"/>
              </a:rPr>
              <a:t>using</a:t>
            </a:r>
            <a:r>
              <a:rPr b="0" spc="-1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1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Web.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933954"/>
            <a:ext cx="323850" cy="4006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906520"/>
            <a:ext cx="323850" cy="40068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38530" y="2816224"/>
            <a:ext cx="7541259" cy="29483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1036955">
              <a:lnSpc>
                <a:spcPct val="100000"/>
              </a:lnSpc>
              <a:spcBef>
                <a:spcPts val="130"/>
              </a:spcBef>
            </a:pPr>
            <a:r>
              <a:rPr sz="3200" spc="15" dirty="0">
                <a:latin typeface="Calibri"/>
                <a:cs typeface="Calibri"/>
              </a:rPr>
              <a:t>A </a:t>
            </a:r>
            <a:r>
              <a:rPr sz="3200" spc="20" dirty="0">
                <a:latin typeface="Calibri"/>
                <a:cs typeface="Calibri"/>
              </a:rPr>
              <a:t>good </a:t>
            </a:r>
            <a:r>
              <a:rPr sz="3200" spc="-5" dirty="0">
                <a:latin typeface="Calibri"/>
                <a:cs typeface="Calibri"/>
              </a:rPr>
              <a:t>surrogate</a:t>
            </a:r>
            <a:r>
              <a:rPr sz="3200" spc="-5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for </a:t>
            </a:r>
            <a:r>
              <a:rPr sz="3200" spc="5" dirty="0">
                <a:latin typeface="Calibri"/>
                <a:cs typeface="Calibri"/>
              </a:rPr>
              <a:t>visiting </a:t>
            </a:r>
            <a:r>
              <a:rPr sz="3200" spc="10" dirty="0">
                <a:latin typeface="Calibri"/>
                <a:cs typeface="Calibri"/>
              </a:rPr>
              <a:t>pages </a:t>
            </a:r>
            <a:r>
              <a:rPr sz="3200" spc="5" dirty="0">
                <a:latin typeface="Calibri"/>
                <a:cs typeface="Calibri"/>
              </a:rPr>
              <a:t>is </a:t>
            </a:r>
            <a:r>
              <a:rPr sz="3200" spc="-5" dirty="0">
                <a:latin typeface="Calibri"/>
                <a:cs typeface="Calibri"/>
              </a:rPr>
              <a:t>to  </a:t>
            </a:r>
            <a:r>
              <a:rPr sz="3200" spc="20" dirty="0">
                <a:latin typeface="Calibri"/>
                <a:cs typeface="Calibri"/>
              </a:rPr>
              <a:t>assume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people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follow</a:t>
            </a:r>
            <a:r>
              <a:rPr sz="3200" spc="-18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links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randomly.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20"/>
              </a:lnSpc>
            </a:pPr>
            <a:r>
              <a:rPr sz="3200" spc="10" dirty="0">
                <a:latin typeface="Calibri"/>
                <a:cs typeface="Calibri"/>
              </a:rPr>
              <a:t>Leads </a:t>
            </a:r>
            <a:r>
              <a:rPr sz="3200" spc="-5" dirty="0">
                <a:latin typeface="Calibri"/>
                <a:cs typeface="Calibri"/>
              </a:rPr>
              <a:t>to </a:t>
            </a:r>
            <a:r>
              <a:rPr sz="3200" i="1" spc="5" dirty="0">
                <a:solidFill>
                  <a:srgbClr val="FF0000"/>
                </a:solidFill>
                <a:latin typeface="Calibri"/>
                <a:cs typeface="Calibri"/>
              </a:rPr>
              <a:t>random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surfer</a:t>
            </a:r>
            <a:r>
              <a:rPr sz="3200" i="1" spc="-20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model:</a:t>
            </a:r>
            <a:endParaRPr sz="3200">
              <a:latin typeface="Calibri"/>
              <a:cs typeface="Calibri"/>
            </a:endParaRPr>
          </a:p>
          <a:p>
            <a:pPr marL="307975" marR="278765" indent="-276860">
              <a:lnSpc>
                <a:spcPct val="102400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5" dirty="0">
                <a:latin typeface="Calibri"/>
                <a:cs typeface="Calibri"/>
              </a:rPr>
              <a:t>Start </a:t>
            </a:r>
            <a:r>
              <a:rPr sz="2750" spc="15" dirty="0">
                <a:latin typeface="Calibri"/>
                <a:cs typeface="Calibri"/>
              </a:rPr>
              <a:t>at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-5" dirty="0">
                <a:latin typeface="Calibri"/>
                <a:cs typeface="Calibri"/>
              </a:rPr>
              <a:t>random page </a:t>
            </a:r>
            <a:r>
              <a:rPr sz="2750" spc="5" dirty="0">
                <a:latin typeface="Calibri"/>
                <a:cs typeface="Calibri"/>
              </a:rPr>
              <a:t>and </a:t>
            </a:r>
            <a:r>
              <a:rPr sz="2750" spc="-10" dirty="0">
                <a:latin typeface="Calibri"/>
                <a:cs typeface="Calibri"/>
              </a:rPr>
              <a:t>follow </a:t>
            </a:r>
            <a:r>
              <a:rPr sz="2750" spc="-5" dirty="0">
                <a:latin typeface="Calibri"/>
                <a:cs typeface="Calibri"/>
              </a:rPr>
              <a:t>random </a:t>
            </a:r>
            <a:r>
              <a:rPr sz="2750" spc="25" dirty="0">
                <a:latin typeface="Calibri"/>
                <a:cs typeface="Calibri"/>
              </a:rPr>
              <a:t>out-  </a:t>
            </a:r>
            <a:r>
              <a:rPr sz="2750" spc="-15" dirty="0">
                <a:latin typeface="Calibri"/>
                <a:cs typeface="Calibri"/>
              </a:rPr>
              <a:t>links </a:t>
            </a:r>
            <a:r>
              <a:rPr sz="2750" spc="-30" dirty="0">
                <a:latin typeface="Calibri"/>
                <a:cs typeface="Calibri"/>
              </a:rPr>
              <a:t>repeatedly, </a:t>
            </a:r>
            <a:r>
              <a:rPr sz="2750" spc="-5" dirty="0">
                <a:latin typeface="Calibri"/>
                <a:cs typeface="Calibri"/>
              </a:rPr>
              <a:t>from whatever </a:t>
            </a:r>
            <a:r>
              <a:rPr sz="2750" dirty="0">
                <a:latin typeface="Calibri"/>
                <a:cs typeface="Calibri"/>
              </a:rPr>
              <a:t>page </a:t>
            </a:r>
            <a:r>
              <a:rPr sz="2750" spc="25" dirty="0">
                <a:latin typeface="Calibri"/>
                <a:cs typeface="Calibri"/>
              </a:rPr>
              <a:t>you </a:t>
            </a:r>
            <a:r>
              <a:rPr sz="2750" spc="15" dirty="0">
                <a:latin typeface="Calibri"/>
                <a:cs typeface="Calibri"/>
              </a:rPr>
              <a:t>are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at.</a:t>
            </a:r>
            <a:endParaRPr sz="275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76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i="1" dirty="0">
                <a:solidFill>
                  <a:srgbClr val="FF0000"/>
                </a:solidFill>
                <a:latin typeface="Calibri"/>
                <a:cs typeface="Calibri"/>
              </a:rPr>
              <a:t>PageRank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spc="-15" dirty="0">
                <a:latin typeface="Calibri"/>
                <a:cs typeface="Calibri"/>
              </a:rPr>
              <a:t>limiting probability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20" dirty="0">
                <a:latin typeface="Calibri"/>
                <a:cs typeface="Calibri"/>
              </a:rPr>
              <a:t>being </a:t>
            </a:r>
            <a:r>
              <a:rPr sz="2750" spc="15" dirty="0">
                <a:latin typeface="Calibri"/>
                <a:cs typeface="Calibri"/>
              </a:rPr>
              <a:t>at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spc="-35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page.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3252851" cy="5381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7881620" cy="14903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algn="just">
              <a:lnSpc>
                <a:spcPts val="3829"/>
              </a:lnSpc>
              <a:spcBef>
                <a:spcPts val="240"/>
              </a:spcBef>
            </a:pPr>
            <a:r>
              <a:rPr b="1" spc="5" dirty="0">
                <a:latin typeface="Calibri"/>
                <a:cs typeface="Calibri"/>
              </a:rPr>
              <a:t>Solve </a:t>
            </a:r>
            <a:r>
              <a:rPr b="1" spc="10" dirty="0">
                <a:latin typeface="Calibri"/>
                <a:cs typeface="Calibri"/>
              </a:rPr>
              <a:t>the </a:t>
            </a:r>
            <a:r>
              <a:rPr b="1" spc="-5" dirty="0">
                <a:latin typeface="Calibri"/>
                <a:cs typeface="Calibri"/>
              </a:rPr>
              <a:t>recursive </a:t>
            </a:r>
            <a:r>
              <a:rPr b="1" spc="10" dirty="0">
                <a:latin typeface="Calibri"/>
                <a:cs typeface="Calibri"/>
              </a:rPr>
              <a:t>equation: </a:t>
            </a:r>
            <a:r>
              <a:rPr spc="5" dirty="0"/>
              <a:t>“importance </a:t>
            </a:r>
            <a:r>
              <a:rPr spc="20" dirty="0"/>
              <a:t>of </a:t>
            </a:r>
            <a:r>
              <a:rPr spc="10" dirty="0"/>
              <a:t>a  </a:t>
            </a:r>
            <a:r>
              <a:rPr spc="20" dirty="0"/>
              <a:t>page</a:t>
            </a:r>
            <a:r>
              <a:rPr spc="-85" dirty="0"/>
              <a:t> </a:t>
            </a:r>
            <a:r>
              <a:rPr spc="10" dirty="0"/>
              <a:t>=</a:t>
            </a:r>
            <a:r>
              <a:rPr spc="-10" dirty="0"/>
              <a:t> </a:t>
            </a:r>
            <a:r>
              <a:rPr dirty="0"/>
              <a:t>its</a:t>
            </a:r>
            <a:r>
              <a:rPr spc="-40" dirty="0"/>
              <a:t> </a:t>
            </a:r>
            <a:r>
              <a:rPr spc="5" dirty="0"/>
              <a:t>share</a:t>
            </a:r>
            <a:r>
              <a:rPr spc="-80" dirty="0"/>
              <a:t> </a:t>
            </a:r>
            <a:r>
              <a:rPr spc="20" dirty="0"/>
              <a:t>of</a:t>
            </a:r>
            <a:r>
              <a:rPr spc="-60" dirty="0"/>
              <a:t> </a:t>
            </a:r>
            <a:r>
              <a:rPr spc="10" dirty="0"/>
              <a:t>the</a:t>
            </a:r>
            <a:r>
              <a:rPr spc="-10" dirty="0"/>
              <a:t> </a:t>
            </a:r>
            <a:r>
              <a:rPr spc="5" dirty="0"/>
              <a:t>importance</a:t>
            </a:r>
            <a:r>
              <a:rPr spc="-155" dirty="0"/>
              <a:t> </a:t>
            </a:r>
            <a:r>
              <a:rPr spc="20" dirty="0"/>
              <a:t>of</a:t>
            </a:r>
            <a:r>
              <a:rPr spc="-65" dirty="0"/>
              <a:t> </a:t>
            </a:r>
            <a:r>
              <a:rPr spc="5" dirty="0"/>
              <a:t>each</a:t>
            </a:r>
            <a:r>
              <a:rPr spc="-25" dirty="0"/>
              <a:t> </a:t>
            </a:r>
            <a:r>
              <a:rPr spc="20" dirty="0"/>
              <a:t>of</a:t>
            </a:r>
            <a:r>
              <a:rPr spc="-60" dirty="0"/>
              <a:t> </a:t>
            </a:r>
            <a:r>
              <a:rPr dirty="0"/>
              <a:t>its  predecessor</a:t>
            </a:r>
            <a:r>
              <a:rPr spc="-130" dirty="0"/>
              <a:t> </a:t>
            </a:r>
            <a:r>
              <a:rPr spc="10" dirty="0"/>
              <a:t>pages”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383404"/>
            <a:ext cx="323850" cy="4006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8530" y="2911474"/>
            <a:ext cx="7795895" cy="28721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07975" marR="992505" indent="-276860">
              <a:lnSpc>
                <a:spcPct val="100000"/>
              </a:lnSpc>
              <a:spcBef>
                <a:spcPts val="13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25" dirty="0">
                <a:latin typeface="Calibri"/>
                <a:cs typeface="Calibri"/>
              </a:rPr>
              <a:t>Equivalent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spc="-10" dirty="0">
                <a:latin typeface="Calibri"/>
                <a:cs typeface="Calibri"/>
              </a:rPr>
              <a:t>the random-surfer </a:t>
            </a:r>
            <a:r>
              <a:rPr sz="2750" spc="-15" dirty="0">
                <a:latin typeface="Calibri"/>
                <a:cs typeface="Calibri"/>
              </a:rPr>
              <a:t>definition </a:t>
            </a:r>
            <a:r>
              <a:rPr sz="2750" spc="25" dirty="0">
                <a:latin typeface="Calibri"/>
                <a:cs typeface="Calibri"/>
              </a:rPr>
              <a:t>of  </a:t>
            </a:r>
            <a:r>
              <a:rPr sz="2750" spc="-10" dirty="0">
                <a:latin typeface="Calibri"/>
                <a:cs typeface="Calibri"/>
              </a:rPr>
              <a:t>PageRank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FB5CC"/>
              </a:buClr>
              <a:buFont typeface="Wingdings"/>
              <a:buChar char=""/>
            </a:pPr>
            <a:endParaRPr sz="33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3200" spc="-35" dirty="0">
                <a:latin typeface="Calibri"/>
                <a:cs typeface="Calibri"/>
              </a:rPr>
              <a:t>Technically, </a:t>
            </a:r>
            <a:r>
              <a:rPr sz="3200" i="1" dirty="0">
                <a:solidFill>
                  <a:srgbClr val="FF0066"/>
                </a:solidFill>
                <a:latin typeface="Calibri"/>
                <a:cs typeface="Calibri"/>
              </a:rPr>
              <a:t>importance </a:t>
            </a:r>
            <a:r>
              <a:rPr sz="3200" spc="10" dirty="0">
                <a:latin typeface="Calibri"/>
                <a:cs typeface="Calibri"/>
              </a:rPr>
              <a:t>= </a:t>
            </a:r>
            <a:r>
              <a:rPr sz="3200" spc="5" dirty="0">
                <a:latin typeface="Calibri"/>
                <a:cs typeface="Calibri"/>
              </a:rPr>
              <a:t>the </a:t>
            </a:r>
            <a:r>
              <a:rPr sz="3200" spc="20" dirty="0">
                <a:latin typeface="Calibri"/>
                <a:cs typeface="Calibri"/>
              </a:rPr>
              <a:t>principal  </a:t>
            </a:r>
            <a:r>
              <a:rPr sz="3200" spc="-10" dirty="0">
                <a:latin typeface="Calibri"/>
                <a:cs typeface="Calibri"/>
              </a:rPr>
              <a:t>eigenvector </a:t>
            </a:r>
            <a:r>
              <a:rPr sz="3200" spc="20" dirty="0">
                <a:latin typeface="Calibri"/>
                <a:cs typeface="Calibri"/>
              </a:rPr>
              <a:t>of </a:t>
            </a:r>
            <a:r>
              <a:rPr sz="3200" spc="10" dirty="0">
                <a:latin typeface="Calibri"/>
                <a:cs typeface="Calibri"/>
              </a:rPr>
              <a:t>the </a:t>
            </a:r>
            <a:r>
              <a:rPr sz="3200" spc="5" dirty="0">
                <a:latin typeface="Calibri"/>
                <a:cs typeface="Calibri"/>
              </a:rPr>
              <a:t>transition matrix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52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the </a:t>
            </a:r>
            <a:r>
              <a:rPr sz="3200" spc="-55" dirty="0">
                <a:latin typeface="Calibri"/>
                <a:cs typeface="Calibri"/>
              </a:rPr>
              <a:t>Web</a:t>
            </a:r>
            <a:endParaRPr sz="32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73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15" dirty="0">
                <a:latin typeface="Calibri"/>
                <a:cs typeface="Calibri"/>
              </a:rPr>
              <a:t>A </a:t>
            </a:r>
            <a:r>
              <a:rPr sz="2750" spc="-35" dirty="0">
                <a:latin typeface="Calibri"/>
                <a:cs typeface="Calibri"/>
              </a:rPr>
              <a:t>few </a:t>
            </a:r>
            <a:r>
              <a:rPr sz="2750" spc="-15" dirty="0">
                <a:latin typeface="Calibri"/>
                <a:cs typeface="Calibri"/>
              </a:rPr>
              <a:t>fix-ups</a:t>
            </a:r>
            <a:r>
              <a:rPr sz="2750" spc="36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needed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6662801" cy="58578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677028" y="2114452"/>
            <a:ext cx="1095375" cy="276225"/>
          </a:xfrm>
          <a:custGeom>
            <a:avLst/>
            <a:gdLst/>
            <a:ahLst/>
            <a:cxnLst/>
            <a:rect l="l" t="t" r="r" b="b"/>
            <a:pathLst>
              <a:path w="1095375" h="276225">
                <a:moveTo>
                  <a:pt x="930355" y="89983"/>
                </a:moveTo>
                <a:lnTo>
                  <a:pt x="24257" y="219426"/>
                </a:lnTo>
                <a:lnTo>
                  <a:pt x="0" y="251811"/>
                </a:lnTo>
                <a:lnTo>
                  <a:pt x="3827" y="262495"/>
                </a:lnTo>
                <a:lnTo>
                  <a:pt x="11191" y="270607"/>
                </a:lnTo>
                <a:lnTo>
                  <a:pt x="21056" y="275385"/>
                </a:lnTo>
                <a:lnTo>
                  <a:pt x="32385" y="276068"/>
                </a:lnTo>
                <a:lnTo>
                  <a:pt x="938444" y="146631"/>
                </a:lnTo>
                <a:lnTo>
                  <a:pt x="982991" y="111357"/>
                </a:lnTo>
                <a:lnTo>
                  <a:pt x="930355" y="89983"/>
                </a:lnTo>
                <a:close/>
              </a:path>
              <a:path w="1095375" h="276225">
                <a:moveTo>
                  <a:pt x="1045278" y="75027"/>
                </a:moveTo>
                <a:lnTo>
                  <a:pt x="1035050" y="75027"/>
                </a:lnTo>
                <a:lnTo>
                  <a:pt x="1046378" y="75709"/>
                </a:lnTo>
                <a:lnTo>
                  <a:pt x="1056243" y="80488"/>
                </a:lnTo>
                <a:lnTo>
                  <a:pt x="1063607" y="88600"/>
                </a:lnTo>
                <a:lnTo>
                  <a:pt x="1067435" y="99284"/>
                </a:lnTo>
                <a:lnTo>
                  <a:pt x="1066752" y="110613"/>
                </a:lnTo>
                <a:lnTo>
                  <a:pt x="1061974" y="120477"/>
                </a:lnTo>
                <a:lnTo>
                  <a:pt x="1053861" y="127841"/>
                </a:lnTo>
                <a:lnTo>
                  <a:pt x="1043178" y="131669"/>
                </a:lnTo>
                <a:lnTo>
                  <a:pt x="938444" y="146631"/>
                </a:lnTo>
                <a:lnTo>
                  <a:pt x="865759" y="204186"/>
                </a:lnTo>
                <a:lnTo>
                  <a:pt x="858454" y="212850"/>
                </a:lnTo>
                <a:lnTo>
                  <a:pt x="855138" y="223299"/>
                </a:lnTo>
                <a:lnTo>
                  <a:pt x="855989" y="234225"/>
                </a:lnTo>
                <a:lnTo>
                  <a:pt x="861187" y="244318"/>
                </a:lnTo>
                <a:lnTo>
                  <a:pt x="869832" y="251678"/>
                </a:lnTo>
                <a:lnTo>
                  <a:pt x="880252" y="255002"/>
                </a:lnTo>
                <a:lnTo>
                  <a:pt x="891172" y="254158"/>
                </a:lnTo>
                <a:lnTo>
                  <a:pt x="901319" y="249017"/>
                </a:lnTo>
                <a:lnTo>
                  <a:pt x="1095248" y="95347"/>
                </a:lnTo>
                <a:lnTo>
                  <a:pt x="1045278" y="75027"/>
                </a:lnTo>
                <a:close/>
              </a:path>
              <a:path w="1095375" h="276225">
                <a:moveTo>
                  <a:pt x="982991" y="111357"/>
                </a:moveTo>
                <a:lnTo>
                  <a:pt x="938444" y="146631"/>
                </a:lnTo>
                <a:lnTo>
                  <a:pt x="1043178" y="131669"/>
                </a:lnTo>
                <a:lnTo>
                  <a:pt x="1048495" y="129764"/>
                </a:lnTo>
                <a:lnTo>
                  <a:pt x="1028319" y="129764"/>
                </a:lnTo>
                <a:lnTo>
                  <a:pt x="982991" y="111357"/>
                </a:lnTo>
                <a:close/>
              </a:path>
              <a:path w="1095375" h="276225">
                <a:moveTo>
                  <a:pt x="1021334" y="80996"/>
                </a:moveTo>
                <a:lnTo>
                  <a:pt x="982991" y="111357"/>
                </a:lnTo>
                <a:lnTo>
                  <a:pt x="1028319" y="129764"/>
                </a:lnTo>
                <a:lnTo>
                  <a:pt x="1021334" y="80996"/>
                </a:lnTo>
                <a:close/>
              </a:path>
              <a:path w="1095375" h="276225">
                <a:moveTo>
                  <a:pt x="1056704" y="80996"/>
                </a:moveTo>
                <a:lnTo>
                  <a:pt x="1021334" y="80996"/>
                </a:lnTo>
                <a:lnTo>
                  <a:pt x="1028319" y="129764"/>
                </a:lnTo>
                <a:lnTo>
                  <a:pt x="1048495" y="129764"/>
                </a:lnTo>
                <a:lnTo>
                  <a:pt x="1053861" y="127841"/>
                </a:lnTo>
                <a:lnTo>
                  <a:pt x="1061974" y="120477"/>
                </a:lnTo>
                <a:lnTo>
                  <a:pt x="1066752" y="110613"/>
                </a:lnTo>
                <a:lnTo>
                  <a:pt x="1067435" y="99284"/>
                </a:lnTo>
                <a:lnTo>
                  <a:pt x="1063607" y="88600"/>
                </a:lnTo>
                <a:lnTo>
                  <a:pt x="1056704" y="80996"/>
                </a:lnTo>
                <a:close/>
              </a:path>
              <a:path w="1095375" h="276225">
                <a:moveTo>
                  <a:pt x="1035050" y="75027"/>
                </a:moveTo>
                <a:lnTo>
                  <a:pt x="930355" y="89983"/>
                </a:lnTo>
                <a:lnTo>
                  <a:pt x="982991" y="111357"/>
                </a:lnTo>
                <a:lnTo>
                  <a:pt x="1021334" y="80996"/>
                </a:lnTo>
                <a:lnTo>
                  <a:pt x="1056704" y="80996"/>
                </a:lnTo>
                <a:lnTo>
                  <a:pt x="1056243" y="80488"/>
                </a:lnTo>
                <a:lnTo>
                  <a:pt x="1046378" y="75709"/>
                </a:lnTo>
                <a:lnTo>
                  <a:pt x="1035050" y="75027"/>
                </a:lnTo>
                <a:close/>
              </a:path>
              <a:path w="1095375" h="276225">
                <a:moveTo>
                  <a:pt x="854876" y="0"/>
                </a:moveTo>
                <a:lnTo>
                  <a:pt x="844169" y="2240"/>
                </a:lnTo>
                <a:lnTo>
                  <a:pt x="835080" y="8362"/>
                </a:lnTo>
                <a:lnTo>
                  <a:pt x="828801" y="17877"/>
                </a:lnTo>
                <a:lnTo>
                  <a:pt x="826670" y="29013"/>
                </a:lnTo>
                <a:lnTo>
                  <a:pt x="828897" y="39721"/>
                </a:lnTo>
                <a:lnTo>
                  <a:pt x="834981" y="48809"/>
                </a:lnTo>
                <a:lnTo>
                  <a:pt x="844423" y="55088"/>
                </a:lnTo>
                <a:lnTo>
                  <a:pt x="930355" y="89983"/>
                </a:lnTo>
                <a:lnTo>
                  <a:pt x="1035050" y="75027"/>
                </a:lnTo>
                <a:lnTo>
                  <a:pt x="1045278" y="75027"/>
                </a:lnTo>
                <a:lnTo>
                  <a:pt x="866013" y="2129"/>
                </a:lnTo>
                <a:lnTo>
                  <a:pt x="854876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33797" y="2750264"/>
            <a:ext cx="1019175" cy="256540"/>
          </a:xfrm>
          <a:custGeom>
            <a:avLst/>
            <a:gdLst/>
            <a:ahLst/>
            <a:cxnLst/>
            <a:rect l="l" t="t" r="r" b="b"/>
            <a:pathLst>
              <a:path w="1019175" h="256539">
                <a:moveTo>
                  <a:pt x="224932" y="0"/>
                </a:moveTo>
                <a:lnTo>
                  <a:pt x="213989" y="125"/>
                </a:lnTo>
                <a:lnTo>
                  <a:pt x="203580" y="4619"/>
                </a:lnTo>
                <a:lnTo>
                  <a:pt x="0" y="145335"/>
                </a:lnTo>
                <a:lnTo>
                  <a:pt x="222630" y="253285"/>
                </a:lnTo>
                <a:lnTo>
                  <a:pt x="233640" y="256097"/>
                </a:lnTo>
                <a:lnTo>
                  <a:pt x="244506" y="254539"/>
                </a:lnTo>
                <a:lnTo>
                  <a:pt x="253992" y="249052"/>
                </a:lnTo>
                <a:lnTo>
                  <a:pt x="260857" y="240077"/>
                </a:lnTo>
                <a:lnTo>
                  <a:pt x="263687" y="229068"/>
                </a:lnTo>
                <a:lnTo>
                  <a:pt x="262159" y="218201"/>
                </a:lnTo>
                <a:lnTo>
                  <a:pt x="256678" y="208716"/>
                </a:lnTo>
                <a:lnTo>
                  <a:pt x="247650" y="201850"/>
                </a:lnTo>
                <a:lnTo>
                  <a:pt x="180838" y="169465"/>
                </a:lnTo>
                <a:lnTo>
                  <a:pt x="58674" y="169465"/>
                </a:lnTo>
                <a:lnTo>
                  <a:pt x="47462" y="168108"/>
                </a:lnTo>
                <a:lnTo>
                  <a:pt x="37941" y="162702"/>
                </a:lnTo>
                <a:lnTo>
                  <a:pt x="31134" y="154106"/>
                </a:lnTo>
                <a:lnTo>
                  <a:pt x="28066" y="143176"/>
                </a:lnTo>
                <a:lnTo>
                  <a:pt x="29424" y="131909"/>
                </a:lnTo>
                <a:lnTo>
                  <a:pt x="34829" y="122380"/>
                </a:lnTo>
                <a:lnTo>
                  <a:pt x="43426" y="115566"/>
                </a:lnTo>
                <a:lnTo>
                  <a:pt x="54355" y="112442"/>
                </a:lnTo>
                <a:lnTo>
                  <a:pt x="159810" y="104342"/>
                </a:lnTo>
                <a:lnTo>
                  <a:pt x="236092" y="51609"/>
                </a:lnTo>
                <a:lnTo>
                  <a:pt x="243957" y="43469"/>
                </a:lnTo>
                <a:lnTo>
                  <a:pt x="247951" y="33258"/>
                </a:lnTo>
                <a:lnTo>
                  <a:pt x="247826" y="22284"/>
                </a:lnTo>
                <a:lnTo>
                  <a:pt x="243331" y="11858"/>
                </a:lnTo>
                <a:lnTo>
                  <a:pt x="235138" y="3994"/>
                </a:lnTo>
                <a:lnTo>
                  <a:pt x="224932" y="0"/>
                </a:lnTo>
                <a:close/>
              </a:path>
              <a:path w="1019175" h="256539">
                <a:moveTo>
                  <a:pt x="159810" y="104342"/>
                </a:moveTo>
                <a:lnTo>
                  <a:pt x="54355" y="112442"/>
                </a:lnTo>
                <a:lnTo>
                  <a:pt x="28066" y="143176"/>
                </a:lnTo>
                <a:lnTo>
                  <a:pt x="31134" y="154106"/>
                </a:lnTo>
                <a:lnTo>
                  <a:pt x="37941" y="162702"/>
                </a:lnTo>
                <a:lnTo>
                  <a:pt x="47462" y="168108"/>
                </a:lnTo>
                <a:lnTo>
                  <a:pt x="58674" y="169465"/>
                </a:lnTo>
                <a:lnTo>
                  <a:pt x="123045" y="164512"/>
                </a:lnTo>
                <a:lnTo>
                  <a:pt x="72771" y="164512"/>
                </a:lnTo>
                <a:lnTo>
                  <a:pt x="68961" y="115236"/>
                </a:lnTo>
                <a:lnTo>
                  <a:pt x="144052" y="115236"/>
                </a:lnTo>
                <a:lnTo>
                  <a:pt x="159810" y="104342"/>
                </a:lnTo>
                <a:close/>
              </a:path>
              <a:path w="1019175" h="256539">
                <a:moveTo>
                  <a:pt x="164102" y="161353"/>
                </a:moveTo>
                <a:lnTo>
                  <a:pt x="58674" y="169465"/>
                </a:lnTo>
                <a:lnTo>
                  <a:pt x="180838" y="169465"/>
                </a:lnTo>
                <a:lnTo>
                  <a:pt x="164102" y="161353"/>
                </a:lnTo>
                <a:close/>
              </a:path>
              <a:path w="1019175" h="256539">
                <a:moveTo>
                  <a:pt x="68961" y="115236"/>
                </a:moveTo>
                <a:lnTo>
                  <a:pt x="72771" y="164512"/>
                </a:lnTo>
                <a:lnTo>
                  <a:pt x="113101" y="136632"/>
                </a:lnTo>
                <a:lnTo>
                  <a:pt x="68961" y="115236"/>
                </a:lnTo>
                <a:close/>
              </a:path>
              <a:path w="1019175" h="256539">
                <a:moveTo>
                  <a:pt x="113101" y="136632"/>
                </a:moveTo>
                <a:lnTo>
                  <a:pt x="72771" y="164512"/>
                </a:lnTo>
                <a:lnTo>
                  <a:pt x="123045" y="164512"/>
                </a:lnTo>
                <a:lnTo>
                  <a:pt x="164102" y="161353"/>
                </a:lnTo>
                <a:lnTo>
                  <a:pt x="113101" y="136632"/>
                </a:lnTo>
                <a:close/>
              </a:path>
              <a:path w="1019175" h="256539">
                <a:moveTo>
                  <a:pt x="988567" y="40687"/>
                </a:moveTo>
                <a:lnTo>
                  <a:pt x="159810" y="104342"/>
                </a:lnTo>
                <a:lnTo>
                  <a:pt x="113101" y="136632"/>
                </a:lnTo>
                <a:lnTo>
                  <a:pt x="164102" y="161353"/>
                </a:lnTo>
                <a:lnTo>
                  <a:pt x="992886" y="97583"/>
                </a:lnTo>
                <a:lnTo>
                  <a:pt x="1019175" y="66976"/>
                </a:lnTo>
                <a:lnTo>
                  <a:pt x="1016125" y="56046"/>
                </a:lnTo>
                <a:lnTo>
                  <a:pt x="1009348" y="47450"/>
                </a:lnTo>
                <a:lnTo>
                  <a:pt x="999833" y="42044"/>
                </a:lnTo>
                <a:lnTo>
                  <a:pt x="988567" y="40687"/>
                </a:lnTo>
                <a:close/>
              </a:path>
              <a:path w="1019175" h="256539">
                <a:moveTo>
                  <a:pt x="144052" y="115236"/>
                </a:moveTo>
                <a:lnTo>
                  <a:pt x="68961" y="115236"/>
                </a:lnTo>
                <a:lnTo>
                  <a:pt x="113101" y="136632"/>
                </a:lnTo>
                <a:lnTo>
                  <a:pt x="144052" y="115236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33747" y="3571747"/>
            <a:ext cx="656590" cy="808990"/>
          </a:xfrm>
          <a:custGeom>
            <a:avLst/>
            <a:gdLst/>
            <a:ahLst/>
            <a:cxnLst/>
            <a:rect l="l" t="t" r="r" b="b"/>
            <a:pathLst>
              <a:path w="656589" h="808989">
                <a:moveTo>
                  <a:pt x="71140" y="88347"/>
                </a:moveTo>
                <a:lnTo>
                  <a:pt x="79561" y="144427"/>
                </a:lnTo>
                <a:lnTo>
                  <a:pt x="605281" y="797940"/>
                </a:lnTo>
                <a:lnTo>
                  <a:pt x="614019" y="805205"/>
                </a:lnTo>
                <a:lnTo>
                  <a:pt x="624506" y="808434"/>
                </a:lnTo>
                <a:lnTo>
                  <a:pt x="635446" y="807495"/>
                </a:lnTo>
                <a:lnTo>
                  <a:pt x="645540" y="802258"/>
                </a:lnTo>
                <a:lnTo>
                  <a:pt x="652805" y="793523"/>
                </a:lnTo>
                <a:lnTo>
                  <a:pt x="656034" y="783050"/>
                </a:lnTo>
                <a:lnTo>
                  <a:pt x="655095" y="772148"/>
                </a:lnTo>
                <a:lnTo>
                  <a:pt x="649859" y="762126"/>
                </a:lnTo>
                <a:lnTo>
                  <a:pt x="124125" y="108598"/>
                </a:lnTo>
                <a:lnTo>
                  <a:pt x="71140" y="88347"/>
                </a:lnTo>
                <a:close/>
              </a:path>
              <a:path w="656589" h="808989">
                <a:moveTo>
                  <a:pt x="0" y="0"/>
                </a:moveTo>
                <a:lnTo>
                  <a:pt x="36829" y="244728"/>
                </a:lnTo>
                <a:lnTo>
                  <a:pt x="69341" y="268731"/>
                </a:lnTo>
                <a:lnTo>
                  <a:pt x="80021" y="264884"/>
                </a:lnTo>
                <a:lnTo>
                  <a:pt x="88106" y="257476"/>
                </a:lnTo>
                <a:lnTo>
                  <a:pt x="92809" y="247568"/>
                </a:lnTo>
                <a:lnTo>
                  <a:pt x="93344" y="236219"/>
                </a:lnTo>
                <a:lnTo>
                  <a:pt x="79561" y="144427"/>
                </a:lnTo>
                <a:lnTo>
                  <a:pt x="13335" y="62102"/>
                </a:lnTo>
                <a:lnTo>
                  <a:pt x="8098" y="52028"/>
                </a:lnTo>
                <a:lnTo>
                  <a:pt x="27747" y="16734"/>
                </a:lnTo>
                <a:lnTo>
                  <a:pt x="38687" y="15795"/>
                </a:lnTo>
                <a:lnTo>
                  <a:pt x="41304" y="15795"/>
                </a:lnTo>
                <a:lnTo>
                  <a:pt x="0" y="0"/>
                </a:lnTo>
                <a:close/>
              </a:path>
              <a:path w="656589" h="808989">
                <a:moveTo>
                  <a:pt x="38687" y="15795"/>
                </a:moveTo>
                <a:lnTo>
                  <a:pt x="27747" y="16734"/>
                </a:lnTo>
                <a:lnTo>
                  <a:pt x="17652" y="21971"/>
                </a:lnTo>
                <a:lnTo>
                  <a:pt x="10388" y="30688"/>
                </a:lnTo>
                <a:lnTo>
                  <a:pt x="7159" y="41132"/>
                </a:lnTo>
                <a:lnTo>
                  <a:pt x="8098" y="52028"/>
                </a:lnTo>
                <a:lnTo>
                  <a:pt x="13335" y="62102"/>
                </a:lnTo>
                <a:lnTo>
                  <a:pt x="79561" y="144427"/>
                </a:lnTo>
                <a:lnTo>
                  <a:pt x="71140" y="88347"/>
                </a:lnTo>
                <a:lnTo>
                  <a:pt x="25400" y="70865"/>
                </a:lnTo>
                <a:lnTo>
                  <a:pt x="63880" y="40004"/>
                </a:lnTo>
                <a:lnTo>
                  <a:pt x="68945" y="40004"/>
                </a:lnTo>
                <a:lnTo>
                  <a:pt x="57912" y="26288"/>
                </a:lnTo>
                <a:lnTo>
                  <a:pt x="49174" y="19024"/>
                </a:lnTo>
                <a:lnTo>
                  <a:pt x="38687" y="15795"/>
                </a:lnTo>
                <a:close/>
              </a:path>
              <a:path w="656589" h="808989">
                <a:moveTo>
                  <a:pt x="41304" y="15795"/>
                </a:moveTo>
                <a:lnTo>
                  <a:pt x="38687" y="15795"/>
                </a:lnTo>
                <a:lnTo>
                  <a:pt x="49174" y="19024"/>
                </a:lnTo>
                <a:lnTo>
                  <a:pt x="57912" y="26288"/>
                </a:lnTo>
                <a:lnTo>
                  <a:pt x="124125" y="108598"/>
                </a:lnTo>
                <a:lnTo>
                  <a:pt x="210819" y="141731"/>
                </a:lnTo>
                <a:lnTo>
                  <a:pt x="222003" y="143654"/>
                </a:lnTo>
                <a:lnTo>
                  <a:pt x="232663" y="141208"/>
                </a:lnTo>
                <a:lnTo>
                  <a:pt x="241609" y="134927"/>
                </a:lnTo>
                <a:lnTo>
                  <a:pt x="247650" y="125349"/>
                </a:lnTo>
                <a:lnTo>
                  <a:pt x="249570" y="114145"/>
                </a:lnTo>
                <a:lnTo>
                  <a:pt x="247110" y="103441"/>
                </a:lnTo>
                <a:lnTo>
                  <a:pt x="240791" y="94452"/>
                </a:lnTo>
                <a:lnTo>
                  <a:pt x="231139" y="88391"/>
                </a:lnTo>
                <a:lnTo>
                  <a:pt x="41304" y="15795"/>
                </a:lnTo>
                <a:close/>
              </a:path>
              <a:path w="656589" h="808989">
                <a:moveTo>
                  <a:pt x="68945" y="40004"/>
                </a:moveTo>
                <a:lnTo>
                  <a:pt x="63880" y="40004"/>
                </a:lnTo>
                <a:lnTo>
                  <a:pt x="71140" y="88347"/>
                </a:lnTo>
                <a:lnTo>
                  <a:pt x="124125" y="108598"/>
                </a:lnTo>
                <a:lnTo>
                  <a:pt x="68945" y="40004"/>
                </a:lnTo>
                <a:close/>
              </a:path>
              <a:path w="656589" h="808989">
                <a:moveTo>
                  <a:pt x="63880" y="40004"/>
                </a:moveTo>
                <a:lnTo>
                  <a:pt x="25400" y="70865"/>
                </a:lnTo>
                <a:lnTo>
                  <a:pt x="71140" y="88347"/>
                </a:lnTo>
                <a:lnTo>
                  <a:pt x="63880" y="40004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09924" y="3581272"/>
            <a:ext cx="626110" cy="768350"/>
          </a:xfrm>
          <a:custGeom>
            <a:avLst/>
            <a:gdLst/>
            <a:ahLst/>
            <a:cxnLst/>
            <a:rect l="l" t="t" r="r" b="b"/>
            <a:pathLst>
              <a:path w="626110" h="768350">
                <a:moveTo>
                  <a:pt x="554311" y="88275"/>
                </a:moveTo>
                <a:lnTo>
                  <a:pt x="501186" y="108506"/>
                </a:lnTo>
                <a:lnTo>
                  <a:pt x="6175" y="721868"/>
                </a:lnTo>
                <a:lnTo>
                  <a:pt x="938" y="731942"/>
                </a:lnTo>
                <a:lnTo>
                  <a:pt x="0" y="742838"/>
                </a:lnTo>
                <a:lnTo>
                  <a:pt x="3228" y="753282"/>
                </a:lnTo>
                <a:lnTo>
                  <a:pt x="10493" y="762000"/>
                </a:lnTo>
                <a:lnTo>
                  <a:pt x="20514" y="767238"/>
                </a:lnTo>
                <a:lnTo>
                  <a:pt x="31416" y="768191"/>
                </a:lnTo>
                <a:lnTo>
                  <a:pt x="41890" y="765000"/>
                </a:lnTo>
                <a:lnTo>
                  <a:pt x="50625" y="757808"/>
                </a:lnTo>
                <a:lnTo>
                  <a:pt x="545772" y="144417"/>
                </a:lnTo>
                <a:lnTo>
                  <a:pt x="554311" y="88275"/>
                </a:lnTo>
                <a:close/>
              </a:path>
              <a:path w="626110" h="768350">
                <a:moveTo>
                  <a:pt x="623155" y="15779"/>
                </a:moveTo>
                <a:lnTo>
                  <a:pt x="586867" y="15779"/>
                </a:lnTo>
                <a:lnTo>
                  <a:pt x="597806" y="16732"/>
                </a:lnTo>
                <a:lnTo>
                  <a:pt x="607901" y="21971"/>
                </a:lnTo>
                <a:lnTo>
                  <a:pt x="615112" y="30688"/>
                </a:lnTo>
                <a:lnTo>
                  <a:pt x="618347" y="41132"/>
                </a:lnTo>
                <a:lnTo>
                  <a:pt x="617438" y="52028"/>
                </a:lnTo>
                <a:lnTo>
                  <a:pt x="612219" y="62102"/>
                </a:lnTo>
                <a:lnTo>
                  <a:pt x="545772" y="144417"/>
                </a:lnTo>
                <a:lnTo>
                  <a:pt x="531828" y="236093"/>
                </a:lnTo>
                <a:lnTo>
                  <a:pt x="532362" y="247441"/>
                </a:lnTo>
                <a:lnTo>
                  <a:pt x="537051" y="257349"/>
                </a:lnTo>
                <a:lnTo>
                  <a:pt x="545097" y="264757"/>
                </a:lnTo>
                <a:lnTo>
                  <a:pt x="555704" y="268604"/>
                </a:lnTo>
                <a:lnTo>
                  <a:pt x="567054" y="268071"/>
                </a:lnTo>
                <a:lnTo>
                  <a:pt x="576976" y="263382"/>
                </a:lnTo>
                <a:lnTo>
                  <a:pt x="584422" y="255335"/>
                </a:lnTo>
                <a:lnTo>
                  <a:pt x="588343" y="244728"/>
                </a:lnTo>
                <a:lnTo>
                  <a:pt x="623155" y="15779"/>
                </a:lnTo>
                <a:close/>
              </a:path>
              <a:path w="626110" h="768350">
                <a:moveTo>
                  <a:pt x="617958" y="39877"/>
                </a:moveTo>
                <a:lnTo>
                  <a:pt x="561673" y="39877"/>
                </a:lnTo>
                <a:lnTo>
                  <a:pt x="600027" y="70865"/>
                </a:lnTo>
                <a:lnTo>
                  <a:pt x="554311" y="88275"/>
                </a:lnTo>
                <a:lnTo>
                  <a:pt x="545772" y="144417"/>
                </a:lnTo>
                <a:lnTo>
                  <a:pt x="612219" y="62102"/>
                </a:lnTo>
                <a:lnTo>
                  <a:pt x="617438" y="52028"/>
                </a:lnTo>
                <a:lnTo>
                  <a:pt x="618347" y="41132"/>
                </a:lnTo>
                <a:lnTo>
                  <a:pt x="617958" y="39877"/>
                </a:lnTo>
                <a:close/>
              </a:path>
              <a:path w="626110" h="768350">
                <a:moveTo>
                  <a:pt x="625554" y="0"/>
                </a:moveTo>
                <a:lnTo>
                  <a:pt x="394287" y="88010"/>
                </a:lnTo>
                <a:lnTo>
                  <a:pt x="384686" y="94053"/>
                </a:lnTo>
                <a:lnTo>
                  <a:pt x="378348" y="103012"/>
                </a:lnTo>
                <a:lnTo>
                  <a:pt x="375820" y="113710"/>
                </a:lnTo>
                <a:lnTo>
                  <a:pt x="377650" y="124968"/>
                </a:lnTo>
                <a:lnTo>
                  <a:pt x="383764" y="134548"/>
                </a:lnTo>
                <a:lnTo>
                  <a:pt x="392747" y="140842"/>
                </a:lnTo>
                <a:lnTo>
                  <a:pt x="403421" y="143327"/>
                </a:lnTo>
                <a:lnTo>
                  <a:pt x="414607" y="141477"/>
                </a:lnTo>
                <a:lnTo>
                  <a:pt x="501186" y="108506"/>
                </a:lnTo>
                <a:lnTo>
                  <a:pt x="567642" y="26162"/>
                </a:lnTo>
                <a:lnTo>
                  <a:pt x="576379" y="18970"/>
                </a:lnTo>
                <a:lnTo>
                  <a:pt x="586867" y="15779"/>
                </a:lnTo>
                <a:lnTo>
                  <a:pt x="623155" y="15779"/>
                </a:lnTo>
                <a:lnTo>
                  <a:pt x="625554" y="0"/>
                </a:lnTo>
                <a:close/>
              </a:path>
              <a:path w="626110" h="768350">
                <a:moveTo>
                  <a:pt x="586867" y="15779"/>
                </a:moveTo>
                <a:lnTo>
                  <a:pt x="576379" y="18970"/>
                </a:lnTo>
                <a:lnTo>
                  <a:pt x="567642" y="26162"/>
                </a:lnTo>
                <a:lnTo>
                  <a:pt x="501186" y="108506"/>
                </a:lnTo>
                <a:lnTo>
                  <a:pt x="554311" y="88275"/>
                </a:lnTo>
                <a:lnTo>
                  <a:pt x="561673" y="39877"/>
                </a:lnTo>
                <a:lnTo>
                  <a:pt x="617958" y="39877"/>
                </a:lnTo>
                <a:lnTo>
                  <a:pt x="615112" y="30688"/>
                </a:lnTo>
                <a:lnTo>
                  <a:pt x="607901" y="21971"/>
                </a:lnTo>
                <a:lnTo>
                  <a:pt x="597806" y="16732"/>
                </a:lnTo>
                <a:lnTo>
                  <a:pt x="586867" y="15779"/>
                </a:lnTo>
                <a:close/>
              </a:path>
              <a:path w="626110" h="768350">
                <a:moveTo>
                  <a:pt x="561673" y="39877"/>
                </a:moveTo>
                <a:lnTo>
                  <a:pt x="554311" y="88275"/>
                </a:lnTo>
                <a:lnTo>
                  <a:pt x="600027" y="70865"/>
                </a:lnTo>
                <a:lnTo>
                  <a:pt x="561673" y="39877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33754" y="2733548"/>
            <a:ext cx="362585" cy="1509395"/>
          </a:xfrm>
          <a:custGeom>
            <a:avLst/>
            <a:gdLst/>
            <a:ahLst/>
            <a:cxnLst/>
            <a:rect l="l" t="t" r="r" b="b"/>
            <a:pathLst>
              <a:path w="362584" h="1509395">
                <a:moveTo>
                  <a:pt x="108610" y="111915"/>
                </a:moveTo>
                <a:lnTo>
                  <a:pt x="88375" y="164890"/>
                </a:lnTo>
                <a:lnTo>
                  <a:pt x="305841" y="1485391"/>
                </a:lnTo>
                <a:lnTo>
                  <a:pt x="338734" y="1508887"/>
                </a:lnTo>
                <a:lnTo>
                  <a:pt x="349299" y="1504874"/>
                </a:lnTo>
                <a:lnTo>
                  <a:pt x="357245" y="1497361"/>
                </a:lnTo>
                <a:lnTo>
                  <a:pt x="361809" y="1487420"/>
                </a:lnTo>
                <a:lnTo>
                  <a:pt x="362229" y="1476120"/>
                </a:lnTo>
                <a:lnTo>
                  <a:pt x="144758" y="155589"/>
                </a:lnTo>
                <a:lnTo>
                  <a:pt x="108610" y="111915"/>
                </a:lnTo>
                <a:close/>
              </a:path>
              <a:path w="362584" h="1509395">
                <a:moveTo>
                  <a:pt x="90170" y="0"/>
                </a:moveTo>
                <a:lnTo>
                  <a:pt x="1867" y="231139"/>
                </a:lnTo>
                <a:lnTo>
                  <a:pt x="0" y="242325"/>
                </a:lnTo>
                <a:lnTo>
                  <a:pt x="2483" y="252999"/>
                </a:lnTo>
                <a:lnTo>
                  <a:pt x="8786" y="261983"/>
                </a:lnTo>
                <a:lnTo>
                  <a:pt x="18377" y="268097"/>
                </a:lnTo>
                <a:lnTo>
                  <a:pt x="29563" y="269946"/>
                </a:lnTo>
                <a:lnTo>
                  <a:pt x="40232" y="267462"/>
                </a:lnTo>
                <a:lnTo>
                  <a:pt x="49193" y="261167"/>
                </a:lnTo>
                <a:lnTo>
                  <a:pt x="55258" y="251587"/>
                </a:lnTo>
                <a:lnTo>
                  <a:pt x="88375" y="164890"/>
                </a:lnTo>
                <a:lnTo>
                  <a:pt x="71196" y="60578"/>
                </a:lnTo>
                <a:lnTo>
                  <a:pt x="71603" y="49279"/>
                </a:lnTo>
                <a:lnTo>
                  <a:pt x="76168" y="39338"/>
                </a:lnTo>
                <a:lnTo>
                  <a:pt x="84133" y="31825"/>
                </a:lnTo>
                <a:lnTo>
                  <a:pt x="94742" y="27812"/>
                </a:lnTo>
                <a:lnTo>
                  <a:pt x="113187" y="27812"/>
                </a:lnTo>
                <a:lnTo>
                  <a:pt x="90170" y="0"/>
                </a:lnTo>
                <a:close/>
              </a:path>
              <a:path w="362584" h="1509395">
                <a:moveTo>
                  <a:pt x="113187" y="27812"/>
                </a:moveTo>
                <a:lnTo>
                  <a:pt x="94742" y="27812"/>
                </a:lnTo>
                <a:lnTo>
                  <a:pt x="106081" y="28162"/>
                </a:lnTo>
                <a:lnTo>
                  <a:pt x="116040" y="32702"/>
                </a:lnTo>
                <a:lnTo>
                  <a:pt x="123560" y="40671"/>
                </a:lnTo>
                <a:lnTo>
                  <a:pt x="127584" y="51307"/>
                </a:lnTo>
                <a:lnTo>
                  <a:pt x="144758" y="155589"/>
                </a:lnTo>
                <a:lnTo>
                  <a:pt x="203924" y="227075"/>
                </a:lnTo>
                <a:lnTo>
                  <a:pt x="212742" y="234225"/>
                </a:lnTo>
                <a:lnTo>
                  <a:pt x="223245" y="237315"/>
                </a:lnTo>
                <a:lnTo>
                  <a:pt x="234137" y="236237"/>
                </a:lnTo>
                <a:lnTo>
                  <a:pt x="244119" y="230886"/>
                </a:lnTo>
                <a:lnTo>
                  <a:pt x="251269" y="222077"/>
                </a:lnTo>
                <a:lnTo>
                  <a:pt x="254359" y="211566"/>
                </a:lnTo>
                <a:lnTo>
                  <a:pt x="253281" y="200650"/>
                </a:lnTo>
                <a:lnTo>
                  <a:pt x="247929" y="190626"/>
                </a:lnTo>
                <a:lnTo>
                  <a:pt x="113187" y="27812"/>
                </a:lnTo>
                <a:close/>
              </a:path>
              <a:path w="362584" h="1509395">
                <a:moveTo>
                  <a:pt x="94742" y="27812"/>
                </a:moveTo>
                <a:lnTo>
                  <a:pt x="84133" y="31825"/>
                </a:lnTo>
                <a:lnTo>
                  <a:pt x="76168" y="39338"/>
                </a:lnTo>
                <a:lnTo>
                  <a:pt x="71603" y="49279"/>
                </a:lnTo>
                <a:lnTo>
                  <a:pt x="71196" y="60578"/>
                </a:lnTo>
                <a:lnTo>
                  <a:pt x="88375" y="164890"/>
                </a:lnTo>
                <a:lnTo>
                  <a:pt x="108610" y="111915"/>
                </a:lnTo>
                <a:lnTo>
                  <a:pt x="77368" y="74167"/>
                </a:lnTo>
                <a:lnTo>
                  <a:pt x="126085" y="66166"/>
                </a:lnTo>
                <a:lnTo>
                  <a:pt x="130031" y="66166"/>
                </a:lnTo>
                <a:lnTo>
                  <a:pt x="127584" y="51307"/>
                </a:lnTo>
                <a:lnTo>
                  <a:pt x="123560" y="40671"/>
                </a:lnTo>
                <a:lnTo>
                  <a:pt x="116040" y="32702"/>
                </a:lnTo>
                <a:lnTo>
                  <a:pt x="106081" y="28162"/>
                </a:lnTo>
                <a:lnTo>
                  <a:pt x="94742" y="27812"/>
                </a:lnTo>
                <a:close/>
              </a:path>
              <a:path w="362584" h="1509395">
                <a:moveTo>
                  <a:pt x="130031" y="66166"/>
                </a:moveTo>
                <a:lnTo>
                  <a:pt x="126085" y="66166"/>
                </a:lnTo>
                <a:lnTo>
                  <a:pt x="108610" y="111915"/>
                </a:lnTo>
                <a:lnTo>
                  <a:pt x="144758" y="155589"/>
                </a:lnTo>
                <a:lnTo>
                  <a:pt x="130031" y="66166"/>
                </a:lnTo>
                <a:close/>
              </a:path>
              <a:path w="362584" h="1509395">
                <a:moveTo>
                  <a:pt x="126085" y="66166"/>
                </a:moveTo>
                <a:lnTo>
                  <a:pt x="77368" y="74167"/>
                </a:lnTo>
                <a:lnTo>
                  <a:pt x="108610" y="111915"/>
                </a:lnTo>
                <a:lnTo>
                  <a:pt x="126085" y="66166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23900" y="1257300"/>
            <a:ext cx="7696200" cy="5257800"/>
            <a:chOff x="723900" y="1257300"/>
            <a:chExt cx="7696200" cy="5257800"/>
          </a:xfrm>
        </p:grpSpPr>
        <p:sp>
          <p:nvSpPr>
            <p:cNvPr id="9" name="object 9"/>
            <p:cNvSpPr/>
            <p:nvPr/>
          </p:nvSpPr>
          <p:spPr>
            <a:xfrm>
              <a:off x="2000123" y="3857497"/>
              <a:ext cx="3185795" cy="2178050"/>
            </a:xfrm>
            <a:custGeom>
              <a:avLst/>
              <a:gdLst/>
              <a:ahLst/>
              <a:cxnLst/>
              <a:rect l="l" t="t" r="r" b="b"/>
              <a:pathLst>
                <a:path w="3185795" h="2178050">
                  <a:moveTo>
                    <a:pt x="2940685" y="1276350"/>
                  </a:moveTo>
                  <a:lnTo>
                    <a:pt x="2693924" y="1295654"/>
                  </a:lnTo>
                  <a:lnTo>
                    <a:pt x="2667635" y="1326261"/>
                  </a:lnTo>
                  <a:lnTo>
                    <a:pt x="2670746" y="1337195"/>
                  </a:lnTo>
                  <a:lnTo>
                    <a:pt x="2677566" y="1345793"/>
                  </a:lnTo>
                  <a:lnTo>
                    <a:pt x="2687091" y="1351203"/>
                  </a:lnTo>
                  <a:lnTo>
                    <a:pt x="2698369" y="1352562"/>
                  </a:lnTo>
                  <a:lnTo>
                    <a:pt x="2791015" y="1345361"/>
                  </a:lnTo>
                  <a:lnTo>
                    <a:pt x="2418550" y="1603324"/>
                  </a:lnTo>
                  <a:lnTo>
                    <a:pt x="2338070" y="1300975"/>
                  </a:lnTo>
                  <a:lnTo>
                    <a:pt x="2657449" y="1179715"/>
                  </a:lnTo>
                  <a:lnTo>
                    <a:pt x="2599055" y="1251966"/>
                  </a:lnTo>
                  <a:lnTo>
                    <a:pt x="2593733" y="1262049"/>
                  </a:lnTo>
                  <a:lnTo>
                    <a:pt x="2613317" y="1297419"/>
                  </a:lnTo>
                  <a:lnTo>
                    <a:pt x="2624213" y="1298384"/>
                  </a:lnTo>
                  <a:lnTo>
                    <a:pt x="2634653" y="1295171"/>
                  </a:lnTo>
                  <a:lnTo>
                    <a:pt x="2643378" y="1287907"/>
                  </a:lnTo>
                  <a:lnTo>
                    <a:pt x="2799080" y="1095502"/>
                  </a:lnTo>
                  <a:lnTo>
                    <a:pt x="2748457" y="1087056"/>
                  </a:lnTo>
                  <a:lnTo>
                    <a:pt x="2554986" y="1054735"/>
                  </a:lnTo>
                  <a:lnTo>
                    <a:pt x="2543606" y="1055141"/>
                  </a:lnTo>
                  <a:lnTo>
                    <a:pt x="2533624" y="1059675"/>
                  </a:lnTo>
                  <a:lnTo>
                    <a:pt x="2526106" y="1067612"/>
                  </a:lnTo>
                  <a:lnTo>
                    <a:pt x="2522093" y="1078230"/>
                  </a:lnTo>
                  <a:lnTo>
                    <a:pt x="2522436" y="1089596"/>
                  </a:lnTo>
                  <a:lnTo>
                    <a:pt x="2526982" y="1099540"/>
                  </a:lnTo>
                  <a:lnTo>
                    <a:pt x="2534945" y="1107059"/>
                  </a:lnTo>
                  <a:lnTo>
                    <a:pt x="2545588" y="1111123"/>
                  </a:lnTo>
                  <a:lnTo>
                    <a:pt x="2637078" y="1126388"/>
                  </a:lnTo>
                  <a:lnTo>
                    <a:pt x="2323300" y="1245501"/>
                  </a:lnTo>
                  <a:lnTo>
                    <a:pt x="2269642" y="1043914"/>
                  </a:lnTo>
                  <a:lnTo>
                    <a:pt x="2269642" y="1265872"/>
                  </a:lnTo>
                  <a:lnTo>
                    <a:pt x="1594535" y="1522133"/>
                  </a:lnTo>
                  <a:lnTo>
                    <a:pt x="1509204" y="844867"/>
                  </a:lnTo>
                  <a:lnTo>
                    <a:pt x="2166048" y="876719"/>
                  </a:lnTo>
                  <a:lnTo>
                    <a:pt x="2269642" y="1265872"/>
                  </a:lnTo>
                  <a:lnTo>
                    <a:pt x="2269642" y="1043914"/>
                  </a:lnTo>
                  <a:lnTo>
                    <a:pt x="2225916" y="879627"/>
                  </a:lnTo>
                  <a:lnTo>
                    <a:pt x="2827909" y="908812"/>
                  </a:lnTo>
                  <a:lnTo>
                    <a:pt x="2839123" y="907110"/>
                  </a:lnTo>
                  <a:lnTo>
                    <a:pt x="2848508" y="901420"/>
                  </a:lnTo>
                  <a:lnTo>
                    <a:pt x="2855087" y="892632"/>
                  </a:lnTo>
                  <a:lnTo>
                    <a:pt x="2857881" y="881634"/>
                  </a:lnTo>
                  <a:lnTo>
                    <a:pt x="2856166" y="870419"/>
                  </a:lnTo>
                  <a:lnTo>
                    <a:pt x="2850477" y="861034"/>
                  </a:lnTo>
                  <a:lnTo>
                    <a:pt x="2841688" y="854456"/>
                  </a:lnTo>
                  <a:lnTo>
                    <a:pt x="2830703" y="851662"/>
                  </a:lnTo>
                  <a:lnTo>
                    <a:pt x="2210473" y="821613"/>
                  </a:lnTo>
                  <a:lnTo>
                    <a:pt x="2031606" y="149580"/>
                  </a:lnTo>
                  <a:lnTo>
                    <a:pt x="2097405" y="215011"/>
                  </a:lnTo>
                  <a:lnTo>
                    <a:pt x="2106866" y="221284"/>
                  </a:lnTo>
                  <a:lnTo>
                    <a:pt x="2117636" y="223342"/>
                  </a:lnTo>
                  <a:lnTo>
                    <a:pt x="2128380" y="221195"/>
                  </a:lnTo>
                  <a:lnTo>
                    <a:pt x="2137791" y="214884"/>
                  </a:lnTo>
                  <a:lnTo>
                    <a:pt x="2144077" y="205435"/>
                  </a:lnTo>
                  <a:lnTo>
                    <a:pt x="2146173" y="194703"/>
                  </a:lnTo>
                  <a:lnTo>
                    <a:pt x="2144077" y="183959"/>
                  </a:lnTo>
                  <a:lnTo>
                    <a:pt x="2137791" y="174498"/>
                  </a:lnTo>
                  <a:lnTo>
                    <a:pt x="1988921" y="26504"/>
                  </a:lnTo>
                  <a:lnTo>
                    <a:pt x="1962277" y="0"/>
                  </a:lnTo>
                  <a:lnTo>
                    <a:pt x="1896745" y="238633"/>
                  </a:lnTo>
                  <a:lnTo>
                    <a:pt x="1895944" y="249974"/>
                  </a:lnTo>
                  <a:lnTo>
                    <a:pt x="1899424" y="260375"/>
                  </a:lnTo>
                  <a:lnTo>
                    <a:pt x="1906549" y="268693"/>
                  </a:lnTo>
                  <a:lnTo>
                    <a:pt x="1916684" y="273812"/>
                  </a:lnTo>
                  <a:lnTo>
                    <a:pt x="1928012" y="274599"/>
                  </a:lnTo>
                  <a:lnTo>
                    <a:pt x="1938413" y="271068"/>
                  </a:lnTo>
                  <a:lnTo>
                    <a:pt x="1946732" y="263906"/>
                  </a:lnTo>
                  <a:lnTo>
                    <a:pt x="1951863" y="253746"/>
                  </a:lnTo>
                  <a:lnTo>
                    <a:pt x="1976412" y="164363"/>
                  </a:lnTo>
                  <a:lnTo>
                    <a:pt x="2150605" y="818718"/>
                  </a:lnTo>
                  <a:lnTo>
                    <a:pt x="1501940" y="787285"/>
                  </a:lnTo>
                  <a:lnTo>
                    <a:pt x="1439418" y="290982"/>
                  </a:lnTo>
                  <a:lnTo>
                    <a:pt x="1495806" y="364617"/>
                  </a:lnTo>
                  <a:lnTo>
                    <a:pt x="1504378" y="372046"/>
                  </a:lnTo>
                  <a:lnTo>
                    <a:pt x="1514767" y="375526"/>
                  </a:lnTo>
                  <a:lnTo>
                    <a:pt x="1525714" y="374891"/>
                  </a:lnTo>
                  <a:lnTo>
                    <a:pt x="1535938" y="369951"/>
                  </a:lnTo>
                  <a:lnTo>
                    <a:pt x="1543354" y="361378"/>
                  </a:lnTo>
                  <a:lnTo>
                    <a:pt x="1546821" y="350989"/>
                  </a:lnTo>
                  <a:lnTo>
                    <a:pt x="1546148" y="340042"/>
                  </a:lnTo>
                  <a:lnTo>
                    <a:pt x="1541145" y="329819"/>
                  </a:lnTo>
                  <a:lnTo>
                    <a:pt x="1412151" y="161290"/>
                  </a:lnTo>
                  <a:lnTo>
                    <a:pt x="1390777" y="133350"/>
                  </a:lnTo>
                  <a:lnTo>
                    <a:pt x="1293749" y="361061"/>
                  </a:lnTo>
                  <a:lnTo>
                    <a:pt x="1291437" y="372148"/>
                  </a:lnTo>
                  <a:lnTo>
                    <a:pt x="1293533" y="382892"/>
                  </a:lnTo>
                  <a:lnTo>
                    <a:pt x="1299514" y="392087"/>
                  </a:lnTo>
                  <a:lnTo>
                    <a:pt x="1308862" y="398526"/>
                  </a:lnTo>
                  <a:lnTo>
                    <a:pt x="1319936" y="400837"/>
                  </a:lnTo>
                  <a:lnTo>
                    <a:pt x="1330680" y="398741"/>
                  </a:lnTo>
                  <a:lnTo>
                    <a:pt x="1339875" y="392760"/>
                  </a:lnTo>
                  <a:lnTo>
                    <a:pt x="1346327" y="383413"/>
                  </a:lnTo>
                  <a:lnTo>
                    <a:pt x="1382674" y="298157"/>
                  </a:lnTo>
                  <a:lnTo>
                    <a:pt x="1443977" y="784479"/>
                  </a:lnTo>
                  <a:lnTo>
                    <a:pt x="981329" y="762050"/>
                  </a:lnTo>
                  <a:lnTo>
                    <a:pt x="1065720" y="269595"/>
                  </a:lnTo>
                  <a:lnTo>
                    <a:pt x="1098296" y="356616"/>
                  </a:lnTo>
                  <a:lnTo>
                    <a:pt x="1104315" y="366217"/>
                  </a:lnTo>
                  <a:lnTo>
                    <a:pt x="1113231" y="372554"/>
                  </a:lnTo>
                  <a:lnTo>
                    <a:pt x="1123886" y="375094"/>
                  </a:lnTo>
                  <a:lnTo>
                    <a:pt x="1135126" y="373253"/>
                  </a:lnTo>
                  <a:lnTo>
                    <a:pt x="1144727" y="367296"/>
                  </a:lnTo>
                  <a:lnTo>
                    <a:pt x="1151077" y="358381"/>
                  </a:lnTo>
                  <a:lnTo>
                    <a:pt x="1153642" y="347738"/>
                  </a:lnTo>
                  <a:lnTo>
                    <a:pt x="1151890" y="336550"/>
                  </a:lnTo>
                  <a:lnTo>
                    <a:pt x="1075397" y="132461"/>
                  </a:lnTo>
                  <a:lnTo>
                    <a:pt x="1065022" y="104775"/>
                  </a:lnTo>
                  <a:lnTo>
                    <a:pt x="906018" y="294386"/>
                  </a:lnTo>
                  <a:lnTo>
                    <a:pt x="900582" y="304342"/>
                  </a:lnTo>
                  <a:lnTo>
                    <a:pt x="899452" y="315239"/>
                  </a:lnTo>
                  <a:lnTo>
                    <a:pt x="902487" y="325767"/>
                  </a:lnTo>
                  <a:lnTo>
                    <a:pt x="909574" y="334645"/>
                  </a:lnTo>
                  <a:lnTo>
                    <a:pt x="919518" y="340080"/>
                  </a:lnTo>
                  <a:lnTo>
                    <a:pt x="930414" y="341210"/>
                  </a:lnTo>
                  <a:lnTo>
                    <a:pt x="940943" y="338175"/>
                  </a:lnTo>
                  <a:lnTo>
                    <a:pt x="949833" y="331089"/>
                  </a:lnTo>
                  <a:lnTo>
                    <a:pt x="1009434" y="260032"/>
                  </a:lnTo>
                  <a:lnTo>
                    <a:pt x="923836" y="759269"/>
                  </a:lnTo>
                  <a:lnTo>
                    <a:pt x="163525" y="722414"/>
                  </a:lnTo>
                  <a:lnTo>
                    <a:pt x="173355" y="717296"/>
                  </a:lnTo>
                  <a:lnTo>
                    <a:pt x="245872" y="679577"/>
                  </a:lnTo>
                  <a:lnTo>
                    <a:pt x="254736" y="672477"/>
                  </a:lnTo>
                  <a:lnTo>
                    <a:pt x="259969" y="662863"/>
                  </a:lnTo>
                  <a:lnTo>
                    <a:pt x="261188" y="651992"/>
                  </a:lnTo>
                  <a:lnTo>
                    <a:pt x="258064" y="641096"/>
                  </a:lnTo>
                  <a:lnTo>
                    <a:pt x="250952" y="632218"/>
                  </a:lnTo>
                  <a:lnTo>
                    <a:pt x="241338" y="626960"/>
                  </a:lnTo>
                  <a:lnTo>
                    <a:pt x="230466" y="625729"/>
                  </a:lnTo>
                  <a:lnTo>
                    <a:pt x="219583" y="628904"/>
                  </a:lnTo>
                  <a:lnTo>
                    <a:pt x="0" y="743077"/>
                  </a:lnTo>
                  <a:lnTo>
                    <a:pt x="207518" y="877951"/>
                  </a:lnTo>
                  <a:lnTo>
                    <a:pt x="218046" y="882154"/>
                  </a:lnTo>
                  <a:lnTo>
                    <a:pt x="228968" y="881951"/>
                  </a:lnTo>
                  <a:lnTo>
                    <a:pt x="251015" y="848106"/>
                  </a:lnTo>
                  <a:lnTo>
                    <a:pt x="160769" y="779449"/>
                  </a:lnTo>
                  <a:lnTo>
                    <a:pt x="914107" y="816000"/>
                  </a:lnTo>
                  <a:lnTo>
                    <a:pt x="762508" y="1700276"/>
                  </a:lnTo>
                  <a:lnTo>
                    <a:pt x="762850" y="1711655"/>
                  </a:lnTo>
                  <a:lnTo>
                    <a:pt x="767372" y="1721662"/>
                  </a:lnTo>
                  <a:lnTo>
                    <a:pt x="775309" y="1729232"/>
                  </a:lnTo>
                  <a:lnTo>
                    <a:pt x="785876" y="1733321"/>
                  </a:lnTo>
                  <a:lnTo>
                    <a:pt x="797191" y="1732991"/>
                  </a:lnTo>
                  <a:lnTo>
                    <a:pt x="807186" y="1728495"/>
                  </a:lnTo>
                  <a:lnTo>
                    <a:pt x="814781" y="1720557"/>
                  </a:lnTo>
                  <a:lnTo>
                    <a:pt x="818896" y="1709928"/>
                  </a:lnTo>
                  <a:lnTo>
                    <a:pt x="971600" y="818781"/>
                  </a:lnTo>
                  <a:lnTo>
                    <a:pt x="1451229" y="842048"/>
                  </a:lnTo>
                  <a:lnTo>
                    <a:pt x="1539595" y="1542986"/>
                  </a:lnTo>
                  <a:lnTo>
                    <a:pt x="971042" y="1758797"/>
                  </a:lnTo>
                  <a:lnTo>
                    <a:pt x="961453" y="1764855"/>
                  </a:lnTo>
                  <a:lnTo>
                    <a:pt x="955167" y="1773796"/>
                  </a:lnTo>
                  <a:lnTo>
                    <a:pt x="952677" y="1784464"/>
                  </a:lnTo>
                  <a:lnTo>
                    <a:pt x="954532" y="1795653"/>
                  </a:lnTo>
                  <a:lnTo>
                    <a:pt x="960564" y="1805254"/>
                  </a:lnTo>
                  <a:lnTo>
                    <a:pt x="969518" y="1811578"/>
                  </a:lnTo>
                  <a:lnTo>
                    <a:pt x="980173" y="1814080"/>
                  </a:lnTo>
                  <a:lnTo>
                    <a:pt x="991362" y="1812226"/>
                  </a:lnTo>
                  <a:lnTo>
                    <a:pt x="1546948" y="1601304"/>
                  </a:lnTo>
                  <a:lnTo>
                    <a:pt x="1598676" y="2011629"/>
                  </a:lnTo>
                  <a:lnTo>
                    <a:pt x="1602257" y="2022386"/>
                  </a:lnTo>
                  <a:lnTo>
                    <a:pt x="1609471" y="2030628"/>
                  </a:lnTo>
                  <a:lnTo>
                    <a:pt x="1619250" y="2035568"/>
                  </a:lnTo>
                  <a:lnTo>
                    <a:pt x="1630553" y="2036406"/>
                  </a:lnTo>
                  <a:lnTo>
                    <a:pt x="1641297" y="2032800"/>
                  </a:lnTo>
                  <a:lnTo>
                    <a:pt x="1649552" y="2025586"/>
                  </a:lnTo>
                  <a:lnTo>
                    <a:pt x="1654492" y="2015807"/>
                  </a:lnTo>
                  <a:lnTo>
                    <a:pt x="1655318" y="2004479"/>
                  </a:lnTo>
                  <a:lnTo>
                    <a:pt x="1601889" y="1580451"/>
                  </a:lnTo>
                  <a:lnTo>
                    <a:pt x="2284412" y="1321333"/>
                  </a:lnTo>
                  <a:lnTo>
                    <a:pt x="2368677" y="1637855"/>
                  </a:lnTo>
                  <a:lnTo>
                    <a:pt x="1784096" y="2042718"/>
                  </a:lnTo>
                  <a:lnTo>
                    <a:pt x="1776222" y="2050910"/>
                  </a:lnTo>
                  <a:lnTo>
                    <a:pt x="1772234" y="2061121"/>
                  </a:lnTo>
                  <a:lnTo>
                    <a:pt x="1772361" y="2072068"/>
                  </a:lnTo>
                  <a:lnTo>
                    <a:pt x="1776857" y="2082482"/>
                  </a:lnTo>
                  <a:lnTo>
                    <a:pt x="1785048" y="2090356"/>
                  </a:lnTo>
                  <a:lnTo>
                    <a:pt x="1795246" y="2094331"/>
                  </a:lnTo>
                  <a:lnTo>
                    <a:pt x="1806194" y="2094204"/>
                  </a:lnTo>
                  <a:lnTo>
                    <a:pt x="1816608" y="2089708"/>
                  </a:lnTo>
                  <a:lnTo>
                    <a:pt x="2384298" y="1696542"/>
                  </a:lnTo>
                  <a:lnTo>
                    <a:pt x="2498598" y="2125840"/>
                  </a:lnTo>
                  <a:lnTo>
                    <a:pt x="2503614" y="2136013"/>
                  </a:lnTo>
                  <a:lnTo>
                    <a:pt x="2511869" y="2143214"/>
                  </a:lnTo>
                  <a:lnTo>
                    <a:pt x="2522207" y="2146795"/>
                  </a:lnTo>
                  <a:lnTo>
                    <a:pt x="2533523" y="2146096"/>
                  </a:lnTo>
                  <a:lnTo>
                    <a:pt x="2543670" y="2141080"/>
                  </a:lnTo>
                  <a:lnTo>
                    <a:pt x="2550858" y="2132825"/>
                  </a:lnTo>
                  <a:lnTo>
                    <a:pt x="2554414" y="2122462"/>
                  </a:lnTo>
                  <a:lnTo>
                    <a:pt x="2553716" y="2111133"/>
                  </a:lnTo>
                  <a:lnTo>
                    <a:pt x="2434171" y="1662010"/>
                  </a:lnTo>
                  <a:lnTo>
                    <a:pt x="2823349" y="1392478"/>
                  </a:lnTo>
                  <a:lnTo>
                    <a:pt x="2784094" y="1476502"/>
                  </a:lnTo>
                  <a:lnTo>
                    <a:pt x="2781465" y="1487500"/>
                  </a:lnTo>
                  <a:lnTo>
                    <a:pt x="2783205" y="1498307"/>
                  </a:lnTo>
                  <a:lnTo>
                    <a:pt x="2788843" y="1507705"/>
                  </a:lnTo>
                  <a:lnTo>
                    <a:pt x="2797937" y="1514475"/>
                  </a:lnTo>
                  <a:lnTo>
                    <a:pt x="2808986" y="1517116"/>
                  </a:lnTo>
                  <a:lnTo>
                    <a:pt x="2819819" y="1515414"/>
                  </a:lnTo>
                  <a:lnTo>
                    <a:pt x="2829204" y="1509788"/>
                  </a:lnTo>
                  <a:lnTo>
                    <a:pt x="2835910" y="1500632"/>
                  </a:lnTo>
                  <a:lnTo>
                    <a:pt x="2938703" y="1280579"/>
                  </a:lnTo>
                  <a:lnTo>
                    <a:pt x="2940685" y="1276350"/>
                  </a:lnTo>
                  <a:close/>
                </a:path>
                <a:path w="3185795" h="2178050">
                  <a:moveTo>
                    <a:pt x="3185668" y="1428750"/>
                  </a:moveTo>
                  <a:lnTo>
                    <a:pt x="2965450" y="1541526"/>
                  </a:lnTo>
                  <a:lnTo>
                    <a:pt x="2956534" y="1548612"/>
                  </a:lnTo>
                  <a:lnTo>
                    <a:pt x="2951226" y="1558201"/>
                  </a:lnTo>
                  <a:lnTo>
                    <a:pt x="2949905" y="1569072"/>
                  </a:lnTo>
                  <a:lnTo>
                    <a:pt x="2953004" y="1580007"/>
                  </a:lnTo>
                  <a:lnTo>
                    <a:pt x="2960078" y="1588846"/>
                  </a:lnTo>
                  <a:lnTo>
                    <a:pt x="2969666" y="1594142"/>
                  </a:lnTo>
                  <a:lnTo>
                    <a:pt x="2980537" y="1595475"/>
                  </a:lnTo>
                  <a:lnTo>
                    <a:pt x="2991485" y="1592453"/>
                  </a:lnTo>
                  <a:lnTo>
                    <a:pt x="3074073" y="1550123"/>
                  </a:lnTo>
                  <a:lnTo>
                    <a:pt x="2700274" y="2133892"/>
                  </a:lnTo>
                  <a:lnTo>
                    <a:pt x="2696095" y="2144484"/>
                  </a:lnTo>
                  <a:lnTo>
                    <a:pt x="2696349" y="2155431"/>
                  </a:lnTo>
                  <a:lnTo>
                    <a:pt x="2700718" y="2165477"/>
                  </a:lnTo>
                  <a:lnTo>
                    <a:pt x="2708910" y="2173363"/>
                  </a:lnTo>
                  <a:lnTo>
                    <a:pt x="2719425" y="2177478"/>
                  </a:lnTo>
                  <a:lnTo>
                    <a:pt x="2730347" y="2177224"/>
                  </a:lnTo>
                  <a:lnTo>
                    <a:pt x="2740393" y="2172868"/>
                  </a:lnTo>
                  <a:lnTo>
                    <a:pt x="2748280" y="2164715"/>
                  </a:lnTo>
                  <a:lnTo>
                    <a:pt x="3122218" y="1580832"/>
                  </a:lnTo>
                  <a:lnTo>
                    <a:pt x="3118358" y="1673606"/>
                  </a:lnTo>
                  <a:lnTo>
                    <a:pt x="3120136" y="1684870"/>
                  </a:lnTo>
                  <a:lnTo>
                    <a:pt x="3125863" y="1694205"/>
                  </a:lnTo>
                  <a:lnTo>
                    <a:pt x="3134652" y="1700707"/>
                  </a:lnTo>
                  <a:lnTo>
                    <a:pt x="3145663" y="1703451"/>
                  </a:lnTo>
                  <a:lnTo>
                    <a:pt x="3156851" y="1701647"/>
                  </a:lnTo>
                  <a:lnTo>
                    <a:pt x="3166186" y="1695881"/>
                  </a:lnTo>
                  <a:lnTo>
                    <a:pt x="3172676" y="1687042"/>
                  </a:lnTo>
                  <a:lnTo>
                    <a:pt x="3175381" y="1676019"/>
                  </a:lnTo>
                  <a:lnTo>
                    <a:pt x="3184842" y="1448384"/>
                  </a:lnTo>
                  <a:lnTo>
                    <a:pt x="3185668" y="14287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900" y="1257300"/>
              <a:ext cx="7696200" cy="52578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125216" y="2152586"/>
            <a:ext cx="530860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161290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latin typeface="Arial"/>
                <a:cs typeface="Arial"/>
              </a:rPr>
              <a:t>B  38</a:t>
            </a:r>
            <a:r>
              <a:rPr sz="2000" b="1" spc="35" dirty="0">
                <a:latin typeface="Arial"/>
                <a:cs typeface="Arial"/>
              </a:rPr>
              <a:t>.</a:t>
            </a:r>
            <a:r>
              <a:rPr sz="2000" b="1" spc="15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86626" y="2304986"/>
            <a:ext cx="530860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161925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latin typeface="Arial"/>
                <a:cs typeface="Arial"/>
              </a:rPr>
              <a:t>C  34</a:t>
            </a:r>
            <a:r>
              <a:rPr sz="2000" b="1" spc="35" dirty="0">
                <a:latin typeface="Arial"/>
                <a:cs typeface="Arial"/>
              </a:rPr>
              <a:t>.</a:t>
            </a:r>
            <a:r>
              <a:rPr sz="2000" b="1" spc="15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54676" y="4418329"/>
            <a:ext cx="387985" cy="640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30"/>
              </a:spcBef>
            </a:pPr>
            <a:r>
              <a:rPr sz="2000" b="1" spc="2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15" dirty="0">
                <a:latin typeface="Arial"/>
                <a:cs typeface="Arial"/>
              </a:rPr>
              <a:t>8</a:t>
            </a:r>
            <a:r>
              <a:rPr sz="2000" b="1" spc="35" dirty="0">
                <a:latin typeface="Arial"/>
                <a:cs typeface="Arial"/>
              </a:rPr>
              <a:t>.</a:t>
            </a:r>
            <a:r>
              <a:rPr sz="2000" b="1" spc="15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76744" y="4450651"/>
            <a:ext cx="387985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104775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latin typeface="Arial"/>
                <a:cs typeface="Arial"/>
              </a:rPr>
              <a:t>F  3</a:t>
            </a:r>
            <a:r>
              <a:rPr sz="2000" b="1" spc="35" dirty="0">
                <a:latin typeface="Arial"/>
                <a:cs typeface="Arial"/>
              </a:rPr>
              <a:t>.</a:t>
            </a:r>
            <a:r>
              <a:rPr sz="2000" b="1" spc="15" dirty="0">
                <a:latin typeface="Arial"/>
                <a:cs typeface="Arial"/>
              </a:rPr>
              <a:t>9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2963" y="4281487"/>
            <a:ext cx="38798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85725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latin typeface="Arial"/>
                <a:cs typeface="Arial"/>
              </a:rPr>
              <a:t>D  3</a:t>
            </a:r>
            <a:r>
              <a:rPr sz="2000" b="1" spc="35" dirty="0">
                <a:latin typeface="Arial"/>
                <a:cs typeface="Arial"/>
              </a:rPr>
              <a:t>.</a:t>
            </a:r>
            <a:r>
              <a:rPr sz="2000" b="1" spc="15" dirty="0">
                <a:latin typeface="Arial"/>
                <a:cs typeface="Arial"/>
              </a:rPr>
              <a:t>9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934402" y="2020506"/>
            <a:ext cx="387985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85725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latin typeface="Arial"/>
                <a:cs typeface="Arial"/>
              </a:rPr>
              <a:t>A  3</a:t>
            </a:r>
            <a:r>
              <a:rPr sz="2000" b="1" spc="35" dirty="0">
                <a:latin typeface="Arial"/>
                <a:cs typeface="Arial"/>
              </a:rPr>
              <a:t>.</a:t>
            </a:r>
            <a:r>
              <a:rPr sz="2000" b="1" spc="15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94991" y="5670232"/>
            <a:ext cx="3879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latin typeface="Arial"/>
                <a:cs typeface="Arial"/>
              </a:rPr>
              <a:t>1</a:t>
            </a:r>
            <a:r>
              <a:rPr sz="2000" b="1" spc="35" dirty="0">
                <a:latin typeface="Arial"/>
                <a:cs typeface="Arial"/>
              </a:rPr>
              <a:t>.</a:t>
            </a:r>
            <a:r>
              <a:rPr sz="2000" b="1" spc="15" dirty="0"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33826" y="5944870"/>
            <a:ext cx="3879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latin typeface="Arial"/>
                <a:cs typeface="Arial"/>
              </a:rPr>
              <a:t>1</a:t>
            </a:r>
            <a:r>
              <a:rPr sz="2000" b="1" spc="35" dirty="0">
                <a:latin typeface="Arial"/>
                <a:cs typeface="Arial"/>
              </a:rPr>
              <a:t>.</a:t>
            </a:r>
            <a:r>
              <a:rPr sz="2000" b="1" spc="15" dirty="0"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33875" y="6035992"/>
            <a:ext cx="38798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15" dirty="0">
                <a:latin typeface="Arial"/>
                <a:cs typeface="Arial"/>
              </a:rPr>
              <a:t>1</a:t>
            </a:r>
            <a:r>
              <a:rPr sz="2000" b="1" spc="35" dirty="0">
                <a:latin typeface="Arial"/>
                <a:cs typeface="Arial"/>
              </a:rPr>
              <a:t>.</a:t>
            </a:r>
            <a:r>
              <a:rPr sz="2000" b="1" spc="15" dirty="0"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69760" y="5987097"/>
            <a:ext cx="3879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latin typeface="Arial"/>
                <a:cs typeface="Arial"/>
              </a:rPr>
              <a:t>1</a:t>
            </a:r>
            <a:r>
              <a:rPr sz="2000" b="1" spc="35" dirty="0">
                <a:latin typeface="Arial"/>
                <a:cs typeface="Arial"/>
              </a:rPr>
              <a:t>.</a:t>
            </a:r>
            <a:r>
              <a:rPr sz="2000" b="1" spc="15" dirty="0"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90231" y="5899150"/>
            <a:ext cx="3879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latin typeface="Arial"/>
                <a:cs typeface="Arial"/>
              </a:rPr>
              <a:t>1</a:t>
            </a:r>
            <a:r>
              <a:rPr sz="2000" b="1" spc="35" dirty="0">
                <a:latin typeface="Arial"/>
                <a:cs typeface="Arial"/>
              </a:rPr>
              <a:t>.</a:t>
            </a:r>
            <a:r>
              <a:rPr sz="2000" b="1" spc="15" dirty="0"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333311"/>
            <a:ext cx="7320026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6133465" cy="1003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835"/>
              </a:lnSpc>
              <a:spcBef>
                <a:spcPts val="125"/>
              </a:spcBef>
            </a:pPr>
            <a:r>
              <a:rPr spc="-5" dirty="0"/>
              <a:t>Each </a:t>
            </a:r>
            <a:r>
              <a:rPr spc="-15" dirty="0"/>
              <a:t>link’s </a:t>
            </a:r>
            <a:r>
              <a:rPr spc="-5" dirty="0"/>
              <a:t>vote </a:t>
            </a:r>
            <a:r>
              <a:rPr spc="5" dirty="0"/>
              <a:t>is </a:t>
            </a:r>
            <a:r>
              <a:rPr spc="15" dirty="0"/>
              <a:t>proportional</a:t>
            </a:r>
            <a:r>
              <a:rPr spc="-550" dirty="0"/>
              <a:t> </a:t>
            </a:r>
            <a:r>
              <a:rPr spc="-10" dirty="0"/>
              <a:t>to </a:t>
            </a:r>
            <a:r>
              <a:rPr spc="5" dirty="0"/>
              <a:t>the</a:t>
            </a:r>
          </a:p>
          <a:p>
            <a:pPr marL="12700">
              <a:lnSpc>
                <a:spcPts val="3835"/>
              </a:lnSpc>
            </a:pPr>
            <a:r>
              <a:rPr b="1" spc="5" dirty="0">
                <a:solidFill>
                  <a:srgbClr val="008000"/>
                </a:solidFill>
                <a:latin typeface="Calibri"/>
                <a:cs typeface="Calibri"/>
              </a:rPr>
              <a:t>importance </a:t>
            </a:r>
            <a:r>
              <a:rPr spc="20" dirty="0"/>
              <a:t>of </a:t>
            </a:r>
            <a:r>
              <a:rPr dirty="0"/>
              <a:t>its source</a:t>
            </a:r>
            <a:r>
              <a:rPr spc="-310" dirty="0"/>
              <a:t> </a:t>
            </a:r>
            <a:r>
              <a:rPr spc="15" dirty="0"/>
              <a:t>page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771520"/>
            <a:ext cx="323850" cy="4006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078604"/>
            <a:ext cx="323850" cy="4006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13130" y="2654045"/>
            <a:ext cx="7138034" cy="182498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 marR="30480">
              <a:lnSpc>
                <a:spcPts val="3829"/>
              </a:lnSpc>
              <a:spcBef>
                <a:spcPts val="265"/>
              </a:spcBef>
            </a:pPr>
            <a:r>
              <a:rPr sz="3200" spc="10" dirty="0">
                <a:latin typeface="Calibri"/>
                <a:cs typeface="Calibri"/>
              </a:rPr>
              <a:t>If </a:t>
            </a:r>
            <a:r>
              <a:rPr sz="3200" spc="20" dirty="0">
                <a:latin typeface="Calibri"/>
                <a:cs typeface="Calibri"/>
              </a:rPr>
              <a:t>page </a:t>
            </a:r>
            <a:r>
              <a:rPr sz="3200" b="1" i="1" spc="5" dirty="0">
                <a:solidFill>
                  <a:srgbClr val="FF0000"/>
                </a:solidFill>
                <a:latin typeface="Calibri"/>
                <a:cs typeface="Calibri"/>
              </a:rPr>
              <a:t>j </a:t>
            </a:r>
            <a:r>
              <a:rPr sz="3200" spc="5" dirty="0">
                <a:latin typeface="Calibri"/>
                <a:cs typeface="Calibri"/>
              </a:rPr>
              <a:t>with importance </a:t>
            </a:r>
            <a:r>
              <a:rPr sz="3200" b="1" i="1" spc="-5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3150" b="1" i="1" spc="-7" baseline="-19841" dirty="0">
                <a:solidFill>
                  <a:srgbClr val="0000FF"/>
                </a:solidFill>
                <a:latin typeface="Calibri"/>
                <a:cs typeface="Calibri"/>
              </a:rPr>
              <a:t>j </a:t>
            </a:r>
            <a:r>
              <a:rPr sz="3200" spc="25" dirty="0">
                <a:latin typeface="Calibri"/>
                <a:cs typeface="Calibri"/>
              </a:rPr>
              <a:t>has </a:t>
            </a:r>
            <a:r>
              <a:rPr sz="3200" b="1" i="1" spc="1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3200" b="1" i="1" spc="-1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out-links,  </a:t>
            </a:r>
            <a:r>
              <a:rPr sz="3200" spc="5" dirty="0">
                <a:latin typeface="Calibri"/>
                <a:cs typeface="Calibri"/>
              </a:rPr>
              <a:t>each </a:t>
            </a:r>
            <a:r>
              <a:rPr sz="3200" spc="15" dirty="0">
                <a:latin typeface="Calibri"/>
                <a:cs typeface="Calibri"/>
              </a:rPr>
              <a:t>link </a:t>
            </a:r>
            <a:r>
              <a:rPr sz="3200" spc="-10" dirty="0">
                <a:latin typeface="Calibri"/>
                <a:cs typeface="Calibri"/>
              </a:rPr>
              <a:t>gets </a:t>
            </a:r>
            <a:r>
              <a:rPr sz="3200" b="1" i="1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3150" b="1" i="1" baseline="-19841" dirty="0">
                <a:solidFill>
                  <a:srgbClr val="0000FF"/>
                </a:solidFill>
                <a:latin typeface="Calibri"/>
                <a:cs typeface="Calibri"/>
              </a:rPr>
              <a:t>j </a:t>
            </a:r>
            <a:r>
              <a:rPr sz="3200" b="1" i="1" spc="10" dirty="0">
                <a:solidFill>
                  <a:srgbClr val="0000FF"/>
                </a:solidFill>
                <a:latin typeface="Calibri"/>
                <a:cs typeface="Calibri"/>
              </a:rPr>
              <a:t>/ </a:t>
            </a:r>
            <a:r>
              <a:rPr sz="3200" b="1" i="1" spc="1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3200" b="1" i="1" spc="-1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votes</a:t>
            </a:r>
            <a:endParaRPr sz="32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495"/>
              </a:spcBef>
            </a:pPr>
            <a:r>
              <a:rPr sz="3200" spc="-10" dirty="0">
                <a:latin typeface="Calibri"/>
                <a:cs typeface="Calibri"/>
              </a:rPr>
              <a:t>Page </a:t>
            </a:r>
            <a:r>
              <a:rPr sz="3200" b="1" i="1" spc="-65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3200" spc="-65" dirty="0">
                <a:latin typeface="Calibri"/>
                <a:cs typeface="Calibri"/>
              </a:rPr>
              <a:t>’s </a:t>
            </a:r>
            <a:r>
              <a:rPr sz="3200" spc="25" dirty="0">
                <a:latin typeface="Calibri"/>
                <a:cs typeface="Calibri"/>
              </a:rPr>
              <a:t>own </a:t>
            </a:r>
            <a:r>
              <a:rPr sz="3200" spc="5" dirty="0">
                <a:latin typeface="Calibri"/>
                <a:cs typeface="Calibri"/>
              </a:rPr>
              <a:t>importance is </a:t>
            </a:r>
            <a:r>
              <a:rPr sz="3200" spc="10" dirty="0">
                <a:latin typeface="Calibri"/>
                <a:cs typeface="Calibri"/>
              </a:rPr>
              <a:t>the </a:t>
            </a:r>
            <a:r>
              <a:rPr sz="3200" spc="25" dirty="0">
                <a:latin typeface="Calibri"/>
                <a:cs typeface="Calibri"/>
              </a:rPr>
              <a:t>sum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46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8530" y="4447285"/>
            <a:ext cx="320675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5" dirty="0">
                <a:latin typeface="Calibri"/>
                <a:cs typeface="Calibri"/>
              </a:rPr>
              <a:t>votes </a:t>
            </a:r>
            <a:r>
              <a:rPr sz="3200" spc="25" dirty="0">
                <a:latin typeface="Calibri"/>
                <a:cs typeface="Calibri"/>
              </a:rPr>
              <a:t>on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18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in-links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19675" y="4457636"/>
            <a:ext cx="1833880" cy="2014855"/>
            <a:chOff x="5019675" y="4457636"/>
            <a:chExt cx="1833880" cy="201485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9267" y="5600577"/>
              <a:ext cx="453571" cy="60569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43575" y="5608294"/>
              <a:ext cx="397510" cy="549910"/>
            </a:xfrm>
            <a:custGeom>
              <a:avLst/>
              <a:gdLst/>
              <a:ahLst/>
              <a:cxnLst/>
              <a:rect l="l" t="t" r="r" b="b"/>
              <a:pathLst>
                <a:path w="397510" h="549910">
                  <a:moveTo>
                    <a:pt x="14859" y="454952"/>
                  </a:moveTo>
                  <a:lnTo>
                    <a:pt x="0" y="549617"/>
                  </a:lnTo>
                  <a:lnTo>
                    <a:pt x="79072" y="507695"/>
                  </a:lnTo>
                  <a:lnTo>
                    <a:pt x="39624" y="507695"/>
                  </a:lnTo>
                  <a:lnTo>
                    <a:pt x="33147" y="503110"/>
                  </a:lnTo>
                  <a:lnTo>
                    <a:pt x="26797" y="498525"/>
                  </a:lnTo>
                  <a:lnTo>
                    <a:pt x="25273" y="489597"/>
                  </a:lnTo>
                  <a:lnTo>
                    <a:pt x="38137" y="471586"/>
                  </a:lnTo>
                  <a:lnTo>
                    <a:pt x="14859" y="454952"/>
                  </a:lnTo>
                  <a:close/>
                </a:path>
                <a:path w="397510" h="549910">
                  <a:moveTo>
                    <a:pt x="38137" y="471586"/>
                  </a:moveTo>
                  <a:lnTo>
                    <a:pt x="25273" y="489597"/>
                  </a:lnTo>
                  <a:lnTo>
                    <a:pt x="26797" y="498525"/>
                  </a:lnTo>
                  <a:lnTo>
                    <a:pt x="33147" y="503110"/>
                  </a:lnTo>
                  <a:lnTo>
                    <a:pt x="39624" y="507695"/>
                  </a:lnTo>
                  <a:lnTo>
                    <a:pt x="48513" y="506209"/>
                  </a:lnTo>
                  <a:lnTo>
                    <a:pt x="61380" y="488195"/>
                  </a:lnTo>
                  <a:lnTo>
                    <a:pt x="38137" y="471586"/>
                  </a:lnTo>
                  <a:close/>
                </a:path>
                <a:path w="397510" h="549910">
                  <a:moveTo>
                    <a:pt x="61380" y="488195"/>
                  </a:moveTo>
                  <a:lnTo>
                    <a:pt x="48513" y="506209"/>
                  </a:lnTo>
                  <a:lnTo>
                    <a:pt x="39624" y="507695"/>
                  </a:lnTo>
                  <a:lnTo>
                    <a:pt x="79072" y="507695"/>
                  </a:lnTo>
                  <a:lnTo>
                    <a:pt x="84582" y="504774"/>
                  </a:lnTo>
                  <a:lnTo>
                    <a:pt x="61380" y="488195"/>
                  </a:lnTo>
                  <a:close/>
                </a:path>
                <a:path w="397510" h="549910">
                  <a:moveTo>
                    <a:pt x="382777" y="0"/>
                  </a:moveTo>
                  <a:lnTo>
                    <a:pt x="373888" y="1485"/>
                  </a:lnTo>
                  <a:lnTo>
                    <a:pt x="38137" y="471586"/>
                  </a:lnTo>
                  <a:lnTo>
                    <a:pt x="61380" y="488195"/>
                  </a:lnTo>
                  <a:lnTo>
                    <a:pt x="397128" y="18097"/>
                  </a:lnTo>
                  <a:lnTo>
                    <a:pt x="395604" y="9182"/>
                  </a:lnTo>
                  <a:lnTo>
                    <a:pt x="389254" y="4584"/>
                  </a:lnTo>
                  <a:lnTo>
                    <a:pt x="3827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0225" y="5591174"/>
              <a:ext cx="842962" cy="50006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665343" y="5617756"/>
              <a:ext cx="645160" cy="314325"/>
            </a:xfrm>
            <a:custGeom>
              <a:avLst/>
              <a:gdLst/>
              <a:ahLst/>
              <a:cxnLst/>
              <a:rect l="l" t="t" r="r" b="b"/>
              <a:pathLst>
                <a:path w="645160" h="314325">
                  <a:moveTo>
                    <a:pt x="561304" y="288030"/>
                  </a:moveTo>
                  <a:lnTo>
                    <a:pt x="549148" y="313905"/>
                  </a:lnTo>
                  <a:lnTo>
                    <a:pt x="644906" y="311556"/>
                  </a:lnTo>
                  <a:lnTo>
                    <a:pt x="633803" y="297472"/>
                  </a:lnTo>
                  <a:lnTo>
                    <a:pt x="581406" y="297472"/>
                  </a:lnTo>
                  <a:lnTo>
                    <a:pt x="561304" y="288030"/>
                  </a:lnTo>
                  <a:close/>
                </a:path>
                <a:path w="645160" h="314325">
                  <a:moveTo>
                    <a:pt x="573446" y="262184"/>
                  </a:moveTo>
                  <a:lnTo>
                    <a:pt x="561304" y="288030"/>
                  </a:lnTo>
                  <a:lnTo>
                    <a:pt x="581406" y="297472"/>
                  </a:lnTo>
                  <a:lnTo>
                    <a:pt x="589915" y="294398"/>
                  </a:lnTo>
                  <a:lnTo>
                    <a:pt x="593217" y="287261"/>
                  </a:lnTo>
                  <a:lnTo>
                    <a:pt x="596646" y="280123"/>
                  </a:lnTo>
                  <a:lnTo>
                    <a:pt x="593471" y="271614"/>
                  </a:lnTo>
                  <a:lnTo>
                    <a:pt x="573446" y="262184"/>
                  </a:lnTo>
                  <a:close/>
                </a:path>
                <a:path w="645160" h="314325">
                  <a:moveTo>
                    <a:pt x="585597" y="236321"/>
                  </a:moveTo>
                  <a:lnTo>
                    <a:pt x="573446" y="262184"/>
                  </a:lnTo>
                  <a:lnTo>
                    <a:pt x="593471" y="271614"/>
                  </a:lnTo>
                  <a:lnTo>
                    <a:pt x="596646" y="280123"/>
                  </a:lnTo>
                  <a:lnTo>
                    <a:pt x="593217" y="287261"/>
                  </a:lnTo>
                  <a:lnTo>
                    <a:pt x="589915" y="294398"/>
                  </a:lnTo>
                  <a:lnTo>
                    <a:pt x="581406" y="297472"/>
                  </a:lnTo>
                  <a:lnTo>
                    <a:pt x="633803" y="297472"/>
                  </a:lnTo>
                  <a:lnTo>
                    <a:pt x="585597" y="236321"/>
                  </a:lnTo>
                  <a:close/>
                </a:path>
                <a:path w="645160" h="314325">
                  <a:moveTo>
                    <a:pt x="15240" y="0"/>
                  </a:moveTo>
                  <a:lnTo>
                    <a:pt x="6731" y="3060"/>
                  </a:lnTo>
                  <a:lnTo>
                    <a:pt x="3429" y="10210"/>
                  </a:lnTo>
                  <a:lnTo>
                    <a:pt x="0" y="17348"/>
                  </a:lnTo>
                  <a:lnTo>
                    <a:pt x="3048" y="25857"/>
                  </a:lnTo>
                  <a:lnTo>
                    <a:pt x="561304" y="288030"/>
                  </a:lnTo>
                  <a:lnTo>
                    <a:pt x="573446" y="262184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19750" y="5591174"/>
              <a:ext cx="452437" cy="88106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675122" y="5617946"/>
              <a:ext cx="266700" cy="692785"/>
            </a:xfrm>
            <a:custGeom>
              <a:avLst/>
              <a:gdLst/>
              <a:ahLst/>
              <a:cxnLst/>
              <a:rect l="l" t="t" r="r" b="b"/>
              <a:pathLst>
                <a:path w="266700" h="692785">
                  <a:moveTo>
                    <a:pt x="212290" y="616239"/>
                  </a:moveTo>
                  <a:lnTo>
                    <a:pt x="185292" y="625741"/>
                  </a:lnTo>
                  <a:lnTo>
                    <a:pt x="254253" y="692365"/>
                  </a:lnTo>
                  <a:lnTo>
                    <a:pt x="260691" y="641083"/>
                  </a:lnTo>
                  <a:lnTo>
                    <a:pt x="227711" y="641083"/>
                  </a:lnTo>
                  <a:lnTo>
                    <a:pt x="219582" y="637171"/>
                  </a:lnTo>
                  <a:lnTo>
                    <a:pt x="217042" y="629729"/>
                  </a:lnTo>
                  <a:lnTo>
                    <a:pt x="212290" y="616239"/>
                  </a:lnTo>
                  <a:close/>
                </a:path>
                <a:path w="266700" h="692785">
                  <a:moveTo>
                    <a:pt x="239220" y="606761"/>
                  </a:moveTo>
                  <a:lnTo>
                    <a:pt x="212290" y="616239"/>
                  </a:lnTo>
                  <a:lnTo>
                    <a:pt x="217042" y="629729"/>
                  </a:lnTo>
                  <a:lnTo>
                    <a:pt x="219582" y="637171"/>
                  </a:lnTo>
                  <a:lnTo>
                    <a:pt x="227711" y="641083"/>
                  </a:lnTo>
                  <a:lnTo>
                    <a:pt x="242697" y="635838"/>
                  </a:lnTo>
                  <a:lnTo>
                    <a:pt x="246506" y="627684"/>
                  </a:lnTo>
                  <a:lnTo>
                    <a:pt x="243966" y="620242"/>
                  </a:lnTo>
                  <a:lnTo>
                    <a:pt x="239220" y="606761"/>
                  </a:lnTo>
                  <a:close/>
                </a:path>
                <a:path w="266700" h="692785">
                  <a:moveTo>
                    <a:pt x="266191" y="597268"/>
                  </a:moveTo>
                  <a:lnTo>
                    <a:pt x="239220" y="606761"/>
                  </a:lnTo>
                  <a:lnTo>
                    <a:pt x="243966" y="620242"/>
                  </a:lnTo>
                  <a:lnTo>
                    <a:pt x="246506" y="627684"/>
                  </a:lnTo>
                  <a:lnTo>
                    <a:pt x="242697" y="635838"/>
                  </a:lnTo>
                  <a:lnTo>
                    <a:pt x="227711" y="641083"/>
                  </a:lnTo>
                  <a:lnTo>
                    <a:pt x="260691" y="641083"/>
                  </a:lnTo>
                  <a:lnTo>
                    <a:pt x="266191" y="597268"/>
                  </a:lnTo>
                  <a:close/>
                </a:path>
                <a:path w="266700" h="692785">
                  <a:moveTo>
                    <a:pt x="18795" y="0"/>
                  </a:moveTo>
                  <a:lnTo>
                    <a:pt x="3937" y="5232"/>
                  </a:lnTo>
                  <a:lnTo>
                    <a:pt x="0" y="13398"/>
                  </a:lnTo>
                  <a:lnTo>
                    <a:pt x="2539" y="20840"/>
                  </a:lnTo>
                  <a:lnTo>
                    <a:pt x="212290" y="616239"/>
                  </a:lnTo>
                  <a:lnTo>
                    <a:pt x="239220" y="606761"/>
                  </a:lnTo>
                  <a:lnTo>
                    <a:pt x="29590" y="11341"/>
                  </a:lnTo>
                  <a:lnTo>
                    <a:pt x="26924" y="3898"/>
                  </a:lnTo>
                  <a:lnTo>
                    <a:pt x="187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76875" y="5476874"/>
              <a:ext cx="366712" cy="3571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35676" y="5507100"/>
              <a:ext cx="254000" cy="2539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00675" y="5010149"/>
              <a:ext cx="357187" cy="66198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56173" y="5037073"/>
              <a:ext cx="174625" cy="473709"/>
            </a:xfrm>
            <a:custGeom>
              <a:avLst/>
              <a:gdLst/>
              <a:ahLst/>
              <a:cxnLst/>
              <a:rect l="l" t="t" r="r" b="b"/>
              <a:pathLst>
                <a:path w="174625" h="473710">
                  <a:moveTo>
                    <a:pt x="119580" y="395608"/>
                  </a:moveTo>
                  <a:lnTo>
                    <a:pt x="92328" y="404113"/>
                  </a:lnTo>
                  <a:lnTo>
                    <a:pt x="158876" y="473201"/>
                  </a:lnTo>
                  <a:lnTo>
                    <a:pt x="167284" y="421004"/>
                  </a:lnTo>
                  <a:lnTo>
                    <a:pt x="134238" y="421004"/>
                  </a:lnTo>
                  <a:lnTo>
                    <a:pt x="126237" y="416687"/>
                  </a:lnTo>
                  <a:lnTo>
                    <a:pt x="123825" y="409194"/>
                  </a:lnTo>
                  <a:lnTo>
                    <a:pt x="119580" y="395608"/>
                  </a:lnTo>
                  <a:close/>
                </a:path>
                <a:path w="174625" h="473710">
                  <a:moveTo>
                    <a:pt x="146881" y="387087"/>
                  </a:moveTo>
                  <a:lnTo>
                    <a:pt x="119580" y="395608"/>
                  </a:lnTo>
                  <a:lnTo>
                    <a:pt x="123825" y="409194"/>
                  </a:lnTo>
                  <a:lnTo>
                    <a:pt x="126237" y="416687"/>
                  </a:lnTo>
                  <a:lnTo>
                    <a:pt x="134238" y="421004"/>
                  </a:lnTo>
                  <a:lnTo>
                    <a:pt x="149351" y="416178"/>
                  </a:lnTo>
                  <a:lnTo>
                    <a:pt x="153542" y="408178"/>
                  </a:lnTo>
                  <a:lnTo>
                    <a:pt x="151129" y="400684"/>
                  </a:lnTo>
                  <a:lnTo>
                    <a:pt x="146881" y="387087"/>
                  </a:lnTo>
                  <a:close/>
                </a:path>
                <a:path w="174625" h="473710">
                  <a:moveTo>
                    <a:pt x="174116" y="378587"/>
                  </a:moveTo>
                  <a:lnTo>
                    <a:pt x="146881" y="387087"/>
                  </a:lnTo>
                  <a:lnTo>
                    <a:pt x="151129" y="400684"/>
                  </a:lnTo>
                  <a:lnTo>
                    <a:pt x="153542" y="408178"/>
                  </a:lnTo>
                  <a:lnTo>
                    <a:pt x="149351" y="416178"/>
                  </a:lnTo>
                  <a:lnTo>
                    <a:pt x="134238" y="421004"/>
                  </a:lnTo>
                  <a:lnTo>
                    <a:pt x="167284" y="421004"/>
                  </a:lnTo>
                  <a:lnTo>
                    <a:pt x="174116" y="378587"/>
                  </a:lnTo>
                  <a:close/>
                </a:path>
                <a:path w="174625" h="473710">
                  <a:moveTo>
                    <a:pt x="19176" y="0"/>
                  </a:moveTo>
                  <a:lnTo>
                    <a:pt x="11684" y="2286"/>
                  </a:lnTo>
                  <a:lnTo>
                    <a:pt x="4190" y="4699"/>
                  </a:lnTo>
                  <a:lnTo>
                    <a:pt x="0" y="12700"/>
                  </a:lnTo>
                  <a:lnTo>
                    <a:pt x="2286" y="20193"/>
                  </a:lnTo>
                  <a:lnTo>
                    <a:pt x="119580" y="395608"/>
                  </a:lnTo>
                  <a:lnTo>
                    <a:pt x="146881" y="387087"/>
                  </a:lnTo>
                  <a:lnTo>
                    <a:pt x="29590" y="11683"/>
                  </a:lnTo>
                  <a:lnTo>
                    <a:pt x="27177" y="4190"/>
                  </a:lnTo>
                  <a:lnTo>
                    <a:pt x="19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00700" y="4991099"/>
              <a:ext cx="595312" cy="71913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748273" y="5017769"/>
              <a:ext cx="397510" cy="530860"/>
            </a:xfrm>
            <a:custGeom>
              <a:avLst/>
              <a:gdLst/>
              <a:ahLst/>
              <a:cxnLst/>
              <a:rect l="l" t="t" r="r" b="b"/>
              <a:pathLst>
                <a:path w="397510" h="530860">
                  <a:moveTo>
                    <a:pt x="16637" y="436117"/>
                  </a:moveTo>
                  <a:lnTo>
                    <a:pt x="0" y="530605"/>
                  </a:lnTo>
                  <a:lnTo>
                    <a:pt x="81222" y="489330"/>
                  </a:lnTo>
                  <a:lnTo>
                    <a:pt x="40386" y="489330"/>
                  </a:lnTo>
                  <a:lnTo>
                    <a:pt x="27686" y="479932"/>
                  </a:lnTo>
                  <a:lnTo>
                    <a:pt x="26415" y="470915"/>
                  </a:lnTo>
                  <a:lnTo>
                    <a:pt x="31114" y="464692"/>
                  </a:lnTo>
                  <a:lnTo>
                    <a:pt x="39641" y="453180"/>
                  </a:lnTo>
                  <a:lnTo>
                    <a:pt x="16637" y="436117"/>
                  </a:lnTo>
                  <a:close/>
                </a:path>
                <a:path w="397510" h="530860">
                  <a:moveTo>
                    <a:pt x="39641" y="453180"/>
                  </a:moveTo>
                  <a:lnTo>
                    <a:pt x="31114" y="464692"/>
                  </a:lnTo>
                  <a:lnTo>
                    <a:pt x="26415" y="470915"/>
                  </a:lnTo>
                  <a:lnTo>
                    <a:pt x="27686" y="479932"/>
                  </a:lnTo>
                  <a:lnTo>
                    <a:pt x="40386" y="489330"/>
                  </a:lnTo>
                  <a:lnTo>
                    <a:pt x="49402" y="487933"/>
                  </a:lnTo>
                  <a:lnTo>
                    <a:pt x="62555" y="470175"/>
                  </a:lnTo>
                  <a:lnTo>
                    <a:pt x="39641" y="453180"/>
                  </a:lnTo>
                  <a:close/>
                </a:path>
                <a:path w="397510" h="530860">
                  <a:moveTo>
                    <a:pt x="62555" y="470175"/>
                  </a:moveTo>
                  <a:lnTo>
                    <a:pt x="49402" y="487933"/>
                  </a:lnTo>
                  <a:lnTo>
                    <a:pt x="40386" y="489330"/>
                  </a:lnTo>
                  <a:lnTo>
                    <a:pt x="81222" y="489330"/>
                  </a:lnTo>
                  <a:lnTo>
                    <a:pt x="85471" y="487171"/>
                  </a:lnTo>
                  <a:lnTo>
                    <a:pt x="62555" y="470175"/>
                  </a:lnTo>
                  <a:close/>
                </a:path>
                <a:path w="397510" h="530860">
                  <a:moveTo>
                    <a:pt x="383286" y="0"/>
                  </a:moveTo>
                  <a:lnTo>
                    <a:pt x="374268" y="1396"/>
                  </a:lnTo>
                  <a:lnTo>
                    <a:pt x="39641" y="453180"/>
                  </a:lnTo>
                  <a:lnTo>
                    <a:pt x="62555" y="470175"/>
                  </a:lnTo>
                  <a:lnTo>
                    <a:pt x="392556" y="24637"/>
                  </a:lnTo>
                  <a:lnTo>
                    <a:pt x="397255" y="18414"/>
                  </a:lnTo>
                  <a:lnTo>
                    <a:pt x="395859" y="9397"/>
                  </a:lnTo>
                  <a:lnTo>
                    <a:pt x="389509" y="4698"/>
                  </a:lnTo>
                  <a:lnTo>
                    <a:pt x="3832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4100" y="4886388"/>
              <a:ext cx="719137" cy="56673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189344" y="4912994"/>
              <a:ext cx="521334" cy="378460"/>
            </a:xfrm>
            <a:custGeom>
              <a:avLst/>
              <a:gdLst/>
              <a:ahLst/>
              <a:cxnLst/>
              <a:rect l="l" t="t" r="r" b="b"/>
              <a:pathLst>
                <a:path w="521334" h="378460">
                  <a:moveTo>
                    <a:pt x="443021" y="339763"/>
                  </a:moveTo>
                  <a:lnTo>
                    <a:pt x="426338" y="362965"/>
                  </a:lnTo>
                  <a:lnTo>
                    <a:pt x="520953" y="378205"/>
                  </a:lnTo>
                  <a:lnTo>
                    <a:pt x="507540" y="352678"/>
                  </a:lnTo>
                  <a:lnTo>
                    <a:pt x="461009" y="352678"/>
                  </a:lnTo>
                  <a:lnTo>
                    <a:pt x="443021" y="339763"/>
                  </a:lnTo>
                  <a:close/>
                </a:path>
                <a:path w="521334" h="378460">
                  <a:moveTo>
                    <a:pt x="459706" y="316556"/>
                  </a:moveTo>
                  <a:lnTo>
                    <a:pt x="443021" y="339763"/>
                  </a:lnTo>
                  <a:lnTo>
                    <a:pt x="461009" y="352678"/>
                  </a:lnTo>
                  <a:lnTo>
                    <a:pt x="470026" y="351281"/>
                  </a:lnTo>
                  <a:lnTo>
                    <a:pt x="474599" y="344804"/>
                  </a:lnTo>
                  <a:lnTo>
                    <a:pt x="479171" y="338454"/>
                  </a:lnTo>
                  <a:lnTo>
                    <a:pt x="477647" y="329564"/>
                  </a:lnTo>
                  <a:lnTo>
                    <a:pt x="471297" y="324865"/>
                  </a:lnTo>
                  <a:lnTo>
                    <a:pt x="459706" y="316556"/>
                  </a:lnTo>
                  <a:close/>
                </a:path>
                <a:path w="521334" h="378460">
                  <a:moveTo>
                    <a:pt x="476376" y="293369"/>
                  </a:moveTo>
                  <a:lnTo>
                    <a:pt x="459706" y="316556"/>
                  </a:lnTo>
                  <a:lnTo>
                    <a:pt x="471297" y="324865"/>
                  </a:lnTo>
                  <a:lnTo>
                    <a:pt x="477647" y="329564"/>
                  </a:lnTo>
                  <a:lnTo>
                    <a:pt x="479171" y="338454"/>
                  </a:lnTo>
                  <a:lnTo>
                    <a:pt x="474599" y="344804"/>
                  </a:lnTo>
                  <a:lnTo>
                    <a:pt x="470026" y="351281"/>
                  </a:lnTo>
                  <a:lnTo>
                    <a:pt x="461009" y="352678"/>
                  </a:lnTo>
                  <a:lnTo>
                    <a:pt x="507540" y="352678"/>
                  </a:lnTo>
                  <a:lnTo>
                    <a:pt x="476376" y="293369"/>
                  </a:lnTo>
                  <a:close/>
                </a:path>
                <a:path w="521334" h="378460">
                  <a:moveTo>
                    <a:pt x="18160" y="0"/>
                  </a:moveTo>
                  <a:lnTo>
                    <a:pt x="9143" y="1396"/>
                  </a:lnTo>
                  <a:lnTo>
                    <a:pt x="4571" y="7873"/>
                  </a:lnTo>
                  <a:lnTo>
                    <a:pt x="0" y="14223"/>
                  </a:lnTo>
                  <a:lnTo>
                    <a:pt x="1396" y="23240"/>
                  </a:lnTo>
                  <a:lnTo>
                    <a:pt x="7874" y="27812"/>
                  </a:lnTo>
                  <a:lnTo>
                    <a:pt x="443021" y="339763"/>
                  </a:lnTo>
                  <a:lnTo>
                    <a:pt x="459706" y="316556"/>
                  </a:lnTo>
                  <a:lnTo>
                    <a:pt x="18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34100" y="4686236"/>
              <a:ext cx="719137" cy="33813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189725" y="4784216"/>
              <a:ext cx="520700" cy="161290"/>
            </a:xfrm>
            <a:custGeom>
              <a:avLst/>
              <a:gdLst/>
              <a:ahLst/>
              <a:cxnLst/>
              <a:rect l="l" t="t" r="r" b="b"/>
              <a:pathLst>
                <a:path w="520700" h="161289">
                  <a:moveTo>
                    <a:pt x="433980" y="27643"/>
                  </a:moveTo>
                  <a:lnTo>
                    <a:pt x="4699" y="132968"/>
                  </a:lnTo>
                  <a:lnTo>
                    <a:pt x="0" y="140715"/>
                  </a:lnTo>
                  <a:lnTo>
                    <a:pt x="1904" y="148335"/>
                  </a:lnTo>
                  <a:lnTo>
                    <a:pt x="3810" y="156082"/>
                  </a:lnTo>
                  <a:lnTo>
                    <a:pt x="11557" y="160781"/>
                  </a:lnTo>
                  <a:lnTo>
                    <a:pt x="440779" y="55474"/>
                  </a:lnTo>
                  <a:lnTo>
                    <a:pt x="433980" y="27643"/>
                  </a:lnTo>
                  <a:close/>
                </a:path>
                <a:path w="520700" h="161289">
                  <a:moveTo>
                    <a:pt x="519204" y="22351"/>
                  </a:moveTo>
                  <a:lnTo>
                    <a:pt x="455549" y="22351"/>
                  </a:lnTo>
                  <a:lnTo>
                    <a:pt x="463296" y="27050"/>
                  </a:lnTo>
                  <a:lnTo>
                    <a:pt x="465074" y="34797"/>
                  </a:lnTo>
                  <a:lnTo>
                    <a:pt x="466978" y="42417"/>
                  </a:lnTo>
                  <a:lnTo>
                    <a:pt x="462279" y="50164"/>
                  </a:lnTo>
                  <a:lnTo>
                    <a:pt x="440779" y="55474"/>
                  </a:lnTo>
                  <a:lnTo>
                    <a:pt x="447548" y="83184"/>
                  </a:lnTo>
                  <a:lnTo>
                    <a:pt x="519204" y="22351"/>
                  </a:lnTo>
                  <a:close/>
                </a:path>
                <a:path w="520700" h="161289">
                  <a:moveTo>
                    <a:pt x="455549" y="22351"/>
                  </a:moveTo>
                  <a:lnTo>
                    <a:pt x="433980" y="27643"/>
                  </a:lnTo>
                  <a:lnTo>
                    <a:pt x="440779" y="55474"/>
                  </a:lnTo>
                  <a:lnTo>
                    <a:pt x="462279" y="50164"/>
                  </a:lnTo>
                  <a:lnTo>
                    <a:pt x="466978" y="42417"/>
                  </a:lnTo>
                  <a:lnTo>
                    <a:pt x="465074" y="34797"/>
                  </a:lnTo>
                  <a:lnTo>
                    <a:pt x="463296" y="27050"/>
                  </a:lnTo>
                  <a:lnTo>
                    <a:pt x="455549" y="22351"/>
                  </a:lnTo>
                  <a:close/>
                </a:path>
                <a:path w="520700" h="161289">
                  <a:moveTo>
                    <a:pt x="427227" y="0"/>
                  </a:moveTo>
                  <a:lnTo>
                    <a:pt x="433980" y="27643"/>
                  </a:lnTo>
                  <a:lnTo>
                    <a:pt x="455549" y="22351"/>
                  </a:lnTo>
                  <a:lnTo>
                    <a:pt x="519204" y="22351"/>
                  </a:lnTo>
                  <a:lnTo>
                    <a:pt x="520700" y="21081"/>
                  </a:lnTo>
                  <a:lnTo>
                    <a:pt x="4272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81675" y="4533836"/>
              <a:ext cx="490537" cy="51911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29375" y="4652898"/>
              <a:ext cx="292100" cy="321310"/>
            </a:xfrm>
            <a:custGeom>
              <a:avLst/>
              <a:gdLst/>
              <a:ahLst/>
              <a:cxnLst/>
              <a:rect l="l" t="t" r="r" b="b"/>
              <a:pathLst>
                <a:path w="292100" h="321310">
                  <a:moveTo>
                    <a:pt x="68106" y="53982"/>
                  </a:moveTo>
                  <a:lnTo>
                    <a:pt x="46916" y="73180"/>
                  </a:lnTo>
                  <a:lnTo>
                    <a:pt x="270890" y="320294"/>
                  </a:lnTo>
                  <a:lnTo>
                    <a:pt x="279908" y="320801"/>
                  </a:lnTo>
                  <a:lnTo>
                    <a:pt x="291591" y="310133"/>
                  </a:lnTo>
                  <a:lnTo>
                    <a:pt x="292100" y="301117"/>
                  </a:lnTo>
                  <a:lnTo>
                    <a:pt x="68106" y="53982"/>
                  </a:lnTo>
                  <a:close/>
                </a:path>
                <a:path w="292100" h="321310">
                  <a:moveTo>
                    <a:pt x="0" y="0"/>
                  </a:moveTo>
                  <a:lnTo>
                    <a:pt x="25781" y="92328"/>
                  </a:lnTo>
                  <a:lnTo>
                    <a:pt x="46916" y="73180"/>
                  </a:lnTo>
                  <a:lnTo>
                    <a:pt x="32003" y="56768"/>
                  </a:lnTo>
                  <a:lnTo>
                    <a:pt x="32512" y="47751"/>
                  </a:lnTo>
                  <a:lnTo>
                    <a:pt x="44196" y="37083"/>
                  </a:lnTo>
                  <a:lnTo>
                    <a:pt x="86757" y="37083"/>
                  </a:lnTo>
                  <a:lnTo>
                    <a:pt x="89281" y="34798"/>
                  </a:lnTo>
                  <a:lnTo>
                    <a:pt x="0" y="0"/>
                  </a:lnTo>
                  <a:close/>
                </a:path>
                <a:path w="292100" h="321310">
                  <a:moveTo>
                    <a:pt x="44196" y="37083"/>
                  </a:moveTo>
                  <a:lnTo>
                    <a:pt x="32512" y="47751"/>
                  </a:lnTo>
                  <a:lnTo>
                    <a:pt x="32003" y="56768"/>
                  </a:lnTo>
                  <a:lnTo>
                    <a:pt x="46916" y="73180"/>
                  </a:lnTo>
                  <a:lnTo>
                    <a:pt x="68106" y="53982"/>
                  </a:lnTo>
                  <a:lnTo>
                    <a:pt x="53212" y="37592"/>
                  </a:lnTo>
                  <a:lnTo>
                    <a:pt x="44196" y="37083"/>
                  </a:lnTo>
                  <a:close/>
                </a:path>
                <a:path w="292100" h="321310">
                  <a:moveTo>
                    <a:pt x="86757" y="37083"/>
                  </a:moveTo>
                  <a:lnTo>
                    <a:pt x="44196" y="37083"/>
                  </a:lnTo>
                  <a:lnTo>
                    <a:pt x="53212" y="37592"/>
                  </a:lnTo>
                  <a:lnTo>
                    <a:pt x="68106" y="53982"/>
                  </a:lnTo>
                  <a:lnTo>
                    <a:pt x="86757" y="37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72100" y="4457636"/>
              <a:ext cx="347662" cy="56673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427344" y="4576698"/>
              <a:ext cx="159385" cy="368935"/>
            </a:xfrm>
            <a:custGeom>
              <a:avLst/>
              <a:gdLst/>
              <a:ahLst/>
              <a:cxnLst/>
              <a:rect l="l" t="t" r="r" b="b"/>
              <a:pathLst>
                <a:path w="159385" h="368935">
                  <a:moveTo>
                    <a:pt x="105845" y="75146"/>
                  </a:moveTo>
                  <a:lnTo>
                    <a:pt x="0" y="354838"/>
                  </a:lnTo>
                  <a:lnTo>
                    <a:pt x="3809" y="363093"/>
                  </a:lnTo>
                  <a:lnTo>
                    <a:pt x="18541" y="368681"/>
                  </a:lnTo>
                  <a:lnTo>
                    <a:pt x="26796" y="364870"/>
                  </a:lnTo>
                  <a:lnTo>
                    <a:pt x="132598" y="85279"/>
                  </a:lnTo>
                  <a:lnTo>
                    <a:pt x="105845" y="75146"/>
                  </a:lnTo>
                  <a:close/>
                </a:path>
                <a:path w="159385" h="368935">
                  <a:moveTo>
                    <a:pt x="154734" y="50673"/>
                  </a:moveTo>
                  <a:lnTo>
                    <a:pt x="121919" y="50673"/>
                  </a:lnTo>
                  <a:lnTo>
                    <a:pt x="136651" y="56261"/>
                  </a:lnTo>
                  <a:lnTo>
                    <a:pt x="140462" y="64515"/>
                  </a:lnTo>
                  <a:lnTo>
                    <a:pt x="132598" y="85279"/>
                  </a:lnTo>
                  <a:lnTo>
                    <a:pt x="159257" y="95376"/>
                  </a:lnTo>
                  <a:lnTo>
                    <a:pt x="154734" y="50673"/>
                  </a:lnTo>
                  <a:close/>
                </a:path>
                <a:path w="159385" h="368935">
                  <a:moveTo>
                    <a:pt x="121919" y="50673"/>
                  </a:moveTo>
                  <a:lnTo>
                    <a:pt x="113664" y="54482"/>
                  </a:lnTo>
                  <a:lnTo>
                    <a:pt x="105845" y="75146"/>
                  </a:lnTo>
                  <a:lnTo>
                    <a:pt x="132598" y="85279"/>
                  </a:lnTo>
                  <a:lnTo>
                    <a:pt x="140462" y="64515"/>
                  </a:lnTo>
                  <a:lnTo>
                    <a:pt x="136651" y="56261"/>
                  </a:lnTo>
                  <a:lnTo>
                    <a:pt x="121919" y="50673"/>
                  </a:lnTo>
                  <a:close/>
                </a:path>
                <a:path w="159385" h="368935">
                  <a:moveTo>
                    <a:pt x="149605" y="0"/>
                  </a:moveTo>
                  <a:lnTo>
                    <a:pt x="79120" y="65024"/>
                  </a:lnTo>
                  <a:lnTo>
                    <a:pt x="105845" y="75146"/>
                  </a:lnTo>
                  <a:lnTo>
                    <a:pt x="113664" y="54482"/>
                  </a:lnTo>
                  <a:lnTo>
                    <a:pt x="121919" y="50673"/>
                  </a:lnTo>
                  <a:lnTo>
                    <a:pt x="154734" y="50673"/>
                  </a:lnTo>
                  <a:lnTo>
                    <a:pt x="1496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19675" y="4533836"/>
              <a:ext cx="490537" cy="51911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67376" y="4652898"/>
              <a:ext cx="292100" cy="321310"/>
            </a:xfrm>
            <a:custGeom>
              <a:avLst/>
              <a:gdLst/>
              <a:ahLst/>
              <a:cxnLst/>
              <a:rect l="l" t="t" r="r" b="b"/>
              <a:pathLst>
                <a:path w="292100" h="321310">
                  <a:moveTo>
                    <a:pt x="68106" y="53982"/>
                  </a:moveTo>
                  <a:lnTo>
                    <a:pt x="46916" y="73180"/>
                  </a:lnTo>
                  <a:lnTo>
                    <a:pt x="270890" y="320294"/>
                  </a:lnTo>
                  <a:lnTo>
                    <a:pt x="279908" y="320801"/>
                  </a:lnTo>
                  <a:lnTo>
                    <a:pt x="291591" y="310133"/>
                  </a:lnTo>
                  <a:lnTo>
                    <a:pt x="292100" y="301117"/>
                  </a:lnTo>
                  <a:lnTo>
                    <a:pt x="68106" y="53982"/>
                  </a:lnTo>
                  <a:close/>
                </a:path>
                <a:path w="292100" h="321310">
                  <a:moveTo>
                    <a:pt x="0" y="0"/>
                  </a:moveTo>
                  <a:lnTo>
                    <a:pt x="25781" y="92328"/>
                  </a:lnTo>
                  <a:lnTo>
                    <a:pt x="46916" y="73180"/>
                  </a:lnTo>
                  <a:lnTo>
                    <a:pt x="32003" y="56768"/>
                  </a:lnTo>
                  <a:lnTo>
                    <a:pt x="32512" y="47751"/>
                  </a:lnTo>
                  <a:lnTo>
                    <a:pt x="44196" y="37083"/>
                  </a:lnTo>
                  <a:lnTo>
                    <a:pt x="86757" y="37083"/>
                  </a:lnTo>
                  <a:lnTo>
                    <a:pt x="89281" y="34798"/>
                  </a:lnTo>
                  <a:lnTo>
                    <a:pt x="0" y="0"/>
                  </a:lnTo>
                  <a:close/>
                </a:path>
                <a:path w="292100" h="321310">
                  <a:moveTo>
                    <a:pt x="44196" y="37083"/>
                  </a:moveTo>
                  <a:lnTo>
                    <a:pt x="32512" y="47751"/>
                  </a:lnTo>
                  <a:lnTo>
                    <a:pt x="32003" y="56768"/>
                  </a:lnTo>
                  <a:lnTo>
                    <a:pt x="46916" y="73180"/>
                  </a:lnTo>
                  <a:lnTo>
                    <a:pt x="68106" y="53982"/>
                  </a:lnTo>
                  <a:lnTo>
                    <a:pt x="53212" y="37592"/>
                  </a:lnTo>
                  <a:lnTo>
                    <a:pt x="44196" y="37083"/>
                  </a:lnTo>
                  <a:close/>
                </a:path>
                <a:path w="292100" h="321310">
                  <a:moveTo>
                    <a:pt x="86757" y="37083"/>
                  </a:moveTo>
                  <a:lnTo>
                    <a:pt x="44196" y="37083"/>
                  </a:lnTo>
                  <a:lnTo>
                    <a:pt x="53212" y="37592"/>
                  </a:lnTo>
                  <a:lnTo>
                    <a:pt x="68106" y="53982"/>
                  </a:lnTo>
                  <a:lnTo>
                    <a:pt x="86757" y="37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19800" y="4771961"/>
              <a:ext cx="357187" cy="35718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53125" y="4676838"/>
              <a:ext cx="500062" cy="59531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76950" y="4800599"/>
              <a:ext cx="247650" cy="2476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57800" y="4771961"/>
              <a:ext cx="357187" cy="35718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19700" y="4676838"/>
              <a:ext cx="442912" cy="5953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14950" y="4800599"/>
              <a:ext cx="247650" cy="24765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5403850" y="4761166"/>
            <a:ext cx="81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657725" y="4514786"/>
            <a:ext cx="2424430" cy="2343785"/>
            <a:chOff x="4657725" y="4514786"/>
            <a:chExt cx="2424430" cy="2343785"/>
          </a:xfrm>
        </p:grpSpPr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62700" y="5924549"/>
              <a:ext cx="442912" cy="69056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417817" y="5951118"/>
              <a:ext cx="247650" cy="502284"/>
            </a:xfrm>
            <a:custGeom>
              <a:avLst/>
              <a:gdLst/>
              <a:ahLst/>
              <a:cxnLst/>
              <a:rect l="l" t="t" r="r" b="b"/>
              <a:pathLst>
                <a:path w="247650" h="502285">
                  <a:moveTo>
                    <a:pt x="195471" y="430591"/>
                  </a:moveTo>
                  <a:lnTo>
                    <a:pt x="169672" y="442747"/>
                  </a:lnTo>
                  <a:lnTo>
                    <a:pt x="244856" y="502069"/>
                  </a:lnTo>
                  <a:lnTo>
                    <a:pt x="246009" y="453720"/>
                  </a:lnTo>
                  <a:lnTo>
                    <a:pt x="213487" y="453720"/>
                  </a:lnTo>
                  <a:lnTo>
                    <a:pt x="204978" y="450659"/>
                  </a:lnTo>
                  <a:lnTo>
                    <a:pt x="201549" y="443509"/>
                  </a:lnTo>
                  <a:lnTo>
                    <a:pt x="195471" y="430591"/>
                  </a:lnTo>
                  <a:close/>
                </a:path>
                <a:path w="247650" h="502285">
                  <a:moveTo>
                    <a:pt x="221361" y="418394"/>
                  </a:moveTo>
                  <a:lnTo>
                    <a:pt x="195471" y="430591"/>
                  </a:lnTo>
                  <a:lnTo>
                    <a:pt x="201549" y="443509"/>
                  </a:lnTo>
                  <a:lnTo>
                    <a:pt x="204978" y="450659"/>
                  </a:lnTo>
                  <a:lnTo>
                    <a:pt x="213487" y="453720"/>
                  </a:lnTo>
                  <a:lnTo>
                    <a:pt x="227711" y="447001"/>
                  </a:lnTo>
                  <a:lnTo>
                    <a:pt x="230759" y="438480"/>
                  </a:lnTo>
                  <a:lnTo>
                    <a:pt x="227457" y="431342"/>
                  </a:lnTo>
                  <a:lnTo>
                    <a:pt x="221361" y="418394"/>
                  </a:lnTo>
                  <a:close/>
                </a:path>
                <a:path w="247650" h="502285">
                  <a:moveTo>
                    <a:pt x="247141" y="406247"/>
                  </a:moveTo>
                  <a:lnTo>
                    <a:pt x="221361" y="418394"/>
                  </a:lnTo>
                  <a:lnTo>
                    <a:pt x="227457" y="431342"/>
                  </a:lnTo>
                  <a:lnTo>
                    <a:pt x="230759" y="438480"/>
                  </a:lnTo>
                  <a:lnTo>
                    <a:pt x="227711" y="447001"/>
                  </a:lnTo>
                  <a:lnTo>
                    <a:pt x="213487" y="453720"/>
                  </a:lnTo>
                  <a:lnTo>
                    <a:pt x="246009" y="453720"/>
                  </a:lnTo>
                  <a:lnTo>
                    <a:pt x="247141" y="406247"/>
                  </a:lnTo>
                  <a:close/>
                </a:path>
                <a:path w="247650" h="502285">
                  <a:moveTo>
                    <a:pt x="17399" y="0"/>
                  </a:moveTo>
                  <a:lnTo>
                    <a:pt x="3048" y="6731"/>
                  </a:lnTo>
                  <a:lnTo>
                    <a:pt x="0" y="15240"/>
                  </a:lnTo>
                  <a:lnTo>
                    <a:pt x="3429" y="22377"/>
                  </a:lnTo>
                  <a:lnTo>
                    <a:pt x="195471" y="430591"/>
                  </a:lnTo>
                  <a:lnTo>
                    <a:pt x="221361" y="418394"/>
                  </a:lnTo>
                  <a:lnTo>
                    <a:pt x="29210" y="10210"/>
                  </a:lnTo>
                  <a:lnTo>
                    <a:pt x="25908" y="3073"/>
                  </a:lnTo>
                  <a:lnTo>
                    <a:pt x="173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62700" y="5724524"/>
              <a:ext cx="719137" cy="33813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418326" y="5822378"/>
              <a:ext cx="520700" cy="161290"/>
            </a:xfrm>
            <a:custGeom>
              <a:avLst/>
              <a:gdLst/>
              <a:ahLst/>
              <a:cxnLst/>
              <a:rect l="l" t="t" r="r" b="b"/>
              <a:pathLst>
                <a:path w="520700" h="161289">
                  <a:moveTo>
                    <a:pt x="433996" y="27732"/>
                  </a:moveTo>
                  <a:lnTo>
                    <a:pt x="4699" y="133032"/>
                  </a:lnTo>
                  <a:lnTo>
                    <a:pt x="0" y="140766"/>
                  </a:lnTo>
                  <a:lnTo>
                    <a:pt x="3810" y="156095"/>
                  </a:lnTo>
                  <a:lnTo>
                    <a:pt x="11557" y="160794"/>
                  </a:lnTo>
                  <a:lnTo>
                    <a:pt x="440773" y="55501"/>
                  </a:lnTo>
                  <a:lnTo>
                    <a:pt x="433996" y="27732"/>
                  </a:lnTo>
                  <a:close/>
                </a:path>
                <a:path w="520700" h="161289">
                  <a:moveTo>
                    <a:pt x="519217" y="22466"/>
                  </a:moveTo>
                  <a:lnTo>
                    <a:pt x="455549" y="22466"/>
                  </a:lnTo>
                  <a:lnTo>
                    <a:pt x="463296" y="27152"/>
                  </a:lnTo>
                  <a:lnTo>
                    <a:pt x="465074" y="34823"/>
                  </a:lnTo>
                  <a:lnTo>
                    <a:pt x="466978" y="42481"/>
                  </a:lnTo>
                  <a:lnTo>
                    <a:pt x="462279" y="50215"/>
                  </a:lnTo>
                  <a:lnTo>
                    <a:pt x="440773" y="55501"/>
                  </a:lnTo>
                  <a:lnTo>
                    <a:pt x="447548" y="83261"/>
                  </a:lnTo>
                  <a:lnTo>
                    <a:pt x="519217" y="22466"/>
                  </a:lnTo>
                  <a:close/>
                </a:path>
                <a:path w="520700" h="161289">
                  <a:moveTo>
                    <a:pt x="455549" y="22466"/>
                  </a:moveTo>
                  <a:lnTo>
                    <a:pt x="433996" y="27732"/>
                  </a:lnTo>
                  <a:lnTo>
                    <a:pt x="440773" y="55501"/>
                  </a:lnTo>
                  <a:lnTo>
                    <a:pt x="462279" y="50215"/>
                  </a:lnTo>
                  <a:lnTo>
                    <a:pt x="466978" y="42481"/>
                  </a:lnTo>
                  <a:lnTo>
                    <a:pt x="465074" y="34823"/>
                  </a:lnTo>
                  <a:lnTo>
                    <a:pt x="463296" y="27152"/>
                  </a:lnTo>
                  <a:lnTo>
                    <a:pt x="455549" y="22466"/>
                  </a:lnTo>
                  <a:close/>
                </a:path>
                <a:path w="520700" h="161289">
                  <a:moveTo>
                    <a:pt x="427227" y="0"/>
                  </a:moveTo>
                  <a:lnTo>
                    <a:pt x="433996" y="27732"/>
                  </a:lnTo>
                  <a:lnTo>
                    <a:pt x="455549" y="22466"/>
                  </a:lnTo>
                  <a:lnTo>
                    <a:pt x="519217" y="22466"/>
                  </a:lnTo>
                  <a:lnTo>
                    <a:pt x="520700" y="21209"/>
                  </a:lnTo>
                  <a:lnTo>
                    <a:pt x="4272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57725" y="6229350"/>
              <a:ext cx="623887" cy="62865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805298" y="6256388"/>
              <a:ext cx="425450" cy="454025"/>
            </a:xfrm>
            <a:custGeom>
              <a:avLst/>
              <a:gdLst/>
              <a:ahLst/>
              <a:cxnLst/>
              <a:rect l="l" t="t" r="r" b="b"/>
              <a:pathLst>
                <a:path w="425450" h="454025">
                  <a:moveTo>
                    <a:pt x="27304" y="362076"/>
                  </a:moveTo>
                  <a:lnTo>
                    <a:pt x="0" y="453974"/>
                  </a:lnTo>
                  <a:lnTo>
                    <a:pt x="89915" y="420623"/>
                  </a:lnTo>
                  <a:lnTo>
                    <a:pt x="86697" y="417614"/>
                  </a:lnTo>
                  <a:lnTo>
                    <a:pt x="44830" y="417614"/>
                  </a:lnTo>
                  <a:lnTo>
                    <a:pt x="39115" y="412229"/>
                  </a:lnTo>
                  <a:lnTo>
                    <a:pt x="33274" y="406831"/>
                  </a:lnTo>
                  <a:lnTo>
                    <a:pt x="33020" y="397789"/>
                  </a:lnTo>
                  <a:lnTo>
                    <a:pt x="48144" y="381563"/>
                  </a:lnTo>
                  <a:lnTo>
                    <a:pt x="27304" y="362076"/>
                  </a:lnTo>
                  <a:close/>
                </a:path>
                <a:path w="425450" h="454025">
                  <a:moveTo>
                    <a:pt x="48144" y="381563"/>
                  </a:moveTo>
                  <a:lnTo>
                    <a:pt x="33020" y="397789"/>
                  </a:lnTo>
                  <a:lnTo>
                    <a:pt x="33274" y="406831"/>
                  </a:lnTo>
                  <a:lnTo>
                    <a:pt x="39115" y="412229"/>
                  </a:lnTo>
                  <a:lnTo>
                    <a:pt x="44830" y="417614"/>
                  </a:lnTo>
                  <a:lnTo>
                    <a:pt x="53848" y="417309"/>
                  </a:lnTo>
                  <a:lnTo>
                    <a:pt x="59309" y="411543"/>
                  </a:lnTo>
                  <a:lnTo>
                    <a:pt x="69055" y="401117"/>
                  </a:lnTo>
                  <a:lnTo>
                    <a:pt x="48144" y="381563"/>
                  </a:lnTo>
                  <a:close/>
                </a:path>
                <a:path w="425450" h="454025">
                  <a:moveTo>
                    <a:pt x="69055" y="401117"/>
                  </a:moveTo>
                  <a:lnTo>
                    <a:pt x="59309" y="411543"/>
                  </a:lnTo>
                  <a:lnTo>
                    <a:pt x="53848" y="417309"/>
                  </a:lnTo>
                  <a:lnTo>
                    <a:pt x="44830" y="417614"/>
                  </a:lnTo>
                  <a:lnTo>
                    <a:pt x="86697" y="417614"/>
                  </a:lnTo>
                  <a:lnTo>
                    <a:pt x="69055" y="401117"/>
                  </a:lnTo>
                  <a:close/>
                </a:path>
                <a:path w="425450" h="454025">
                  <a:moveTo>
                    <a:pt x="413638" y="0"/>
                  </a:moveTo>
                  <a:lnTo>
                    <a:pt x="404622" y="304"/>
                  </a:lnTo>
                  <a:lnTo>
                    <a:pt x="399161" y="6070"/>
                  </a:lnTo>
                  <a:lnTo>
                    <a:pt x="48144" y="381563"/>
                  </a:lnTo>
                  <a:lnTo>
                    <a:pt x="69055" y="401117"/>
                  </a:lnTo>
                  <a:lnTo>
                    <a:pt x="420115" y="25577"/>
                  </a:lnTo>
                  <a:lnTo>
                    <a:pt x="425450" y="19811"/>
                  </a:lnTo>
                  <a:lnTo>
                    <a:pt x="425196" y="10769"/>
                  </a:lnTo>
                  <a:lnTo>
                    <a:pt x="419353" y="5384"/>
                  </a:lnTo>
                  <a:lnTo>
                    <a:pt x="413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43500" y="6229350"/>
              <a:ext cx="547687" cy="56673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199126" y="6256350"/>
              <a:ext cx="349250" cy="377825"/>
            </a:xfrm>
            <a:custGeom>
              <a:avLst/>
              <a:gdLst/>
              <a:ahLst/>
              <a:cxnLst/>
              <a:rect l="l" t="t" r="r" b="b"/>
              <a:pathLst>
                <a:path w="349250" h="377825">
                  <a:moveTo>
                    <a:pt x="280607" y="324414"/>
                  </a:moveTo>
                  <a:lnTo>
                    <a:pt x="259587" y="343789"/>
                  </a:lnTo>
                  <a:lnTo>
                    <a:pt x="349250" y="377812"/>
                  </a:lnTo>
                  <a:lnTo>
                    <a:pt x="338623" y="341122"/>
                  </a:lnTo>
                  <a:lnTo>
                    <a:pt x="304673" y="341122"/>
                  </a:lnTo>
                  <a:lnTo>
                    <a:pt x="295656" y="340753"/>
                  </a:lnTo>
                  <a:lnTo>
                    <a:pt x="280607" y="324414"/>
                  </a:lnTo>
                  <a:close/>
                </a:path>
                <a:path w="349250" h="377825">
                  <a:moveTo>
                    <a:pt x="301593" y="305069"/>
                  </a:moveTo>
                  <a:lnTo>
                    <a:pt x="280607" y="324414"/>
                  </a:lnTo>
                  <a:lnTo>
                    <a:pt x="295656" y="340753"/>
                  </a:lnTo>
                  <a:lnTo>
                    <a:pt x="304673" y="341122"/>
                  </a:lnTo>
                  <a:lnTo>
                    <a:pt x="310514" y="335775"/>
                  </a:lnTo>
                  <a:lnTo>
                    <a:pt x="316229" y="330428"/>
                  </a:lnTo>
                  <a:lnTo>
                    <a:pt x="316611" y="321386"/>
                  </a:lnTo>
                  <a:lnTo>
                    <a:pt x="301593" y="305069"/>
                  </a:lnTo>
                  <a:close/>
                </a:path>
                <a:path w="349250" h="377825">
                  <a:moveTo>
                    <a:pt x="322579" y="285724"/>
                  </a:moveTo>
                  <a:lnTo>
                    <a:pt x="301593" y="305069"/>
                  </a:lnTo>
                  <a:lnTo>
                    <a:pt x="316611" y="321386"/>
                  </a:lnTo>
                  <a:lnTo>
                    <a:pt x="316229" y="330428"/>
                  </a:lnTo>
                  <a:lnTo>
                    <a:pt x="310514" y="335775"/>
                  </a:lnTo>
                  <a:lnTo>
                    <a:pt x="304673" y="341122"/>
                  </a:lnTo>
                  <a:lnTo>
                    <a:pt x="338623" y="341122"/>
                  </a:lnTo>
                  <a:lnTo>
                    <a:pt x="322579" y="285724"/>
                  </a:lnTo>
                  <a:close/>
                </a:path>
                <a:path w="349250" h="377825">
                  <a:moveTo>
                    <a:pt x="11937" y="0"/>
                  </a:moveTo>
                  <a:lnTo>
                    <a:pt x="6096" y="5346"/>
                  </a:lnTo>
                  <a:lnTo>
                    <a:pt x="381" y="10693"/>
                  </a:lnTo>
                  <a:lnTo>
                    <a:pt x="0" y="19735"/>
                  </a:lnTo>
                  <a:lnTo>
                    <a:pt x="280607" y="324414"/>
                  </a:lnTo>
                  <a:lnTo>
                    <a:pt x="301593" y="305069"/>
                  </a:lnTo>
                  <a:lnTo>
                    <a:pt x="20954" y="381"/>
                  </a:lnTo>
                  <a:lnTo>
                    <a:pt x="119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91075" y="5876924"/>
              <a:ext cx="490537" cy="51911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938775" y="5995987"/>
              <a:ext cx="292100" cy="321310"/>
            </a:xfrm>
            <a:custGeom>
              <a:avLst/>
              <a:gdLst/>
              <a:ahLst/>
              <a:cxnLst/>
              <a:rect l="l" t="t" r="r" b="b"/>
              <a:pathLst>
                <a:path w="292100" h="321310">
                  <a:moveTo>
                    <a:pt x="68124" y="53914"/>
                  </a:moveTo>
                  <a:lnTo>
                    <a:pt x="46940" y="73120"/>
                  </a:lnTo>
                  <a:lnTo>
                    <a:pt x="270890" y="320243"/>
                  </a:lnTo>
                  <a:lnTo>
                    <a:pt x="279908" y="320687"/>
                  </a:lnTo>
                  <a:lnTo>
                    <a:pt x="291591" y="310083"/>
                  </a:lnTo>
                  <a:lnTo>
                    <a:pt x="292100" y="301053"/>
                  </a:lnTo>
                  <a:lnTo>
                    <a:pt x="68124" y="53914"/>
                  </a:lnTo>
                  <a:close/>
                </a:path>
                <a:path w="292100" h="321310">
                  <a:moveTo>
                    <a:pt x="0" y="0"/>
                  </a:moveTo>
                  <a:lnTo>
                    <a:pt x="25781" y="92303"/>
                  </a:lnTo>
                  <a:lnTo>
                    <a:pt x="46940" y="73120"/>
                  </a:lnTo>
                  <a:lnTo>
                    <a:pt x="32003" y="56680"/>
                  </a:lnTo>
                  <a:lnTo>
                    <a:pt x="32512" y="47650"/>
                  </a:lnTo>
                  <a:lnTo>
                    <a:pt x="44196" y="37045"/>
                  </a:lnTo>
                  <a:lnTo>
                    <a:pt x="86731" y="37045"/>
                  </a:lnTo>
                  <a:lnTo>
                    <a:pt x="89281" y="34734"/>
                  </a:lnTo>
                  <a:lnTo>
                    <a:pt x="0" y="0"/>
                  </a:lnTo>
                  <a:close/>
                </a:path>
                <a:path w="292100" h="321310">
                  <a:moveTo>
                    <a:pt x="44196" y="37045"/>
                  </a:moveTo>
                  <a:lnTo>
                    <a:pt x="32512" y="47650"/>
                  </a:lnTo>
                  <a:lnTo>
                    <a:pt x="32003" y="56680"/>
                  </a:lnTo>
                  <a:lnTo>
                    <a:pt x="46940" y="73120"/>
                  </a:lnTo>
                  <a:lnTo>
                    <a:pt x="68124" y="53914"/>
                  </a:lnTo>
                  <a:lnTo>
                    <a:pt x="53212" y="37490"/>
                  </a:lnTo>
                  <a:lnTo>
                    <a:pt x="44196" y="37045"/>
                  </a:lnTo>
                  <a:close/>
                </a:path>
                <a:path w="292100" h="321310">
                  <a:moveTo>
                    <a:pt x="86731" y="37045"/>
                  </a:moveTo>
                  <a:lnTo>
                    <a:pt x="44196" y="37045"/>
                  </a:lnTo>
                  <a:lnTo>
                    <a:pt x="53212" y="37490"/>
                  </a:lnTo>
                  <a:lnTo>
                    <a:pt x="68124" y="53914"/>
                  </a:lnTo>
                  <a:lnTo>
                    <a:pt x="86731" y="37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29200" y="6124574"/>
              <a:ext cx="357187" cy="35718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086350" y="6153150"/>
              <a:ext cx="247650" cy="2476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48400" y="5819774"/>
              <a:ext cx="357187" cy="35718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05550" y="5848349"/>
              <a:ext cx="247650" cy="2476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91200" y="6276975"/>
              <a:ext cx="357187" cy="35718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848350" y="6305550"/>
              <a:ext cx="247650" cy="24765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334125" y="5581649"/>
              <a:ext cx="395287" cy="452437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481698" y="5608319"/>
              <a:ext cx="197485" cy="264160"/>
            </a:xfrm>
            <a:custGeom>
              <a:avLst/>
              <a:gdLst/>
              <a:ahLst/>
              <a:cxnLst/>
              <a:rect l="l" t="t" r="r" b="b"/>
              <a:pathLst>
                <a:path w="197484" h="264160">
                  <a:moveTo>
                    <a:pt x="16001" y="169341"/>
                  </a:moveTo>
                  <a:lnTo>
                    <a:pt x="0" y="263842"/>
                  </a:lnTo>
                  <a:lnTo>
                    <a:pt x="80510" y="222351"/>
                  </a:lnTo>
                  <a:lnTo>
                    <a:pt x="40131" y="222351"/>
                  </a:lnTo>
                  <a:lnTo>
                    <a:pt x="27431" y="213042"/>
                  </a:lnTo>
                  <a:lnTo>
                    <a:pt x="26034" y="204101"/>
                  </a:lnTo>
                  <a:lnTo>
                    <a:pt x="30733" y="197738"/>
                  </a:lnTo>
                  <a:lnTo>
                    <a:pt x="39131" y="186245"/>
                  </a:lnTo>
                  <a:lnTo>
                    <a:pt x="16001" y="169341"/>
                  </a:lnTo>
                  <a:close/>
                </a:path>
                <a:path w="197484" h="264160">
                  <a:moveTo>
                    <a:pt x="39131" y="186245"/>
                  </a:moveTo>
                  <a:lnTo>
                    <a:pt x="30733" y="197738"/>
                  </a:lnTo>
                  <a:lnTo>
                    <a:pt x="26034" y="204101"/>
                  </a:lnTo>
                  <a:lnTo>
                    <a:pt x="27431" y="213042"/>
                  </a:lnTo>
                  <a:lnTo>
                    <a:pt x="40131" y="222351"/>
                  </a:lnTo>
                  <a:lnTo>
                    <a:pt x="49149" y="220967"/>
                  </a:lnTo>
                  <a:lnTo>
                    <a:pt x="53721" y="214591"/>
                  </a:lnTo>
                  <a:lnTo>
                    <a:pt x="62144" y="203063"/>
                  </a:lnTo>
                  <a:lnTo>
                    <a:pt x="39131" y="186245"/>
                  </a:lnTo>
                  <a:close/>
                </a:path>
                <a:path w="197484" h="264160">
                  <a:moveTo>
                    <a:pt x="62144" y="203063"/>
                  </a:moveTo>
                  <a:lnTo>
                    <a:pt x="53721" y="214591"/>
                  </a:lnTo>
                  <a:lnTo>
                    <a:pt x="49149" y="220967"/>
                  </a:lnTo>
                  <a:lnTo>
                    <a:pt x="40131" y="222351"/>
                  </a:lnTo>
                  <a:lnTo>
                    <a:pt x="80510" y="222351"/>
                  </a:lnTo>
                  <a:lnTo>
                    <a:pt x="85217" y="219925"/>
                  </a:lnTo>
                  <a:lnTo>
                    <a:pt x="62144" y="203063"/>
                  </a:lnTo>
                  <a:close/>
                </a:path>
                <a:path w="197484" h="264160">
                  <a:moveTo>
                    <a:pt x="183133" y="0"/>
                  </a:moveTo>
                  <a:lnTo>
                    <a:pt x="174117" y="1396"/>
                  </a:lnTo>
                  <a:lnTo>
                    <a:pt x="169545" y="7759"/>
                  </a:lnTo>
                  <a:lnTo>
                    <a:pt x="39131" y="186245"/>
                  </a:lnTo>
                  <a:lnTo>
                    <a:pt x="62144" y="203063"/>
                  </a:lnTo>
                  <a:lnTo>
                    <a:pt x="192531" y="24625"/>
                  </a:lnTo>
                  <a:lnTo>
                    <a:pt x="197230" y="18249"/>
                  </a:lnTo>
                  <a:lnTo>
                    <a:pt x="195833" y="9309"/>
                  </a:lnTo>
                  <a:lnTo>
                    <a:pt x="1831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076950" y="4514786"/>
              <a:ext cx="300037" cy="45243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212077" y="4541646"/>
              <a:ext cx="114300" cy="264160"/>
            </a:xfrm>
            <a:custGeom>
              <a:avLst/>
              <a:gdLst/>
              <a:ahLst/>
              <a:cxnLst/>
              <a:rect l="l" t="t" r="r" b="b"/>
              <a:pathLst>
                <a:path w="114300" h="264160">
                  <a:moveTo>
                    <a:pt x="0" y="168655"/>
                  </a:moveTo>
                  <a:lnTo>
                    <a:pt x="12573" y="263778"/>
                  </a:lnTo>
                  <a:lnTo>
                    <a:pt x="65079" y="212344"/>
                  </a:lnTo>
                  <a:lnTo>
                    <a:pt x="38608" y="212344"/>
                  </a:lnTo>
                  <a:lnTo>
                    <a:pt x="31242" y="209676"/>
                  </a:lnTo>
                  <a:lnTo>
                    <a:pt x="23749" y="207136"/>
                  </a:lnTo>
                  <a:lnTo>
                    <a:pt x="19812" y="199008"/>
                  </a:lnTo>
                  <a:lnTo>
                    <a:pt x="22351" y="191515"/>
                  </a:lnTo>
                  <a:lnTo>
                    <a:pt x="27025" y="178017"/>
                  </a:lnTo>
                  <a:lnTo>
                    <a:pt x="0" y="168655"/>
                  </a:lnTo>
                  <a:close/>
                </a:path>
                <a:path w="114300" h="264160">
                  <a:moveTo>
                    <a:pt x="27025" y="178017"/>
                  </a:moveTo>
                  <a:lnTo>
                    <a:pt x="22351" y="191515"/>
                  </a:lnTo>
                  <a:lnTo>
                    <a:pt x="19812" y="199008"/>
                  </a:lnTo>
                  <a:lnTo>
                    <a:pt x="23749" y="207136"/>
                  </a:lnTo>
                  <a:lnTo>
                    <a:pt x="31242" y="209676"/>
                  </a:lnTo>
                  <a:lnTo>
                    <a:pt x="38608" y="212344"/>
                  </a:lnTo>
                  <a:lnTo>
                    <a:pt x="46736" y="208279"/>
                  </a:lnTo>
                  <a:lnTo>
                    <a:pt x="49402" y="200913"/>
                  </a:lnTo>
                  <a:lnTo>
                    <a:pt x="54082" y="187389"/>
                  </a:lnTo>
                  <a:lnTo>
                    <a:pt x="27025" y="178017"/>
                  </a:lnTo>
                  <a:close/>
                </a:path>
                <a:path w="114300" h="264160">
                  <a:moveTo>
                    <a:pt x="54082" y="187389"/>
                  </a:moveTo>
                  <a:lnTo>
                    <a:pt x="49402" y="200913"/>
                  </a:lnTo>
                  <a:lnTo>
                    <a:pt x="46736" y="208279"/>
                  </a:lnTo>
                  <a:lnTo>
                    <a:pt x="38608" y="212344"/>
                  </a:lnTo>
                  <a:lnTo>
                    <a:pt x="65079" y="212344"/>
                  </a:lnTo>
                  <a:lnTo>
                    <a:pt x="81025" y="196722"/>
                  </a:lnTo>
                  <a:lnTo>
                    <a:pt x="54082" y="187389"/>
                  </a:lnTo>
                  <a:close/>
                </a:path>
                <a:path w="114300" h="264160">
                  <a:moveTo>
                    <a:pt x="95504" y="0"/>
                  </a:moveTo>
                  <a:lnTo>
                    <a:pt x="87375" y="3936"/>
                  </a:lnTo>
                  <a:lnTo>
                    <a:pt x="84709" y="11429"/>
                  </a:lnTo>
                  <a:lnTo>
                    <a:pt x="27025" y="178017"/>
                  </a:lnTo>
                  <a:lnTo>
                    <a:pt x="54082" y="187389"/>
                  </a:lnTo>
                  <a:lnTo>
                    <a:pt x="114300" y="13334"/>
                  </a:lnTo>
                  <a:lnTo>
                    <a:pt x="110362" y="5206"/>
                  </a:lnTo>
                  <a:lnTo>
                    <a:pt x="102870" y="2539"/>
                  </a:lnTo>
                  <a:lnTo>
                    <a:pt x="955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924550" y="6162675"/>
              <a:ext cx="452437" cy="37623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072124" y="6189332"/>
              <a:ext cx="254635" cy="187960"/>
            </a:xfrm>
            <a:custGeom>
              <a:avLst/>
              <a:gdLst/>
              <a:ahLst/>
              <a:cxnLst/>
              <a:rect l="l" t="t" r="r" b="b"/>
              <a:pathLst>
                <a:path w="254635" h="187960">
                  <a:moveTo>
                    <a:pt x="44576" y="102781"/>
                  </a:moveTo>
                  <a:lnTo>
                    <a:pt x="0" y="187655"/>
                  </a:lnTo>
                  <a:lnTo>
                    <a:pt x="94614" y="172351"/>
                  </a:lnTo>
                  <a:lnTo>
                    <a:pt x="87252" y="162115"/>
                  </a:lnTo>
                  <a:lnTo>
                    <a:pt x="59943" y="162115"/>
                  </a:lnTo>
                  <a:lnTo>
                    <a:pt x="51053" y="160667"/>
                  </a:lnTo>
                  <a:lnTo>
                    <a:pt x="46481" y="154266"/>
                  </a:lnTo>
                  <a:lnTo>
                    <a:pt x="41783" y="147866"/>
                  </a:lnTo>
                  <a:lnTo>
                    <a:pt x="43306" y="138925"/>
                  </a:lnTo>
                  <a:lnTo>
                    <a:pt x="61254" y="125968"/>
                  </a:lnTo>
                  <a:lnTo>
                    <a:pt x="44576" y="102781"/>
                  </a:lnTo>
                  <a:close/>
                </a:path>
                <a:path w="254635" h="187960">
                  <a:moveTo>
                    <a:pt x="61254" y="125968"/>
                  </a:moveTo>
                  <a:lnTo>
                    <a:pt x="43306" y="138925"/>
                  </a:lnTo>
                  <a:lnTo>
                    <a:pt x="41783" y="147866"/>
                  </a:lnTo>
                  <a:lnTo>
                    <a:pt x="46481" y="154266"/>
                  </a:lnTo>
                  <a:lnTo>
                    <a:pt x="51053" y="160667"/>
                  </a:lnTo>
                  <a:lnTo>
                    <a:pt x="59943" y="162115"/>
                  </a:lnTo>
                  <a:lnTo>
                    <a:pt x="77959" y="149194"/>
                  </a:lnTo>
                  <a:lnTo>
                    <a:pt x="61254" y="125968"/>
                  </a:lnTo>
                  <a:close/>
                </a:path>
                <a:path w="254635" h="187960">
                  <a:moveTo>
                    <a:pt x="77959" y="149194"/>
                  </a:moveTo>
                  <a:lnTo>
                    <a:pt x="59943" y="162115"/>
                  </a:lnTo>
                  <a:lnTo>
                    <a:pt x="87252" y="162115"/>
                  </a:lnTo>
                  <a:lnTo>
                    <a:pt x="77959" y="149194"/>
                  </a:lnTo>
                  <a:close/>
                </a:path>
                <a:path w="254635" h="187960">
                  <a:moveTo>
                    <a:pt x="236220" y="0"/>
                  </a:moveTo>
                  <a:lnTo>
                    <a:pt x="61254" y="125968"/>
                  </a:lnTo>
                  <a:lnTo>
                    <a:pt x="77959" y="149194"/>
                  </a:lnTo>
                  <a:lnTo>
                    <a:pt x="252984" y="23190"/>
                  </a:lnTo>
                  <a:lnTo>
                    <a:pt x="254380" y="14262"/>
                  </a:lnTo>
                  <a:lnTo>
                    <a:pt x="249809" y="7861"/>
                  </a:lnTo>
                  <a:lnTo>
                    <a:pt x="245110" y="1460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657725" y="6181725"/>
              <a:ext cx="576262" cy="319087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713223" y="6283451"/>
              <a:ext cx="378460" cy="138430"/>
            </a:xfrm>
            <a:custGeom>
              <a:avLst/>
              <a:gdLst/>
              <a:ahLst/>
              <a:cxnLst/>
              <a:rect l="l" t="t" r="r" b="b"/>
              <a:pathLst>
                <a:path w="378460" h="138429">
                  <a:moveTo>
                    <a:pt x="291550" y="27451"/>
                  </a:moveTo>
                  <a:lnTo>
                    <a:pt x="4445" y="110578"/>
                  </a:lnTo>
                  <a:lnTo>
                    <a:pt x="0" y="118503"/>
                  </a:lnTo>
                  <a:lnTo>
                    <a:pt x="2159" y="126085"/>
                  </a:lnTo>
                  <a:lnTo>
                    <a:pt x="4445" y="133667"/>
                  </a:lnTo>
                  <a:lnTo>
                    <a:pt x="12318" y="138023"/>
                  </a:lnTo>
                  <a:lnTo>
                    <a:pt x="299505" y="54887"/>
                  </a:lnTo>
                  <a:lnTo>
                    <a:pt x="291550" y="27451"/>
                  </a:lnTo>
                  <a:close/>
                </a:path>
                <a:path w="378460" h="138429">
                  <a:moveTo>
                    <a:pt x="373669" y="21285"/>
                  </a:moveTo>
                  <a:lnTo>
                    <a:pt x="312927" y="21285"/>
                  </a:lnTo>
                  <a:lnTo>
                    <a:pt x="320801" y="25641"/>
                  </a:lnTo>
                  <a:lnTo>
                    <a:pt x="322961" y="33223"/>
                  </a:lnTo>
                  <a:lnTo>
                    <a:pt x="325247" y="40805"/>
                  </a:lnTo>
                  <a:lnTo>
                    <a:pt x="320801" y="48729"/>
                  </a:lnTo>
                  <a:lnTo>
                    <a:pt x="299505" y="54887"/>
                  </a:lnTo>
                  <a:lnTo>
                    <a:pt x="307466" y="82346"/>
                  </a:lnTo>
                  <a:lnTo>
                    <a:pt x="373669" y="21285"/>
                  </a:lnTo>
                  <a:close/>
                </a:path>
                <a:path w="378460" h="138429">
                  <a:moveTo>
                    <a:pt x="312927" y="21285"/>
                  </a:moveTo>
                  <a:lnTo>
                    <a:pt x="291550" y="27451"/>
                  </a:lnTo>
                  <a:lnTo>
                    <a:pt x="299505" y="54887"/>
                  </a:lnTo>
                  <a:lnTo>
                    <a:pt x="320801" y="48729"/>
                  </a:lnTo>
                  <a:lnTo>
                    <a:pt x="325247" y="40805"/>
                  </a:lnTo>
                  <a:lnTo>
                    <a:pt x="322961" y="33223"/>
                  </a:lnTo>
                  <a:lnTo>
                    <a:pt x="320801" y="25641"/>
                  </a:lnTo>
                  <a:lnTo>
                    <a:pt x="312927" y="21285"/>
                  </a:lnTo>
                  <a:close/>
                </a:path>
                <a:path w="378460" h="138429">
                  <a:moveTo>
                    <a:pt x="283590" y="0"/>
                  </a:moveTo>
                  <a:lnTo>
                    <a:pt x="291550" y="27451"/>
                  </a:lnTo>
                  <a:lnTo>
                    <a:pt x="312927" y="21285"/>
                  </a:lnTo>
                  <a:lnTo>
                    <a:pt x="373669" y="21285"/>
                  </a:lnTo>
                  <a:lnTo>
                    <a:pt x="377951" y="17335"/>
                  </a:lnTo>
                  <a:lnTo>
                    <a:pt x="283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781675" y="6438900"/>
              <a:ext cx="300037" cy="4191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836919" y="6557962"/>
              <a:ext cx="112013" cy="24474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019675" y="4867338"/>
              <a:ext cx="461962" cy="39528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074919" y="4986400"/>
              <a:ext cx="264160" cy="197485"/>
            </a:xfrm>
            <a:custGeom>
              <a:avLst/>
              <a:gdLst/>
              <a:ahLst/>
              <a:cxnLst/>
              <a:rect l="l" t="t" r="r" b="b"/>
              <a:pathLst>
                <a:path w="264160" h="197485">
                  <a:moveTo>
                    <a:pt x="186231" y="39014"/>
                  </a:moveTo>
                  <a:lnTo>
                    <a:pt x="7746" y="169418"/>
                  </a:lnTo>
                  <a:lnTo>
                    <a:pt x="1396" y="173990"/>
                  </a:lnTo>
                  <a:lnTo>
                    <a:pt x="0" y="183006"/>
                  </a:lnTo>
                  <a:lnTo>
                    <a:pt x="4699" y="189356"/>
                  </a:lnTo>
                  <a:lnTo>
                    <a:pt x="9270" y="195706"/>
                  </a:lnTo>
                  <a:lnTo>
                    <a:pt x="18287" y="197104"/>
                  </a:lnTo>
                  <a:lnTo>
                    <a:pt x="203082" y="62030"/>
                  </a:lnTo>
                  <a:lnTo>
                    <a:pt x="186231" y="39014"/>
                  </a:lnTo>
                  <a:close/>
                </a:path>
                <a:path w="264160" h="197485">
                  <a:moveTo>
                    <a:pt x="250526" y="25907"/>
                  </a:moveTo>
                  <a:lnTo>
                    <a:pt x="204088" y="25907"/>
                  </a:lnTo>
                  <a:lnTo>
                    <a:pt x="213105" y="27305"/>
                  </a:lnTo>
                  <a:lnTo>
                    <a:pt x="217677" y="33655"/>
                  </a:lnTo>
                  <a:lnTo>
                    <a:pt x="222376" y="40005"/>
                  </a:lnTo>
                  <a:lnTo>
                    <a:pt x="220979" y="49022"/>
                  </a:lnTo>
                  <a:lnTo>
                    <a:pt x="214629" y="53593"/>
                  </a:lnTo>
                  <a:lnTo>
                    <a:pt x="203082" y="62030"/>
                  </a:lnTo>
                  <a:lnTo>
                    <a:pt x="219963" y="85090"/>
                  </a:lnTo>
                  <a:lnTo>
                    <a:pt x="250526" y="25907"/>
                  </a:lnTo>
                  <a:close/>
                </a:path>
                <a:path w="264160" h="197485">
                  <a:moveTo>
                    <a:pt x="204088" y="25907"/>
                  </a:moveTo>
                  <a:lnTo>
                    <a:pt x="186231" y="39014"/>
                  </a:lnTo>
                  <a:lnTo>
                    <a:pt x="203082" y="62030"/>
                  </a:lnTo>
                  <a:lnTo>
                    <a:pt x="214629" y="53593"/>
                  </a:lnTo>
                  <a:lnTo>
                    <a:pt x="220979" y="49022"/>
                  </a:lnTo>
                  <a:lnTo>
                    <a:pt x="222376" y="40005"/>
                  </a:lnTo>
                  <a:lnTo>
                    <a:pt x="217677" y="33655"/>
                  </a:lnTo>
                  <a:lnTo>
                    <a:pt x="213105" y="27305"/>
                  </a:lnTo>
                  <a:lnTo>
                    <a:pt x="204088" y="25907"/>
                  </a:lnTo>
                  <a:close/>
                </a:path>
                <a:path w="264160" h="197485">
                  <a:moveTo>
                    <a:pt x="263905" y="0"/>
                  </a:moveTo>
                  <a:lnTo>
                    <a:pt x="169290" y="15875"/>
                  </a:lnTo>
                  <a:lnTo>
                    <a:pt x="186231" y="39014"/>
                  </a:lnTo>
                  <a:lnTo>
                    <a:pt x="204088" y="25907"/>
                  </a:lnTo>
                  <a:lnTo>
                    <a:pt x="250526" y="25907"/>
                  </a:lnTo>
                  <a:lnTo>
                    <a:pt x="2639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5316601" y="5365432"/>
            <a:ext cx="37147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FF0000"/>
                </a:solidFill>
                <a:latin typeface="Arial"/>
                <a:cs typeface="Arial"/>
              </a:rPr>
              <a:t>j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340"/>
              </a:spcBef>
            </a:pPr>
            <a:r>
              <a:rPr sz="1800" b="1" i="1" dirty="0">
                <a:solidFill>
                  <a:srgbClr val="0000FF"/>
                </a:solidFill>
                <a:latin typeface="Corbel"/>
                <a:cs typeface="Corbel"/>
              </a:rPr>
              <a:t>r</a:t>
            </a:r>
            <a:r>
              <a:rPr sz="1800" b="1" i="1" baseline="-18518" dirty="0">
                <a:solidFill>
                  <a:srgbClr val="0000FF"/>
                </a:solidFill>
                <a:latin typeface="Corbel"/>
                <a:cs typeface="Corbel"/>
              </a:rPr>
              <a:t>j</a:t>
            </a:r>
            <a:r>
              <a:rPr sz="1800" b="1" i="1" dirty="0">
                <a:solidFill>
                  <a:srgbClr val="0000FF"/>
                </a:solidFill>
                <a:latin typeface="Corbel"/>
                <a:cs typeface="Corbel"/>
              </a:rPr>
              <a:t>/3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723133" y="5589587"/>
            <a:ext cx="1668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i="1" spc="-1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25" b="1" i="1" spc="-22" baseline="-19713" dirty="0">
                <a:solidFill>
                  <a:srgbClr val="FF0000"/>
                </a:solidFill>
                <a:latin typeface="Arial"/>
                <a:cs typeface="Arial"/>
              </a:rPr>
              <a:t>j </a:t>
            </a:r>
            <a:r>
              <a:rPr sz="2400" b="1" i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400" b="1" i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sz="2325" b="1" i="1" baseline="-19713" dirty="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sz="2400" b="1" i="1" dirty="0">
                <a:solidFill>
                  <a:srgbClr val="008000"/>
                </a:solidFill>
                <a:latin typeface="Arial"/>
                <a:cs typeface="Arial"/>
              </a:rPr>
              <a:t>/3</a:t>
            </a:r>
            <a:r>
              <a:rPr sz="2400" b="1" i="1" dirty="0">
                <a:latin typeface="Arial"/>
                <a:cs typeface="Arial"/>
              </a:rPr>
              <a:t>+</a:t>
            </a:r>
            <a:r>
              <a:rPr sz="2400" b="1" i="1" dirty="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sz="2325" b="1" i="1" baseline="-19713" dirty="0">
                <a:solidFill>
                  <a:srgbClr val="008000"/>
                </a:solidFill>
                <a:latin typeface="Arial"/>
                <a:cs typeface="Arial"/>
              </a:rPr>
              <a:t>k</a:t>
            </a:r>
            <a:r>
              <a:rPr sz="2400" b="1" i="1" dirty="0">
                <a:solidFill>
                  <a:srgbClr val="008000"/>
                </a:solidFill>
                <a:latin typeface="Arial"/>
                <a:cs typeface="Arial"/>
              </a:rPr>
              <a:t>/4</a:t>
            </a:r>
            <a:endParaRPr sz="24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524119" y="4969827"/>
            <a:ext cx="3975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sz="1800" b="1" i="1" spc="-7" baseline="-16203" dirty="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sz="1800" b="1" i="1" spc="-5" dirty="0">
                <a:solidFill>
                  <a:srgbClr val="008000"/>
                </a:solidFill>
                <a:latin typeface="Arial"/>
                <a:cs typeface="Arial"/>
              </a:rPr>
              <a:t>/3</a:t>
            </a:r>
            <a:endParaRPr sz="18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878195" y="4736147"/>
            <a:ext cx="570230" cy="147510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295"/>
              </a:spcBef>
            </a:pPr>
            <a:r>
              <a:rPr sz="1800" b="1" i="1" dirty="0">
                <a:solidFill>
                  <a:srgbClr val="FFFFFF"/>
                </a:solidFill>
                <a:latin typeface="Corbel"/>
                <a:cs typeface="Corbel"/>
              </a:rPr>
              <a:t>k</a:t>
            </a:r>
            <a:endParaRPr sz="1800">
              <a:latin typeface="Corbel"/>
              <a:cs typeface="Corbel"/>
            </a:endParaRPr>
          </a:p>
          <a:p>
            <a:pPr marL="162560">
              <a:lnSpc>
                <a:spcPct val="100000"/>
              </a:lnSpc>
              <a:spcBef>
                <a:spcPts val="195"/>
              </a:spcBef>
            </a:pPr>
            <a:r>
              <a:rPr sz="1800" b="1" i="1" dirty="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sz="1800" b="1" i="1" baseline="-18518" dirty="0">
                <a:solidFill>
                  <a:srgbClr val="008000"/>
                </a:solidFill>
                <a:latin typeface="Arial"/>
                <a:cs typeface="Arial"/>
              </a:rPr>
              <a:t>k</a:t>
            </a:r>
            <a:r>
              <a:rPr sz="1800" b="1" i="1" dirty="0">
                <a:solidFill>
                  <a:srgbClr val="008000"/>
                </a:solidFill>
                <a:latin typeface="Arial"/>
                <a:cs typeface="Arial"/>
              </a:rPr>
              <a:t>/4</a:t>
            </a:r>
            <a:endParaRPr sz="1800">
              <a:latin typeface="Arial"/>
              <a:cs typeface="Arial"/>
            </a:endParaRPr>
          </a:p>
          <a:p>
            <a:pPr marL="38100" marR="123825" indent="104775">
              <a:lnSpc>
                <a:spcPts val="3460"/>
              </a:lnSpc>
            </a:pPr>
            <a:r>
              <a:rPr sz="1800" b="1" i="1" spc="30" dirty="0">
                <a:solidFill>
                  <a:srgbClr val="0000FF"/>
                </a:solidFill>
                <a:latin typeface="Corbel"/>
                <a:cs typeface="Corbel"/>
              </a:rPr>
              <a:t>r</a:t>
            </a:r>
            <a:r>
              <a:rPr sz="1800" b="1" i="1" spc="-22" baseline="-18518" dirty="0">
                <a:solidFill>
                  <a:srgbClr val="0000FF"/>
                </a:solidFill>
                <a:latin typeface="Corbel"/>
                <a:cs typeface="Corbel"/>
              </a:rPr>
              <a:t>j</a:t>
            </a:r>
            <a:r>
              <a:rPr sz="1800" b="1" i="1" spc="-10" dirty="0">
                <a:solidFill>
                  <a:srgbClr val="0000FF"/>
                </a:solidFill>
                <a:latin typeface="Corbel"/>
                <a:cs typeface="Corbel"/>
              </a:rPr>
              <a:t>/3  </a:t>
            </a:r>
            <a:r>
              <a:rPr sz="1800" b="1" i="1" spc="-5" dirty="0">
                <a:solidFill>
                  <a:srgbClr val="0000FF"/>
                </a:solidFill>
                <a:latin typeface="Corbel"/>
                <a:cs typeface="Corbel"/>
              </a:rPr>
              <a:t>r</a:t>
            </a:r>
            <a:r>
              <a:rPr sz="1800" b="1" i="1" spc="-7" baseline="-18518" dirty="0">
                <a:solidFill>
                  <a:srgbClr val="0000FF"/>
                </a:solidFill>
                <a:latin typeface="Corbel"/>
                <a:cs typeface="Corbel"/>
              </a:rPr>
              <a:t>j</a:t>
            </a:r>
            <a:r>
              <a:rPr sz="1800" b="1" i="1" spc="-5" dirty="0">
                <a:solidFill>
                  <a:srgbClr val="0000FF"/>
                </a:solidFill>
                <a:latin typeface="Corbel"/>
                <a:cs typeface="Corbel"/>
              </a:rPr>
              <a:t>/3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139051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438019"/>
            <a:ext cx="323850" cy="4006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906520"/>
            <a:ext cx="323850" cy="4006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13130" y="1347787"/>
            <a:ext cx="5175885" cy="2959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3835"/>
              </a:lnSpc>
              <a:spcBef>
                <a:spcPts val="125"/>
              </a:spcBef>
            </a:pPr>
            <a:r>
              <a:rPr sz="3200" b="1" spc="15" dirty="0">
                <a:solidFill>
                  <a:srgbClr val="D50092"/>
                </a:solidFill>
                <a:latin typeface="Calibri"/>
                <a:cs typeface="Calibri"/>
              </a:rPr>
              <a:t>A </a:t>
            </a: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“vote” </a:t>
            </a:r>
            <a:r>
              <a:rPr sz="3200" b="1" spc="-10" dirty="0">
                <a:solidFill>
                  <a:srgbClr val="D50092"/>
                </a:solidFill>
                <a:latin typeface="Calibri"/>
                <a:cs typeface="Calibri"/>
              </a:rPr>
              <a:t>from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an</a:t>
            </a:r>
            <a:r>
              <a:rPr sz="3200" b="1" spc="-14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important</a:t>
            </a:r>
            <a:endParaRPr sz="3200">
              <a:latin typeface="Calibri"/>
              <a:cs typeface="Calibri"/>
            </a:endParaRPr>
          </a:p>
          <a:p>
            <a:pPr marL="38100">
              <a:lnSpc>
                <a:spcPts val="3829"/>
              </a:lnSpc>
            </a:pP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page </a:t>
            </a:r>
            <a:r>
              <a:rPr sz="3200" b="1" spc="20" dirty="0">
                <a:solidFill>
                  <a:srgbClr val="D50092"/>
                </a:solidFill>
                <a:latin typeface="Calibri"/>
                <a:cs typeface="Calibri"/>
              </a:rPr>
              <a:t>is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worth</a:t>
            </a:r>
            <a:r>
              <a:rPr sz="3200" b="1" spc="-17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more</a:t>
            </a:r>
            <a:endParaRPr sz="3200">
              <a:latin typeface="Calibri"/>
              <a:cs typeface="Calibri"/>
            </a:endParaRPr>
          </a:p>
          <a:p>
            <a:pPr marL="38100">
              <a:lnSpc>
                <a:spcPts val="3835"/>
              </a:lnSpc>
            </a:pP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page </a:t>
            </a:r>
            <a:r>
              <a:rPr sz="3200" b="1" spc="20" dirty="0">
                <a:solidFill>
                  <a:srgbClr val="0000FF"/>
                </a:solidFill>
                <a:latin typeface="Calibri"/>
                <a:cs typeface="Calibri"/>
              </a:rPr>
              <a:t>is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important </a:t>
            </a:r>
            <a:r>
              <a:rPr sz="3200" b="1" spc="20" dirty="0">
                <a:solidFill>
                  <a:srgbClr val="0000FF"/>
                </a:solidFill>
                <a:latin typeface="Calibri"/>
                <a:cs typeface="Calibri"/>
              </a:rPr>
              <a:t>if it</a:t>
            </a:r>
            <a:r>
              <a:rPr sz="3200" b="1" spc="-4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20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endParaRPr sz="3200">
              <a:latin typeface="Calibri"/>
              <a:cs typeface="Calibri"/>
            </a:endParaRPr>
          </a:p>
          <a:p>
            <a:pPr marL="38100" marR="30480">
              <a:lnSpc>
                <a:spcPct val="100000"/>
              </a:lnSpc>
              <a:spcBef>
                <a:spcPts val="65"/>
              </a:spcBef>
            </a:pP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pointed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by other</a:t>
            </a:r>
            <a:r>
              <a:rPr sz="3200" b="1" spc="-3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important  pages</a:t>
            </a:r>
            <a:endParaRPr sz="3200">
              <a:latin typeface="Calibri"/>
              <a:cs typeface="Calibri"/>
            </a:endParaRPr>
          </a:p>
          <a:p>
            <a:pPr marL="38100">
              <a:lnSpc>
                <a:spcPts val="3820"/>
              </a:lnSpc>
            </a:pPr>
            <a:r>
              <a:rPr sz="3200" b="1" spc="20" dirty="0">
                <a:latin typeface="Calibri"/>
                <a:cs typeface="Calibri"/>
              </a:rPr>
              <a:t>Define </a:t>
            </a:r>
            <a:r>
              <a:rPr sz="3200" b="1" spc="10" dirty="0">
                <a:latin typeface="Calibri"/>
                <a:cs typeface="Calibri"/>
              </a:rPr>
              <a:t>a </a:t>
            </a:r>
            <a:r>
              <a:rPr sz="3200" b="1" spc="-5" dirty="0">
                <a:latin typeface="Calibri"/>
                <a:cs typeface="Calibri"/>
              </a:rPr>
              <a:t>“rank” </a:t>
            </a:r>
            <a:r>
              <a:rPr sz="3200" b="1" i="1" spc="10" dirty="0">
                <a:latin typeface="Times New Roman"/>
                <a:cs typeface="Times New Roman"/>
              </a:rPr>
              <a:t>r</a:t>
            </a:r>
            <a:r>
              <a:rPr sz="3150" b="1" i="1" spc="15" baseline="-19841" dirty="0">
                <a:latin typeface="Times New Roman"/>
                <a:cs typeface="Times New Roman"/>
              </a:rPr>
              <a:t>j </a:t>
            </a:r>
            <a:r>
              <a:rPr sz="3200" b="1" spc="-10" dirty="0">
                <a:latin typeface="Calibri"/>
                <a:cs typeface="Calibri"/>
              </a:rPr>
              <a:t>for </a:t>
            </a:r>
            <a:r>
              <a:rPr sz="3200" b="1" spc="-5" dirty="0">
                <a:latin typeface="Calibri"/>
                <a:cs typeface="Calibri"/>
              </a:rPr>
              <a:t>page</a:t>
            </a:r>
            <a:r>
              <a:rPr sz="3200" b="1" spc="-220" dirty="0">
                <a:latin typeface="Calibri"/>
                <a:cs typeface="Calibri"/>
              </a:rPr>
              <a:t> </a:t>
            </a:r>
            <a:r>
              <a:rPr sz="3200" b="1" i="1" spc="5" dirty="0">
                <a:latin typeface="Times New Roman"/>
                <a:cs typeface="Times New Roman"/>
              </a:rPr>
              <a:t>j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91234" y="4515912"/>
            <a:ext cx="147764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000" i="1" spc="35" dirty="0">
                <a:latin typeface="Times New Roman"/>
                <a:cs typeface="Times New Roman"/>
              </a:rPr>
              <a:t>r</a:t>
            </a:r>
            <a:r>
              <a:rPr sz="3450" i="1" spc="52" baseline="-24154" dirty="0">
                <a:latin typeface="Times New Roman"/>
                <a:cs typeface="Times New Roman"/>
              </a:rPr>
              <a:t>j </a:t>
            </a:r>
            <a:r>
              <a:rPr sz="4000" spc="-5" dirty="0">
                <a:latin typeface="Symbol"/>
                <a:cs typeface="Symbol"/>
              </a:rPr>
              <a:t></a:t>
            </a:r>
            <a:r>
              <a:rPr sz="4000" spc="-15" dirty="0">
                <a:latin typeface="Times New Roman"/>
                <a:cs typeface="Times New Roman"/>
              </a:rPr>
              <a:t> </a:t>
            </a:r>
            <a:r>
              <a:rPr sz="9000" spc="-7" baseline="-8796" dirty="0">
                <a:latin typeface="Symbol"/>
                <a:cs typeface="Symbol"/>
              </a:rPr>
              <a:t></a:t>
            </a:r>
            <a:endParaRPr sz="9000" baseline="-8796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77917" y="4455052"/>
            <a:ext cx="223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/>
                <a:cs typeface="Times New Roman"/>
              </a:rPr>
              <a:t>r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410450" y="2514536"/>
            <a:ext cx="1733550" cy="2262505"/>
            <a:chOff x="7410450" y="2514536"/>
            <a:chExt cx="1733550" cy="226250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8391" y="2581052"/>
              <a:ext cx="528955" cy="52895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10450" y="2514536"/>
              <a:ext cx="614362" cy="73818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486650" y="25907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2341" y="4105052"/>
              <a:ext cx="528955" cy="5289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7250" y="4038536"/>
              <a:ext cx="666750" cy="73818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610600" y="41147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708390" y="4143629"/>
            <a:ext cx="2800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96050" y="4038536"/>
            <a:ext cx="624205" cy="738505"/>
            <a:chOff x="6496050" y="4038536"/>
            <a:chExt cx="624205" cy="73850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33991" y="4105052"/>
              <a:ext cx="528955" cy="52895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96050" y="4038536"/>
              <a:ext cx="623887" cy="73818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572250" y="41147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725284" y="4143629"/>
            <a:ext cx="1784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877685" y="2335021"/>
            <a:ext cx="1757045" cy="2127885"/>
          </a:xfrm>
          <a:custGeom>
            <a:avLst/>
            <a:gdLst/>
            <a:ahLst/>
            <a:cxnLst/>
            <a:rect l="l" t="t" r="r" b="b"/>
            <a:pathLst>
              <a:path w="1757045" h="2127885">
                <a:moveTo>
                  <a:pt x="689864" y="641604"/>
                </a:moveTo>
                <a:lnTo>
                  <a:pt x="618109" y="687324"/>
                </a:lnTo>
                <a:lnTo>
                  <a:pt x="646633" y="704430"/>
                </a:lnTo>
                <a:lnTo>
                  <a:pt x="0" y="1782064"/>
                </a:lnTo>
                <a:lnTo>
                  <a:pt x="8255" y="1787017"/>
                </a:lnTo>
                <a:lnTo>
                  <a:pt x="654799" y="709320"/>
                </a:lnTo>
                <a:lnTo>
                  <a:pt x="683387" y="726440"/>
                </a:lnTo>
                <a:lnTo>
                  <a:pt x="685888" y="693547"/>
                </a:lnTo>
                <a:lnTo>
                  <a:pt x="689864" y="641604"/>
                </a:lnTo>
                <a:close/>
              </a:path>
              <a:path w="1757045" h="2127885">
                <a:moveTo>
                  <a:pt x="770255" y="720217"/>
                </a:moveTo>
                <a:lnTo>
                  <a:pt x="762000" y="715264"/>
                </a:lnTo>
                <a:lnTo>
                  <a:pt x="115443" y="1792973"/>
                </a:lnTo>
                <a:lnTo>
                  <a:pt x="86868" y="1775841"/>
                </a:lnTo>
                <a:lnTo>
                  <a:pt x="80391" y="1860677"/>
                </a:lnTo>
                <a:lnTo>
                  <a:pt x="152146" y="1814957"/>
                </a:lnTo>
                <a:lnTo>
                  <a:pt x="141757" y="1808734"/>
                </a:lnTo>
                <a:lnTo>
                  <a:pt x="123609" y="1797862"/>
                </a:lnTo>
                <a:lnTo>
                  <a:pt x="770255" y="720217"/>
                </a:lnTo>
                <a:close/>
              </a:path>
              <a:path w="1757045" h="2127885">
                <a:moveTo>
                  <a:pt x="1304264" y="246888"/>
                </a:moveTo>
                <a:lnTo>
                  <a:pt x="1293622" y="200152"/>
                </a:lnTo>
                <a:lnTo>
                  <a:pt x="1273048" y="165989"/>
                </a:lnTo>
                <a:lnTo>
                  <a:pt x="1242822" y="133731"/>
                </a:lnTo>
                <a:lnTo>
                  <a:pt x="1204468" y="103759"/>
                </a:lnTo>
                <a:lnTo>
                  <a:pt x="1159002" y="76327"/>
                </a:lnTo>
                <a:lnTo>
                  <a:pt x="1107440" y="52197"/>
                </a:lnTo>
                <a:lnTo>
                  <a:pt x="1051179" y="32131"/>
                </a:lnTo>
                <a:lnTo>
                  <a:pt x="1011555" y="20955"/>
                </a:lnTo>
                <a:lnTo>
                  <a:pt x="970280" y="12065"/>
                </a:lnTo>
                <a:lnTo>
                  <a:pt x="955395" y="9525"/>
                </a:lnTo>
                <a:lnTo>
                  <a:pt x="949452" y="8509"/>
                </a:lnTo>
                <a:lnTo>
                  <a:pt x="906907" y="3048"/>
                </a:lnTo>
                <a:lnTo>
                  <a:pt x="863981" y="381"/>
                </a:lnTo>
                <a:lnTo>
                  <a:pt x="842391" y="0"/>
                </a:lnTo>
                <a:lnTo>
                  <a:pt x="820801" y="381"/>
                </a:lnTo>
                <a:lnTo>
                  <a:pt x="777875" y="3175"/>
                </a:lnTo>
                <a:lnTo>
                  <a:pt x="735330" y="8509"/>
                </a:lnTo>
                <a:lnTo>
                  <a:pt x="693801" y="16383"/>
                </a:lnTo>
                <a:lnTo>
                  <a:pt x="633730" y="32131"/>
                </a:lnTo>
                <a:lnTo>
                  <a:pt x="595757" y="45212"/>
                </a:lnTo>
                <a:lnTo>
                  <a:pt x="559562" y="60071"/>
                </a:lnTo>
                <a:lnTo>
                  <a:pt x="509905" y="85344"/>
                </a:lnTo>
                <a:lnTo>
                  <a:pt x="466725" y="113665"/>
                </a:lnTo>
                <a:lnTo>
                  <a:pt x="431038" y="144526"/>
                </a:lnTo>
                <a:lnTo>
                  <a:pt x="403860" y="177419"/>
                </a:lnTo>
                <a:lnTo>
                  <a:pt x="386461" y="211963"/>
                </a:lnTo>
                <a:lnTo>
                  <a:pt x="380365" y="248031"/>
                </a:lnTo>
                <a:lnTo>
                  <a:pt x="380619" y="259334"/>
                </a:lnTo>
                <a:lnTo>
                  <a:pt x="388366" y="305435"/>
                </a:lnTo>
                <a:lnTo>
                  <a:pt x="410845" y="360045"/>
                </a:lnTo>
                <a:lnTo>
                  <a:pt x="437388" y="399796"/>
                </a:lnTo>
                <a:lnTo>
                  <a:pt x="469900" y="434594"/>
                </a:lnTo>
                <a:lnTo>
                  <a:pt x="507365" y="462788"/>
                </a:lnTo>
                <a:lnTo>
                  <a:pt x="527812" y="474218"/>
                </a:lnTo>
                <a:lnTo>
                  <a:pt x="528320" y="474472"/>
                </a:lnTo>
                <a:lnTo>
                  <a:pt x="538543" y="477786"/>
                </a:lnTo>
                <a:lnTo>
                  <a:pt x="531114" y="511556"/>
                </a:lnTo>
                <a:lnTo>
                  <a:pt x="613791" y="490728"/>
                </a:lnTo>
                <a:lnTo>
                  <a:pt x="602475" y="481584"/>
                </a:lnTo>
                <a:lnTo>
                  <a:pt x="547497" y="437134"/>
                </a:lnTo>
                <a:lnTo>
                  <a:pt x="540600" y="468426"/>
                </a:lnTo>
                <a:lnTo>
                  <a:pt x="532396" y="465709"/>
                </a:lnTo>
                <a:lnTo>
                  <a:pt x="531736" y="465505"/>
                </a:lnTo>
                <a:lnTo>
                  <a:pt x="531444" y="465328"/>
                </a:lnTo>
                <a:lnTo>
                  <a:pt x="494157" y="442214"/>
                </a:lnTo>
                <a:lnTo>
                  <a:pt x="460121" y="411734"/>
                </a:lnTo>
                <a:lnTo>
                  <a:pt x="431419" y="375666"/>
                </a:lnTo>
                <a:lnTo>
                  <a:pt x="409194" y="335280"/>
                </a:lnTo>
                <a:lnTo>
                  <a:pt x="394970" y="292227"/>
                </a:lnTo>
                <a:lnTo>
                  <a:pt x="389890" y="248031"/>
                </a:lnTo>
                <a:lnTo>
                  <a:pt x="390525" y="237236"/>
                </a:lnTo>
                <a:lnTo>
                  <a:pt x="405130" y="193802"/>
                </a:lnTo>
                <a:lnTo>
                  <a:pt x="427990" y="161798"/>
                </a:lnTo>
                <a:lnTo>
                  <a:pt x="459740" y="131191"/>
                </a:lnTo>
                <a:lnTo>
                  <a:pt x="499745" y="102616"/>
                </a:lnTo>
                <a:lnTo>
                  <a:pt x="546354" y="76708"/>
                </a:lnTo>
                <a:lnTo>
                  <a:pt x="598805" y="54102"/>
                </a:lnTo>
                <a:lnTo>
                  <a:pt x="636270" y="41275"/>
                </a:lnTo>
                <a:lnTo>
                  <a:pt x="675513" y="30353"/>
                </a:lnTo>
                <a:lnTo>
                  <a:pt x="716026" y="21463"/>
                </a:lnTo>
                <a:lnTo>
                  <a:pt x="757555" y="14986"/>
                </a:lnTo>
                <a:lnTo>
                  <a:pt x="799846" y="10922"/>
                </a:lnTo>
                <a:lnTo>
                  <a:pt x="842264" y="9525"/>
                </a:lnTo>
                <a:lnTo>
                  <a:pt x="863473" y="9779"/>
                </a:lnTo>
                <a:lnTo>
                  <a:pt x="905891" y="12573"/>
                </a:lnTo>
                <a:lnTo>
                  <a:pt x="947801" y="17907"/>
                </a:lnTo>
                <a:lnTo>
                  <a:pt x="988949" y="25527"/>
                </a:lnTo>
                <a:lnTo>
                  <a:pt x="1048131" y="41148"/>
                </a:lnTo>
                <a:lnTo>
                  <a:pt x="1085723" y="53848"/>
                </a:lnTo>
                <a:lnTo>
                  <a:pt x="1121156" y="68580"/>
                </a:lnTo>
                <a:lnTo>
                  <a:pt x="1169924" y="93218"/>
                </a:lnTo>
                <a:lnTo>
                  <a:pt x="1212215" y="120904"/>
                </a:lnTo>
                <a:lnTo>
                  <a:pt x="1246886" y="150876"/>
                </a:lnTo>
                <a:lnTo>
                  <a:pt x="1272921" y="182118"/>
                </a:lnTo>
                <a:lnTo>
                  <a:pt x="1292225" y="225171"/>
                </a:lnTo>
                <a:lnTo>
                  <a:pt x="1294765" y="246888"/>
                </a:lnTo>
                <a:lnTo>
                  <a:pt x="1294511" y="257937"/>
                </a:lnTo>
                <a:lnTo>
                  <a:pt x="1287018" y="301879"/>
                </a:lnTo>
                <a:lnTo>
                  <a:pt x="1265428" y="354330"/>
                </a:lnTo>
                <a:lnTo>
                  <a:pt x="1239774" y="392684"/>
                </a:lnTo>
                <a:lnTo>
                  <a:pt x="1208405" y="426085"/>
                </a:lnTo>
                <a:lnTo>
                  <a:pt x="1172210" y="453136"/>
                </a:lnTo>
                <a:lnTo>
                  <a:pt x="1132840" y="472694"/>
                </a:lnTo>
                <a:lnTo>
                  <a:pt x="1091946" y="482981"/>
                </a:lnTo>
                <a:lnTo>
                  <a:pt x="1070737" y="484378"/>
                </a:lnTo>
                <a:lnTo>
                  <a:pt x="1071118" y="493903"/>
                </a:lnTo>
                <a:lnTo>
                  <a:pt x="1114679" y="488315"/>
                </a:lnTo>
                <a:lnTo>
                  <a:pt x="1156843" y="472694"/>
                </a:lnTo>
                <a:lnTo>
                  <a:pt x="1196213" y="448437"/>
                </a:lnTo>
                <a:lnTo>
                  <a:pt x="1231392" y="416941"/>
                </a:lnTo>
                <a:lnTo>
                  <a:pt x="1261110" y="379603"/>
                </a:lnTo>
                <a:lnTo>
                  <a:pt x="1284224" y="337947"/>
                </a:lnTo>
                <a:lnTo>
                  <a:pt x="1298956" y="293370"/>
                </a:lnTo>
                <a:lnTo>
                  <a:pt x="1304264" y="248031"/>
                </a:lnTo>
                <a:lnTo>
                  <a:pt x="1304264" y="246888"/>
                </a:lnTo>
                <a:close/>
              </a:path>
              <a:path w="1757045" h="2127885">
                <a:moveTo>
                  <a:pt x="1737614" y="2089277"/>
                </a:moveTo>
                <a:lnTo>
                  <a:pt x="1728216" y="2084578"/>
                </a:lnTo>
                <a:lnTo>
                  <a:pt x="1661414" y="2051177"/>
                </a:lnTo>
                <a:lnTo>
                  <a:pt x="1661414" y="2084578"/>
                </a:lnTo>
                <a:lnTo>
                  <a:pt x="137414" y="2084578"/>
                </a:lnTo>
                <a:lnTo>
                  <a:pt x="137414" y="2094103"/>
                </a:lnTo>
                <a:lnTo>
                  <a:pt x="1661414" y="2094103"/>
                </a:lnTo>
                <a:lnTo>
                  <a:pt x="1661414" y="2127377"/>
                </a:lnTo>
                <a:lnTo>
                  <a:pt x="1727962" y="2094103"/>
                </a:lnTo>
                <a:lnTo>
                  <a:pt x="1737614" y="2089277"/>
                </a:lnTo>
                <a:close/>
              </a:path>
              <a:path w="1757045" h="2127885">
                <a:moveTo>
                  <a:pt x="1756791" y="1932178"/>
                </a:moveTo>
                <a:lnTo>
                  <a:pt x="232791" y="1932178"/>
                </a:lnTo>
                <a:lnTo>
                  <a:pt x="232791" y="1898777"/>
                </a:lnTo>
                <a:lnTo>
                  <a:pt x="156591" y="1936877"/>
                </a:lnTo>
                <a:lnTo>
                  <a:pt x="232791" y="1974977"/>
                </a:lnTo>
                <a:lnTo>
                  <a:pt x="232791" y="1941703"/>
                </a:lnTo>
                <a:lnTo>
                  <a:pt x="1756791" y="1941703"/>
                </a:lnTo>
                <a:lnTo>
                  <a:pt x="1756791" y="19321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226934" y="4372610"/>
            <a:ext cx="50673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325" baseline="-19713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/2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30134" y="3705161"/>
            <a:ext cx="1257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latin typeface="Times New Roman"/>
                <a:cs typeface="Times New Roman"/>
              </a:rPr>
              <a:t>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25359" y="3533838"/>
            <a:ext cx="4559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/2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96481" y="3400107"/>
            <a:ext cx="11493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latin typeface="Times New Roman"/>
                <a:cs typeface="Times New Roman"/>
              </a:rPr>
              <a:t>a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91325" y="3228086"/>
            <a:ext cx="45593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/2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57414" y="3914775"/>
            <a:ext cx="3371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325" spc="30" baseline="-19713" dirty="0">
                <a:latin typeface="Times New Roman"/>
                <a:cs typeface="Times New Roman"/>
              </a:rPr>
              <a:t>m</a:t>
            </a:r>
            <a:endParaRPr sz="2325" baseline="-19713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52359" y="1931352"/>
            <a:ext cx="506730" cy="1078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r</a:t>
            </a:r>
            <a:r>
              <a:rPr sz="2325" spc="-30" baseline="-19713" dirty="0">
                <a:latin typeface="Times New Roman"/>
                <a:cs typeface="Times New Roman"/>
              </a:rPr>
              <a:t>y</a:t>
            </a:r>
            <a:r>
              <a:rPr sz="2400" spc="-20" dirty="0">
                <a:latin typeface="Times New Roman"/>
                <a:cs typeface="Times New Roman"/>
              </a:rPr>
              <a:t>/2</a:t>
            </a:r>
            <a:endParaRPr sz="2400">
              <a:latin typeface="Times New Roman"/>
              <a:cs typeface="Times New Roman"/>
            </a:endParaRPr>
          </a:p>
          <a:p>
            <a:pPr marL="200660">
              <a:lnSpc>
                <a:spcPct val="100000"/>
              </a:lnSpc>
              <a:spcBef>
                <a:spcPts val="253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972173" y="1428622"/>
            <a:ext cx="1886585" cy="419734"/>
          </a:xfrm>
          <a:custGeom>
            <a:avLst/>
            <a:gdLst/>
            <a:ahLst/>
            <a:cxnLst/>
            <a:rect l="l" t="t" r="r" b="b"/>
            <a:pathLst>
              <a:path w="1886584" h="419735">
                <a:moveTo>
                  <a:pt x="1886204" y="23876"/>
                </a:moveTo>
                <a:lnTo>
                  <a:pt x="1884324" y="14579"/>
                </a:lnTo>
                <a:lnTo>
                  <a:pt x="1879193" y="6985"/>
                </a:lnTo>
                <a:lnTo>
                  <a:pt x="1871573" y="1879"/>
                </a:lnTo>
                <a:lnTo>
                  <a:pt x="1862201" y="0"/>
                </a:lnTo>
                <a:lnTo>
                  <a:pt x="23876" y="0"/>
                </a:lnTo>
                <a:lnTo>
                  <a:pt x="14566" y="1879"/>
                </a:lnTo>
                <a:lnTo>
                  <a:pt x="6985" y="6985"/>
                </a:lnTo>
                <a:lnTo>
                  <a:pt x="1866" y="14579"/>
                </a:lnTo>
                <a:lnTo>
                  <a:pt x="0" y="23876"/>
                </a:lnTo>
                <a:lnTo>
                  <a:pt x="0" y="395351"/>
                </a:lnTo>
                <a:lnTo>
                  <a:pt x="1866" y="404736"/>
                </a:lnTo>
                <a:lnTo>
                  <a:pt x="6985" y="412356"/>
                </a:lnTo>
                <a:lnTo>
                  <a:pt x="14566" y="417487"/>
                </a:lnTo>
                <a:lnTo>
                  <a:pt x="23876" y="419354"/>
                </a:lnTo>
                <a:lnTo>
                  <a:pt x="1862201" y="419354"/>
                </a:lnTo>
                <a:lnTo>
                  <a:pt x="1871573" y="417487"/>
                </a:lnTo>
                <a:lnTo>
                  <a:pt x="1879193" y="412356"/>
                </a:lnTo>
                <a:lnTo>
                  <a:pt x="1884324" y="404736"/>
                </a:lnTo>
                <a:lnTo>
                  <a:pt x="1886204" y="395351"/>
                </a:lnTo>
                <a:lnTo>
                  <a:pt x="1886204" y="390652"/>
                </a:lnTo>
                <a:lnTo>
                  <a:pt x="1886204" y="28702"/>
                </a:lnTo>
                <a:lnTo>
                  <a:pt x="1886204" y="238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996176" y="1452625"/>
            <a:ext cx="1838325" cy="3714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185"/>
              </a:spcBef>
            </a:pPr>
            <a:r>
              <a:rPr sz="1800" spc="-5" dirty="0">
                <a:solidFill>
                  <a:srgbClr val="FFFFFF"/>
                </a:solidFill>
                <a:latin typeface="Corbel"/>
                <a:cs typeface="Corbel"/>
              </a:rPr>
              <a:t>The web </a:t>
            </a:r>
            <a:r>
              <a:rPr sz="1800" spc="15" dirty="0">
                <a:solidFill>
                  <a:srgbClr val="FFFFFF"/>
                </a:solidFill>
                <a:latin typeface="Corbel"/>
                <a:cs typeface="Corbel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1839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60871" y="4938326"/>
            <a:ext cx="2165350" cy="141922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</a:pPr>
            <a:r>
              <a:rPr sz="1800" b="1" dirty="0">
                <a:solidFill>
                  <a:srgbClr val="008000"/>
                </a:solidFill>
                <a:latin typeface="Corbel"/>
                <a:cs typeface="Corbel"/>
              </a:rPr>
              <a:t>“Flow”</a:t>
            </a:r>
            <a:r>
              <a:rPr sz="1800" b="1" spc="-5" dirty="0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sz="1800" b="1" spc="-15" dirty="0">
                <a:solidFill>
                  <a:srgbClr val="008000"/>
                </a:solidFill>
                <a:latin typeface="Corbel"/>
                <a:cs typeface="Corbel"/>
              </a:rPr>
              <a:t>equations:</a:t>
            </a:r>
            <a:endParaRPr sz="1800">
              <a:latin typeface="Corbel"/>
              <a:cs typeface="Corbel"/>
            </a:endParaRPr>
          </a:p>
          <a:p>
            <a:pPr marL="419100" marR="30480">
              <a:lnSpc>
                <a:spcPts val="2860"/>
              </a:lnSpc>
              <a:spcBef>
                <a:spcPts val="55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25" dirty="0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+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 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025" b="1" spc="51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25" dirty="0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+</a:t>
            </a:r>
            <a:r>
              <a:rPr sz="2000" b="1" spc="-29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m</a:t>
            </a:r>
            <a:endParaRPr sz="2025" baseline="-18518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  <a:spcBef>
                <a:spcPts val="350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m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025" b="1" spc="262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13026" y="6280467"/>
            <a:ext cx="28695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8000"/>
                </a:solidFill>
                <a:latin typeface="Cambria Math"/>
                <a:cs typeface="Cambria Math"/>
              </a:rPr>
              <a:t>𝒅</a:t>
            </a:r>
            <a:r>
              <a:rPr sz="2025" spc="-30" baseline="-16460" dirty="0">
                <a:solidFill>
                  <a:srgbClr val="008000"/>
                </a:solidFill>
                <a:latin typeface="Cambria Math"/>
                <a:cs typeface="Cambria Math"/>
              </a:rPr>
              <a:t>𝒊 </a:t>
            </a:r>
            <a:r>
              <a:rPr sz="1800" b="1" dirty="0">
                <a:solidFill>
                  <a:srgbClr val="008000"/>
                </a:solidFill>
                <a:latin typeface="Arial"/>
                <a:cs typeface="Arial"/>
              </a:rPr>
              <a:t>… out-degree </a:t>
            </a:r>
            <a:r>
              <a:rPr sz="1800" b="1" spc="10" dirty="0">
                <a:solidFill>
                  <a:srgbClr val="008000"/>
                </a:solidFill>
                <a:latin typeface="Arial"/>
                <a:cs typeface="Arial"/>
              </a:rPr>
              <a:t>of </a:t>
            </a:r>
            <a:r>
              <a:rPr sz="1800" b="1" spc="20" dirty="0">
                <a:solidFill>
                  <a:srgbClr val="008000"/>
                </a:solidFill>
                <a:latin typeface="Arial"/>
                <a:cs typeface="Arial"/>
              </a:rPr>
              <a:t>node</a:t>
            </a:r>
            <a:r>
              <a:rPr sz="1800" b="1" spc="-19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8000"/>
                </a:solidFill>
                <a:latin typeface="Cambria Math"/>
                <a:cs typeface="Cambria Math"/>
              </a:rPr>
              <a:t>𝒊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333311"/>
            <a:ext cx="6672326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17637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00162"/>
            <a:ext cx="4362450" cy="95631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65"/>
              </a:spcBef>
            </a:pP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3 equations, 3</a:t>
            </a:r>
            <a:r>
              <a:rPr b="1" spc="-3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unknowns,  </a:t>
            </a:r>
            <a:r>
              <a:rPr b="1" spc="15" dirty="0">
                <a:solidFill>
                  <a:srgbClr val="0000FF"/>
                </a:solidFill>
                <a:latin typeface="Calibri"/>
                <a:cs typeface="Calibri"/>
              </a:rPr>
              <a:t>no</a:t>
            </a:r>
            <a:r>
              <a:rPr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spc="5" dirty="0">
                <a:solidFill>
                  <a:srgbClr val="0000FF"/>
                </a:solidFill>
                <a:latin typeface="Calibri"/>
                <a:cs typeface="Calibri"/>
              </a:rPr>
              <a:t>constants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238880"/>
            <a:ext cx="323850" cy="4006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94080" y="2238438"/>
            <a:ext cx="7237730" cy="192341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2425" indent="-276860">
              <a:lnSpc>
                <a:spcPct val="100000"/>
              </a:lnSpc>
              <a:spcBef>
                <a:spcPts val="475"/>
              </a:spcBef>
              <a:buClr>
                <a:srgbClr val="5FB5CC"/>
              </a:buClr>
              <a:buFont typeface="Wingdings"/>
              <a:buChar char=""/>
              <a:tabLst>
                <a:tab pos="353060" algn="l"/>
              </a:tabLst>
            </a:pPr>
            <a:r>
              <a:rPr sz="2750" spc="15" dirty="0">
                <a:latin typeface="Calibri"/>
                <a:cs typeface="Calibri"/>
              </a:rPr>
              <a:t>No </a:t>
            </a:r>
            <a:r>
              <a:rPr sz="2750" spc="-20" dirty="0">
                <a:latin typeface="Calibri"/>
                <a:cs typeface="Calibri"/>
              </a:rPr>
              <a:t>unique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solution</a:t>
            </a:r>
            <a:endParaRPr sz="2750">
              <a:latin typeface="Calibri"/>
              <a:cs typeface="Calibri"/>
            </a:endParaRPr>
          </a:p>
          <a:p>
            <a:pPr marL="352425" indent="-276860">
              <a:lnSpc>
                <a:spcPts val="3115"/>
              </a:lnSpc>
              <a:spcBef>
                <a:spcPts val="380"/>
              </a:spcBef>
              <a:buClr>
                <a:srgbClr val="5FB5CC"/>
              </a:buClr>
              <a:buFont typeface="Wingdings"/>
              <a:buChar char=""/>
              <a:tabLst>
                <a:tab pos="353060" algn="l"/>
              </a:tabLst>
            </a:pPr>
            <a:r>
              <a:rPr sz="2750" spc="-15" dirty="0">
                <a:latin typeface="Calibri"/>
                <a:cs typeface="Calibri"/>
              </a:rPr>
              <a:t>All </a:t>
            </a:r>
            <a:r>
              <a:rPr sz="2750" spc="-10" dirty="0">
                <a:latin typeface="Calibri"/>
                <a:cs typeface="Calibri"/>
              </a:rPr>
              <a:t>solutions </a:t>
            </a:r>
            <a:r>
              <a:rPr sz="2750" spc="-20" dirty="0">
                <a:latin typeface="Calibri"/>
                <a:cs typeface="Calibri"/>
              </a:rPr>
              <a:t>equivalent </a:t>
            </a:r>
            <a:r>
              <a:rPr sz="2750" spc="5" dirty="0">
                <a:latin typeface="Calibri"/>
                <a:cs typeface="Calibri"/>
              </a:rPr>
              <a:t>modulo </a:t>
            </a:r>
            <a:r>
              <a:rPr sz="2750" spc="-15" dirty="0">
                <a:latin typeface="Calibri"/>
                <a:cs typeface="Calibri"/>
              </a:rPr>
              <a:t>the </a:t>
            </a:r>
            <a:r>
              <a:rPr sz="2750" dirty="0">
                <a:latin typeface="Calibri"/>
                <a:cs typeface="Calibri"/>
              </a:rPr>
              <a:t>scale</a:t>
            </a:r>
            <a:r>
              <a:rPr sz="2750" spc="-26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factor</a:t>
            </a:r>
            <a:endParaRPr sz="2750">
              <a:latin typeface="Calibri"/>
              <a:cs typeface="Calibri"/>
            </a:endParaRPr>
          </a:p>
          <a:p>
            <a:pPr marL="57150">
              <a:lnSpc>
                <a:spcPts val="3654"/>
              </a:lnSpc>
            </a:pP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Additional </a:t>
            </a:r>
            <a:r>
              <a:rPr sz="3200" b="1" spc="-5" dirty="0">
                <a:solidFill>
                  <a:srgbClr val="008000"/>
                </a:solidFill>
                <a:latin typeface="Calibri"/>
                <a:cs typeface="Calibri"/>
              </a:rPr>
              <a:t>constraint </a:t>
            </a:r>
            <a:r>
              <a:rPr sz="3200" b="1" spc="-15" dirty="0">
                <a:solidFill>
                  <a:srgbClr val="008000"/>
                </a:solidFill>
                <a:latin typeface="Calibri"/>
                <a:cs typeface="Calibri"/>
              </a:rPr>
              <a:t>forces</a:t>
            </a:r>
            <a:r>
              <a:rPr sz="3200" b="1" spc="-3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uniqueness:</a:t>
            </a:r>
            <a:endParaRPr sz="3200">
              <a:latin typeface="Calibri"/>
              <a:cs typeface="Calibri"/>
            </a:endParaRPr>
          </a:p>
          <a:p>
            <a:pPr marL="352425" indent="-276860">
              <a:lnSpc>
                <a:spcPct val="100000"/>
              </a:lnSpc>
              <a:spcBef>
                <a:spcPts val="815"/>
              </a:spcBef>
              <a:buClr>
                <a:srgbClr val="5FB5CC"/>
              </a:buClr>
              <a:buFont typeface="Wingdings"/>
              <a:buChar char=""/>
              <a:tabLst>
                <a:tab pos="353060" algn="l"/>
                <a:tab pos="867410" algn="l"/>
                <a:tab pos="2707640" algn="l"/>
              </a:tabLst>
            </a:pPr>
            <a:r>
              <a:rPr sz="2750" spc="20" dirty="0">
                <a:latin typeface="Cambria Math"/>
                <a:cs typeface="Cambria Math"/>
              </a:rPr>
              <a:t>𝒓</a:t>
            </a:r>
            <a:r>
              <a:rPr sz="3000" spc="30" baseline="-16666" dirty="0">
                <a:latin typeface="Cambria Math"/>
                <a:cs typeface="Cambria Math"/>
              </a:rPr>
              <a:t>𝒚	</a:t>
            </a:r>
            <a:r>
              <a:rPr sz="2750" spc="20" dirty="0">
                <a:latin typeface="Cambria Math"/>
                <a:cs typeface="Cambria Math"/>
              </a:rPr>
              <a:t>+ </a:t>
            </a:r>
            <a:r>
              <a:rPr sz="2750" spc="15" dirty="0">
                <a:latin typeface="Cambria Math"/>
                <a:cs typeface="Cambria Math"/>
              </a:rPr>
              <a:t>𝒓</a:t>
            </a:r>
            <a:r>
              <a:rPr sz="3000" spc="22" baseline="-16666" dirty="0">
                <a:latin typeface="Cambria Math"/>
                <a:cs typeface="Cambria Math"/>
              </a:rPr>
              <a:t>𝒂</a:t>
            </a:r>
            <a:r>
              <a:rPr sz="3000" spc="487" baseline="-16666" dirty="0">
                <a:latin typeface="Cambria Math"/>
                <a:cs typeface="Cambria Math"/>
              </a:rPr>
              <a:t> </a:t>
            </a:r>
            <a:r>
              <a:rPr sz="2750" spc="20" dirty="0">
                <a:latin typeface="Cambria Math"/>
                <a:cs typeface="Cambria Math"/>
              </a:rPr>
              <a:t>+</a:t>
            </a:r>
            <a:r>
              <a:rPr sz="2750" spc="625" dirty="0">
                <a:latin typeface="Cambria Math"/>
                <a:cs typeface="Cambria Math"/>
              </a:rPr>
              <a:t> </a:t>
            </a:r>
            <a:r>
              <a:rPr sz="2750" spc="20" dirty="0">
                <a:latin typeface="Cambria Math"/>
                <a:cs typeface="Cambria Math"/>
              </a:rPr>
              <a:t>𝒓</a:t>
            </a:r>
            <a:r>
              <a:rPr sz="3000" spc="30" baseline="-16666" dirty="0">
                <a:latin typeface="Cambria Math"/>
                <a:cs typeface="Cambria Math"/>
              </a:rPr>
              <a:t>𝒎	</a:t>
            </a:r>
            <a:r>
              <a:rPr sz="2750" spc="20" dirty="0">
                <a:latin typeface="Cambria Math"/>
                <a:cs typeface="Cambria Math"/>
              </a:rPr>
              <a:t>=</a:t>
            </a:r>
            <a:r>
              <a:rPr sz="2750" spc="145" dirty="0">
                <a:latin typeface="Cambria Math"/>
                <a:cs typeface="Cambria Math"/>
              </a:rPr>
              <a:t> </a:t>
            </a:r>
            <a:r>
              <a:rPr sz="2750" spc="15" dirty="0">
                <a:latin typeface="Cambria Math"/>
                <a:cs typeface="Cambria Math"/>
              </a:rPr>
              <a:t>𝟏</a:t>
            </a:r>
            <a:endParaRPr sz="27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2180" y="4352353"/>
            <a:ext cx="210883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4325" indent="-276860">
              <a:lnSpc>
                <a:spcPct val="100000"/>
              </a:lnSpc>
              <a:spcBef>
                <a:spcPts val="125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b="1" spc="5" dirty="0">
                <a:solidFill>
                  <a:srgbClr val="008000"/>
                </a:solidFill>
                <a:latin typeface="Calibri"/>
                <a:cs typeface="Calibri"/>
              </a:rPr>
              <a:t>Solution:</a:t>
            </a:r>
            <a:r>
              <a:rPr sz="2750" b="1" spc="6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750" spc="20" dirty="0">
                <a:latin typeface="Cambria Math"/>
                <a:cs typeface="Cambria Math"/>
              </a:rPr>
              <a:t>𝒓</a:t>
            </a:r>
            <a:r>
              <a:rPr sz="3000" spc="30" baseline="-16666" dirty="0">
                <a:latin typeface="Cambria Math"/>
                <a:cs typeface="Cambria Math"/>
              </a:rPr>
              <a:t>𝒚</a:t>
            </a:r>
            <a:endParaRPr sz="3000" baseline="-16666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50539" y="4606290"/>
            <a:ext cx="152400" cy="19050"/>
          </a:xfrm>
          <a:custGeom>
            <a:avLst/>
            <a:gdLst/>
            <a:ahLst/>
            <a:cxnLst/>
            <a:rect l="l" t="t" r="r" b="b"/>
            <a:pathLst>
              <a:path w="152400" h="19050">
                <a:moveTo>
                  <a:pt x="152400" y="0"/>
                </a:moveTo>
                <a:lnTo>
                  <a:pt x="0" y="0"/>
                </a:lnTo>
                <a:lnTo>
                  <a:pt x="0" y="19050"/>
                </a:lnTo>
                <a:lnTo>
                  <a:pt x="152400" y="1905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53791" y="4352353"/>
            <a:ext cx="1256665" cy="610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2740"/>
              </a:lnSpc>
              <a:spcBef>
                <a:spcPts val="125"/>
              </a:spcBef>
              <a:tabLst>
                <a:tab pos="619125" algn="l"/>
              </a:tabLst>
            </a:pPr>
            <a:r>
              <a:rPr sz="2750" spc="20" dirty="0">
                <a:latin typeface="Cambria Math"/>
                <a:cs typeface="Cambria Math"/>
              </a:rPr>
              <a:t>=	</a:t>
            </a:r>
            <a:r>
              <a:rPr sz="2750" spc="5" dirty="0">
                <a:latin typeface="Cambria Math"/>
                <a:cs typeface="Cambria Math"/>
              </a:rPr>
              <a:t>,</a:t>
            </a:r>
            <a:r>
              <a:rPr sz="2750" spc="85" dirty="0">
                <a:latin typeface="Cambria Math"/>
                <a:cs typeface="Cambria Math"/>
              </a:rPr>
              <a:t> </a:t>
            </a:r>
            <a:r>
              <a:rPr sz="2750" spc="20" dirty="0">
                <a:latin typeface="Cambria Math"/>
                <a:cs typeface="Cambria Math"/>
              </a:rPr>
              <a:t>𝒓</a:t>
            </a:r>
            <a:r>
              <a:rPr sz="3000" spc="30" baseline="-16666" dirty="0">
                <a:latin typeface="Cambria Math"/>
                <a:cs typeface="Cambria Math"/>
              </a:rPr>
              <a:t>𝒂</a:t>
            </a:r>
            <a:endParaRPr sz="3000" baseline="-16666">
              <a:latin typeface="Cambria Math"/>
              <a:cs typeface="Cambria Math"/>
            </a:endParaRPr>
          </a:p>
          <a:p>
            <a:pPr marL="400050">
              <a:lnSpc>
                <a:spcPts val="1839"/>
              </a:lnSpc>
            </a:pPr>
            <a:r>
              <a:rPr sz="2000" spc="15" dirty="0">
                <a:latin typeface="Cambria Math"/>
                <a:cs typeface="Cambria Math"/>
              </a:rPr>
              <a:t>𝟓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22139" y="4606290"/>
            <a:ext cx="152400" cy="19050"/>
          </a:xfrm>
          <a:custGeom>
            <a:avLst/>
            <a:gdLst/>
            <a:ahLst/>
            <a:cxnLst/>
            <a:rect l="l" t="t" r="r" b="b"/>
            <a:pathLst>
              <a:path w="152400" h="19050">
                <a:moveTo>
                  <a:pt x="152400" y="0"/>
                </a:moveTo>
                <a:lnTo>
                  <a:pt x="0" y="0"/>
                </a:lnTo>
                <a:lnTo>
                  <a:pt x="0" y="19050"/>
                </a:lnTo>
                <a:lnTo>
                  <a:pt x="152400" y="1905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41395" y="4237672"/>
            <a:ext cx="15532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85570" algn="l"/>
              </a:tabLst>
            </a:pPr>
            <a:r>
              <a:rPr sz="2000" spc="25" dirty="0">
                <a:latin typeface="Cambria Math"/>
                <a:cs typeface="Cambria Math"/>
              </a:rPr>
              <a:t>𝟐	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79464" y="4606290"/>
            <a:ext cx="152400" cy="19050"/>
          </a:xfrm>
          <a:custGeom>
            <a:avLst/>
            <a:gdLst/>
            <a:ahLst/>
            <a:cxnLst/>
            <a:rect l="l" t="t" r="r" b="b"/>
            <a:pathLst>
              <a:path w="152400" h="19050">
                <a:moveTo>
                  <a:pt x="152399" y="0"/>
                </a:moveTo>
                <a:lnTo>
                  <a:pt x="0" y="0"/>
                </a:lnTo>
                <a:lnTo>
                  <a:pt x="0" y="19050"/>
                </a:lnTo>
                <a:lnTo>
                  <a:pt x="152399" y="19050"/>
                </a:lnTo>
                <a:lnTo>
                  <a:pt x="1523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85509" y="4142422"/>
            <a:ext cx="59309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125" spc="30" baseline="-33333" dirty="0">
                <a:latin typeface="Cambria Math"/>
                <a:cs typeface="Cambria Math"/>
              </a:rPr>
              <a:t>=</a:t>
            </a:r>
            <a:r>
              <a:rPr sz="4125" spc="142" baseline="-33333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14215" y="4352353"/>
            <a:ext cx="2064385" cy="610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2740"/>
              </a:lnSpc>
              <a:spcBef>
                <a:spcPts val="125"/>
              </a:spcBef>
              <a:tabLst>
                <a:tab pos="631825" algn="l"/>
              </a:tabLst>
            </a:pPr>
            <a:r>
              <a:rPr sz="2750" spc="20" dirty="0">
                <a:latin typeface="Cambria Math"/>
                <a:cs typeface="Cambria Math"/>
              </a:rPr>
              <a:t>=	</a:t>
            </a:r>
            <a:r>
              <a:rPr sz="2750" spc="5" dirty="0">
                <a:latin typeface="Cambria Math"/>
                <a:cs typeface="Cambria Math"/>
              </a:rPr>
              <a:t>,</a:t>
            </a:r>
            <a:r>
              <a:rPr sz="2750" spc="140" dirty="0">
                <a:latin typeface="Cambria Math"/>
                <a:cs typeface="Cambria Math"/>
              </a:rPr>
              <a:t> </a:t>
            </a:r>
            <a:r>
              <a:rPr sz="2750" spc="25" dirty="0">
                <a:latin typeface="Cambria Math"/>
                <a:cs typeface="Cambria Math"/>
              </a:rPr>
              <a:t>𝒓</a:t>
            </a:r>
            <a:r>
              <a:rPr sz="3000" spc="37" baseline="-16666" dirty="0">
                <a:latin typeface="Cambria Math"/>
                <a:cs typeface="Cambria Math"/>
              </a:rPr>
              <a:t>𝒎</a:t>
            </a:r>
            <a:endParaRPr sz="3000" baseline="-16666">
              <a:latin typeface="Cambria Math"/>
              <a:cs typeface="Cambria Math"/>
            </a:endParaRPr>
          </a:p>
          <a:p>
            <a:pPr marL="412750">
              <a:lnSpc>
                <a:spcPts val="1839"/>
              </a:lnSpc>
              <a:tabLst>
                <a:tab pos="1871345" algn="l"/>
              </a:tabLst>
            </a:pPr>
            <a:r>
              <a:rPr sz="2000" spc="15" dirty="0">
                <a:latin typeface="Cambria Math"/>
                <a:cs typeface="Cambria Math"/>
              </a:rPr>
              <a:t>𝟓	𝟓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908486"/>
            <a:ext cx="323850" cy="40036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6233795"/>
            <a:ext cx="323850" cy="40068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38530" y="4791011"/>
            <a:ext cx="6672580" cy="18434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ct val="91000"/>
              </a:lnSpc>
              <a:spcBef>
                <a:spcPts val="470"/>
              </a:spcBef>
            </a:pP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Gaussian </a:t>
            </a:r>
            <a:r>
              <a:rPr sz="3200" b="1" spc="15" dirty="0">
                <a:solidFill>
                  <a:srgbClr val="D50092"/>
                </a:solidFill>
                <a:latin typeface="Calibri"/>
                <a:cs typeface="Calibri"/>
              </a:rPr>
              <a:t>elimination</a:t>
            </a:r>
            <a:r>
              <a:rPr sz="3200" b="1" spc="-57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15" dirty="0">
                <a:solidFill>
                  <a:srgbClr val="D50092"/>
                </a:solidFill>
                <a:latin typeface="Calibri"/>
                <a:cs typeface="Calibri"/>
              </a:rPr>
              <a:t>method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works </a:t>
            </a:r>
            <a:r>
              <a:rPr sz="3200" b="1" spc="-10" dirty="0">
                <a:solidFill>
                  <a:srgbClr val="D50092"/>
                </a:solidFill>
                <a:latin typeface="Calibri"/>
                <a:cs typeface="Calibri"/>
              </a:rPr>
              <a:t>for 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small </a:t>
            </a: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examples,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but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we </a:t>
            </a:r>
            <a:r>
              <a:rPr sz="3200" b="1" spc="20" dirty="0">
                <a:solidFill>
                  <a:srgbClr val="D50092"/>
                </a:solidFill>
                <a:latin typeface="Calibri"/>
                <a:cs typeface="Calibri"/>
              </a:rPr>
              <a:t>need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a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better  </a:t>
            </a:r>
            <a:r>
              <a:rPr sz="3200" b="1" spc="15" dirty="0">
                <a:solidFill>
                  <a:srgbClr val="D50092"/>
                </a:solidFill>
                <a:latin typeface="Calibri"/>
                <a:cs typeface="Calibri"/>
              </a:rPr>
              <a:t>method </a:t>
            </a:r>
            <a:r>
              <a:rPr sz="3200" b="1" spc="-10" dirty="0">
                <a:solidFill>
                  <a:srgbClr val="D50092"/>
                </a:solidFill>
                <a:latin typeface="Calibri"/>
                <a:cs typeface="Calibri"/>
              </a:rPr>
              <a:t>for </a:t>
            </a: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large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web-size</a:t>
            </a:r>
            <a:r>
              <a:rPr sz="3200" b="1" spc="-44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D50092"/>
                </a:solidFill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450"/>
              </a:lnSpc>
            </a:pPr>
            <a:r>
              <a:rPr sz="3200" b="1" spc="-55" dirty="0">
                <a:solidFill>
                  <a:srgbClr val="0000FF"/>
                </a:solidFill>
                <a:latin typeface="Calibri"/>
                <a:cs typeface="Calibri"/>
              </a:rPr>
              <a:t>We </a:t>
            </a:r>
            <a:r>
              <a:rPr sz="3200" b="1" spc="20" dirty="0">
                <a:solidFill>
                  <a:srgbClr val="0000FF"/>
                </a:solidFill>
                <a:latin typeface="Calibri"/>
                <a:cs typeface="Calibri"/>
              </a:rPr>
              <a:t>need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sz="3200" b="1" spc="20" dirty="0">
                <a:solidFill>
                  <a:srgbClr val="0000FF"/>
                </a:solidFill>
                <a:latin typeface="Calibri"/>
                <a:cs typeface="Calibri"/>
              </a:rPr>
              <a:t>new</a:t>
            </a:r>
            <a:r>
              <a:rPr sz="3200" b="1" spc="-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formulation!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73850" y="1246441"/>
            <a:ext cx="2257425" cy="129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985"/>
              </a:lnSpc>
              <a:spcBef>
                <a:spcPts val="100"/>
              </a:spcBef>
            </a:pPr>
            <a:r>
              <a:rPr sz="1800" b="1" dirty="0">
                <a:solidFill>
                  <a:srgbClr val="008000"/>
                </a:solidFill>
                <a:latin typeface="Corbel"/>
                <a:cs typeface="Corbel"/>
              </a:rPr>
              <a:t>Flow</a:t>
            </a:r>
            <a:r>
              <a:rPr sz="1800" b="1" spc="-10" dirty="0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sz="1800" b="1" spc="-15" dirty="0">
                <a:solidFill>
                  <a:srgbClr val="008000"/>
                </a:solidFill>
                <a:latin typeface="Corbel"/>
                <a:cs typeface="Corbel"/>
              </a:rPr>
              <a:t>equations:</a:t>
            </a:r>
            <a:endParaRPr sz="1800">
              <a:latin typeface="Corbel"/>
              <a:cs typeface="Corbel"/>
            </a:endParaRPr>
          </a:p>
          <a:p>
            <a:pPr marL="511175">
              <a:lnSpc>
                <a:spcPts val="2225"/>
              </a:lnSpc>
            </a:pP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25" dirty="0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+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025" b="1" spc="179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</a:t>
            </a:r>
            <a:endParaRPr sz="2000">
              <a:latin typeface="Times New Roman"/>
              <a:cs typeface="Times New Roman"/>
            </a:endParaRPr>
          </a:p>
          <a:p>
            <a:pPr marL="511175" marR="240029">
              <a:lnSpc>
                <a:spcPts val="2930"/>
              </a:lnSpc>
              <a:spcBef>
                <a:spcPts val="30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25" dirty="0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+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m 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m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025" b="1" spc="254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539101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378838"/>
            <a:ext cx="323850" cy="40068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5844" y="2488310"/>
            <a:ext cx="75565" cy="23482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46326" y="2548635"/>
            <a:ext cx="255904" cy="142240"/>
          </a:xfrm>
          <a:custGeom>
            <a:avLst/>
            <a:gdLst/>
            <a:ahLst/>
            <a:cxnLst/>
            <a:rect l="l" t="t" r="r" b="b"/>
            <a:pathLst>
              <a:path w="255905" h="142239">
                <a:moveTo>
                  <a:pt x="188087" y="0"/>
                </a:moveTo>
                <a:lnTo>
                  <a:pt x="177926" y="9398"/>
                </a:lnTo>
                <a:lnTo>
                  <a:pt x="217297" y="59562"/>
                </a:lnTo>
                <a:lnTo>
                  <a:pt x="0" y="59562"/>
                </a:lnTo>
                <a:lnTo>
                  <a:pt x="0" y="82423"/>
                </a:lnTo>
                <a:lnTo>
                  <a:pt x="217297" y="82423"/>
                </a:lnTo>
                <a:lnTo>
                  <a:pt x="177926" y="132587"/>
                </a:lnTo>
                <a:lnTo>
                  <a:pt x="188087" y="142112"/>
                </a:lnTo>
                <a:lnTo>
                  <a:pt x="255650" y="76580"/>
                </a:lnTo>
                <a:lnTo>
                  <a:pt x="255650" y="65531"/>
                </a:lnTo>
                <a:lnTo>
                  <a:pt x="1880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479" y="2488310"/>
            <a:ext cx="142240" cy="309245"/>
          </a:xfrm>
          <a:custGeom>
            <a:avLst/>
            <a:gdLst/>
            <a:ahLst/>
            <a:cxnLst/>
            <a:rect l="l" t="t" r="r" b="b"/>
            <a:pathLst>
              <a:path w="142239" h="309244">
                <a:moveTo>
                  <a:pt x="3937" y="292100"/>
                </a:moveTo>
                <a:lnTo>
                  <a:pt x="0" y="307213"/>
                </a:lnTo>
                <a:lnTo>
                  <a:pt x="4063" y="308355"/>
                </a:lnTo>
                <a:lnTo>
                  <a:pt x="8889" y="308990"/>
                </a:lnTo>
                <a:lnTo>
                  <a:pt x="14605" y="308990"/>
                </a:lnTo>
                <a:lnTo>
                  <a:pt x="57989" y="296489"/>
                </a:lnTo>
                <a:lnTo>
                  <a:pt x="61531" y="293497"/>
                </a:lnTo>
                <a:lnTo>
                  <a:pt x="10794" y="293497"/>
                </a:lnTo>
                <a:lnTo>
                  <a:pt x="6350" y="292988"/>
                </a:lnTo>
                <a:lnTo>
                  <a:pt x="3937" y="292100"/>
                </a:lnTo>
                <a:close/>
              </a:path>
              <a:path w="142239" h="309244">
                <a:moveTo>
                  <a:pt x="126111" y="65912"/>
                </a:moveTo>
                <a:lnTo>
                  <a:pt x="116331" y="65912"/>
                </a:lnTo>
                <a:lnTo>
                  <a:pt x="74421" y="67563"/>
                </a:lnTo>
                <a:lnTo>
                  <a:pt x="72517" y="76580"/>
                </a:lnTo>
                <a:lnTo>
                  <a:pt x="79756" y="76835"/>
                </a:lnTo>
                <a:lnTo>
                  <a:pt x="84581" y="77850"/>
                </a:lnTo>
                <a:lnTo>
                  <a:pt x="86994" y="79755"/>
                </a:lnTo>
                <a:lnTo>
                  <a:pt x="89534" y="81534"/>
                </a:lnTo>
                <a:lnTo>
                  <a:pt x="90677" y="85089"/>
                </a:lnTo>
                <a:lnTo>
                  <a:pt x="90677" y="90169"/>
                </a:lnTo>
                <a:lnTo>
                  <a:pt x="90437" y="94932"/>
                </a:lnTo>
                <a:lnTo>
                  <a:pt x="58927" y="239902"/>
                </a:lnTo>
                <a:lnTo>
                  <a:pt x="45212" y="278891"/>
                </a:lnTo>
                <a:lnTo>
                  <a:pt x="41782" y="282701"/>
                </a:lnTo>
                <a:lnTo>
                  <a:pt x="38481" y="286512"/>
                </a:lnTo>
                <a:lnTo>
                  <a:pt x="34925" y="289305"/>
                </a:lnTo>
                <a:lnTo>
                  <a:pt x="27305" y="292608"/>
                </a:lnTo>
                <a:lnTo>
                  <a:pt x="22606" y="293497"/>
                </a:lnTo>
                <a:lnTo>
                  <a:pt x="61531" y="293497"/>
                </a:lnTo>
                <a:lnTo>
                  <a:pt x="83883" y="258540"/>
                </a:lnTo>
                <a:lnTo>
                  <a:pt x="90424" y="234950"/>
                </a:lnTo>
                <a:lnTo>
                  <a:pt x="126111" y="65912"/>
                </a:lnTo>
                <a:close/>
              </a:path>
              <a:path w="142239" h="309244">
                <a:moveTo>
                  <a:pt x="142112" y="0"/>
                </a:moveTo>
                <a:lnTo>
                  <a:pt x="111759" y="0"/>
                </a:lnTo>
                <a:lnTo>
                  <a:pt x="103758" y="33400"/>
                </a:lnTo>
                <a:lnTo>
                  <a:pt x="134238" y="33400"/>
                </a:lnTo>
                <a:lnTo>
                  <a:pt x="1421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361563" y="2447417"/>
            <a:ext cx="512445" cy="426720"/>
            <a:chOff x="3361563" y="2447417"/>
            <a:chExt cx="512445" cy="426720"/>
          </a:xfrm>
        </p:grpSpPr>
        <p:sp>
          <p:nvSpPr>
            <p:cNvPr id="8" name="object 8"/>
            <p:cNvSpPr/>
            <p:nvPr/>
          </p:nvSpPr>
          <p:spPr>
            <a:xfrm>
              <a:off x="3361563" y="2447417"/>
              <a:ext cx="326390" cy="273050"/>
            </a:xfrm>
            <a:custGeom>
              <a:avLst/>
              <a:gdLst/>
              <a:ahLst/>
              <a:cxnLst/>
              <a:rect l="l" t="t" r="r" b="b"/>
              <a:pathLst>
                <a:path w="326389" h="273050">
                  <a:moveTo>
                    <a:pt x="326136" y="0"/>
                  </a:moveTo>
                  <a:lnTo>
                    <a:pt x="263144" y="0"/>
                  </a:lnTo>
                  <a:lnTo>
                    <a:pt x="146558" y="193929"/>
                  </a:lnTo>
                  <a:lnTo>
                    <a:pt x="123698" y="0"/>
                  </a:lnTo>
                  <a:lnTo>
                    <a:pt x="52324" y="0"/>
                  </a:lnTo>
                  <a:lnTo>
                    <a:pt x="50164" y="9779"/>
                  </a:lnTo>
                  <a:lnTo>
                    <a:pt x="56896" y="10160"/>
                  </a:lnTo>
                  <a:lnTo>
                    <a:pt x="61975" y="11557"/>
                  </a:lnTo>
                  <a:lnTo>
                    <a:pt x="68199" y="16510"/>
                  </a:lnTo>
                  <a:lnTo>
                    <a:pt x="69723" y="20828"/>
                  </a:lnTo>
                  <a:lnTo>
                    <a:pt x="69723" y="32512"/>
                  </a:lnTo>
                  <a:lnTo>
                    <a:pt x="29301" y="222456"/>
                  </a:lnTo>
                  <a:lnTo>
                    <a:pt x="11049" y="260985"/>
                  </a:lnTo>
                  <a:lnTo>
                    <a:pt x="2159" y="263144"/>
                  </a:lnTo>
                  <a:lnTo>
                    <a:pt x="0" y="272923"/>
                  </a:lnTo>
                  <a:lnTo>
                    <a:pt x="69976" y="272923"/>
                  </a:lnTo>
                  <a:lnTo>
                    <a:pt x="72136" y="263144"/>
                  </a:lnTo>
                  <a:lnTo>
                    <a:pt x="65024" y="262636"/>
                  </a:lnTo>
                  <a:lnTo>
                    <a:pt x="60071" y="261112"/>
                  </a:lnTo>
                  <a:lnTo>
                    <a:pt x="54101" y="256159"/>
                  </a:lnTo>
                  <a:lnTo>
                    <a:pt x="52577" y="251968"/>
                  </a:lnTo>
                  <a:lnTo>
                    <a:pt x="52839" y="239349"/>
                  </a:lnTo>
                  <a:lnTo>
                    <a:pt x="53625" y="231981"/>
                  </a:lnTo>
                  <a:lnTo>
                    <a:pt x="54935" y="223779"/>
                  </a:lnTo>
                  <a:lnTo>
                    <a:pt x="81238" y="102824"/>
                  </a:lnTo>
                  <a:lnTo>
                    <a:pt x="85137" y="82502"/>
                  </a:lnTo>
                  <a:lnTo>
                    <a:pt x="88822" y="61346"/>
                  </a:lnTo>
                  <a:lnTo>
                    <a:pt x="92328" y="39370"/>
                  </a:lnTo>
                  <a:lnTo>
                    <a:pt x="96392" y="39370"/>
                  </a:lnTo>
                  <a:lnTo>
                    <a:pt x="98536" y="61158"/>
                  </a:lnTo>
                  <a:lnTo>
                    <a:pt x="102536" y="97734"/>
                  </a:lnTo>
                  <a:lnTo>
                    <a:pt x="120903" y="241173"/>
                  </a:lnTo>
                  <a:lnTo>
                    <a:pt x="142748" y="241173"/>
                  </a:lnTo>
                  <a:lnTo>
                    <a:pt x="233679" y="90932"/>
                  </a:lnTo>
                  <a:lnTo>
                    <a:pt x="251618" y="60833"/>
                  </a:lnTo>
                  <a:lnTo>
                    <a:pt x="261747" y="42925"/>
                  </a:lnTo>
                  <a:lnTo>
                    <a:pt x="264540" y="42925"/>
                  </a:lnTo>
                  <a:lnTo>
                    <a:pt x="257746" y="67770"/>
                  </a:lnTo>
                  <a:lnTo>
                    <a:pt x="251713" y="92710"/>
                  </a:lnTo>
                  <a:lnTo>
                    <a:pt x="223103" y="222456"/>
                  </a:lnTo>
                  <a:lnTo>
                    <a:pt x="218566" y="240030"/>
                  </a:lnTo>
                  <a:lnTo>
                    <a:pt x="195961" y="263144"/>
                  </a:lnTo>
                  <a:lnTo>
                    <a:pt x="193801" y="272923"/>
                  </a:lnTo>
                  <a:lnTo>
                    <a:pt x="273685" y="272923"/>
                  </a:lnTo>
                  <a:lnTo>
                    <a:pt x="275971" y="263144"/>
                  </a:lnTo>
                  <a:lnTo>
                    <a:pt x="268859" y="262636"/>
                  </a:lnTo>
                  <a:lnTo>
                    <a:pt x="263778" y="261112"/>
                  </a:lnTo>
                  <a:lnTo>
                    <a:pt x="257810" y="256159"/>
                  </a:lnTo>
                  <a:lnTo>
                    <a:pt x="256286" y="251968"/>
                  </a:lnTo>
                  <a:lnTo>
                    <a:pt x="256539" y="237998"/>
                  </a:lnTo>
                  <a:lnTo>
                    <a:pt x="296767" y="50611"/>
                  </a:lnTo>
                  <a:lnTo>
                    <a:pt x="310769" y="14732"/>
                  </a:lnTo>
                  <a:lnTo>
                    <a:pt x="323976" y="9779"/>
                  </a:lnTo>
                  <a:lnTo>
                    <a:pt x="3261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2111" y="2640076"/>
              <a:ext cx="107568" cy="2336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16477" y="2640076"/>
              <a:ext cx="57150" cy="177800"/>
            </a:xfrm>
            <a:custGeom>
              <a:avLst/>
              <a:gdLst/>
              <a:ahLst/>
              <a:cxnLst/>
              <a:rect l="l" t="t" r="r" b="b"/>
              <a:pathLst>
                <a:path w="57150" h="177800">
                  <a:moveTo>
                    <a:pt x="43434" y="49784"/>
                  </a:moveTo>
                  <a:lnTo>
                    <a:pt x="35813" y="49784"/>
                  </a:lnTo>
                  <a:lnTo>
                    <a:pt x="3937" y="51053"/>
                  </a:lnTo>
                  <a:lnTo>
                    <a:pt x="2539" y="57912"/>
                  </a:lnTo>
                  <a:lnTo>
                    <a:pt x="8000" y="58038"/>
                  </a:lnTo>
                  <a:lnTo>
                    <a:pt x="11684" y="58927"/>
                  </a:lnTo>
                  <a:lnTo>
                    <a:pt x="13588" y="60325"/>
                  </a:lnTo>
                  <a:lnTo>
                    <a:pt x="15367" y="61595"/>
                  </a:lnTo>
                  <a:lnTo>
                    <a:pt x="16383" y="64262"/>
                  </a:lnTo>
                  <a:lnTo>
                    <a:pt x="16383" y="72516"/>
                  </a:lnTo>
                  <a:lnTo>
                    <a:pt x="15367" y="79121"/>
                  </a:lnTo>
                  <a:lnTo>
                    <a:pt x="13335" y="87757"/>
                  </a:lnTo>
                  <a:lnTo>
                    <a:pt x="3556" y="130301"/>
                  </a:lnTo>
                  <a:lnTo>
                    <a:pt x="0" y="162051"/>
                  </a:lnTo>
                  <a:lnTo>
                    <a:pt x="1650" y="167259"/>
                  </a:lnTo>
                  <a:lnTo>
                    <a:pt x="8382" y="175513"/>
                  </a:lnTo>
                  <a:lnTo>
                    <a:pt x="12953" y="177546"/>
                  </a:lnTo>
                  <a:lnTo>
                    <a:pt x="25146" y="177546"/>
                  </a:lnTo>
                  <a:lnTo>
                    <a:pt x="49046" y="162560"/>
                  </a:lnTo>
                  <a:lnTo>
                    <a:pt x="26415" y="162560"/>
                  </a:lnTo>
                  <a:lnTo>
                    <a:pt x="24637" y="161798"/>
                  </a:lnTo>
                  <a:lnTo>
                    <a:pt x="22351" y="158750"/>
                  </a:lnTo>
                  <a:lnTo>
                    <a:pt x="21844" y="156210"/>
                  </a:lnTo>
                  <a:lnTo>
                    <a:pt x="21844" y="148336"/>
                  </a:lnTo>
                  <a:lnTo>
                    <a:pt x="22733" y="141986"/>
                  </a:lnTo>
                  <a:lnTo>
                    <a:pt x="43434" y="49784"/>
                  </a:lnTo>
                  <a:close/>
                </a:path>
                <a:path w="57150" h="177800">
                  <a:moveTo>
                    <a:pt x="49657" y="147193"/>
                  </a:moveTo>
                  <a:lnTo>
                    <a:pt x="44323" y="153288"/>
                  </a:lnTo>
                  <a:lnTo>
                    <a:pt x="40132" y="157352"/>
                  </a:lnTo>
                  <a:lnTo>
                    <a:pt x="37211" y="159385"/>
                  </a:lnTo>
                  <a:lnTo>
                    <a:pt x="34289" y="161544"/>
                  </a:lnTo>
                  <a:lnTo>
                    <a:pt x="31496" y="162560"/>
                  </a:lnTo>
                  <a:lnTo>
                    <a:pt x="49046" y="162560"/>
                  </a:lnTo>
                  <a:lnTo>
                    <a:pt x="51057" y="160700"/>
                  </a:lnTo>
                  <a:lnTo>
                    <a:pt x="57150" y="154559"/>
                  </a:lnTo>
                  <a:lnTo>
                    <a:pt x="49657" y="147193"/>
                  </a:lnTo>
                  <a:close/>
                </a:path>
                <a:path w="57150" h="177800">
                  <a:moveTo>
                    <a:pt x="55245" y="0"/>
                  </a:moveTo>
                  <a:lnTo>
                    <a:pt x="32258" y="0"/>
                  </a:lnTo>
                  <a:lnTo>
                    <a:pt x="26288" y="25273"/>
                  </a:lnTo>
                  <a:lnTo>
                    <a:pt x="49275" y="25273"/>
                  </a:lnTo>
                  <a:lnTo>
                    <a:pt x="552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4123309" y="2631567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79" h="26669">
                <a:moveTo>
                  <a:pt x="246379" y="0"/>
                </a:moveTo>
                <a:lnTo>
                  <a:pt x="0" y="0"/>
                </a:lnTo>
                <a:lnTo>
                  <a:pt x="0" y="26543"/>
                </a:lnTo>
                <a:lnTo>
                  <a:pt x="246379" y="26543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23309" y="2548508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79" h="26669">
                <a:moveTo>
                  <a:pt x="246379" y="0"/>
                </a:moveTo>
                <a:lnTo>
                  <a:pt x="0" y="0"/>
                </a:lnTo>
                <a:lnTo>
                  <a:pt x="0" y="26669"/>
                </a:lnTo>
                <a:lnTo>
                  <a:pt x="246379" y="26669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03039" y="2586989"/>
            <a:ext cx="266700" cy="28575"/>
          </a:xfrm>
          <a:custGeom>
            <a:avLst/>
            <a:gdLst/>
            <a:ahLst/>
            <a:cxnLst/>
            <a:rect l="l" t="t" r="r" b="b"/>
            <a:pathLst>
              <a:path w="266700" h="28575">
                <a:moveTo>
                  <a:pt x="266700" y="0"/>
                </a:moveTo>
                <a:lnTo>
                  <a:pt x="0" y="0"/>
                </a:lnTo>
                <a:lnTo>
                  <a:pt x="0" y="28575"/>
                </a:lnTo>
                <a:lnTo>
                  <a:pt x="266700" y="28575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7079" y="2296541"/>
            <a:ext cx="122174" cy="185674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521535" y="2733039"/>
            <a:ext cx="233679" cy="294005"/>
            <a:chOff x="4521535" y="2733039"/>
            <a:chExt cx="233679" cy="29400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1535" y="2733039"/>
              <a:ext cx="160446" cy="19938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709160" y="2893567"/>
              <a:ext cx="45720" cy="133350"/>
            </a:xfrm>
            <a:custGeom>
              <a:avLst/>
              <a:gdLst/>
              <a:ahLst/>
              <a:cxnLst/>
              <a:rect l="l" t="t" r="r" b="b"/>
              <a:pathLst>
                <a:path w="45720" h="133350">
                  <a:moveTo>
                    <a:pt x="33527" y="37592"/>
                  </a:moveTo>
                  <a:lnTo>
                    <a:pt x="29082" y="37592"/>
                  </a:lnTo>
                  <a:lnTo>
                    <a:pt x="2031" y="38608"/>
                  </a:lnTo>
                  <a:lnTo>
                    <a:pt x="888" y="44831"/>
                  </a:lnTo>
                  <a:lnTo>
                    <a:pt x="4952" y="44958"/>
                  </a:lnTo>
                  <a:lnTo>
                    <a:pt x="7747" y="45593"/>
                  </a:lnTo>
                  <a:lnTo>
                    <a:pt x="9398" y="46736"/>
                  </a:lnTo>
                  <a:lnTo>
                    <a:pt x="10922" y="47879"/>
                  </a:lnTo>
                  <a:lnTo>
                    <a:pt x="11811" y="49657"/>
                  </a:lnTo>
                  <a:lnTo>
                    <a:pt x="11937" y="53721"/>
                  </a:lnTo>
                  <a:lnTo>
                    <a:pt x="11684" y="54737"/>
                  </a:lnTo>
                  <a:lnTo>
                    <a:pt x="11429" y="57658"/>
                  </a:lnTo>
                  <a:lnTo>
                    <a:pt x="10922" y="60833"/>
                  </a:lnTo>
                  <a:lnTo>
                    <a:pt x="10160" y="64516"/>
                  </a:lnTo>
                  <a:lnTo>
                    <a:pt x="9525" y="68072"/>
                  </a:lnTo>
                  <a:lnTo>
                    <a:pt x="8636" y="71755"/>
                  </a:lnTo>
                  <a:lnTo>
                    <a:pt x="6857" y="79375"/>
                  </a:lnTo>
                  <a:lnTo>
                    <a:pt x="5079" y="87249"/>
                  </a:lnTo>
                  <a:lnTo>
                    <a:pt x="4063" y="91059"/>
                  </a:lnTo>
                  <a:lnTo>
                    <a:pt x="3301" y="94869"/>
                  </a:lnTo>
                  <a:lnTo>
                    <a:pt x="2412" y="98425"/>
                  </a:lnTo>
                  <a:lnTo>
                    <a:pt x="1650" y="101981"/>
                  </a:lnTo>
                  <a:lnTo>
                    <a:pt x="1015" y="105283"/>
                  </a:lnTo>
                  <a:lnTo>
                    <a:pt x="507" y="108331"/>
                  </a:lnTo>
                  <a:lnTo>
                    <a:pt x="126" y="111379"/>
                  </a:lnTo>
                  <a:lnTo>
                    <a:pt x="0" y="119253"/>
                  </a:lnTo>
                  <a:lnTo>
                    <a:pt x="253" y="120777"/>
                  </a:lnTo>
                  <a:lnTo>
                    <a:pt x="12953" y="133223"/>
                  </a:lnTo>
                  <a:lnTo>
                    <a:pt x="17906" y="133223"/>
                  </a:lnTo>
                  <a:lnTo>
                    <a:pt x="40287" y="120777"/>
                  </a:lnTo>
                  <a:lnTo>
                    <a:pt x="21336" y="120777"/>
                  </a:lnTo>
                  <a:lnTo>
                    <a:pt x="19938" y="120269"/>
                  </a:lnTo>
                  <a:lnTo>
                    <a:pt x="18923" y="119253"/>
                  </a:lnTo>
                  <a:lnTo>
                    <a:pt x="18034" y="118110"/>
                  </a:lnTo>
                  <a:lnTo>
                    <a:pt x="17525" y="116459"/>
                  </a:lnTo>
                  <a:lnTo>
                    <a:pt x="17652" y="110362"/>
                  </a:lnTo>
                  <a:lnTo>
                    <a:pt x="18034" y="108204"/>
                  </a:lnTo>
                  <a:lnTo>
                    <a:pt x="18287" y="106045"/>
                  </a:lnTo>
                  <a:lnTo>
                    <a:pt x="18923" y="103124"/>
                  </a:lnTo>
                  <a:lnTo>
                    <a:pt x="19812" y="99441"/>
                  </a:lnTo>
                  <a:lnTo>
                    <a:pt x="33527" y="37592"/>
                  </a:lnTo>
                  <a:close/>
                </a:path>
                <a:path w="45720" h="133350">
                  <a:moveTo>
                    <a:pt x="39497" y="109220"/>
                  </a:moveTo>
                  <a:lnTo>
                    <a:pt x="24384" y="120777"/>
                  </a:lnTo>
                  <a:lnTo>
                    <a:pt x="40287" y="120777"/>
                  </a:lnTo>
                  <a:lnTo>
                    <a:pt x="42671" y="118491"/>
                  </a:lnTo>
                  <a:lnTo>
                    <a:pt x="45719" y="115443"/>
                  </a:lnTo>
                  <a:lnTo>
                    <a:pt x="39497" y="109220"/>
                  </a:lnTo>
                  <a:close/>
                </a:path>
                <a:path w="45720" h="133350">
                  <a:moveTo>
                    <a:pt x="42290" y="0"/>
                  </a:moveTo>
                  <a:lnTo>
                    <a:pt x="23622" y="0"/>
                  </a:lnTo>
                  <a:lnTo>
                    <a:pt x="19303" y="20066"/>
                  </a:lnTo>
                  <a:lnTo>
                    <a:pt x="37718" y="20066"/>
                  </a:lnTo>
                  <a:lnTo>
                    <a:pt x="42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961888" y="2447417"/>
            <a:ext cx="512445" cy="426720"/>
            <a:chOff x="5961888" y="2447417"/>
            <a:chExt cx="512445" cy="426720"/>
          </a:xfrm>
        </p:grpSpPr>
        <p:sp>
          <p:nvSpPr>
            <p:cNvPr id="19" name="object 19"/>
            <p:cNvSpPr/>
            <p:nvPr/>
          </p:nvSpPr>
          <p:spPr>
            <a:xfrm>
              <a:off x="5961888" y="2447417"/>
              <a:ext cx="326390" cy="273050"/>
            </a:xfrm>
            <a:custGeom>
              <a:avLst/>
              <a:gdLst/>
              <a:ahLst/>
              <a:cxnLst/>
              <a:rect l="l" t="t" r="r" b="b"/>
              <a:pathLst>
                <a:path w="326389" h="273050">
                  <a:moveTo>
                    <a:pt x="326136" y="0"/>
                  </a:moveTo>
                  <a:lnTo>
                    <a:pt x="263144" y="0"/>
                  </a:lnTo>
                  <a:lnTo>
                    <a:pt x="146558" y="193929"/>
                  </a:lnTo>
                  <a:lnTo>
                    <a:pt x="123698" y="0"/>
                  </a:lnTo>
                  <a:lnTo>
                    <a:pt x="52324" y="0"/>
                  </a:lnTo>
                  <a:lnTo>
                    <a:pt x="50164" y="9779"/>
                  </a:lnTo>
                  <a:lnTo>
                    <a:pt x="56896" y="10160"/>
                  </a:lnTo>
                  <a:lnTo>
                    <a:pt x="61975" y="11557"/>
                  </a:lnTo>
                  <a:lnTo>
                    <a:pt x="68199" y="16510"/>
                  </a:lnTo>
                  <a:lnTo>
                    <a:pt x="69723" y="20828"/>
                  </a:lnTo>
                  <a:lnTo>
                    <a:pt x="69723" y="32512"/>
                  </a:lnTo>
                  <a:lnTo>
                    <a:pt x="29301" y="222456"/>
                  </a:lnTo>
                  <a:lnTo>
                    <a:pt x="11049" y="260985"/>
                  </a:lnTo>
                  <a:lnTo>
                    <a:pt x="2159" y="263144"/>
                  </a:lnTo>
                  <a:lnTo>
                    <a:pt x="0" y="272923"/>
                  </a:lnTo>
                  <a:lnTo>
                    <a:pt x="69976" y="272923"/>
                  </a:lnTo>
                  <a:lnTo>
                    <a:pt x="72136" y="263144"/>
                  </a:lnTo>
                  <a:lnTo>
                    <a:pt x="65024" y="262636"/>
                  </a:lnTo>
                  <a:lnTo>
                    <a:pt x="60071" y="261112"/>
                  </a:lnTo>
                  <a:lnTo>
                    <a:pt x="54101" y="256159"/>
                  </a:lnTo>
                  <a:lnTo>
                    <a:pt x="52577" y="251968"/>
                  </a:lnTo>
                  <a:lnTo>
                    <a:pt x="52839" y="239349"/>
                  </a:lnTo>
                  <a:lnTo>
                    <a:pt x="53625" y="231981"/>
                  </a:lnTo>
                  <a:lnTo>
                    <a:pt x="54935" y="223779"/>
                  </a:lnTo>
                  <a:lnTo>
                    <a:pt x="81238" y="102824"/>
                  </a:lnTo>
                  <a:lnTo>
                    <a:pt x="85137" y="82502"/>
                  </a:lnTo>
                  <a:lnTo>
                    <a:pt x="88822" y="61346"/>
                  </a:lnTo>
                  <a:lnTo>
                    <a:pt x="92328" y="39370"/>
                  </a:lnTo>
                  <a:lnTo>
                    <a:pt x="96392" y="39370"/>
                  </a:lnTo>
                  <a:lnTo>
                    <a:pt x="98536" y="61158"/>
                  </a:lnTo>
                  <a:lnTo>
                    <a:pt x="102536" y="97734"/>
                  </a:lnTo>
                  <a:lnTo>
                    <a:pt x="120903" y="241173"/>
                  </a:lnTo>
                  <a:lnTo>
                    <a:pt x="142748" y="241173"/>
                  </a:lnTo>
                  <a:lnTo>
                    <a:pt x="233679" y="90932"/>
                  </a:lnTo>
                  <a:lnTo>
                    <a:pt x="251618" y="60833"/>
                  </a:lnTo>
                  <a:lnTo>
                    <a:pt x="261747" y="42925"/>
                  </a:lnTo>
                  <a:lnTo>
                    <a:pt x="264540" y="42925"/>
                  </a:lnTo>
                  <a:lnTo>
                    <a:pt x="257746" y="67770"/>
                  </a:lnTo>
                  <a:lnTo>
                    <a:pt x="251713" y="92710"/>
                  </a:lnTo>
                  <a:lnTo>
                    <a:pt x="223103" y="222456"/>
                  </a:lnTo>
                  <a:lnTo>
                    <a:pt x="218566" y="240030"/>
                  </a:lnTo>
                  <a:lnTo>
                    <a:pt x="195961" y="263144"/>
                  </a:lnTo>
                  <a:lnTo>
                    <a:pt x="193801" y="272923"/>
                  </a:lnTo>
                  <a:lnTo>
                    <a:pt x="273685" y="272923"/>
                  </a:lnTo>
                  <a:lnTo>
                    <a:pt x="275971" y="263144"/>
                  </a:lnTo>
                  <a:lnTo>
                    <a:pt x="268859" y="262636"/>
                  </a:lnTo>
                  <a:lnTo>
                    <a:pt x="263778" y="261112"/>
                  </a:lnTo>
                  <a:lnTo>
                    <a:pt x="257810" y="256159"/>
                  </a:lnTo>
                  <a:lnTo>
                    <a:pt x="256286" y="251968"/>
                  </a:lnTo>
                  <a:lnTo>
                    <a:pt x="256539" y="237998"/>
                  </a:lnTo>
                  <a:lnTo>
                    <a:pt x="296767" y="50611"/>
                  </a:lnTo>
                  <a:lnTo>
                    <a:pt x="310769" y="14732"/>
                  </a:lnTo>
                  <a:lnTo>
                    <a:pt x="323976" y="9779"/>
                  </a:lnTo>
                  <a:lnTo>
                    <a:pt x="3261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2436" y="2640076"/>
              <a:ext cx="107568" cy="2336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16802" y="2640076"/>
              <a:ext cx="57150" cy="177800"/>
            </a:xfrm>
            <a:custGeom>
              <a:avLst/>
              <a:gdLst/>
              <a:ahLst/>
              <a:cxnLst/>
              <a:rect l="l" t="t" r="r" b="b"/>
              <a:pathLst>
                <a:path w="57150" h="177800">
                  <a:moveTo>
                    <a:pt x="43434" y="49784"/>
                  </a:moveTo>
                  <a:lnTo>
                    <a:pt x="35813" y="49784"/>
                  </a:lnTo>
                  <a:lnTo>
                    <a:pt x="3937" y="51053"/>
                  </a:lnTo>
                  <a:lnTo>
                    <a:pt x="2539" y="57912"/>
                  </a:lnTo>
                  <a:lnTo>
                    <a:pt x="8000" y="58038"/>
                  </a:lnTo>
                  <a:lnTo>
                    <a:pt x="11684" y="58927"/>
                  </a:lnTo>
                  <a:lnTo>
                    <a:pt x="13588" y="60325"/>
                  </a:lnTo>
                  <a:lnTo>
                    <a:pt x="15367" y="61595"/>
                  </a:lnTo>
                  <a:lnTo>
                    <a:pt x="16383" y="64262"/>
                  </a:lnTo>
                  <a:lnTo>
                    <a:pt x="16383" y="72516"/>
                  </a:lnTo>
                  <a:lnTo>
                    <a:pt x="15367" y="79121"/>
                  </a:lnTo>
                  <a:lnTo>
                    <a:pt x="13335" y="87757"/>
                  </a:lnTo>
                  <a:lnTo>
                    <a:pt x="3556" y="130301"/>
                  </a:lnTo>
                  <a:lnTo>
                    <a:pt x="0" y="162051"/>
                  </a:lnTo>
                  <a:lnTo>
                    <a:pt x="1650" y="167259"/>
                  </a:lnTo>
                  <a:lnTo>
                    <a:pt x="8382" y="175513"/>
                  </a:lnTo>
                  <a:lnTo>
                    <a:pt x="12953" y="177546"/>
                  </a:lnTo>
                  <a:lnTo>
                    <a:pt x="25146" y="177546"/>
                  </a:lnTo>
                  <a:lnTo>
                    <a:pt x="49046" y="162560"/>
                  </a:lnTo>
                  <a:lnTo>
                    <a:pt x="26415" y="162560"/>
                  </a:lnTo>
                  <a:lnTo>
                    <a:pt x="24637" y="161798"/>
                  </a:lnTo>
                  <a:lnTo>
                    <a:pt x="22351" y="158750"/>
                  </a:lnTo>
                  <a:lnTo>
                    <a:pt x="21844" y="156210"/>
                  </a:lnTo>
                  <a:lnTo>
                    <a:pt x="21844" y="148336"/>
                  </a:lnTo>
                  <a:lnTo>
                    <a:pt x="22733" y="141986"/>
                  </a:lnTo>
                  <a:lnTo>
                    <a:pt x="43434" y="49784"/>
                  </a:lnTo>
                  <a:close/>
                </a:path>
                <a:path w="57150" h="177800">
                  <a:moveTo>
                    <a:pt x="49657" y="147193"/>
                  </a:moveTo>
                  <a:lnTo>
                    <a:pt x="44323" y="153288"/>
                  </a:lnTo>
                  <a:lnTo>
                    <a:pt x="40132" y="157352"/>
                  </a:lnTo>
                  <a:lnTo>
                    <a:pt x="37211" y="159385"/>
                  </a:lnTo>
                  <a:lnTo>
                    <a:pt x="34289" y="161544"/>
                  </a:lnTo>
                  <a:lnTo>
                    <a:pt x="31496" y="162560"/>
                  </a:lnTo>
                  <a:lnTo>
                    <a:pt x="49046" y="162560"/>
                  </a:lnTo>
                  <a:lnTo>
                    <a:pt x="51057" y="160700"/>
                  </a:lnTo>
                  <a:lnTo>
                    <a:pt x="57150" y="154559"/>
                  </a:lnTo>
                  <a:lnTo>
                    <a:pt x="49657" y="147193"/>
                  </a:lnTo>
                  <a:close/>
                </a:path>
                <a:path w="57150" h="177800">
                  <a:moveTo>
                    <a:pt x="55245" y="0"/>
                  </a:moveTo>
                  <a:lnTo>
                    <a:pt x="32258" y="0"/>
                  </a:lnTo>
                  <a:lnTo>
                    <a:pt x="26288" y="25273"/>
                  </a:lnTo>
                  <a:lnTo>
                    <a:pt x="49275" y="25273"/>
                  </a:lnTo>
                  <a:lnTo>
                    <a:pt x="552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6723633" y="2631567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79" h="26669">
                <a:moveTo>
                  <a:pt x="246380" y="0"/>
                </a:moveTo>
                <a:lnTo>
                  <a:pt x="0" y="0"/>
                </a:lnTo>
                <a:lnTo>
                  <a:pt x="0" y="26543"/>
                </a:lnTo>
                <a:lnTo>
                  <a:pt x="246380" y="26543"/>
                </a:lnTo>
                <a:lnTo>
                  <a:pt x="246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23633" y="2548508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79" h="26669">
                <a:moveTo>
                  <a:pt x="246380" y="0"/>
                </a:moveTo>
                <a:lnTo>
                  <a:pt x="0" y="0"/>
                </a:lnTo>
                <a:lnTo>
                  <a:pt x="0" y="26669"/>
                </a:lnTo>
                <a:lnTo>
                  <a:pt x="246380" y="26669"/>
                </a:lnTo>
                <a:lnTo>
                  <a:pt x="246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24499" y="2444114"/>
            <a:ext cx="175260" cy="279400"/>
          </a:xfrm>
          <a:custGeom>
            <a:avLst/>
            <a:gdLst/>
            <a:ahLst/>
            <a:cxnLst/>
            <a:rect l="l" t="t" r="r" b="b"/>
            <a:pathLst>
              <a:path w="175259" h="279400">
                <a:moveTo>
                  <a:pt x="88541" y="0"/>
                </a:moveTo>
                <a:lnTo>
                  <a:pt x="44823" y="13215"/>
                </a:lnTo>
                <a:lnTo>
                  <a:pt x="19088" y="43644"/>
                </a:lnTo>
                <a:lnTo>
                  <a:pt x="3539" y="92662"/>
                </a:lnTo>
                <a:lnTo>
                  <a:pt x="37" y="136017"/>
                </a:lnTo>
                <a:lnTo>
                  <a:pt x="0" y="144780"/>
                </a:lnTo>
                <a:lnTo>
                  <a:pt x="1225" y="174623"/>
                </a:lnTo>
                <a:lnTo>
                  <a:pt x="11790" y="226196"/>
                </a:lnTo>
                <a:lnTo>
                  <a:pt x="32931" y="260272"/>
                </a:lnTo>
                <a:lnTo>
                  <a:pt x="85366" y="279400"/>
                </a:lnTo>
                <a:lnTo>
                  <a:pt x="105984" y="277135"/>
                </a:lnTo>
                <a:lnTo>
                  <a:pt x="124006" y="270335"/>
                </a:lnTo>
                <a:lnTo>
                  <a:pt x="134801" y="262382"/>
                </a:lnTo>
                <a:lnTo>
                  <a:pt x="88541" y="262382"/>
                </a:lnTo>
                <a:lnTo>
                  <a:pt x="76631" y="260476"/>
                </a:lnTo>
                <a:lnTo>
                  <a:pt x="50949" y="231901"/>
                </a:lnTo>
                <a:lnTo>
                  <a:pt x="41916" y="192754"/>
                </a:lnTo>
                <a:lnTo>
                  <a:pt x="38887" y="136017"/>
                </a:lnTo>
                <a:lnTo>
                  <a:pt x="39047" y="122721"/>
                </a:lnTo>
                <a:lnTo>
                  <a:pt x="42728" y="75719"/>
                </a:lnTo>
                <a:lnTo>
                  <a:pt x="56013" y="35274"/>
                </a:lnTo>
                <a:lnTo>
                  <a:pt x="78254" y="17018"/>
                </a:lnTo>
                <a:lnTo>
                  <a:pt x="138797" y="17018"/>
                </a:lnTo>
                <a:lnTo>
                  <a:pt x="126736" y="8461"/>
                </a:lnTo>
                <a:lnTo>
                  <a:pt x="109044" y="2117"/>
                </a:lnTo>
                <a:lnTo>
                  <a:pt x="88541" y="0"/>
                </a:lnTo>
                <a:close/>
              </a:path>
              <a:path w="175259" h="279400">
                <a:moveTo>
                  <a:pt x="138797" y="17018"/>
                </a:moveTo>
                <a:lnTo>
                  <a:pt x="87525" y="17018"/>
                </a:lnTo>
                <a:lnTo>
                  <a:pt x="94859" y="17801"/>
                </a:lnTo>
                <a:lnTo>
                  <a:pt x="101622" y="20145"/>
                </a:lnTo>
                <a:lnTo>
                  <a:pt x="126810" y="57092"/>
                </a:lnTo>
                <a:lnTo>
                  <a:pt x="134642" y="103187"/>
                </a:lnTo>
                <a:lnTo>
                  <a:pt x="136166" y="144780"/>
                </a:lnTo>
                <a:lnTo>
                  <a:pt x="135428" y="172922"/>
                </a:lnTo>
                <a:lnTo>
                  <a:pt x="129523" y="217396"/>
                </a:lnTo>
                <a:lnTo>
                  <a:pt x="109591" y="255222"/>
                </a:lnTo>
                <a:lnTo>
                  <a:pt x="88541" y="262382"/>
                </a:lnTo>
                <a:lnTo>
                  <a:pt x="134801" y="262382"/>
                </a:lnTo>
                <a:lnTo>
                  <a:pt x="162189" y="222813"/>
                </a:lnTo>
                <a:lnTo>
                  <a:pt x="173707" y="169283"/>
                </a:lnTo>
                <a:lnTo>
                  <a:pt x="175155" y="136017"/>
                </a:lnTo>
                <a:lnTo>
                  <a:pt x="173802" y="103987"/>
                </a:lnTo>
                <a:lnTo>
                  <a:pt x="169758" y="76279"/>
                </a:lnTo>
                <a:lnTo>
                  <a:pt x="163047" y="52881"/>
                </a:lnTo>
                <a:lnTo>
                  <a:pt x="153692" y="33782"/>
                </a:lnTo>
                <a:lnTo>
                  <a:pt x="141619" y="19020"/>
                </a:lnTo>
                <a:lnTo>
                  <a:pt x="138797" y="170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554095"/>
            <a:ext cx="323850" cy="40068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87730" y="1261363"/>
            <a:ext cx="7525384" cy="3129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0"/>
              </a:spcBef>
            </a:pP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Stochastic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adjacency matrix</a:t>
            </a:r>
            <a:r>
              <a:rPr sz="3200" b="1" spc="-4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25" dirty="0">
                <a:solidFill>
                  <a:srgbClr val="0000FF"/>
                </a:solidFill>
                <a:latin typeface="Cambria Math"/>
                <a:cs typeface="Cambria Math"/>
              </a:rPr>
              <a:t>𝑴</a:t>
            </a:r>
            <a:endParaRPr sz="3200">
              <a:latin typeface="Cambria Math"/>
              <a:cs typeface="Cambria Math"/>
            </a:endParaRPr>
          </a:p>
          <a:p>
            <a:pPr marL="358775" indent="-276860">
              <a:lnSpc>
                <a:spcPct val="100000"/>
              </a:lnSpc>
              <a:spcBef>
                <a:spcPts val="65"/>
              </a:spcBef>
              <a:buClr>
                <a:srgbClr val="5FB5CC"/>
              </a:buClr>
              <a:buFont typeface="Wingdings"/>
              <a:buChar char=""/>
              <a:tabLst>
                <a:tab pos="359410" algn="l"/>
              </a:tabLst>
            </a:pPr>
            <a:r>
              <a:rPr sz="2750" spc="5" dirty="0">
                <a:latin typeface="Calibri"/>
                <a:cs typeface="Calibri"/>
              </a:rPr>
              <a:t>Let </a:t>
            </a:r>
            <a:r>
              <a:rPr sz="2750" dirty="0">
                <a:latin typeface="Calibri"/>
                <a:cs typeface="Calibri"/>
              </a:rPr>
              <a:t>page </a:t>
            </a:r>
            <a:r>
              <a:rPr sz="2750" spc="5" dirty="0">
                <a:latin typeface="Cambria Math"/>
                <a:cs typeface="Cambria Math"/>
              </a:rPr>
              <a:t>𝑖 </a:t>
            </a:r>
            <a:r>
              <a:rPr sz="2750" spc="5" dirty="0">
                <a:latin typeface="Calibri"/>
                <a:cs typeface="Calibri"/>
              </a:rPr>
              <a:t>has </a:t>
            </a:r>
            <a:r>
              <a:rPr sz="2750" spc="-10" dirty="0">
                <a:latin typeface="Cambria Math"/>
                <a:cs typeface="Cambria Math"/>
              </a:rPr>
              <a:t>𝑑</a:t>
            </a:r>
            <a:r>
              <a:rPr sz="2775" spc="-15" baseline="-18018" dirty="0">
                <a:latin typeface="Cambria Math"/>
                <a:cs typeface="Cambria Math"/>
              </a:rPr>
              <a:t>𝑖</a:t>
            </a:r>
            <a:r>
              <a:rPr sz="2775" spc="465" baseline="-18018" dirty="0">
                <a:latin typeface="Cambria Math"/>
                <a:cs typeface="Cambria Math"/>
              </a:rPr>
              <a:t> </a:t>
            </a:r>
            <a:r>
              <a:rPr sz="2750" spc="-10" dirty="0">
                <a:latin typeface="Calibri"/>
                <a:cs typeface="Calibri"/>
              </a:rPr>
              <a:t>out-links</a:t>
            </a:r>
            <a:endParaRPr sz="2750">
              <a:latin typeface="Calibri"/>
              <a:cs typeface="Calibri"/>
            </a:endParaRPr>
          </a:p>
          <a:p>
            <a:pPr marL="358775" indent="-276860">
              <a:lnSpc>
                <a:spcPct val="100000"/>
              </a:lnSpc>
              <a:spcBef>
                <a:spcPts val="1430"/>
              </a:spcBef>
              <a:buClr>
                <a:srgbClr val="5FB5CC"/>
              </a:buClr>
              <a:buFont typeface="Wingdings"/>
              <a:buChar char=""/>
              <a:tabLst>
                <a:tab pos="359410" algn="l"/>
                <a:tab pos="1464310" algn="l"/>
                <a:tab pos="4258310" algn="l"/>
              </a:tabLst>
            </a:pPr>
            <a:r>
              <a:rPr sz="2750" spc="-5" dirty="0">
                <a:latin typeface="Calibri"/>
                <a:cs typeface="Calibri"/>
              </a:rPr>
              <a:t>If	</a:t>
            </a:r>
            <a:r>
              <a:rPr sz="2750" spc="5" dirty="0">
                <a:latin typeface="Calibri"/>
                <a:cs typeface="Calibri"/>
              </a:rPr>
              <a:t>,</a:t>
            </a:r>
            <a:r>
              <a:rPr sz="2750" spc="4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then	</a:t>
            </a:r>
            <a:r>
              <a:rPr sz="2750" spc="-20" dirty="0">
                <a:latin typeface="Calibri"/>
                <a:cs typeface="Calibri"/>
              </a:rPr>
              <a:t>else</a:t>
            </a:r>
            <a:endParaRPr sz="2750">
              <a:latin typeface="Calibri"/>
              <a:cs typeface="Calibri"/>
            </a:endParaRPr>
          </a:p>
          <a:p>
            <a:pPr marL="626110" lvl="1" indent="-229235">
              <a:lnSpc>
                <a:spcPts val="2880"/>
              </a:lnSpc>
              <a:spcBef>
                <a:spcPts val="730"/>
              </a:spcBef>
              <a:buClr>
                <a:srgbClr val="E66C7C"/>
              </a:buClr>
              <a:buFont typeface="Wingdings"/>
              <a:buChar char=""/>
              <a:tabLst>
                <a:tab pos="626110" algn="l"/>
              </a:tabLst>
            </a:pPr>
            <a:r>
              <a:rPr sz="2400" dirty="0">
                <a:latin typeface="Cambria Math"/>
                <a:cs typeface="Cambria Math"/>
              </a:rPr>
              <a:t>𝑴 </a:t>
            </a:r>
            <a:r>
              <a:rPr sz="2400" spc="-1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b="1" spc="-10" dirty="0">
                <a:latin typeface="Calibri"/>
                <a:cs typeface="Calibri"/>
              </a:rPr>
              <a:t>column </a:t>
            </a:r>
            <a:r>
              <a:rPr sz="2400" b="1" spc="-5" dirty="0">
                <a:latin typeface="Calibri"/>
                <a:cs typeface="Calibri"/>
              </a:rPr>
              <a:t>stochastic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845185" lvl="2" indent="-190500">
              <a:lnSpc>
                <a:spcPts val="1989"/>
              </a:lnSpc>
              <a:buClr>
                <a:srgbClr val="6BB76C"/>
              </a:buClr>
              <a:buFont typeface="Wingdings"/>
              <a:buChar char=""/>
              <a:tabLst>
                <a:tab pos="845185" algn="l"/>
              </a:tabLst>
            </a:pPr>
            <a:r>
              <a:rPr sz="2000" dirty="0">
                <a:latin typeface="Calibri"/>
                <a:cs typeface="Calibri"/>
              </a:rPr>
              <a:t>Columns </a:t>
            </a:r>
            <a:r>
              <a:rPr sz="2000" spc="20" dirty="0">
                <a:latin typeface="Calibri"/>
                <a:cs typeface="Calibri"/>
              </a:rPr>
              <a:t>sum </a:t>
            </a:r>
            <a:r>
              <a:rPr sz="2000" spc="10" dirty="0">
                <a:latin typeface="Calibri"/>
                <a:cs typeface="Calibri"/>
              </a:rPr>
              <a:t>to</a:t>
            </a:r>
            <a:r>
              <a:rPr sz="2000" spc="-13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marL="63500">
              <a:lnSpc>
                <a:spcPts val="3429"/>
              </a:lnSpc>
            </a:pP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Rank vector </a:t>
            </a:r>
            <a:r>
              <a:rPr sz="3200" spc="5" dirty="0">
                <a:solidFill>
                  <a:srgbClr val="008000"/>
                </a:solidFill>
                <a:latin typeface="Cambria Math"/>
                <a:cs typeface="Cambria Math"/>
              </a:rPr>
              <a:t>𝒓</a:t>
            </a: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: </a:t>
            </a:r>
            <a:r>
              <a:rPr sz="3200" spc="-5" dirty="0">
                <a:latin typeface="Calibri"/>
                <a:cs typeface="Calibri"/>
              </a:rPr>
              <a:t>vector </a:t>
            </a:r>
            <a:r>
              <a:rPr sz="3200" spc="10" dirty="0">
                <a:latin typeface="Calibri"/>
                <a:cs typeface="Calibri"/>
              </a:rPr>
              <a:t>with </a:t>
            </a:r>
            <a:r>
              <a:rPr sz="3200" spc="25" dirty="0">
                <a:latin typeface="Calibri"/>
                <a:cs typeface="Calibri"/>
              </a:rPr>
              <a:t>an </a:t>
            </a:r>
            <a:r>
              <a:rPr sz="3200" spc="5" dirty="0">
                <a:latin typeface="Calibri"/>
                <a:cs typeface="Calibri"/>
              </a:rPr>
              <a:t>entry </a:t>
            </a:r>
            <a:r>
              <a:rPr sz="3200" spc="10" dirty="0">
                <a:latin typeface="Calibri"/>
                <a:cs typeface="Calibri"/>
              </a:rPr>
              <a:t>per</a:t>
            </a:r>
            <a:r>
              <a:rPr sz="3200" spc="-46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page</a:t>
            </a:r>
            <a:endParaRPr sz="3200">
              <a:latin typeface="Calibri"/>
              <a:cs typeface="Calibri"/>
            </a:endParaRPr>
          </a:p>
          <a:p>
            <a:pPr marL="358775" indent="-276860">
              <a:lnSpc>
                <a:spcPct val="100000"/>
              </a:lnSpc>
              <a:spcBef>
                <a:spcPts val="140"/>
              </a:spcBef>
              <a:buClr>
                <a:srgbClr val="5FB5CC"/>
              </a:buClr>
              <a:buFont typeface="Wingdings"/>
              <a:buChar char=""/>
              <a:tabLst>
                <a:tab pos="359410" algn="l"/>
              </a:tabLst>
            </a:pPr>
            <a:r>
              <a:rPr sz="2750" spc="20" dirty="0">
                <a:latin typeface="Cambria Math"/>
                <a:cs typeface="Cambria Math"/>
              </a:rPr>
              <a:t>𝑟</a:t>
            </a:r>
            <a:r>
              <a:rPr sz="2775" spc="30" baseline="-18018" dirty="0">
                <a:latin typeface="Cambria Math"/>
                <a:cs typeface="Cambria Math"/>
              </a:rPr>
              <a:t>𝑖 </a:t>
            </a:r>
            <a:r>
              <a:rPr sz="2750" spc="-15" dirty="0">
                <a:latin typeface="Calibri"/>
                <a:cs typeface="Calibri"/>
              </a:rPr>
              <a:t>is the </a:t>
            </a:r>
            <a:r>
              <a:rPr sz="2750" spc="5" dirty="0">
                <a:latin typeface="Calibri"/>
                <a:cs typeface="Calibri"/>
              </a:rPr>
              <a:t>importance </a:t>
            </a:r>
            <a:r>
              <a:rPr sz="2750" spc="15" dirty="0">
                <a:latin typeface="Calibri"/>
                <a:cs typeface="Calibri"/>
              </a:rPr>
              <a:t>score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5" dirty="0">
                <a:latin typeface="Calibri"/>
                <a:cs typeface="Calibri"/>
              </a:rPr>
              <a:t>page</a:t>
            </a:r>
            <a:r>
              <a:rPr sz="2750" spc="195" dirty="0">
                <a:latin typeface="Calibri"/>
                <a:cs typeface="Calibri"/>
              </a:rPr>
              <a:t> </a:t>
            </a:r>
            <a:r>
              <a:rPr sz="2750" spc="5" dirty="0">
                <a:latin typeface="Cambria Math"/>
                <a:cs typeface="Cambria Math"/>
              </a:rPr>
              <a:t>𝑖</a:t>
            </a:r>
            <a:endParaRPr sz="2750">
              <a:latin typeface="Cambria Math"/>
              <a:cs typeface="Cambria Math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956175"/>
            <a:ext cx="323850" cy="400684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906780" y="4419028"/>
            <a:ext cx="5858510" cy="9372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9725" indent="-276860">
              <a:lnSpc>
                <a:spcPct val="100000"/>
              </a:lnSpc>
              <a:spcBef>
                <a:spcPts val="125"/>
              </a:spcBef>
              <a:buClr>
                <a:srgbClr val="5FB5CC"/>
              </a:buClr>
              <a:buFont typeface="Wingdings"/>
              <a:buChar char=""/>
              <a:tabLst>
                <a:tab pos="340360" algn="l"/>
                <a:tab pos="1283335" algn="l"/>
              </a:tabLst>
            </a:pPr>
            <a:r>
              <a:rPr sz="4125" spc="337" baseline="1010" dirty="0">
                <a:latin typeface="Cambria Math"/>
                <a:cs typeface="Cambria Math"/>
              </a:rPr>
              <a:t>σ</a:t>
            </a:r>
            <a:r>
              <a:rPr sz="3000" spc="337" baseline="-19444" dirty="0">
                <a:latin typeface="Cambria Math"/>
                <a:cs typeface="Cambria Math"/>
              </a:rPr>
              <a:t>𝑖</a:t>
            </a:r>
            <a:r>
              <a:rPr sz="3000" spc="179" baseline="-19444" dirty="0">
                <a:latin typeface="Cambria Math"/>
                <a:cs typeface="Cambria Math"/>
              </a:rPr>
              <a:t> </a:t>
            </a:r>
            <a:r>
              <a:rPr sz="2750" spc="-90" dirty="0">
                <a:latin typeface="Cambria Math"/>
                <a:cs typeface="Cambria Math"/>
              </a:rPr>
              <a:t>𝑟</a:t>
            </a:r>
            <a:r>
              <a:rPr sz="3000" spc="-135" baseline="-19444" dirty="0">
                <a:latin typeface="Cambria Math"/>
                <a:cs typeface="Cambria Math"/>
              </a:rPr>
              <a:t>𝑖	</a:t>
            </a:r>
            <a:r>
              <a:rPr sz="2750" spc="20" dirty="0">
                <a:latin typeface="Cambria Math"/>
                <a:cs typeface="Cambria Math"/>
              </a:rPr>
              <a:t>=</a:t>
            </a:r>
            <a:r>
              <a:rPr sz="2750" spc="240" dirty="0">
                <a:latin typeface="Cambria Math"/>
                <a:cs typeface="Cambria Math"/>
              </a:rPr>
              <a:t> </a:t>
            </a:r>
            <a:r>
              <a:rPr sz="2750" spc="15" dirty="0">
                <a:latin typeface="Cambria Math"/>
                <a:cs typeface="Cambria Math"/>
              </a:rPr>
              <a:t>1</a:t>
            </a:r>
            <a:endParaRPr sz="275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The </a:t>
            </a:r>
            <a:r>
              <a:rPr sz="3200" b="1" spc="20" dirty="0">
                <a:solidFill>
                  <a:srgbClr val="D50092"/>
                </a:solidFill>
                <a:latin typeface="Calibri"/>
                <a:cs typeface="Calibri"/>
              </a:rPr>
              <a:t>flow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equations </a:t>
            </a: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can </a:t>
            </a:r>
            <a:r>
              <a:rPr sz="3200" b="1" spc="15" dirty="0">
                <a:solidFill>
                  <a:srgbClr val="D50092"/>
                </a:solidFill>
                <a:latin typeface="Calibri"/>
                <a:cs typeface="Calibri"/>
              </a:rPr>
              <a:t>be</a:t>
            </a:r>
            <a:r>
              <a:rPr sz="3200" b="1" spc="-434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written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60978" y="5596077"/>
            <a:ext cx="256540" cy="248920"/>
          </a:xfrm>
          <a:custGeom>
            <a:avLst/>
            <a:gdLst/>
            <a:ahLst/>
            <a:cxnLst/>
            <a:rect l="l" t="t" r="r" b="b"/>
            <a:pathLst>
              <a:path w="256539" h="248920">
                <a:moveTo>
                  <a:pt x="221742" y="0"/>
                </a:moveTo>
                <a:lnTo>
                  <a:pt x="183219" y="8449"/>
                </a:lnTo>
                <a:lnTo>
                  <a:pt x="149336" y="33580"/>
                </a:lnTo>
                <a:lnTo>
                  <a:pt x="128143" y="59156"/>
                </a:lnTo>
                <a:lnTo>
                  <a:pt x="126111" y="58420"/>
                </a:lnTo>
                <a:lnTo>
                  <a:pt x="128016" y="51676"/>
                </a:lnTo>
                <a:lnTo>
                  <a:pt x="128905" y="46088"/>
                </a:lnTo>
                <a:lnTo>
                  <a:pt x="128905" y="41656"/>
                </a:lnTo>
                <a:lnTo>
                  <a:pt x="110093" y="6440"/>
                </a:lnTo>
                <a:lnTo>
                  <a:pt x="83947" y="0"/>
                </a:lnTo>
                <a:lnTo>
                  <a:pt x="73495" y="631"/>
                </a:lnTo>
                <a:lnTo>
                  <a:pt x="33807" y="16092"/>
                </a:lnTo>
                <a:lnTo>
                  <a:pt x="0" y="45351"/>
                </a:lnTo>
                <a:lnTo>
                  <a:pt x="17653" y="63093"/>
                </a:lnTo>
                <a:lnTo>
                  <a:pt x="23387" y="56735"/>
                </a:lnTo>
                <a:lnTo>
                  <a:pt x="28765" y="51206"/>
                </a:lnTo>
                <a:lnTo>
                  <a:pt x="33762" y="46505"/>
                </a:lnTo>
                <a:lnTo>
                  <a:pt x="38354" y="42633"/>
                </a:lnTo>
                <a:lnTo>
                  <a:pt x="44323" y="38036"/>
                </a:lnTo>
                <a:lnTo>
                  <a:pt x="49784" y="35737"/>
                </a:lnTo>
                <a:lnTo>
                  <a:pt x="59309" y="35737"/>
                </a:lnTo>
                <a:lnTo>
                  <a:pt x="62484" y="37211"/>
                </a:lnTo>
                <a:lnTo>
                  <a:pt x="66040" y="43129"/>
                </a:lnTo>
                <a:lnTo>
                  <a:pt x="67056" y="47320"/>
                </a:lnTo>
                <a:lnTo>
                  <a:pt x="67056" y="58331"/>
                </a:lnTo>
                <a:lnTo>
                  <a:pt x="65786" y="66471"/>
                </a:lnTo>
                <a:lnTo>
                  <a:pt x="23622" y="248462"/>
                </a:lnTo>
                <a:lnTo>
                  <a:pt x="94361" y="248462"/>
                </a:lnTo>
                <a:lnTo>
                  <a:pt x="122174" y="122008"/>
                </a:lnTo>
                <a:lnTo>
                  <a:pt x="135050" y="84221"/>
                </a:lnTo>
                <a:lnTo>
                  <a:pt x="158686" y="53235"/>
                </a:lnTo>
                <a:lnTo>
                  <a:pt x="177419" y="41656"/>
                </a:lnTo>
                <a:lnTo>
                  <a:pt x="187579" y="41656"/>
                </a:lnTo>
                <a:lnTo>
                  <a:pt x="191643" y="43789"/>
                </a:lnTo>
                <a:lnTo>
                  <a:pt x="196469" y="52336"/>
                </a:lnTo>
                <a:lnTo>
                  <a:pt x="197612" y="59969"/>
                </a:lnTo>
                <a:lnTo>
                  <a:pt x="197612" y="70980"/>
                </a:lnTo>
                <a:lnTo>
                  <a:pt x="241808" y="70980"/>
                </a:lnTo>
                <a:lnTo>
                  <a:pt x="256286" y="4673"/>
                </a:lnTo>
                <a:lnTo>
                  <a:pt x="247280" y="2625"/>
                </a:lnTo>
                <a:lnTo>
                  <a:pt x="238537" y="1165"/>
                </a:lnTo>
                <a:lnTo>
                  <a:pt x="230032" y="290"/>
                </a:lnTo>
                <a:lnTo>
                  <a:pt x="22174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815841" y="5735091"/>
            <a:ext cx="304165" cy="33020"/>
          </a:xfrm>
          <a:custGeom>
            <a:avLst/>
            <a:gdLst/>
            <a:ahLst/>
            <a:cxnLst/>
            <a:rect l="l" t="t" r="r" b="b"/>
            <a:pathLst>
              <a:path w="304164" h="33020">
                <a:moveTo>
                  <a:pt x="303657" y="0"/>
                </a:moveTo>
                <a:lnTo>
                  <a:pt x="0" y="0"/>
                </a:lnTo>
                <a:lnTo>
                  <a:pt x="0" y="32791"/>
                </a:lnTo>
                <a:lnTo>
                  <a:pt x="303657" y="32791"/>
                </a:lnTo>
                <a:lnTo>
                  <a:pt x="30365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815841" y="5632793"/>
            <a:ext cx="304165" cy="33020"/>
          </a:xfrm>
          <a:custGeom>
            <a:avLst/>
            <a:gdLst/>
            <a:ahLst/>
            <a:cxnLst/>
            <a:rect l="l" t="t" r="r" b="b"/>
            <a:pathLst>
              <a:path w="304164" h="33020">
                <a:moveTo>
                  <a:pt x="303657" y="0"/>
                </a:moveTo>
                <a:lnTo>
                  <a:pt x="0" y="0"/>
                </a:lnTo>
                <a:lnTo>
                  <a:pt x="0" y="32791"/>
                </a:lnTo>
                <a:lnTo>
                  <a:pt x="303657" y="32791"/>
                </a:lnTo>
                <a:lnTo>
                  <a:pt x="30365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430903" y="5508116"/>
            <a:ext cx="433705" cy="336550"/>
          </a:xfrm>
          <a:custGeom>
            <a:avLst/>
            <a:gdLst/>
            <a:ahLst/>
            <a:cxnLst/>
            <a:rect l="l" t="t" r="r" b="b"/>
            <a:pathLst>
              <a:path w="433704" h="336550">
                <a:moveTo>
                  <a:pt x="433324" y="0"/>
                </a:moveTo>
                <a:lnTo>
                  <a:pt x="318643" y="0"/>
                </a:lnTo>
                <a:lnTo>
                  <a:pt x="201802" y="205778"/>
                </a:lnTo>
                <a:lnTo>
                  <a:pt x="182625" y="0"/>
                </a:lnTo>
                <a:lnTo>
                  <a:pt x="67818" y="0"/>
                </a:lnTo>
                <a:lnTo>
                  <a:pt x="64262" y="16256"/>
                </a:lnTo>
                <a:lnTo>
                  <a:pt x="71500" y="17272"/>
                </a:lnTo>
                <a:lnTo>
                  <a:pt x="76708" y="19304"/>
                </a:lnTo>
                <a:lnTo>
                  <a:pt x="83185" y="25654"/>
                </a:lnTo>
                <a:lnTo>
                  <a:pt x="84709" y="30734"/>
                </a:lnTo>
                <a:lnTo>
                  <a:pt x="84516" y="44866"/>
                </a:lnTo>
                <a:lnTo>
                  <a:pt x="36702" y="269862"/>
                </a:lnTo>
                <a:lnTo>
                  <a:pt x="24130" y="306349"/>
                </a:lnTo>
                <a:lnTo>
                  <a:pt x="3429" y="320154"/>
                </a:lnTo>
                <a:lnTo>
                  <a:pt x="0" y="336423"/>
                </a:lnTo>
                <a:lnTo>
                  <a:pt x="90424" y="336423"/>
                </a:lnTo>
                <a:lnTo>
                  <a:pt x="93852" y="320154"/>
                </a:lnTo>
                <a:lnTo>
                  <a:pt x="86613" y="319163"/>
                </a:lnTo>
                <a:lnTo>
                  <a:pt x="81407" y="317068"/>
                </a:lnTo>
                <a:lnTo>
                  <a:pt x="75057" y="310667"/>
                </a:lnTo>
                <a:lnTo>
                  <a:pt x="73406" y="305612"/>
                </a:lnTo>
                <a:lnTo>
                  <a:pt x="73406" y="292468"/>
                </a:lnTo>
                <a:lnTo>
                  <a:pt x="73660" y="287413"/>
                </a:lnTo>
                <a:lnTo>
                  <a:pt x="75437" y="275132"/>
                </a:lnTo>
                <a:lnTo>
                  <a:pt x="100584" y="161658"/>
                </a:lnTo>
                <a:lnTo>
                  <a:pt x="105036" y="140274"/>
                </a:lnTo>
                <a:lnTo>
                  <a:pt x="109632" y="116300"/>
                </a:lnTo>
                <a:lnTo>
                  <a:pt x="114371" y="89735"/>
                </a:lnTo>
                <a:lnTo>
                  <a:pt x="119252" y="60579"/>
                </a:lnTo>
                <a:lnTo>
                  <a:pt x="123189" y="60579"/>
                </a:lnTo>
                <a:lnTo>
                  <a:pt x="125920" y="102063"/>
                </a:lnTo>
                <a:lnTo>
                  <a:pt x="130556" y="151053"/>
                </a:lnTo>
                <a:lnTo>
                  <a:pt x="146938" y="299199"/>
                </a:lnTo>
                <a:lnTo>
                  <a:pt x="186817" y="299199"/>
                </a:lnTo>
                <a:lnTo>
                  <a:pt x="304256" y="95828"/>
                </a:lnTo>
                <a:lnTo>
                  <a:pt x="322580" y="63119"/>
                </a:lnTo>
                <a:lnTo>
                  <a:pt x="327533" y="63119"/>
                </a:lnTo>
                <a:lnTo>
                  <a:pt x="313261" y="114888"/>
                </a:lnTo>
                <a:lnTo>
                  <a:pt x="300989" y="166344"/>
                </a:lnTo>
                <a:lnTo>
                  <a:pt x="278257" y="269862"/>
                </a:lnTo>
                <a:lnTo>
                  <a:pt x="275256" y="282128"/>
                </a:lnTo>
                <a:lnTo>
                  <a:pt x="254381" y="317525"/>
                </a:lnTo>
                <a:lnTo>
                  <a:pt x="244983" y="320154"/>
                </a:lnTo>
                <a:lnTo>
                  <a:pt x="241554" y="336423"/>
                </a:lnTo>
                <a:lnTo>
                  <a:pt x="365506" y="336423"/>
                </a:lnTo>
                <a:lnTo>
                  <a:pt x="368935" y="320154"/>
                </a:lnTo>
                <a:lnTo>
                  <a:pt x="361696" y="319163"/>
                </a:lnTo>
                <a:lnTo>
                  <a:pt x="356488" y="317068"/>
                </a:lnTo>
                <a:lnTo>
                  <a:pt x="350138" y="310667"/>
                </a:lnTo>
                <a:lnTo>
                  <a:pt x="348488" y="305612"/>
                </a:lnTo>
                <a:lnTo>
                  <a:pt x="348488" y="292468"/>
                </a:lnTo>
                <a:lnTo>
                  <a:pt x="396621" y="66548"/>
                </a:lnTo>
                <a:lnTo>
                  <a:pt x="409194" y="29972"/>
                </a:lnTo>
                <a:lnTo>
                  <a:pt x="429895" y="16256"/>
                </a:lnTo>
                <a:lnTo>
                  <a:pt x="43332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031485" y="5670270"/>
            <a:ext cx="57150" cy="60325"/>
          </a:xfrm>
          <a:custGeom>
            <a:avLst/>
            <a:gdLst/>
            <a:ahLst/>
            <a:cxnLst/>
            <a:rect l="l" t="t" r="r" b="b"/>
            <a:pathLst>
              <a:path w="57150" h="60325">
                <a:moveTo>
                  <a:pt x="36956" y="0"/>
                </a:moveTo>
                <a:lnTo>
                  <a:pt x="28575" y="0"/>
                </a:lnTo>
                <a:lnTo>
                  <a:pt x="20192" y="0"/>
                </a:lnTo>
                <a:lnTo>
                  <a:pt x="13335" y="2793"/>
                </a:lnTo>
                <a:lnTo>
                  <a:pt x="2666" y="13969"/>
                </a:lnTo>
                <a:lnTo>
                  <a:pt x="0" y="21196"/>
                </a:lnTo>
                <a:lnTo>
                  <a:pt x="0" y="38938"/>
                </a:lnTo>
                <a:lnTo>
                  <a:pt x="2666" y="46177"/>
                </a:lnTo>
                <a:lnTo>
                  <a:pt x="13335" y="57353"/>
                </a:lnTo>
                <a:lnTo>
                  <a:pt x="20192" y="60147"/>
                </a:lnTo>
                <a:lnTo>
                  <a:pt x="36956" y="60147"/>
                </a:lnTo>
                <a:lnTo>
                  <a:pt x="43814" y="57353"/>
                </a:lnTo>
                <a:lnTo>
                  <a:pt x="54483" y="46177"/>
                </a:lnTo>
                <a:lnTo>
                  <a:pt x="57150" y="38938"/>
                </a:lnTo>
                <a:lnTo>
                  <a:pt x="57150" y="21196"/>
                </a:lnTo>
                <a:lnTo>
                  <a:pt x="54483" y="13969"/>
                </a:lnTo>
                <a:lnTo>
                  <a:pt x="43814" y="2793"/>
                </a:lnTo>
                <a:lnTo>
                  <a:pt x="3695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66003" y="5596077"/>
            <a:ext cx="256540" cy="248920"/>
          </a:xfrm>
          <a:custGeom>
            <a:avLst/>
            <a:gdLst/>
            <a:ahLst/>
            <a:cxnLst/>
            <a:rect l="l" t="t" r="r" b="b"/>
            <a:pathLst>
              <a:path w="256539" h="248920">
                <a:moveTo>
                  <a:pt x="221742" y="0"/>
                </a:moveTo>
                <a:lnTo>
                  <a:pt x="183219" y="8449"/>
                </a:lnTo>
                <a:lnTo>
                  <a:pt x="149336" y="33580"/>
                </a:lnTo>
                <a:lnTo>
                  <a:pt x="128143" y="59156"/>
                </a:lnTo>
                <a:lnTo>
                  <a:pt x="126111" y="58420"/>
                </a:lnTo>
                <a:lnTo>
                  <a:pt x="128016" y="51676"/>
                </a:lnTo>
                <a:lnTo>
                  <a:pt x="128905" y="46088"/>
                </a:lnTo>
                <a:lnTo>
                  <a:pt x="128905" y="41656"/>
                </a:lnTo>
                <a:lnTo>
                  <a:pt x="110093" y="6440"/>
                </a:lnTo>
                <a:lnTo>
                  <a:pt x="83947" y="0"/>
                </a:lnTo>
                <a:lnTo>
                  <a:pt x="73495" y="631"/>
                </a:lnTo>
                <a:lnTo>
                  <a:pt x="33807" y="16092"/>
                </a:lnTo>
                <a:lnTo>
                  <a:pt x="0" y="45351"/>
                </a:lnTo>
                <a:lnTo>
                  <a:pt x="17653" y="63093"/>
                </a:lnTo>
                <a:lnTo>
                  <a:pt x="23387" y="56735"/>
                </a:lnTo>
                <a:lnTo>
                  <a:pt x="28765" y="51206"/>
                </a:lnTo>
                <a:lnTo>
                  <a:pt x="33762" y="46505"/>
                </a:lnTo>
                <a:lnTo>
                  <a:pt x="38354" y="42633"/>
                </a:lnTo>
                <a:lnTo>
                  <a:pt x="44323" y="38036"/>
                </a:lnTo>
                <a:lnTo>
                  <a:pt x="49784" y="35737"/>
                </a:lnTo>
                <a:lnTo>
                  <a:pt x="59309" y="35737"/>
                </a:lnTo>
                <a:lnTo>
                  <a:pt x="62484" y="37211"/>
                </a:lnTo>
                <a:lnTo>
                  <a:pt x="66040" y="43129"/>
                </a:lnTo>
                <a:lnTo>
                  <a:pt x="67056" y="47320"/>
                </a:lnTo>
                <a:lnTo>
                  <a:pt x="67056" y="58331"/>
                </a:lnTo>
                <a:lnTo>
                  <a:pt x="65786" y="66471"/>
                </a:lnTo>
                <a:lnTo>
                  <a:pt x="23622" y="248462"/>
                </a:lnTo>
                <a:lnTo>
                  <a:pt x="94361" y="248462"/>
                </a:lnTo>
                <a:lnTo>
                  <a:pt x="122174" y="122008"/>
                </a:lnTo>
                <a:lnTo>
                  <a:pt x="135050" y="84221"/>
                </a:lnTo>
                <a:lnTo>
                  <a:pt x="158686" y="53235"/>
                </a:lnTo>
                <a:lnTo>
                  <a:pt x="177419" y="41656"/>
                </a:lnTo>
                <a:lnTo>
                  <a:pt x="187579" y="41656"/>
                </a:lnTo>
                <a:lnTo>
                  <a:pt x="191643" y="43789"/>
                </a:lnTo>
                <a:lnTo>
                  <a:pt x="196469" y="52336"/>
                </a:lnTo>
                <a:lnTo>
                  <a:pt x="197612" y="59969"/>
                </a:lnTo>
                <a:lnTo>
                  <a:pt x="197612" y="70980"/>
                </a:lnTo>
                <a:lnTo>
                  <a:pt x="241808" y="70980"/>
                </a:lnTo>
                <a:lnTo>
                  <a:pt x="256286" y="4673"/>
                </a:lnTo>
                <a:lnTo>
                  <a:pt x="247280" y="2625"/>
                </a:lnTo>
                <a:lnTo>
                  <a:pt x="238537" y="1165"/>
                </a:lnTo>
                <a:lnTo>
                  <a:pt x="230032" y="290"/>
                </a:lnTo>
                <a:lnTo>
                  <a:pt x="22174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341678" y="4594912"/>
            <a:ext cx="1256030" cy="7937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3350" i="1" spc="30" dirty="0">
                <a:latin typeface="Times New Roman"/>
                <a:cs typeface="Times New Roman"/>
              </a:rPr>
              <a:t>r</a:t>
            </a:r>
            <a:r>
              <a:rPr sz="2925" i="1" spc="44" baseline="-24216" dirty="0">
                <a:latin typeface="Times New Roman"/>
                <a:cs typeface="Times New Roman"/>
              </a:rPr>
              <a:t>j </a:t>
            </a:r>
            <a:r>
              <a:rPr sz="3350" spc="10" dirty="0">
                <a:latin typeface="Symbol"/>
                <a:cs typeface="Symbol"/>
              </a:rPr>
              <a:t></a:t>
            </a:r>
            <a:r>
              <a:rPr sz="3350" spc="-45" dirty="0">
                <a:latin typeface="Times New Roman"/>
                <a:cs typeface="Times New Roman"/>
              </a:rPr>
              <a:t> </a:t>
            </a:r>
            <a:r>
              <a:rPr sz="7500" spc="67" baseline="-8888" dirty="0">
                <a:latin typeface="Symbol"/>
                <a:cs typeface="Symbol"/>
              </a:rPr>
              <a:t></a:t>
            </a:r>
            <a:endParaRPr sz="7500" baseline="-8888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78691" y="4543707"/>
            <a:ext cx="192405" cy="537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350" i="1" spc="5" dirty="0">
                <a:latin typeface="Times New Roman"/>
                <a:cs typeface="Times New Roman"/>
              </a:rPr>
              <a:t>r</a:t>
            </a:r>
            <a:endParaRPr sz="3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2119376" cy="57626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27062" y="1416938"/>
            <a:ext cx="304800" cy="782955"/>
            <a:chOff x="627062" y="1416938"/>
            <a:chExt cx="304800" cy="7829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062" y="1416938"/>
              <a:ext cx="304800" cy="37211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062" y="1827530"/>
              <a:ext cx="304800" cy="37211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38530" y="1308988"/>
            <a:ext cx="478091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1" spc="-10" dirty="0">
                <a:latin typeface="Calibri"/>
                <a:cs typeface="Calibri"/>
              </a:rPr>
              <a:t>Remember the </a:t>
            </a:r>
            <a:r>
              <a:rPr sz="3000" b="1" spc="15" dirty="0">
                <a:latin typeface="Calibri"/>
                <a:cs typeface="Calibri"/>
              </a:rPr>
              <a:t>flow</a:t>
            </a:r>
            <a:r>
              <a:rPr sz="3000" b="1" spc="-14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equation: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530" y="1719199"/>
            <a:ext cx="5252085" cy="951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1" spc="5" dirty="0">
                <a:solidFill>
                  <a:srgbClr val="008000"/>
                </a:solidFill>
                <a:latin typeface="Calibri"/>
                <a:cs typeface="Calibri"/>
              </a:rPr>
              <a:t>Flow </a:t>
            </a:r>
            <a:r>
              <a:rPr sz="3000" b="1" spc="-5" dirty="0">
                <a:solidFill>
                  <a:srgbClr val="008000"/>
                </a:solidFill>
                <a:latin typeface="Calibri"/>
                <a:cs typeface="Calibri"/>
              </a:rPr>
              <a:t>equation </a:t>
            </a:r>
            <a:r>
              <a:rPr sz="3000" b="1" spc="5" dirty="0">
                <a:solidFill>
                  <a:srgbClr val="008000"/>
                </a:solidFill>
                <a:latin typeface="Calibri"/>
                <a:cs typeface="Calibri"/>
              </a:rPr>
              <a:t>in </a:t>
            </a:r>
            <a:r>
              <a:rPr sz="3000" b="1" spc="-10" dirty="0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sz="3000" b="1" spc="5" dirty="0">
                <a:solidFill>
                  <a:srgbClr val="008000"/>
                </a:solidFill>
                <a:latin typeface="Calibri"/>
                <a:cs typeface="Calibri"/>
              </a:rPr>
              <a:t>matrix</a:t>
            </a:r>
            <a:r>
              <a:rPr sz="3000" b="1" spc="-2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08000"/>
                </a:solidFill>
                <a:latin typeface="Calibri"/>
                <a:cs typeface="Calibri"/>
              </a:rPr>
              <a:t>form</a:t>
            </a:r>
            <a:endParaRPr sz="3000">
              <a:latin typeface="Calibri"/>
              <a:cs typeface="Calibri"/>
            </a:endParaRPr>
          </a:p>
          <a:p>
            <a:pPr marL="2748915">
              <a:lnSpc>
                <a:spcPct val="100000"/>
              </a:lnSpc>
              <a:spcBef>
                <a:spcPts val="80"/>
              </a:spcBef>
            </a:pPr>
            <a:r>
              <a:rPr sz="3000" dirty="0">
                <a:solidFill>
                  <a:srgbClr val="0000FF"/>
                </a:solidFill>
                <a:latin typeface="Cambria Math"/>
                <a:cs typeface="Cambria Math"/>
              </a:rPr>
              <a:t>𝑴 ⋅ 𝒓 =</a:t>
            </a:r>
            <a:r>
              <a:rPr sz="3000" spc="31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3000" dirty="0">
                <a:solidFill>
                  <a:srgbClr val="0000FF"/>
                </a:solidFill>
                <a:latin typeface="Cambria Math"/>
                <a:cs typeface="Cambria Math"/>
              </a:rPr>
              <a:t>𝒓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7580" y="2605876"/>
            <a:ext cx="6108700" cy="9213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600" b="1" spc="20" dirty="0">
                <a:solidFill>
                  <a:srgbClr val="0000FF"/>
                </a:solidFill>
                <a:latin typeface="Calibri"/>
                <a:cs typeface="Calibri"/>
              </a:rPr>
              <a:t>Suppose</a:t>
            </a:r>
            <a:r>
              <a:rPr sz="2600" b="1" spc="-1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15" dirty="0">
                <a:solidFill>
                  <a:srgbClr val="0000FF"/>
                </a:solidFill>
                <a:latin typeface="Calibri"/>
                <a:cs typeface="Calibri"/>
              </a:rPr>
              <a:t>page</a:t>
            </a:r>
            <a:r>
              <a:rPr sz="2600" b="1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i="1" spc="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600" b="1" i="1" spc="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25" dirty="0">
                <a:solidFill>
                  <a:srgbClr val="0000FF"/>
                </a:solidFill>
                <a:latin typeface="Calibri"/>
                <a:cs typeface="Calibri"/>
              </a:rPr>
              <a:t>links</a:t>
            </a:r>
            <a:r>
              <a:rPr sz="2600" b="1" spc="-1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6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15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r>
              <a:rPr sz="26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15" dirty="0">
                <a:solidFill>
                  <a:srgbClr val="0000FF"/>
                </a:solidFill>
                <a:latin typeface="Calibri"/>
                <a:cs typeface="Calibri"/>
              </a:rPr>
              <a:t>pages,</a:t>
            </a:r>
            <a:r>
              <a:rPr sz="2600" b="1" spc="-1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25" dirty="0">
                <a:solidFill>
                  <a:srgbClr val="0000FF"/>
                </a:solidFill>
                <a:latin typeface="Calibri"/>
                <a:cs typeface="Calibri"/>
              </a:rPr>
              <a:t>including</a:t>
            </a:r>
            <a:r>
              <a:rPr sz="2600" b="1" spc="-1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i="1" spc="5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endParaRPr sz="2600">
              <a:latin typeface="Calibri"/>
              <a:cs typeface="Calibri"/>
            </a:endParaRPr>
          </a:p>
          <a:p>
            <a:pPr marL="1837055">
              <a:lnSpc>
                <a:spcPct val="100000"/>
              </a:lnSpc>
              <a:spcBef>
                <a:spcPts val="490"/>
              </a:spcBef>
            </a:pPr>
            <a:r>
              <a:rPr sz="2400" b="1" i="1" dirty="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19313" y="3600513"/>
            <a:ext cx="2066925" cy="1990725"/>
            <a:chOff x="1619313" y="3600513"/>
            <a:chExt cx="2066925" cy="1990725"/>
          </a:xfrm>
        </p:grpSpPr>
        <p:sp>
          <p:nvSpPr>
            <p:cNvPr id="10" name="object 10"/>
            <p:cNvSpPr/>
            <p:nvPr/>
          </p:nvSpPr>
          <p:spPr>
            <a:xfrm>
              <a:off x="1624075" y="3605276"/>
              <a:ext cx="2057400" cy="1981200"/>
            </a:xfrm>
            <a:custGeom>
              <a:avLst/>
              <a:gdLst/>
              <a:ahLst/>
              <a:cxnLst/>
              <a:rect l="l" t="t" r="r" b="b"/>
              <a:pathLst>
                <a:path w="2057400" h="1981200">
                  <a:moveTo>
                    <a:pt x="2057400" y="0"/>
                  </a:moveTo>
                  <a:lnTo>
                    <a:pt x="0" y="0"/>
                  </a:lnTo>
                  <a:lnTo>
                    <a:pt x="0" y="1981200"/>
                  </a:lnTo>
                  <a:lnTo>
                    <a:pt x="2057400" y="19812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24075" y="3605276"/>
              <a:ext cx="2057400" cy="1981200"/>
            </a:xfrm>
            <a:custGeom>
              <a:avLst/>
              <a:gdLst/>
              <a:ahLst/>
              <a:cxnLst/>
              <a:rect l="l" t="t" r="r" b="b"/>
              <a:pathLst>
                <a:path w="2057400" h="1981200">
                  <a:moveTo>
                    <a:pt x="0" y="1981200"/>
                  </a:moveTo>
                  <a:lnTo>
                    <a:pt x="2057400" y="1981200"/>
                  </a:lnTo>
                  <a:lnTo>
                    <a:pt x="2057400" y="0"/>
                  </a:lnTo>
                  <a:lnTo>
                    <a:pt x="0" y="0"/>
                  </a:lnTo>
                  <a:lnTo>
                    <a:pt x="0" y="1981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28114" y="3974782"/>
            <a:ext cx="11048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24075" y="3605276"/>
            <a:ext cx="2057400" cy="1981200"/>
          </a:xfrm>
          <a:custGeom>
            <a:avLst/>
            <a:gdLst/>
            <a:ahLst/>
            <a:cxnLst/>
            <a:rect l="l" t="t" r="r" b="b"/>
            <a:pathLst>
              <a:path w="2057400" h="1981200">
                <a:moveTo>
                  <a:pt x="0" y="609600"/>
                </a:moveTo>
                <a:lnTo>
                  <a:pt x="1143000" y="609600"/>
                </a:lnTo>
              </a:path>
              <a:path w="2057400" h="1981200">
                <a:moveTo>
                  <a:pt x="1295400" y="609600"/>
                </a:moveTo>
                <a:lnTo>
                  <a:pt x="2057400" y="609600"/>
                </a:lnTo>
              </a:path>
              <a:path w="2057400" h="1981200">
                <a:moveTo>
                  <a:pt x="1219200" y="1809750"/>
                </a:moveTo>
                <a:lnTo>
                  <a:pt x="1219200" y="1981200"/>
                </a:lnTo>
              </a:path>
              <a:path w="2057400" h="1981200">
                <a:moveTo>
                  <a:pt x="1219200" y="1200150"/>
                </a:moveTo>
                <a:lnTo>
                  <a:pt x="1219200" y="1657350"/>
                </a:lnTo>
              </a:path>
              <a:path w="2057400" h="1981200">
                <a:moveTo>
                  <a:pt x="1219200" y="685800"/>
                </a:moveTo>
                <a:lnTo>
                  <a:pt x="1219200" y="1047750"/>
                </a:lnTo>
              </a:path>
              <a:path w="2057400" h="1981200">
                <a:moveTo>
                  <a:pt x="1219200" y="0"/>
                </a:moveTo>
                <a:lnTo>
                  <a:pt x="1219200" y="533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19679" y="5804217"/>
            <a:ext cx="3905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i="1" dirty="0">
                <a:solidFill>
                  <a:srgbClr val="008000"/>
                </a:solidFill>
                <a:latin typeface="Corbel"/>
                <a:cs typeface="Corbel"/>
              </a:rPr>
              <a:t>M</a:t>
            </a:r>
            <a:endParaRPr sz="3600">
              <a:latin typeface="Corbel"/>
              <a:cs typeface="Corbe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86413" y="3562350"/>
            <a:ext cx="314325" cy="2143125"/>
            <a:chOff x="5086413" y="3562350"/>
            <a:chExt cx="314325" cy="2143125"/>
          </a:xfrm>
        </p:grpSpPr>
        <p:sp>
          <p:nvSpPr>
            <p:cNvPr id="16" name="object 16"/>
            <p:cNvSpPr/>
            <p:nvPr/>
          </p:nvSpPr>
          <p:spPr>
            <a:xfrm>
              <a:off x="5091176" y="3567112"/>
              <a:ext cx="304800" cy="2133600"/>
            </a:xfrm>
            <a:custGeom>
              <a:avLst/>
              <a:gdLst/>
              <a:ahLst/>
              <a:cxnLst/>
              <a:rect l="l" t="t" r="r" b="b"/>
              <a:pathLst>
                <a:path w="304800" h="2133600">
                  <a:moveTo>
                    <a:pt x="304800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304800" y="21336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91176" y="3567112"/>
              <a:ext cx="304800" cy="2133600"/>
            </a:xfrm>
            <a:custGeom>
              <a:avLst/>
              <a:gdLst/>
              <a:ahLst/>
              <a:cxnLst/>
              <a:rect l="l" t="t" r="r" b="b"/>
              <a:pathLst>
                <a:path w="304800" h="2133600">
                  <a:moveTo>
                    <a:pt x="0" y="2133600"/>
                  </a:moveTo>
                  <a:lnTo>
                    <a:pt x="304800" y="21336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2133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91176" y="5034025"/>
              <a:ext cx="295275" cy="0"/>
            </a:xfrm>
            <a:custGeom>
              <a:avLst/>
              <a:gdLst/>
              <a:ahLst/>
              <a:cxnLst/>
              <a:rect l="l" t="t" r="r" b="b"/>
              <a:pathLst>
                <a:path w="29527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157851" y="5813742"/>
            <a:ext cx="18986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i="1" dirty="0">
                <a:solidFill>
                  <a:srgbClr val="008000"/>
                </a:solidFill>
                <a:latin typeface="Corbel"/>
                <a:cs typeface="Corbel"/>
              </a:rPr>
              <a:t>r</a:t>
            </a:r>
            <a:endParaRPr sz="3600">
              <a:latin typeface="Corbel"/>
              <a:cs typeface="Corbe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88556" y="5803582"/>
            <a:ext cx="18986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i="1" dirty="0">
                <a:solidFill>
                  <a:srgbClr val="008000"/>
                </a:solidFill>
                <a:latin typeface="Corbel"/>
                <a:cs typeface="Corbel"/>
              </a:rPr>
              <a:t>r</a:t>
            </a:r>
            <a:endParaRPr sz="3600">
              <a:latin typeface="Corbel"/>
              <a:cs typeface="Corbe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915213" y="3562350"/>
            <a:ext cx="314325" cy="2143125"/>
            <a:chOff x="6915213" y="3562350"/>
            <a:chExt cx="314325" cy="2143125"/>
          </a:xfrm>
        </p:grpSpPr>
        <p:sp>
          <p:nvSpPr>
            <p:cNvPr id="22" name="object 22"/>
            <p:cNvSpPr/>
            <p:nvPr/>
          </p:nvSpPr>
          <p:spPr>
            <a:xfrm>
              <a:off x="6919976" y="3567112"/>
              <a:ext cx="304800" cy="2133600"/>
            </a:xfrm>
            <a:custGeom>
              <a:avLst/>
              <a:gdLst/>
              <a:ahLst/>
              <a:cxnLst/>
              <a:rect l="l" t="t" r="r" b="b"/>
              <a:pathLst>
                <a:path w="304800" h="2133600">
                  <a:moveTo>
                    <a:pt x="304800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304800" y="21336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19976" y="3567112"/>
              <a:ext cx="304800" cy="2133600"/>
            </a:xfrm>
            <a:custGeom>
              <a:avLst/>
              <a:gdLst/>
              <a:ahLst/>
              <a:cxnLst/>
              <a:rect l="l" t="t" r="r" b="b"/>
              <a:pathLst>
                <a:path w="304800" h="2133600">
                  <a:moveTo>
                    <a:pt x="0" y="2133600"/>
                  </a:moveTo>
                  <a:lnTo>
                    <a:pt x="304800" y="21336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2133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19976" y="4195826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073140" y="4348098"/>
            <a:ext cx="26733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solidFill>
                  <a:srgbClr val="008000"/>
                </a:solidFill>
                <a:latin typeface="Corbel"/>
                <a:cs typeface="Corbel"/>
              </a:rPr>
              <a:t>=</a:t>
            </a:r>
            <a:endParaRPr sz="3600">
              <a:latin typeface="Corbel"/>
              <a:cs typeface="Corbe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57033" y="3977957"/>
            <a:ext cx="2330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i="1" spc="-20" dirty="0">
                <a:latin typeface="Corbel"/>
                <a:cs typeface="Corbel"/>
              </a:rPr>
              <a:t>r</a:t>
            </a:r>
            <a:r>
              <a:rPr sz="2325" b="1" i="1" spc="-30" baseline="-19713" dirty="0">
                <a:latin typeface="Corbel"/>
                <a:cs typeface="Corbel"/>
              </a:rPr>
              <a:t>j</a:t>
            </a:r>
            <a:endParaRPr sz="2325" baseline="-19713">
              <a:latin typeface="Corbel"/>
              <a:cs typeface="Corbe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0112" y="5173408"/>
            <a:ext cx="4159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8000"/>
                </a:solidFill>
                <a:latin typeface="Times New Roman"/>
                <a:cs typeface="Times New Roman"/>
              </a:rPr>
              <a:t>1/3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07414" y="4133913"/>
            <a:ext cx="1817370" cy="1285875"/>
            <a:chOff x="1107414" y="4133913"/>
            <a:chExt cx="1817370" cy="1285875"/>
          </a:xfrm>
        </p:grpSpPr>
        <p:sp>
          <p:nvSpPr>
            <p:cNvPr id="29" name="object 29"/>
            <p:cNvSpPr/>
            <p:nvPr/>
          </p:nvSpPr>
          <p:spPr>
            <a:xfrm>
              <a:off x="1107414" y="4291076"/>
              <a:ext cx="1640839" cy="880744"/>
            </a:xfrm>
            <a:custGeom>
              <a:avLst/>
              <a:gdLst/>
              <a:ahLst/>
              <a:cxnLst/>
              <a:rect l="l" t="t" r="r" b="b"/>
              <a:pathLst>
                <a:path w="1640839" h="880745">
                  <a:moveTo>
                    <a:pt x="1571104" y="31651"/>
                  </a:moveTo>
                  <a:lnTo>
                    <a:pt x="0" y="871982"/>
                  </a:lnTo>
                  <a:lnTo>
                    <a:pt x="4495" y="880491"/>
                  </a:lnTo>
                  <a:lnTo>
                    <a:pt x="1575580" y="40018"/>
                  </a:lnTo>
                  <a:lnTo>
                    <a:pt x="1571104" y="31651"/>
                  </a:lnTo>
                  <a:close/>
                </a:path>
                <a:path w="1640839" h="880745">
                  <a:moveTo>
                    <a:pt x="1622334" y="25654"/>
                  </a:moveTo>
                  <a:lnTo>
                    <a:pt x="1582318" y="25654"/>
                  </a:lnTo>
                  <a:lnTo>
                    <a:pt x="1586763" y="34036"/>
                  </a:lnTo>
                  <a:lnTo>
                    <a:pt x="1575580" y="40018"/>
                  </a:lnTo>
                  <a:lnTo>
                    <a:pt x="1591335" y="69468"/>
                  </a:lnTo>
                  <a:lnTo>
                    <a:pt x="1622334" y="25654"/>
                  </a:lnTo>
                  <a:close/>
                </a:path>
                <a:path w="1640839" h="880745">
                  <a:moveTo>
                    <a:pt x="1582318" y="25654"/>
                  </a:moveTo>
                  <a:lnTo>
                    <a:pt x="1571104" y="31651"/>
                  </a:lnTo>
                  <a:lnTo>
                    <a:pt x="1575580" y="40018"/>
                  </a:lnTo>
                  <a:lnTo>
                    <a:pt x="1586763" y="34036"/>
                  </a:lnTo>
                  <a:lnTo>
                    <a:pt x="1582318" y="25654"/>
                  </a:lnTo>
                  <a:close/>
                </a:path>
                <a:path w="1640839" h="880745">
                  <a:moveTo>
                    <a:pt x="1640484" y="0"/>
                  </a:moveTo>
                  <a:lnTo>
                    <a:pt x="1555394" y="2286"/>
                  </a:lnTo>
                  <a:lnTo>
                    <a:pt x="1571104" y="31651"/>
                  </a:lnTo>
                  <a:lnTo>
                    <a:pt x="1582318" y="25654"/>
                  </a:lnTo>
                  <a:lnTo>
                    <a:pt x="1622334" y="25654"/>
                  </a:lnTo>
                  <a:lnTo>
                    <a:pt x="16404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57551" y="4138676"/>
              <a:ext cx="161925" cy="1276350"/>
            </a:xfrm>
            <a:custGeom>
              <a:avLst/>
              <a:gdLst/>
              <a:ahLst/>
              <a:cxnLst/>
              <a:rect l="l" t="t" r="r" b="b"/>
              <a:pathLst>
                <a:path w="161925" h="1276350">
                  <a:moveTo>
                    <a:pt x="9525" y="152400"/>
                  </a:moveTo>
                  <a:lnTo>
                    <a:pt x="161925" y="152400"/>
                  </a:lnTo>
                  <a:lnTo>
                    <a:pt x="161925" y="0"/>
                  </a:lnTo>
                  <a:lnTo>
                    <a:pt x="9525" y="0"/>
                  </a:lnTo>
                  <a:lnTo>
                    <a:pt x="9525" y="152400"/>
                  </a:lnTo>
                  <a:close/>
                </a:path>
                <a:path w="161925" h="1276350">
                  <a:moveTo>
                    <a:pt x="9525" y="666750"/>
                  </a:moveTo>
                  <a:lnTo>
                    <a:pt x="161925" y="666750"/>
                  </a:lnTo>
                  <a:lnTo>
                    <a:pt x="161925" y="514350"/>
                  </a:lnTo>
                  <a:lnTo>
                    <a:pt x="9525" y="514350"/>
                  </a:lnTo>
                  <a:lnTo>
                    <a:pt x="9525" y="666750"/>
                  </a:lnTo>
                  <a:close/>
                </a:path>
                <a:path w="161925" h="1276350">
                  <a:moveTo>
                    <a:pt x="0" y="1276350"/>
                  </a:moveTo>
                  <a:lnTo>
                    <a:pt x="152400" y="1276350"/>
                  </a:lnTo>
                  <a:lnTo>
                    <a:pt x="152400" y="1123950"/>
                  </a:lnTo>
                  <a:lnTo>
                    <a:pt x="0" y="1123950"/>
                  </a:lnTo>
                  <a:lnTo>
                    <a:pt x="0" y="12763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27023" y="4721605"/>
              <a:ext cx="1430655" cy="698500"/>
            </a:xfrm>
            <a:custGeom>
              <a:avLst/>
              <a:gdLst/>
              <a:ahLst/>
              <a:cxnLst/>
              <a:rect l="l" t="t" r="r" b="b"/>
              <a:pathLst>
                <a:path w="1430655" h="698500">
                  <a:moveTo>
                    <a:pt x="1420876" y="617220"/>
                  </a:moveTo>
                  <a:lnTo>
                    <a:pt x="1417650" y="615823"/>
                  </a:lnTo>
                  <a:lnTo>
                    <a:pt x="1342771" y="583311"/>
                  </a:lnTo>
                  <a:lnTo>
                    <a:pt x="1344599" y="616521"/>
                  </a:lnTo>
                  <a:lnTo>
                    <a:pt x="29972" y="688594"/>
                  </a:lnTo>
                  <a:lnTo>
                    <a:pt x="30607" y="698119"/>
                  </a:lnTo>
                  <a:lnTo>
                    <a:pt x="1345120" y="626046"/>
                  </a:lnTo>
                  <a:lnTo>
                    <a:pt x="1346962" y="659384"/>
                  </a:lnTo>
                  <a:lnTo>
                    <a:pt x="1420876" y="617220"/>
                  </a:lnTo>
                  <a:close/>
                </a:path>
                <a:path w="1430655" h="698500">
                  <a:moveTo>
                    <a:pt x="1430401" y="7620"/>
                  </a:moveTo>
                  <a:lnTo>
                    <a:pt x="1345565" y="0"/>
                  </a:lnTo>
                  <a:lnTo>
                    <a:pt x="1357795" y="31051"/>
                  </a:lnTo>
                  <a:lnTo>
                    <a:pt x="0" y="565150"/>
                  </a:lnTo>
                  <a:lnTo>
                    <a:pt x="3429" y="573913"/>
                  </a:lnTo>
                  <a:lnTo>
                    <a:pt x="1361262" y="39852"/>
                  </a:lnTo>
                  <a:lnTo>
                    <a:pt x="1373505" y="70866"/>
                  </a:lnTo>
                  <a:lnTo>
                    <a:pt x="1413484" y="26416"/>
                  </a:lnTo>
                  <a:lnTo>
                    <a:pt x="1430401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7034097" y="1564476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0" y="0"/>
                </a:moveTo>
                <a:lnTo>
                  <a:pt x="339304" y="0"/>
                </a:lnTo>
              </a:path>
            </a:pathLst>
          </a:custGeom>
          <a:ln w="15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6091598" y="1178680"/>
            <a:ext cx="909319" cy="8921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5025"/>
              </a:lnSpc>
              <a:spcBef>
                <a:spcPts val="110"/>
              </a:spcBef>
              <a:tabLst>
                <a:tab pos="493395" algn="l"/>
              </a:tabLst>
            </a:pPr>
            <a:r>
              <a:rPr sz="1700" i="1" spc="5" dirty="0">
                <a:latin typeface="Times New Roman"/>
                <a:cs typeface="Times New Roman"/>
              </a:rPr>
              <a:t>j	</a:t>
            </a:r>
            <a:r>
              <a:rPr sz="4400" spc="30" dirty="0">
                <a:latin typeface="Symbol"/>
                <a:cs typeface="Symbol"/>
              </a:rPr>
              <a:t></a:t>
            </a:r>
            <a:endParaRPr sz="4400">
              <a:latin typeface="Symbol"/>
              <a:cs typeface="Symbol"/>
            </a:endParaRPr>
          </a:p>
          <a:p>
            <a:pPr marL="485775">
              <a:lnSpc>
                <a:spcPts val="1785"/>
              </a:lnSpc>
            </a:pPr>
            <a:r>
              <a:rPr sz="1700" i="1" spc="65" dirty="0">
                <a:latin typeface="Times New Roman"/>
                <a:cs typeface="Times New Roman"/>
              </a:rPr>
              <a:t>i</a:t>
            </a:r>
            <a:r>
              <a:rPr sz="1700" spc="65" dirty="0">
                <a:latin typeface="Symbol"/>
                <a:cs typeface="Symbol"/>
              </a:rPr>
              <a:t></a:t>
            </a:r>
            <a:r>
              <a:rPr sz="1700" spc="-140" dirty="0">
                <a:latin typeface="Times New Roman"/>
                <a:cs typeface="Times New Roman"/>
              </a:rPr>
              <a:t> </a:t>
            </a:r>
            <a:r>
              <a:rPr sz="1700" i="1" spc="5" dirty="0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39952" y="1272123"/>
            <a:ext cx="572135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00" i="1" spc="20" dirty="0">
                <a:latin typeface="Times New Roman"/>
                <a:cs typeface="Times New Roman"/>
              </a:rPr>
              <a:t>r</a:t>
            </a:r>
            <a:r>
              <a:rPr sz="2900" i="1" spc="710" dirty="0">
                <a:latin typeface="Times New Roman"/>
                <a:cs typeface="Times New Roman"/>
              </a:rPr>
              <a:t> </a:t>
            </a:r>
            <a:r>
              <a:rPr sz="2900" spc="30" dirty="0">
                <a:latin typeface="Symbol"/>
                <a:cs typeface="Symbol"/>
              </a:rPr>
              <a:t>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96792" y="1288861"/>
            <a:ext cx="86995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i="1" spc="5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91088" y="1040398"/>
            <a:ext cx="159385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00" i="1" spc="-300" dirty="0">
                <a:latin typeface="Times New Roman"/>
                <a:cs typeface="Times New Roman"/>
              </a:rPr>
              <a:t>r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43512" y="1807841"/>
            <a:ext cx="86995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5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40540" y="1559360"/>
            <a:ext cx="213995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00" spc="30" dirty="0">
                <a:latin typeface="Times New Roman"/>
                <a:cs typeface="Times New Roman"/>
              </a:rPr>
              <a:t>d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93054" y="4740592"/>
            <a:ext cx="23050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i="1" spc="-20" dirty="0">
                <a:latin typeface="Corbel"/>
                <a:cs typeface="Corbel"/>
              </a:rPr>
              <a:t>r</a:t>
            </a:r>
            <a:r>
              <a:rPr sz="2325" b="1" i="1" spc="-30" baseline="-19713" dirty="0">
                <a:latin typeface="Corbel"/>
                <a:cs typeface="Corbel"/>
              </a:rPr>
              <a:t>i</a:t>
            </a:r>
            <a:endParaRPr sz="2325" baseline="-19713">
              <a:latin typeface="Corbel"/>
              <a:cs typeface="Corbe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97984" y="4240910"/>
            <a:ext cx="16319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i="1" dirty="0">
                <a:solidFill>
                  <a:srgbClr val="008000"/>
                </a:solidFill>
                <a:latin typeface="Corbel"/>
                <a:cs typeface="Corbel"/>
              </a:rPr>
              <a:t>.</a:t>
            </a:r>
            <a:endParaRPr sz="3600">
              <a:latin typeface="Corbel"/>
              <a:cs typeface="Corbe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74184" y="5727382"/>
            <a:ext cx="16319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i="1" dirty="0">
                <a:solidFill>
                  <a:srgbClr val="008000"/>
                </a:solidFill>
                <a:latin typeface="Corbel"/>
                <a:cs typeface="Corbel"/>
              </a:rPr>
              <a:t>.</a:t>
            </a:r>
            <a:endParaRPr sz="3600">
              <a:latin typeface="Corbel"/>
              <a:cs typeface="Corbe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04890" y="5843270"/>
            <a:ext cx="26733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solidFill>
                  <a:srgbClr val="008000"/>
                </a:solidFill>
                <a:latin typeface="Corbel"/>
                <a:cs typeface="Corbel"/>
              </a:rPr>
              <a:t>=</a:t>
            </a:r>
            <a:endParaRPr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272401" cy="5762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92494" y="3600196"/>
            <a:ext cx="100012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i="1" spc="10" dirty="0">
                <a:solidFill>
                  <a:srgbClr val="008000"/>
                </a:solidFill>
                <a:latin typeface="Corbel"/>
                <a:cs typeface="Corbel"/>
              </a:rPr>
              <a:t>r </a:t>
            </a:r>
            <a:r>
              <a:rPr sz="2750" b="1" i="1" spc="15" dirty="0">
                <a:solidFill>
                  <a:srgbClr val="008000"/>
                </a:solidFill>
                <a:latin typeface="Corbel"/>
                <a:cs typeface="Corbel"/>
              </a:rPr>
              <a:t>=</a:t>
            </a:r>
            <a:r>
              <a:rPr sz="2750" b="1" i="1" spc="-95" dirty="0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sz="2750" b="1" i="1" spc="25" dirty="0">
                <a:solidFill>
                  <a:srgbClr val="008000"/>
                </a:solidFill>
                <a:latin typeface="Corbel"/>
                <a:cs typeface="Corbel"/>
              </a:rPr>
              <a:t>M∙r</a:t>
            </a:r>
            <a:endParaRPr sz="275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58026" y="4538662"/>
            <a:ext cx="1447800" cy="1219200"/>
          </a:xfrm>
          <a:custGeom>
            <a:avLst/>
            <a:gdLst/>
            <a:ahLst/>
            <a:cxnLst/>
            <a:rect l="l" t="t" r="r" b="b"/>
            <a:pathLst>
              <a:path w="1447800" h="1219200">
                <a:moveTo>
                  <a:pt x="0" y="1219200"/>
                </a:moveTo>
                <a:lnTo>
                  <a:pt x="1447800" y="1219200"/>
                </a:lnTo>
                <a:lnTo>
                  <a:pt x="1447800" y="0"/>
                </a:lnTo>
                <a:lnTo>
                  <a:pt x="0" y="0"/>
                </a:lnTo>
                <a:lnTo>
                  <a:pt x="0" y="1219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96026" y="4500562"/>
            <a:ext cx="457200" cy="1219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36525" marR="51435" algn="just">
              <a:lnSpc>
                <a:spcPct val="100400"/>
              </a:lnSpc>
              <a:spcBef>
                <a:spcPts val="285"/>
              </a:spcBef>
            </a:pP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325" spc="22" baseline="-19713" dirty="0">
                <a:latin typeface="Times New Roman"/>
                <a:cs typeface="Times New Roman"/>
              </a:rPr>
              <a:t>y  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325" spc="22" baseline="-19713" dirty="0">
                <a:latin typeface="Times New Roman"/>
                <a:cs typeface="Times New Roman"/>
              </a:rPr>
              <a:t>a  </a:t>
            </a:r>
            <a:r>
              <a:rPr sz="2400" spc="25" dirty="0">
                <a:latin typeface="Times New Roman"/>
                <a:cs typeface="Times New Roman"/>
              </a:rPr>
              <a:t>r</a:t>
            </a:r>
            <a:r>
              <a:rPr sz="2325" spc="22" baseline="-19713" dirty="0">
                <a:latin typeface="Times New Roman"/>
                <a:cs typeface="Times New Roman"/>
              </a:rPr>
              <a:t>m</a:t>
            </a:r>
            <a:endParaRPr sz="2325" baseline="-197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0221" y="4525581"/>
            <a:ext cx="1569720" cy="1126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4604" algn="r">
              <a:lnSpc>
                <a:spcPts val="2870"/>
              </a:lnSpc>
              <a:spcBef>
                <a:spcPts val="100"/>
              </a:spcBef>
              <a:tabLst>
                <a:tab pos="533400" algn="l"/>
                <a:tab pos="1066800" algn="l"/>
              </a:tabLst>
            </a:pPr>
            <a:r>
              <a:rPr sz="2400" dirty="0">
                <a:latin typeface="Times New Roman"/>
                <a:cs typeface="Times New Roman"/>
              </a:rPr>
              <a:t>½	½	0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ts val="2870"/>
              </a:lnSpc>
              <a:tabLst>
                <a:tab pos="933450" algn="l"/>
                <a:tab pos="1391285" algn="l"/>
              </a:tabLst>
            </a:pPr>
            <a:r>
              <a:rPr sz="2400" dirty="0">
                <a:latin typeface="Times New Roman"/>
                <a:cs typeface="Times New Roman"/>
              </a:rPr>
              <a:t>=  ½	0	1</a:t>
            </a:r>
            <a:endParaRPr sz="2400">
              <a:latin typeface="Times New Roman"/>
              <a:cs typeface="Times New Roman"/>
            </a:endParaRPr>
          </a:p>
          <a:p>
            <a:pPr marR="33020" algn="r">
              <a:lnSpc>
                <a:spcPct val="100000"/>
              </a:lnSpc>
              <a:spcBef>
                <a:spcPts val="50"/>
              </a:spcBef>
              <a:tabLst>
                <a:tab pos="456565" algn="l"/>
                <a:tab pos="991235" algn="l"/>
              </a:tabLst>
            </a:pPr>
            <a:r>
              <a:rPr sz="2400" dirty="0">
                <a:latin typeface="Times New Roman"/>
                <a:cs typeface="Times New Roman"/>
              </a:rPr>
              <a:t>0	½	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2026" y="4500562"/>
            <a:ext cx="457200" cy="1295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2075" marR="57150" indent="95250" algn="just">
              <a:lnSpc>
                <a:spcPct val="100400"/>
              </a:lnSpc>
              <a:spcBef>
                <a:spcPts val="285"/>
              </a:spcBef>
            </a:pPr>
            <a:r>
              <a:rPr sz="2400" spc="25" dirty="0">
                <a:latin typeface="Times New Roman"/>
                <a:cs typeface="Times New Roman"/>
              </a:rPr>
              <a:t>r</a:t>
            </a:r>
            <a:r>
              <a:rPr sz="2325" spc="7" baseline="-19713" dirty="0">
                <a:latin typeface="Times New Roman"/>
                <a:cs typeface="Times New Roman"/>
              </a:rPr>
              <a:t>y  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325" spc="22" baseline="-19713" dirty="0">
                <a:latin typeface="Times New Roman"/>
                <a:cs typeface="Times New Roman"/>
              </a:rPr>
              <a:t>a  </a:t>
            </a: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325" spc="30" baseline="-19713" dirty="0">
                <a:latin typeface="Times New Roman"/>
                <a:cs typeface="Times New Roman"/>
              </a:rPr>
              <a:t>m</a:t>
            </a:r>
            <a:endParaRPr sz="2325" baseline="-19713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26717" y="1895475"/>
            <a:ext cx="1346200" cy="1486535"/>
            <a:chOff x="1426717" y="1895475"/>
            <a:chExt cx="1346200" cy="1486535"/>
          </a:xfrm>
        </p:grpSpPr>
        <p:sp>
          <p:nvSpPr>
            <p:cNvPr id="9" name="object 9"/>
            <p:cNvSpPr/>
            <p:nvPr/>
          </p:nvSpPr>
          <p:spPr>
            <a:xfrm>
              <a:off x="1426718" y="1895474"/>
              <a:ext cx="1346200" cy="1486535"/>
            </a:xfrm>
            <a:custGeom>
              <a:avLst/>
              <a:gdLst/>
              <a:ahLst/>
              <a:cxnLst/>
              <a:rect l="l" t="t" r="r" b="b"/>
              <a:pathLst>
                <a:path w="1346200" h="1486535">
                  <a:moveTo>
                    <a:pt x="273596" y="1091539"/>
                  </a:moveTo>
                  <a:lnTo>
                    <a:pt x="271653" y="1094867"/>
                  </a:lnTo>
                  <a:lnTo>
                    <a:pt x="273532" y="1102525"/>
                  </a:lnTo>
                  <a:lnTo>
                    <a:pt x="273596" y="1091539"/>
                  </a:lnTo>
                  <a:close/>
                </a:path>
                <a:path w="1346200" h="1486535">
                  <a:moveTo>
                    <a:pt x="322961" y="696341"/>
                  </a:moveTo>
                  <a:lnTo>
                    <a:pt x="321068" y="688695"/>
                  </a:lnTo>
                  <a:lnTo>
                    <a:pt x="321132" y="679577"/>
                  </a:lnTo>
                  <a:lnTo>
                    <a:pt x="321183" y="671449"/>
                  </a:lnTo>
                  <a:lnTo>
                    <a:pt x="306095" y="679856"/>
                  </a:lnTo>
                  <a:lnTo>
                    <a:pt x="298450" y="681736"/>
                  </a:lnTo>
                  <a:lnTo>
                    <a:pt x="296341" y="685279"/>
                  </a:lnTo>
                  <a:lnTo>
                    <a:pt x="213106" y="731647"/>
                  </a:lnTo>
                  <a:lnTo>
                    <a:pt x="206121" y="735457"/>
                  </a:lnTo>
                  <a:lnTo>
                    <a:pt x="203708" y="744220"/>
                  </a:lnTo>
                  <a:lnTo>
                    <a:pt x="211315" y="757936"/>
                  </a:lnTo>
                  <a:lnTo>
                    <a:pt x="220078" y="760476"/>
                  </a:lnTo>
                  <a:lnTo>
                    <a:pt x="267487" y="734047"/>
                  </a:lnTo>
                  <a:lnTo>
                    <a:pt x="4064" y="1179195"/>
                  </a:lnTo>
                  <a:lnTo>
                    <a:pt x="0" y="1185926"/>
                  </a:lnTo>
                  <a:lnTo>
                    <a:pt x="2286" y="1194689"/>
                  </a:lnTo>
                  <a:lnTo>
                    <a:pt x="9017" y="1198753"/>
                  </a:lnTo>
                  <a:lnTo>
                    <a:pt x="15875" y="1202690"/>
                  </a:lnTo>
                  <a:lnTo>
                    <a:pt x="24638" y="1200531"/>
                  </a:lnTo>
                  <a:lnTo>
                    <a:pt x="28575" y="1193673"/>
                  </a:lnTo>
                  <a:lnTo>
                    <a:pt x="292138" y="748487"/>
                  </a:lnTo>
                  <a:lnTo>
                    <a:pt x="291846" y="795020"/>
                  </a:lnTo>
                  <a:lnTo>
                    <a:pt x="291833" y="803021"/>
                  </a:lnTo>
                  <a:lnTo>
                    <a:pt x="298069" y="809371"/>
                  </a:lnTo>
                  <a:lnTo>
                    <a:pt x="305943" y="809371"/>
                  </a:lnTo>
                  <a:lnTo>
                    <a:pt x="313817" y="809498"/>
                  </a:lnTo>
                  <a:lnTo>
                    <a:pt x="320294" y="803021"/>
                  </a:lnTo>
                  <a:lnTo>
                    <a:pt x="320421" y="795020"/>
                  </a:lnTo>
                  <a:lnTo>
                    <a:pt x="321005" y="699681"/>
                  </a:lnTo>
                  <a:lnTo>
                    <a:pt x="322961" y="696341"/>
                  </a:lnTo>
                  <a:close/>
                </a:path>
                <a:path w="1346200" h="1486535">
                  <a:moveTo>
                    <a:pt x="479958" y="220116"/>
                  </a:moveTo>
                  <a:lnTo>
                    <a:pt x="474040" y="228536"/>
                  </a:lnTo>
                  <a:lnTo>
                    <a:pt x="479298" y="224663"/>
                  </a:lnTo>
                  <a:lnTo>
                    <a:pt x="479958" y="220116"/>
                  </a:lnTo>
                  <a:close/>
                </a:path>
                <a:path w="1346200" h="1486535">
                  <a:moveTo>
                    <a:pt x="594614" y="605282"/>
                  </a:moveTo>
                  <a:lnTo>
                    <a:pt x="592328" y="596519"/>
                  </a:lnTo>
                  <a:lnTo>
                    <a:pt x="578739" y="588518"/>
                  </a:lnTo>
                  <a:lnTo>
                    <a:pt x="569976" y="590804"/>
                  </a:lnTo>
                  <a:lnTo>
                    <a:pt x="566039" y="597535"/>
                  </a:lnTo>
                  <a:lnTo>
                    <a:pt x="302463" y="1042733"/>
                  </a:lnTo>
                  <a:lnTo>
                    <a:pt x="302768" y="996315"/>
                  </a:lnTo>
                  <a:lnTo>
                    <a:pt x="302768" y="988187"/>
                  </a:lnTo>
                  <a:lnTo>
                    <a:pt x="296545" y="981964"/>
                  </a:lnTo>
                  <a:lnTo>
                    <a:pt x="288671" y="981837"/>
                  </a:lnTo>
                  <a:lnTo>
                    <a:pt x="280797" y="981837"/>
                  </a:lnTo>
                  <a:lnTo>
                    <a:pt x="274320" y="988187"/>
                  </a:lnTo>
                  <a:lnTo>
                    <a:pt x="274180" y="996315"/>
                  </a:lnTo>
                  <a:lnTo>
                    <a:pt x="273596" y="1091539"/>
                  </a:lnTo>
                  <a:lnTo>
                    <a:pt x="273583" y="1102728"/>
                  </a:lnTo>
                  <a:lnTo>
                    <a:pt x="273532" y="1102525"/>
                  </a:lnTo>
                  <a:lnTo>
                    <a:pt x="273431" y="1119759"/>
                  </a:lnTo>
                  <a:lnTo>
                    <a:pt x="287794" y="1111758"/>
                  </a:lnTo>
                  <a:lnTo>
                    <a:pt x="288137" y="1111567"/>
                  </a:lnTo>
                  <a:lnTo>
                    <a:pt x="296164" y="1109472"/>
                  </a:lnTo>
                  <a:lnTo>
                    <a:pt x="298323" y="1105903"/>
                  </a:lnTo>
                  <a:lnTo>
                    <a:pt x="381508" y="1059561"/>
                  </a:lnTo>
                  <a:lnTo>
                    <a:pt x="388493" y="1055751"/>
                  </a:lnTo>
                  <a:lnTo>
                    <a:pt x="390906" y="1046988"/>
                  </a:lnTo>
                  <a:lnTo>
                    <a:pt x="383286" y="1033272"/>
                  </a:lnTo>
                  <a:lnTo>
                    <a:pt x="374523" y="1030732"/>
                  </a:lnTo>
                  <a:lnTo>
                    <a:pt x="367665" y="1034669"/>
                  </a:lnTo>
                  <a:lnTo>
                    <a:pt x="327177" y="1057198"/>
                  </a:lnTo>
                  <a:lnTo>
                    <a:pt x="594614" y="605282"/>
                  </a:lnTo>
                  <a:close/>
                </a:path>
                <a:path w="1346200" h="1486535">
                  <a:moveTo>
                    <a:pt x="935482" y="243332"/>
                  </a:moveTo>
                  <a:lnTo>
                    <a:pt x="930021" y="197358"/>
                  </a:lnTo>
                  <a:lnTo>
                    <a:pt x="914781" y="153543"/>
                  </a:lnTo>
                  <a:lnTo>
                    <a:pt x="891032" y="112522"/>
                  </a:lnTo>
                  <a:lnTo>
                    <a:pt x="860298" y="76073"/>
                  </a:lnTo>
                  <a:lnTo>
                    <a:pt x="823976" y="45212"/>
                  </a:lnTo>
                  <a:lnTo>
                    <a:pt x="797001" y="28575"/>
                  </a:lnTo>
                  <a:lnTo>
                    <a:pt x="783209" y="21209"/>
                  </a:lnTo>
                  <a:lnTo>
                    <a:pt x="738886" y="5588"/>
                  </a:lnTo>
                  <a:lnTo>
                    <a:pt x="693039" y="0"/>
                  </a:lnTo>
                  <a:lnTo>
                    <a:pt x="681482" y="254"/>
                  </a:lnTo>
                  <a:lnTo>
                    <a:pt x="635762" y="8382"/>
                  </a:lnTo>
                  <a:lnTo>
                    <a:pt x="582295" y="31623"/>
                  </a:lnTo>
                  <a:lnTo>
                    <a:pt x="543306" y="59055"/>
                  </a:lnTo>
                  <a:lnTo>
                    <a:pt x="509524" y="92710"/>
                  </a:lnTo>
                  <a:lnTo>
                    <a:pt x="481965" y="131572"/>
                  </a:lnTo>
                  <a:lnTo>
                    <a:pt x="462457" y="173228"/>
                  </a:lnTo>
                  <a:lnTo>
                    <a:pt x="436499" y="118745"/>
                  </a:lnTo>
                  <a:lnTo>
                    <a:pt x="433197" y="111887"/>
                  </a:lnTo>
                  <a:lnTo>
                    <a:pt x="424688" y="108839"/>
                  </a:lnTo>
                  <a:lnTo>
                    <a:pt x="417576" y="112141"/>
                  </a:lnTo>
                  <a:lnTo>
                    <a:pt x="410464" y="115570"/>
                  </a:lnTo>
                  <a:lnTo>
                    <a:pt x="407416" y="124079"/>
                  </a:lnTo>
                  <a:lnTo>
                    <a:pt x="410718" y="131191"/>
                  </a:lnTo>
                  <a:lnTo>
                    <a:pt x="451586" y="217043"/>
                  </a:lnTo>
                  <a:lnTo>
                    <a:pt x="451104" y="220345"/>
                  </a:lnTo>
                  <a:lnTo>
                    <a:pt x="456438" y="227584"/>
                  </a:lnTo>
                  <a:lnTo>
                    <a:pt x="456628" y="227622"/>
                  </a:lnTo>
                  <a:lnTo>
                    <a:pt x="463931" y="242951"/>
                  </a:lnTo>
                  <a:lnTo>
                    <a:pt x="473011" y="229997"/>
                  </a:lnTo>
                  <a:lnTo>
                    <a:pt x="474040" y="228536"/>
                  </a:lnTo>
                  <a:lnTo>
                    <a:pt x="479958" y="220091"/>
                  </a:lnTo>
                  <a:lnTo>
                    <a:pt x="539623" y="135128"/>
                  </a:lnTo>
                  <a:lnTo>
                    <a:pt x="537972" y="126238"/>
                  </a:lnTo>
                  <a:lnTo>
                    <a:pt x="531495" y="121793"/>
                  </a:lnTo>
                  <a:lnTo>
                    <a:pt x="526034" y="117957"/>
                  </a:lnTo>
                  <a:lnTo>
                    <a:pt x="560832" y="81661"/>
                  </a:lnTo>
                  <a:lnTo>
                    <a:pt x="595630" y="56896"/>
                  </a:lnTo>
                  <a:lnTo>
                    <a:pt x="633603" y="39243"/>
                  </a:lnTo>
                  <a:lnTo>
                    <a:pt x="672592" y="29845"/>
                  </a:lnTo>
                  <a:lnTo>
                    <a:pt x="692150" y="28575"/>
                  </a:lnTo>
                  <a:lnTo>
                    <a:pt x="701929" y="28829"/>
                  </a:lnTo>
                  <a:lnTo>
                    <a:pt x="741299" y="35814"/>
                  </a:lnTo>
                  <a:lnTo>
                    <a:pt x="788543" y="56261"/>
                  </a:lnTo>
                  <a:lnTo>
                    <a:pt x="823468" y="80899"/>
                  </a:lnTo>
                  <a:lnTo>
                    <a:pt x="853821" y="111125"/>
                  </a:lnTo>
                  <a:lnTo>
                    <a:pt x="878586" y="145923"/>
                  </a:lnTo>
                  <a:lnTo>
                    <a:pt x="896239" y="183896"/>
                  </a:lnTo>
                  <a:lnTo>
                    <a:pt x="905637" y="222885"/>
                  </a:lnTo>
                  <a:lnTo>
                    <a:pt x="906907" y="242443"/>
                  </a:lnTo>
                  <a:lnTo>
                    <a:pt x="906653" y="252222"/>
                  </a:lnTo>
                  <a:lnTo>
                    <a:pt x="899668" y="291592"/>
                  </a:lnTo>
                  <a:lnTo>
                    <a:pt x="879221" y="338836"/>
                  </a:lnTo>
                  <a:lnTo>
                    <a:pt x="854583" y="373761"/>
                  </a:lnTo>
                  <a:lnTo>
                    <a:pt x="824357" y="404114"/>
                  </a:lnTo>
                  <a:lnTo>
                    <a:pt x="789559" y="428879"/>
                  </a:lnTo>
                  <a:lnTo>
                    <a:pt x="751586" y="446532"/>
                  </a:lnTo>
                  <a:lnTo>
                    <a:pt x="712597" y="455930"/>
                  </a:lnTo>
                  <a:lnTo>
                    <a:pt x="684276" y="457454"/>
                  </a:lnTo>
                  <a:lnTo>
                    <a:pt x="678053" y="463931"/>
                  </a:lnTo>
                  <a:lnTo>
                    <a:pt x="678561" y="479806"/>
                  </a:lnTo>
                  <a:lnTo>
                    <a:pt x="685038" y="486029"/>
                  </a:lnTo>
                  <a:lnTo>
                    <a:pt x="703707" y="485521"/>
                  </a:lnTo>
                  <a:lnTo>
                    <a:pt x="749427" y="477393"/>
                  </a:lnTo>
                  <a:lnTo>
                    <a:pt x="802894" y="454152"/>
                  </a:lnTo>
                  <a:lnTo>
                    <a:pt x="841883" y="426720"/>
                  </a:lnTo>
                  <a:lnTo>
                    <a:pt x="875665" y="393065"/>
                  </a:lnTo>
                  <a:lnTo>
                    <a:pt x="903224" y="354203"/>
                  </a:lnTo>
                  <a:lnTo>
                    <a:pt x="923036" y="311785"/>
                  </a:lnTo>
                  <a:lnTo>
                    <a:pt x="933958" y="266446"/>
                  </a:lnTo>
                  <a:lnTo>
                    <a:pt x="935101" y="254889"/>
                  </a:lnTo>
                  <a:lnTo>
                    <a:pt x="935482" y="243332"/>
                  </a:lnTo>
                  <a:close/>
                </a:path>
                <a:path w="1346200" h="1486535">
                  <a:moveTo>
                    <a:pt x="1226566" y="1290701"/>
                  </a:moveTo>
                  <a:lnTo>
                    <a:pt x="1212697" y="1281074"/>
                  </a:lnTo>
                  <a:lnTo>
                    <a:pt x="1207389" y="1274826"/>
                  </a:lnTo>
                  <a:lnTo>
                    <a:pt x="1203236" y="1274495"/>
                  </a:lnTo>
                  <a:lnTo>
                    <a:pt x="1118489" y="1215644"/>
                  </a:lnTo>
                  <a:lnTo>
                    <a:pt x="1109599" y="1217295"/>
                  </a:lnTo>
                  <a:lnTo>
                    <a:pt x="1105027" y="1223772"/>
                  </a:lnTo>
                  <a:lnTo>
                    <a:pt x="1100582" y="1230249"/>
                  </a:lnTo>
                  <a:lnTo>
                    <a:pt x="1102233" y="1239139"/>
                  </a:lnTo>
                  <a:lnTo>
                    <a:pt x="1146810" y="1270063"/>
                  </a:lnTo>
                  <a:lnTo>
                    <a:pt x="247650" y="1199515"/>
                  </a:lnTo>
                  <a:lnTo>
                    <a:pt x="240792" y="1205484"/>
                  </a:lnTo>
                  <a:lnTo>
                    <a:pt x="239522" y="1221232"/>
                  </a:lnTo>
                  <a:lnTo>
                    <a:pt x="245491" y="1228090"/>
                  </a:lnTo>
                  <a:lnTo>
                    <a:pt x="1144651" y="1298524"/>
                  </a:lnTo>
                  <a:lnTo>
                    <a:pt x="1095629" y="1322197"/>
                  </a:lnTo>
                  <a:lnTo>
                    <a:pt x="1092708" y="1330706"/>
                  </a:lnTo>
                  <a:lnTo>
                    <a:pt x="1099566" y="1344930"/>
                  </a:lnTo>
                  <a:lnTo>
                    <a:pt x="1108075" y="1347851"/>
                  </a:lnTo>
                  <a:lnTo>
                    <a:pt x="1201153" y="1302956"/>
                  </a:lnTo>
                  <a:lnTo>
                    <a:pt x="1205103" y="1303274"/>
                  </a:lnTo>
                  <a:lnTo>
                    <a:pt x="1211110" y="1298155"/>
                  </a:lnTo>
                  <a:lnTo>
                    <a:pt x="1226566" y="1290701"/>
                  </a:lnTo>
                  <a:close/>
                </a:path>
                <a:path w="1346200" h="1486535">
                  <a:moveTo>
                    <a:pt x="1346200" y="1464818"/>
                  </a:moveTo>
                  <a:lnTo>
                    <a:pt x="1340358" y="1457960"/>
                  </a:lnTo>
                  <a:lnTo>
                    <a:pt x="441058" y="1387538"/>
                  </a:lnTo>
                  <a:lnTo>
                    <a:pt x="490093" y="1363853"/>
                  </a:lnTo>
                  <a:lnTo>
                    <a:pt x="493141" y="1355344"/>
                  </a:lnTo>
                  <a:lnTo>
                    <a:pt x="486283" y="1341120"/>
                  </a:lnTo>
                  <a:lnTo>
                    <a:pt x="477647" y="1338199"/>
                  </a:lnTo>
                  <a:lnTo>
                    <a:pt x="384556" y="1383106"/>
                  </a:lnTo>
                  <a:lnTo>
                    <a:pt x="380619" y="1382776"/>
                  </a:lnTo>
                  <a:lnTo>
                    <a:pt x="374599" y="1387906"/>
                  </a:lnTo>
                  <a:lnTo>
                    <a:pt x="359156" y="1395349"/>
                  </a:lnTo>
                  <a:lnTo>
                    <a:pt x="373291" y="1405178"/>
                  </a:lnTo>
                  <a:lnTo>
                    <a:pt x="378460" y="1411224"/>
                  </a:lnTo>
                  <a:lnTo>
                    <a:pt x="382485" y="1411554"/>
                  </a:lnTo>
                  <a:lnTo>
                    <a:pt x="467360" y="1470406"/>
                  </a:lnTo>
                  <a:lnTo>
                    <a:pt x="476250" y="1468755"/>
                  </a:lnTo>
                  <a:lnTo>
                    <a:pt x="480695" y="1462278"/>
                  </a:lnTo>
                  <a:lnTo>
                    <a:pt x="485267" y="1455801"/>
                  </a:lnTo>
                  <a:lnTo>
                    <a:pt x="483616" y="1446911"/>
                  </a:lnTo>
                  <a:lnTo>
                    <a:pt x="439026" y="1415999"/>
                  </a:lnTo>
                  <a:lnTo>
                    <a:pt x="1338072" y="1486535"/>
                  </a:lnTo>
                  <a:lnTo>
                    <a:pt x="1344930" y="1480566"/>
                  </a:lnTo>
                  <a:lnTo>
                    <a:pt x="1346200" y="14648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0199" y="2104961"/>
              <a:ext cx="566737" cy="56673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2099" y="2057336"/>
              <a:ext cx="633412" cy="73818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57349" y="2133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90700" y="2160206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57300" y="2895536"/>
            <a:ext cx="643255" cy="738505"/>
            <a:chOff x="1257300" y="2895536"/>
            <a:chExt cx="643255" cy="73850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400" y="2943161"/>
              <a:ext cx="566737" cy="56673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7300" y="2895536"/>
              <a:ext cx="642937" cy="73818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52550" y="29717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485646" y="2999105"/>
            <a:ext cx="19558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05075" y="2971736"/>
            <a:ext cx="738505" cy="738505"/>
            <a:chOff x="2505075" y="2971736"/>
            <a:chExt cx="738505" cy="73850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0800" y="3019361"/>
              <a:ext cx="566737" cy="56673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05075" y="2971736"/>
              <a:ext cx="738187" cy="73818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647950" y="3047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731516" y="3076003"/>
            <a:ext cx="297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437504" y="1671557"/>
          <a:ext cx="2334894" cy="17574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2625"/>
                        </a:lnSpc>
                      </a:pPr>
                      <a:r>
                        <a:rPr sz="2400" b="1" spc="-5" dirty="0">
                          <a:solidFill>
                            <a:srgbClr val="008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b="1" spc="-7" baseline="-19713" dirty="0">
                          <a:solidFill>
                            <a:srgbClr val="008000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2625"/>
                        </a:lnSpc>
                      </a:pPr>
                      <a:r>
                        <a:rPr sz="2400" b="1" dirty="0">
                          <a:solidFill>
                            <a:srgbClr val="008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b="1" baseline="-19713" dirty="0">
                          <a:solidFill>
                            <a:srgbClr val="008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2625"/>
                        </a:lnSpc>
                      </a:pPr>
                      <a:r>
                        <a:rPr sz="2400" b="1" dirty="0">
                          <a:solidFill>
                            <a:srgbClr val="008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b="1" baseline="-19713" dirty="0">
                          <a:solidFill>
                            <a:srgbClr val="0080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b="1" spc="-5" dirty="0">
                          <a:solidFill>
                            <a:srgbClr val="008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b="1" spc="-7" baseline="-19713" dirty="0">
                          <a:solidFill>
                            <a:srgbClr val="008000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8001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b="1" dirty="0">
                          <a:solidFill>
                            <a:srgbClr val="008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b="1" baseline="-19713" dirty="0">
                          <a:solidFill>
                            <a:srgbClr val="008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b="1" spc="5" dirty="0">
                          <a:solidFill>
                            <a:srgbClr val="008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b="1" spc="7" baseline="-19713" dirty="0">
                          <a:solidFill>
                            <a:srgbClr val="00800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1251966" y="4452810"/>
            <a:ext cx="214312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20000"/>
              </a:lnSpc>
              <a:spcBef>
                <a:spcPts val="100"/>
              </a:spcBef>
              <a:tabLst>
                <a:tab pos="441325" algn="l"/>
              </a:tabLst>
            </a:pPr>
            <a:r>
              <a:rPr sz="24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325" b="1" spc="-7" baseline="-19713" dirty="0">
                <a:solidFill>
                  <a:srgbClr val="008000"/>
                </a:solidFill>
                <a:latin typeface="Times New Roman"/>
                <a:cs typeface="Times New Roman"/>
              </a:rPr>
              <a:t>y	</a:t>
            </a:r>
            <a:r>
              <a:rPr sz="2400" b="1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4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325" b="1" spc="-7" baseline="-19713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400" b="1" dirty="0">
                <a:solidFill>
                  <a:srgbClr val="008000"/>
                </a:solidFill>
                <a:latin typeface="Times New Roman"/>
                <a:cs typeface="Times New Roman"/>
              </a:rPr>
              <a:t>/2 + </a:t>
            </a:r>
            <a:r>
              <a:rPr sz="24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325" b="1" spc="-7" baseline="-19713" dirty="0">
                <a:solidFill>
                  <a:srgbClr val="008000"/>
                </a:solidFill>
                <a:latin typeface="Times New Roman"/>
                <a:cs typeface="Times New Roman"/>
              </a:rPr>
              <a:t>a </a:t>
            </a:r>
            <a:r>
              <a:rPr sz="24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/2  </a:t>
            </a:r>
            <a:r>
              <a:rPr sz="24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325" b="1" spc="-7" baseline="-17921" dirty="0">
                <a:solidFill>
                  <a:srgbClr val="008000"/>
                </a:solidFill>
                <a:latin typeface="Times New Roman"/>
                <a:cs typeface="Times New Roman"/>
              </a:rPr>
              <a:t>a	</a:t>
            </a:r>
            <a:r>
              <a:rPr sz="2400" b="1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4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325" b="1" spc="-7" baseline="-17921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400" b="1" dirty="0">
                <a:solidFill>
                  <a:srgbClr val="008000"/>
                </a:solidFill>
                <a:latin typeface="Times New Roman"/>
                <a:cs typeface="Times New Roman"/>
              </a:rPr>
              <a:t>/2 +</a:t>
            </a:r>
            <a:r>
              <a:rPr sz="2400" b="1" spc="-5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325" b="1" baseline="-17921" dirty="0">
                <a:solidFill>
                  <a:srgbClr val="008000"/>
                </a:solidFill>
                <a:latin typeface="Times New Roman"/>
                <a:cs typeface="Times New Roman"/>
              </a:rPr>
              <a:t>m</a:t>
            </a:r>
            <a:endParaRPr sz="2325" baseline="-17921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64666" y="5403215"/>
            <a:ext cx="1260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325" b="1" baseline="-19713" dirty="0">
                <a:solidFill>
                  <a:srgbClr val="008000"/>
                </a:solidFill>
                <a:latin typeface="Times New Roman"/>
                <a:cs typeface="Times New Roman"/>
              </a:rPr>
              <a:t>m </a:t>
            </a:r>
            <a:r>
              <a:rPr sz="2400" b="1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4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325" b="1" spc="-7" baseline="-19713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325" b="1" spc="30" baseline="-19713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/2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6072251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16938"/>
            <a:ext cx="304800" cy="37211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08988"/>
            <a:ext cx="5441950" cy="930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379"/>
              </a:lnSpc>
              <a:spcBef>
                <a:spcPts val="105"/>
              </a:spcBef>
            </a:pPr>
            <a:r>
              <a:rPr sz="3000" b="1" spc="-10" dirty="0">
                <a:solidFill>
                  <a:srgbClr val="D50092"/>
                </a:solidFill>
                <a:latin typeface="Calibri"/>
                <a:cs typeface="Calibri"/>
              </a:rPr>
              <a:t>The </a:t>
            </a:r>
            <a:r>
              <a:rPr sz="3000" b="1" spc="15" dirty="0">
                <a:solidFill>
                  <a:srgbClr val="D50092"/>
                </a:solidFill>
                <a:latin typeface="Calibri"/>
                <a:cs typeface="Calibri"/>
              </a:rPr>
              <a:t>flow </a:t>
            </a:r>
            <a:r>
              <a:rPr sz="3000" b="1" spc="-5" dirty="0">
                <a:solidFill>
                  <a:srgbClr val="D50092"/>
                </a:solidFill>
                <a:latin typeface="Calibri"/>
                <a:cs typeface="Calibri"/>
              </a:rPr>
              <a:t>equations </a:t>
            </a:r>
            <a:r>
              <a:rPr sz="3000" b="1" spc="10" dirty="0">
                <a:solidFill>
                  <a:srgbClr val="D50092"/>
                </a:solidFill>
                <a:latin typeface="Calibri"/>
                <a:cs typeface="Calibri"/>
              </a:rPr>
              <a:t>can </a:t>
            </a:r>
            <a:r>
              <a:rPr sz="3000" b="1" spc="-20" dirty="0">
                <a:solidFill>
                  <a:srgbClr val="D50092"/>
                </a:solidFill>
                <a:latin typeface="Calibri"/>
                <a:cs typeface="Calibri"/>
              </a:rPr>
              <a:t>be</a:t>
            </a:r>
            <a:r>
              <a:rPr sz="3000" b="1" spc="-13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D50092"/>
                </a:solidFill>
                <a:latin typeface="Calibri"/>
                <a:cs typeface="Calibri"/>
              </a:rPr>
              <a:t>written</a:t>
            </a:r>
            <a:endParaRPr sz="3000">
              <a:latin typeface="Calibri"/>
              <a:cs typeface="Calibri"/>
            </a:endParaRPr>
          </a:p>
          <a:p>
            <a:pPr marR="568325" algn="ctr">
              <a:lnSpc>
                <a:spcPts val="3740"/>
              </a:lnSpc>
            </a:pPr>
            <a:r>
              <a:rPr sz="3300" dirty="0">
                <a:solidFill>
                  <a:srgbClr val="0000FF"/>
                </a:solidFill>
                <a:latin typeface="Cambria Math"/>
                <a:cs typeface="Cambria Math"/>
              </a:rPr>
              <a:t>𝒓 = 𝑴 </a:t>
            </a:r>
            <a:r>
              <a:rPr sz="3300" spc="114" dirty="0">
                <a:solidFill>
                  <a:srgbClr val="0000FF"/>
                </a:solidFill>
                <a:latin typeface="Cambria Math"/>
                <a:cs typeface="Cambria Math"/>
              </a:rPr>
              <a:t>∙</a:t>
            </a:r>
            <a:r>
              <a:rPr sz="3300" spc="265" dirty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3300" dirty="0">
                <a:solidFill>
                  <a:srgbClr val="0000FF"/>
                </a:solidFill>
                <a:latin typeface="Cambria Math"/>
                <a:cs typeface="Cambria Math"/>
              </a:rPr>
              <a:t>𝒓</a:t>
            </a:r>
            <a:endParaRPr sz="3300">
              <a:latin typeface="Cambria Math"/>
              <a:cs typeface="Cambria Math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275839"/>
            <a:ext cx="304800" cy="37211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8530" y="2167636"/>
            <a:ext cx="6822440" cy="205740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465"/>
              </a:spcBef>
            </a:pPr>
            <a:r>
              <a:rPr sz="3000" spc="-15" dirty="0">
                <a:latin typeface="Calibri"/>
                <a:cs typeface="Calibri"/>
              </a:rPr>
              <a:t>So the </a:t>
            </a:r>
            <a:r>
              <a:rPr sz="3000" b="1" spc="-30" dirty="0">
                <a:latin typeface="Calibri"/>
                <a:cs typeface="Calibri"/>
              </a:rPr>
              <a:t>rank </a:t>
            </a:r>
            <a:r>
              <a:rPr sz="3000" b="1" spc="5" dirty="0">
                <a:latin typeface="Calibri"/>
                <a:cs typeface="Calibri"/>
              </a:rPr>
              <a:t>vector </a:t>
            </a:r>
            <a:r>
              <a:rPr sz="3000" b="1" i="1" dirty="0">
                <a:solidFill>
                  <a:srgbClr val="0000FF"/>
                </a:solidFill>
                <a:latin typeface="Calibri"/>
                <a:cs typeface="Calibri"/>
              </a:rPr>
              <a:t>r </a:t>
            </a:r>
            <a:r>
              <a:rPr sz="3000" spc="-10" dirty="0">
                <a:latin typeface="Calibri"/>
                <a:cs typeface="Calibri"/>
              </a:rPr>
              <a:t>is </a:t>
            </a:r>
            <a:r>
              <a:rPr sz="3000" spc="-5" dirty="0">
                <a:latin typeface="Calibri"/>
                <a:cs typeface="Calibri"/>
              </a:rPr>
              <a:t>an </a:t>
            </a:r>
            <a:r>
              <a:rPr sz="3000" b="1" spc="-10" dirty="0">
                <a:latin typeface="Calibri"/>
                <a:cs typeface="Calibri"/>
              </a:rPr>
              <a:t>eigenvector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spc="-15" dirty="0">
                <a:latin typeface="Calibri"/>
                <a:cs typeface="Calibri"/>
              </a:rPr>
              <a:t>the  </a:t>
            </a:r>
            <a:r>
              <a:rPr sz="3000" spc="-10" dirty="0">
                <a:latin typeface="Calibri"/>
                <a:cs typeface="Calibri"/>
              </a:rPr>
              <a:t>stochastic </a:t>
            </a:r>
            <a:r>
              <a:rPr sz="3000" spc="10" dirty="0">
                <a:latin typeface="Calibri"/>
                <a:cs typeface="Calibri"/>
              </a:rPr>
              <a:t>web </a:t>
            </a:r>
            <a:r>
              <a:rPr sz="3000" spc="-10" dirty="0">
                <a:latin typeface="Calibri"/>
                <a:cs typeface="Calibri"/>
              </a:rPr>
              <a:t>matrix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b="1" i="1" dirty="0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endParaRPr sz="3000">
              <a:latin typeface="Calibri"/>
              <a:cs typeface="Calibri"/>
            </a:endParaRPr>
          </a:p>
          <a:p>
            <a:pPr marL="307975" indent="-276860">
              <a:lnSpc>
                <a:spcPts val="2950"/>
              </a:lnSpc>
              <a:spcBef>
                <a:spcPts val="27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600" spc="5" dirty="0">
                <a:latin typeface="Calibri"/>
                <a:cs typeface="Calibri"/>
              </a:rPr>
              <a:t>Starting </a:t>
            </a:r>
            <a:r>
              <a:rPr sz="2600" spc="-20" dirty="0">
                <a:latin typeface="Calibri"/>
                <a:cs typeface="Calibri"/>
              </a:rPr>
              <a:t>from any </a:t>
            </a:r>
            <a:r>
              <a:rPr sz="2600" spc="10" dirty="0">
                <a:latin typeface="Calibri"/>
                <a:cs typeface="Calibri"/>
              </a:rPr>
              <a:t>stochastic </a:t>
            </a:r>
            <a:r>
              <a:rPr sz="2600" spc="5" dirty="0">
                <a:latin typeface="Calibri"/>
                <a:cs typeface="Calibri"/>
              </a:rPr>
              <a:t>vector </a:t>
            </a:r>
            <a:r>
              <a:rPr sz="2600" spc="-15" dirty="0">
                <a:latin typeface="Cambria Math"/>
                <a:cs typeface="Cambria Math"/>
              </a:rPr>
              <a:t>𝒖</a:t>
            </a:r>
            <a:r>
              <a:rPr sz="2600" spc="-15" dirty="0">
                <a:latin typeface="Calibri"/>
                <a:cs typeface="Calibri"/>
              </a:rPr>
              <a:t>, </a:t>
            </a:r>
            <a:r>
              <a:rPr sz="2600" spc="5" dirty="0">
                <a:latin typeface="Calibri"/>
                <a:cs typeface="Calibri"/>
              </a:rPr>
              <a:t>the</a:t>
            </a:r>
            <a:r>
              <a:rPr sz="2600" spc="-409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limit</a:t>
            </a:r>
            <a:endParaRPr sz="2600">
              <a:latin typeface="Calibri"/>
              <a:cs typeface="Calibri"/>
            </a:endParaRPr>
          </a:p>
          <a:p>
            <a:pPr marL="307975">
              <a:lnSpc>
                <a:spcPts val="2815"/>
              </a:lnSpc>
            </a:pPr>
            <a:r>
              <a:rPr sz="2600" spc="15" dirty="0">
                <a:latin typeface="Cambria Math"/>
                <a:cs typeface="Cambria Math"/>
              </a:rPr>
              <a:t>𝑴(𝑴(… </a:t>
            </a:r>
            <a:r>
              <a:rPr sz="2600" spc="30" dirty="0">
                <a:latin typeface="Cambria Math"/>
                <a:cs typeface="Cambria Math"/>
              </a:rPr>
              <a:t>𝑴(𝑴</a:t>
            </a:r>
            <a:r>
              <a:rPr sz="2600" spc="-295" dirty="0">
                <a:latin typeface="Cambria Math"/>
                <a:cs typeface="Cambria Math"/>
              </a:rPr>
              <a:t> </a:t>
            </a:r>
            <a:r>
              <a:rPr sz="2600" spc="-5" dirty="0">
                <a:latin typeface="Cambria Math"/>
                <a:cs typeface="Cambria Math"/>
              </a:rPr>
              <a:t>𝒖)))</a:t>
            </a:r>
            <a:endParaRPr sz="2600">
              <a:latin typeface="Cambria Math"/>
              <a:cs typeface="Cambria Math"/>
            </a:endParaRPr>
          </a:p>
          <a:p>
            <a:pPr marL="307975">
              <a:lnSpc>
                <a:spcPts val="2985"/>
              </a:lnSpc>
            </a:pPr>
            <a:r>
              <a:rPr sz="2600" spc="5" dirty="0">
                <a:latin typeface="Calibri"/>
                <a:cs typeface="Calibri"/>
              </a:rPr>
              <a:t>is the </a:t>
            </a:r>
            <a:r>
              <a:rPr sz="2600" dirty="0">
                <a:latin typeface="Calibri"/>
                <a:cs typeface="Calibri"/>
              </a:rPr>
              <a:t>long-term distribution </a:t>
            </a:r>
            <a:r>
              <a:rPr sz="2600" spc="-10" dirty="0">
                <a:latin typeface="Calibri"/>
                <a:cs typeface="Calibri"/>
              </a:rPr>
              <a:t>of </a:t>
            </a:r>
            <a:r>
              <a:rPr sz="2600" spc="5" dirty="0">
                <a:latin typeface="Calibri"/>
                <a:cs typeface="Calibri"/>
              </a:rPr>
              <a:t>the</a:t>
            </a:r>
            <a:r>
              <a:rPr sz="2600" spc="-18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surfers.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2286" y="4237672"/>
            <a:ext cx="5457190" cy="97916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1300" marR="520700" indent="-229235">
              <a:lnSpc>
                <a:spcPts val="2400"/>
              </a:lnSpc>
              <a:spcBef>
                <a:spcPts val="355"/>
              </a:spcBef>
              <a:buClr>
                <a:srgbClr val="E66C7C"/>
              </a:buClr>
              <a:buFont typeface="Wingdings"/>
              <a:buChar char=""/>
              <a:tabLst>
                <a:tab pos="241935" algn="l"/>
              </a:tabLst>
            </a:pPr>
            <a:r>
              <a:rPr sz="2150" dirty="0">
                <a:solidFill>
                  <a:srgbClr val="00AF50"/>
                </a:solidFill>
                <a:latin typeface="Calibri"/>
                <a:cs typeface="Calibri"/>
              </a:rPr>
              <a:t>The </a:t>
            </a:r>
            <a:r>
              <a:rPr sz="2150" spc="10" dirty="0">
                <a:solidFill>
                  <a:srgbClr val="00AF50"/>
                </a:solidFill>
                <a:latin typeface="Calibri"/>
                <a:cs typeface="Calibri"/>
              </a:rPr>
              <a:t>math</a:t>
            </a:r>
            <a:r>
              <a:rPr sz="2150" spc="10" dirty="0">
                <a:latin typeface="Calibri"/>
                <a:cs typeface="Calibri"/>
              </a:rPr>
              <a:t>: </a:t>
            </a:r>
            <a:r>
              <a:rPr sz="2150" spc="15" dirty="0">
                <a:latin typeface="Calibri"/>
                <a:cs typeface="Calibri"/>
              </a:rPr>
              <a:t>limiting </a:t>
            </a:r>
            <a:r>
              <a:rPr sz="2150" spc="5" dirty="0">
                <a:latin typeface="Calibri"/>
                <a:cs typeface="Calibri"/>
              </a:rPr>
              <a:t>distribution </a:t>
            </a:r>
            <a:r>
              <a:rPr sz="2150" spc="10" dirty="0">
                <a:latin typeface="Calibri"/>
                <a:cs typeface="Calibri"/>
              </a:rPr>
              <a:t>= </a:t>
            </a:r>
            <a:r>
              <a:rPr sz="2150" spc="5" dirty="0">
                <a:latin typeface="Calibri"/>
                <a:cs typeface="Calibri"/>
              </a:rPr>
              <a:t>principal  </a:t>
            </a:r>
            <a:r>
              <a:rPr sz="2150" dirty="0">
                <a:latin typeface="Calibri"/>
                <a:cs typeface="Calibri"/>
              </a:rPr>
              <a:t>eigenvector </a:t>
            </a:r>
            <a:r>
              <a:rPr sz="2150" spc="-5" dirty="0">
                <a:latin typeface="Calibri"/>
                <a:cs typeface="Calibri"/>
              </a:rPr>
              <a:t>of </a:t>
            </a:r>
            <a:r>
              <a:rPr sz="2150" spc="20" dirty="0">
                <a:latin typeface="Cambria Math"/>
                <a:cs typeface="Cambria Math"/>
              </a:rPr>
              <a:t>𝑀 </a:t>
            </a:r>
            <a:r>
              <a:rPr sz="2150" spc="10" dirty="0">
                <a:latin typeface="Calibri"/>
                <a:cs typeface="Calibri"/>
              </a:rPr>
              <a:t>=</a:t>
            </a:r>
            <a:r>
              <a:rPr sz="2150" spc="295" dirty="0"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0066"/>
                </a:solidFill>
                <a:latin typeface="Calibri"/>
                <a:cs typeface="Calibri"/>
              </a:rPr>
              <a:t>PageRank</a:t>
            </a:r>
            <a:r>
              <a:rPr sz="2150" dirty="0"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  <a:p>
            <a:pPr marL="460375" lvl="1" indent="-191135">
              <a:lnSpc>
                <a:spcPct val="100000"/>
              </a:lnSpc>
              <a:spcBef>
                <a:spcPts val="225"/>
              </a:spcBef>
              <a:buClr>
                <a:srgbClr val="6BB76C"/>
              </a:buClr>
              <a:buFont typeface="Wingdings"/>
              <a:buChar char=""/>
              <a:tabLst>
                <a:tab pos="461009" algn="l"/>
              </a:tabLst>
            </a:pPr>
            <a:r>
              <a:rPr sz="1850" spc="-10" dirty="0">
                <a:solidFill>
                  <a:srgbClr val="006FC0"/>
                </a:solidFill>
                <a:latin typeface="Calibri"/>
                <a:cs typeface="Calibri"/>
              </a:rPr>
              <a:t>Note</a:t>
            </a:r>
            <a:r>
              <a:rPr sz="1850" spc="-10" dirty="0">
                <a:latin typeface="Calibri"/>
                <a:cs typeface="Calibri"/>
              </a:rPr>
              <a:t>: </a:t>
            </a:r>
            <a:r>
              <a:rPr sz="1850" spc="-5" dirty="0">
                <a:latin typeface="Calibri"/>
                <a:cs typeface="Calibri"/>
              </a:rPr>
              <a:t>If </a:t>
            </a:r>
            <a:r>
              <a:rPr sz="1850" spc="10" dirty="0">
                <a:latin typeface="Cambria Math"/>
                <a:cs typeface="Cambria Math"/>
              </a:rPr>
              <a:t>𝒓 </a:t>
            </a:r>
            <a:r>
              <a:rPr sz="1850" spc="15" dirty="0">
                <a:latin typeface="Calibri"/>
                <a:cs typeface="Calibri"/>
              </a:rPr>
              <a:t>is </a:t>
            </a:r>
            <a:r>
              <a:rPr sz="1850" spc="-5" dirty="0">
                <a:latin typeface="Calibri"/>
                <a:cs typeface="Calibri"/>
              </a:rPr>
              <a:t>the </a:t>
            </a:r>
            <a:r>
              <a:rPr sz="1850" spc="15" dirty="0">
                <a:latin typeface="Calibri"/>
                <a:cs typeface="Calibri"/>
              </a:rPr>
              <a:t>limit </a:t>
            </a:r>
            <a:r>
              <a:rPr sz="1850" dirty="0">
                <a:latin typeface="Calibri"/>
                <a:cs typeface="Calibri"/>
              </a:rPr>
              <a:t>of </a:t>
            </a:r>
            <a:r>
              <a:rPr sz="1850" spc="25" dirty="0">
                <a:latin typeface="Cambria Math"/>
                <a:cs typeface="Cambria Math"/>
              </a:rPr>
              <a:t>𝑴𝑴 </a:t>
            </a:r>
            <a:r>
              <a:rPr sz="1850" spc="20" dirty="0">
                <a:latin typeface="Cambria Math"/>
                <a:cs typeface="Cambria Math"/>
              </a:rPr>
              <a:t>… </a:t>
            </a:r>
            <a:r>
              <a:rPr sz="1850" spc="10" dirty="0">
                <a:latin typeface="Cambria Math"/>
                <a:cs typeface="Cambria Math"/>
              </a:rPr>
              <a:t>𝑴𝒖</a:t>
            </a:r>
            <a:r>
              <a:rPr sz="1850" spc="10" dirty="0">
                <a:latin typeface="Calibri"/>
                <a:cs typeface="Calibri"/>
              </a:rPr>
              <a:t>, </a:t>
            </a:r>
            <a:r>
              <a:rPr sz="1850" spc="-10" dirty="0">
                <a:latin typeface="Calibri"/>
                <a:cs typeface="Calibri"/>
              </a:rPr>
              <a:t>then </a:t>
            </a:r>
            <a:r>
              <a:rPr sz="1850" spc="10" dirty="0">
                <a:latin typeface="Cambria Math"/>
                <a:cs typeface="Cambria Math"/>
              </a:rPr>
              <a:t>𝒓</a:t>
            </a:r>
            <a:r>
              <a:rPr sz="1850" spc="-25" dirty="0">
                <a:latin typeface="Cambria Math"/>
                <a:cs typeface="Cambria Math"/>
              </a:rPr>
              <a:t> </a:t>
            </a:r>
            <a:r>
              <a:rPr sz="1850" spc="10" dirty="0">
                <a:latin typeface="Calibri"/>
                <a:cs typeface="Calibri"/>
              </a:rPr>
              <a:t>satisfies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0214" y="5162867"/>
            <a:ext cx="663257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5" dirty="0">
                <a:latin typeface="Calibri"/>
                <a:cs typeface="Calibri"/>
              </a:rPr>
              <a:t>the </a:t>
            </a:r>
            <a:r>
              <a:rPr sz="1850" dirty="0">
                <a:latin typeface="Calibri"/>
                <a:cs typeface="Calibri"/>
              </a:rPr>
              <a:t>equation </a:t>
            </a:r>
            <a:r>
              <a:rPr sz="1850" spc="10" dirty="0">
                <a:latin typeface="Cambria Math"/>
                <a:cs typeface="Cambria Math"/>
              </a:rPr>
              <a:t>𝒓 </a:t>
            </a:r>
            <a:r>
              <a:rPr sz="1850" spc="20" dirty="0">
                <a:latin typeface="Cambria Math"/>
                <a:cs typeface="Cambria Math"/>
              </a:rPr>
              <a:t>= </a:t>
            </a:r>
            <a:r>
              <a:rPr sz="1850" spc="30" dirty="0">
                <a:latin typeface="Cambria Math"/>
                <a:cs typeface="Cambria Math"/>
              </a:rPr>
              <a:t>𝑴𝒓</a:t>
            </a:r>
            <a:r>
              <a:rPr sz="1850" spc="30" dirty="0">
                <a:latin typeface="Calibri"/>
                <a:cs typeface="Calibri"/>
              </a:rPr>
              <a:t>, </a:t>
            </a:r>
            <a:r>
              <a:rPr sz="1850" spc="20" dirty="0">
                <a:latin typeface="Calibri"/>
                <a:cs typeface="Calibri"/>
              </a:rPr>
              <a:t>so </a:t>
            </a:r>
            <a:r>
              <a:rPr sz="1850" spc="5" dirty="0">
                <a:latin typeface="Calibri"/>
                <a:cs typeface="Calibri"/>
              </a:rPr>
              <a:t>r </a:t>
            </a:r>
            <a:r>
              <a:rPr sz="1850" spc="15" dirty="0">
                <a:latin typeface="Calibri"/>
                <a:cs typeface="Calibri"/>
              </a:rPr>
              <a:t>is </a:t>
            </a:r>
            <a:r>
              <a:rPr sz="1850" spc="10" dirty="0">
                <a:latin typeface="Calibri"/>
                <a:cs typeface="Calibri"/>
              </a:rPr>
              <a:t>an </a:t>
            </a:r>
            <a:r>
              <a:rPr sz="1850" dirty="0">
                <a:latin typeface="Calibri"/>
                <a:cs typeface="Calibri"/>
              </a:rPr>
              <a:t>eigenvector of </a:t>
            </a:r>
            <a:r>
              <a:rPr sz="1850" spc="25" dirty="0">
                <a:latin typeface="Cambria Math"/>
                <a:cs typeface="Cambria Math"/>
              </a:rPr>
              <a:t>𝑴 </a:t>
            </a:r>
            <a:r>
              <a:rPr sz="1850" spc="5" dirty="0">
                <a:latin typeface="Calibri"/>
                <a:cs typeface="Calibri"/>
              </a:rPr>
              <a:t>with eigenvalue</a:t>
            </a:r>
            <a:r>
              <a:rPr sz="1850" spc="15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1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5509259"/>
            <a:ext cx="304800" cy="3721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38530" y="5400992"/>
            <a:ext cx="5842000" cy="89408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520"/>
              </a:spcBef>
            </a:pPr>
            <a:r>
              <a:rPr sz="3000" b="1" spc="-50" dirty="0">
                <a:solidFill>
                  <a:srgbClr val="0000FF"/>
                </a:solidFill>
                <a:latin typeface="Calibri"/>
                <a:cs typeface="Calibri"/>
              </a:rPr>
              <a:t>We </a:t>
            </a:r>
            <a:r>
              <a:rPr sz="3000" b="1" spc="10" dirty="0">
                <a:solidFill>
                  <a:srgbClr val="0000FF"/>
                </a:solidFill>
                <a:latin typeface="Calibri"/>
                <a:cs typeface="Calibri"/>
              </a:rPr>
              <a:t>can 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now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efficiently </a:t>
            </a:r>
            <a:r>
              <a:rPr sz="3000" b="1" spc="5" dirty="0">
                <a:solidFill>
                  <a:srgbClr val="0000FF"/>
                </a:solidFill>
                <a:latin typeface="Calibri"/>
                <a:cs typeface="Calibri"/>
              </a:rPr>
              <a:t>solve 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for </a:t>
            </a:r>
            <a:r>
              <a:rPr sz="3000" b="1" i="1" spc="-5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!  </a:t>
            </a:r>
            <a:r>
              <a:rPr sz="3000" b="1" spc="-10" dirty="0">
                <a:latin typeface="Calibri"/>
                <a:cs typeface="Calibri"/>
              </a:rPr>
              <a:t>The </a:t>
            </a:r>
            <a:r>
              <a:rPr sz="3000" b="1" dirty="0">
                <a:latin typeface="Calibri"/>
                <a:cs typeface="Calibri"/>
              </a:rPr>
              <a:t>method is </a:t>
            </a:r>
            <a:r>
              <a:rPr sz="3000" b="1" spc="5" dirty="0">
                <a:latin typeface="Calibri"/>
                <a:cs typeface="Calibri"/>
              </a:rPr>
              <a:t>called </a:t>
            </a:r>
            <a:r>
              <a:rPr sz="3000" b="1" spc="-15" dirty="0">
                <a:latin typeface="Calibri"/>
                <a:cs typeface="Calibri"/>
              </a:rPr>
              <a:t>Power</a:t>
            </a:r>
            <a:r>
              <a:rPr sz="3000" b="1" spc="-18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iteration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73416" y="3872293"/>
            <a:ext cx="1310005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161925">
              <a:lnSpc>
                <a:spcPct val="102800"/>
              </a:lnSpc>
              <a:spcBef>
                <a:spcPts val="80"/>
              </a:spcBef>
            </a:pPr>
            <a:r>
              <a:rPr sz="1400" b="1" spc="30" dirty="0">
                <a:solidFill>
                  <a:srgbClr val="008000"/>
                </a:solidFill>
                <a:latin typeface="Arial"/>
                <a:cs typeface="Arial"/>
              </a:rPr>
              <a:t>NOTE:</a:t>
            </a:r>
            <a:r>
              <a:rPr sz="1400" b="1" spc="-31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b="1" i="1" spc="15" dirty="0">
                <a:solidFill>
                  <a:srgbClr val="008000"/>
                </a:solidFill>
                <a:latin typeface="Arial"/>
                <a:cs typeface="Arial"/>
              </a:rPr>
              <a:t>x </a:t>
            </a:r>
            <a:r>
              <a:rPr sz="1400" spc="-5" dirty="0">
                <a:solidFill>
                  <a:srgbClr val="008000"/>
                </a:solidFill>
                <a:latin typeface="Arial"/>
                <a:cs typeface="Arial"/>
              </a:rPr>
              <a:t>is </a:t>
            </a:r>
            <a:r>
              <a:rPr sz="1400" spc="-10" dirty="0">
                <a:solidFill>
                  <a:srgbClr val="008000"/>
                </a:solidFill>
                <a:latin typeface="Arial"/>
                <a:cs typeface="Arial"/>
              </a:rPr>
              <a:t>an  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eigenvector</a:t>
            </a:r>
            <a:r>
              <a:rPr sz="1400" spc="-2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with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01966" y="4301553"/>
            <a:ext cx="14681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the</a:t>
            </a:r>
            <a:r>
              <a:rPr sz="1400" spc="-5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corresponding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49869" y="4511357"/>
            <a:ext cx="1229360" cy="519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008000"/>
                </a:solidFill>
                <a:latin typeface="Arial"/>
                <a:cs typeface="Arial"/>
              </a:rPr>
              <a:t>eigenvalue </a:t>
            </a:r>
            <a:r>
              <a:rPr sz="1400" b="1" spc="15" dirty="0">
                <a:solidFill>
                  <a:srgbClr val="008000"/>
                </a:solidFill>
                <a:latin typeface="Arial"/>
                <a:cs typeface="Arial"/>
              </a:rPr>
              <a:t>λ</a:t>
            </a:r>
            <a:r>
              <a:rPr sz="1400" b="1" spc="-11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if:</a:t>
            </a:r>
            <a:endParaRPr sz="1400">
              <a:latin typeface="Arial"/>
              <a:cs typeface="Arial"/>
            </a:endParaRPr>
          </a:p>
          <a:p>
            <a:pPr marL="4127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solidFill>
                  <a:srgbClr val="008000"/>
                </a:solidFill>
                <a:latin typeface="Cambria Math"/>
                <a:cs typeface="Cambria Math"/>
              </a:rPr>
              <a:t>𝑨𝒙 =</a:t>
            </a:r>
            <a:r>
              <a:rPr sz="1800" spc="165" dirty="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sz="1800" spc="15" dirty="0">
                <a:solidFill>
                  <a:srgbClr val="008000"/>
                </a:solidFill>
                <a:latin typeface="Cambria Math"/>
                <a:cs typeface="Cambria Math"/>
              </a:rPr>
              <a:t>𝝀𝒙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5843651" cy="4524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438019"/>
            <a:ext cx="323850" cy="40068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40"/>
              </a:spcBef>
            </a:pPr>
            <a:r>
              <a:rPr spc="10" dirty="0"/>
              <a:t>Given a </a:t>
            </a:r>
            <a:r>
              <a:rPr spc="20" dirty="0"/>
              <a:t>web </a:t>
            </a:r>
            <a:r>
              <a:rPr spc="-20" dirty="0"/>
              <a:t>graph </a:t>
            </a:r>
            <a:r>
              <a:rPr spc="15" dirty="0"/>
              <a:t>with </a:t>
            </a:r>
            <a:r>
              <a:rPr i="1" spc="15" dirty="0">
                <a:latin typeface="Calibri"/>
                <a:cs typeface="Calibri"/>
              </a:rPr>
              <a:t>N </a:t>
            </a:r>
            <a:r>
              <a:rPr spc="10" dirty="0"/>
              <a:t>nodes, where</a:t>
            </a:r>
            <a:r>
              <a:rPr spc="-509" dirty="0"/>
              <a:t> </a:t>
            </a:r>
            <a:r>
              <a:rPr spc="10" dirty="0"/>
              <a:t>the  </a:t>
            </a:r>
            <a:r>
              <a:rPr spc="15" dirty="0"/>
              <a:t>nodes </a:t>
            </a:r>
            <a:r>
              <a:rPr spc="-5" dirty="0"/>
              <a:t>are </a:t>
            </a:r>
            <a:r>
              <a:rPr spc="5" dirty="0"/>
              <a:t>pages and </a:t>
            </a:r>
            <a:r>
              <a:rPr spc="15" dirty="0"/>
              <a:t>edges </a:t>
            </a:r>
            <a:r>
              <a:rPr spc="-5" dirty="0"/>
              <a:t>are </a:t>
            </a:r>
            <a:r>
              <a:rPr spc="5" dirty="0"/>
              <a:t>hyperlinks  </a:t>
            </a:r>
            <a:r>
              <a:rPr dirty="0">
                <a:solidFill>
                  <a:srgbClr val="008000"/>
                </a:solidFill>
              </a:rPr>
              <a:t>Power </a:t>
            </a:r>
            <a:r>
              <a:rPr spc="-5" dirty="0">
                <a:solidFill>
                  <a:srgbClr val="008000"/>
                </a:solidFill>
              </a:rPr>
              <a:t>iteration: </a:t>
            </a:r>
            <a:r>
              <a:rPr b="0" spc="10" dirty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b="0" spc="15" dirty="0">
                <a:solidFill>
                  <a:srgbClr val="000000"/>
                </a:solidFill>
                <a:latin typeface="Calibri"/>
                <a:cs typeface="Calibri"/>
              </a:rPr>
              <a:t>simple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iterative</a:t>
            </a:r>
            <a:r>
              <a:rPr b="0" spc="-4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5" dirty="0">
                <a:solidFill>
                  <a:srgbClr val="000000"/>
                </a:solidFill>
                <a:latin typeface="Calibri"/>
                <a:cs typeface="Calibri"/>
              </a:rPr>
              <a:t>scheme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7580" y="2911474"/>
            <a:ext cx="485394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130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spc="-5" dirty="0">
                <a:latin typeface="Calibri"/>
                <a:cs typeface="Calibri"/>
              </a:rPr>
              <a:t>Suppose </a:t>
            </a:r>
            <a:r>
              <a:rPr sz="2750" spc="-10" dirty="0">
                <a:latin typeface="Calibri"/>
                <a:cs typeface="Calibri"/>
              </a:rPr>
              <a:t>there </a:t>
            </a:r>
            <a:r>
              <a:rPr sz="2750" spc="15" dirty="0">
                <a:latin typeface="Calibri"/>
                <a:cs typeface="Calibri"/>
              </a:rPr>
              <a:t>are </a:t>
            </a:r>
            <a:r>
              <a:rPr sz="2750" i="1" spc="15" dirty="0">
                <a:latin typeface="Calibri"/>
                <a:cs typeface="Calibri"/>
              </a:rPr>
              <a:t>N </a:t>
            </a:r>
            <a:r>
              <a:rPr sz="2750" spc="-10" dirty="0">
                <a:latin typeface="Calibri"/>
                <a:cs typeface="Calibri"/>
              </a:rPr>
              <a:t>web</a:t>
            </a:r>
            <a:r>
              <a:rPr sz="2750" spc="39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pages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2180" y="3324840"/>
            <a:ext cx="4378325" cy="15716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14325" indent="-276860">
              <a:lnSpc>
                <a:spcPct val="100000"/>
              </a:lnSpc>
              <a:spcBef>
                <a:spcPts val="855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spc="-20" dirty="0">
                <a:latin typeface="Calibri"/>
                <a:cs typeface="Calibri"/>
              </a:rPr>
              <a:t>Initialize: </a:t>
            </a:r>
            <a:r>
              <a:rPr sz="2750" b="1" spc="15" dirty="0">
                <a:latin typeface="Calibri"/>
                <a:cs typeface="Calibri"/>
              </a:rPr>
              <a:t>r</a:t>
            </a:r>
            <a:r>
              <a:rPr sz="2775" spc="22" baseline="24024" dirty="0">
                <a:latin typeface="Calibri"/>
                <a:cs typeface="Calibri"/>
              </a:rPr>
              <a:t>(0) </a:t>
            </a:r>
            <a:r>
              <a:rPr sz="2750" spc="10" dirty="0">
                <a:latin typeface="Calibri"/>
                <a:cs typeface="Calibri"/>
              </a:rPr>
              <a:t>=</a:t>
            </a:r>
            <a:r>
              <a:rPr sz="2750" spc="-9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[1/N,….,1/N]</a:t>
            </a:r>
            <a:r>
              <a:rPr sz="2775" baseline="24024" dirty="0">
                <a:latin typeface="Calibri"/>
                <a:cs typeface="Calibri"/>
              </a:rPr>
              <a:t>T</a:t>
            </a:r>
            <a:endParaRPr sz="2775" baseline="24024">
              <a:latin typeface="Calibri"/>
              <a:cs typeface="Calibri"/>
            </a:endParaRPr>
          </a:p>
          <a:p>
            <a:pPr marL="31432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spc="-20" dirty="0">
                <a:latin typeface="Calibri"/>
                <a:cs typeface="Calibri"/>
              </a:rPr>
              <a:t>Iterate: </a:t>
            </a:r>
            <a:r>
              <a:rPr sz="2750" b="1" dirty="0">
                <a:latin typeface="Calibri"/>
                <a:cs typeface="Calibri"/>
              </a:rPr>
              <a:t>r</a:t>
            </a:r>
            <a:r>
              <a:rPr sz="2775" baseline="25525" dirty="0">
                <a:latin typeface="Calibri"/>
                <a:cs typeface="Calibri"/>
              </a:rPr>
              <a:t>(t+1) </a:t>
            </a:r>
            <a:r>
              <a:rPr sz="2750" spc="10" dirty="0">
                <a:latin typeface="Calibri"/>
                <a:cs typeface="Calibri"/>
              </a:rPr>
              <a:t>= </a:t>
            </a:r>
            <a:r>
              <a:rPr sz="2750" b="1" spc="20" dirty="0">
                <a:latin typeface="Calibri"/>
                <a:cs typeface="Calibri"/>
              </a:rPr>
              <a:t>M </a:t>
            </a:r>
            <a:r>
              <a:rPr sz="2750" spc="5" dirty="0">
                <a:latin typeface="Calibri"/>
                <a:cs typeface="Calibri"/>
              </a:rPr>
              <a:t>∙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r</a:t>
            </a:r>
            <a:r>
              <a:rPr sz="2775" baseline="25525" dirty="0">
                <a:latin typeface="Calibri"/>
                <a:cs typeface="Calibri"/>
              </a:rPr>
              <a:t>(t)</a:t>
            </a:r>
            <a:endParaRPr sz="2775" baseline="25525">
              <a:latin typeface="Calibri"/>
              <a:cs typeface="Calibri"/>
            </a:endParaRPr>
          </a:p>
          <a:p>
            <a:pPr marL="31432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spc="10" dirty="0">
                <a:latin typeface="Calibri"/>
                <a:cs typeface="Calibri"/>
              </a:rPr>
              <a:t>Stop </a:t>
            </a:r>
            <a:r>
              <a:rPr sz="2750" spc="-15" dirty="0">
                <a:latin typeface="Calibri"/>
                <a:cs typeface="Calibri"/>
              </a:rPr>
              <a:t>when </a:t>
            </a:r>
            <a:r>
              <a:rPr sz="2750" spc="5" dirty="0">
                <a:latin typeface="Calibri"/>
                <a:cs typeface="Calibri"/>
              </a:rPr>
              <a:t>|</a:t>
            </a:r>
            <a:r>
              <a:rPr sz="2750" b="1" spc="5" dirty="0">
                <a:latin typeface="Calibri"/>
                <a:cs typeface="Calibri"/>
              </a:rPr>
              <a:t>r</a:t>
            </a:r>
            <a:r>
              <a:rPr sz="2775" spc="7" baseline="25525" dirty="0">
                <a:latin typeface="Calibri"/>
                <a:cs typeface="Calibri"/>
              </a:rPr>
              <a:t>(t+1) </a:t>
            </a:r>
            <a:r>
              <a:rPr sz="2750" spc="10" dirty="0">
                <a:latin typeface="Calibri"/>
                <a:cs typeface="Calibri"/>
              </a:rPr>
              <a:t>– </a:t>
            </a:r>
            <a:r>
              <a:rPr sz="2750" b="1" spc="10" dirty="0">
                <a:latin typeface="Calibri"/>
                <a:cs typeface="Calibri"/>
              </a:rPr>
              <a:t>r</a:t>
            </a:r>
            <a:r>
              <a:rPr sz="2775" spc="15" baseline="25525" dirty="0">
                <a:latin typeface="Calibri"/>
                <a:cs typeface="Calibri"/>
              </a:rPr>
              <a:t>(t)</a:t>
            </a:r>
            <a:r>
              <a:rPr sz="2750" spc="10" dirty="0">
                <a:latin typeface="Calibri"/>
                <a:cs typeface="Calibri"/>
              </a:rPr>
              <a:t>|</a:t>
            </a:r>
            <a:r>
              <a:rPr sz="2775" spc="15" baseline="-18018" dirty="0">
                <a:latin typeface="Calibri"/>
                <a:cs typeface="Calibri"/>
              </a:rPr>
              <a:t>1 </a:t>
            </a:r>
            <a:r>
              <a:rPr sz="2750" spc="10" dirty="0">
                <a:latin typeface="Calibri"/>
                <a:cs typeface="Calibri"/>
              </a:rPr>
              <a:t>&lt;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10" dirty="0">
                <a:latin typeface="Symbol"/>
                <a:cs typeface="Symbol"/>
              </a:rPr>
              <a:t>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70844" y="3175537"/>
            <a:ext cx="1189355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50620" algn="l"/>
              </a:tabLst>
            </a:pPr>
            <a:r>
              <a:rPr sz="3900" spc="15" baseline="-20299" dirty="0">
                <a:latin typeface="Symbol"/>
                <a:cs typeface="Symbol"/>
              </a:rPr>
              <a:t></a:t>
            </a:r>
            <a:r>
              <a:rPr sz="3900" spc="15" baseline="-20299" dirty="0">
                <a:latin typeface="Times New Roman"/>
                <a:cs typeface="Times New Roman"/>
              </a:rPr>
              <a:t> </a:t>
            </a:r>
            <a:r>
              <a:rPr sz="5925" spc="480" baseline="-22503" dirty="0">
                <a:latin typeface="Symbol"/>
                <a:cs typeface="Symbol"/>
              </a:rPr>
              <a:t></a:t>
            </a:r>
            <a:r>
              <a:rPr sz="3950" u="heavy" spc="-2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00" i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	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49582" y="3923558"/>
            <a:ext cx="38163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i="1" spc="60" dirty="0">
                <a:latin typeface="Times New Roman"/>
                <a:cs typeface="Times New Roman"/>
              </a:rPr>
              <a:t>i</a:t>
            </a:r>
            <a:r>
              <a:rPr sz="1500" spc="60" dirty="0">
                <a:latin typeface="Symbol"/>
                <a:cs typeface="Symbol"/>
              </a:rPr>
              <a:t>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i="1" spc="5" dirty="0">
                <a:latin typeface="Times New Roman"/>
                <a:cs typeface="Times New Roman"/>
              </a:rPr>
              <a:t>j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52773" y="3085183"/>
            <a:ext cx="45974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900" i="1" spc="7" baseline="-28846" dirty="0">
                <a:latin typeface="Times New Roman"/>
                <a:cs typeface="Times New Roman"/>
              </a:rPr>
              <a:t>r</a:t>
            </a:r>
            <a:r>
              <a:rPr sz="3900" i="1" spc="-592" baseline="-28846" dirty="0">
                <a:latin typeface="Times New Roman"/>
                <a:cs typeface="Times New Roman"/>
              </a:rPr>
              <a:t> </a:t>
            </a:r>
            <a:r>
              <a:rPr sz="1500" spc="45" dirty="0">
                <a:latin typeface="Times New Roman"/>
                <a:cs typeface="Times New Roman"/>
              </a:rPr>
              <a:t>(</a:t>
            </a:r>
            <a:r>
              <a:rPr sz="1500" i="1" spc="45" dirty="0">
                <a:latin typeface="Times New Roman"/>
                <a:cs typeface="Times New Roman"/>
              </a:rPr>
              <a:t>t</a:t>
            </a:r>
            <a:r>
              <a:rPr sz="1500" i="1" spc="-220" dirty="0">
                <a:latin typeface="Times New Roman"/>
                <a:cs typeface="Times New Roman"/>
              </a:rPr>
              <a:t> </a:t>
            </a:r>
            <a:r>
              <a:rPr sz="1500" spc="1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46427" y="3465713"/>
            <a:ext cx="26606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00" i="1" spc="30" dirty="0">
                <a:latin typeface="Times New Roman"/>
                <a:cs typeface="Times New Roman"/>
              </a:rPr>
              <a:t>r</a:t>
            </a:r>
            <a:r>
              <a:rPr sz="2250" i="1" spc="44" baseline="-24074" dirty="0">
                <a:latin typeface="Times New Roman"/>
                <a:cs typeface="Times New Roman"/>
              </a:rPr>
              <a:t>j</a:t>
            </a:r>
            <a:endParaRPr sz="2250" baseline="-24074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83509" y="3430962"/>
            <a:ext cx="43307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45" dirty="0">
                <a:latin typeface="Times New Roman"/>
                <a:cs typeface="Times New Roman"/>
              </a:rPr>
              <a:t>(</a:t>
            </a:r>
            <a:r>
              <a:rPr sz="1500" i="1" spc="45" dirty="0">
                <a:latin typeface="Times New Roman"/>
                <a:cs typeface="Times New Roman"/>
              </a:rPr>
              <a:t>t</a:t>
            </a:r>
            <a:r>
              <a:rPr sz="1500" i="1" spc="-26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Symbol"/>
                <a:cs typeface="Symbol"/>
              </a:rPr>
              <a:t></a:t>
            </a:r>
            <a:r>
              <a:rPr sz="1500" spc="-20" dirty="0">
                <a:latin typeface="Times New Roman"/>
                <a:cs typeface="Times New Roman"/>
              </a:rPr>
              <a:t>1)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23047" y="3722867"/>
            <a:ext cx="31115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00" spc="60" dirty="0">
                <a:latin typeface="Times New Roman"/>
                <a:cs typeface="Times New Roman"/>
              </a:rPr>
              <a:t>d</a:t>
            </a:r>
            <a:r>
              <a:rPr sz="2250" spc="89" baseline="-24074" dirty="0">
                <a:latin typeface="Times New Roman"/>
                <a:cs typeface="Times New Roman"/>
              </a:rPr>
              <a:t>i</a:t>
            </a:r>
            <a:endParaRPr sz="2250" baseline="-24074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9684" y="4220146"/>
            <a:ext cx="26993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20" dirty="0">
                <a:solidFill>
                  <a:srgbClr val="008000"/>
                </a:solidFill>
                <a:latin typeface="Arial"/>
                <a:cs typeface="Arial"/>
              </a:rPr>
              <a:t>d</a:t>
            </a:r>
            <a:r>
              <a:rPr sz="1800" spc="30" baseline="-18518" dirty="0">
                <a:solidFill>
                  <a:srgbClr val="008000"/>
                </a:solidFill>
                <a:latin typeface="Arial"/>
                <a:cs typeface="Arial"/>
              </a:rPr>
              <a:t>i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…. </a:t>
            </a:r>
            <a:r>
              <a:rPr sz="1800" spc="5" dirty="0">
                <a:solidFill>
                  <a:srgbClr val="008000"/>
                </a:solidFill>
                <a:latin typeface="Arial"/>
                <a:cs typeface="Arial"/>
              </a:rPr>
              <a:t>out-degree </a:t>
            </a: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of </a:t>
            </a:r>
            <a:r>
              <a:rPr sz="1800" spc="15" dirty="0">
                <a:solidFill>
                  <a:srgbClr val="008000"/>
                </a:solidFill>
                <a:latin typeface="Arial"/>
                <a:cs typeface="Arial"/>
              </a:rPr>
              <a:t>node</a:t>
            </a:r>
            <a:r>
              <a:rPr sz="1800" spc="-1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9317" y="4983543"/>
            <a:ext cx="6056630" cy="15875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50875">
              <a:lnSpc>
                <a:spcPct val="100000"/>
              </a:lnSpc>
              <a:spcBef>
                <a:spcPts val="125"/>
              </a:spcBef>
            </a:pPr>
            <a:r>
              <a:rPr sz="2000" spc="-35" dirty="0">
                <a:solidFill>
                  <a:srgbClr val="008000"/>
                </a:solidFill>
                <a:latin typeface="Arial"/>
                <a:cs typeface="Arial"/>
              </a:rPr>
              <a:t>|</a:t>
            </a:r>
            <a:r>
              <a:rPr sz="2000" b="1" spc="-35" dirty="0">
                <a:solidFill>
                  <a:srgbClr val="008000"/>
                </a:solidFill>
                <a:latin typeface="Arial"/>
                <a:cs typeface="Arial"/>
              </a:rPr>
              <a:t>x</a:t>
            </a:r>
            <a:r>
              <a:rPr sz="2000" spc="-35" dirty="0">
                <a:solidFill>
                  <a:srgbClr val="008000"/>
                </a:solidFill>
                <a:latin typeface="Arial"/>
                <a:cs typeface="Arial"/>
              </a:rPr>
              <a:t>|</a:t>
            </a:r>
            <a:r>
              <a:rPr sz="2025" spc="-52" baseline="-18518" dirty="0">
                <a:solidFill>
                  <a:srgbClr val="008000"/>
                </a:solidFill>
                <a:latin typeface="Arial"/>
                <a:cs typeface="Arial"/>
              </a:rPr>
              <a:t>1 </a:t>
            </a:r>
            <a:r>
              <a:rPr sz="2000" spc="15" dirty="0">
                <a:solidFill>
                  <a:srgbClr val="008000"/>
                </a:solidFill>
                <a:latin typeface="Arial"/>
                <a:cs typeface="Arial"/>
              </a:rPr>
              <a:t>= </a:t>
            </a:r>
            <a:r>
              <a:rPr sz="2000" spc="-20" dirty="0">
                <a:solidFill>
                  <a:srgbClr val="008000"/>
                </a:solidFill>
                <a:latin typeface="Symbol"/>
                <a:cs typeface="Symbol"/>
              </a:rPr>
              <a:t></a:t>
            </a:r>
            <a:r>
              <a:rPr sz="2025" spc="-30" baseline="-18518" dirty="0">
                <a:solidFill>
                  <a:srgbClr val="008000"/>
                </a:solidFill>
                <a:latin typeface="Arial"/>
                <a:cs typeface="Arial"/>
              </a:rPr>
              <a:t>1≤i≤N</a:t>
            </a:r>
            <a:r>
              <a:rPr sz="2000" spc="-20" dirty="0">
                <a:solidFill>
                  <a:srgbClr val="008000"/>
                </a:solidFill>
                <a:latin typeface="Arial"/>
                <a:cs typeface="Arial"/>
              </a:rPr>
              <a:t>|x</a:t>
            </a:r>
            <a:r>
              <a:rPr sz="2025" spc="-30" baseline="-18518" dirty="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sz="2000" spc="-20" dirty="0">
                <a:solidFill>
                  <a:srgbClr val="008000"/>
                </a:solidFill>
                <a:latin typeface="Arial"/>
                <a:cs typeface="Arial"/>
              </a:rPr>
              <a:t>| </a:t>
            </a:r>
            <a:r>
              <a:rPr sz="2000" spc="5" dirty="0">
                <a:solidFill>
                  <a:srgbClr val="008000"/>
                </a:solidFill>
                <a:latin typeface="Arial"/>
                <a:cs typeface="Arial"/>
              </a:rPr>
              <a:t>is </a:t>
            </a:r>
            <a:r>
              <a:rPr sz="2000" spc="20" dirty="0">
                <a:solidFill>
                  <a:srgbClr val="008000"/>
                </a:solidFill>
                <a:latin typeface="Arial"/>
                <a:cs typeface="Arial"/>
              </a:rPr>
              <a:t>the </a:t>
            </a:r>
            <a:r>
              <a:rPr sz="2000" b="1" spc="25" dirty="0">
                <a:solidFill>
                  <a:srgbClr val="008000"/>
                </a:solidFill>
                <a:latin typeface="Arial"/>
                <a:cs typeface="Arial"/>
              </a:rPr>
              <a:t>L</a:t>
            </a:r>
            <a:r>
              <a:rPr sz="1350" b="1" spc="25" dirty="0">
                <a:solidFill>
                  <a:srgbClr val="008000"/>
                </a:solidFill>
                <a:latin typeface="Arial"/>
                <a:cs typeface="Arial"/>
              </a:rPr>
              <a:t>1</a:t>
            </a:r>
            <a:r>
              <a:rPr sz="1350" b="1" spc="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spc="15" dirty="0">
                <a:solidFill>
                  <a:srgbClr val="008000"/>
                </a:solidFill>
                <a:latin typeface="Arial"/>
                <a:cs typeface="Arial"/>
              </a:rPr>
              <a:t>norm</a:t>
            </a:r>
            <a:endParaRPr sz="2000">
              <a:latin typeface="Arial"/>
              <a:cs typeface="Arial"/>
            </a:endParaRPr>
          </a:p>
          <a:p>
            <a:pPr marL="650875">
              <a:lnSpc>
                <a:spcPct val="100000"/>
              </a:lnSpc>
              <a:spcBef>
                <a:spcPts val="5"/>
              </a:spcBef>
            </a:pPr>
            <a:r>
              <a:rPr sz="2000" spc="25" dirty="0">
                <a:solidFill>
                  <a:srgbClr val="008000"/>
                </a:solidFill>
                <a:latin typeface="Arial"/>
                <a:cs typeface="Arial"/>
              </a:rPr>
              <a:t>Can</a:t>
            </a:r>
            <a:r>
              <a:rPr sz="2000" spc="-114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008000"/>
                </a:solidFill>
                <a:latin typeface="Arial"/>
                <a:cs typeface="Arial"/>
              </a:rPr>
              <a:t>use</a:t>
            </a:r>
            <a:r>
              <a:rPr sz="2000" spc="-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008000"/>
                </a:solidFill>
                <a:latin typeface="Arial"/>
                <a:cs typeface="Arial"/>
              </a:rPr>
              <a:t>any</a:t>
            </a:r>
            <a:r>
              <a:rPr sz="2000" spc="-8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spc="15" dirty="0">
                <a:solidFill>
                  <a:srgbClr val="008000"/>
                </a:solidFill>
                <a:latin typeface="Arial"/>
                <a:cs typeface="Arial"/>
              </a:rPr>
              <a:t>other</a:t>
            </a:r>
            <a:r>
              <a:rPr sz="2000" spc="-114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spc="15" dirty="0">
                <a:solidFill>
                  <a:srgbClr val="008000"/>
                </a:solidFill>
                <a:latin typeface="Arial"/>
                <a:cs typeface="Arial"/>
              </a:rPr>
              <a:t>vector</a:t>
            </a:r>
            <a:r>
              <a:rPr sz="2000" spc="-11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008000"/>
                </a:solidFill>
                <a:latin typeface="Arial"/>
                <a:cs typeface="Arial"/>
              </a:rPr>
              <a:t>norm,</a:t>
            </a:r>
            <a:r>
              <a:rPr sz="2000" spc="-8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008000"/>
                </a:solidFill>
                <a:latin typeface="Arial"/>
                <a:cs typeface="Arial"/>
              </a:rPr>
              <a:t>e.g.,</a:t>
            </a:r>
            <a:r>
              <a:rPr sz="2000" spc="-15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spc="15" dirty="0">
                <a:solidFill>
                  <a:srgbClr val="008000"/>
                </a:solidFill>
                <a:latin typeface="Arial"/>
                <a:cs typeface="Arial"/>
              </a:rPr>
              <a:t>Euclidean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800" spc="15" dirty="0">
                <a:latin typeface="Calibri"/>
                <a:cs typeface="Calibri"/>
              </a:rPr>
              <a:t>About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50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iterations</a:t>
            </a:r>
            <a:r>
              <a:rPr sz="1800" spc="-204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is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sufficient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estimate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limiting</a:t>
            </a:r>
            <a:r>
              <a:rPr sz="1800" spc="-12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solution.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277876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dirty="0">
                <a:solidFill>
                  <a:srgbClr val="008000"/>
                </a:solidFill>
                <a:latin typeface="Calibri"/>
                <a:cs typeface="Calibri"/>
              </a:rPr>
              <a:t>Power</a:t>
            </a:r>
            <a:r>
              <a:rPr b="1" spc="-1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8000"/>
                </a:solidFill>
                <a:latin typeface="Calibri"/>
                <a:cs typeface="Calibri"/>
              </a:rPr>
              <a:t>Iteration: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2180" y="1948180"/>
            <a:ext cx="21209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4325" indent="-276860">
              <a:lnSpc>
                <a:spcPct val="100000"/>
              </a:lnSpc>
              <a:spcBef>
                <a:spcPts val="130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spc="-5" dirty="0">
                <a:latin typeface="Calibri"/>
                <a:cs typeface="Calibri"/>
              </a:rPr>
              <a:t>Set </a:t>
            </a:r>
            <a:r>
              <a:rPr sz="2750" spc="-130" dirty="0">
                <a:latin typeface="Cambria Math"/>
                <a:cs typeface="Cambria Math"/>
              </a:rPr>
              <a:t>𝑟</a:t>
            </a:r>
            <a:r>
              <a:rPr sz="3000" spc="-195" baseline="-16666" dirty="0">
                <a:latin typeface="Cambria Math"/>
                <a:cs typeface="Cambria Math"/>
              </a:rPr>
              <a:t>𝑗 </a:t>
            </a:r>
            <a:r>
              <a:rPr sz="2750" spc="20" dirty="0">
                <a:latin typeface="Cambria Math"/>
                <a:cs typeface="Cambria Math"/>
              </a:rPr>
              <a:t>=</a:t>
            </a:r>
            <a:r>
              <a:rPr sz="2750" spc="190" dirty="0">
                <a:latin typeface="Cambria Math"/>
                <a:cs typeface="Cambria Math"/>
              </a:rPr>
              <a:t> </a:t>
            </a:r>
            <a:r>
              <a:rPr sz="2750" spc="-15" dirty="0">
                <a:latin typeface="Cambria Math"/>
                <a:cs typeface="Cambria Math"/>
              </a:rPr>
              <a:t>1</a:t>
            </a:r>
            <a:r>
              <a:rPr sz="2750" i="1" spc="-15" dirty="0">
                <a:latin typeface="Times New Roman"/>
                <a:cs typeface="Times New Roman"/>
              </a:rPr>
              <a:t>/N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7580" y="2578036"/>
            <a:ext cx="175387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125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  <a:tab pos="1118235" algn="l"/>
              </a:tabLst>
            </a:pPr>
            <a:r>
              <a:rPr sz="2750" b="1" spc="15" dirty="0">
                <a:latin typeface="Calibri"/>
                <a:cs typeface="Calibri"/>
              </a:rPr>
              <a:t>1:</a:t>
            </a:r>
            <a:r>
              <a:rPr sz="2750" b="1" spc="35" dirty="0">
                <a:latin typeface="Calibri"/>
                <a:cs typeface="Calibri"/>
              </a:rPr>
              <a:t> </a:t>
            </a:r>
            <a:r>
              <a:rPr sz="2750" spc="15" dirty="0">
                <a:latin typeface="Cambria Math"/>
                <a:cs typeface="Cambria Math"/>
              </a:rPr>
              <a:t>𝑟′	</a:t>
            </a:r>
            <a:r>
              <a:rPr sz="2750" spc="20" dirty="0">
                <a:latin typeface="Cambria Math"/>
                <a:cs typeface="Cambria Math"/>
              </a:rPr>
              <a:t>=</a:t>
            </a:r>
            <a:r>
              <a:rPr sz="2750" spc="160" dirty="0">
                <a:latin typeface="Cambria Math"/>
                <a:cs typeface="Cambria Math"/>
              </a:rPr>
              <a:t> </a:t>
            </a:r>
            <a:r>
              <a:rPr sz="4125" spc="592" baseline="1010" dirty="0">
                <a:latin typeface="Cambria Math"/>
                <a:cs typeface="Cambria Math"/>
              </a:rPr>
              <a:t>σ</a:t>
            </a:r>
            <a:endParaRPr sz="4125" baseline="101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98114" y="2834639"/>
            <a:ext cx="257175" cy="19050"/>
          </a:xfrm>
          <a:custGeom>
            <a:avLst/>
            <a:gdLst/>
            <a:ahLst/>
            <a:cxnLst/>
            <a:rect l="l" t="t" r="r" b="b"/>
            <a:pathLst>
              <a:path w="257175" h="19050">
                <a:moveTo>
                  <a:pt x="257175" y="0"/>
                </a:moveTo>
                <a:lnTo>
                  <a:pt x="0" y="0"/>
                </a:lnTo>
                <a:lnTo>
                  <a:pt x="0" y="19050"/>
                </a:lnTo>
                <a:lnTo>
                  <a:pt x="257175" y="19050"/>
                </a:lnTo>
                <a:lnTo>
                  <a:pt x="257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82366" y="2463482"/>
            <a:ext cx="2889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95" dirty="0">
                <a:latin typeface="Cambria Math"/>
                <a:cs typeface="Cambria Math"/>
              </a:rPr>
              <a:t>𝑟</a:t>
            </a:r>
            <a:r>
              <a:rPr sz="2475" spc="142" baseline="-15151" dirty="0">
                <a:latin typeface="Cambria Math"/>
                <a:cs typeface="Cambria Math"/>
              </a:rPr>
              <a:t>𝑖</a:t>
            </a:r>
            <a:endParaRPr sz="2475" baseline="-15151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8110" y="2759011"/>
            <a:ext cx="8229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155" dirty="0">
                <a:latin typeface="Cambria Math"/>
                <a:cs typeface="Cambria Math"/>
              </a:rPr>
              <a:t>𝑖→𝑗</a:t>
            </a:r>
            <a:r>
              <a:rPr sz="2000" spc="-30" dirty="0">
                <a:latin typeface="Cambria Math"/>
                <a:cs typeface="Cambria Math"/>
              </a:rPr>
              <a:t> </a:t>
            </a:r>
            <a:r>
              <a:rPr sz="3000" spc="157" baseline="-20833" dirty="0">
                <a:latin typeface="Cambria Math"/>
                <a:cs typeface="Cambria Math"/>
              </a:rPr>
              <a:t>𝑑</a:t>
            </a:r>
            <a:r>
              <a:rPr sz="2475" spc="157" baseline="-40404" dirty="0">
                <a:latin typeface="Cambria Math"/>
                <a:cs typeface="Cambria Math"/>
              </a:rPr>
              <a:t>𝑖</a:t>
            </a:r>
            <a:endParaRPr sz="2475" baseline="-40404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062" y="4288535"/>
            <a:ext cx="323850" cy="40068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38530" y="2619916"/>
            <a:ext cx="1589405" cy="206883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349885" algn="ctr">
              <a:lnSpc>
                <a:spcPct val="100000"/>
              </a:lnSpc>
              <a:spcBef>
                <a:spcPts val="1145"/>
              </a:spcBef>
            </a:pPr>
            <a:r>
              <a:rPr sz="2000" spc="229" dirty="0">
                <a:latin typeface="Cambria Math"/>
                <a:cs typeface="Cambria Math"/>
              </a:rPr>
              <a:t>𝑗</a:t>
            </a:r>
            <a:endParaRPr sz="2000">
              <a:latin typeface="Cambria Math"/>
              <a:cs typeface="Cambria Math"/>
            </a:endParaRPr>
          </a:p>
          <a:p>
            <a:pPr marL="307975" indent="-276860">
              <a:lnSpc>
                <a:spcPct val="100000"/>
              </a:lnSpc>
              <a:spcBef>
                <a:spcPts val="143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spc="15" dirty="0">
                <a:latin typeface="Calibri"/>
                <a:cs typeface="Calibri"/>
              </a:rPr>
              <a:t>2: </a:t>
            </a:r>
            <a:r>
              <a:rPr sz="2750" spc="10" dirty="0">
                <a:latin typeface="Cambria Math"/>
                <a:cs typeface="Cambria Math"/>
              </a:rPr>
              <a:t>𝑟 </a:t>
            </a:r>
            <a:r>
              <a:rPr sz="2750" spc="20" dirty="0">
                <a:latin typeface="Cambria Math"/>
                <a:cs typeface="Cambria Math"/>
              </a:rPr>
              <a:t>=</a:t>
            </a:r>
            <a:r>
              <a:rPr sz="2750" spc="350" dirty="0">
                <a:latin typeface="Cambria Math"/>
                <a:cs typeface="Cambria Math"/>
              </a:rPr>
              <a:t> </a:t>
            </a:r>
            <a:r>
              <a:rPr sz="2750" spc="30" dirty="0">
                <a:latin typeface="Cambria Math"/>
                <a:cs typeface="Cambria Math"/>
              </a:rPr>
              <a:t>𝑟′</a:t>
            </a:r>
            <a:endParaRPr sz="2750">
              <a:latin typeface="Cambria Math"/>
              <a:cs typeface="Cambria Math"/>
            </a:endParaRPr>
          </a:p>
          <a:p>
            <a:pPr marL="30797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5" dirty="0">
                <a:latin typeface="Calibri"/>
                <a:cs typeface="Calibri"/>
              </a:rPr>
              <a:t>Goto</a:t>
            </a:r>
            <a:r>
              <a:rPr sz="2750" spc="-75" dirty="0">
                <a:latin typeface="Calibri"/>
                <a:cs typeface="Calibri"/>
              </a:rPr>
              <a:t> </a:t>
            </a:r>
            <a:r>
              <a:rPr sz="2750" b="1" spc="10" dirty="0">
                <a:latin typeface="Calibri"/>
                <a:cs typeface="Calibri"/>
              </a:rPr>
              <a:t>1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0430" y="4727638"/>
            <a:ext cx="737870" cy="11893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325" spc="22" baseline="-19713" dirty="0">
                <a:latin typeface="Times New Roman"/>
                <a:cs typeface="Times New Roman"/>
              </a:rPr>
              <a:t>y</a:t>
            </a:r>
            <a:endParaRPr sz="2325" baseline="-19713">
              <a:latin typeface="Times New Roman"/>
              <a:cs typeface="Times New Roman"/>
            </a:endParaRPr>
          </a:p>
          <a:p>
            <a:pPr marL="50800">
              <a:lnSpc>
                <a:spcPts val="2865"/>
              </a:lnSpc>
              <a:spcBef>
                <a:spcPts val="275"/>
              </a:spcBef>
              <a:tabLst>
                <a:tab pos="527050" algn="l"/>
              </a:tabLst>
            </a:pP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325" spc="22" baseline="-19713" dirty="0">
                <a:latin typeface="Times New Roman"/>
                <a:cs typeface="Times New Roman"/>
              </a:rPr>
              <a:t>a	</a:t>
            </a:r>
            <a:r>
              <a:rPr sz="240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ts val="2865"/>
              </a:lnSpc>
            </a:pPr>
            <a:r>
              <a:rPr sz="2400" spc="20" dirty="0">
                <a:latin typeface="Times New Roman"/>
                <a:cs typeface="Times New Roman"/>
              </a:rPr>
              <a:t>r</a:t>
            </a:r>
            <a:r>
              <a:rPr sz="2325" spc="30" baseline="-19713" dirty="0">
                <a:latin typeface="Times New Roman"/>
                <a:cs typeface="Times New Roman"/>
              </a:rPr>
              <a:t>m</a:t>
            </a:r>
            <a:endParaRPr sz="2325" baseline="-197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30450" y="4727638"/>
            <a:ext cx="417195" cy="11893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5" dirty="0">
                <a:latin typeface="Times New Roman"/>
                <a:cs typeface="Times New Roman"/>
              </a:rPr>
              <a:t>/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65"/>
              </a:lnSpc>
              <a:spcBef>
                <a:spcPts val="275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5" dirty="0">
                <a:latin typeface="Times New Roman"/>
                <a:cs typeface="Times New Roman"/>
              </a:rPr>
              <a:t>/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65"/>
              </a:lnSpc>
            </a:pP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5" dirty="0">
                <a:latin typeface="Times New Roman"/>
                <a:cs typeface="Times New Roman"/>
              </a:rPr>
              <a:t>/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58565" y="4808105"/>
            <a:ext cx="391795" cy="1101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5" dirty="0">
                <a:latin typeface="Times New Roman"/>
                <a:cs typeface="Times New Roman"/>
              </a:rPr>
              <a:t>/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865"/>
              </a:lnSpc>
              <a:spcBef>
                <a:spcPts val="275"/>
              </a:spcBef>
            </a:pP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5" dirty="0">
                <a:latin typeface="Times New Roman"/>
                <a:cs typeface="Times New Roman"/>
              </a:rPr>
              <a:t>/</a:t>
            </a:r>
            <a:r>
              <a:rPr sz="2400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865"/>
              </a:lnSpc>
            </a:pP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5" dirty="0">
                <a:latin typeface="Times New Roman"/>
                <a:cs typeface="Times New Roman"/>
              </a:rPr>
              <a:t>/</a:t>
            </a:r>
            <a:r>
              <a:rPr sz="2400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3854" y="4808105"/>
            <a:ext cx="544195" cy="1101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5" dirty="0">
                <a:latin typeface="Times New Roman"/>
                <a:cs typeface="Times New Roman"/>
              </a:rPr>
              <a:t>/</a:t>
            </a:r>
            <a:r>
              <a:rPr sz="2400" dirty="0"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865"/>
              </a:lnSpc>
              <a:spcBef>
                <a:spcPts val="275"/>
              </a:spcBef>
            </a:pPr>
            <a:r>
              <a:rPr sz="2400" dirty="0">
                <a:latin typeface="Times New Roman"/>
                <a:cs typeface="Times New Roman"/>
              </a:rPr>
              <a:t>1/3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865"/>
              </a:lnSpc>
            </a:pP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5" dirty="0">
                <a:latin typeface="Times New Roman"/>
                <a:cs typeface="Times New Roman"/>
              </a:rPr>
              <a:t>/</a:t>
            </a:r>
            <a:r>
              <a:rPr sz="2400" dirty="0"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9271" y="4808105"/>
            <a:ext cx="687070" cy="1101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dirty="0">
                <a:latin typeface="Times New Roman"/>
                <a:cs typeface="Times New Roman"/>
              </a:rPr>
              <a:t>9/24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865"/>
              </a:lnSpc>
              <a:spcBef>
                <a:spcPts val="275"/>
              </a:spcBef>
            </a:pPr>
            <a:r>
              <a:rPr sz="2400" spc="-75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5" dirty="0">
                <a:latin typeface="Times New Roman"/>
                <a:cs typeface="Times New Roman"/>
              </a:rPr>
              <a:t>/</a:t>
            </a:r>
            <a:r>
              <a:rPr sz="2400" dirty="0">
                <a:latin typeface="Times New Roman"/>
                <a:cs typeface="Times New Roman"/>
              </a:rPr>
              <a:t>24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865"/>
              </a:lnSpc>
            </a:pPr>
            <a:r>
              <a:rPr sz="2400" dirty="0">
                <a:latin typeface="Times New Roman"/>
                <a:cs typeface="Times New Roman"/>
              </a:rPr>
              <a:t>1/6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4559" y="4808105"/>
            <a:ext cx="1459865" cy="1101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2620"/>
              </a:lnSpc>
            </a:pPr>
            <a:r>
              <a:rPr sz="2400" dirty="0">
                <a:latin typeface="Times New Roman"/>
                <a:cs typeface="Times New Roman"/>
              </a:rPr>
              <a:t>6/15</a:t>
            </a:r>
            <a:endParaRPr sz="2400">
              <a:latin typeface="Times New Roman"/>
              <a:cs typeface="Times New Roman"/>
            </a:endParaRPr>
          </a:p>
          <a:p>
            <a:pPr algn="r">
              <a:lnSpc>
                <a:spcPts val="2865"/>
              </a:lnSpc>
              <a:spcBef>
                <a:spcPts val="275"/>
              </a:spcBef>
              <a:tabLst>
                <a:tab pos="915035" algn="l"/>
              </a:tabLst>
            </a:pPr>
            <a:r>
              <a:rPr sz="2400" dirty="0">
                <a:latin typeface="Times New Roman"/>
                <a:cs typeface="Times New Roman"/>
              </a:rPr>
              <a:t>…	6</a:t>
            </a:r>
            <a:r>
              <a:rPr sz="2400" spc="5" dirty="0">
                <a:latin typeface="Times New Roman"/>
                <a:cs typeface="Times New Roman"/>
              </a:rPr>
              <a:t>/</a:t>
            </a:r>
            <a:r>
              <a:rPr sz="2400" dirty="0">
                <a:latin typeface="Times New Roman"/>
                <a:cs typeface="Times New Roman"/>
              </a:rPr>
              <a:t>15</a:t>
            </a:r>
            <a:endParaRPr sz="2400">
              <a:latin typeface="Times New Roman"/>
              <a:cs typeface="Times New Roman"/>
            </a:endParaRPr>
          </a:p>
          <a:p>
            <a:pPr algn="r">
              <a:lnSpc>
                <a:spcPts val="2865"/>
              </a:lnSpc>
            </a:pPr>
            <a:r>
              <a:rPr sz="2400" dirty="0">
                <a:latin typeface="Times New Roman"/>
                <a:cs typeface="Times New Roman"/>
              </a:rPr>
              <a:t>3/15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960492" y="1200150"/>
            <a:ext cx="1336675" cy="1486535"/>
            <a:chOff x="4960492" y="1200150"/>
            <a:chExt cx="1336675" cy="1486535"/>
          </a:xfrm>
        </p:grpSpPr>
        <p:sp>
          <p:nvSpPr>
            <p:cNvPr id="17" name="object 17"/>
            <p:cNvSpPr/>
            <p:nvPr/>
          </p:nvSpPr>
          <p:spPr>
            <a:xfrm>
              <a:off x="4960493" y="1200149"/>
              <a:ext cx="1336675" cy="1486535"/>
            </a:xfrm>
            <a:custGeom>
              <a:avLst/>
              <a:gdLst/>
              <a:ahLst/>
              <a:cxnLst/>
              <a:rect l="l" t="t" r="r" b="b"/>
              <a:pathLst>
                <a:path w="1336675" h="1486535">
                  <a:moveTo>
                    <a:pt x="273596" y="1091539"/>
                  </a:moveTo>
                  <a:lnTo>
                    <a:pt x="271653" y="1094867"/>
                  </a:lnTo>
                  <a:lnTo>
                    <a:pt x="273532" y="1102525"/>
                  </a:lnTo>
                  <a:lnTo>
                    <a:pt x="273596" y="1091539"/>
                  </a:lnTo>
                  <a:close/>
                </a:path>
                <a:path w="1336675" h="1486535">
                  <a:moveTo>
                    <a:pt x="322961" y="686816"/>
                  </a:moveTo>
                  <a:lnTo>
                    <a:pt x="321068" y="679170"/>
                  </a:lnTo>
                  <a:lnTo>
                    <a:pt x="321132" y="670052"/>
                  </a:lnTo>
                  <a:lnTo>
                    <a:pt x="321183" y="661924"/>
                  </a:lnTo>
                  <a:lnTo>
                    <a:pt x="306095" y="670331"/>
                  </a:lnTo>
                  <a:lnTo>
                    <a:pt x="298450" y="672211"/>
                  </a:lnTo>
                  <a:lnTo>
                    <a:pt x="296341" y="675754"/>
                  </a:lnTo>
                  <a:lnTo>
                    <a:pt x="213106" y="722122"/>
                  </a:lnTo>
                  <a:lnTo>
                    <a:pt x="206121" y="725932"/>
                  </a:lnTo>
                  <a:lnTo>
                    <a:pt x="203708" y="734695"/>
                  </a:lnTo>
                  <a:lnTo>
                    <a:pt x="207518" y="741553"/>
                  </a:lnTo>
                  <a:lnTo>
                    <a:pt x="211328" y="748538"/>
                  </a:lnTo>
                  <a:lnTo>
                    <a:pt x="220091" y="750951"/>
                  </a:lnTo>
                  <a:lnTo>
                    <a:pt x="267487" y="724522"/>
                  </a:lnTo>
                  <a:lnTo>
                    <a:pt x="4064" y="1169670"/>
                  </a:lnTo>
                  <a:lnTo>
                    <a:pt x="0" y="1176401"/>
                  </a:lnTo>
                  <a:lnTo>
                    <a:pt x="2286" y="1185164"/>
                  </a:lnTo>
                  <a:lnTo>
                    <a:pt x="9017" y="1189228"/>
                  </a:lnTo>
                  <a:lnTo>
                    <a:pt x="15875" y="1193165"/>
                  </a:lnTo>
                  <a:lnTo>
                    <a:pt x="24638" y="1191006"/>
                  </a:lnTo>
                  <a:lnTo>
                    <a:pt x="28575" y="1184148"/>
                  </a:lnTo>
                  <a:lnTo>
                    <a:pt x="292138" y="738962"/>
                  </a:lnTo>
                  <a:lnTo>
                    <a:pt x="291846" y="785495"/>
                  </a:lnTo>
                  <a:lnTo>
                    <a:pt x="291833" y="793496"/>
                  </a:lnTo>
                  <a:lnTo>
                    <a:pt x="298069" y="799846"/>
                  </a:lnTo>
                  <a:lnTo>
                    <a:pt x="305943" y="799846"/>
                  </a:lnTo>
                  <a:lnTo>
                    <a:pt x="313817" y="799973"/>
                  </a:lnTo>
                  <a:lnTo>
                    <a:pt x="320294" y="793496"/>
                  </a:lnTo>
                  <a:lnTo>
                    <a:pt x="320421" y="785495"/>
                  </a:lnTo>
                  <a:lnTo>
                    <a:pt x="321005" y="690156"/>
                  </a:lnTo>
                  <a:lnTo>
                    <a:pt x="322961" y="686816"/>
                  </a:lnTo>
                  <a:close/>
                </a:path>
                <a:path w="1336675" h="1486535">
                  <a:moveTo>
                    <a:pt x="479958" y="220116"/>
                  </a:moveTo>
                  <a:lnTo>
                    <a:pt x="474040" y="228536"/>
                  </a:lnTo>
                  <a:lnTo>
                    <a:pt x="479298" y="224663"/>
                  </a:lnTo>
                  <a:lnTo>
                    <a:pt x="479958" y="220116"/>
                  </a:lnTo>
                  <a:close/>
                </a:path>
                <a:path w="1336675" h="1486535">
                  <a:moveTo>
                    <a:pt x="594614" y="605282"/>
                  </a:moveTo>
                  <a:lnTo>
                    <a:pt x="592328" y="596519"/>
                  </a:lnTo>
                  <a:lnTo>
                    <a:pt x="578739" y="588518"/>
                  </a:lnTo>
                  <a:lnTo>
                    <a:pt x="569976" y="590804"/>
                  </a:lnTo>
                  <a:lnTo>
                    <a:pt x="566039" y="597535"/>
                  </a:lnTo>
                  <a:lnTo>
                    <a:pt x="302463" y="1042733"/>
                  </a:lnTo>
                  <a:lnTo>
                    <a:pt x="302768" y="996315"/>
                  </a:lnTo>
                  <a:lnTo>
                    <a:pt x="302768" y="988187"/>
                  </a:lnTo>
                  <a:lnTo>
                    <a:pt x="296545" y="981964"/>
                  </a:lnTo>
                  <a:lnTo>
                    <a:pt x="288671" y="981837"/>
                  </a:lnTo>
                  <a:lnTo>
                    <a:pt x="280797" y="981837"/>
                  </a:lnTo>
                  <a:lnTo>
                    <a:pt x="274320" y="988187"/>
                  </a:lnTo>
                  <a:lnTo>
                    <a:pt x="274180" y="996315"/>
                  </a:lnTo>
                  <a:lnTo>
                    <a:pt x="273596" y="1091539"/>
                  </a:lnTo>
                  <a:lnTo>
                    <a:pt x="273583" y="1102728"/>
                  </a:lnTo>
                  <a:lnTo>
                    <a:pt x="273532" y="1102525"/>
                  </a:lnTo>
                  <a:lnTo>
                    <a:pt x="273431" y="1119759"/>
                  </a:lnTo>
                  <a:lnTo>
                    <a:pt x="287794" y="1111758"/>
                  </a:lnTo>
                  <a:lnTo>
                    <a:pt x="288137" y="1111567"/>
                  </a:lnTo>
                  <a:lnTo>
                    <a:pt x="296164" y="1109472"/>
                  </a:lnTo>
                  <a:lnTo>
                    <a:pt x="298323" y="1105903"/>
                  </a:lnTo>
                  <a:lnTo>
                    <a:pt x="381508" y="1059561"/>
                  </a:lnTo>
                  <a:lnTo>
                    <a:pt x="388493" y="1055751"/>
                  </a:lnTo>
                  <a:lnTo>
                    <a:pt x="390906" y="1046988"/>
                  </a:lnTo>
                  <a:lnTo>
                    <a:pt x="383286" y="1033272"/>
                  </a:lnTo>
                  <a:lnTo>
                    <a:pt x="374523" y="1030732"/>
                  </a:lnTo>
                  <a:lnTo>
                    <a:pt x="367665" y="1034669"/>
                  </a:lnTo>
                  <a:lnTo>
                    <a:pt x="327177" y="1057198"/>
                  </a:lnTo>
                  <a:lnTo>
                    <a:pt x="594614" y="605282"/>
                  </a:lnTo>
                  <a:close/>
                </a:path>
                <a:path w="1336675" h="1486535">
                  <a:moveTo>
                    <a:pt x="935482" y="243332"/>
                  </a:moveTo>
                  <a:lnTo>
                    <a:pt x="930021" y="197358"/>
                  </a:lnTo>
                  <a:lnTo>
                    <a:pt x="914781" y="153543"/>
                  </a:lnTo>
                  <a:lnTo>
                    <a:pt x="891032" y="112522"/>
                  </a:lnTo>
                  <a:lnTo>
                    <a:pt x="860298" y="76073"/>
                  </a:lnTo>
                  <a:lnTo>
                    <a:pt x="823976" y="45212"/>
                  </a:lnTo>
                  <a:lnTo>
                    <a:pt x="797001" y="28575"/>
                  </a:lnTo>
                  <a:lnTo>
                    <a:pt x="783209" y="21209"/>
                  </a:lnTo>
                  <a:lnTo>
                    <a:pt x="738886" y="5588"/>
                  </a:lnTo>
                  <a:lnTo>
                    <a:pt x="693039" y="0"/>
                  </a:lnTo>
                  <a:lnTo>
                    <a:pt x="681482" y="254"/>
                  </a:lnTo>
                  <a:lnTo>
                    <a:pt x="635762" y="8382"/>
                  </a:lnTo>
                  <a:lnTo>
                    <a:pt x="582295" y="31623"/>
                  </a:lnTo>
                  <a:lnTo>
                    <a:pt x="543306" y="59055"/>
                  </a:lnTo>
                  <a:lnTo>
                    <a:pt x="509524" y="92710"/>
                  </a:lnTo>
                  <a:lnTo>
                    <a:pt x="481965" y="131572"/>
                  </a:lnTo>
                  <a:lnTo>
                    <a:pt x="462457" y="173228"/>
                  </a:lnTo>
                  <a:lnTo>
                    <a:pt x="436499" y="118745"/>
                  </a:lnTo>
                  <a:lnTo>
                    <a:pt x="433197" y="111887"/>
                  </a:lnTo>
                  <a:lnTo>
                    <a:pt x="424688" y="108839"/>
                  </a:lnTo>
                  <a:lnTo>
                    <a:pt x="417576" y="112141"/>
                  </a:lnTo>
                  <a:lnTo>
                    <a:pt x="410464" y="115570"/>
                  </a:lnTo>
                  <a:lnTo>
                    <a:pt x="407416" y="124079"/>
                  </a:lnTo>
                  <a:lnTo>
                    <a:pt x="410718" y="131191"/>
                  </a:lnTo>
                  <a:lnTo>
                    <a:pt x="451586" y="217043"/>
                  </a:lnTo>
                  <a:lnTo>
                    <a:pt x="451104" y="220345"/>
                  </a:lnTo>
                  <a:lnTo>
                    <a:pt x="456438" y="227584"/>
                  </a:lnTo>
                  <a:lnTo>
                    <a:pt x="456628" y="227622"/>
                  </a:lnTo>
                  <a:lnTo>
                    <a:pt x="463931" y="242951"/>
                  </a:lnTo>
                  <a:lnTo>
                    <a:pt x="473011" y="229997"/>
                  </a:lnTo>
                  <a:lnTo>
                    <a:pt x="474040" y="228536"/>
                  </a:lnTo>
                  <a:lnTo>
                    <a:pt x="479958" y="220091"/>
                  </a:lnTo>
                  <a:lnTo>
                    <a:pt x="539623" y="135128"/>
                  </a:lnTo>
                  <a:lnTo>
                    <a:pt x="537972" y="126238"/>
                  </a:lnTo>
                  <a:lnTo>
                    <a:pt x="531495" y="121793"/>
                  </a:lnTo>
                  <a:lnTo>
                    <a:pt x="526034" y="117957"/>
                  </a:lnTo>
                  <a:lnTo>
                    <a:pt x="560832" y="81661"/>
                  </a:lnTo>
                  <a:lnTo>
                    <a:pt x="595630" y="56896"/>
                  </a:lnTo>
                  <a:lnTo>
                    <a:pt x="633603" y="39243"/>
                  </a:lnTo>
                  <a:lnTo>
                    <a:pt x="672592" y="29845"/>
                  </a:lnTo>
                  <a:lnTo>
                    <a:pt x="692150" y="28575"/>
                  </a:lnTo>
                  <a:lnTo>
                    <a:pt x="701929" y="28829"/>
                  </a:lnTo>
                  <a:lnTo>
                    <a:pt x="741299" y="35814"/>
                  </a:lnTo>
                  <a:lnTo>
                    <a:pt x="788543" y="56261"/>
                  </a:lnTo>
                  <a:lnTo>
                    <a:pt x="823468" y="80899"/>
                  </a:lnTo>
                  <a:lnTo>
                    <a:pt x="853821" y="111125"/>
                  </a:lnTo>
                  <a:lnTo>
                    <a:pt x="878586" y="145923"/>
                  </a:lnTo>
                  <a:lnTo>
                    <a:pt x="896239" y="183896"/>
                  </a:lnTo>
                  <a:lnTo>
                    <a:pt x="905637" y="222885"/>
                  </a:lnTo>
                  <a:lnTo>
                    <a:pt x="906907" y="242443"/>
                  </a:lnTo>
                  <a:lnTo>
                    <a:pt x="906653" y="252222"/>
                  </a:lnTo>
                  <a:lnTo>
                    <a:pt x="899668" y="291592"/>
                  </a:lnTo>
                  <a:lnTo>
                    <a:pt x="879221" y="338836"/>
                  </a:lnTo>
                  <a:lnTo>
                    <a:pt x="854583" y="373761"/>
                  </a:lnTo>
                  <a:lnTo>
                    <a:pt x="824357" y="404114"/>
                  </a:lnTo>
                  <a:lnTo>
                    <a:pt x="789559" y="428879"/>
                  </a:lnTo>
                  <a:lnTo>
                    <a:pt x="751586" y="446532"/>
                  </a:lnTo>
                  <a:lnTo>
                    <a:pt x="712597" y="455930"/>
                  </a:lnTo>
                  <a:lnTo>
                    <a:pt x="684276" y="457454"/>
                  </a:lnTo>
                  <a:lnTo>
                    <a:pt x="678053" y="463931"/>
                  </a:lnTo>
                  <a:lnTo>
                    <a:pt x="678561" y="479806"/>
                  </a:lnTo>
                  <a:lnTo>
                    <a:pt x="685038" y="486029"/>
                  </a:lnTo>
                  <a:lnTo>
                    <a:pt x="703707" y="485521"/>
                  </a:lnTo>
                  <a:lnTo>
                    <a:pt x="749427" y="477393"/>
                  </a:lnTo>
                  <a:lnTo>
                    <a:pt x="802894" y="454152"/>
                  </a:lnTo>
                  <a:lnTo>
                    <a:pt x="841883" y="426720"/>
                  </a:lnTo>
                  <a:lnTo>
                    <a:pt x="875665" y="393065"/>
                  </a:lnTo>
                  <a:lnTo>
                    <a:pt x="903224" y="354203"/>
                  </a:lnTo>
                  <a:lnTo>
                    <a:pt x="923036" y="311785"/>
                  </a:lnTo>
                  <a:lnTo>
                    <a:pt x="933958" y="266446"/>
                  </a:lnTo>
                  <a:lnTo>
                    <a:pt x="935101" y="254889"/>
                  </a:lnTo>
                  <a:lnTo>
                    <a:pt x="935482" y="243332"/>
                  </a:lnTo>
                  <a:close/>
                </a:path>
                <a:path w="1336675" h="1486535">
                  <a:moveTo>
                    <a:pt x="1226566" y="1290701"/>
                  </a:moveTo>
                  <a:lnTo>
                    <a:pt x="1212697" y="1281074"/>
                  </a:lnTo>
                  <a:lnTo>
                    <a:pt x="1207389" y="1274826"/>
                  </a:lnTo>
                  <a:lnTo>
                    <a:pt x="1203236" y="1274495"/>
                  </a:lnTo>
                  <a:lnTo>
                    <a:pt x="1118489" y="1215644"/>
                  </a:lnTo>
                  <a:lnTo>
                    <a:pt x="1109599" y="1217295"/>
                  </a:lnTo>
                  <a:lnTo>
                    <a:pt x="1105027" y="1223772"/>
                  </a:lnTo>
                  <a:lnTo>
                    <a:pt x="1100582" y="1230249"/>
                  </a:lnTo>
                  <a:lnTo>
                    <a:pt x="1102233" y="1239139"/>
                  </a:lnTo>
                  <a:lnTo>
                    <a:pt x="1146810" y="1270063"/>
                  </a:lnTo>
                  <a:lnTo>
                    <a:pt x="247650" y="1199515"/>
                  </a:lnTo>
                  <a:lnTo>
                    <a:pt x="240792" y="1205484"/>
                  </a:lnTo>
                  <a:lnTo>
                    <a:pt x="239522" y="1221232"/>
                  </a:lnTo>
                  <a:lnTo>
                    <a:pt x="245491" y="1228090"/>
                  </a:lnTo>
                  <a:lnTo>
                    <a:pt x="1144651" y="1298524"/>
                  </a:lnTo>
                  <a:lnTo>
                    <a:pt x="1095629" y="1322197"/>
                  </a:lnTo>
                  <a:lnTo>
                    <a:pt x="1092708" y="1330706"/>
                  </a:lnTo>
                  <a:lnTo>
                    <a:pt x="1099566" y="1344930"/>
                  </a:lnTo>
                  <a:lnTo>
                    <a:pt x="1108075" y="1347851"/>
                  </a:lnTo>
                  <a:lnTo>
                    <a:pt x="1201153" y="1302956"/>
                  </a:lnTo>
                  <a:lnTo>
                    <a:pt x="1205103" y="1303274"/>
                  </a:lnTo>
                  <a:lnTo>
                    <a:pt x="1211110" y="1298155"/>
                  </a:lnTo>
                  <a:lnTo>
                    <a:pt x="1226566" y="1290701"/>
                  </a:lnTo>
                  <a:close/>
                </a:path>
                <a:path w="1336675" h="1486535">
                  <a:moveTo>
                    <a:pt x="1336675" y="1464818"/>
                  </a:moveTo>
                  <a:lnTo>
                    <a:pt x="1330833" y="1457960"/>
                  </a:lnTo>
                  <a:lnTo>
                    <a:pt x="431533" y="1387538"/>
                  </a:lnTo>
                  <a:lnTo>
                    <a:pt x="480568" y="1363853"/>
                  </a:lnTo>
                  <a:lnTo>
                    <a:pt x="483616" y="1355344"/>
                  </a:lnTo>
                  <a:lnTo>
                    <a:pt x="476758" y="1341120"/>
                  </a:lnTo>
                  <a:lnTo>
                    <a:pt x="468122" y="1338199"/>
                  </a:lnTo>
                  <a:lnTo>
                    <a:pt x="375031" y="1383106"/>
                  </a:lnTo>
                  <a:lnTo>
                    <a:pt x="371094" y="1382776"/>
                  </a:lnTo>
                  <a:lnTo>
                    <a:pt x="365074" y="1387906"/>
                  </a:lnTo>
                  <a:lnTo>
                    <a:pt x="349631" y="1395349"/>
                  </a:lnTo>
                  <a:lnTo>
                    <a:pt x="363766" y="1405178"/>
                  </a:lnTo>
                  <a:lnTo>
                    <a:pt x="368935" y="1411224"/>
                  </a:lnTo>
                  <a:lnTo>
                    <a:pt x="372960" y="1411554"/>
                  </a:lnTo>
                  <a:lnTo>
                    <a:pt x="457835" y="1470406"/>
                  </a:lnTo>
                  <a:lnTo>
                    <a:pt x="466725" y="1468755"/>
                  </a:lnTo>
                  <a:lnTo>
                    <a:pt x="471170" y="1462278"/>
                  </a:lnTo>
                  <a:lnTo>
                    <a:pt x="475742" y="1455801"/>
                  </a:lnTo>
                  <a:lnTo>
                    <a:pt x="474091" y="1446911"/>
                  </a:lnTo>
                  <a:lnTo>
                    <a:pt x="429501" y="1415999"/>
                  </a:lnTo>
                  <a:lnTo>
                    <a:pt x="1328547" y="1486535"/>
                  </a:lnTo>
                  <a:lnTo>
                    <a:pt x="1335405" y="1480566"/>
                  </a:lnTo>
                  <a:lnTo>
                    <a:pt x="1336675" y="14648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3974" y="1409636"/>
              <a:ext cx="566737" cy="56673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5874" y="1362011"/>
              <a:ext cx="633412" cy="73818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91124" y="14382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26126" y="1460436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791075" y="2200211"/>
            <a:ext cx="643255" cy="738505"/>
            <a:chOff x="4791075" y="2200211"/>
            <a:chExt cx="643255" cy="73850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9175" y="2247836"/>
              <a:ext cx="566737" cy="56673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1075" y="2200211"/>
              <a:ext cx="642937" cy="73818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886325" y="22764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20945" y="2299906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38850" y="2276411"/>
            <a:ext cx="738505" cy="738505"/>
            <a:chOff x="6038850" y="2276411"/>
            <a:chExt cx="738505" cy="73850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4575" y="2324036"/>
              <a:ext cx="566737" cy="56673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8850" y="2276411"/>
              <a:ext cx="738187" cy="73818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81725" y="23526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266815" y="2376106"/>
            <a:ext cx="297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6861809" y="1367379"/>
          <a:ext cx="2209800" cy="14151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4950" algn="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7490" algn="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74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74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833437" y="4834001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200" y="1142936"/>
                </a:moveTo>
                <a:lnTo>
                  <a:pt x="46537" y="1136948"/>
                </a:lnTo>
                <a:lnTo>
                  <a:pt x="22317" y="1120619"/>
                </a:lnTo>
                <a:lnTo>
                  <a:pt x="5987" y="1096398"/>
                </a:lnTo>
                <a:lnTo>
                  <a:pt x="0" y="1066736"/>
                </a:lnTo>
                <a:lnTo>
                  <a:pt x="0" y="76200"/>
                </a:lnTo>
                <a:lnTo>
                  <a:pt x="5987" y="46505"/>
                </a:lnTo>
                <a:lnTo>
                  <a:pt x="22317" y="22288"/>
                </a:lnTo>
                <a:lnTo>
                  <a:pt x="46537" y="5976"/>
                </a:lnTo>
                <a:lnTo>
                  <a:pt x="76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214437" y="4834001"/>
            <a:ext cx="76835" cy="1143000"/>
          </a:xfrm>
          <a:custGeom>
            <a:avLst/>
            <a:gdLst/>
            <a:ahLst/>
            <a:cxnLst/>
            <a:rect l="l" t="t" r="r" b="b"/>
            <a:pathLst>
              <a:path w="76834" h="1143000">
                <a:moveTo>
                  <a:pt x="0" y="0"/>
                </a:moveTo>
                <a:lnTo>
                  <a:pt x="29671" y="5976"/>
                </a:lnTo>
                <a:lnTo>
                  <a:pt x="53914" y="22288"/>
                </a:lnTo>
                <a:lnTo>
                  <a:pt x="70265" y="46505"/>
                </a:lnTo>
                <a:lnTo>
                  <a:pt x="76263" y="76200"/>
                </a:lnTo>
                <a:lnTo>
                  <a:pt x="76263" y="1066736"/>
                </a:lnTo>
                <a:lnTo>
                  <a:pt x="70265" y="1096398"/>
                </a:lnTo>
                <a:lnTo>
                  <a:pt x="53914" y="1120619"/>
                </a:lnTo>
                <a:lnTo>
                  <a:pt x="29671" y="1136948"/>
                </a:lnTo>
                <a:lnTo>
                  <a:pt x="0" y="11429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367279" y="6008370"/>
            <a:ext cx="1900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Iteration 0, 1, 2,</a:t>
            </a:r>
            <a:r>
              <a:rPr sz="1800" spc="8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71106" y="3027109"/>
            <a:ext cx="1783080" cy="11220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 marR="30480">
              <a:lnSpc>
                <a:spcPct val="120500"/>
              </a:lnSpc>
              <a:spcBef>
                <a:spcPts val="50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25" dirty="0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+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 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025" b="1" spc="51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25" dirty="0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+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m 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m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025" b="1" spc="262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200400" y="4800600"/>
            <a:ext cx="533400" cy="1171575"/>
          </a:xfrm>
          <a:custGeom>
            <a:avLst/>
            <a:gdLst/>
            <a:ahLst/>
            <a:cxnLst/>
            <a:rect l="l" t="t" r="r" b="b"/>
            <a:pathLst>
              <a:path w="533400" h="1171575">
                <a:moveTo>
                  <a:pt x="533400" y="0"/>
                </a:moveTo>
                <a:lnTo>
                  <a:pt x="0" y="0"/>
                </a:lnTo>
                <a:lnTo>
                  <a:pt x="0" y="1171575"/>
                </a:lnTo>
                <a:lnTo>
                  <a:pt x="533400" y="1171575"/>
                </a:lnTo>
                <a:lnTo>
                  <a:pt x="533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038600" y="4800600"/>
            <a:ext cx="847725" cy="1171575"/>
          </a:xfrm>
          <a:custGeom>
            <a:avLst/>
            <a:gdLst/>
            <a:ahLst/>
            <a:cxnLst/>
            <a:rect l="l" t="t" r="r" b="b"/>
            <a:pathLst>
              <a:path w="847725" h="1171575">
                <a:moveTo>
                  <a:pt x="847725" y="0"/>
                </a:moveTo>
                <a:lnTo>
                  <a:pt x="0" y="0"/>
                </a:lnTo>
                <a:lnTo>
                  <a:pt x="0" y="1171575"/>
                </a:lnTo>
                <a:lnTo>
                  <a:pt x="847725" y="1171575"/>
                </a:lnTo>
                <a:lnTo>
                  <a:pt x="8477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72050" y="4810125"/>
            <a:ext cx="847725" cy="1171575"/>
          </a:xfrm>
          <a:custGeom>
            <a:avLst/>
            <a:gdLst/>
            <a:ahLst/>
            <a:cxnLst/>
            <a:rect l="l" t="t" r="r" b="b"/>
            <a:pathLst>
              <a:path w="847725" h="1171575">
                <a:moveTo>
                  <a:pt x="847725" y="0"/>
                </a:moveTo>
                <a:lnTo>
                  <a:pt x="0" y="0"/>
                </a:lnTo>
                <a:lnTo>
                  <a:pt x="0" y="1171575"/>
                </a:lnTo>
                <a:lnTo>
                  <a:pt x="847725" y="1171575"/>
                </a:lnTo>
                <a:lnTo>
                  <a:pt x="8477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19800" y="4724400"/>
            <a:ext cx="1609725" cy="1171575"/>
          </a:xfrm>
          <a:custGeom>
            <a:avLst/>
            <a:gdLst/>
            <a:ahLst/>
            <a:cxnLst/>
            <a:rect l="l" t="t" r="r" b="b"/>
            <a:pathLst>
              <a:path w="1609725" h="1171575">
                <a:moveTo>
                  <a:pt x="1609725" y="0"/>
                </a:moveTo>
                <a:lnTo>
                  <a:pt x="0" y="0"/>
                </a:lnTo>
                <a:lnTo>
                  <a:pt x="0" y="1171575"/>
                </a:lnTo>
                <a:lnTo>
                  <a:pt x="1609725" y="1171575"/>
                </a:lnTo>
                <a:lnTo>
                  <a:pt x="16097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277876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dirty="0">
                <a:solidFill>
                  <a:srgbClr val="008000"/>
                </a:solidFill>
                <a:latin typeface="Calibri"/>
                <a:cs typeface="Calibri"/>
              </a:rPr>
              <a:t>Power</a:t>
            </a:r>
            <a:r>
              <a:rPr b="1" spc="-1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8000"/>
                </a:solidFill>
                <a:latin typeface="Calibri"/>
                <a:cs typeface="Calibri"/>
              </a:rPr>
              <a:t>Iteration: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2180" y="1948180"/>
            <a:ext cx="21209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4325" indent="-276860">
              <a:lnSpc>
                <a:spcPct val="100000"/>
              </a:lnSpc>
              <a:spcBef>
                <a:spcPts val="130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spc="-5" dirty="0">
                <a:latin typeface="Calibri"/>
                <a:cs typeface="Calibri"/>
              </a:rPr>
              <a:t>Set </a:t>
            </a:r>
            <a:r>
              <a:rPr sz="2750" spc="-130" dirty="0">
                <a:latin typeface="Cambria Math"/>
                <a:cs typeface="Cambria Math"/>
              </a:rPr>
              <a:t>𝑟</a:t>
            </a:r>
            <a:r>
              <a:rPr sz="3000" spc="-195" baseline="-16666" dirty="0">
                <a:latin typeface="Cambria Math"/>
                <a:cs typeface="Cambria Math"/>
              </a:rPr>
              <a:t>𝑗 </a:t>
            </a:r>
            <a:r>
              <a:rPr sz="2750" spc="20" dirty="0">
                <a:latin typeface="Cambria Math"/>
                <a:cs typeface="Cambria Math"/>
              </a:rPr>
              <a:t>=</a:t>
            </a:r>
            <a:r>
              <a:rPr sz="2750" spc="190" dirty="0">
                <a:latin typeface="Cambria Math"/>
                <a:cs typeface="Cambria Math"/>
              </a:rPr>
              <a:t> </a:t>
            </a:r>
            <a:r>
              <a:rPr sz="2750" spc="-15" dirty="0">
                <a:latin typeface="Cambria Math"/>
                <a:cs typeface="Cambria Math"/>
              </a:rPr>
              <a:t>1</a:t>
            </a:r>
            <a:r>
              <a:rPr sz="2750" i="1" spc="-15" dirty="0">
                <a:latin typeface="Times New Roman"/>
                <a:cs typeface="Times New Roman"/>
              </a:rPr>
              <a:t>/N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7580" y="2578036"/>
            <a:ext cx="175387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125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  <a:tab pos="1118235" algn="l"/>
              </a:tabLst>
            </a:pPr>
            <a:r>
              <a:rPr sz="2750" b="1" spc="15" dirty="0">
                <a:latin typeface="Calibri"/>
                <a:cs typeface="Calibri"/>
              </a:rPr>
              <a:t>1:</a:t>
            </a:r>
            <a:r>
              <a:rPr sz="2750" b="1" spc="35" dirty="0">
                <a:latin typeface="Calibri"/>
                <a:cs typeface="Calibri"/>
              </a:rPr>
              <a:t> </a:t>
            </a:r>
            <a:r>
              <a:rPr sz="2750" spc="15" dirty="0">
                <a:latin typeface="Cambria Math"/>
                <a:cs typeface="Cambria Math"/>
              </a:rPr>
              <a:t>𝑟′	</a:t>
            </a:r>
            <a:r>
              <a:rPr sz="2750" spc="20" dirty="0">
                <a:latin typeface="Cambria Math"/>
                <a:cs typeface="Cambria Math"/>
              </a:rPr>
              <a:t>=</a:t>
            </a:r>
            <a:r>
              <a:rPr sz="2750" spc="160" dirty="0">
                <a:latin typeface="Cambria Math"/>
                <a:cs typeface="Cambria Math"/>
              </a:rPr>
              <a:t> </a:t>
            </a:r>
            <a:r>
              <a:rPr sz="4125" spc="592" baseline="1010" dirty="0">
                <a:latin typeface="Cambria Math"/>
                <a:cs typeface="Cambria Math"/>
              </a:rPr>
              <a:t>σ</a:t>
            </a:r>
            <a:endParaRPr sz="4125" baseline="101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98114" y="2834639"/>
            <a:ext cx="257175" cy="19050"/>
          </a:xfrm>
          <a:custGeom>
            <a:avLst/>
            <a:gdLst/>
            <a:ahLst/>
            <a:cxnLst/>
            <a:rect l="l" t="t" r="r" b="b"/>
            <a:pathLst>
              <a:path w="257175" h="19050">
                <a:moveTo>
                  <a:pt x="257175" y="0"/>
                </a:moveTo>
                <a:lnTo>
                  <a:pt x="0" y="0"/>
                </a:lnTo>
                <a:lnTo>
                  <a:pt x="0" y="19050"/>
                </a:lnTo>
                <a:lnTo>
                  <a:pt x="257175" y="19050"/>
                </a:lnTo>
                <a:lnTo>
                  <a:pt x="257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82366" y="2463482"/>
            <a:ext cx="2889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95" dirty="0">
                <a:latin typeface="Cambria Math"/>
                <a:cs typeface="Cambria Math"/>
              </a:rPr>
              <a:t>𝑟</a:t>
            </a:r>
            <a:r>
              <a:rPr sz="2475" spc="142" baseline="-15151" dirty="0">
                <a:latin typeface="Cambria Math"/>
                <a:cs typeface="Cambria Math"/>
              </a:rPr>
              <a:t>𝑖</a:t>
            </a:r>
            <a:endParaRPr sz="2475" baseline="-15151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8110" y="2759011"/>
            <a:ext cx="8229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155" dirty="0">
                <a:latin typeface="Cambria Math"/>
                <a:cs typeface="Cambria Math"/>
              </a:rPr>
              <a:t>𝑖→𝑗</a:t>
            </a:r>
            <a:r>
              <a:rPr sz="2000" spc="-30" dirty="0">
                <a:latin typeface="Cambria Math"/>
                <a:cs typeface="Cambria Math"/>
              </a:rPr>
              <a:t> </a:t>
            </a:r>
            <a:r>
              <a:rPr sz="3000" spc="157" baseline="-20833" dirty="0">
                <a:latin typeface="Cambria Math"/>
                <a:cs typeface="Cambria Math"/>
              </a:rPr>
              <a:t>𝑑</a:t>
            </a:r>
            <a:r>
              <a:rPr sz="2475" spc="157" baseline="-40404" dirty="0">
                <a:latin typeface="Cambria Math"/>
                <a:cs typeface="Cambria Math"/>
              </a:rPr>
              <a:t>𝑖</a:t>
            </a:r>
            <a:endParaRPr sz="2475" baseline="-40404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062" y="4288535"/>
            <a:ext cx="323850" cy="40068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38530" y="2619916"/>
            <a:ext cx="1589405" cy="206883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349885" algn="ctr">
              <a:lnSpc>
                <a:spcPct val="100000"/>
              </a:lnSpc>
              <a:spcBef>
                <a:spcPts val="1145"/>
              </a:spcBef>
            </a:pPr>
            <a:r>
              <a:rPr sz="2000" spc="229" dirty="0">
                <a:latin typeface="Cambria Math"/>
                <a:cs typeface="Cambria Math"/>
              </a:rPr>
              <a:t>𝑗</a:t>
            </a:r>
            <a:endParaRPr sz="2000">
              <a:latin typeface="Cambria Math"/>
              <a:cs typeface="Cambria Math"/>
            </a:endParaRPr>
          </a:p>
          <a:p>
            <a:pPr marL="307975" indent="-276860">
              <a:lnSpc>
                <a:spcPct val="100000"/>
              </a:lnSpc>
              <a:spcBef>
                <a:spcPts val="143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spc="15" dirty="0">
                <a:latin typeface="Calibri"/>
                <a:cs typeface="Calibri"/>
              </a:rPr>
              <a:t>2: </a:t>
            </a:r>
            <a:r>
              <a:rPr sz="2750" spc="10" dirty="0">
                <a:latin typeface="Cambria Math"/>
                <a:cs typeface="Cambria Math"/>
              </a:rPr>
              <a:t>𝑟 </a:t>
            </a:r>
            <a:r>
              <a:rPr sz="2750" spc="20" dirty="0">
                <a:latin typeface="Cambria Math"/>
                <a:cs typeface="Cambria Math"/>
              </a:rPr>
              <a:t>=</a:t>
            </a:r>
            <a:r>
              <a:rPr sz="2750" spc="350" dirty="0">
                <a:latin typeface="Cambria Math"/>
                <a:cs typeface="Cambria Math"/>
              </a:rPr>
              <a:t> </a:t>
            </a:r>
            <a:r>
              <a:rPr sz="2750" spc="30" dirty="0">
                <a:latin typeface="Cambria Math"/>
                <a:cs typeface="Cambria Math"/>
              </a:rPr>
              <a:t>𝑟′</a:t>
            </a:r>
            <a:endParaRPr sz="2750">
              <a:latin typeface="Cambria Math"/>
              <a:cs typeface="Cambria Math"/>
            </a:endParaRPr>
          </a:p>
          <a:p>
            <a:pPr marL="30797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5" dirty="0">
                <a:latin typeface="Calibri"/>
                <a:cs typeface="Calibri"/>
              </a:rPr>
              <a:t>Goto</a:t>
            </a:r>
            <a:r>
              <a:rPr sz="2750" spc="-75" dirty="0">
                <a:latin typeface="Calibri"/>
                <a:cs typeface="Calibri"/>
              </a:rPr>
              <a:t> </a:t>
            </a:r>
            <a:r>
              <a:rPr sz="2750" b="1" spc="10" dirty="0">
                <a:latin typeface="Calibri"/>
                <a:cs typeface="Calibri"/>
              </a:rPr>
              <a:t>1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19480" y="4808105"/>
          <a:ext cx="6577963" cy="1145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1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67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45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7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1295">
                <a:tc>
                  <a:txBody>
                    <a:bodyPr/>
                    <a:lstStyle/>
                    <a:p>
                      <a:pPr marL="31750">
                        <a:lnSpc>
                          <a:spcPts val="2620"/>
                        </a:lnSpc>
                      </a:pPr>
                      <a:r>
                        <a:rPr sz="24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spc="22" baseline="-19713" dirty="0">
                          <a:latin typeface="Times New Roman"/>
                          <a:cs typeface="Times New Roman"/>
                        </a:rPr>
                        <a:t>y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0" algn="r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5/12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9/24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6/15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334">
                <a:tc>
                  <a:txBody>
                    <a:bodyPr/>
                    <a:lstStyle/>
                    <a:p>
                      <a:pPr marL="31750">
                        <a:lnSpc>
                          <a:spcPts val="2695"/>
                        </a:lnSpc>
                      </a:pPr>
                      <a:r>
                        <a:rPr sz="24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spc="22" baseline="-19713" dirty="0">
                          <a:latin typeface="Times New Roman"/>
                          <a:cs typeface="Times New Roman"/>
                        </a:rPr>
                        <a:t>a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0" algn="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3/6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695"/>
                        </a:lnSpc>
                      </a:pP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11/24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6/15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545">
                <a:tc>
                  <a:txBody>
                    <a:bodyPr/>
                    <a:lstStyle/>
                    <a:p>
                      <a:pPr marL="31750">
                        <a:lnSpc>
                          <a:spcPts val="2545"/>
                        </a:lnSpc>
                      </a:pPr>
                      <a:r>
                        <a:rPr sz="2400" spc="2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spc="30" baseline="-19713" dirty="0">
                          <a:latin typeface="Times New Roman"/>
                          <a:cs typeface="Times New Roman"/>
                        </a:rPr>
                        <a:t>m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0" algn="r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3/12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4960492" y="1200150"/>
            <a:ext cx="1336675" cy="1486535"/>
            <a:chOff x="4960492" y="1200150"/>
            <a:chExt cx="1336675" cy="1486535"/>
          </a:xfrm>
        </p:grpSpPr>
        <p:sp>
          <p:nvSpPr>
            <p:cNvPr id="12" name="object 12"/>
            <p:cNvSpPr/>
            <p:nvPr/>
          </p:nvSpPr>
          <p:spPr>
            <a:xfrm>
              <a:off x="4960493" y="1200149"/>
              <a:ext cx="1336675" cy="1486535"/>
            </a:xfrm>
            <a:custGeom>
              <a:avLst/>
              <a:gdLst/>
              <a:ahLst/>
              <a:cxnLst/>
              <a:rect l="l" t="t" r="r" b="b"/>
              <a:pathLst>
                <a:path w="1336675" h="1486535">
                  <a:moveTo>
                    <a:pt x="273596" y="1091539"/>
                  </a:moveTo>
                  <a:lnTo>
                    <a:pt x="271653" y="1094867"/>
                  </a:lnTo>
                  <a:lnTo>
                    <a:pt x="273532" y="1102525"/>
                  </a:lnTo>
                  <a:lnTo>
                    <a:pt x="273596" y="1091539"/>
                  </a:lnTo>
                  <a:close/>
                </a:path>
                <a:path w="1336675" h="1486535">
                  <a:moveTo>
                    <a:pt x="322961" y="686816"/>
                  </a:moveTo>
                  <a:lnTo>
                    <a:pt x="321068" y="679170"/>
                  </a:lnTo>
                  <a:lnTo>
                    <a:pt x="321132" y="670052"/>
                  </a:lnTo>
                  <a:lnTo>
                    <a:pt x="321183" y="661924"/>
                  </a:lnTo>
                  <a:lnTo>
                    <a:pt x="306095" y="670331"/>
                  </a:lnTo>
                  <a:lnTo>
                    <a:pt x="298450" y="672211"/>
                  </a:lnTo>
                  <a:lnTo>
                    <a:pt x="296341" y="675754"/>
                  </a:lnTo>
                  <a:lnTo>
                    <a:pt x="213106" y="722122"/>
                  </a:lnTo>
                  <a:lnTo>
                    <a:pt x="206121" y="725932"/>
                  </a:lnTo>
                  <a:lnTo>
                    <a:pt x="203708" y="734695"/>
                  </a:lnTo>
                  <a:lnTo>
                    <a:pt x="207518" y="741553"/>
                  </a:lnTo>
                  <a:lnTo>
                    <a:pt x="211328" y="748538"/>
                  </a:lnTo>
                  <a:lnTo>
                    <a:pt x="220091" y="750951"/>
                  </a:lnTo>
                  <a:lnTo>
                    <a:pt x="267487" y="724522"/>
                  </a:lnTo>
                  <a:lnTo>
                    <a:pt x="4064" y="1169670"/>
                  </a:lnTo>
                  <a:lnTo>
                    <a:pt x="0" y="1176401"/>
                  </a:lnTo>
                  <a:lnTo>
                    <a:pt x="2286" y="1185164"/>
                  </a:lnTo>
                  <a:lnTo>
                    <a:pt x="9017" y="1189228"/>
                  </a:lnTo>
                  <a:lnTo>
                    <a:pt x="15875" y="1193165"/>
                  </a:lnTo>
                  <a:lnTo>
                    <a:pt x="24638" y="1191006"/>
                  </a:lnTo>
                  <a:lnTo>
                    <a:pt x="28575" y="1184148"/>
                  </a:lnTo>
                  <a:lnTo>
                    <a:pt x="292138" y="738962"/>
                  </a:lnTo>
                  <a:lnTo>
                    <a:pt x="291846" y="785495"/>
                  </a:lnTo>
                  <a:lnTo>
                    <a:pt x="291833" y="793496"/>
                  </a:lnTo>
                  <a:lnTo>
                    <a:pt x="298069" y="799846"/>
                  </a:lnTo>
                  <a:lnTo>
                    <a:pt x="305943" y="799846"/>
                  </a:lnTo>
                  <a:lnTo>
                    <a:pt x="313817" y="799973"/>
                  </a:lnTo>
                  <a:lnTo>
                    <a:pt x="320294" y="793496"/>
                  </a:lnTo>
                  <a:lnTo>
                    <a:pt x="320421" y="785495"/>
                  </a:lnTo>
                  <a:lnTo>
                    <a:pt x="321005" y="690156"/>
                  </a:lnTo>
                  <a:lnTo>
                    <a:pt x="322961" y="686816"/>
                  </a:lnTo>
                  <a:close/>
                </a:path>
                <a:path w="1336675" h="1486535">
                  <a:moveTo>
                    <a:pt x="479958" y="220116"/>
                  </a:moveTo>
                  <a:lnTo>
                    <a:pt x="474040" y="228536"/>
                  </a:lnTo>
                  <a:lnTo>
                    <a:pt x="479298" y="224663"/>
                  </a:lnTo>
                  <a:lnTo>
                    <a:pt x="479958" y="220116"/>
                  </a:lnTo>
                  <a:close/>
                </a:path>
                <a:path w="1336675" h="1486535">
                  <a:moveTo>
                    <a:pt x="594614" y="605282"/>
                  </a:moveTo>
                  <a:lnTo>
                    <a:pt x="592328" y="596519"/>
                  </a:lnTo>
                  <a:lnTo>
                    <a:pt x="578739" y="588518"/>
                  </a:lnTo>
                  <a:lnTo>
                    <a:pt x="569976" y="590804"/>
                  </a:lnTo>
                  <a:lnTo>
                    <a:pt x="566039" y="597535"/>
                  </a:lnTo>
                  <a:lnTo>
                    <a:pt x="302463" y="1042733"/>
                  </a:lnTo>
                  <a:lnTo>
                    <a:pt x="302768" y="996315"/>
                  </a:lnTo>
                  <a:lnTo>
                    <a:pt x="302768" y="988187"/>
                  </a:lnTo>
                  <a:lnTo>
                    <a:pt x="296545" y="981964"/>
                  </a:lnTo>
                  <a:lnTo>
                    <a:pt x="288671" y="981837"/>
                  </a:lnTo>
                  <a:lnTo>
                    <a:pt x="280797" y="981837"/>
                  </a:lnTo>
                  <a:lnTo>
                    <a:pt x="274320" y="988187"/>
                  </a:lnTo>
                  <a:lnTo>
                    <a:pt x="274180" y="996315"/>
                  </a:lnTo>
                  <a:lnTo>
                    <a:pt x="273596" y="1091539"/>
                  </a:lnTo>
                  <a:lnTo>
                    <a:pt x="273583" y="1102728"/>
                  </a:lnTo>
                  <a:lnTo>
                    <a:pt x="273532" y="1102525"/>
                  </a:lnTo>
                  <a:lnTo>
                    <a:pt x="273431" y="1119759"/>
                  </a:lnTo>
                  <a:lnTo>
                    <a:pt x="287794" y="1111758"/>
                  </a:lnTo>
                  <a:lnTo>
                    <a:pt x="288137" y="1111567"/>
                  </a:lnTo>
                  <a:lnTo>
                    <a:pt x="296164" y="1109472"/>
                  </a:lnTo>
                  <a:lnTo>
                    <a:pt x="298323" y="1105903"/>
                  </a:lnTo>
                  <a:lnTo>
                    <a:pt x="381508" y="1059561"/>
                  </a:lnTo>
                  <a:lnTo>
                    <a:pt x="388493" y="1055751"/>
                  </a:lnTo>
                  <a:lnTo>
                    <a:pt x="390906" y="1046988"/>
                  </a:lnTo>
                  <a:lnTo>
                    <a:pt x="383286" y="1033272"/>
                  </a:lnTo>
                  <a:lnTo>
                    <a:pt x="374523" y="1030732"/>
                  </a:lnTo>
                  <a:lnTo>
                    <a:pt x="367665" y="1034669"/>
                  </a:lnTo>
                  <a:lnTo>
                    <a:pt x="327177" y="1057198"/>
                  </a:lnTo>
                  <a:lnTo>
                    <a:pt x="594614" y="605282"/>
                  </a:lnTo>
                  <a:close/>
                </a:path>
                <a:path w="1336675" h="1486535">
                  <a:moveTo>
                    <a:pt x="935482" y="243332"/>
                  </a:moveTo>
                  <a:lnTo>
                    <a:pt x="930021" y="197358"/>
                  </a:lnTo>
                  <a:lnTo>
                    <a:pt x="914781" y="153543"/>
                  </a:lnTo>
                  <a:lnTo>
                    <a:pt x="891032" y="112522"/>
                  </a:lnTo>
                  <a:lnTo>
                    <a:pt x="860298" y="76073"/>
                  </a:lnTo>
                  <a:lnTo>
                    <a:pt x="823976" y="45212"/>
                  </a:lnTo>
                  <a:lnTo>
                    <a:pt x="797001" y="28575"/>
                  </a:lnTo>
                  <a:lnTo>
                    <a:pt x="783209" y="21209"/>
                  </a:lnTo>
                  <a:lnTo>
                    <a:pt x="738886" y="5588"/>
                  </a:lnTo>
                  <a:lnTo>
                    <a:pt x="693039" y="0"/>
                  </a:lnTo>
                  <a:lnTo>
                    <a:pt x="681482" y="254"/>
                  </a:lnTo>
                  <a:lnTo>
                    <a:pt x="635762" y="8382"/>
                  </a:lnTo>
                  <a:lnTo>
                    <a:pt x="582295" y="31623"/>
                  </a:lnTo>
                  <a:lnTo>
                    <a:pt x="543306" y="59055"/>
                  </a:lnTo>
                  <a:lnTo>
                    <a:pt x="509524" y="92710"/>
                  </a:lnTo>
                  <a:lnTo>
                    <a:pt x="481965" y="131572"/>
                  </a:lnTo>
                  <a:lnTo>
                    <a:pt x="462457" y="173228"/>
                  </a:lnTo>
                  <a:lnTo>
                    <a:pt x="436499" y="118745"/>
                  </a:lnTo>
                  <a:lnTo>
                    <a:pt x="433197" y="111887"/>
                  </a:lnTo>
                  <a:lnTo>
                    <a:pt x="424688" y="108839"/>
                  </a:lnTo>
                  <a:lnTo>
                    <a:pt x="417576" y="112141"/>
                  </a:lnTo>
                  <a:lnTo>
                    <a:pt x="410464" y="115570"/>
                  </a:lnTo>
                  <a:lnTo>
                    <a:pt x="407416" y="124079"/>
                  </a:lnTo>
                  <a:lnTo>
                    <a:pt x="410718" y="131191"/>
                  </a:lnTo>
                  <a:lnTo>
                    <a:pt x="451586" y="217043"/>
                  </a:lnTo>
                  <a:lnTo>
                    <a:pt x="451104" y="220345"/>
                  </a:lnTo>
                  <a:lnTo>
                    <a:pt x="456438" y="227584"/>
                  </a:lnTo>
                  <a:lnTo>
                    <a:pt x="456628" y="227622"/>
                  </a:lnTo>
                  <a:lnTo>
                    <a:pt x="463931" y="242951"/>
                  </a:lnTo>
                  <a:lnTo>
                    <a:pt x="473011" y="229997"/>
                  </a:lnTo>
                  <a:lnTo>
                    <a:pt x="474040" y="228536"/>
                  </a:lnTo>
                  <a:lnTo>
                    <a:pt x="479958" y="220091"/>
                  </a:lnTo>
                  <a:lnTo>
                    <a:pt x="539623" y="135128"/>
                  </a:lnTo>
                  <a:lnTo>
                    <a:pt x="537972" y="126238"/>
                  </a:lnTo>
                  <a:lnTo>
                    <a:pt x="531495" y="121793"/>
                  </a:lnTo>
                  <a:lnTo>
                    <a:pt x="526034" y="117957"/>
                  </a:lnTo>
                  <a:lnTo>
                    <a:pt x="560832" y="81661"/>
                  </a:lnTo>
                  <a:lnTo>
                    <a:pt x="595630" y="56896"/>
                  </a:lnTo>
                  <a:lnTo>
                    <a:pt x="633603" y="39243"/>
                  </a:lnTo>
                  <a:lnTo>
                    <a:pt x="672592" y="29845"/>
                  </a:lnTo>
                  <a:lnTo>
                    <a:pt x="692150" y="28575"/>
                  </a:lnTo>
                  <a:lnTo>
                    <a:pt x="701929" y="28829"/>
                  </a:lnTo>
                  <a:lnTo>
                    <a:pt x="741299" y="35814"/>
                  </a:lnTo>
                  <a:lnTo>
                    <a:pt x="788543" y="56261"/>
                  </a:lnTo>
                  <a:lnTo>
                    <a:pt x="823468" y="80899"/>
                  </a:lnTo>
                  <a:lnTo>
                    <a:pt x="853821" y="111125"/>
                  </a:lnTo>
                  <a:lnTo>
                    <a:pt x="878586" y="145923"/>
                  </a:lnTo>
                  <a:lnTo>
                    <a:pt x="896239" y="183896"/>
                  </a:lnTo>
                  <a:lnTo>
                    <a:pt x="905637" y="222885"/>
                  </a:lnTo>
                  <a:lnTo>
                    <a:pt x="906907" y="242443"/>
                  </a:lnTo>
                  <a:lnTo>
                    <a:pt x="906653" y="252222"/>
                  </a:lnTo>
                  <a:lnTo>
                    <a:pt x="899668" y="291592"/>
                  </a:lnTo>
                  <a:lnTo>
                    <a:pt x="879221" y="338836"/>
                  </a:lnTo>
                  <a:lnTo>
                    <a:pt x="854583" y="373761"/>
                  </a:lnTo>
                  <a:lnTo>
                    <a:pt x="824357" y="404114"/>
                  </a:lnTo>
                  <a:lnTo>
                    <a:pt x="789559" y="428879"/>
                  </a:lnTo>
                  <a:lnTo>
                    <a:pt x="751586" y="446532"/>
                  </a:lnTo>
                  <a:lnTo>
                    <a:pt x="712597" y="455930"/>
                  </a:lnTo>
                  <a:lnTo>
                    <a:pt x="684276" y="457454"/>
                  </a:lnTo>
                  <a:lnTo>
                    <a:pt x="678053" y="463931"/>
                  </a:lnTo>
                  <a:lnTo>
                    <a:pt x="678561" y="479806"/>
                  </a:lnTo>
                  <a:lnTo>
                    <a:pt x="685038" y="486029"/>
                  </a:lnTo>
                  <a:lnTo>
                    <a:pt x="703707" y="485521"/>
                  </a:lnTo>
                  <a:lnTo>
                    <a:pt x="749427" y="477393"/>
                  </a:lnTo>
                  <a:lnTo>
                    <a:pt x="802894" y="454152"/>
                  </a:lnTo>
                  <a:lnTo>
                    <a:pt x="841883" y="426720"/>
                  </a:lnTo>
                  <a:lnTo>
                    <a:pt x="875665" y="393065"/>
                  </a:lnTo>
                  <a:lnTo>
                    <a:pt x="903224" y="354203"/>
                  </a:lnTo>
                  <a:lnTo>
                    <a:pt x="923036" y="311785"/>
                  </a:lnTo>
                  <a:lnTo>
                    <a:pt x="933958" y="266446"/>
                  </a:lnTo>
                  <a:lnTo>
                    <a:pt x="935101" y="254889"/>
                  </a:lnTo>
                  <a:lnTo>
                    <a:pt x="935482" y="243332"/>
                  </a:lnTo>
                  <a:close/>
                </a:path>
                <a:path w="1336675" h="1486535">
                  <a:moveTo>
                    <a:pt x="1226566" y="1290701"/>
                  </a:moveTo>
                  <a:lnTo>
                    <a:pt x="1212697" y="1281074"/>
                  </a:lnTo>
                  <a:lnTo>
                    <a:pt x="1207389" y="1274826"/>
                  </a:lnTo>
                  <a:lnTo>
                    <a:pt x="1203236" y="1274495"/>
                  </a:lnTo>
                  <a:lnTo>
                    <a:pt x="1118489" y="1215644"/>
                  </a:lnTo>
                  <a:lnTo>
                    <a:pt x="1109599" y="1217295"/>
                  </a:lnTo>
                  <a:lnTo>
                    <a:pt x="1105027" y="1223772"/>
                  </a:lnTo>
                  <a:lnTo>
                    <a:pt x="1100582" y="1230249"/>
                  </a:lnTo>
                  <a:lnTo>
                    <a:pt x="1102233" y="1239139"/>
                  </a:lnTo>
                  <a:lnTo>
                    <a:pt x="1146810" y="1270063"/>
                  </a:lnTo>
                  <a:lnTo>
                    <a:pt x="247650" y="1199515"/>
                  </a:lnTo>
                  <a:lnTo>
                    <a:pt x="240792" y="1205484"/>
                  </a:lnTo>
                  <a:lnTo>
                    <a:pt x="239522" y="1221232"/>
                  </a:lnTo>
                  <a:lnTo>
                    <a:pt x="245491" y="1228090"/>
                  </a:lnTo>
                  <a:lnTo>
                    <a:pt x="1144651" y="1298524"/>
                  </a:lnTo>
                  <a:lnTo>
                    <a:pt x="1095629" y="1322197"/>
                  </a:lnTo>
                  <a:lnTo>
                    <a:pt x="1092708" y="1330706"/>
                  </a:lnTo>
                  <a:lnTo>
                    <a:pt x="1099566" y="1344930"/>
                  </a:lnTo>
                  <a:lnTo>
                    <a:pt x="1108075" y="1347851"/>
                  </a:lnTo>
                  <a:lnTo>
                    <a:pt x="1201153" y="1302956"/>
                  </a:lnTo>
                  <a:lnTo>
                    <a:pt x="1205103" y="1303274"/>
                  </a:lnTo>
                  <a:lnTo>
                    <a:pt x="1211110" y="1298155"/>
                  </a:lnTo>
                  <a:lnTo>
                    <a:pt x="1226566" y="1290701"/>
                  </a:lnTo>
                  <a:close/>
                </a:path>
                <a:path w="1336675" h="1486535">
                  <a:moveTo>
                    <a:pt x="1336675" y="1464818"/>
                  </a:moveTo>
                  <a:lnTo>
                    <a:pt x="1330833" y="1457960"/>
                  </a:lnTo>
                  <a:lnTo>
                    <a:pt x="431533" y="1387538"/>
                  </a:lnTo>
                  <a:lnTo>
                    <a:pt x="480568" y="1363853"/>
                  </a:lnTo>
                  <a:lnTo>
                    <a:pt x="483616" y="1355344"/>
                  </a:lnTo>
                  <a:lnTo>
                    <a:pt x="476758" y="1341120"/>
                  </a:lnTo>
                  <a:lnTo>
                    <a:pt x="468122" y="1338199"/>
                  </a:lnTo>
                  <a:lnTo>
                    <a:pt x="375031" y="1383106"/>
                  </a:lnTo>
                  <a:lnTo>
                    <a:pt x="371094" y="1382776"/>
                  </a:lnTo>
                  <a:lnTo>
                    <a:pt x="365074" y="1387906"/>
                  </a:lnTo>
                  <a:lnTo>
                    <a:pt x="349631" y="1395349"/>
                  </a:lnTo>
                  <a:lnTo>
                    <a:pt x="363766" y="1405178"/>
                  </a:lnTo>
                  <a:lnTo>
                    <a:pt x="368935" y="1411224"/>
                  </a:lnTo>
                  <a:lnTo>
                    <a:pt x="372960" y="1411554"/>
                  </a:lnTo>
                  <a:lnTo>
                    <a:pt x="457835" y="1470406"/>
                  </a:lnTo>
                  <a:lnTo>
                    <a:pt x="466725" y="1468755"/>
                  </a:lnTo>
                  <a:lnTo>
                    <a:pt x="471170" y="1462278"/>
                  </a:lnTo>
                  <a:lnTo>
                    <a:pt x="475742" y="1455801"/>
                  </a:lnTo>
                  <a:lnTo>
                    <a:pt x="474091" y="1446911"/>
                  </a:lnTo>
                  <a:lnTo>
                    <a:pt x="429501" y="1415999"/>
                  </a:lnTo>
                  <a:lnTo>
                    <a:pt x="1328547" y="1486535"/>
                  </a:lnTo>
                  <a:lnTo>
                    <a:pt x="1335405" y="1480566"/>
                  </a:lnTo>
                  <a:lnTo>
                    <a:pt x="1336675" y="14648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3974" y="1409636"/>
              <a:ext cx="566737" cy="56673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5874" y="1362011"/>
              <a:ext cx="633412" cy="73818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191124" y="14382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26126" y="1460436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91075" y="2200211"/>
            <a:ext cx="643255" cy="738505"/>
            <a:chOff x="4791075" y="2200211"/>
            <a:chExt cx="643255" cy="73850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9175" y="2247836"/>
              <a:ext cx="566737" cy="56673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1075" y="2200211"/>
              <a:ext cx="642937" cy="73818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886325" y="22764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020945" y="2299906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38850" y="2276411"/>
            <a:ext cx="738505" cy="738505"/>
            <a:chOff x="6038850" y="2276411"/>
            <a:chExt cx="738505" cy="73850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4575" y="2324036"/>
              <a:ext cx="566737" cy="56673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8850" y="2276411"/>
              <a:ext cx="738187" cy="73818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181725" y="23526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266815" y="2376106"/>
            <a:ext cx="297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6861809" y="1367379"/>
          <a:ext cx="2209800" cy="14151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4950" algn="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7490" algn="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74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74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833437" y="4834001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200" y="1142936"/>
                </a:moveTo>
                <a:lnTo>
                  <a:pt x="46537" y="1136948"/>
                </a:lnTo>
                <a:lnTo>
                  <a:pt x="22317" y="1120619"/>
                </a:lnTo>
                <a:lnTo>
                  <a:pt x="5987" y="1096398"/>
                </a:lnTo>
                <a:lnTo>
                  <a:pt x="0" y="1066736"/>
                </a:lnTo>
                <a:lnTo>
                  <a:pt x="0" y="76200"/>
                </a:lnTo>
                <a:lnTo>
                  <a:pt x="5987" y="46505"/>
                </a:lnTo>
                <a:lnTo>
                  <a:pt x="22317" y="22288"/>
                </a:lnTo>
                <a:lnTo>
                  <a:pt x="46537" y="5976"/>
                </a:lnTo>
                <a:lnTo>
                  <a:pt x="76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14437" y="4834001"/>
            <a:ext cx="76835" cy="1143000"/>
          </a:xfrm>
          <a:custGeom>
            <a:avLst/>
            <a:gdLst/>
            <a:ahLst/>
            <a:cxnLst/>
            <a:rect l="l" t="t" r="r" b="b"/>
            <a:pathLst>
              <a:path w="76834" h="1143000">
                <a:moveTo>
                  <a:pt x="0" y="0"/>
                </a:moveTo>
                <a:lnTo>
                  <a:pt x="29671" y="5976"/>
                </a:lnTo>
                <a:lnTo>
                  <a:pt x="53914" y="22288"/>
                </a:lnTo>
                <a:lnTo>
                  <a:pt x="70265" y="46505"/>
                </a:lnTo>
                <a:lnTo>
                  <a:pt x="76263" y="76200"/>
                </a:lnTo>
                <a:lnTo>
                  <a:pt x="76263" y="1066736"/>
                </a:lnTo>
                <a:lnTo>
                  <a:pt x="70265" y="1096398"/>
                </a:lnTo>
                <a:lnTo>
                  <a:pt x="53914" y="1120619"/>
                </a:lnTo>
                <a:lnTo>
                  <a:pt x="29671" y="1136948"/>
                </a:lnTo>
                <a:lnTo>
                  <a:pt x="0" y="11429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367279" y="6008370"/>
            <a:ext cx="1900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Iteration 0, 1, 2,</a:t>
            </a:r>
            <a:r>
              <a:rPr sz="1800" spc="8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30360" y="6736715"/>
            <a:ext cx="13970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10" dirty="0">
                <a:solidFill>
                  <a:srgbClr val="3E3E3E"/>
                </a:solidFill>
                <a:latin typeface="Calibri"/>
                <a:cs typeface="Calibri"/>
              </a:rPr>
              <a:t>29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71106" y="3027109"/>
            <a:ext cx="1783080" cy="11220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 marR="30480">
              <a:lnSpc>
                <a:spcPct val="120500"/>
              </a:lnSpc>
              <a:spcBef>
                <a:spcPts val="50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25" dirty="0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+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 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025" b="1" spc="51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25" dirty="0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+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m 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m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025" b="1" spc="262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109980"/>
            <a:chOff x="0" y="0"/>
            <a:chExt cx="9144000" cy="1109980"/>
          </a:xfrm>
        </p:grpSpPr>
        <p:sp>
          <p:nvSpPr>
            <p:cNvPr id="3" name="object 3"/>
            <p:cNvSpPr/>
            <p:nvPr/>
          </p:nvSpPr>
          <p:spPr>
            <a:xfrm>
              <a:off x="4763" y="4825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399" y="0"/>
                  </a:lnTo>
                </a:path>
              </a:pathLst>
            </a:custGeom>
            <a:ln w="3175">
              <a:solidFill>
                <a:srgbClr val="FA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333311"/>
              <a:ext cx="7024751" cy="576262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510603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5" dirty="0">
                <a:solidFill>
                  <a:srgbClr val="0000FF"/>
                </a:solidFill>
                <a:latin typeface="Calibri"/>
                <a:cs typeface="Calibri"/>
              </a:rPr>
              <a:t>Imagine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b="1" spc="-10" dirty="0">
                <a:solidFill>
                  <a:srgbClr val="0000FF"/>
                </a:solidFill>
                <a:latin typeface="Calibri"/>
                <a:cs typeface="Calibri"/>
              </a:rPr>
              <a:t>random </a:t>
            </a:r>
            <a:r>
              <a:rPr b="1" spc="20" dirty="0">
                <a:solidFill>
                  <a:srgbClr val="0000FF"/>
                </a:solidFill>
                <a:latin typeface="Calibri"/>
                <a:cs typeface="Calibri"/>
              </a:rPr>
              <a:t>web</a:t>
            </a:r>
            <a:r>
              <a:rPr b="1" spc="-2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0000FF"/>
                </a:solidFill>
                <a:latin typeface="Calibri"/>
                <a:cs typeface="Calibri"/>
              </a:rPr>
              <a:t>surfer: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431601"/>
            <a:ext cx="323850" cy="40036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38530" y="1837817"/>
            <a:ext cx="5848985" cy="29940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07975" indent="-276860">
              <a:lnSpc>
                <a:spcPct val="100000"/>
              </a:lnSpc>
              <a:spcBef>
                <a:spcPts val="844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45" dirty="0">
                <a:latin typeface="Calibri"/>
                <a:cs typeface="Calibri"/>
              </a:rPr>
              <a:t>At </a:t>
            </a:r>
            <a:r>
              <a:rPr sz="2750" spc="-20" dirty="0">
                <a:latin typeface="Calibri"/>
                <a:cs typeface="Calibri"/>
              </a:rPr>
              <a:t>any </a:t>
            </a:r>
            <a:r>
              <a:rPr sz="2750" dirty="0">
                <a:latin typeface="Calibri"/>
                <a:cs typeface="Calibri"/>
              </a:rPr>
              <a:t>time </a:t>
            </a:r>
            <a:r>
              <a:rPr sz="2750" spc="25" dirty="0">
                <a:latin typeface="Cambria Math"/>
                <a:cs typeface="Cambria Math"/>
              </a:rPr>
              <a:t>𝒕</a:t>
            </a:r>
            <a:r>
              <a:rPr sz="2750" spc="25" dirty="0">
                <a:latin typeface="Calibri"/>
                <a:cs typeface="Calibri"/>
              </a:rPr>
              <a:t>, </a:t>
            </a:r>
            <a:r>
              <a:rPr sz="2750" spc="-25" dirty="0">
                <a:latin typeface="Calibri"/>
                <a:cs typeface="Calibri"/>
              </a:rPr>
              <a:t>surfer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30" dirty="0">
                <a:latin typeface="Calibri"/>
                <a:cs typeface="Calibri"/>
              </a:rPr>
              <a:t>on </a:t>
            </a:r>
            <a:r>
              <a:rPr sz="2750" spc="20" dirty="0">
                <a:latin typeface="Calibri"/>
                <a:cs typeface="Calibri"/>
              </a:rPr>
              <a:t>some </a:t>
            </a:r>
            <a:r>
              <a:rPr sz="2750" dirty="0">
                <a:latin typeface="Calibri"/>
                <a:cs typeface="Calibri"/>
              </a:rPr>
              <a:t>page</a:t>
            </a:r>
            <a:r>
              <a:rPr sz="2750" spc="40" dirty="0">
                <a:latin typeface="Calibri"/>
                <a:cs typeface="Calibri"/>
              </a:rPr>
              <a:t> </a:t>
            </a:r>
            <a:r>
              <a:rPr sz="2750" spc="10" dirty="0">
                <a:latin typeface="Cambria Math"/>
                <a:cs typeface="Cambria Math"/>
              </a:rPr>
              <a:t>𝒊</a:t>
            </a:r>
            <a:endParaRPr sz="2750">
              <a:latin typeface="Cambria Math"/>
              <a:cs typeface="Cambria Math"/>
            </a:endParaRPr>
          </a:p>
          <a:p>
            <a:pPr marL="307975" marR="380365" indent="-276860">
              <a:lnSpc>
                <a:spcPct val="1024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45" dirty="0">
                <a:latin typeface="Calibri"/>
                <a:cs typeface="Calibri"/>
              </a:rPr>
              <a:t>At </a:t>
            </a:r>
            <a:r>
              <a:rPr sz="2750" dirty="0">
                <a:latin typeface="Calibri"/>
                <a:cs typeface="Calibri"/>
              </a:rPr>
              <a:t>time </a:t>
            </a:r>
            <a:r>
              <a:rPr sz="2750" spc="10" dirty="0">
                <a:latin typeface="Cambria Math"/>
                <a:cs typeface="Cambria Math"/>
              </a:rPr>
              <a:t>𝒕 </a:t>
            </a:r>
            <a:r>
              <a:rPr sz="2750" spc="20" dirty="0">
                <a:latin typeface="Cambria Math"/>
                <a:cs typeface="Cambria Math"/>
              </a:rPr>
              <a:t>+ </a:t>
            </a:r>
            <a:r>
              <a:rPr sz="2750" spc="5" dirty="0">
                <a:latin typeface="Cambria Math"/>
                <a:cs typeface="Cambria Math"/>
              </a:rPr>
              <a:t>𝟏</a:t>
            </a:r>
            <a:r>
              <a:rPr sz="2750" spc="5" dirty="0">
                <a:latin typeface="Calibri"/>
                <a:cs typeface="Calibri"/>
              </a:rPr>
              <a:t>, </a:t>
            </a:r>
            <a:r>
              <a:rPr sz="2750" spc="-10" dirty="0">
                <a:latin typeface="Calibri"/>
                <a:cs typeface="Calibri"/>
              </a:rPr>
              <a:t>the </a:t>
            </a:r>
            <a:r>
              <a:rPr sz="2750" spc="-25" dirty="0">
                <a:latin typeface="Calibri"/>
                <a:cs typeface="Calibri"/>
              </a:rPr>
              <a:t>surfer </a:t>
            </a:r>
            <a:r>
              <a:rPr sz="2750" spc="-15" dirty="0">
                <a:latin typeface="Calibri"/>
                <a:cs typeface="Calibri"/>
              </a:rPr>
              <a:t>follows </a:t>
            </a:r>
            <a:r>
              <a:rPr sz="2750" spc="20" dirty="0">
                <a:latin typeface="Calibri"/>
                <a:cs typeface="Calibri"/>
              </a:rPr>
              <a:t>an  </a:t>
            </a:r>
            <a:r>
              <a:rPr sz="2750" spc="-15" dirty="0">
                <a:latin typeface="Calibri"/>
                <a:cs typeface="Calibri"/>
              </a:rPr>
              <a:t>out-link </a:t>
            </a:r>
            <a:r>
              <a:rPr sz="2750" spc="-5" dirty="0">
                <a:latin typeface="Calibri"/>
                <a:cs typeface="Calibri"/>
              </a:rPr>
              <a:t>from </a:t>
            </a:r>
            <a:r>
              <a:rPr sz="2750" spc="10" dirty="0">
                <a:latin typeface="Cambria Math"/>
                <a:cs typeface="Cambria Math"/>
              </a:rPr>
              <a:t>𝒊 </a:t>
            </a:r>
            <a:r>
              <a:rPr sz="2750" spc="-10" dirty="0">
                <a:latin typeface="Calibri"/>
                <a:cs typeface="Calibri"/>
              </a:rPr>
              <a:t>uniformly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random</a:t>
            </a:r>
            <a:endParaRPr sz="275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10" dirty="0">
                <a:latin typeface="Calibri"/>
                <a:cs typeface="Calibri"/>
              </a:rPr>
              <a:t>Ends </a:t>
            </a:r>
            <a:r>
              <a:rPr sz="2750" spc="-5" dirty="0">
                <a:latin typeface="Calibri"/>
                <a:cs typeface="Calibri"/>
              </a:rPr>
              <a:t>up </a:t>
            </a:r>
            <a:r>
              <a:rPr sz="2750" spc="30" dirty="0">
                <a:latin typeface="Calibri"/>
                <a:cs typeface="Calibri"/>
              </a:rPr>
              <a:t>on </a:t>
            </a:r>
            <a:r>
              <a:rPr sz="2750" spc="20" dirty="0">
                <a:latin typeface="Calibri"/>
                <a:cs typeface="Calibri"/>
              </a:rPr>
              <a:t>some </a:t>
            </a:r>
            <a:r>
              <a:rPr sz="2750" dirty="0">
                <a:latin typeface="Calibri"/>
                <a:cs typeface="Calibri"/>
              </a:rPr>
              <a:t>page </a:t>
            </a:r>
            <a:r>
              <a:rPr sz="2750" spc="10" dirty="0">
                <a:latin typeface="Cambria Math"/>
                <a:cs typeface="Cambria Math"/>
              </a:rPr>
              <a:t>𝒋 </a:t>
            </a:r>
            <a:r>
              <a:rPr sz="2750" spc="-25" dirty="0">
                <a:latin typeface="Calibri"/>
                <a:cs typeface="Calibri"/>
              </a:rPr>
              <a:t>linked </a:t>
            </a:r>
            <a:r>
              <a:rPr sz="2750" spc="-5" dirty="0">
                <a:latin typeface="Calibri"/>
                <a:cs typeface="Calibri"/>
              </a:rPr>
              <a:t>from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10" dirty="0">
                <a:latin typeface="Cambria Math"/>
                <a:cs typeface="Cambria Math"/>
              </a:rPr>
              <a:t>𝒊</a:t>
            </a:r>
            <a:endParaRPr sz="2750">
              <a:latin typeface="Cambria Math"/>
              <a:cs typeface="Cambria Math"/>
            </a:endParaRPr>
          </a:p>
          <a:p>
            <a:pPr marL="307975" indent="-276860">
              <a:lnSpc>
                <a:spcPct val="1000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5" dirty="0">
                <a:latin typeface="Calibri"/>
                <a:cs typeface="Calibri"/>
              </a:rPr>
              <a:t>Process </a:t>
            </a:r>
            <a:r>
              <a:rPr sz="2750" spc="-10" dirty="0">
                <a:latin typeface="Calibri"/>
                <a:cs typeface="Calibri"/>
              </a:rPr>
              <a:t>repeats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indefinitely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Let: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2655" y="4841240"/>
            <a:ext cx="361950" cy="4292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32180" y="4809490"/>
            <a:ext cx="7113270" cy="139382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14325" marR="845185">
              <a:lnSpc>
                <a:spcPct val="102400"/>
              </a:lnSpc>
              <a:spcBef>
                <a:spcPts val="50"/>
              </a:spcBef>
            </a:pPr>
            <a:r>
              <a:rPr sz="2750" spc="15" dirty="0">
                <a:latin typeface="Cambria Math"/>
                <a:cs typeface="Cambria Math"/>
              </a:rPr>
              <a:t>𝒑(𝒕) </a:t>
            </a:r>
            <a:r>
              <a:rPr sz="2750" spc="20" dirty="0">
                <a:latin typeface="Calibri"/>
                <a:cs typeface="Calibri"/>
              </a:rPr>
              <a:t>… </a:t>
            </a:r>
            <a:r>
              <a:rPr sz="2750" spc="15" dirty="0">
                <a:latin typeface="Calibri"/>
                <a:cs typeface="Calibri"/>
              </a:rPr>
              <a:t>vector </a:t>
            </a:r>
            <a:r>
              <a:rPr sz="2750" spc="-5" dirty="0">
                <a:latin typeface="Calibri"/>
                <a:cs typeface="Calibri"/>
              </a:rPr>
              <a:t>whose </a:t>
            </a:r>
            <a:r>
              <a:rPr sz="2750" spc="5" dirty="0">
                <a:latin typeface="Cambria Math"/>
                <a:cs typeface="Cambria Math"/>
              </a:rPr>
              <a:t>𝒊</a:t>
            </a:r>
            <a:r>
              <a:rPr sz="2775" spc="7" baseline="24024" dirty="0">
                <a:latin typeface="Calibri"/>
                <a:cs typeface="Calibri"/>
              </a:rPr>
              <a:t>th </a:t>
            </a:r>
            <a:r>
              <a:rPr sz="2750" dirty="0">
                <a:latin typeface="Calibri"/>
                <a:cs typeface="Calibri"/>
              </a:rPr>
              <a:t>coordinate </a:t>
            </a:r>
            <a:r>
              <a:rPr sz="2750" spc="-10" dirty="0">
                <a:latin typeface="Calibri"/>
                <a:cs typeface="Calibri"/>
              </a:rPr>
              <a:t>is the  prob. </a:t>
            </a:r>
            <a:r>
              <a:rPr sz="2750" spc="-5" dirty="0">
                <a:latin typeface="Calibri"/>
                <a:cs typeface="Calibri"/>
              </a:rPr>
              <a:t>that </a:t>
            </a:r>
            <a:r>
              <a:rPr sz="2750" spc="-10" dirty="0">
                <a:latin typeface="Calibri"/>
                <a:cs typeface="Calibri"/>
              </a:rPr>
              <a:t>the </a:t>
            </a:r>
            <a:r>
              <a:rPr sz="2750" spc="-25" dirty="0">
                <a:latin typeface="Calibri"/>
                <a:cs typeface="Calibri"/>
              </a:rPr>
              <a:t>surfer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15" dirty="0">
                <a:latin typeface="Calibri"/>
                <a:cs typeface="Calibri"/>
              </a:rPr>
              <a:t>at </a:t>
            </a:r>
            <a:r>
              <a:rPr sz="2750" dirty="0">
                <a:latin typeface="Calibri"/>
                <a:cs typeface="Calibri"/>
              </a:rPr>
              <a:t>page </a:t>
            </a:r>
            <a:r>
              <a:rPr sz="2750" spc="10" dirty="0">
                <a:latin typeface="Cambria Math"/>
                <a:cs typeface="Cambria Math"/>
              </a:rPr>
              <a:t>𝒊 </a:t>
            </a:r>
            <a:r>
              <a:rPr sz="2750" spc="15" dirty="0">
                <a:latin typeface="Calibri"/>
                <a:cs typeface="Calibri"/>
              </a:rPr>
              <a:t>at </a:t>
            </a:r>
            <a:r>
              <a:rPr sz="2750" dirty="0">
                <a:latin typeface="Calibri"/>
                <a:cs typeface="Calibri"/>
              </a:rPr>
              <a:t>time</a:t>
            </a:r>
            <a:r>
              <a:rPr sz="2750" spc="180" dirty="0">
                <a:latin typeface="Calibri"/>
                <a:cs typeface="Calibri"/>
              </a:rPr>
              <a:t> </a:t>
            </a:r>
            <a:r>
              <a:rPr sz="2750" spc="10" dirty="0">
                <a:latin typeface="Cambria Math"/>
                <a:cs typeface="Cambria Math"/>
              </a:rPr>
              <a:t>𝒕</a:t>
            </a:r>
            <a:endParaRPr sz="2750">
              <a:latin typeface="Cambria Math"/>
              <a:cs typeface="Cambria Math"/>
            </a:endParaRPr>
          </a:p>
          <a:p>
            <a:pPr marL="31432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spc="-10" dirty="0">
                <a:latin typeface="Calibri"/>
                <a:cs typeface="Calibri"/>
              </a:rPr>
              <a:t>So, </a:t>
            </a:r>
            <a:r>
              <a:rPr sz="2750" spc="15" dirty="0">
                <a:latin typeface="Cambria Math"/>
                <a:cs typeface="Cambria Math"/>
              </a:rPr>
              <a:t>𝒑(𝒕)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-15" dirty="0">
                <a:latin typeface="Calibri"/>
                <a:cs typeface="Calibri"/>
              </a:rPr>
              <a:t>probability distribution </a:t>
            </a:r>
            <a:r>
              <a:rPr sz="2750" spc="15" dirty="0">
                <a:latin typeface="Calibri"/>
                <a:cs typeface="Calibri"/>
              </a:rPr>
              <a:t>over</a:t>
            </a:r>
            <a:r>
              <a:rPr sz="2750" spc="-40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pages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126077" y="3197234"/>
            <a:ext cx="25400" cy="12700"/>
          </a:xfrm>
          <a:custGeom>
            <a:avLst/>
            <a:gdLst/>
            <a:ahLst/>
            <a:cxnLst/>
            <a:rect l="l" t="t" r="r" b="b"/>
            <a:pathLst>
              <a:path w="25400" h="12700">
                <a:moveTo>
                  <a:pt x="24964" y="0"/>
                </a:moveTo>
                <a:lnTo>
                  <a:pt x="0" y="0"/>
                </a:lnTo>
                <a:lnTo>
                  <a:pt x="0" y="12362"/>
                </a:lnTo>
                <a:lnTo>
                  <a:pt x="249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48973" y="3163716"/>
            <a:ext cx="8191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5" dirty="0">
                <a:latin typeface="Times New Roman"/>
                <a:cs typeface="Times New Roman"/>
              </a:rPr>
              <a:t>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51012" y="2717836"/>
            <a:ext cx="160020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i="1" spc="5" dirty="0">
                <a:latin typeface="Times New Roman"/>
                <a:cs typeface="Times New Roman"/>
              </a:rPr>
              <a:t>r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82201" y="2759469"/>
            <a:ext cx="1034415" cy="648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700" i="1" spc="5" dirty="0">
                <a:latin typeface="Times New Roman"/>
                <a:cs typeface="Times New Roman"/>
              </a:rPr>
              <a:t>r </a:t>
            </a:r>
            <a:r>
              <a:rPr sz="2700" spc="10" dirty="0">
                <a:latin typeface="Symbol"/>
                <a:cs typeface="Symbol"/>
              </a:rPr>
              <a:t>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6075" spc="22" baseline="-8916" dirty="0">
                <a:latin typeface="Symbol"/>
                <a:cs typeface="Symbol"/>
              </a:rPr>
              <a:t></a:t>
            </a:r>
            <a:endParaRPr sz="6075" baseline="-8916">
              <a:latin typeface="Symbol"/>
              <a:cs typeface="Symbo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15250" y="24384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209550" y="0"/>
                </a:moveTo>
                <a:lnTo>
                  <a:pt x="161512" y="5536"/>
                </a:lnTo>
                <a:lnTo>
                  <a:pt x="117410" y="21304"/>
                </a:lnTo>
                <a:lnTo>
                  <a:pt x="78501" y="46046"/>
                </a:lnTo>
                <a:lnTo>
                  <a:pt x="46046" y="78501"/>
                </a:lnTo>
                <a:lnTo>
                  <a:pt x="21304" y="117410"/>
                </a:lnTo>
                <a:lnTo>
                  <a:pt x="5536" y="161512"/>
                </a:lnTo>
                <a:lnTo>
                  <a:pt x="0" y="209550"/>
                </a:lnTo>
                <a:lnTo>
                  <a:pt x="5536" y="257587"/>
                </a:lnTo>
                <a:lnTo>
                  <a:pt x="21304" y="301689"/>
                </a:lnTo>
                <a:lnTo>
                  <a:pt x="46046" y="340598"/>
                </a:lnTo>
                <a:lnTo>
                  <a:pt x="78501" y="373053"/>
                </a:lnTo>
                <a:lnTo>
                  <a:pt x="117410" y="397795"/>
                </a:lnTo>
                <a:lnTo>
                  <a:pt x="161512" y="413563"/>
                </a:lnTo>
                <a:lnTo>
                  <a:pt x="209550" y="419100"/>
                </a:lnTo>
                <a:lnTo>
                  <a:pt x="257587" y="413563"/>
                </a:lnTo>
                <a:lnTo>
                  <a:pt x="301689" y="397795"/>
                </a:lnTo>
                <a:lnTo>
                  <a:pt x="340598" y="373053"/>
                </a:lnTo>
                <a:lnTo>
                  <a:pt x="373053" y="340598"/>
                </a:lnTo>
                <a:lnTo>
                  <a:pt x="397795" y="301689"/>
                </a:lnTo>
                <a:lnTo>
                  <a:pt x="413563" y="257587"/>
                </a:lnTo>
                <a:lnTo>
                  <a:pt x="419100" y="209550"/>
                </a:lnTo>
                <a:lnTo>
                  <a:pt x="413563" y="161512"/>
                </a:lnTo>
                <a:lnTo>
                  <a:pt x="397795" y="117410"/>
                </a:lnTo>
                <a:lnTo>
                  <a:pt x="373053" y="78501"/>
                </a:lnTo>
                <a:lnTo>
                  <a:pt x="340598" y="46046"/>
                </a:lnTo>
                <a:lnTo>
                  <a:pt x="301689" y="21304"/>
                </a:lnTo>
                <a:lnTo>
                  <a:pt x="257587" y="5536"/>
                </a:lnTo>
                <a:lnTo>
                  <a:pt x="209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887081" y="2475547"/>
            <a:ext cx="971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229475" y="1295399"/>
            <a:ext cx="1838325" cy="1210945"/>
          </a:xfrm>
          <a:custGeom>
            <a:avLst/>
            <a:gdLst/>
            <a:ahLst/>
            <a:cxnLst/>
            <a:rect l="l" t="t" r="r" b="b"/>
            <a:pathLst>
              <a:path w="1838325" h="1210945">
                <a:moveTo>
                  <a:pt x="640207" y="1028319"/>
                </a:moveTo>
                <a:lnTo>
                  <a:pt x="634619" y="1021207"/>
                </a:lnTo>
                <a:lnTo>
                  <a:pt x="626745" y="1020318"/>
                </a:lnTo>
                <a:lnTo>
                  <a:pt x="618998" y="1019302"/>
                </a:lnTo>
                <a:lnTo>
                  <a:pt x="611886" y="1024890"/>
                </a:lnTo>
                <a:lnTo>
                  <a:pt x="610997" y="1032764"/>
                </a:lnTo>
                <a:lnTo>
                  <a:pt x="605459" y="1078877"/>
                </a:lnTo>
                <a:lnTo>
                  <a:pt x="307898" y="393852"/>
                </a:lnTo>
                <a:lnTo>
                  <a:pt x="340588" y="373062"/>
                </a:lnTo>
                <a:lnTo>
                  <a:pt x="373049" y="340601"/>
                </a:lnTo>
                <a:lnTo>
                  <a:pt x="397789" y="301701"/>
                </a:lnTo>
                <a:lnTo>
                  <a:pt x="413562" y="257594"/>
                </a:lnTo>
                <a:lnTo>
                  <a:pt x="419100" y="209550"/>
                </a:lnTo>
                <a:lnTo>
                  <a:pt x="413562" y="161518"/>
                </a:lnTo>
                <a:lnTo>
                  <a:pt x="397789" y="117411"/>
                </a:lnTo>
                <a:lnTo>
                  <a:pt x="373049" y="78511"/>
                </a:lnTo>
                <a:lnTo>
                  <a:pt x="340588" y="46050"/>
                </a:lnTo>
                <a:lnTo>
                  <a:pt x="301688" y="21310"/>
                </a:lnTo>
                <a:lnTo>
                  <a:pt x="257581" y="5537"/>
                </a:lnTo>
                <a:lnTo>
                  <a:pt x="209550" y="0"/>
                </a:lnTo>
                <a:lnTo>
                  <a:pt x="161505" y="5537"/>
                </a:lnTo>
                <a:lnTo>
                  <a:pt x="117398" y="21310"/>
                </a:lnTo>
                <a:lnTo>
                  <a:pt x="78498" y="46050"/>
                </a:lnTo>
                <a:lnTo>
                  <a:pt x="46037" y="78511"/>
                </a:lnTo>
                <a:lnTo>
                  <a:pt x="21297" y="117411"/>
                </a:lnTo>
                <a:lnTo>
                  <a:pt x="5524" y="161518"/>
                </a:lnTo>
                <a:lnTo>
                  <a:pt x="0" y="209550"/>
                </a:lnTo>
                <a:lnTo>
                  <a:pt x="5524" y="257594"/>
                </a:lnTo>
                <a:lnTo>
                  <a:pt x="21297" y="301701"/>
                </a:lnTo>
                <a:lnTo>
                  <a:pt x="46037" y="340601"/>
                </a:lnTo>
                <a:lnTo>
                  <a:pt x="78498" y="373062"/>
                </a:lnTo>
                <a:lnTo>
                  <a:pt x="117398" y="397802"/>
                </a:lnTo>
                <a:lnTo>
                  <a:pt x="161505" y="413575"/>
                </a:lnTo>
                <a:lnTo>
                  <a:pt x="209550" y="419100"/>
                </a:lnTo>
                <a:lnTo>
                  <a:pt x="257581" y="413575"/>
                </a:lnTo>
                <a:lnTo>
                  <a:pt x="281559" y="405003"/>
                </a:lnTo>
                <a:lnTo>
                  <a:pt x="579285" y="1090269"/>
                </a:lnTo>
                <a:lnTo>
                  <a:pt x="541782" y="1062736"/>
                </a:lnTo>
                <a:lnTo>
                  <a:pt x="535432" y="1058164"/>
                </a:lnTo>
                <a:lnTo>
                  <a:pt x="526542" y="1059434"/>
                </a:lnTo>
                <a:lnTo>
                  <a:pt x="521843" y="1065784"/>
                </a:lnTo>
                <a:lnTo>
                  <a:pt x="517144" y="1072261"/>
                </a:lnTo>
                <a:lnTo>
                  <a:pt x="518541" y="1081151"/>
                </a:lnTo>
                <a:lnTo>
                  <a:pt x="601903" y="1142301"/>
                </a:lnTo>
                <a:lnTo>
                  <a:pt x="603504" y="1145921"/>
                </a:lnTo>
                <a:lnTo>
                  <a:pt x="610755" y="1148791"/>
                </a:lnTo>
                <a:lnTo>
                  <a:pt x="624713" y="1159002"/>
                </a:lnTo>
                <a:lnTo>
                  <a:pt x="625868" y="1149223"/>
                </a:lnTo>
                <a:lnTo>
                  <a:pt x="626719" y="1142072"/>
                </a:lnTo>
                <a:lnTo>
                  <a:pt x="629666" y="1134491"/>
                </a:lnTo>
                <a:lnTo>
                  <a:pt x="628053" y="1130846"/>
                </a:lnTo>
                <a:lnTo>
                  <a:pt x="639318" y="1036193"/>
                </a:lnTo>
                <a:lnTo>
                  <a:pt x="640207" y="1028319"/>
                </a:lnTo>
                <a:close/>
              </a:path>
              <a:path w="1838325" h="1210945">
                <a:moveTo>
                  <a:pt x="1123950" y="209550"/>
                </a:moveTo>
                <a:lnTo>
                  <a:pt x="1118412" y="161518"/>
                </a:lnTo>
                <a:lnTo>
                  <a:pt x="1102639" y="117411"/>
                </a:lnTo>
                <a:lnTo>
                  <a:pt x="1077899" y="78511"/>
                </a:lnTo>
                <a:lnTo>
                  <a:pt x="1045438" y="46050"/>
                </a:lnTo>
                <a:lnTo>
                  <a:pt x="1006538" y="21310"/>
                </a:lnTo>
                <a:lnTo>
                  <a:pt x="962431" y="5537"/>
                </a:lnTo>
                <a:lnTo>
                  <a:pt x="914400" y="0"/>
                </a:lnTo>
                <a:lnTo>
                  <a:pt x="866355" y="5537"/>
                </a:lnTo>
                <a:lnTo>
                  <a:pt x="822248" y="21310"/>
                </a:lnTo>
                <a:lnTo>
                  <a:pt x="783348" y="46050"/>
                </a:lnTo>
                <a:lnTo>
                  <a:pt x="750887" y="78511"/>
                </a:lnTo>
                <a:lnTo>
                  <a:pt x="726147" y="117411"/>
                </a:lnTo>
                <a:lnTo>
                  <a:pt x="710374" y="161518"/>
                </a:lnTo>
                <a:lnTo>
                  <a:pt x="704850" y="209550"/>
                </a:lnTo>
                <a:lnTo>
                  <a:pt x="710374" y="257594"/>
                </a:lnTo>
                <a:lnTo>
                  <a:pt x="726147" y="301701"/>
                </a:lnTo>
                <a:lnTo>
                  <a:pt x="750887" y="340601"/>
                </a:lnTo>
                <a:lnTo>
                  <a:pt x="783348" y="373062"/>
                </a:lnTo>
                <a:lnTo>
                  <a:pt x="822248" y="397802"/>
                </a:lnTo>
                <a:lnTo>
                  <a:pt x="863854" y="412686"/>
                </a:lnTo>
                <a:lnTo>
                  <a:pt x="747610" y="1076579"/>
                </a:lnTo>
                <a:lnTo>
                  <a:pt x="731520" y="1033018"/>
                </a:lnTo>
                <a:lnTo>
                  <a:pt x="728726" y="1025652"/>
                </a:lnTo>
                <a:lnTo>
                  <a:pt x="720598" y="1021842"/>
                </a:lnTo>
                <a:lnTo>
                  <a:pt x="713105" y="1024636"/>
                </a:lnTo>
                <a:lnTo>
                  <a:pt x="705739" y="1027303"/>
                </a:lnTo>
                <a:lnTo>
                  <a:pt x="701929" y="1035558"/>
                </a:lnTo>
                <a:lnTo>
                  <a:pt x="704723" y="1042924"/>
                </a:lnTo>
                <a:lnTo>
                  <a:pt x="737819" y="1132433"/>
                </a:lnTo>
                <a:lnTo>
                  <a:pt x="737108" y="1136396"/>
                </a:lnTo>
                <a:lnTo>
                  <a:pt x="741680" y="1142873"/>
                </a:lnTo>
                <a:lnTo>
                  <a:pt x="747649" y="1159002"/>
                </a:lnTo>
                <a:lnTo>
                  <a:pt x="758164" y="1146556"/>
                </a:lnTo>
                <a:lnTo>
                  <a:pt x="758520" y="1146149"/>
                </a:lnTo>
                <a:lnTo>
                  <a:pt x="765302" y="1141349"/>
                </a:lnTo>
                <a:lnTo>
                  <a:pt x="766038" y="1137246"/>
                </a:lnTo>
                <a:lnTo>
                  <a:pt x="827532" y="1064514"/>
                </a:lnTo>
                <a:lnTo>
                  <a:pt x="832612" y="1058418"/>
                </a:lnTo>
                <a:lnTo>
                  <a:pt x="831850" y="1049401"/>
                </a:lnTo>
                <a:lnTo>
                  <a:pt x="825881" y="1044321"/>
                </a:lnTo>
                <a:lnTo>
                  <a:pt x="819785" y="1039241"/>
                </a:lnTo>
                <a:lnTo>
                  <a:pt x="810768" y="1040003"/>
                </a:lnTo>
                <a:lnTo>
                  <a:pt x="805688" y="1046099"/>
                </a:lnTo>
                <a:lnTo>
                  <a:pt x="775817" y="1081481"/>
                </a:lnTo>
                <a:lnTo>
                  <a:pt x="892149" y="416547"/>
                </a:lnTo>
                <a:lnTo>
                  <a:pt x="914400" y="419100"/>
                </a:lnTo>
                <a:lnTo>
                  <a:pt x="962431" y="413575"/>
                </a:lnTo>
                <a:lnTo>
                  <a:pt x="1006538" y="397802"/>
                </a:lnTo>
                <a:lnTo>
                  <a:pt x="1045438" y="373062"/>
                </a:lnTo>
                <a:lnTo>
                  <a:pt x="1077899" y="340601"/>
                </a:lnTo>
                <a:lnTo>
                  <a:pt x="1102639" y="301701"/>
                </a:lnTo>
                <a:lnTo>
                  <a:pt x="1118412" y="257594"/>
                </a:lnTo>
                <a:lnTo>
                  <a:pt x="1123950" y="209550"/>
                </a:lnTo>
                <a:close/>
              </a:path>
              <a:path w="1838325" h="1210945">
                <a:moveTo>
                  <a:pt x="1838325" y="209550"/>
                </a:moveTo>
                <a:lnTo>
                  <a:pt x="1832787" y="161518"/>
                </a:lnTo>
                <a:lnTo>
                  <a:pt x="1817014" y="117411"/>
                </a:lnTo>
                <a:lnTo>
                  <a:pt x="1792274" y="78511"/>
                </a:lnTo>
                <a:lnTo>
                  <a:pt x="1759813" y="46050"/>
                </a:lnTo>
                <a:lnTo>
                  <a:pt x="1720913" y="21310"/>
                </a:lnTo>
                <a:lnTo>
                  <a:pt x="1676806" y="5537"/>
                </a:lnTo>
                <a:lnTo>
                  <a:pt x="1628775" y="0"/>
                </a:lnTo>
                <a:lnTo>
                  <a:pt x="1580730" y="5537"/>
                </a:lnTo>
                <a:lnTo>
                  <a:pt x="1536623" y="21310"/>
                </a:lnTo>
                <a:lnTo>
                  <a:pt x="1497723" y="46050"/>
                </a:lnTo>
                <a:lnTo>
                  <a:pt x="1465262" y="78511"/>
                </a:lnTo>
                <a:lnTo>
                  <a:pt x="1440522" y="117411"/>
                </a:lnTo>
                <a:lnTo>
                  <a:pt x="1424749" y="161518"/>
                </a:lnTo>
                <a:lnTo>
                  <a:pt x="1419225" y="209550"/>
                </a:lnTo>
                <a:lnTo>
                  <a:pt x="1424749" y="257594"/>
                </a:lnTo>
                <a:lnTo>
                  <a:pt x="1440522" y="301701"/>
                </a:lnTo>
                <a:lnTo>
                  <a:pt x="1465262" y="340601"/>
                </a:lnTo>
                <a:lnTo>
                  <a:pt x="1490408" y="365760"/>
                </a:lnTo>
                <a:lnTo>
                  <a:pt x="891032" y="1137475"/>
                </a:lnTo>
                <a:lnTo>
                  <a:pt x="897128" y="1091692"/>
                </a:lnTo>
                <a:lnTo>
                  <a:pt x="898144" y="1083818"/>
                </a:lnTo>
                <a:lnTo>
                  <a:pt x="892683" y="1076579"/>
                </a:lnTo>
                <a:lnTo>
                  <a:pt x="876935" y="1074547"/>
                </a:lnTo>
                <a:lnTo>
                  <a:pt x="869823" y="1080008"/>
                </a:lnTo>
                <a:lnTo>
                  <a:pt x="868807" y="1087882"/>
                </a:lnTo>
                <a:lnTo>
                  <a:pt x="856183" y="1182331"/>
                </a:lnTo>
                <a:lnTo>
                  <a:pt x="853694" y="1185545"/>
                </a:lnTo>
                <a:lnTo>
                  <a:pt x="854697" y="1193507"/>
                </a:lnTo>
                <a:lnTo>
                  <a:pt x="852424" y="1210564"/>
                </a:lnTo>
                <a:lnTo>
                  <a:pt x="868184" y="1204214"/>
                </a:lnTo>
                <a:lnTo>
                  <a:pt x="868603" y="1204048"/>
                </a:lnTo>
                <a:lnTo>
                  <a:pt x="876300" y="1203071"/>
                </a:lnTo>
                <a:lnTo>
                  <a:pt x="878687" y="1199997"/>
                </a:lnTo>
                <a:lnTo>
                  <a:pt x="974598" y="1161415"/>
                </a:lnTo>
                <a:lnTo>
                  <a:pt x="978154" y="1153033"/>
                </a:lnTo>
                <a:lnTo>
                  <a:pt x="975233" y="1145794"/>
                </a:lnTo>
                <a:lnTo>
                  <a:pt x="972185" y="1138428"/>
                </a:lnTo>
                <a:lnTo>
                  <a:pt x="963930" y="1134872"/>
                </a:lnTo>
                <a:lnTo>
                  <a:pt x="913549" y="1155128"/>
                </a:lnTo>
                <a:lnTo>
                  <a:pt x="1513332" y="382993"/>
                </a:lnTo>
                <a:lnTo>
                  <a:pt x="1536623" y="397802"/>
                </a:lnTo>
                <a:lnTo>
                  <a:pt x="1580730" y="413575"/>
                </a:lnTo>
                <a:lnTo>
                  <a:pt x="1628775" y="419100"/>
                </a:lnTo>
                <a:lnTo>
                  <a:pt x="1676806" y="413575"/>
                </a:lnTo>
                <a:lnTo>
                  <a:pt x="1720913" y="397802"/>
                </a:lnTo>
                <a:lnTo>
                  <a:pt x="1759813" y="373062"/>
                </a:lnTo>
                <a:lnTo>
                  <a:pt x="1792274" y="340601"/>
                </a:lnTo>
                <a:lnTo>
                  <a:pt x="1817014" y="301701"/>
                </a:lnTo>
                <a:lnTo>
                  <a:pt x="1832787" y="257594"/>
                </a:lnTo>
                <a:lnTo>
                  <a:pt x="1838325" y="20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302245" y="1331277"/>
            <a:ext cx="17100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62000" algn="l"/>
                <a:tab pos="1473835" algn="l"/>
              </a:tabLst>
            </a:pPr>
            <a:r>
              <a:rPr sz="2000" b="1" spc="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25" b="1" spc="30" baseline="-18518" dirty="0">
                <a:solidFill>
                  <a:srgbClr val="FFFFFF"/>
                </a:solidFill>
                <a:latin typeface="Arial"/>
                <a:cs typeface="Arial"/>
              </a:rPr>
              <a:t>1	</a:t>
            </a:r>
            <a:r>
              <a:rPr sz="2000" b="1" spc="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25" b="1" spc="30" baseline="-18518" dirty="0">
                <a:solidFill>
                  <a:srgbClr val="FFFFFF"/>
                </a:solidFill>
                <a:latin typeface="Arial"/>
                <a:cs typeface="Arial"/>
              </a:rPr>
              <a:t>2	</a:t>
            </a:r>
            <a:r>
              <a:rPr sz="2000" b="1" spc="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25" b="1" spc="30" baseline="-18518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6739001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540258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Where </a:t>
            </a:r>
            <a:r>
              <a:rPr b="1" spc="20" dirty="0">
                <a:solidFill>
                  <a:srgbClr val="D50092"/>
                </a:solidFill>
                <a:latin typeface="Calibri"/>
                <a:cs typeface="Calibri"/>
              </a:rPr>
              <a:t>is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the </a:t>
            </a:r>
            <a:r>
              <a:rPr b="1" spc="-5" dirty="0">
                <a:solidFill>
                  <a:srgbClr val="D50092"/>
                </a:solidFill>
                <a:latin typeface="Calibri"/>
                <a:cs typeface="Calibri"/>
              </a:rPr>
              <a:t>surfer </a:t>
            </a:r>
            <a:r>
              <a:rPr b="1" dirty="0">
                <a:solidFill>
                  <a:srgbClr val="D50092"/>
                </a:solidFill>
                <a:latin typeface="Calibri"/>
                <a:cs typeface="Calibri"/>
              </a:rPr>
              <a:t>at </a:t>
            </a:r>
            <a:r>
              <a:rPr b="1" spc="15" dirty="0">
                <a:solidFill>
                  <a:srgbClr val="D50092"/>
                </a:solidFill>
                <a:latin typeface="Calibri"/>
                <a:cs typeface="Calibri"/>
              </a:rPr>
              <a:t>time</a:t>
            </a:r>
            <a:r>
              <a:rPr b="1" spc="-43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b="1" i="1" spc="30" dirty="0">
                <a:solidFill>
                  <a:srgbClr val="D50092"/>
                </a:solidFill>
                <a:latin typeface="Times New Roman"/>
                <a:cs typeface="Times New Roman"/>
              </a:rPr>
              <a:t>t+1</a:t>
            </a:r>
            <a:r>
              <a:rPr b="1" spc="30" dirty="0">
                <a:solidFill>
                  <a:srgbClr val="D50092"/>
                </a:solidFill>
                <a:latin typeface="Calibri"/>
                <a:cs typeface="Calibri"/>
              </a:rPr>
              <a:t>?</a:t>
            </a:r>
          </a:p>
        </p:txBody>
      </p:sp>
      <p:sp>
        <p:nvSpPr>
          <p:cNvPr id="5" name="object 5"/>
          <p:cNvSpPr/>
          <p:nvPr/>
        </p:nvSpPr>
        <p:spPr>
          <a:xfrm>
            <a:off x="1719579" y="2469514"/>
            <a:ext cx="1165225" cy="379730"/>
          </a:xfrm>
          <a:custGeom>
            <a:avLst/>
            <a:gdLst/>
            <a:ahLst/>
            <a:cxnLst/>
            <a:rect l="l" t="t" r="r" b="b"/>
            <a:pathLst>
              <a:path w="1165225" h="379730">
                <a:moveTo>
                  <a:pt x="1043813" y="0"/>
                </a:moveTo>
                <a:lnTo>
                  <a:pt x="1038478" y="15367"/>
                </a:lnTo>
                <a:lnTo>
                  <a:pt x="1060457" y="24895"/>
                </a:lnTo>
                <a:lnTo>
                  <a:pt x="1079341" y="38068"/>
                </a:lnTo>
                <a:lnTo>
                  <a:pt x="1107820" y="75437"/>
                </a:lnTo>
                <a:lnTo>
                  <a:pt x="1124680" y="125856"/>
                </a:lnTo>
                <a:lnTo>
                  <a:pt x="1130300" y="187706"/>
                </a:lnTo>
                <a:lnTo>
                  <a:pt x="1128893" y="221192"/>
                </a:lnTo>
                <a:lnTo>
                  <a:pt x="1117601" y="278878"/>
                </a:lnTo>
                <a:lnTo>
                  <a:pt x="1094978" y="323959"/>
                </a:lnTo>
                <a:lnTo>
                  <a:pt x="1060688" y="354387"/>
                </a:lnTo>
                <a:lnTo>
                  <a:pt x="1039113" y="363982"/>
                </a:lnTo>
                <a:lnTo>
                  <a:pt x="1043813" y="379349"/>
                </a:lnTo>
                <a:lnTo>
                  <a:pt x="1095613" y="355060"/>
                </a:lnTo>
                <a:lnTo>
                  <a:pt x="1133602" y="313055"/>
                </a:lnTo>
                <a:lnTo>
                  <a:pt x="1157033" y="256778"/>
                </a:lnTo>
                <a:lnTo>
                  <a:pt x="1164844" y="189737"/>
                </a:lnTo>
                <a:lnTo>
                  <a:pt x="1162891" y="154949"/>
                </a:lnTo>
                <a:lnTo>
                  <a:pt x="1147270" y="93279"/>
                </a:lnTo>
                <a:lnTo>
                  <a:pt x="1116214" y="43112"/>
                </a:lnTo>
                <a:lnTo>
                  <a:pt x="1071344" y="9878"/>
                </a:lnTo>
                <a:lnTo>
                  <a:pt x="1043813" y="0"/>
                </a:lnTo>
                <a:close/>
              </a:path>
              <a:path w="1165225" h="379730">
                <a:moveTo>
                  <a:pt x="121031" y="0"/>
                </a:moveTo>
                <a:lnTo>
                  <a:pt x="69437" y="24257"/>
                </a:lnTo>
                <a:lnTo>
                  <a:pt x="31368" y="66421"/>
                </a:lnTo>
                <a:lnTo>
                  <a:pt x="7874" y="122793"/>
                </a:lnTo>
                <a:lnTo>
                  <a:pt x="0" y="189737"/>
                </a:lnTo>
                <a:lnTo>
                  <a:pt x="1952" y="224597"/>
                </a:lnTo>
                <a:lnTo>
                  <a:pt x="17573" y="286267"/>
                </a:lnTo>
                <a:lnTo>
                  <a:pt x="48575" y="336272"/>
                </a:lnTo>
                <a:lnTo>
                  <a:pt x="93481" y="369419"/>
                </a:lnTo>
                <a:lnTo>
                  <a:pt x="121031" y="379349"/>
                </a:lnTo>
                <a:lnTo>
                  <a:pt x="125856" y="363982"/>
                </a:lnTo>
                <a:lnTo>
                  <a:pt x="104209" y="354387"/>
                </a:lnTo>
                <a:lnTo>
                  <a:pt x="85550" y="341042"/>
                </a:lnTo>
                <a:lnTo>
                  <a:pt x="57150" y="303149"/>
                </a:lnTo>
                <a:lnTo>
                  <a:pt x="40290" y="251571"/>
                </a:lnTo>
                <a:lnTo>
                  <a:pt x="34670" y="187706"/>
                </a:lnTo>
                <a:lnTo>
                  <a:pt x="36075" y="155340"/>
                </a:lnTo>
                <a:lnTo>
                  <a:pt x="47315" y="99230"/>
                </a:lnTo>
                <a:lnTo>
                  <a:pt x="69913" y="54907"/>
                </a:lnTo>
                <a:lnTo>
                  <a:pt x="104584" y="24895"/>
                </a:lnTo>
                <a:lnTo>
                  <a:pt x="126492" y="15367"/>
                </a:lnTo>
                <a:lnTo>
                  <a:pt x="1210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7580" y="1929130"/>
            <a:ext cx="5269230" cy="9474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130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spc="-10" dirty="0">
                <a:latin typeface="Calibri"/>
                <a:cs typeface="Calibri"/>
              </a:rPr>
              <a:t>Follows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-20" dirty="0">
                <a:latin typeface="Calibri"/>
                <a:cs typeface="Calibri"/>
              </a:rPr>
              <a:t>link </a:t>
            </a:r>
            <a:r>
              <a:rPr sz="2750" spc="-10" dirty="0">
                <a:latin typeface="Calibri"/>
                <a:cs typeface="Calibri"/>
              </a:rPr>
              <a:t>uniformly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-1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random</a:t>
            </a:r>
            <a:endParaRPr sz="275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80"/>
              </a:spcBef>
              <a:tabLst>
                <a:tab pos="2072005" algn="l"/>
              </a:tabLst>
            </a:pPr>
            <a:r>
              <a:rPr sz="3200" spc="15" dirty="0">
                <a:latin typeface="Cambria Math"/>
                <a:cs typeface="Cambria Math"/>
              </a:rPr>
              <a:t>𝒑  </a:t>
            </a:r>
            <a:r>
              <a:rPr sz="3200" spc="10" dirty="0">
                <a:latin typeface="Cambria Math"/>
                <a:cs typeface="Cambria Math"/>
              </a:rPr>
              <a:t>𝒕</a:t>
            </a:r>
            <a:r>
              <a:rPr sz="3200" spc="-95" dirty="0">
                <a:latin typeface="Cambria Math"/>
                <a:cs typeface="Cambria Math"/>
              </a:rPr>
              <a:t> </a:t>
            </a:r>
            <a:r>
              <a:rPr sz="3200" spc="20" dirty="0">
                <a:latin typeface="Cambria Math"/>
                <a:cs typeface="Cambria Math"/>
              </a:rPr>
              <a:t>+</a:t>
            </a:r>
            <a:r>
              <a:rPr sz="3200" spc="-40" dirty="0">
                <a:latin typeface="Cambria Math"/>
                <a:cs typeface="Cambria Math"/>
              </a:rPr>
              <a:t> </a:t>
            </a:r>
            <a:r>
              <a:rPr sz="3200" spc="15" dirty="0">
                <a:latin typeface="Cambria Math"/>
                <a:cs typeface="Cambria Math"/>
              </a:rPr>
              <a:t>𝟏	</a:t>
            </a:r>
            <a:r>
              <a:rPr sz="3200" spc="20" dirty="0">
                <a:latin typeface="Cambria Math"/>
                <a:cs typeface="Cambria Math"/>
              </a:rPr>
              <a:t>= </a:t>
            </a:r>
            <a:r>
              <a:rPr sz="3200" spc="25" dirty="0">
                <a:latin typeface="Cambria Math"/>
                <a:cs typeface="Cambria Math"/>
              </a:rPr>
              <a:t>𝑴 </a:t>
            </a:r>
            <a:r>
              <a:rPr sz="3200" spc="5" dirty="0">
                <a:latin typeface="Cambria Math"/>
                <a:cs typeface="Cambria Math"/>
              </a:rPr>
              <a:t>⋅</a:t>
            </a:r>
            <a:r>
              <a:rPr sz="3200" spc="50" dirty="0">
                <a:latin typeface="Cambria Math"/>
                <a:cs typeface="Cambria Math"/>
              </a:rPr>
              <a:t> </a:t>
            </a:r>
            <a:r>
              <a:rPr sz="3200" spc="20" dirty="0">
                <a:latin typeface="Cambria Math"/>
                <a:cs typeface="Cambria Math"/>
              </a:rPr>
              <a:t>𝒑(𝒕)</a:t>
            </a:r>
            <a:endParaRPr sz="3200">
              <a:latin typeface="Cambria Math"/>
              <a:cs typeface="Cambria Math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048698"/>
            <a:ext cx="323850" cy="40036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29055" y="3536315"/>
            <a:ext cx="1165225" cy="379730"/>
          </a:xfrm>
          <a:custGeom>
            <a:avLst/>
            <a:gdLst/>
            <a:ahLst/>
            <a:cxnLst/>
            <a:rect l="l" t="t" r="r" b="b"/>
            <a:pathLst>
              <a:path w="1165225" h="379729">
                <a:moveTo>
                  <a:pt x="1043813" y="0"/>
                </a:moveTo>
                <a:lnTo>
                  <a:pt x="1038478" y="15367"/>
                </a:lnTo>
                <a:lnTo>
                  <a:pt x="1060457" y="24895"/>
                </a:lnTo>
                <a:lnTo>
                  <a:pt x="1079341" y="38068"/>
                </a:lnTo>
                <a:lnTo>
                  <a:pt x="1107820" y="75437"/>
                </a:lnTo>
                <a:lnTo>
                  <a:pt x="1124680" y="125857"/>
                </a:lnTo>
                <a:lnTo>
                  <a:pt x="1130300" y="187706"/>
                </a:lnTo>
                <a:lnTo>
                  <a:pt x="1128893" y="221192"/>
                </a:lnTo>
                <a:lnTo>
                  <a:pt x="1117601" y="278878"/>
                </a:lnTo>
                <a:lnTo>
                  <a:pt x="1094978" y="323959"/>
                </a:lnTo>
                <a:lnTo>
                  <a:pt x="1060688" y="354387"/>
                </a:lnTo>
                <a:lnTo>
                  <a:pt x="1039113" y="363982"/>
                </a:lnTo>
                <a:lnTo>
                  <a:pt x="1043813" y="379349"/>
                </a:lnTo>
                <a:lnTo>
                  <a:pt x="1095613" y="355060"/>
                </a:lnTo>
                <a:lnTo>
                  <a:pt x="1133602" y="313055"/>
                </a:lnTo>
                <a:lnTo>
                  <a:pt x="1157033" y="256778"/>
                </a:lnTo>
                <a:lnTo>
                  <a:pt x="1164844" y="189737"/>
                </a:lnTo>
                <a:lnTo>
                  <a:pt x="1162891" y="154949"/>
                </a:lnTo>
                <a:lnTo>
                  <a:pt x="1147270" y="93279"/>
                </a:lnTo>
                <a:lnTo>
                  <a:pt x="1116214" y="43112"/>
                </a:lnTo>
                <a:lnTo>
                  <a:pt x="1071344" y="9878"/>
                </a:lnTo>
                <a:lnTo>
                  <a:pt x="1043813" y="0"/>
                </a:lnTo>
                <a:close/>
              </a:path>
              <a:path w="1165225" h="379729">
                <a:moveTo>
                  <a:pt x="121031" y="0"/>
                </a:moveTo>
                <a:lnTo>
                  <a:pt x="69437" y="24257"/>
                </a:lnTo>
                <a:lnTo>
                  <a:pt x="31368" y="66421"/>
                </a:lnTo>
                <a:lnTo>
                  <a:pt x="7873" y="122793"/>
                </a:lnTo>
                <a:lnTo>
                  <a:pt x="0" y="189737"/>
                </a:lnTo>
                <a:lnTo>
                  <a:pt x="1952" y="224597"/>
                </a:lnTo>
                <a:lnTo>
                  <a:pt x="17573" y="286267"/>
                </a:lnTo>
                <a:lnTo>
                  <a:pt x="48575" y="336272"/>
                </a:lnTo>
                <a:lnTo>
                  <a:pt x="93481" y="369419"/>
                </a:lnTo>
                <a:lnTo>
                  <a:pt x="121031" y="379349"/>
                </a:lnTo>
                <a:lnTo>
                  <a:pt x="125856" y="363982"/>
                </a:lnTo>
                <a:lnTo>
                  <a:pt x="104209" y="354387"/>
                </a:lnTo>
                <a:lnTo>
                  <a:pt x="85550" y="341042"/>
                </a:lnTo>
                <a:lnTo>
                  <a:pt x="57150" y="303149"/>
                </a:lnTo>
                <a:lnTo>
                  <a:pt x="40290" y="251571"/>
                </a:lnTo>
                <a:lnTo>
                  <a:pt x="34670" y="187706"/>
                </a:lnTo>
                <a:lnTo>
                  <a:pt x="36075" y="155340"/>
                </a:lnTo>
                <a:lnTo>
                  <a:pt x="47315" y="99230"/>
                </a:lnTo>
                <a:lnTo>
                  <a:pt x="69913" y="54907"/>
                </a:lnTo>
                <a:lnTo>
                  <a:pt x="104584" y="24895"/>
                </a:lnTo>
                <a:lnTo>
                  <a:pt x="126491" y="15367"/>
                </a:lnTo>
                <a:lnTo>
                  <a:pt x="1210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536440"/>
            <a:ext cx="323850" cy="40068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38530" y="2931223"/>
            <a:ext cx="7749540" cy="2947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30" dirty="0">
                <a:latin typeface="Calibri"/>
                <a:cs typeface="Calibri"/>
              </a:rPr>
              <a:t>Suppose</a:t>
            </a:r>
            <a:r>
              <a:rPr sz="3200" spc="-229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random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walk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reaches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a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state</a:t>
            </a:r>
            <a:endParaRPr sz="3200">
              <a:latin typeface="Calibri"/>
              <a:cs typeface="Calibri"/>
            </a:endParaRPr>
          </a:p>
          <a:p>
            <a:pPr marL="98425">
              <a:lnSpc>
                <a:spcPct val="100000"/>
              </a:lnSpc>
              <a:spcBef>
                <a:spcPts val="65"/>
              </a:spcBef>
              <a:tabLst>
                <a:tab pos="1699895" algn="l"/>
              </a:tabLst>
            </a:pPr>
            <a:r>
              <a:rPr sz="3200" spc="15" dirty="0">
                <a:latin typeface="Cambria Math"/>
                <a:cs typeface="Cambria Math"/>
              </a:rPr>
              <a:t>𝒑  </a:t>
            </a:r>
            <a:r>
              <a:rPr sz="3200" spc="10" dirty="0">
                <a:latin typeface="Cambria Math"/>
                <a:cs typeface="Cambria Math"/>
              </a:rPr>
              <a:t>𝒕</a:t>
            </a:r>
            <a:r>
              <a:rPr sz="3200" spc="-100" dirty="0">
                <a:latin typeface="Cambria Math"/>
                <a:cs typeface="Cambria Math"/>
              </a:rPr>
              <a:t> </a:t>
            </a:r>
            <a:r>
              <a:rPr sz="3200" spc="20" dirty="0">
                <a:latin typeface="Cambria Math"/>
                <a:cs typeface="Cambria Math"/>
              </a:rPr>
              <a:t>+</a:t>
            </a:r>
            <a:r>
              <a:rPr sz="3200" spc="-40" dirty="0">
                <a:latin typeface="Cambria Math"/>
                <a:cs typeface="Cambria Math"/>
              </a:rPr>
              <a:t> </a:t>
            </a:r>
            <a:r>
              <a:rPr sz="3200" spc="15" dirty="0">
                <a:latin typeface="Cambria Math"/>
                <a:cs typeface="Cambria Math"/>
              </a:rPr>
              <a:t>𝟏	</a:t>
            </a:r>
            <a:r>
              <a:rPr sz="3200" spc="20" dirty="0">
                <a:latin typeface="Cambria Math"/>
                <a:cs typeface="Cambria Math"/>
              </a:rPr>
              <a:t>= </a:t>
            </a:r>
            <a:r>
              <a:rPr sz="3200" spc="25" dirty="0">
                <a:latin typeface="Cambria Math"/>
                <a:cs typeface="Cambria Math"/>
              </a:rPr>
              <a:t>𝑴 </a:t>
            </a:r>
            <a:r>
              <a:rPr sz="3200" spc="5" dirty="0">
                <a:latin typeface="Cambria Math"/>
                <a:cs typeface="Cambria Math"/>
              </a:rPr>
              <a:t>⋅ </a:t>
            </a:r>
            <a:r>
              <a:rPr sz="3200" spc="15" dirty="0">
                <a:latin typeface="Cambria Math"/>
                <a:cs typeface="Cambria Math"/>
              </a:rPr>
              <a:t>𝒑(𝒕) </a:t>
            </a:r>
            <a:r>
              <a:rPr sz="3200" spc="20" dirty="0">
                <a:latin typeface="Cambria Math"/>
                <a:cs typeface="Cambria Math"/>
              </a:rPr>
              <a:t>=</a:t>
            </a:r>
            <a:r>
              <a:rPr sz="3200" spc="260" dirty="0">
                <a:latin typeface="Cambria Math"/>
                <a:cs typeface="Cambria Math"/>
              </a:rPr>
              <a:t> </a:t>
            </a:r>
            <a:r>
              <a:rPr sz="3200" spc="20" dirty="0">
                <a:latin typeface="Cambria Math"/>
                <a:cs typeface="Cambria Math"/>
              </a:rPr>
              <a:t>𝒑(𝒕)</a:t>
            </a:r>
            <a:endParaRPr sz="3200">
              <a:latin typeface="Cambria Math"/>
              <a:cs typeface="Cambria Math"/>
            </a:endParaRPr>
          </a:p>
          <a:p>
            <a:pPr marL="31750">
              <a:lnSpc>
                <a:spcPct val="100000"/>
              </a:lnSpc>
              <a:spcBef>
                <a:spcPts val="665"/>
              </a:spcBef>
            </a:pPr>
            <a:r>
              <a:rPr sz="2750" spc="-15" dirty="0">
                <a:latin typeface="Calibri"/>
                <a:cs typeface="Calibri"/>
              </a:rPr>
              <a:t>then </a:t>
            </a:r>
            <a:r>
              <a:rPr sz="2750" spc="30" dirty="0">
                <a:latin typeface="Cambria Math"/>
                <a:cs typeface="Cambria Math"/>
              </a:rPr>
              <a:t>𝒑(𝒕)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b="1" spc="5" dirty="0">
                <a:solidFill>
                  <a:srgbClr val="0000FF"/>
                </a:solidFill>
                <a:latin typeface="Calibri"/>
                <a:cs typeface="Calibri"/>
              </a:rPr>
              <a:t>stationary </a:t>
            </a:r>
            <a:r>
              <a:rPr sz="2750" b="1" spc="10" dirty="0">
                <a:solidFill>
                  <a:srgbClr val="0000FF"/>
                </a:solidFill>
                <a:latin typeface="Calibri"/>
                <a:cs typeface="Calibri"/>
              </a:rPr>
              <a:t>distribution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dirty="0">
                <a:latin typeface="Calibri"/>
                <a:cs typeface="Calibri"/>
              </a:rPr>
              <a:t>random</a:t>
            </a:r>
            <a:r>
              <a:rPr sz="2750" spc="45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walk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Our original </a:t>
            </a:r>
            <a:r>
              <a:rPr sz="3200" b="1" spc="-20" dirty="0">
                <a:solidFill>
                  <a:srgbClr val="0000FF"/>
                </a:solidFill>
                <a:latin typeface="Calibri"/>
                <a:cs typeface="Calibri"/>
              </a:rPr>
              <a:t>rank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vector </a:t>
            </a:r>
            <a:r>
              <a:rPr sz="3200" spc="15" dirty="0">
                <a:latin typeface="Cambria Math"/>
                <a:cs typeface="Cambria Math"/>
              </a:rPr>
              <a:t>𝒓 </a:t>
            </a:r>
            <a:r>
              <a:rPr sz="3200" spc="5" dirty="0">
                <a:latin typeface="Calibri"/>
                <a:cs typeface="Calibri"/>
              </a:rPr>
              <a:t>satisfies  </a:t>
            </a:r>
            <a:r>
              <a:rPr sz="3200" spc="15" dirty="0">
                <a:latin typeface="Cambria Math"/>
                <a:cs typeface="Cambria Math"/>
              </a:rPr>
              <a:t>𝒓  </a:t>
            </a:r>
            <a:r>
              <a:rPr sz="3200" spc="20" dirty="0">
                <a:latin typeface="Cambria Math"/>
                <a:cs typeface="Cambria Math"/>
              </a:rPr>
              <a:t>=  </a:t>
            </a:r>
            <a:r>
              <a:rPr sz="3200" spc="25" dirty="0">
                <a:latin typeface="Cambria Math"/>
                <a:cs typeface="Cambria Math"/>
              </a:rPr>
              <a:t>𝑴 </a:t>
            </a:r>
            <a:r>
              <a:rPr sz="3200" spc="5" dirty="0">
                <a:latin typeface="Cambria Math"/>
                <a:cs typeface="Cambria Math"/>
              </a:rPr>
              <a:t>⋅</a:t>
            </a:r>
            <a:r>
              <a:rPr sz="3200" spc="-105" dirty="0">
                <a:latin typeface="Cambria Math"/>
                <a:cs typeface="Cambria Math"/>
              </a:rPr>
              <a:t> </a:t>
            </a:r>
            <a:r>
              <a:rPr sz="3200" spc="15" dirty="0">
                <a:latin typeface="Cambria Math"/>
                <a:cs typeface="Cambria Math"/>
              </a:rPr>
              <a:t>𝒓</a:t>
            </a:r>
            <a:endParaRPr sz="3200">
              <a:latin typeface="Cambria Math"/>
              <a:cs typeface="Cambria Math"/>
            </a:endParaRPr>
          </a:p>
          <a:p>
            <a:pPr marL="307975" marR="2252345" indent="-276860">
              <a:lnSpc>
                <a:spcPct val="102400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spc="-25" dirty="0">
                <a:solidFill>
                  <a:srgbClr val="D50092"/>
                </a:solidFill>
                <a:latin typeface="Calibri"/>
                <a:cs typeface="Calibri"/>
              </a:rPr>
              <a:t>So, </a:t>
            </a:r>
            <a:r>
              <a:rPr sz="2750" spc="15" dirty="0">
                <a:solidFill>
                  <a:srgbClr val="D50092"/>
                </a:solidFill>
                <a:latin typeface="Cambria Math"/>
                <a:cs typeface="Cambria Math"/>
              </a:rPr>
              <a:t>𝒓 </a:t>
            </a:r>
            <a:r>
              <a:rPr sz="2750" b="1" spc="5" dirty="0">
                <a:solidFill>
                  <a:srgbClr val="D50092"/>
                </a:solidFill>
                <a:latin typeface="Calibri"/>
                <a:cs typeface="Calibri"/>
              </a:rPr>
              <a:t>is </a:t>
            </a:r>
            <a:r>
              <a:rPr sz="2750" b="1" spc="10" dirty="0">
                <a:solidFill>
                  <a:srgbClr val="D50092"/>
                </a:solidFill>
                <a:latin typeface="Calibri"/>
                <a:cs typeface="Calibri"/>
              </a:rPr>
              <a:t>a stationary distribution </a:t>
            </a:r>
            <a:r>
              <a:rPr sz="2750" b="1" spc="-10" dirty="0">
                <a:solidFill>
                  <a:srgbClr val="D50092"/>
                </a:solidFill>
                <a:latin typeface="Calibri"/>
                <a:cs typeface="Calibri"/>
              </a:rPr>
              <a:t>for  </a:t>
            </a:r>
            <a:r>
              <a:rPr sz="2750" b="1" spc="15" dirty="0">
                <a:solidFill>
                  <a:srgbClr val="D50092"/>
                </a:solidFill>
                <a:latin typeface="Calibri"/>
                <a:cs typeface="Calibri"/>
              </a:rPr>
              <a:t>the </a:t>
            </a:r>
            <a:r>
              <a:rPr sz="2750" b="1" spc="-5" dirty="0">
                <a:solidFill>
                  <a:srgbClr val="D50092"/>
                </a:solidFill>
                <a:latin typeface="Calibri"/>
                <a:cs typeface="Calibri"/>
              </a:rPr>
              <a:t>random</a:t>
            </a:r>
            <a:r>
              <a:rPr sz="2750" b="1" spc="10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2750" b="1" spc="10" dirty="0">
                <a:solidFill>
                  <a:srgbClr val="D50092"/>
                </a:solidFill>
                <a:latin typeface="Calibri"/>
                <a:cs typeface="Calibri"/>
              </a:rPr>
              <a:t>walk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72400" y="21717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209550" y="0"/>
                </a:moveTo>
                <a:lnTo>
                  <a:pt x="161512" y="5536"/>
                </a:lnTo>
                <a:lnTo>
                  <a:pt x="117410" y="21304"/>
                </a:lnTo>
                <a:lnTo>
                  <a:pt x="78501" y="46046"/>
                </a:lnTo>
                <a:lnTo>
                  <a:pt x="46046" y="78501"/>
                </a:lnTo>
                <a:lnTo>
                  <a:pt x="21304" y="117410"/>
                </a:lnTo>
                <a:lnTo>
                  <a:pt x="5536" y="161512"/>
                </a:lnTo>
                <a:lnTo>
                  <a:pt x="0" y="209550"/>
                </a:lnTo>
                <a:lnTo>
                  <a:pt x="5536" y="257587"/>
                </a:lnTo>
                <a:lnTo>
                  <a:pt x="21304" y="301689"/>
                </a:lnTo>
                <a:lnTo>
                  <a:pt x="46046" y="340598"/>
                </a:lnTo>
                <a:lnTo>
                  <a:pt x="78501" y="373053"/>
                </a:lnTo>
                <a:lnTo>
                  <a:pt x="117410" y="397795"/>
                </a:lnTo>
                <a:lnTo>
                  <a:pt x="161512" y="413563"/>
                </a:lnTo>
                <a:lnTo>
                  <a:pt x="209550" y="419100"/>
                </a:lnTo>
                <a:lnTo>
                  <a:pt x="257587" y="413563"/>
                </a:lnTo>
                <a:lnTo>
                  <a:pt x="301689" y="397795"/>
                </a:lnTo>
                <a:lnTo>
                  <a:pt x="340598" y="373053"/>
                </a:lnTo>
                <a:lnTo>
                  <a:pt x="373053" y="340598"/>
                </a:lnTo>
                <a:lnTo>
                  <a:pt x="397795" y="301689"/>
                </a:lnTo>
                <a:lnTo>
                  <a:pt x="413563" y="257587"/>
                </a:lnTo>
                <a:lnTo>
                  <a:pt x="419100" y="209550"/>
                </a:lnTo>
                <a:lnTo>
                  <a:pt x="413563" y="161512"/>
                </a:lnTo>
                <a:lnTo>
                  <a:pt x="397795" y="117410"/>
                </a:lnTo>
                <a:lnTo>
                  <a:pt x="373053" y="78501"/>
                </a:lnTo>
                <a:lnTo>
                  <a:pt x="340598" y="46046"/>
                </a:lnTo>
                <a:lnTo>
                  <a:pt x="301689" y="21304"/>
                </a:lnTo>
                <a:lnTo>
                  <a:pt x="257587" y="5536"/>
                </a:lnTo>
                <a:lnTo>
                  <a:pt x="209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886909" y="2210752"/>
            <a:ext cx="2236470" cy="774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24130" algn="ctr">
              <a:lnSpc>
                <a:spcPct val="100000"/>
              </a:lnSpc>
              <a:spcBef>
                <a:spcPts val="125"/>
              </a:spcBef>
            </a:pP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2750" i="1" spc="-55" dirty="0">
                <a:latin typeface="Times New Roman"/>
                <a:cs typeface="Times New Roman"/>
              </a:rPr>
              <a:t>p</a:t>
            </a:r>
            <a:r>
              <a:rPr sz="2750" spc="-55" dirty="0">
                <a:latin typeface="Times New Roman"/>
                <a:cs typeface="Times New Roman"/>
              </a:rPr>
              <a:t>(</a:t>
            </a:r>
            <a:r>
              <a:rPr sz="2750" i="1" spc="-55" dirty="0">
                <a:latin typeface="Times New Roman"/>
                <a:cs typeface="Times New Roman"/>
              </a:rPr>
              <a:t>t </a:t>
            </a:r>
            <a:r>
              <a:rPr sz="2750" spc="-90" dirty="0">
                <a:latin typeface="Symbol"/>
                <a:cs typeface="Symbol"/>
              </a:rPr>
              <a:t></a:t>
            </a:r>
            <a:r>
              <a:rPr sz="2750" spc="-90" dirty="0">
                <a:latin typeface="Times New Roman"/>
                <a:cs typeface="Times New Roman"/>
              </a:rPr>
              <a:t>1) </a:t>
            </a:r>
            <a:r>
              <a:rPr sz="2750" spc="-110" dirty="0">
                <a:latin typeface="Symbol"/>
                <a:cs typeface="Symbol"/>
              </a:rPr>
              <a:t></a:t>
            </a:r>
            <a:r>
              <a:rPr sz="2750" spc="-110" dirty="0">
                <a:latin typeface="Times New Roman"/>
                <a:cs typeface="Times New Roman"/>
              </a:rPr>
              <a:t> </a:t>
            </a:r>
            <a:r>
              <a:rPr sz="2750" spc="-180" dirty="0">
                <a:latin typeface="Times New Roman"/>
                <a:cs typeface="Times New Roman"/>
              </a:rPr>
              <a:t>M </a:t>
            </a:r>
            <a:r>
              <a:rPr sz="2750" spc="-50" dirty="0">
                <a:latin typeface="Symbol"/>
                <a:cs typeface="Symbol"/>
              </a:rPr>
              <a:t></a:t>
            </a:r>
            <a:r>
              <a:rPr sz="2750" spc="-330" dirty="0">
                <a:latin typeface="Times New Roman"/>
                <a:cs typeface="Times New Roman"/>
              </a:rPr>
              <a:t> </a:t>
            </a:r>
            <a:r>
              <a:rPr sz="2750" i="1" spc="-20" dirty="0">
                <a:latin typeface="Times New Roman"/>
                <a:cs typeface="Times New Roman"/>
              </a:rPr>
              <a:t>p</a:t>
            </a:r>
            <a:r>
              <a:rPr sz="2750" spc="-20" dirty="0">
                <a:latin typeface="Times New Roman"/>
                <a:cs typeface="Times New Roman"/>
              </a:rPr>
              <a:t>(</a:t>
            </a:r>
            <a:r>
              <a:rPr sz="2750" i="1" spc="-20" dirty="0">
                <a:latin typeface="Times New Roman"/>
                <a:cs typeface="Times New Roman"/>
              </a:rPr>
              <a:t>t</a:t>
            </a:r>
            <a:r>
              <a:rPr sz="2750" spc="-20" dirty="0">
                <a:latin typeface="Times New Roman"/>
                <a:cs typeface="Times New Roman"/>
              </a:rPr>
              <a:t>)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29475" y="1219199"/>
            <a:ext cx="1838325" cy="1019810"/>
          </a:xfrm>
          <a:custGeom>
            <a:avLst/>
            <a:gdLst/>
            <a:ahLst/>
            <a:cxnLst/>
            <a:rect l="l" t="t" r="r" b="b"/>
            <a:pathLst>
              <a:path w="1838325" h="1019810">
                <a:moveTo>
                  <a:pt x="625094" y="889127"/>
                </a:moveTo>
                <a:lnTo>
                  <a:pt x="619633" y="881888"/>
                </a:lnTo>
                <a:lnTo>
                  <a:pt x="611886" y="880872"/>
                </a:lnTo>
                <a:lnTo>
                  <a:pt x="604012" y="879729"/>
                </a:lnTo>
                <a:lnTo>
                  <a:pt x="596773" y="885190"/>
                </a:lnTo>
                <a:lnTo>
                  <a:pt x="595757" y="892937"/>
                </a:lnTo>
                <a:lnTo>
                  <a:pt x="589267" y="939012"/>
                </a:lnTo>
                <a:lnTo>
                  <a:pt x="352869" y="360781"/>
                </a:lnTo>
                <a:lnTo>
                  <a:pt x="373049" y="340601"/>
                </a:lnTo>
                <a:lnTo>
                  <a:pt x="397789" y="301701"/>
                </a:lnTo>
                <a:lnTo>
                  <a:pt x="413562" y="257594"/>
                </a:lnTo>
                <a:lnTo>
                  <a:pt x="419100" y="209550"/>
                </a:lnTo>
                <a:lnTo>
                  <a:pt x="413562" y="161518"/>
                </a:lnTo>
                <a:lnTo>
                  <a:pt x="397789" y="117411"/>
                </a:lnTo>
                <a:lnTo>
                  <a:pt x="373049" y="78511"/>
                </a:lnTo>
                <a:lnTo>
                  <a:pt x="340588" y="46050"/>
                </a:lnTo>
                <a:lnTo>
                  <a:pt x="301688" y="21310"/>
                </a:lnTo>
                <a:lnTo>
                  <a:pt x="257581" y="5537"/>
                </a:lnTo>
                <a:lnTo>
                  <a:pt x="209550" y="0"/>
                </a:lnTo>
                <a:lnTo>
                  <a:pt x="161505" y="5537"/>
                </a:lnTo>
                <a:lnTo>
                  <a:pt x="117398" y="21310"/>
                </a:lnTo>
                <a:lnTo>
                  <a:pt x="78498" y="46050"/>
                </a:lnTo>
                <a:lnTo>
                  <a:pt x="46037" y="78511"/>
                </a:lnTo>
                <a:lnTo>
                  <a:pt x="21297" y="117411"/>
                </a:lnTo>
                <a:lnTo>
                  <a:pt x="5524" y="161518"/>
                </a:lnTo>
                <a:lnTo>
                  <a:pt x="0" y="209550"/>
                </a:lnTo>
                <a:lnTo>
                  <a:pt x="5524" y="257594"/>
                </a:lnTo>
                <a:lnTo>
                  <a:pt x="21297" y="301701"/>
                </a:lnTo>
                <a:lnTo>
                  <a:pt x="46037" y="340601"/>
                </a:lnTo>
                <a:lnTo>
                  <a:pt x="78498" y="373062"/>
                </a:lnTo>
                <a:lnTo>
                  <a:pt x="117398" y="397802"/>
                </a:lnTo>
                <a:lnTo>
                  <a:pt x="161505" y="413575"/>
                </a:lnTo>
                <a:lnTo>
                  <a:pt x="209550" y="419100"/>
                </a:lnTo>
                <a:lnTo>
                  <a:pt x="257581" y="413575"/>
                </a:lnTo>
                <a:lnTo>
                  <a:pt x="301688" y="397802"/>
                </a:lnTo>
                <a:lnTo>
                  <a:pt x="329768" y="379945"/>
                </a:lnTo>
                <a:lnTo>
                  <a:pt x="562787" y="949680"/>
                </a:lnTo>
                <a:lnTo>
                  <a:pt x="519684" y="916686"/>
                </a:lnTo>
                <a:lnTo>
                  <a:pt x="510794" y="917829"/>
                </a:lnTo>
                <a:lnTo>
                  <a:pt x="505968" y="924052"/>
                </a:lnTo>
                <a:lnTo>
                  <a:pt x="501142" y="930402"/>
                </a:lnTo>
                <a:lnTo>
                  <a:pt x="502285" y="939292"/>
                </a:lnTo>
                <a:lnTo>
                  <a:pt x="584174" y="1002080"/>
                </a:lnTo>
                <a:lnTo>
                  <a:pt x="585724" y="1005967"/>
                </a:lnTo>
                <a:lnTo>
                  <a:pt x="593293" y="1009065"/>
                </a:lnTo>
                <a:lnTo>
                  <a:pt x="606806" y="1019429"/>
                </a:lnTo>
                <a:lnTo>
                  <a:pt x="608203" y="1009396"/>
                </a:lnTo>
                <a:lnTo>
                  <a:pt x="609206" y="1002284"/>
                </a:lnTo>
                <a:lnTo>
                  <a:pt x="612267" y="995172"/>
                </a:lnTo>
                <a:lnTo>
                  <a:pt x="610717" y="991450"/>
                </a:lnTo>
                <a:lnTo>
                  <a:pt x="623951" y="897001"/>
                </a:lnTo>
                <a:lnTo>
                  <a:pt x="625094" y="889127"/>
                </a:lnTo>
                <a:close/>
              </a:path>
              <a:path w="1838325" h="1019810">
                <a:moveTo>
                  <a:pt x="1123950" y="209550"/>
                </a:moveTo>
                <a:lnTo>
                  <a:pt x="1118412" y="161518"/>
                </a:lnTo>
                <a:lnTo>
                  <a:pt x="1102639" y="117411"/>
                </a:lnTo>
                <a:lnTo>
                  <a:pt x="1077899" y="78511"/>
                </a:lnTo>
                <a:lnTo>
                  <a:pt x="1045438" y="46050"/>
                </a:lnTo>
                <a:lnTo>
                  <a:pt x="1006538" y="21310"/>
                </a:lnTo>
                <a:lnTo>
                  <a:pt x="962431" y="5537"/>
                </a:lnTo>
                <a:lnTo>
                  <a:pt x="914400" y="0"/>
                </a:lnTo>
                <a:lnTo>
                  <a:pt x="866355" y="5537"/>
                </a:lnTo>
                <a:lnTo>
                  <a:pt x="822248" y="21310"/>
                </a:lnTo>
                <a:lnTo>
                  <a:pt x="783348" y="46050"/>
                </a:lnTo>
                <a:lnTo>
                  <a:pt x="750887" y="78511"/>
                </a:lnTo>
                <a:lnTo>
                  <a:pt x="726147" y="117411"/>
                </a:lnTo>
                <a:lnTo>
                  <a:pt x="710374" y="161518"/>
                </a:lnTo>
                <a:lnTo>
                  <a:pt x="704850" y="209550"/>
                </a:lnTo>
                <a:lnTo>
                  <a:pt x="710374" y="257594"/>
                </a:lnTo>
                <a:lnTo>
                  <a:pt x="726147" y="301701"/>
                </a:lnTo>
                <a:lnTo>
                  <a:pt x="750887" y="340601"/>
                </a:lnTo>
                <a:lnTo>
                  <a:pt x="783348" y="373062"/>
                </a:lnTo>
                <a:lnTo>
                  <a:pt x="822248" y="397802"/>
                </a:lnTo>
                <a:lnTo>
                  <a:pt x="866355" y="413575"/>
                </a:lnTo>
                <a:lnTo>
                  <a:pt x="887844" y="416052"/>
                </a:lnTo>
                <a:lnTo>
                  <a:pt x="764476" y="876414"/>
                </a:lnTo>
                <a:lnTo>
                  <a:pt x="752182" y="831469"/>
                </a:lnTo>
                <a:lnTo>
                  <a:pt x="750189" y="823976"/>
                </a:lnTo>
                <a:lnTo>
                  <a:pt x="742315" y="819404"/>
                </a:lnTo>
                <a:lnTo>
                  <a:pt x="734695" y="821563"/>
                </a:lnTo>
                <a:lnTo>
                  <a:pt x="727075" y="823595"/>
                </a:lnTo>
                <a:lnTo>
                  <a:pt x="722630" y="831469"/>
                </a:lnTo>
                <a:lnTo>
                  <a:pt x="724662" y="839089"/>
                </a:lnTo>
                <a:lnTo>
                  <a:pt x="749731" y="931176"/>
                </a:lnTo>
                <a:lnTo>
                  <a:pt x="750849" y="927227"/>
                </a:lnTo>
                <a:lnTo>
                  <a:pt x="750824" y="927354"/>
                </a:lnTo>
                <a:lnTo>
                  <a:pt x="749731" y="931176"/>
                </a:lnTo>
                <a:lnTo>
                  <a:pt x="748665" y="934974"/>
                </a:lnTo>
                <a:lnTo>
                  <a:pt x="752627" y="941819"/>
                </a:lnTo>
                <a:lnTo>
                  <a:pt x="757174" y="958469"/>
                </a:lnTo>
                <a:lnTo>
                  <a:pt x="768819" y="946912"/>
                </a:lnTo>
                <a:lnTo>
                  <a:pt x="769327" y="946416"/>
                </a:lnTo>
                <a:lnTo>
                  <a:pt x="776351" y="942340"/>
                </a:lnTo>
                <a:lnTo>
                  <a:pt x="777392" y="938415"/>
                </a:lnTo>
                <a:lnTo>
                  <a:pt x="845058" y="871347"/>
                </a:lnTo>
                <a:lnTo>
                  <a:pt x="850773" y="865759"/>
                </a:lnTo>
                <a:lnTo>
                  <a:pt x="850773" y="856742"/>
                </a:lnTo>
                <a:lnTo>
                  <a:pt x="839597" y="845566"/>
                </a:lnTo>
                <a:lnTo>
                  <a:pt x="830580" y="845439"/>
                </a:lnTo>
                <a:lnTo>
                  <a:pt x="792073" y="883640"/>
                </a:lnTo>
                <a:lnTo>
                  <a:pt x="916647" y="418846"/>
                </a:lnTo>
                <a:lnTo>
                  <a:pt x="962431" y="413575"/>
                </a:lnTo>
                <a:lnTo>
                  <a:pt x="1006538" y="397802"/>
                </a:lnTo>
                <a:lnTo>
                  <a:pt x="1045438" y="373062"/>
                </a:lnTo>
                <a:lnTo>
                  <a:pt x="1077899" y="340601"/>
                </a:lnTo>
                <a:lnTo>
                  <a:pt x="1102639" y="301701"/>
                </a:lnTo>
                <a:lnTo>
                  <a:pt x="1118412" y="257594"/>
                </a:lnTo>
                <a:lnTo>
                  <a:pt x="1123950" y="209550"/>
                </a:lnTo>
                <a:close/>
              </a:path>
              <a:path w="1838325" h="1019810">
                <a:moveTo>
                  <a:pt x="1838325" y="209550"/>
                </a:moveTo>
                <a:lnTo>
                  <a:pt x="1832787" y="161518"/>
                </a:lnTo>
                <a:lnTo>
                  <a:pt x="1817014" y="117411"/>
                </a:lnTo>
                <a:lnTo>
                  <a:pt x="1792274" y="78511"/>
                </a:lnTo>
                <a:lnTo>
                  <a:pt x="1759813" y="46050"/>
                </a:lnTo>
                <a:lnTo>
                  <a:pt x="1720913" y="21310"/>
                </a:lnTo>
                <a:lnTo>
                  <a:pt x="1676806" y="5537"/>
                </a:lnTo>
                <a:lnTo>
                  <a:pt x="1628775" y="0"/>
                </a:lnTo>
                <a:lnTo>
                  <a:pt x="1580730" y="5537"/>
                </a:lnTo>
                <a:lnTo>
                  <a:pt x="1536623" y="21310"/>
                </a:lnTo>
                <a:lnTo>
                  <a:pt x="1497723" y="46050"/>
                </a:lnTo>
                <a:lnTo>
                  <a:pt x="1465262" y="78511"/>
                </a:lnTo>
                <a:lnTo>
                  <a:pt x="1440522" y="117411"/>
                </a:lnTo>
                <a:lnTo>
                  <a:pt x="1424749" y="161518"/>
                </a:lnTo>
                <a:lnTo>
                  <a:pt x="1419225" y="209550"/>
                </a:lnTo>
                <a:lnTo>
                  <a:pt x="1424749" y="257594"/>
                </a:lnTo>
                <a:lnTo>
                  <a:pt x="1440522" y="301701"/>
                </a:lnTo>
                <a:lnTo>
                  <a:pt x="1465262" y="340601"/>
                </a:lnTo>
                <a:lnTo>
                  <a:pt x="1471383" y="346735"/>
                </a:lnTo>
                <a:lnTo>
                  <a:pt x="951890" y="948639"/>
                </a:lnTo>
                <a:lnTo>
                  <a:pt x="960374" y="903097"/>
                </a:lnTo>
                <a:lnTo>
                  <a:pt x="961771" y="895350"/>
                </a:lnTo>
                <a:lnTo>
                  <a:pt x="956691" y="887857"/>
                </a:lnTo>
                <a:lnTo>
                  <a:pt x="948944" y="886333"/>
                </a:lnTo>
                <a:lnTo>
                  <a:pt x="941070" y="884936"/>
                </a:lnTo>
                <a:lnTo>
                  <a:pt x="933704" y="890016"/>
                </a:lnTo>
                <a:lnTo>
                  <a:pt x="932180" y="897763"/>
                </a:lnTo>
                <a:lnTo>
                  <a:pt x="914730" y="991666"/>
                </a:lnTo>
                <a:lnTo>
                  <a:pt x="912114" y="994664"/>
                </a:lnTo>
                <a:lnTo>
                  <a:pt x="912672" y="1002715"/>
                </a:lnTo>
                <a:lnTo>
                  <a:pt x="909574" y="1019429"/>
                </a:lnTo>
                <a:lnTo>
                  <a:pt x="925499" y="1013968"/>
                </a:lnTo>
                <a:lnTo>
                  <a:pt x="925677" y="1013917"/>
                </a:lnTo>
                <a:lnTo>
                  <a:pt x="933831" y="1013333"/>
                </a:lnTo>
                <a:lnTo>
                  <a:pt x="936485" y="1010208"/>
                </a:lnTo>
                <a:lnTo>
                  <a:pt x="1034034" y="976757"/>
                </a:lnTo>
                <a:lnTo>
                  <a:pt x="1038098" y="968629"/>
                </a:lnTo>
                <a:lnTo>
                  <a:pt x="1035558" y="961136"/>
                </a:lnTo>
                <a:lnTo>
                  <a:pt x="1032891" y="953643"/>
                </a:lnTo>
                <a:lnTo>
                  <a:pt x="1024763" y="949706"/>
                </a:lnTo>
                <a:lnTo>
                  <a:pt x="973442" y="967359"/>
                </a:lnTo>
                <a:lnTo>
                  <a:pt x="1491615" y="366966"/>
                </a:lnTo>
                <a:lnTo>
                  <a:pt x="1497723" y="373062"/>
                </a:lnTo>
                <a:lnTo>
                  <a:pt x="1536623" y="397802"/>
                </a:lnTo>
                <a:lnTo>
                  <a:pt x="1580730" y="413575"/>
                </a:lnTo>
                <a:lnTo>
                  <a:pt x="1628775" y="419100"/>
                </a:lnTo>
                <a:lnTo>
                  <a:pt x="1676806" y="413575"/>
                </a:lnTo>
                <a:lnTo>
                  <a:pt x="1720913" y="397802"/>
                </a:lnTo>
                <a:lnTo>
                  <a:pt x="1759813" y="373062"/>
                </a:lnTo>
                <a:lnTo>
                  <a:pt x="1792274" y="340601"/>
                </a:lnTo>
                <a:lnTo>
                  <a:pt x="1817014" y="301701"/>
                </a:lnTo>
                <a:lnTo>
                  <a:pt x="1832787" y="257594"/>
                </a:lnTo>
                <a:lnTo>
                  <a:pt x="1838325" y="20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02245" y="1254823"/>
            <a:ext cx="17100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62000" algn="l"/>
                <a:tab pos="1473835" algn="l"/>
              </a:tabLst>
            </a:pPr>
            <a:r>
              <a:rPr sz="2000" b="1" spc="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25" b="1" spc="30" baseline="-18518" dirty="0">
                <a:solidFill>
                  <a:srgbClr val="FFFFFF"/>
                </a:solidFill>
                <a:latin typeface="Arial"/>
                <a:cs typeface="Arial"/>
              </a:rPr>
              <a:t>1	</a:t>
            </a:r>
            <a:r>
              <a:rPr sz="2000" b="1" spc="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25" b="1" spc="30" baseline="-18518" dirty="0">
                <a:solidFill>
                  <a:srgbClr val="FFFFFF"/>
                </a:solidFill>
                <a:latin typeface="Arial"/>
                <a:cs typeface="Arial"/>
              </a:rPr>
              <a:t>2	</a:t>
            </a:r>
            <a:r>
              <a:rPr sz="2000" b="1" spc="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25" b="1" spc="30" baseline="-18518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6377051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b="1" spc="15" dirty="0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b="1" spc="-5" dirty="0">
                <a:solidFill>
                  <a:srgbClr val="0000FF"/>
                </a:solidFill>
                <a:latin typeface="Calibri"/>
                <a:cs typeface="Calibri"/>
              </a:rPr>
              <a:t>central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result </a:t>
            </a:r>
            <a:r>
              <a:rPr b="1" spc="-10" dirty="0">
                <a:solidFill>
                  <a:srgbClr val="0000FF"/>
                </a:solidFill>
                <a:latin typeface="Calibri"/>
                <a:cs typeface="Calibri"/>
              </a:rPr>
              <a:t>from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the theory of</a:t>
            </a:r>
            <a:r>
              <a:rPr b="1" spc="-4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00FF"/>
                </a:solidFill>
                <a:latin typeface="Calibri"/>
                <a:cs typeface="Calibri"/>
              </a:rPr>
              <a:t>random  </a:t>
            </a:r>
            <a:r>
              <a:rPr b="1" spc="15" dirty="0">
                <a:solidFill>
                  <a:srgbClr val="0000FF"/>
                </a:solidFill>
                <a:latin typeface="Calibri"/>
                <a:cs typeface="Calibri"/>
              </a:rPr>
              <a:t>walks </a:t>
            </a:r>
            <a:r>
              <a:rPr b="1" spc="-10" dirty="0">
                <a:solidFill>
                  <a:srgbClr val="0000FF"/>
                </a:solidFill>
                <a:latin typeface="Calibri"/>
                <a:cs typeface="Calibri"/>
              </a:rPr>
              <a:t>(a.k.a. </a:t>
            </a:r>
            <a:r>
              <a:rPr b="1" dirty="0">
                <a:solidFill>
                  <a:srgbClr val="0000FF"/>
                </a:solidFill>
                <a:latin typeface="Calibri"/>
                <a:cs typeface="Calibri"/>
              </a:rPr>
              <a:t>Markov</a:t>
            </a:r>
            <a:r>
              <a:rPr b="1" spc="-2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0000FF"/>
                </a:solidFill>
                <a:latin typeface="Calibri"/>
                <a:cs typeface="Calibri"/>
              </a:rPr>
              <a:t>processes):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14159" y="2733865"/>
            <a:ext cx="8277859" cy="3086100"/>
            <a:chOff x="514159" y="2733865"/>
            <a:chExt cx="8277859" cy="3086100"/>
          </a:xfrm>
        </p:grpSpPr>
        <p:sp>
          <p:nvSpPr>
            <p:cNvPr id="6" name="object 6"/>
            <p:cNvSpPr/>
            <p:nvPr/>
          </p:nvSpPr>
          <p:spPr>
            <a:xfrm>
              <a:off x="538162" y="2748025"/>
              <a:ext cx="8230234" cy="3048000"/>
            </a:xfrm>
            <a:custGeom>
              <a:avLst/>
              <a:gdLst/>
              <a:ahLst/>
              <a:cxnLst/>
              <a:rect l="l" t="t" r="r" b="b"/>
              <a:pathLst>
                <a:path w="8230234" h="3048000">
                  <a:moveTo>
                    <a:pt x="7721536" y="0"/>
                  </a:moveTo>
                  <a:lnTo>
                    <a:pt x="508000" y="0"/>
                  </a:lnTo>
                  <a:lnTo>
                    <a:pt x="459076" y="2324"/>
                  </a:lnTo>
                  <a:lnTo>
                    <a:pt x="411469" y="9155"/>
                  </a:lnTo>
                  <a:lnTo>
                    <a:pt x="365390" y="20282"/>
                  </a:lnTo>
                  <a:lnTo>
                    <a:pt x="321052" y="35490"/>
                  </a:lnTo>
                  <a:lnTo>
                    <a:pt x="278669" y="54568"/>
                  </a:lnTo>
                  <a:lnTo>
                    <a:pt x="238453" y="77304"/>
                  </a:lnTo>
                  <a:lnTo>
                    <a:pt x="200617" y="103484"/>
                  </a:lnTo>
                  <a:lnTo>
                    <a:pt x="165374" y="132896"/>
                  </a:lnTo>
                  <a:lnTo>
                    <a:pt x="132937" y="165329"/>
                  </a:lnTo>
                  <a:lnTo>
                    <a:pt x="103518" y="200568"/>
                  </a:lnTo>
                  <a:lnTo>
                    <a:pt x="77331" y="238402"/>
                  </a:lnTo>
                  <a:lnTo>
                    <a:pt x="54589" y="278619"/>
                  </a:lnTo>
                  <a:lnTo>
                    <a:pt x="35505" y="321005"/>
                  </a:lnTo>
                  <a:lnTo>
                    <a:pt x="20291" y="365349"/>
                  </a:lnTo>
                  <a:lnTo>
                    <a:pt x="9160" y="411438"/>
                  </a:lnTo>
                  <a:lnTo>
                    <a:pt x="2325" y="459059"/>
                  </a:lnTo>
                  <a:lnTo>
                    <a:pt x="0" y="508000"/>
                  </a:lnTo>
                  <a:lnTo>
                    <a:pt x="0" y="2539873"/>
                  </a:lnTo>
                  <a:lnTo>
                    <a:pt x="2325" y="2588814"/>
                  </a:lnTo>
                  <a:lnTo>
                    <a:pt x="9160" y="2636437"/>
                  </a:lnTo>
                  <a:lnTo>
                    <a:pt x="20291" y="2682528"/>
                  </a:lnTo>
                  <a:lnTo>
                    <a:pt x="35505" y="2726876"/>
                  </a:lnTo>
                  <a:lnTo>
                    <a:pt x="54589" y="2769266"/>
                  </a:lnTo>
                  <a:lnTo>
                    <a:pt x="77331" y="2809488"/>
                  </a:lnTo>
                  <a:lnTo>
                    <a:pt x="103518" y="2847327"/>
                  </a:lnTo>
                  <a:lnTo>
                    <a:pt x="132937" y="2882572"/>
                  </a:lnTo>
                  <a:lnTo>
                    <a:pt x="165374" y="2915010"/>
                  </a:lnTo>
                  <a:lnTo>
                    <a:pt x="200617" y="2944428"/>
                  </a:lnTo>
                  <a:lnTo>
                    <a:pt x="238453" y="2970614"/>
                  </a:lnTo>
                  <a:lnTo>
                    <a:pt x="278669" y="2993354"/>
                  </a:lnTo>
                  <a:lnTo>
                    <a:pt x="321052" y="3012436"/>
                  </a:lnTo>
                  <a:lnTo>
                    <a:pt x="365390" y="3027649"/>
                  </a:lnTo>
                  <a:lnTo>
                    <a:pt x="411469" y="3038778"/>
                  </a:lnTo>
                  <a:lnTo>
                    <a:pt x="459076" y="3045611"/>
                  </a:lnTo>
                  <a:lnTo>
                    <a:pt x="508000" y="3047936"/>
                  </a:lnTo>
                  <a:lnTo>
                    <a:pt x="7721536" y="3047936"/>
                  </a:lnTo>
                  <a:lnTo>
                    <a:pt x="7770478" y="3045611"/>
                  </a:lnTo>
                  <a:lnTo>
                    <a:pt x="7818103" y="3038778"/>
                  </a:lnTo>
                  <a:lnTo>
                    <a:pt x="7864197" y="3027649"/>
                  </a:lnTo>
                  <a:lnTo>
                    <a:pt x="7908548" y="3012436"/>
                  </a:lnTo>
                  <a:lnTo>
                    <a:pt x="7950943" y="2993354"/>
                  </a:lnTo>
                  <a:lnTo>
                    <a:pt x="7991170" y="2970614"/>
                  </a:lnTo>
                  <a:lnTo>
                    <a:pt x="8029014" y="2944428"/>
                  </a:lnTo>
                  <a:lnTo>
                    <a:pt x="8064265" y="2915010"/>
                  </a:lnTo>
                  <a:lnTo>
                    <a:pt x="8096708" y="2882572"/>
                  </a:lnTo>
                  <a:lnTo>
                    <a:pt x="8126132" y="2847327"/>
                  </a:lnTo>
                  <a:lnTo>
                    <a:pt x="8152322" y="2809488"/>
                  </a:lnTo>
                  <a:lnTo>
                    <a:pt x="8175068" y="2769266"/>
                  </a:lnTo>
                  <a:lnTo>
                    <a:pt x="8194154" y="2726876"/>
                  </a:lnTo>
                  <a:lnTo>
                    <a:pt x="8209370" y="2682528"/>
                  </a:lnTo>
                  <a:lnTo>
                    <a:pt x="8220502" y="2636437"/>
                  </a:lnTo>
                  <a:lnTo>
                    <a:pt x="8227337" y="2588814"/>
                  </a:lnTo>
                  <a:lnTo>
                    <a:pt x="8229663" y="2539873"/>
                  </a:lnTo>
                  <a:lnTo>
                    <a:pt x="8229663" y="508000"/>
                  </a:lnTo>
                  <a:lnTo>
                    <a:pt x="8227337" y="459059"/>
                  </a:lnTo>
                  <a:lnTo>
                    <a:pt x="8220502" y="411438"/>
                  </a:lnTo>
                  <a:lnTo>
                    <a:pt x="8209370" y="365349"/>
                  </a:lnTo>
                  <a:lnTo>
                    <a:pt x="8194154" y="321005"/>
                  </a:lnTo>
                  <a:lnTo>
                    <a:pt x="8175068" y="278619"/>
                  </a:lnTo>
                  <a:lnTo>
                    <a:pt x="8152322" y="238402"/>
                  </a:lnTo>
                  <a:lnTo>
                    <a:pt x="8126132" y="200568"/>
                  </a:lnTo>
                  <a:lnTo>
                    <a:pt x="8096708" y="165329"/>
                  </a:lnTo>
                  <a:lnTo>
                    <a:pt x="8064265" y="132896"/>
                  </a:lnTo>
                  <a:lnTo>
                    <a:pt x="8029014" y="103484"/>
                  </a:lnTo>
                  <a:lnTo>
                    <a:pt x="7991170" y="77304"/>
                  </a:lnTo>
                  <a:lnTo>
                    <a:pt x="7950943" y="54568"/>
                  </a:lnTo>
                  <a:lnTo>
                    <a:pt x="7908548" y="35490"/>
                  </a:lnTo>
                  <a:lnTo>
                    <a:pt x="7864197" y="20282"/>
                  </a:lnTo>
                  <a:lnTo>
                    <a:pt x="7818103" y="9155"/>
                  </a:lnTo>
                  <a:lnTo>
                    <a:pt x="7770478" y="2324"/>
                  </a:lnTo>
                  <a:lnTo>
                    <a:pt x="7721536" y="0"/>
                  </a:lnTo>
                  <a:close/>
                </a:path>
              </a:pathLst>
            </a:custGeom>
            <a:solidFill>
              <a:srgbClr val="C547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4159" y="2733865"/>
              <a:ext cx="8277859" cy="3086100"/>
            </a:xfrm>
            <a:custGeom>
              <a:avLst/>
              <a:gdLst/>
              <a:ahLst/>
              <a:cxnLst/>
              <a:rect l="l" t="t" r="r" b="b"/>
              <a:pathLst>
                <a:path w="8277859" h="3086100">
                  <a:moveTo>
                    <a:pt x="7879143" y="3073400"/>
                  </a:moveTo>
                  <a:lnTo>
                    <a:pt x="399656" y="3073400"/>
                  </a:lnTo>
                  <a:lnTo>
                    <a:pt x="425450" y="3086100"/>
                  </a:lnTo>
                  <a:lnTo>
                    <a:pt x="7853489" y="3086100"/>
                  </a:lnTo>
                  <a:lnTo>
                    <a:pt x="7879143" y="3073400"/>
                  </a:lnTo>
                  <a:close/>
                </a:path>
                <a:path w="8277859" h="3086100">
                  <a:moveTo>
                    <a:pt x="455561" y="25400"/>
                  </a:moveTo>
                  <a:lnTo>
                    <a:pt x="348602" y="25400"/>
                  </a:lnTo>
                  <a:lnTo>
                    <a:pt x="324446" y="38100"/>
                  </a:lnTo>
                  <a:lnTo>
                    <a:pt x="277901" y="63500"/>
                  </a:lnTo>
                  <a:lnTo>
                    <a:pt x="234099" y="88900"/>
                  </a:lnTo>
                  <a:lnTo>
                    <a:pt x="193167" y="114300"/>
                  </a:lnTo>
                  <a:lnTo>
                    <a:pt x="173862" y="139700"/>
                  </a:lnTo>
                  <a:lnTo>
                    <a:pt x="155397" y="152400"/>
                  </a:lnTo>
                  <a:lnTo>
                    <a:pt x="137871" y="165100"/>
                  </a:lnTo>
                  <a:lnTo>
                    <a:pt x="121107" y="190500"/>
                  </a:lnTo>
                  <a:lnTo>
                    <a:pt x="105422" y="215900"/>
                  </a:lnTo>
                  <a:lnTo>
                    <a:pt x="90589" y="228600"/>
                  </a:lnTo>
                  <a:lnTo>
                    <a:pt x="76720" y="254000"/>
                  </a:lnTo>
                  <a:lnTo>
                    <a:pt x="63995" y="279400"/>
                  </a:lnTo>
                  <a:lnTo>
                    <a:pt x="52235" y="292100"/>
                  </a:lnTo>
                  <a:lnTo>
                    <a:pt x="32131" y="342900"/>
                  </a:lnTo>
                  <a:lnTo>
                    <a:pt x="16624" y="393700"/>
                  </a:lnTo>
                  <a:lnTo>
                    <a:pt x="5994" y="444500"/>
                  </a:lnTo>
                  <a:lnTo>
                    <a:pt x="673" y="508000"/>
                  </a:lnTo>
                  <a:lnTo>
                    <a:pt x="0" y="533400"/>
                  </a:lnTo>
                  <a:lnTo>
                    <a:pt x="12" y="2565400"/>
                  </a:lnTo>
                  <a:lnTo>
                    <a:pt x="2844" y="2616200"/>
                  </a:lnTo>
                  <a:lnTo>
                    <a:pt x="10909" y="2667000"/>
                  </a:lnTo>
                  <a:lnTo>
                    <a:pt x="24129" y="2717800"/>
                  </a:lnTo>
                  <a:lnTo>
                    <a:pt x="42049" y="2768600"/>
                  </a:lnTo>
                  <a:lnTo>
                    <a:pt x="64503" y="2819400"/>
                  </a:lnTo>
                  <a:lnTo>
                    <a:pt x="77355" y="2832100"/>
                  </a:lnTo>
                  <a:lnTo>
                    <a:pt x="91236" y="2857500"/>
                  </a:lnTo>
                  <a:lnTo>
                    <a:pt x="106057" y="2882900"/>
                  </a:lnTo>
                  <a:lnTo>
                    <a:pt x="121920" y="2895600"/>
                  </a:lnTo>
                  <a:lnTo>
                    <a:pt x="138633" y="2921000"/>
                  </a:lnTo>
                  <a:lnTo>
                    <a:pt x="156197" y="2933700"/>
                  </a:lnTo>
                  <a:lnTo>
                    <a:pt x="174751" y="2959100"/>
                  </a:lnTo>
                  <a:lnTo>
                    <a:pt x="194043" y="2971800"/>
                  </a:lnTo>
                  <a:lnTo>
                    <a:pt x="235038" y="2997200"/>
                  </a:lnTo>
                  <a:lnTo>
                    <a:pt x="278892" y="3022600"/>
                  </a:lnTo>
                  <a:lnTo>
                    <a:pt x="325551" y="3048000"/>
                  </a:lnTo>
                  <a:lnTo>
                    <a:pt x="374434" y="3073400"/>
                  </a:lnTo>
                  <a:lnTo>
                    <a:pt x="7904416" y="3073400"/>
                  </a:lnTo>
                  <a:lnTo>
                    <a:pt x="7929054" y="3060700"/>
                  </a:lnTo>
                  <a:lnTo>
                    <a:pt x="455307" y="3060700"/>
                  </a:lnTo>
                  <a:lnTo>
                    <a:pt x="430517" y="3048000"/>
                  </a:lnTo>
                  <a:lnTo>
                    <a:pt x="406184" y="3048000"/>
                  </a:lnTo>
                  <a:lnTo>
                    <a:pt x="382308" y="3035300"/>
                  </a:lnTo>
                  <a:lnTo>
                    <a:pt x="358914" y="3035300"/>
                  </a:lnTo>
                  <a:lnTo>
                    <a:pt x="313728" y="3009900"/>
                  </a:lnTo>
                  <a:lnTo>
                    <a:pt x="270992" y="2984500"/>
                  </a:lnTo>
                  <a:lnTo>
                    <a:pt x="230898" y="2959100"/>
                  </a:lnTo>
                  <a:lnTo>
                    <a:pt x="193535" y="2933700"/>
                  </a:lnTo>
                  <a:lnTo>
                    <a:pt x="159499" y="2895600"/>
                  </a:lnTo>
                  <a:lnTo>
                    <a:pt x="143637" y="2882900"/>
                  </a:lnTo>
                  <a:lnTo>
                    <a:pt x="128752" y="2857500"/>
                  </a:lnTo>
                  <a:lnTo>
                    <a:pt x="114681" y="2844800"/>
                  </a:lnTo>
                  <a:lnTo>
                    <a:pt x="101574" y="2819400"/>
                  </a:lnTo>
                  <a:lnTo>
                    <a:pt x="89509" y="2794000"/>
                  </a:lnTo>
                  <a:lnTo>
                    <a:pt x="78371" y="2781300"/>
                  </a:lnTo>
                  <a:lnTo>
                    <a:pt x="68287" y="2755900"/>
                  </a:lnTo>
                  <a:lnTo>
                    <a:pt x="59334" y="2730500"/>
                  </a:lnTo>
                  <a:lnTo>
                    <a:pt x="51409" y="2705100"/>
                  </a:lnTo>
                  <a:lnTo>
                    <a:pt x="44627" y="2692400"/>
                  </a:lnTo>
                  <a:lnTo>
                    <a:pt x="34543" y="2641600"/>
                  </a:lnTo>
                  <a:lnTo>
                    <a:pt x="29451" y="2590800"/>
                  </a:lnTo>
                  <a:lnTo>
                    <a:pt x="28803" y="2565400"/>
                  </a:lnTo>
                  <a:lnTo>
                    <a:pt x="28803" y="533400"/>
                  </a:lnTo>
                  <a:lnTo>
                    <a:pt x="31457" y="482600"/>
                  </a:lnTo>
                  <a:lnTo>
                    <a:pt x="39014" y="431800"/>
                  </a:lnTo>
                  <a:lnTo>
                    <a:pt x="51485" y="381000"/>
                  </a:lnTo>
                  <a:lnTo>
                    <a:pt x="68376" y="330200"/>
                  </a:lnTo>
                  <a:lnTo>
                    <a:pt x="89611" y="292100"/>
                  </a:lnTo>
                  <a:lnTo>
                    <a:pt x="101701" y="266700"/>
                  </a:lnTo>
                  <a:lnTo>
                    <a:pt x="114807" y="241300"/>
                  </a:lnTo>
                  <a:lnTo>
                    <a:pt x="128879" y="228600"/>
                  </a:lnTo>
                  <a:lnTo>
                    <a:pt x="143802" y="203200"/>
                  </a:lnTo>
                  <a:lnTo>
                    <a:pt x="159651" y="190500"/>
                  </a:lnTo>
                  <a:lnTo>
                    <a:pt x="176263" y="177800"/>
                  </a:lnTo>
                  <a:lnTo>
                    <a:pt x="193713" y="152400"/>
                  </a:lnTo>
                  <a:lnTo>
                    <a:pt x="231076" y="127000"/>
                  </a:lnTo>
                  <a:lnTo>
                    <a:pt x="271208" y="101600"/>
                  </a:lnTo>
                  <a:lnTo>
                    <a:pt x="313944" y="76200"/>
                  </a:lnTo>
                  <a:lnTo>
                    <a:pt x="359130" y="50800"/>
                  </a:lnTo>
                  <a:lnTo>
                    <a:pt x="382536" y="50800"/>
                  </a:lnTo>
                  <a:lnTo>
                    <a:pt x="406412" y="38100"/>
                  </a:lnTo>
                  <a:lnTo>
                    <a:pt x="430758" y="38100"/>
                  </a:lnTo>
                  <a:lnTo>
                    <a:pt x="455561" y="25400"/>
                  </a:lnTo>
                  <a:close/>
                </a:path>
                <a:path w="8277859" h="3086100">
                  <a:moveTo>
                    <a:pt x="7928038" y="25400"/>
                  </a:moveTo>
                  <a:lnTo>
                    <a:pt x="7822374" y="25400"/>
                  </a:lnTo>
                  <a:lnTo>
                    <a:pt x="7847139" y="38100"/>
                  </a:lnTo>
                  <a:lnTo>
                    <a:pt x="7871523" y="38100"/>
                  </a:lnTo>
                  <a:lnTo>
                    <a:pt x="7895399" y="50800"/>
                  </a:lnTo>
                  <a:lnTo>
                    <a:pt x="7918767" y="50800"/>
                  </a:lnTo>
                  <a:lnTo>
                    <a:pt x="7941627" y="63500"/>
                  </a:lnTo>
                  <a:lnTo>
                    <a:pt x="7985569" y="88900"/>
                  </a:lnTo>
                  <a:lnTo>
                    <a:pt x="8027098" y="114300"/>
                  </a:lnTo>
                  <a:lnTo>
                    <a:pt x="8065833" y="139700"/>
                  </a:lnTo>
                  <a:lnTo>
                    <a:pt x="8101520" y="177800"/>
                  </a:lnTo>
                  <a:lnTo>
                    <a:pt x="8118157" y="190500"/>
                  </a:lnTo>
                  <a:lnTo>
                    <a:pt x="8133905" y="203200"/>
                  </a:lnTo>
                  <a:lnTo>
                    <a:pt x="8149018" y="228600"/>
                  </a:lnTo>
                  <a:lnTo>
                    <a:pt x="8162861" y="241300"/>
                  </a:lnTo>
                  <a:lnTo>
                    <a:pt x="8176069" y="266700"/>
                  </a:lnTo>
                  <a:lnTo>
                    <a:pt x="8188134" y="292100"/>
                  </a:lnTo>
                  <a:lnTo>
                    <a:pt x="8199183" y="304800"/>
                  </a:lnTo>
                  <a:lnTo>
                    <a:pt x="8218233" y="355600"/>
                  </a:lnTo>
                  <a:lnTo>
                    <a:pt x="8232965" y="406400"/>
                  </a:lnTo>
                  <a:lnTo>
                    <a:pt x="8243125" y="457200"/>
                  </a:lnTo>
                  <a:lnTo>
                    <a:pt x="8248205" y="508000"/>
                  </a:lnTo>
                  <a:lnTo>
                    <a:pt x="8248840" y="533400"/>
                  </a:lnTo>
                  <a:lnTo>
                    <a:pt x="8248840" y="2565400"/>
                  </a:lnTo>
                  <a:lnTo>
                    <a:pt x="8246173" y="2616200"/>
                  </a:lnTo>
                  <a:lnTo>
                    <a:pt x="8238553" y="2667000"/>
                  </a:lnTo>
                  <a:lnTo>
                    <a:pt x="8226107" y="2705100"/>
                  </a:lnTo>
                  <a:lnTo>
                    <a:pt x="8218233" y="2730500"/>
                  </a:lnTo>
                  <a:lnTo>
                    <a:pt x="8209216" y="2755900"/>
                  </a:lnTo>
                  <a:lnTo>
                    <a:pt x="8199183" y="2781300"/>
                  </a:lnTo>
                  <a:lnTo>
                    <a:pt x="8188007" y="2806700"/>
                  </a:lnTo>
                  <a:lnTo>
                    <a:pt x="8175942" y="2819400"/>
                  </a:lnTo>
                  <a:lnTo>
                    <a:pt x="8162734" y="2844800"/>
                  </a:lnTo>
                  <a:lnTo>
                    <a:pt x="8148764" y="2857500"/>
                  </a:lnTo>
                  <a:lnTo>
                    <a:pt x="8133778" y="2882900"/>
                  </a:lnTo>
                  <a:lnTo>
                    <a:pt x="8118030" y="2895600"/>
                  </a:lnTo>
                  <a:lnTo>
                    <a:pt x="8083867" y="2933700"/>
                  </a:lnTo>
                  <a:lnTo>
                    <a:pt x="8046656" y="2959100"/>
                  </a:lnTo>
                  <a:lnTo>
                    <a:pt x="8026844" y="2971800"/>
                  </a:lnTo>
                  <a:lnTo>
                    <a:pt x="8006524" y="2997200"/>
                  </a:lnTo>
                  <a:lnTo>
                    <a:pt x="7985315" y="2997200"/>
                  </a:lnTo>
                  <a:lnTo>
                    <a:pt x="7963598" y="3009900"/>
                  </a:lnTo>
                  <a:lnTo>
                    <a:pt x="7941373" y="3022600"/>
                  </a:lnTo>
                  <a:lnTo>
                    <a:pt x="7918513" y="3035300"/>
                  </a:lnTo>
                  <a:lnTo>
                    <a:pt x="7895145" y="3035300"/>
                  </a:lnTo>
                  <a:lnTo>
                    <a:pt x="7871269" y="3048000"/>
                  </a:lnTo>
                  <a:lnTo>
                    <a:pt x="7846885" y="3048000"/>
                  </a:lnTo>
                  <a:lnTo>
                    <a:pt x="7822120" y="3060700"/>
                  </a:lnTo>
                  <a:lnTo>
                    <a:pt x="7929054" y="3060700"/>
                  </a:lnTo>
                  <a:lnTo>
                    <a:pt x="7976806" y="3035300"/>
                  </a:lnTo>
                  <a:lnTo>
                    <a:pt x="8022018" y="3009900"/>
                  </a:lnTo>
                  <a:lnTo>
                    <a:pt x="8064436" y="2984500"/>
                  </a:lnTo>
                  <a:lnTo>
                    <a:pt x="8103806" y="2959100"/>
                  </a:lnTo>
                  <a:lnTo>
                    <a:pt x="8122221" y="2933700"/>
                  </a:lnTo>
                  <a:lnTo>
                    <a:pt x="8139874" y="2921000"/>
                  </a:lnTo>
                  <a:lnTo>
                    <a:pt x="8156384" y="2895600"/>
                  </a:lnTo>
                  <a:lnTo>
                    <a:pt x="8172259" y="2882900"/>
                  </a:lnTo>
                  <a:lnTo>
                    <a:pt x="8186991" y="2857500"/>
                  </a:lnTo>
                  <a:lnTo>
                    <a:pt x="8200961" y="2832100"/>
                  </a:lnTo>
                  <a:lnTo>
                    <a:pt x="8213661" y="2819400"/>
                  </a:lnTo>
                  <a:lnTo>
                    <a:pt x="8225345" y="2794000"/>
                  </a:lnTo>
                  <a:lnTo>
                    <a:pt x="8245411" y="2743200"/>
                  </a:lnTo>
                  <a:lnTo>
                    <a:pt x="8261032" y="2692400"/>
                  </a:lnTo>
                  <a:lnTo>
                    <a:pt x="8271573" y="2641600"/>
                  </a:lnTo>
                  <a:lnTo>
                    <a:pt x="8276907" y="2590800"/>
                  </a:lnTo>
                  <a:lnTo>
                    <a:pt x="8277542" y="2565400"/>
                  </a:lnTo>
                  <a:lnTo>
                    <a:pt x="8277542" y="533400"/>
                  </a:lnTo>
                  <a:lnTo>
                    <a:pt x="8276907" y="495300"/>
                  </a:lnTo>
                  <a:lnTo>
                    <a:pt x="8271446" y="444500"/>
                  </a:lnTo>
                  <a:lnTo>
                    <a:pt x="8260651" y="393700"/>
                  </a:lnTo>
                  <a:lnTo>
                    <a:pt x="8245030" y="342900"/>
                  </a:lnTo>
                  <a:lnTo>
                    <a:pt x="8224837" y="292100"/>
                  </a:lnTo>
                  <a:lnTo>
                    <a:pt x="8213026" y="279400"/>
                  </a:lnTo>
                  <a:lnTo>
                    <a:pt x="8200199" y="254000"/>
                  </a:lnTo>
                  <a:lnTo>
                    <a:pt x="8186356" y="228600"/>
                  </a:lnTo>
                  <a:lnTo>
                    <a:pt x="8171624" y="215900"/>
                  </a:lnTo>
                  <a:lnTo>
                    <a:pt x="8155749" y="190500"/>
                  </a:lnTo>
                  <a:lnTo>
                    <a:pt x="8138985" y="165100"/>
                  </a:lnTo>
                  <a:lnTo>
                    <a:pt x="8121332" y="152400"/>
                  </a:lnTo>
                  <a:lnTo>
                    <a:pt x="8102917" y="139700"/>
                  </a:lnTo>
                  <a:lnTo>
                    <a:pt x="8083613" y="114300"/>
                  </a:lnTo>
                  <a:lnTo>
                    <a:pt x="8042719" y="88900"/>
                  </a:lnTo>
                  <a:lnTo>
                    <a:pt x="7998650" y="63500"/>
                  </a:lnTo>
                  <a:lnTo>
                    <a:pt x="7952168" y="38100"/>
                  </a:lnTo>
                  <a:lnTo>
                    <a:pt x="7928038" y="25400"/>
                  </a:lnTo>
                  <a:close/>
                </a:path>
                <a:path w="8277859" h="3086100">
                  <a:moveTo>
                    <a:pt x="457669" y="3035300"/>
                  </a:moveTo>
                  <a:lnTo>
                    <a:pt x="408355" y="3035300"/>
                  </a:lnTo>
                  <a:lnTo>
                    <a:pt x="432206" y="3048000"/>
                  </a:lnTo>
                  <a:lnTo>
                    <a:pt x="482015" y="3048000"/>
                  </a:lnTo>
                  <a:lnTo>
                    <a:pt x="457669" y="3035300"/>
                  </a:lnTo>
                  <a:close/>
                </a:path>
                <a:path w="8277859" h="3086100">
                  <a:moveTo>
                    <a:pt x="7868602" y="3035300"/>
                  </a:moveTo>
                  <a:lnTo>
                    <a:pt x="7818691" y="3035300"/>
                  </a:lnTo>
                  <a:lnTo>
                    <a:pt x="7794561" y="3048000"/>
                  </a:lnTo>
                  <a:lnTo>
                    <a:pt x="7844726" y="3048000"/>
                  </a:lnTo>
                  <a:lnTo>
                    <a:pt x="7868602" y="3035300"/>
                  </a:lnTo>
                  <a:close/>
                </a:path>
                <a:path w="8277859" h="3086100">
                  <a:moveTo>
                    <a:pt x="365074" y="3009900"/>
                  </a:moveTo>
                  <a:lnTo>
                    <a:pt x="339585" y="3009900"/>
                  </a:lnTo>
                  <a:lnTo>
                    <a:pt x="362000" y="3022600"/>
                  </a:lnTo>
                  <a:lnTo>
                    <a:pt x="384937" y="3035300"/>
                  </a:lnTo>
                  <a:lnTo>
                    <a:pt x="410540" y="3035300"/>
                  </a:lnTo>
                  <a:lnTo>
                    <a:pt x="387565" y="3022600"/>
                  </a:lnTo>
                  <a:lnTo>
                    <a:pt x="365074" y="3009900"/>
                  </a:lnTo>
                  <a:close/>
                </a:path>
                <a:path w="8277859" h="3086100">
                  <a:moveTo>
                    <a:pt x="7937436" y="3009900"/>
                  </a:moveTo>
                  <a:lnTo>
                    <a:pt x="7911528" y="3009900"/>
                  </a:lnTo>
                  <a:lnTo>
                    <a:pt x="7889049" y="3022600"/>
                  </a:lnTo>
                  <a:lnTo>
                    <a:pt x="7866062" y="3035300"/>
                  </a:lnTo>
                  <a:lnTo>
                    <a:pt x="7892097" y="3035300"/>
                  </a:lnTo>
                  <a:lnTo>
                    <a:pt x="7915084" y="3022600"/>
                  </a:lnTo>
                  <a:lnTo>
                    <a:pt x="7937436" y="3009900"/>
                  </a:lnTo>
                  <a:close/>
                </a:path>
                <a:path w="8277859" h="3086100">
                  <a:moveTo>
                    <a:pt x="435114" y="50800"/>
                  </a:moveTo>
                  <a:lnTo>
                    <a:pt x="385622" y="50800"/>
                  </a:lnTo>
                  <a:lnTo>
                    <a:pt x="362635" y="63500"/>
                  </a:lnTo>
                  <a:lnTo>
                    <a:pt x="340258" y="76200"/>
                  </a:lnTo>
                  <a:lnTo>
                    <a:pt x="318325" y="88900"/>
                  </a:lnTo>
                  <a:lnTo>
                    <a:pt x="297014" y="88900"/>
                  </a:lnTo>
                  <a:lnTo>
                    <a:pt x="276402" y="101600"/>
                  </a:lnTo>
                  <a:lnTo>
                    <a:pt x="256387" y="114300"/>
                  </a:lnTo>
                  <a:lnTo>
                    <a:pt x="236994" y="127000"/>
                  </a:lnTo>
                  <a:lnTo>
                    <a:pt x="218312" y="152400"/>
                  </a:lnTo>
                  <a:lnTo>
                    <a:pt x="200329" y="165100"/>
                  </a:lnTo>
                  <a:lnTo>
                    <a:pt x="183210" y="177800"/>
                  </a:lnTo>
                  <a:lnTo>
                    <a:pt x="166903" y="190500"/>
                  </a:lnTo>
                  <a:lnTo>
                    <a:pt x="151358" y="215900"/>
                  </a:lnTo>
                  <a:lnTo>
                    <a:pt x="136690" y="228600"/>
                  </a:lnTo>
                  <a:lnTo>
                    <a:pt x="122885" y="254000"/>
                  </a:lnTo>
                  <a:lnTo>
                    <a:pt x="110020" y="266700"/>
                  </a:lnTo>
                  <a:lnTo>
                    <a:pt x="98158" y="292100"/>
                  </a:lnTo>
                  <a:lnTo>
                    <a:pt x="87223" y="317500"/>
                  </a:lnTo>
                  <a:lnTo>
                    <a:pt x="77317" y="330200"/>
                  </a:lnTo>
                  <a:lnTo>
                    <a:pt x="68503" y="355600"/>
                  </a:lnTo>
                  <a:lnTo>
                    <a:pt x="54025" y="406400"/>
                  </a:lnTo>
                  <a:lnTo>
                    <a:pt x="44107" y="457200"/>
                  </a:lnTo>
                  <a:lnTo>
                    <a:pt x="39065" y="508000"/>
                  </a:lnTo>
                  <a:lnTo>
                    <a:pt x="38392" y="2565400"/>
                  </a:lnTo>
                  <a:lnTo>
                    <a:pt x="39027" y="2590800"/>
                  </a:lnTo>
                  <a:lnTo>
                    <a:pt x="40957" y="2616200"/>
                  </a:lnTo>
                  <a:lnTo>
                    <a:pt x="43992" y="2641600"/>
                  </a:lnTo>
                  <a:lnTo>
                    <a:pt x="48310" y="2654300"/>
                  </a:lnTo>
                  <a:lnTo>
                    <a:pt x="53860" y="2679700"/>
                  </a:lnTo>
                  <a:lnTo>
                    <a:pt x="60502" y="2705100"/>
                  </a:lnTo>
                  <a:lnTo>
                    <a:pt x="68262" y="2730500"/>
                  </a:lnTo>
                  <a:lnTo>
                    <a:pt x="77025" y="2755900"/>
                  </a:lnTo>
                  <a:lnTo>
                    <a:pt x="86918" y="2768600"/>
                  </a:lnTo>
                  <a:lnTo>
                    <a:pt x="97840" y="2794000"/>
                  </a:lnTo>
                  <a:lnTo>
                    <a:pt x="109639" y="2819400"/>
                  </a:lnTo>
                  <a:lnTo>
                    <a:pt x="122504" y="2832100"/>
                  </a:lnTo>
                  <a:lnTo>
                    <a:pt x="136309" y="2857500"/>
                  </a:lnTo>
                  <a:lnTo>
                    <a:pt x="150876" y="2870200"/>
                  </a:lnTo>
                  <a:lnTo>
                    <a:pt x="166446" y="2895600"/>
                  </a:lnTo>
                  <a:lnTo>
                    <a:pt x="182740" y="2908300"/>
                  </a:lnTo>
                  <a:lnTo>
                    <a:pt x="199796" y="2921000"/>
                  </a:lnTo>
                  <a:lnTo>
                    <a:pt x="217792" y="2946400"/>
                  </a:lnTo>
                  <a:lnTo>
                    <a:pt x="236448" y="2959100"/>
                  </a:lnTo>
                  <a:lnTo>
                    <a:pt x="255828" y="2971800"/>
                  </a:lnTo>
                  <a:lnTo>
                    <a:pt x="275767" y="2984500"/>
                  </a:lnTo>
                  <a:lnTo>
                    <a:pt x="296418" y="2997200"/>
                  </a:lnTo>
                  <a:lnTo>
                    <a:pt x="317677" y="3009900"/>
                  </a:lnTo>
                  <a:lnTo>
                    <a:pt x="343103" y="3009900"/>
                  </a:lnTo>
                  <a:lnTo>
                    <a:pt x="321627" y="2997200"/>
                  </a:lnTo>
                  <a:lnTo>
                    <a:pt x="300799" y="2984500"/>
                  </a:lnTo>
                  <a:lnTo>
                    <a:pt x="261023" y="2959100"/>
                  </a:lnTo>
                  <a:lnTo>
                    <a:pt x="223723" y="2933700"/>
                  </a:lnTo>
                  <a:lnTo>
                    <a:pt x="189369" y="2908300"/>
                  </a:lnTo>
                  <a:lnTo>
                    <a:pt x="173405" y="2882900"/>
                  </a:lnTo>
                  <a:lnTo>
                    <a:pt x="158115" y="2870200"/>
                  </a:lnTo>
                  <a:lnTo>
                    <a:pt x="143878" y="2844800"/>
                  </a:lnTo>
                  <a:lnTo>
                    <a:pt x="130314" y="2832100"/>
                  </a:lnTo>
                  <a:lnTo>
                    <a:pt x="117716" y="2806700"/>
                  </a:lnTo>
                  <a:lnTo>
                    <a:pt x="106184" y="2794000"/>
                  </a:lnTo>
                  <a:lnTo>
                    <a:pt x="95453" y="2768600"/>
                  </a:lnTo>
                  <a:lnTo>
                    <a:pt x="85775" y="2743200"/>
                  </a:lnTo>
                  <a:lnTo>
                    <a:pt x="77203" y="2730500"/>
                  </a:lnTo>
                  <a:lnTo>
                    <a:pt x="63093" y="2679700"/>
                  </a:lnTo>
                  <a:lnTo>
                    <a:pt x="53441" y="2628900"/>
                  </a:lnTo>
                  <a:lnTo>
                    <a:pt x="50482" y="2603500"/>
                  </a:lnTo>
                  <a:lnTo>
                    <a:pt x="48602" y="2590800"/>
                  </a:lnTo>
                  <a:lnTo>
                    <a:pt x="47993" y="2565400"/>
                  </a:lnTo>
                  <a:lnTo>
                    <a:pt x="48006" y="533400"/>
                  </a:lnTo>
                  <a:lnTo>
                    <a:pt x="48666" y="508000"/>
                  </a:lnTo>
                  <a:lnTo>
                    <a:pt x="53632" y="457200"/>
                  </a:lnTo>
                  <a:lnTo>
                    <a:pt x="63385" y="406400"/>
                  </a:lnTo>
                  <a:lnTo>
                    <a:pt x="77597" y="355600"/>
                  </a:lnTo>
                  <a:lnTo>
                    <a:pt x="86258" y="342900"/>
                  </a:lnTo>
                  <a:lnTo>
                    <a:pt x="95973" y="317500"/>
                  </a:lnTo>
                  <a:lnTo>
                    <a:pt x="106692" y="292100"/>
                  </a:lnTo>
                  <a:lnTo>
                    <a:pt x="118351" y="279400"/>
                  </a:lnTo>
                  <a:lnTo>
                    <a:pt x="130962" y="254000"/>
                  </a:lnTo>
                  <a:lnTo>
                    <a:pt x="144513" y="241300"/>
                  </a:lnTo>
                  <a:lnTo>
                    <a:pt x="158927" y="215900"/>
                  </a:lnTo>
                  <a:lnTo>
                    <a:pt x="174167" y="203200"/>
                  </a:lnTo>
                  <a:lnTo>
                    <a:pt x="190169" y="190500"/>
                  </a:lnTo>
                  <a:lnTo>
                    <a:pt x="206946" y="165100"/>
                  </a:lnTo>
                  <a:lnTo>
                    <a:pt x="224599" y="152400"/>
                  </a:lnTo>
                  <a:lnTo>
                    <a:pt x="261962" y="127000"/>
                  </a:lnTo>
                  <a:lnTo>
                    <a:pt x="301790" y="101600"/>
                  </a:lnTo>
                  <a:lnTo>
                    <a:pt x="344208" y="76200"/>
                  </a:lnTo>
                  <a:lnTo>
                    <a:pt x="366153" y="76200"/>
                  </a:lnTo>
                  <a:lnTo>
                    <a:pt x="388696" y="63500"/>
                  </a:lnTo>
                  <a:lnTo>
                    <a:pt x="411670" y="63500"/>
                  </a:lnTo>
                  <a:lnTo>
                    <a:pt x="435114" y="50800"/>
                  </a:lnTo>
                  <a:close/>
                </a:path>
                <a:path w="8277859" h="3086100">
                  <a:moveTo>
                    <a:pt x="7981124" y="88900"/>
                  </a:moveTo>
                  <a:lnTo>
                    <a:pt x="7955978" y="88900"/>
                  </a:lnTo>
                  <a:lnTo>
                    <a:pt x="7976806" y="101600"/>
                  </a:lnTo>
                  <a:lnTo>
                    <a:pt x="7997126" y="114300"/>
                  </a:lnTo>
                  <a:lnTo>
                    <a:pt x="8035607" y="139700"/>
                  </a:lnTo>
                  <a:lnTo>
                    <a:pt x="8071421" y="165100"/>
                  </a:lnTo>
                  <a:lnTo>
                    <a:pt x="8088312" y="190500"/>
                  </a:lnTo>
                  <a:lnTo>
                    <a:pt x="8104314" y="203200"/>
                  </a:lnTo>
                  <a:lnTo>
                    <a:pt x="8119427" y="215900"/>
                  </a:lnTo>
                  <a:lnTo>
                    <a:pt x="8133905" y="241300"/>
                  </a:lnTo>
                  <a:lnTo>
                    <a:pt x="8147240" y="254000"/>
                  </a:lnTo>
                  <a:lnTo>
                    <a:pt x="8159940" y="279400"/>
                  </a:lnTo>
                  <a:lnTo>
                    <a:pt x="8171497" y="292100"/>
                  </a:lnTo>
                  <a:lnTo>
                    <a:pt x="8182165" y="317500"/>
                  </a:lnTo>
                  <a:lnTo>
                    <a:pt x="8191817" y="342900"/>
                  </a:lnTo>
                  <a:lnTo>
                    <a:pt x="8200453" y="368300"/>
                  </a:lnTo>
                  <a:lnTo>
                    <a:pt x="8207946" y="381000"/>
                  </a:lnTo>
                  <a:lnTo>
                    <a:pt x="8219884" y="431800"/>
                  </a:lnTo>
                  <a:lnTo>
                    <a:pt x="8227123" y="482600"/>
                  </a:lnTo>
                  <a:lnTo>
                    <a:pt x="8229663" y="533400"/>
                  </a:lnTo>
                  <a:lnTo>
                    <a:pt x="8229663" y="2565400"/>
                  </a:lnTo>
                  <a:lnTo>
                    <a:pt x="8228901" y="2590800"/>
                  </a:lnTo>
                  <a:lnTo>
                    <a:pt x="8226996" y="2616200"/>
                  </a:lnTo>
                  <a:lnTo>
                    <a:pt x="8223948" y="2628900"/>
                  </a:lnTo>
                  <a:lnTo>
                    <a:pt x="8219630" y="2654300"/>
                  </a:lnTo>
                  <a:lnTo>
                    <a:pt x="8214169" y="2679700"/>
                  </a:lnTo>
                  <a:lnTo>
                    <a:pt x="8207692" y="2705100"/>
                  </a:lnTo>
                  <a:lnTo>
                    <a:pt x="8199945" y="2730500"/>
                  </a:lnTo>
                  <a:lnTo>
                    <a:pt x="8191309" y="2743200"/>
                  </a:lnTo>
                  <a:lnTo>
                    <a:pt x="8181657" y="2768600"/>
                  </a:lnTo>
                  <a:lnTo>
                    <a:pt x="8170862" y="2794000"/>
                  </a:lnTo>
                  <a:lnTo>
                    <a:pt x="8159178" y="2806700"/>
                  </a:lnTo>
                  <a:lnTo>
                    <a:pt x="8146605" y="2832100"/>
                  </a:lnTo>
                  <a:lnTo>
                    <a:pt x="8133143" y="2844800"/>
                  </a:lnTo>
                  <a:lnTo>
                    <a:pt x="8118665" y="2870200"/>
                  </a:lnTo>
                  <a:lnTo>
                    <a:pt x="8103552" y="2882900"/>
                  </a:lnTo>
                  <a:lnTo>
                    <a:pt x="8070659" y="2921000"/>
                  </a:lnTo>
                  <a:lnTo>
                    <a:pt x="8034718" y="2946400"/>
                  </a:lnTo>
                  <a:lnTo>
                    <a:pt x="7996110" y="2971800"/>
                  </a:lnTo>
                  <a:lnTo>
                    <a:pt x="7954835" y="2997200"/>
                  </a:lnTo>
                  <a:lnTo>
                    <a:pt x="7933499" y="3009900"/>
                  </a:lnTo>
                  <a:lnTo>
                    <a:pt x="7959280" y="3009900"/>
                  </a:lnTo>
                  <a:lnTo>
                    <a:pt x="8001317" y="2984500"/>
                  </a:lnTo>
                  <a:lnTo>
                    <a:pt x="8040687" y="2959100"/>
                  </a:lnTo>
                  <a:lnTo>
                    <a:pt x="8077263" y="2921000"/>
                  </a:lnTo>
                  <a:lnTo>
                    <a:pt x="8094408" y="2908300"/>
                  </a:lnTo>
                  <a:lnTo>
                    <a:pt x="8110791" y="2895600"/>
                  </a:lnTo>
                  <a:lnTo>
                    <a:pt x="8126285" y="2870200"/>
                  </a:lnTo>
                  <a:lnTo>
                    <a:pt x="8141017" y="2857500"/>
                  </a:lnTo>
                  <a:lnTo>
                    <a:pt x="8154733" y="2832100"/>
                  </a:lnTo>
                  <a:lnTo>
                    <a:pt x="8167560" y="2819400"/>
                  </a:lnTo>
                  <a:lnTo>
                    <a:pt x="8179498" y="2794000"/>
                  </a:lnTo>
                  <a:lnTo>
                    <a:pt x="8190420" y="2768600"/>
                  </a:lnTo>
                  <a:lnTo>
                    <a:pt x="8200326" y="2755900"/>
                  </a:lnTo>
                  <a:lnTo>
                    <a:pt x="8209089" y="2730500"/>
                  </a:lnTo>
                  <a:lnTo>
                    <a:pt x="8216836" y="2705100"/>
                  </a:lnTo>
                  <a:lnTo>
                    <a:pt x="8223567" y="2679700"/>
                  </a:lnTo>
                  <a:lnTo>
                    <a:pt x="8229155" y="2654300"/>
                  </a:lnTo>
                  <a:lnTo>
                    <a:pt x="8233473" y="2641600"/>
                  </a:lnTo>
                  <a:lnTo>
                    <a:pt x="8236521" y="2616200"/>
                  </a:lnTo>
                  <a:lnTo>
                    <a:pt x="8238553" y="2590800"/>
                  </a:lnTo>
                  <a:lnTo>
                    <a:pt x="8239188" y="2565400"/>
                  </a:lnTo>
                  <a:lnTo>
                    <a:pt x="8239188" y="533400"/>
                  </a:lnTo>
                  <a:lnTo>
                    <a:pt x="8236648" y="482600"/>
                  </a:lnTo>
                  <a:lnTo>
                    <a:pt x="8229282" y="431800"/>
                  </a:lnTo>
                  <a:lnTo>
                    <a:pt x="8217090" y="381000"/>
                  </a:lnTo>
                  <a:lnTo>
                    <a:pt x="8200580" y="342900"/>
                  </a:lnTo>
                  <a:lnTo>
                    <a:pt x="8190674" y="317500"/>
                  </a:lnTo>
                  <a:lnTo>
                    <a:pt x="8179752" y="292100"/>
                  </a:lnTo>
                  <a:lnTo>
                    <a:pt x="8167941" y="266700"/>
                  </a:lnTo>
                  <a:lnTo>
                    <a:pt x="8155114" y="254000"/>
                  </a:lnTo>
                  <a:lnTo>
                    <a:pt x="8141398" y="228600"/>
                  </a:lnTo>
                  <a:lnTo>
                    <a:pt x="8126666" y="215900"/>
                  </a:lnTo>
                  <a:lnTo>
                    <a:pt x="8111299" y="190500"/>
                  </a:lnTo>
                  <a:lnTo>
                    <a:pt x="8094916" y="177800"/>
                  </a:lnTo>
                  <a:lnTo>
                    <a:pt x="8077771" y="165100"/>
                  </a:lnTo>
                  <a:lnTo>
                    <a:pt x="8059991" y="152400"/>
                  </a:lnTo>
                  <a:lnTo>
                    <a:pt x="8041195" y="127000"/>
                  </a:lnTo>
                  <a:lnTo>
                    <a:pt x="8021891" y="114300"/>
                  </a:lnTo>
                  <a:lnTo>
                    <a:pt x="8001952" y="101600"/>
                  </a:lnTo>
                  <a:lnTo>
                    <a:pt x="7981124" y="88900"/>
                  </a:lnTo>
                  <a:close/>
                </a:path>
                <a:path w="8277859" h="3086100">
                  <a:moveTo>
                    <a:pt x="7915719" y="63500"/>
                  </a:moveTo>
                  <a:lnTo>
                    <a:pt x="7890192" y="63500"/>
                  </a:lnTo>
                  <a:lnTo>
                    <a:pt x="7912671" y="76200"/>
                  </a:lnTo>
                  <a:lnTo>
                    <a:pt x="7934642" y="88900"/>
                  </a:lnTo>
                  <a:lnTo>
                    <a:pt x="7959915" y="88900"/>
                  </a:lnTo>
                  <a:lnTo>
                    <a:pt x="7938071" y="76200"/>
                  </a:lnTo>
                  <a:lnTo>
                    <a:pt x="7915719" y="63500"/>
                  </a:lnTo>
                  <a:close/>
                </a:path>
                <a:path w="8277859" h="3086100">
                  <a:moveTo>
                    <a:pt x="7869364" y="50800"/>
                  </a:moveTo>
                  <a:lnTo>
                    <a:pt x="7843837" y="50800"/>
                  </a:lnTo>
                  <a:lnTo>
                    <a:pt x="7867205" y="63500"/>
                  </a:lnTo>
                  <a:lnTo>
                    <a:pt x="7892732" y="63500"/>
                  </a:lnTo>
                  <a:lnTo>
                    <a:pt x="7869364" y="50800"/>
                  </a:lnTo>
                  <a:close/>
                </a:path>
                <a:path w="8277859" h="3086100">
                  <a:moveTo>
                    <a:pt x="532676" y="38100"/>
                  </a:moveTo>
                  <a:lnTo>
                    <a:pt x="457250" y="38100"/>
                  </a:lnTo>
                  <a:lnTo>
                    <a:pt x="432930" y="50800"/>
                  </a:lnTo>
                  <a:lnTo>
                    <a:pt x="507822" y="50800"/>
                  </a:lnTo>
                  <a:lnTo>
                    <a:pt x="532676" y="38100"/>
                  </a:lnTo>
                  <a:close/>
                </a:path>
                <a:path w="8277859" h="3086100">
                  <a:moveTo>
                    <a:pt x="7821231" y="38100"/>
                  </a:moveTo>
                  <a:lnTo>
                    <a:pt x="7745666" y="38100"/>
                  </a:lnTo>
                  <a:lnTo>
                    <a:pt x="7771066" y="50800"/>
                  </a:lnTo>
                  <a:lnTo>
                    <a:pt x="7845488" y="50800"/>
                  </a:lnTo>
                  <a:lnTo>
                    <a:pt x="7821231" y="38100"/>
                  </a:lnTo>
                  <a:close/>
                </a:path>
                <a:path w="8277859" h="3086100">
                  <a:moveTo>
                    <a:pt x="7878000" y="12700"/>
                  </a:moveTo>
                  <a:lnTo>
                    <a:pt x="398525" y="12700"/>
                  </a:lnTo>
                  <a:lnTo>
                    <a:pt x="373303" y="25400"/>
                  </a:lnTo>
                  <a:lnTo>
                    <a:pt x="7903273" y="25400"/>
                  </a:lnTo>
                  <a:lnTo>
                    <a:pt x="7878000" y="12700"/>
                  </a:lnTo>
                  <a:close/>
                </a:path>
                <a:path w="8277859" h="3086100">
                  <a:moveTo>
                    <a:pt x="7825930" y="0"/>
                  </a:moveTo>
                  <a:lnTo>
                    <a:pt x="450507" y="0"/>
                  </a:lnTo>
                  <a:lnTo>
                    <a:pt x="424230" y="12700"/>
                  </a:lnTo>
                  <a:lnTo>
                    <a:pt x="7852219" y="12700"/>
                  </a:lnTo>
                  <a:lnTo>
                    <a:pt x="7825930" y="0"/>
                  </a:lnTo>
                  <a:close/>
                </a:path>
              </a:pathLst>
            </a:custGeom>
            <a:solidFill>
              <a:srgbClr val="91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57250" y="3255010"/>
            <a:ext cx="7593330" cy="1986914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36525" marR="139700" indent="1270" algn="ctr">
              <a:lnSpc>
                <a:spcPts val="3829"/>
              </a:lnSpc>
              <a:spcBef>
                <a:spcPts val="26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3200" spc="10" dirty="0">
                <a:solidFill>
                  <a:srgbClr val="FFFFFF"/>
                </a:solidFill>
                <a:latin typeface="Calibri"/>
                <a:cs typeface="Calibri"/>
              </a:rPr>
              <a:t>graphs </a:t>
            </a:r>
            <a:r>
              <a:rPr sz="3200" spc="15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3200" spc="10" dirty="0">
                <a:solidFill>
                  <a:srgbClr val="FFFFFF"/>
                </a:solidFill>
                <a:latin typeface="Calibri"/>
                <a:cs typeface="Calibri"/>
              </a:rPr>
              <a:t>satisfy 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certain conditions</a:t>
            </a:r>
            <a:r>
              <a:rPr sz="3200" spc="10" dirty="0">
                <a:solidFill>
                  <a:srgbClr val="FFFFFF"/>
                </a:solidFill>
                <a:latin typeface="Calibri"/>
                <a:cs typeface="Calibri"/>
              </a:rPr>
              <a:t>,  </a:t>
            </a:r>
            <a:r>
              <a:rPr sz="3200" spc="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stationary 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distribution </a:t>
            </a:r>
            <a:r>
              <a:rPr sz="3200" b="1" spc="20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unique </a:t>
            </a:r>
            <a:r>
              <a:rPr sz="3200" spc="30" dirty="0">
                <a:solidFill>
                  <a:srgbClr val="FFFFFF"/>
                </a:solidFill>
                <a:latin typeface="Calibri"/>
                <a:cs typeface="Calibri"/>
              </a:rPr>
              <a:t>and  </a:t>
            </a:r>
            <a:r>
              <a:rPr sz="3200" spc="5" dirty="0">
                <a:solidFill>
                  <a:srgbClr val="FFFFFF"/>
                </a:solidFill>
                <a:latin typeface="Calibri"/>
                <a:cs typeface="Calibri"/>
              </a:rPr>
              <a:t>eventually</a:t>
            </a:r>
            <a:r>
              <a:rPr sz="32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5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25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reached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25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matter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3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32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endParaRPr sz="3200">
              <a:latin typeface="Calibri"/>
              <a:cs typeface="Calibri"/>
            </a:endParaRPr>
          </a:p>
          <a:p>
            <a:pPr algn="ctr">
              <a:lnSpc>
                <a:spcPts val="3779"/>
              </a:lnSpc>
            </a:pPr>
            <a:r>
              <a:rPr sz="3200" spc="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5" dirty="0">
                <a:solidFill>
                  <a:srgbClr val="FFFFFF"/>
                </a:solidFill>
                <a:latin typeface="Calibri"/>
                <a:cs typeface="Calibri"/>
              </a:rPr>
              <a:t>initial</a:t>
            </a:r>
            <a:r>
              <a:rPr sz="32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5" dirty="0">
                <a:solidFill>
                  <a:srgbClr val="FFFFFF"/>
                </a:solidFill>
                <a:latin typeface="Calibri"/>
                <a:cs typeface="Calibri"/>
              </a:rPr>
              <a:t>probability</a:t>
            </a:r>
            <a:r>
              <a:rPr sz="3200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5" dirty="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sz="32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2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15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23786"/>
            <a:ext cx="8005826" cy="5953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55737"/>
            <a:ext cx="304800" cy="3717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829242"/>
            <a:ext cx="304800" cy="3717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25830" y="1347787"/>
            <a:ext cx="6132830" cy="231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Given </a:t>
            </a:r>
            <a:r>
              <a:rPr sz="3000" b="1" spc="5" dirty="0">
                <a:solidFill>
                  <a:srgbClr val="0000FF"/>
                </a:solidFill>
                <a:latin typeface="Calibri"/>
                <a:cs typeface="Calibri"/>
              </a:rPr>
              <a:t>an </a:t>
            </a:r>
            <a:r>
              <a:rPr sz="3000" b="1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undirected</a:t>
            </a: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25" dirty="0">
                <a:solidFill>
                  <a:srgbClr val="0000FF"/>
                </a:solidFill>
                <a:latin typeface="Calibri"/>
                <a:cs typeface="Calibri"/>
              </a:rPr>
              <a:t>graph </a:t>
            </a:r>
            <a:r>
              <a:rPr sz="3000" b="1" spc="5" dirty="0">
                <a:solidFill>
                  <a:srgbClr val="0000FF"/>
                </a:solidFill>
                <a:latin typeface="Calibri"/>
                <a:cs typeface="Calibri"/>
              </a:rPr>
              <a:t>with </a:t>
            </a:r>
            <a:r>
              <a:rPr sz="3000" b="1" i="1" dirty="0">
                <a:solidFill>
                  <a:srgbClr val="0000FF"/>
                </a:solidFill>
                <a:latin typeface="Calibri"/>
                <a:cs typeface="Calibri"/>
              </a:rPr>
              <a:t>N  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nodes, </a:t>
            </a: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where 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the nodes 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are pages 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and  </a:t>
            </a: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edges 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are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20" dirty="0">
                <a:solidFill>
                  <a:srgbClr val="0000FF"/>
                </a:solidFill>
                <a:latin typeface="Calibri"/>
                <a:cs typeface="Calibri"/>
              </a:rPr>
              <a:t>hyperlinks</a:t>
            </a:r>
            <a:endParaRPr sz="3000">
              <a:latin typeface="Calibri"/>
              <a:cs typeface="Calibri"/>
            </a:endParaRPr>
          </a:p>
          <a:p>
            <a:pPr marL="44450" marR="1570990" indent="-19050">
              <a:lnSpc>
                <a:spcPct val="100000"/>
              </a:lnSpc>
              <a:spcBef>
                <a:spcPts val="15"/>
              </a:spcBef>
            </a:pPr>
            <a:r>
              <a:rPr sz="3000" b="1" spc="5" dirty="0">
                <a:solidFill>
                  <a:srgbClr val="008000"/>
                </a:solidFill>
                <a:latin typeface="Calibri"/>
                <a:cs typeface="Calibri"/>
              </a:rPr>
              <a:t>Claim </a:t>
            </a:r>
            <a:r>
              <a:rPr sz="3000" spc="-5" dirty="0">
                <a:solidFill>
                  <a:srgbClr val="008000"/>
                </a:solidFill>
              </a:rPr>
              <a:t>[</a:t>
            </a:r>
            <a:r>
              <a:rPr sz="3000" i="1" spc="-5" dirty="0">
                <a:solidFill>
                  <a:srgbClr val="008000"/>
                </a:solidFill>
                <a:latin typeface="Calibri"/>
                <a:cs typeface="Calibri"/>
              </a:rPr>
              <a:t>Existence</a:t>
            </a:r>
            <a:r>
              <a:rPr sz="3000" spc="-5" dirty="0">
                <a:solidFill>
                  <a:srgbClr val="008000"/>
                </a:solidFill>
              </a:rPr>
              <a:t>]</a:t>
            </a:r>
            <a:r>
              <a:rPr sz="3000" b="1" spc="-5" dirty="0">
                <a:solidFill>
                  <a:srgbClr val="008000"/>
                </a:solidFill>
                <a:latin typeface="Calibri"/>
                <a:cs typeface="Calibri"/>
              </a:rPr>
              <a:t>: </a:t>
            </a:r>
            <a:r>
              <a:rPr sz="3000" spc="-40" dirty="0"/>
              <a:t>For </a:t>
            </a:r>
            <a:r>
              <a:rPr sz="3000" spc="-5" dirty="0"/>
              <a:t>node </a:t>
            </a:r>
            <a:r>
              <a:rPr sz="3000" spc="-114" dirty="0"/>
              <a:t>v,  </a:t>
            </a:r>
            <a:r>
              <a:rPr sz="3000" spc="5" dirty="0"/>
              <a:t>r</a:t>
            </a:r>
            <a:r>
              <a:rPr sz="3000" spc="7" baseline="-19444" dirty="0"/>
              <a:t>v </a:t>
            </a:r>
            <a:r>
              <a:rPr sz="3000" dirty="0"/>
              <a:t>= </a:t>
            </a:r>
            <a:r>
              <a:rPr sz="3000" spc="-15" dirty="0"/>
              <a:t>d</a:t>
            </a:r>
            <a:r>
              <a:rPr sz="3000" spc="-22" baseline="-19444" dirty="0"/>
              <a:t>v</a:t>
            </a:r>
            <a:r>
              <a:rPr sz="3000" spc="-15" dirty="0"/>
              <a:t>/2m </a:t>
            </a:r>
            <a:r>
              <a:rPr sz="3000" spc="-10" dirty="0"/>
              <a:t>is </a:t>
            </a:r>
            <a:r>
              <a:rPr sz="3000" dirty="0"/>
              <a:t>a</a:t>
            </a:r>
            <a:r>
              <a:rPr sz="3000" spc="-175" dirty="0"/>
              <a:t> </a:t>
            </a:r>
            <a:r>
              <a:rPr sz="3000" spc="-10" dirty="0"/>
              <a:t>solution.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744912"/>
            <a:ext cx="304800" cy="3717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7062" y="5928995"/>
            <a:ext cx="304800" cy="37211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0430" y="3538712"/>
            <a:ext cx="6322060" cy="276542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875"/>
              </a:spcBef>
            </a:pPr>
            <a:r>
              <a:rPr sz="3000" spc="-15" dirty="0">
                <a:latin typeface="Calibri"/>
                <a:cs typeface="Calibri"/>
              </a:rPr>
              <a:t>Proof:</a:t>
            </a:r>
            <a:endParaRPr sz="3000">
              <a:latin typeface="Calibri"/>
              <a:cs typeface="Calibri"/>
            </a:endParaRPr>
          </a:p>
          <a:p>
            <a:pPr marL="346075" indent="-276860">
              <a:lnSpc>
                <a:spcPct val="100000"/>
              </a:lnSpc>
              <a:spcBef>
                <a:spcPts val="705"/>
              </a:spcBef>
              <a:buClr>
                <a:srgbClr val="5FB5CC"/>
              </a:buClr>
              <a:buFont typeface="Wingdings"/>
              <a:buChar char=""/>
              <a:tabLst>
                <a:tab pos="346710" algn="l"/>
              </a:tabLst>
            </a:pPr>
            <a:r>
              <a:rPr sz="2600" spc="-5" dirty="0">
                <a:latin typeface="Calibri"/>
                <a:cs typeface="Calibri"/>
              </a:rPr>
              <a:t>Iteration </a:t>
            </a:r>
            <a:r>
              <a:rPr sz="2600" spc="5" dirty="0">
                <a:latin typeface="Calibri"/>
                <a:cs typeface="Calibri"/>
              </a:rPr>
              <a:t>step: </a:t>
            </a:r>
            <a:r>
              <a:rPr sz="2600" b="1" dirty="0">
                <a:latin typeface="Calibri"/>
                <a:cs typeface="Calibri"/>
              </a:rPr>
              <a:t>r</a:t>
            </a:r>
            <a:r>
              <a:rPr sz="2550" baseline="24509" dirty="0">
                <a:latin typeface="Calibri"/>
                <a:cs typeface="Calibri"/>
              </a:rPr>
              <a:t>(t+1) </a:t>
            </a:r>
            <a:r>
              <a:rPr sz="2600" spc="10" dirty="0">
                <a:latin typeface="Calibri"/>
                <a:cs typeface="Calibri"/>
              </a:rPr>
              <a:t>= </a:t>
            </a:r>
            <a:r>
              <a:rPr sz="2600" b="1" spc="20" dirty="0">
                <a:latin typeface="Calibri"/>
                <a:cs typeface="Calibri"/>
              </a:rPr>
              <a:t>M </a:t>
            </a:r>
            <a:r>
              <a:rPr sz="2600" spc="5" dirty="0">
                <a:latin typeface="Calibri"/>
                <a:cs typeface="Calibri"/>
              </a:rPr>
              <a:t>∙</a:t>
            </a:r>
            <a:r>
              <a:rPr sz="2600" spc="-39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r</a:t>
            </a:r>
            <a:r>
              <a:rPr sz="2550" baseline="24509" dirty="0">
                <a:latin typeface="Calibri"/>
                <a:cs typeface="Calibri"/>
              </a:rPr>
              <a:t>(t)</a:t>
            </a:r>
            <a:endParaRPr sz="2550" baseline="24509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5FB5CC"/>
              </a:buClr>
              <a:buFont typeface="Wingdings"/>
              <a:buChar char=""/>
            </a:pPr>
            <a:endParaRPr sz="2550">
              <a:latin typeface="Calibri"/>
              <a:cs typeface="Calibri"/>
            </a:endParaRPr>
          </a:p>
          <a:p>
            <a:pPr marL="346075" indent="-276860">
              <a:lnSpc>
                <a:spcPct val="100000"/>
              </a:lnSpc>
              <a:buClr>
                <a:srgbClr val="5FB5CC"/>
              </a:buClr>
              <a:buFont typeface="Wingdings"/>
              <a:buChar char=""/>
              <a:tabLst>
                <a:tab pos="346710" algn="l"/>
              </a:tabLst>
            </a:pPr>
            <a:r>
              <a:rPr sz="2600" spc="5" dirty="0">
                <a:latin typeface="Calibri"/>
                <a:cs typeface="Calibri"/>
              </a:rPr>
              <a:t>Substitute </a:t>
            </a:r>
            <a:r>
              <a:rPr sz="2600" spc="-5" dirty="0">
                <a:latin typeface="Calibri"/>
                <a:cs typeface="Calibri"/>
              </a:rPr>
              <a:t>r</a:t>
            </a:r>
            <a:r>
              <a:rPr sz="2550" spc="-7" baseline="-19607" dirty="0">
                <a:latin typeface="Calibri"/>
                <a:cs typeface="Calibri"/>
              </a:rPr>
              <a:t>i </a:t>
            </a:r>
            <a:r>
              <a:rPr sz="2600" spc="10" dirty="0">
                <a:latin typeface="Calibri"/>
                <a:cs typeface="Calibri"/>
              </a:rPr>
              <a:t>=</a:t>
            </a:r>
            <a:r>
              <a:rPr sz="2600" spc="-290" dirty="0">
                <a:latin typeface="Calibri"/>
                <a:cs typeface="Calibri"/>
              </a:rPr>
              <a:t> </a:t>
            </a:r>
            <a:r>
              <a:rPr sz="2600" spc="10" dirty="0">
                <a:latin typeface="Calibri"/>
                <a:cs typeface="Calibri"/>
              </a:rPr>
              <a:t>d</a:t>
            </a:r>
            <a:r>
              <a:rPr sz="2550" spc="15" baseline="-19607" dirty="0">
                <a:latin typeface="Calibri"/>
                <a:cs typeface="Calibri"/>
              </a:rPr>
              <a:t>i</a:t>
            </a:r>
            <a:r>
              <a:rPr sz="2600" spc="10" dirty="0">
                <a:latin typeface="Calibri"/>
                <a:cs typeface="Calibri"/>
              </a:rPr>
              <a:t>/2m: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9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Done! Uniqueness: </a:t>
            </a:r>
            <a:r>
              <a:rPr sz="3000" spc="-30" dirty="0">
                <a:latin typeface="Calibri"/>
                <a:cs typeface="Calibri"/>
              </a:rPr>
              <a:t>exercise! </a:t>
            </a:r>
            <a:r>
              <a:rPr sz="3000" dirty="0">
                <a:latin typeface="Calibri"/>
                <a:cs typeface="Calibri"/>
              </a:rPr>
              <a:t>m =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#edges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86675" y="29718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209550" y="0"/>
                </a:moveTo>
                <a:lnTo>
                  <a:pt x="161512" y="5536"/>
                </a:lnTo>
                <a:lnTo>
                  <a:pt x="117410" y="21304"/>
                </a:lnTo>
                <a:lnTo>
                  <a:pt x="78501" y="46046"/>
                </a:lnTo>
                <a:lnTo>
                  <a:pt x="46046" y="78501"/>
                </a:lnTo>
                <a:lnTo>
                  <a:pt x="21304" y="117410"/>
                </a:lnTo>
                <a:lnTo>
                  <a:pt x="5536" y="161512"/>
                </a:lnTo>
                <a:lnTo>
                  <a:pt x="0" y="209550"/>
                </a:lnTo>
                <a:lnTo>
                  <a:pt x="5536" y="257587"/>
                </a:lnTo>
                <a:lnTo>
                  <a:pt x="21304" y="301689"/>
                </a:lnTo>
                <a:lnTo>
                  <a:pt x="46046" y="340598"/>
                </a:lnTo>
                <a:lnTo>
                  <a:pt x="78501" y="373053"/>
                </a:lnTo>
                <a:lnTo>
                  <a:pt x="117410" y="397795"/>
                </a:lnTo>
                <a:lnTo>
                  <a:pt x="161512" y="413563"/>
                </a:lnTo>
                <a:lnTo>
                  <a:pt x="209550" y="419100"/>
                </a:lnTo>
                <a:lnTo>
                  <a:pt x="257587" y="413563"/>
                </a:lnTo>
                <a:lnTo>
                  <a:pt x="301689" y="397795"/>
                </a:lnTo>
                <a:lnTo>
                  <a:pt x="340598" y="373053"/>
                </a:lnTo>
                <a:lnTo>
                  <a:pt x="373053" y="340598"/>
                </a:lnTo>
                <a:lnTo>
                  <a:pt x="397795" y="301689"/>
                </a:lnTo>
                <a:lnTo>
                  <a:pt x="413563" y="257587"/>
                </a:lnTo>
                <a:lnTo>
                  <a:pt x="419100" y="209550"/>
                </a:lnTo>
                <a:lnTo>
                  <a:pt x="413563" y="161512"/>
                </a:lnTo>
                <a:lnTo>
                  <a:pt x="397795" y="117410"/>
                </a:lnTo>
                <a:lnTo>
                  <a:pt x="373053" y="78501"/>
                </a:lnTo>
                <a:lnTo>
                  <a:pt x="340598" y="46046"/>
                </a:lnTo>
                <a:lnTo>
                  <a:pt x="301689" y="21304"/>
                </a:lnTo>
                <a:lnTo>
                  <a:pt x="257587" y="5536"/>
                </a:lnTo>
                <a:lnTo>
                  <a:pt x="209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24851" y="3008566"/>
            <a:ext cx="1689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58125" y="2019300"/>
            <a:ext cx="419100" cy="409575"/>
          </a:xfrm>
          <a:custGeom>
            <a:avLst/>
            <a:gdLst/>
            <a:ahLst/>
            <a:cxnLst/>
            <a:rect l="l" t="t" r="r" b="b"/>
            <a:pathLst>
              <a:path w="419100" h="409575">
                <a:moveTo>
                  <a:pt x="209550" y="0"/>
                </a:moveTo>
                <a:lnTo>
                  <a:pt x="161512" y="5408"/>
                </a:lnTo>
                <a:lnTo>
                  <a:pt x="117410" y="20814"/>
                </a:lnTo>
                <a:lnTo>
                  <a:pt x="78501" y="44986"/>
                </a:lnTo>
                <a:lnTo>
                  <a:pt x="46046" y="76694"/>
                </a:lnTo>
                <a:lnTo>
                  <a:pt x="21304" y="114707"/>
                </a:lnTo>
                <a:lnTo>
                  <a:pt x="5536" y="157793"/>
                </a:lnTo>
                <a:lnTo>
                  <a:pt x="0" y="204724"/>
                </a:lnTo>
                <a:lnTo>
                  <a:pt x="5536" y="251701"/>
                </a:lnTo>
                <a:lnTo>
                  <a:pt x="21304" y="294821"/>
                </a:lnTo>
                <a:lnTo>
                  <a:pt x="46046" y="332856"/>
                </a:lnTo>
                <a:lnTo>
                  <a:pt x="78501" y="364578"/>
                </a:lnTo>
                <a:lnTo>
                  <a:pt x="117410" y="388757"/>
                </a:lnTo>
                <a:lnTo>
                  <a:pt x="161512" y="404165"/>
                </a:lnTo>
                <a:lnTo>
                  <a:pt x="209550" y="409575"/>
                </a:lnTo>
                <a:lnTo>
                  <a:pt x="257587" y="404165"/>
                </a:lnTo>
                <a:lnTo>
                  <a:pt x="301689" y="388757"/>
                </a:lnTo>
                <a:lnTo>
                  <a:pt x="340598" y="364578"/>
                </a:lnTo>
                <a:lnTo>
                  <a:pt x="373053" y="332856"/>
                </a:lnTo>
                <a:lnTo>
                  <a:pt x="397795" y="294821"/>
                </a:lnTo>
                <a:lnTo>
                  <a:pt x="413563" y="251701"/>
                </a:lnTo>
                <a:lnTo>
                  <a:pt x="419100" y="204724"/>
                </a:lnTo>
                <a:lnTo>
                  <a:pt x="413563" y="157793"/>
                </a:lnTo>
                <a:lnTo>
                  <a:pt x="397795" y="114707"/>
                </a:lnTo>
                <a:lnTo>
                  <a:pt x="373053" y="76694"/>
                </a:lnTo>
                <a:lnTo>
                  <a:pt x="340598" y="44986"/>
                </a:lnTo>
                <a:lnTo>
                  <a:pt x="301689" y="20814"/>
                </a:lnTo>
                <a:lnTo>
                  <a:pt x="257587" y="5408"/>
                </a:lnTo>
                <a:lnTo>
                  <a:pt x="209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989189" y="2043112"/>
            <a:ext cx="1689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62975" y="2019300"/>
            <a:ext cx="419100" cy="409575"/>
          </a:xfrm>
          <a:custGeom>
            <a:avLst/>
            <a:gdLst/>
            <a:ahLst/>
            <a:cxnLst/>
            <a:rect l="l" t="t" r="r" b="b"/>
            <a:pathLst>
              <a:path w="419100" h="409575">
                <a:moveTo>
                  <a:pt x="209550" y="0"/>
                </a:moveTo>
                <a:lnTo>
                  <a:pt x="161512" y="5408"/>
                </a:lnTo>
                <a:lnTo>
                  <a:pt x="117410" y="20814"/>
                </a:lnTo>
                <a:lnTo>
                  <a:pt x="78501" y="44986"/>
                </a:lnTo>
                <a:lnTo>
                  <a:pt x="46046" y="76694"/>
                </a:lnTo>
                <a:lnTo>
                  <a:pt x="21304" y="114707"/>
                </a:lnTo>
                <a:lnTo>
                  <a:pt x="5536" y="157793"/>
                </a:lnTo>
                <a:lnTo>
                  <a:pt x="0" y="204724"/>
                </a:lnTo>
                <a:lnTo>
                  <a:pt x="5536" y="251701"/>
                </a:lnTo>
                <a:lnTo>
                  <a:pt x="21304" y="294821"/>
                </a:lnTo>
                <a:lnTo>
                  <a:pt x="46046" y="332856"/>
                </a:lnTo>
                <a:lnTo>
                  <a:pt x="78501" y="364578"/>
                </a:lnTo>
                <a:lnTo>
                  <a:pt x="117410" y="388757"/>
                </a:lnTo>
                <a:lnTo>
                  <a:pt x="161512" y="404165"/>
                </a:lnTo>
                <a:lnTo>
                  <a:pt x="209550" y="409575"/>
                </a:lnTo>
                <a:lnTo>
                  <a:pt x="257587" y="404165"/>
                </a:lnTo>
                <a:lnTo>
                  <a:pt x="301689" y="388757"/>
                </a:lnTo>
                <a:lnTo>
                  <a:pt x="340598" y="364578"/>
                </a:lnTo>
                <a:lnTo>
                  <a:pt x="373053" y="332856"/>
                </a:lnTo>
                <a:lnTo>
                  <a:pt x="397795" y="294821"/>
                </a:lnTo>
                <a:lnTo>
                  <a:pt x="413563" y="251701"/>
                </a:lnTo>
                <a:lnTo>
                  <a:pt x="419100" y="204724"/>
                </a:lnTo>
                <a:lnTo>
                  <a:pt x="413563" y="157793"/>
                </a:lnTo>
                <a:lnTo>
                  <a:pt x="397795" y="114707"/>
                </a:lnTo>
                <a:lnTo>
                  <a:pt x="373053" y="76694"/>
                </a:lnTo>
                <a:lnTo>
                  <a:pt x="340598" y="44986"/>
                </a:lnTo>
                <a:lnTo>
                  <a:pt x="301689" y="20814"/>
                </a:lnTo>
                <a:lnTo>
                  <a:pt x="257587" y="5408"/>
                </a:lnTo>
                <a:lnTo>
                  <a:pt x="209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01151" y="2043112"/>
            <a:ext cx="15430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191375" y="2038350"/>
            <a:ext cx="1536065" cy="1038225"/>
            <a:chOff x="7191375" y="2038350"/>
            <a:chExt cx="1536065" cy="1038225"/>
          </a:xfrm>
        </p:grpSpPr>
        <p:sp>
          <p:nvSpPr>
            <p:cNvPr id="16" name="object 16"/>
            <p:cNvSpPr/>
            <p:nvPr/>
          </p:nvSpPr>
          <p:spPr>
            <a:xfrm>
              <a:off x="7443850" y="2386075"/>
              <a:ext cx="1269365" cy="676275"/>
            </a:xfrm>
            <a:custGeom>
              <a:avLst/>
              <a:gdLst/>
              <a:ahLst/>
              <a:cxnLst/>
              <a:rect l="l" t="t" r="r" b="b"/>
              <a:pathLst>
                <a:path w="1269365" h="676275">
                  <a:moveTo>
                    <a:pt x="0" y="28575"/>
                  </a:moveTo>
                  <a:lnTo>
                    <a:pt x="340995" y="622681"/>
                  </a:lnTo>
                </a:path>
                <a:path w="1269365" h="676275">
                  <a:moveTo>
                    <a:pt x="615823" y="28575"/>
                  </a:moveTo>
                  <a:lnTo>
                    <a:pt x="495300" y="596646"/>
                  </a:lnTo>
                </a:path>
                <a:path w="1269365" h="676275">
                  <a:moveTo>
                    <a:pt x="1268856" y="0"/>
                  </a:moveTo>
                  <a:lnTo>
                    <a:pt x="638175" y="676021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91375" y="20383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lnTo>
                    <a:pt x="161512" y="5536"/>
                  </a:lnTo>
                  <a:lnTo>
                    <a:pt x="117410" y="21304"/>
                  </a:lnTo>
                  <a:lnTo>
                    <a:pt x="78501" y="46046"/>
                  </a:lnTo>
                  <a:lnTo>
                    <a:pt x="46046" y="78501"/>
                  </a:lnTo>
                  <a:lnTo>
                    <a:pt x="21304" y="117410"/>
                  </a:lnTo>
                  <a:lnTo>
                    <a:pt x="5536" y="161512"/>
                  </a:lnTo>
                  <a:lnTo>
                    <a:pt x="0" y="209550"/>
                  </a:lnTo>
                  <a:lnTo>
                    <a:pt x="5536" y="257587"/>
                  </a:lnTo>
                  <a:lnTo>
                    <a:pt x="21304" y="301689"/>
                  </a:lnTo>
                  <a:lnTo>
                    <a:pt x="46046" y="340598"/>
                  </a:lnTo>
                  <a:lnTo>
                    <a:pt x="78501" y="373053"/>
                  </a:lnTo>
                  <a:lnTo>
                    <a:pt x="117410" y="397795"/>
                  </a:lnTo>
                  <a:lnTo>
                    <a:pt x="161512" y="413563"/>
                  </a:lnTo>
                  <a:lnTo>
                    <a:pt x="209550" y="419100"/>
                  </a:lnTo>
                  <a:lnTo>
                    <a:pt x="257587" y="413563"/>
                  </a:lnTo>
                  <a:lnTo>
                    <a:pt x="301689" y="397795"/>
                  </a:lnTo>
                  <a:lnTo>
                    <a:pt x="340598" y="373053"/>
                  </a:lnTo>
                  <a:lnTo>
                    <a:pt x="373053" y="340598"/>
                  </a:lnTo>
                  <a:lnTo>
                    <a:pt x="397795" y="301689"/>
                  </a:lnTo>
                  <a:lnTo>
                    <a:pt x="413563" y="257587"/>
                  </a:lnTo>
                  <a:lnTo>
                    <a:pt x="419100" y="209550"/>
                  </a:lnTo>
                  <a:lnTo>
                    <a:pt x="413563" y="161512"/>
                  </a:lnTo>
                  <a:lnTo>
                    <a:pt x="397795" y="117410"/>
                  </a:lnTo>
                  <a:lnTo>
                    <a:pt x="373053" y="78501"/>
                  </a:lnTo>
                  <a:lnTo>
                    <a:pt x="340598" y="46046"/>
                  </a:lnTo>
                  <a:lnTo>
                    <a:pt x="301689" y="21304"/>
                  </a:lnTo>
                  <a:lnTo>
                    <a:pt x="257587" y="5536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322184" y="2065019"/>
            <a:ext cx="16891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1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34025" y="3895725"/>
            <a:ext cx="2743200" cy="1381125"/>
            <a:chOff x="5534025" y="3895725"/>
            <a:chExt cx="2743200" cy="1381125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34025" y="3895725"/>
              <a:ext cx="2743200" cy="8191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48325" y="4743450"/>
              <a:ext cx="1285875" cy="533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624826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46212"/>
            <a:ext cx="285750" cy="35274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57312"/>
            <a:ext cx="7509509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dirty="0">
                <a:solidFill>
                  <a:srgbClr val="0000FF"/>
                </a:solidFill>
              </a:rPr>
              <a:t>Which </a:t>
            </a:r>
            <a:r>
              <a:rPr sz="2750" spc="5" dirty="0">
                <a:solidFill>
                  <a:srgbClr val="0000FF"/>
                </a:solidFill>
              </a:rPr>
              <a:t>node has </a:t>
            </a:r>
            <a:r>
              <a:rPr sz="2750" spc="-20" dirty="0">
                <a:solidFill>
                  <a:srgbClr val="0000FF"/>
                </a:solidFill>
              </a:rPr>
              <a:t>highest </a:t>
            </a:r>
            <a:r>
              <a:rPr sz="2750" spc="-5" dirty="0">
                <a:solidFill>
                  <a:srgbClr val="0000FF"/>
                </a:solidFill>
              </a:rPr>
              <a:t>PageRank? </a:t>
            </a:r>
            <a:r>
              <a:rPr sz="2750" spc="10" dirty="0">
                <a:solidFill>
                  <a:srgbClr val="0000FF"/>
                </a:solidFill>
              </a:rPr>
              <a:t>Second</a:t>
            </a:r>
            <a:r>
              <a:rPr sz="2750" spc="100" dirty="0">
                <a:solidFill>
                  <a:srgbClr val="0000FF"/>
                </a:solidFill>
              </a:rPr>
              <a:t> </a:t>
            </a:r>
            <a:r>
              <a:rPr sz="2750" spc="-25" dirty="0">
                <a:solidFill>
                  <a:srgbClr val="0000FF"/>
                </a:solidFill>
              </a:rPr>
              <a:t>highest?</a:t>
            </a:r>
            <a:endParaRPr sz="275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46487" y="1989630"/>
            <a:ext cx="4593407" cy="44884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624826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46212"/>
            <a:ext cx="285750" cy="35274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50"/>
              </a:spcBef>
            </a:pPr>
            <a:r>
              <a:rPr sz="2750" spc="15" dirty="0">
                <a:solidFill>
                  <a:srgbClr val="0000FF"/>
                </a:solidFill>
              </a:rPr>
              <a:t>Node </a:t>
            </a:r>
            <a:r>
              <a:rPr sz="2750" spc="10" dirty="0">
                <a:solidFill>
                  <a:srgbClr val="0000FF"/>
                </a:solidFill>
              </a:rPr>
              <a:t>1 </a:t>
            </a:r>
            <a:r>
              <a:rPr sz="2750" spc="5" dirty="0">
                <a:solidFill>
                  <a:srgbClr val="0000FF"/>
                </a:solidFill>
              </a:rPr>
              <a:t>has </a:t>
            </a:r>
            <a:r>
              <a:rPr sz="2750" spc="-15" dirty="0">
                <a:solidFill>
                  <a:srgbClr val="0000FF"/>
                </a:solidFill>
              </a:rPr>
              <a:t>the </a:t>
            </a:r>
            <a:r>
              <a:rPr sz="2750" spc="-20" dirty="0">
                <a:solidFill>
                  <a:srgbClr val="0000FF"/>
                </a:solidFill>
              </a:rPr>
              <a:t>highest </a:t>
            </a:r>
            <a:r>
              <a:rPr sz="2750" spc="5" dirty="0">
                <a:solidFill>
                  <a:srgbClr val="0000FF"/>
                </a:solidFill>
              </a:rPr>
              <a:t>PR, </a:t>
            </a:r>
            <a:r>
              <a:rPr sz="2750" spc="-15" dirty="0">
                <a:solidFill>
                  <a:srgbClr val="0000FF"/>
                </a:solidFill>
              </a:rPr>
              <a:t>followed </a:t>
            </a:r>
            <a:r>
              <a:rPr sz="2750" spc="-5" dirty="0">
                <a:solidFill>
                  <a:srgbClr val="0000FF"/>
                </a:solidFill>
              </a:rPr>
              <a:t>by </a:t>
            </a:r>
            <a:r>
              <a:rPr sz="2750" spc="15" dirty="0">
                <a:solidFill>
                  <a:srgbClr val="0000FF"/>
                </a:solidFill>
              </a:rPr>
              <a:t>Node </a:t>
            </a:r>
            <a:r>
              <a:rPr sz="2750" spc="10" dirty="0">
                <a:solidFill>
                  <a:srgbClr val="0000FF"/>
                </a:solidFill>
              </a:rPr>
              <a:t>3  </a:t>
            </a:r>
            <a:r>
              <a:rPr sz="2750" spc="-5" dirty="0">
                <a:solidFill>
                  <a:srgbClr val="0000FF"/>
                </a:solidFill>
              </a:rPr>
              <a:t>Degree </a:t>
            </a:r>
            <a:r>
              <a:rPr sz="2750" spc="10" dirty="0">
                <a:solidFill>
                  <a:srgbClr val="0000FF"/>
                </a:solidFill>
              </a:rPr>
              <a:t>≠</a:t>
            </a:r>
            <a:r>
              <a:rPr sz="2750" spc="120" dirty="0">
                <a:solidFill>
                  <a:srgbClr val="0000FF"/>
                </a:solidFill>
              </a:rPr>
              <a:t> </a:t>
            </a:r>
            <a:r>
              <a:rPr sz="2750" spc="-10" dirty="0">
                <a:solidFill>
                  <a:srgbClr val="0000FF"/>
                </a:solidFill>
              </a:rPr>
              <a:t>PageRank</a:t>
            </a:r>
            <a:endParaRPr sz="275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874773"/>
            <a:ext cx="285750" cy="3530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25300" y="2330571"/>
            <a:ext cx="4282788" cy="416853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624826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46212"/>
            <a:ext cx="285750" cy="35274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50"/>
              </a:spcBef>
            </a:pPr>
            <a:r>
              <a:rPr sz="2750" spc="-10" dirty="0">
                <a:solidFill>
                  <a:srgbClr val="0000FF"/>
                </a:solidFill>
              </a:rPr>
              <a:t>Add </a:t>
            </a:r>
            <a:r>
              <a:rPr sz="2750" spc="-15" dirty="0">
                <a:solidFill>
                  <a:srgbClr val="0000FF"/>
                </a:solidFill>
              </a:rPr>
              <a:t>edge </a:t>
            </a:r>
            <a:r>
              <a:rPr sz="2750" spc="10" dirty="0">
                <a:solidFill>
                  <a:srgbClr val="0000FF"/>
                </a:solidFill>
              </a:rPr>
              <a:t>3 </a:t>
            </a:r>
            <a:r>
              <a:rPr sz="2750" spc="-5" dirty="0">
                <a:solidFill>
                  <a:srgbClr val="0000FF"/>
                </a:solidFill>
              </a:rPr>
              <a:t>-&gt; </a:t>
            </a:r>
            <a:r>
              <a:rPr sz="2750" spc="15" dirty="0">
                <a:solidFill>
                  <a:srgbClr val="0000FF"/>
                </a:solidFill>
              </a:rPr>
              <a:t>2. </a:t>
            </a:r>
            <a:r>
              <a:rPr sz="2750" spc="-45" dirty="0">
                <a:solidFill>
                  <a:srgbClr val="0000FF"/>
                </a:solidFill>
              </a:rPr>
              <a:t>Now, </a:t>
            </a:r>
            <a:r>
              <a:rPr sz="2750" spc="-5" dirty="0">
                <a:solidFill>
                  <a:srgbClr val="0000FF"/>
                </a:solidFill>
              </a:rPr>
              <a:t>which </a:t>
            </a:r>
            <a:r>
              <a:rPr sz="2750" dirty="0">
                <a:solidFill>
                  <a:srgbClr val="0000FF"/>
                </a:solidFill>
              </a:rPr>
              <a:t>node </a:t>
            </a:r>
            <a:r>
              <a:rPr sz="2750" spc="5" dirty="0">
                <a:solidFill>
                  <a:srgbClr val="0000FF"/>
                </a:solidFill>
              </a:rPr>
              <a:t>has </a:t>
            </a:r>
            <a:r>
              <a:rPr sz="2750" spc="-20" dirty="0">
                <a:solidFill>
                  <a:srgbClr val="0000FF"/>
                </a:solidFill>
              </a:rPr>
              <a:t>highest  </a:t>
            </a:r>
            <a:r>
              <a:rPr sz="2750" spc="-5" dirty="0">
                <a:solidFill>
                  <a:srgbClr val="0000FF"/>
                </a:solidFill>
              </a:rPr>
              <a:t>PageRank? </a:t>
            </a:r>
            <a:r>
              <a:rPr sz="2750" spc="5" dirty="0">
                <a:solidFill>
                  <a:srgbClr val="0000FF"/>
                </a:solidFill>
              </a:rPr>
              <a:t>Second</a:t>
            </a:r>
            <a:r>
              <a:rPr sz="2750" spc="200" dirty="0">
                <a:solidFill>
                  <a:srgbClr val="0000FF"/>
                </a:solidFill>
              </a:rPr>
              <a:t> </a:t>
            </a:r>
            <a:r>
              <a:rPr sz="2750" spc="-20" dirty="0">
                <a:solidFill>
                  <a:srgbClr val="0000FF"/>
                </a:solidFill>
              </a:rPr>
              <a:t>highest?</a:t>
            </a:r>
            <a:endParaRPr sz="275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95662" y="2301132"/>
            <a:ext cx="4122771" cy="402738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624826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46212"/>
            <a:ext cx="285750" cy="35274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57312"/>
            <a:ext cx="5997575" cy="878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50"/>
              </a:spcBef>
            </a:pPr>
            <a:r>
              <a:rPr sz="2750" spc="15" dirty="0">
                <a:solidFill>
                  <a:srgbClr val="0000FF"/>
                </a:solidFill>
              </a:rPr>
              <a:t>Node </a:t>
            </a:r>
            <a:r>
              <a:rPr sz="2750" spc="10" dirty="0">
                <a:solidFill>
                  <a:srgbClr val="0000FF"/>
                </a:solidFill>
              </a:rPr>
              <a:t>3 </a:t>
            </a:r>
            <a:r>
              <a:rPr sz="2750" spc="5" dirty="0">
                <a:solidFill>
                  <a:srgbClr val="0000FF"/>
                </a:solidFill>
              </a:rPr>
              <a:t>has </a:t>
            </a:r>
            <a:r>
              <a:rPr sz="2750" spc="-15" dirty="0">
                <a:solidFill>
                  <a:srgbClr val="0000FF"/>
                </a:solidFill>
              </a:rPr>
              <a:t>the </a:t>
            </a:r>
            <a:r>
              <a:rPr sz="2750" spc="-20" dirty="0">
                <a:solidFill>
                  <a:srgbClr val="0000FF"/>
                </a:solidFill>
              </a:rPr>
              <a:t>highest </a:t>
            </a:r>
            <a:r>
              <a:rPr sz="2750" spc="5" dirty="0">
                <a:solidFill>
                  <a:srgbClr val="0000FF"/>
                </a:solidFill>
              </a:rPr>
              <a:t>PR, </a:t>
            </a:r>
            <a:r>
              <a:rPr sz="2750" spc="-15" dirty="0">
                <a:solidFill>
                  <a:srgbClr val="0000FF"/>
                </a:solidFill>
              </a:rPr>
              <a:t>followed </a:t>
            </a:r>
            <a:r>
              <a:rPr sz="2750" spc="-5" dirty="0">
                <a:solidFill>
                  <a:srgbClr val="0000FF"/>
                </a:solidFill>
              </a:rPr>
              <a:t>by </a:t>
            </a:r>
            <a:r>
              <a:rPr sz="2750" spc="15" dirty="0">
                <a:solidFill>
                  <a:srgbClr val="0000FF"/>
                </a:solidFill>
              </a:rPr>
              <a:t>2.  </a:t>
            </a:r>
            <a:r>
              <a:rPr sz="2750" spc="10" dirty="0">
                <a:solidFill>
                  <a:srgbClr val="0000FF"/>
                </a:solidFill>
              </a:rPr>
              <a:t>Small </a:t>
            </a:r>
            <a:r>
              <a:rPr sz="2750" spc="-5" dirty="0">
                <a:solidFill>
                  <a:srgbClr val="0000FF"/>
                </a:solidFill>
              </a:rPr>
              <a:t>changes to </a:t>
            </a:r>
            <a:r>
              <a:rPr sz="2750" spc="-15" dirty="0">
                <a:solidFill>
                  <a:srgbClr val="0000FF"/>
                </a:solidFill>
              </a:rPr>
              <a:t>graph </a:t>
            </a:r>
            <a:r>
              <a:rPr sz="2750" spc="25" dirty="0">
                <a:solidFill>
                  <a:srgbClr val="0000FF"/>
                </a:solidFill>
              </a:rPr>
              <a:t>can </a:t>
            </a:r>
            <a:r>
              <a:rPr sz="2750" dirty="0">
                <a:solidFill>
                  <a:srgbClr val="0000FF"/>
                </a:solidFill>
              </a:rPr>
              <a:t>change</a:t>
            </a:r>
            <a:r>
              <a:rPr sz="2750" spc="475" dirty="0">
                <a:solidFill>
                  <a:srgbClr val="0000FF"/>
                </a:solidFill>
              </a:rPr>
              <a:t> </a:t>
            </a:r>
            <a:r>
              <a:rPr sz="2750" spc="10" dirty="0">
                <a:solidFill>
                  <a:srgbClr val="0000FF"/>
                </a:solidFill>
              </a:rPr>
              <a:t>PR!</a:t>
            </a:r>
            <a:endParaRPr sz="275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874773"/>
            <a:ext cx="285750" cy="3530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3540" y="2396209"/>
            <a:ext cx="4094533" cy="399915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0" y="3228975"/>
              <a:ext cx="6348476" cy="13477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6777101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429634"/>
            <a:ext cx="361950" cy="438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345304"/>
            <a:ext cx="361950" cy="4387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5260975"/>
            <a:ext cx="361950" cy="4387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8530" y="3302635"/>
            <a:ext cx="6696075" cy="2406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5" dirty="0">
                <a:solidFill>
                  <a:srgbClr val="D50092"/>
                </a:solidFill>
                <a:latin typeface="Calibri"/>
                <a:cs typeface="Calibri"/>
              </a:rPr>
              <a:t>Does </a:t>
            </a:r>
            <a:r>
              <a:rPr sz="3600" b="1" spc="15" dirty="0">
                <a:solidFill>
                  <a:srgbClr val="D50092"/>
                </a:solidFill>
                <a:latin typeface="Calibri"/>
                <a:cs typeface="Calibri"/>
              </a:rPr>
              <a:t>this</a:t>
            </a:r>
            <a:r>
              <a:rPr sz="3600" b="1" spc="-3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D50092"/>
                </a:solidFill>
                <a:latin typeface="Calibri"/>
                <a:cs typeface="Calibri"/>
              </a:rPr>
              <a:t>converge?</a:t>
            </a:r>
            <a:endParaRPr sz="3600">
              <a:latin typeface="Calibri"/>
              <a:cs typeface="Calibri"/>
            </a:endParaRPr>
          </a:p>
          <a:p>
            <a:pPr marL="12700" marR="5080">
              <a:lnSpc>
                <a:spcPct val="166900"/>
              </a:lnSpc>
            </a:pPr>
            <a:r>
              <a:rPr sz="3600" b="1" spc="-5" dirty="0">
                <a:solidFill>
                  <a:srgbClr val="D50092"/>
                </a:solidFill>
                <a:latin typeface="Calibri"/>
                <a:cs typeface="Calibri"/>
              </a:rPr>
              <a:t>Does </a:t>
            </a:r>
            <a:r>
              <a:rPr sz="3600" b="1" spc="10" dirty="0">
                <a:solidFill>
                  <a:srgbClr val="D50092"/>
                </a:solidFill>
                <a:latin typeface="Calibri"/>
                <a:cs typeface="Calibri"/>
              </a:rPr>
              <a:t>it </a:t>
            </a:r>
            <a:r>
              <a:rPr sz="3600" b="1" spc="-25" dirty="0">
                <a:solidFill>
                  <a:srgbClr val="D50092"/>
                </a:solidFill>
                <a:latin typeface="Calibri"/>
                <a:cs typeface="Calibri"/>
              </a:rPr>
              <a:t>converge </a:t>
            </a:r>
            <a:r>
              <a:rPr sz="3600" b="1" spc="15" dirty="0">
                <a:solidFill>
                  <a:srgbClr val="D50092"/>
                </a:solidFill>
                <a:latin typeface="Calibri"/>
                <a:cs typeface="Calibri"/>
              </a:rPr>
              <a:t>to </a:t>
            </a:r>
            <a:r>
              <a:rPr sz="3600" b="1" spc="10" dirty="0">
                <a:solidFill>
                  <a:srgbClr val="D50092"/>
                </a:solidFill>
                <a:latin typeface="Calibri"/>
                <a:cs typeface="Calibri"/>
              </a:rPr>
              <a:t>what </a:t>
            </a:r>
            <a:r>
              <a:rPr sz="3600" b="1" spc="5" dirty="0">
                <a:solidFill>
                  <a:srgbClr val="D50092"/>
                </a:solidFill>
                <a:latin typeface="Calibri"/>
                <a:cs typeface="Calibri"/>
              </a:rPr>
              <a:t>we</a:t>
            </a:r>
            <a:r>
              <a:rPr sz="3600" b="1" spc="-32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D50092"/>
                </a:solidFill>
                <a:latin typeface="Calibri"/>
                <a:cs typeface="Calibri"/>
              </a:rPr>
              <a:t>want?  </a:t>
            </a:r>
            <a:r>
              <a:rPr sz="3600" b="1" spc="-30" dirty="0">
                <a:solidFill>
                  <a:srgbClr val="D50092"/>
                </a:solidFill>
                <a:latin typeface="Calibri"/>
                <a:cs typeface="Calibri"/>
              </a:rPr>
              <a:t>Are </a:t>
            </a:r>
            <a:r>
              <a:rPr sz="3600" b="1" spc="-10" dirty="0">
                <a:solidFill>
                  <a:srgbClr val="D50092"/>
                </a:solidFill>
                <a:latin typeface="Calibri"/>
                <a:cs typeface="Calibri"/>
              </a:rPr>
              <a:t>results</a:t>
            </a:r>
            <a:r>
              <a:rPr sz="3600" b="1" spc="8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D50092"/>
                </a:solidFill>
                <a:latin typeface="Calibri"/>
                <a:cs typeface="Calibri"/>
              </a:rPr>
              <a:t>reasonable?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07724" y="2277313"/>
            <a:ext cx="774065" cy="0"/>
          </a:xfrm>
          <a:custGeom>
            <a:avLst/>
            <a:gdLst/>
            <a:ahLst/>
            <a:cxnLst/>
            <a:rect l="l" t="t" r="r" b="b"/>
            <a:pathLst>
              <a:path w="774064">
                <a:moveTo>
                  <a:pt x="0" y="0"/>
                </a:moveTo>
                <a:lnTo>
                  <a:pt x="773456" y="0"/>
                </a:lnTo>
              </a:path>
            </a:pathLst>
          </a:custGeom>
          <a:ln w="237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14835" y="1682707"/>
            <a:ext cx="647065" cy="1054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750" spc="75" dirty="0">
                <a:latin typeface="Symbol"/>
                <a:cs typeface="Symbol"/>
              </a:rPr>
              <a:t></a:t>
            </a:r>
            <a:endParaRPr sz="67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02159" y="2619003"/>
            <a:ext cx="63563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i="1" spc="114" dirty="0">
                <a:latin typeface="Times New Roman"/>
                <a:cs typeface="Times New Roman"/>
              </a:rPr>
              <a:t>i</a:t>
            </a:r>
            <a:r>
              <a:rPr sz="2600" spc="114" dirty="0">
                <a:latin typeface="Symbol"/>
                <a:cs typeface="Symbol"/>
              </a:rPr>
              <a:t>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i="1" spc="20" dirty="0">
                <a:latin typeface="Times New Roman"/>
                <a:cs typeface="Times New Roman"/>
              </a:rPr>
              <a:t>j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7521" y="1835557"/>
            <a:ext cx="164338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285240" algn="l"/>
              </a:tabLst>
            </a:pPr>
            <a:r>
              <a:rPr sz="4500" i="1" spc="35" dirty="0">
                <a:latin typeface="Times New Roman"/>
                <a:cs typeface="Times New Roman"/>
              </a:rPr>
              <a:t>r</a:t>
            </a:r>
            <a:r>
              <a:rPr sz="3900" i="1" spc="52" baseline="-23504" dirty="0">
                <a:latin typeface="Times New Roman"/>
                <a:cs typeface="Times New Roman"/>
              </a:rPr>
              <a:t>j	</a:t>
            </a:r>
            <a:r>
              <a:rPr sz="4500" spc="40" dirty="0">
                <a:latin typeface="Symbol"/>
                <a:cs typeface="Symbol"/>
              </a:rPr>
              <a:t></a:t>
            </a:r>
            <a:endParaRPr sz="45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5861" y="1775517"/>
            <a:ext cx="72326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spc="75" dirty="0">
                <a:latin typeface="Times New Roman"/>
                <a:cs typeface="Times New Roman"/>
              </a:rPr>
              <a:t>(</a:t>
            </a:r>
            <a:r>
              <a:rPr sz="2600" i="1" spc="75" dirty="0">
                <a:latin typeface="Times New Roman"/>
                <a:cs typeface="Times New Roman"/>
              </a:rPr>
              <a:t>t</a:t>
            </a:r>
            <a:r>
              <a:rPr sz="2600" i="1" spc="-44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Symbol"/>
                <a:cs typeface="Symbol"/>
              </a:rPr>
              <a:t></a:t>
            </a:r>
            <a:r>
              <a:rPr sz="2600" spc="-45" dirty="0">
                <a:latin typeface="Times New Roman"/>
                <a:cs typeface="Times New Roman"/>
              </a:rPr>
              <a:t>1)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3018" y="1861604"/>
            <a:ext cx="120014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i="1" spc="20" dirty="0"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61174" y="2656364"/>
            <a:ext cx="120014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spc="20" dirty="0"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08774" y="1183437"/>
            <a:ext cx="73152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0" i="1" spc="37" baseline="-29012" dirty="0">
                <a:latin typeface="Times New Roman"/>
                <a:cs typeface="Times New Roman"/>
              </a:rPr>
              <a:t>r</a:t>
            </a:r>
            <a:r>
              <a:rPr sz="6750" i="1" spc="-1072" baseline="-29012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(</a:t>
            </a:r>
            <a:r>
              <a:rPr sz="2600" i="1" spc="75" dirty="0">
                <a:latin typeface="Times New Roman"/>
                <a:cs typeface="Times New Roman"/>
              </a:rPr>
              <a:t>t</a:t>
            </a:r>
            <a:r>
              <a:rPr sz="2600" i="1" spc="-38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53868" y="2275964"/>
            <a:ext cx="31623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35" dirty="0">
                <a:latin typeface="Times New Roman"/>
                <a:cs typeface="Times New Roman"/>
              </a:rPr>
              <a:t>d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00788" y="1827182"/>
            <a:ext cx="2103120" cy="963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150" i="1" spc="-15" dirty="0">
                <a:latin typeface="Times New Roman"/>
                <a:cs typeface="Times New Roman"/>
              </a:rPr>
              <a:t>r </a:t>
            </a:r>
            <a:r>
              <a:rPr sz="6150" spc="-20" dirty="0">
                <a:latin typeface="Symbol"/>
                <a:cs typeface="Symbol"/>
              </a:rPr>
              <a:t></a:t>
            </a:r>
            <a:r>
              <a:rPr sz="6150" spc="-20" dirty="0">
                <a:latin typeface="Times New Roman"/>
                <a:cs typeface="Times New Roman"/>
              </a:rPr>
              <a:t> </a:t>
            </a:r>
            <a:r>
              <a:rPr sz="6150" i="1" spc="-20" dirty="0">
                <a:latin typeface="Times New Roman"/>
                <a:cs typeface="Times New Roman"/>
              </a:rPr>
              <a:t>Mr</a:t>
            </a:r>
            <a:endParaRPr sz="6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36109" y="2083752"/>
            <a:ext cx="1355725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514984">
              <a:lnSpc>
                <a:spcPct val="100800"/>
              </a:lnSpc>
              <a:spcBef>
                <a:spcPts val="85"/>
              </a:spcBef>
            </a:pPr>
            <a:r>
              <a:rPr sz="1800" b="1" spc="25" dirty="0">
                <a:solidFill>
                  <a:srgbClr val="008000"/>
                </a:solidFill>
                <a:latin typeface="Arial"/>
                <a:cs typeface="Arial"/>
              </a:rPr>
              <a:t>or  </a:t>
            </a:r>
            <a:r>
              <a:rPr sz="1800" b="1" spc="-30" dirty="0">
                <a:solidFill>
                  <a:srgbClr val="008000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008000"/>
                </a:solidFill>
                <a:latin typeface="Arial"/>
                <a:cs typeface="Arial"/>
              </a:rPr>
              <a:t>qui</a:t>
            </a:r>
            <a:r>
              <a:rPr sz="1800" b="1" spc="-30" dirty="0">
                <a:solidFill>
                  <a:srgbClr val="008000"/>
                </a:solidFill>
                <a:latin typeface="Arial"/>
                <a:cs typeface="Arial"/>
              </a:rPr>
              <a:t>va</a:t>
            </a:r>
            <a:r>
              <a:rPr sz="1800" b="1" spc="25" dirty="0">
                <a:solidFill>
                  <a:srgbClr val="008000"/>
                </a:solidFill>
                <a:latin typeface="Arial"/>
                <a:cs typeface="Arial"/>
              </a:rPr>
              <a:t>l</a:t>
            </a:r>
            <a:r>
              <a:rPr sz="1800" b="1" spc="-30" dirty="0">
                <a:solidFill>
                  <a:srgbClr val="008000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sz="1800" b="1" dirty="0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sz="1800" b="1" spc="25" dirty="0">
                <a:solidFill>
                  <a:srgbClr val="008000"/>
                </a:solidFill>
                <a:latin typeface="Arial"/>
                <a:cs typeface="Arial"/>
              </a:rPr>
              <a:t>l</a:t>
            </a:r>
            <a:r>
              <a:rPr sz="1800" b="1" dirty="0">
                <a:solidFill>
                  <a:srgbClr val="008000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4881626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420109"/>
            <a:ext cx="323850" cy="400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3130" y="3302635"/>
            <a:ext cx="1638300" cy="10045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ts val="3835"/>
              </a:lnSpc>
              <a:spcBef>
                <a:spcPts val="130"/>
              </a:spcBef>
            </a:pP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  <a:p>
            <a:pPr marL="514350">
              <a:lnSpc>
                <a:spcPts val="3835"/>
              </a:lnSpc>
            </a:pP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150" spc="-15" baseline="-19841" dirty="0">
                <a:latin typeface="Times New Roman"/>
                <a:cs typeface="Times New Roman"/>
              </a:rPr>
              <a:t>a</a:t>
            </a:r>
            <a:endParaRPr sz="3150" baseline="-1984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45866" y="3789045"/>
            <a:ext cx="2976880" cy="10045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835"/>
              </a:lnSpc>
              <a:spcBef>
                <a:spcPts val="130"/>
              </a:spcBef>
              <a:tabLst>
                <a:tab pos="927735" algn="l"/>
                <a:tab pos="1842770" algn="l"/>
                <a:tab pos="2758440" algn="l"/>
              </a:tabLst>
            </a:pPr>
            <a:r>
              <a:rPr sz="3200" spc="15" dirty="0">
                <a:latin typeface="Times New Roman"/>
                <a:cs typeface="Times New Roman"/>
              </a:rPr>
              <a:t>1	0	1	0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835"/>
              </a:lnSpc>
              <a:tabLst>
                <a:tab pos="927735" algn="l"/>
                <a:tab pos="1842770" algn="l"/>
                <a:tab pos="2758440" algn="l"/>
              </a:tabLst>
            </a:pPr>
            <a:r>
              <a:rPr sz="3200" spc="15" dirty="0">
                <a:latin typeface="Times New Roman"/>
                <a:cs typeface="Times New Roman"/>
              </a:rPr>
              <a:t>0	1	0	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9761" y="4275454"/>
            <a:ext cx="34353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150" spc="-15" baseline="-19841" dirty="0">
                <a:latin typeface="Times New Roman"/>
                <a:cs typeface="Times New Roman"/>
              </a:rPr>
              <a:t>b</a:t>
            </a:r>
            <a:endParaRPr sz="3150" baseline="-1984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4626" y="4067429"/>
            <a:ext cx="23177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" dirty="0">
                <a:latin typeface="Arial"/>
                <a:cs typeface="Arial"/>
              </a:rPr>
              <a:t>=</a:t>
            </a:r>
            <a:endParaRPr sz="27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19475" y="2162111"/>
            <a:ext cx="2319655" cy="976630"/>
            <a:chOff x="3419475" y="2162111"/>
            <a:chExt cx="2319655" cy="976630"/>
          </a:xfrm>
        </p:grpSpPr>
        <p:sp>
          <p:nvSpPr>
            <p:cNvPr id="9" name="object 9"/>
            <p:cNvSpPr/>
            <p:nvPr/>
          </p:nvSpPr>
          <p:spPr>
            <a:xfrm>
              <a:off x="3419475" y="2386329"/>
              <a:ext cx="1751964" cy="361315"/>
            </a:xfrm>
            <a:custGeom>
              <a:avLst/>
              <a:gdLst/>
              <a:ahLst/>
              <a:cxnLst/>
              <a:rect l="l" t="t" r="r" b="b"/>
              <a:pathLst>
                <a:path w="1751964" h="361314">
                  <a:moveTo>
                    <a:pt x="191223" y="280670"/>
                  </a:moveTo>
                  <a:lnTo>
                    <a:pt x="187071" y="280670"/>
                  </a:lnTo>
                  <a:lnTo>
                    <a:pt x="181241" y="286499"/>
                  </a:lnTo>
                  <a:lnTo>
                    <a:pt x="191223" y="280670"/>
                  </a:lnTo>
                  <a:close/>
                </a:path>
                <a:path w="1751964" h="361314">
                  <a:moveTo>
                    <a:pt x="1585341" y="66421"/>
                  </a:moveTo>
                  <a:lnTo>
                    <a:pt x="1570685" y="57886"/>
                  </a:lnTo>
                  <a:lnTo>
                    <a:pt x="1564767" y="52070"/>
                  </a:lnTo>
                  <a:lnTo>
                    <a:pt x="1560728" y="52070"/>
                  </a:lnTo>
                  <a:lnTo>
                    <a:pt x="1471549" y="0"/>
                  </a:lnTo>
                  <a:lnTo>
                    <a:pt x="1462786" y="2286"/>
                  </a:lnTo>
                  <a:lnTo>
                    <a:pt x="1454912" y="16002"/>
                  </a:lnTo>
                  <a:lnTo>
                    <a:pt x="1457198" y="24765"/>
                  </a:lnTo>
                  <a:lnTo>
                    <a:pt x="1504035" y="52070"/>
                  </a:lnTo>
                  <a:lnTo>
                    <a:pt x="6350" y="52070"/>
                  </a:lnTo>
                  <a:lnTo>
                    <a:pt x="0" y="58420"/>
                  </a:lnTo>
                  <a:lnTo>
                    <a:pt x="0" y="74295"/>
                  </a:lnTo>
                  <a:lnTo>
                    <a:pt x="6350" y="80645"/>
                  </a:lnTo>
                  <a:lnTo>
                    <a:pt x="1504035" y="80645"/>
                  </a:lnTo>
                  <a:lnTo>
                    <a:pt x="1457198" y="107950"/>
                  </a:lnTo>
                  <a:lnTo>
                    <a:pt x="1454912" y="116713"/>
                  </a:lnTo>
                  <a:lnTo>
                    <a:pt x="1462786" y="130429"/>
                  </a:lnTo>
                  <a:lnTo>
                    <a:pt x="1471549" y="132715"/>
                  </a:lnTo>
                  <a:lnTo>
                    <a:pt x="1478407" y="128651"/>
                  </a:lnTo>
                  <a:lnTo>
                    <a:pt x="1560893" y="80645"/>
                  </a:lnTo>
                  <a:lnTo>
                    <a:pt x="1564767" y="80645"/>
                  </a:lnTo>
                  <a:lnTo>
                    <a:pt x="1570405" y="75107"/>
                  </a:lnTo>
                  <a:lnTo>
                    <a:pt x="1585341" y="66421"/>
                  </a:lnTo>
                  <a:close/>
                </a:path>
                <a:path w="1751964" h="361314">
                  <a:moveTo>
                    <a:pt x="1751965" y="287020"/>
                  </a:moveTo>
                  <a:lnTo>
                    <a:pt x="1745488" y="280670"/>
                  </a:lnTo>
                  <a:lnTo>
                    <a:pt x="247865" y="280670"/>
                  </a:lnTo>
                  <a:lnTo>
                    <a:pt x="294767" y="253365"/>
                  </a:lnTo>
                  <a:lnTo>
                    <a:pt x="297053" y="244602"/>
                  </a:lnTo>
                  <a:lnTo>
                    <a:pt x="292989" y="237744"/>
                  </a:lnTo>
                  <a:lnTo>
                    <a:pt x="289052" y="230886"/>
                  </a:lnTo>
                  <a:lnTo>
                    <a:pt x="280289" y="228600"/>
                  </a:lnTo>
                  <a:lnTo>
                    <a:pt x="273558" y="232664"/>
                  </a:lnTo>
                  <a:lnTo>
                    <a:pt x="181241" y="286499"/>
                  </a:lnTo>
                  <a:lnTo>
                    <a:pt x="166624" y="295021"/>
                  </a:lnTo>
                  <a:lnTo>
                    <a:pt x="181508" y="303695"/>
                  </a:lnTo>
                  <a:lnTo>
                    <a:pt x="187071" y="309245"/>
                  </a:lnTo>
                  <a:lnTo>
                    <a:pt x="191046" y="309245"/>
                  </a:lnTo>
                  <a:lnTo>
                    <a:pt x="273558" y="357251"/>
                  </a:lnTo>
                  <a:lnTo>
                    <a:pt x="280289" y="361315"/>
                  </a:lnTo>
                  <a:lnTo>
                    <a:pt x="289052" y="359029"/>
                  </a:lnTo>
                  <a:lnTo>
                    <a:pt x="292989" y="352171"/>
                  </a:lnTo>
                  <a:lnTo>
                    <a:pt x="297053" y="345313"/>
                  </a:lnTo>
                  <a:lnTo>
                    <a:pt x="294767" y="336550"/>
                  </a:lnTo>
                  <a:lnTo>
                    <a:pt x="247865" y="309245"/>
                  </a:lnTo>
                  <a:lnTo>
                    <a:pt x="1745488" y="309245"/>
                  </a:lnTo>
                  <a:lnTo>
                    <a:pt x="1751965" y="302895"/>
                  </a:lnTo>
                  <a:lnTo>
                    <a:pt x="1751965" y="287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3475" y="2228786"/>
              <a:ext cx="747712" cy="7477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6325" y="2162111"/>
              <a:ext cx="852487" cy="97631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00625" y="2257424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150" y="0"/>
                  </a:moveTo>
                  <a:lnTo>
                    <a:pt x="271986" y="3460"/>
                  </a:lnTo>
                  <a:lnTo>
                    <a:pt x="226970" y="13510"/>
                  </a:lnTo>
                  <a:lnTo>
                    <a:pt x="184599" y="29657"/>
                  </a:lnTo>
                  <a:lnTo>
                    <a:pt x="145363" y="51407"/>
                  </a:lnTo>
                  <a:lnTo>
                    <a:pt x="109758" y="78265"/>
                  </a:lnTo>
                  <a:lnTo>
                    <a:pt x="78277" y="109738"/>
                  </a:lnTo>
                  <a:lnTo>
                    <a:pt x="51413" y="145331"/>
                  </a:lnTo>
                  <a:lnTo>
                    <a:pt x="29660" y="184550"/>
                  </a:lnTo>
                  <a:lnTo>
                    <a:pt x="13511" y="226901"/>
                  </a:lnTo>
                  <a:lnTo>
                    <a:pt x="3460" y="271890"/>
                  </a:lnTo>
                  <a:lnTo>
                    <a:pt x="0" y="319024"/>
                  </a:lnTo>
                  <a:lnTo>
                    <a:pt x="3460" y="366188"/>
                  </a:lnTo>
                  <a:lnTo>
                    <a:pt x="13511" y="411204"/>
                  </a:lnTo>
                  <a:lnTo>
                    <a:pt x="29660" y="453575"/>
                  </a:lnTo>
                  <a:lnTo>
                    <a:pt x="51413" y="492811"/>
                  </a:lnTo>
                  <a:lnTo>
                    <a:pt x="78277" y="528416"/>
                  </a:lnTo>
                  <a:lnTo>
                    <a:pt x="109758" y="559897"/>
                  </a:lnTo>
                  <a:lnTo>
                    <a:pt x="145363" y="586761"/>
                  </a:lnTo>
                  <a:lnTo>
                    <a:pt x="184599" y="608514"/>
                  </a:lnTo>
                  <a:lnTo>
                    <a:pt x="226970" y="624663"/>
                  </a:lnTo>
                  <a:lnTo>
                    <a:pt x="271986" y="634714"/>
                  </a:lnTo>
                  <a:lnTo>
                    <a:pt x="319150" y="638175"/>
                  </a:lnTo>
                  <a:lnTo>
                    <a:pt x="366284" y="634714"/>
                  </a:lnTo>
                  <a:lnTo>
                    <a:pt x="411273" y="624663"/>
                  </a:lnTo>
                  <a:lnTo>
                    <a:pt x="453624" y="608514"/>
                  </a:lnTo>
                  <a:lnTo>
                    <a:pt x="492843" y="586761"/>
                  </a:lnTo>
                  <a:lnTo>
                    <a:pt x="528436" y="559897"/>
                  </a:lnTo>
                  <a:lnTo>
                    <a:pt x="559909" y="528416"/>
                  </a:lnTo>
                  <a:lnTo>
                    <a:pt x="586767" y="492811"/>
                  </a:lnTo>
                  <a:lnTo>
                    <a:pt x="608517" y="453575"/>
                  </a:lnTo>
                  <a:lnTo>
                    <a:pt x="624664" y="411204"/>
                  </a:lnTo>
                  <a:lnTo>
                    <a:pt x="634714" y="366188"/>
                  </a:lnTo>
                  <a:lnTo>
                    <a:pt x="638175" y="319024"/>
                  </a:lnTo>
                  <a:lnTo>
                    <a:pt x="634714" y="271890"/>
                  </a:lnTo>
                  <a:lnTo>
                    <a:pt x="624664" y="226901"/>
                  </a:lnTo>
                  <a:lnTo>
                    <a:pt x="608517" y="184550"/>
                  </a:lnTo>
                  <a:lnTo>
                    <a:pt x="586767" y="145331"/>
                  </a:lnTo>
                  <a:lnTo>
                    <a:pt x="559909" y="109738"/>
                  </a:lnTo>
                  <a:lnTo>
                    <a:pt x="528436" y="78265"/>
                  </a:lnTo>
                  <a:lnTo>
                    <a:pt x="492843" y="51407"/>
                  </a:lnTo>
                  <a:lnTo>
                    <a:pt x="453624" y="29657"/>
                  </a:lnTo>
                  <a:lnTo>
                    <a:pt x="411273" y="13510"/>
                  </a:lnTo>
                  <a:lnTo>
                    <a:pt x="366284" y="3460"/>
                  </a:lnTo>
                  <a:lnTo>
                    <a:pt x="3191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186934" y="2303144"/>
            <a:ext cx="2762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76550" y="2162111"/>
            <a:ext cx="833755" cy="976630"/>
            <a:chOff x="2876550" y="2162111"/>
            <a:chExt cx="833755" cy="97663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14650" y="2228786"/>
              <a:ext cx="757237" cy="7477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76550" y="2162111"/>
              <a:ext cx="833437" cy="9763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71800" y="2257424"/>
              <a:ext cx="647700" cy="638175"/>
            </a:xfrm>
            <a:custGeom>
              <a:avLst/>
              <a:gdLst/>
              <a:ahLst/>
              <a:cxnLst/>
              <a:rect l="l" t="t" r="r" b="b"/>
              <a:pathLst>
                <a:path w="647700" h="638175">
                  <a:moveTo>
                    <a:pt x="323850" y="0"/>
                  </a:moveTo>
                  <a:lnTo>
                    <a:pt x="276003" y="3460"/>
                  </a:lnTo>
                  <a:lnTo>
                    <a:pt x="230332" y="13510"/>
                  </a:lnTo>
                  <a:lnTo>
                    <a:pt x="187340" y="29657"/>
                  </a:lnTo>
                  <a:lnTo>
                    <a:pt x="147528" y="51407"/>
                  </a:lnTo>
                  <a:lnTo>
                    <a:pt x="111397" y="78265"/>
                  </a:lnTo>
                  <a:lnTo>
                    <a:pt x="79448" y="109738"/>
                  </a:lnTo>
                  <a:lnTo>
                    <a:pt x="52184" y="145331"/>
                  </a:lnTo>
                  <a:lnTo>
                    <a:pt x="30106" y="184550"/>
                  </a:lnTo>
                  <a:lnTo>
                    <a:pt x="13714" y="226901"/>
                  </a:lnTo>
                  <a:lnTo>
                    <a:pt x="3512" y="271890"/>
                  </a:lnTo>
                  <a:lnTo>
                    <a:pt x="0" y="319024"/>
                  </a:lnTo>
                  <a:lnTo>
                    <a:pt x="3512" y="366188"/>
                  </a:lnTo>
                  <a:lnTo>
                    <a:pt x="13714" y="411204"/>
                  </a:lnTo>
                  <a:lnTo>
                    <a:pt x="30106" y="453575"/>
                  </a:lnTo>
                  <a:lnTo>
                    <a:pt x="52184" y="492811"/>
                  </a:lnTo>
                  <a:lnTo>
                    <a:pt x="79448" y="528416"/>
                  </a:lnTo>
                  <a:lnTo>
                    <a:pt x="111397" y="559897"/>
                  </a:lnTo>
                  <a:lnTo>
                    <a:pt x="147528" y="586761"/>
                  </a:lnTo>
                  <a:lnTo>
                    <a:pt x="187340" y="608514"/>
                  </a:lnTo>
                  <a:lnTo>
                    <a:pt x="230332" y="624663"/>
                  </a:lnTo>
                  <a:lnTo>
                    <a:pt x="276003" y="634714"/>
                  </a:lnTo>
                  <a:lnTo>
                    <a:pt x="323850" y="638175"/>
                  </a:lnTo>
                  <a:lnTo>
                    <a:pt x="371696" y="634714"/>
                  </a:lnTo>
                  <a:lnTo>
                    <a:pt x="417367" y="624663"/>
                  </a:lnTo>
                  <a:lnTo>
                    <a:pt x="460359" y="608514"/>
                  </a:lnTo>
                  <a:lnTo>
                    <a:pt x="500171" y="586761"/>
                  </a:lnTo>
                  <a:lnTo>
                    <a:pt x="536302" y="559897"/>
                  </a:lnTo>
                  <a:lnTo>
                    <a:pt x="568251" y="528416"/>
                  </a:lnTo>
                  <a:lnTo>
                    <a:pt x="595515" y="492811"/>
                  </a:lnTo>
                  <a:lnTo>
                    <a:pt x="617593" y="453575"/>
                  </a:lnTo>
                  <a:lnTo>
                    <a:pt x="633985" y="411204"/>
                  </a:lnTo>
                  <a:lnTo>
                    <a:pt x="644187" y="366188"/>
                  </a:lnTo>
                  <a:lnTo>
                    <a:pt x="647700" y="319024"/>
                  </a:lnTo>
                  <a:lnTo>
                    <a:pt x="644187" y="271890"/>
                  </a:lnTo>
                  <a:lnTo>
                    <a:pt x="633985" y="226901"/>
                  </a:lnTo>
                  <a:lnTo>
                    <a:pt x="617593" y="184550"/>
                  </a:lnTo>
                  <a:lnTo>
                    <a:pt x="595515" y="145331"/>
                  </a:lnTo>
                  <a:lnTo>
                    <a:pt x="568251" y="109738"/>
                  </a:lnTo>
                  <a:lnTo>
                    <a:pt x="536302" y="78265"/>
                  </a:lnTo>
                  <a:lnTo>
                    <a:pt x="500171" y="51407"/>
                  </a:lnTo>
                  <a:lnTo>
                    <a:pt x="460359" y="29657"/>
                  </a:lnTo>
                  <a:lnTo>
                    <a:pt x="417367" y="13510"/>
                  </a:lnTo>
                  <a:lnTo>
                    <a:pt x="371696" y="346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70935" y="2303144"/>
            <a:ext cx="25400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06495" y="4830762"/>
            <a:ext cx="1900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Iteration 0, 1, 2,</a:t>
            </a:r>
            <a:r>
              <a:rPr sz="1800" spc="8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48707" y="1857246"/>
            <a:ext cx="1581785" cy="83629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543050" algn="l"/>
              </a:tabLst>
            </a:pPr>
            <a:r>
              <a:rPr sz="5325" spc="60" baseline="-20344" dirty="0">
                <a:latin typeface="Symbol"/>
                <a:cs typeface="Symbol"/>
              </a:rPr>
              <a:t></a:t>
            </a:r>
            <a:r>
              <a:rPr sz="5325" spc="60" baseline="-20344" dirty="0">
                <a:latin typeface="Times New Roman"/>
                <a:cs typeface="Times New Roman"/>
              </a:rPr>
              <a:t> </a:t>
            </a:r>
            <a:r>
              <a:rPr sz="7950" spc="697" baseline="-22536" dirty="0">
                <a:latin typeface="Symbol"/>
                <a:cs typeface="Symbol"/>
              </a:rPr>
              <a:t></a:t>
            </a:r>
            <a:r>
              <a:rPr sz="5300" u="heavy" spc="-3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50" i="1" u="heavy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	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16398" y="2866277"/>
            <a:ext cx="50927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i="1" spc="100" dirty="0">
                <a:latin typeface="Times New Roman"/>
                <a:cs typeface="Times New Roman"/>
              </a:rPr>
              <a:t>i</a:t>
            </a:r>
            <a:r>
              <a:rPr sz="2050" spc="100" dirty="0">
                <a:latin typeface="Symbol"/>
                <a:cs typeface="Symbol"/>
              </a:rPr>
              <a:t></a:t>
            </a:r>
            <a:r>
              <a:rPr sz="2050" spc="-165" dirty="0">
                <a:latin typeface="Times New Roman"/>
                <a:cs typeface="Times New Roman"/>
              </a:rPr>
              <a:t> </a:t>
            </a:r>
            <a:r>
              <a:rPr sz="2050" i="1" spc="15" dirty="0">
                <a:latin typeface="Times New Roman"/>
                <a:cs typeface="Times New Roman"/>
              </a:rPr>
              <a:t>j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371561" y="1735021"/>
            <a:ext cx="596265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325" i="1" spc="44" baseline="-28951" dirty="0">
                <a:latin typeface="Times New Roman"/>
                <a:cs typeface="Times New Roman"/>
              </a:rPr>
              <a:t>r</a:t>
            </a:r>
            <a:r>
              <a:rPr sz="5325" i="1" spc="-862" baseline="-28951" dirty="0">
                <a:latin typeface="Times New Roman"/>
                <a:cs typeface="Times New Roman"/>
              </a:rPr>
              <a:t> </a:t>
            </a:r>
            <a:r>
              <a:rPr sz="2050" spc="65" dirty="0">
                <a:latin typeface="Times New Roman"/>
                <a:cs typeface="Times New Roman"/>
              </a:rPr>
              <a:t>(</a:t>
            </a:r>
            <a:r>
              <a:rPr sz="2050" i="1" spc="65" dirty="0">
                <a:latin typeface="Times New Roman"/>
                <a:cs typeface="Times New Roman"/>
              </a:rPr>
              <a:t>t</a:t>
            </a:r>
            <a:r>
              <a:rPr sz="2050" i="1" spc="-310" dirty="0">
                <a:latin typeface="Times New Roman"/>
                <a:cs typeface="Times New Roman"/>
              </a:rPr>
              <a:t> </a:t>
            </a:r>
            <a:r>
              <a:rPr sz="2050" spc="20" dirty="0">
                <a:latin typeface="Times New Roman"/>
                <a:cs typeface="Times New Roman"/>
              </a:rPr>
              <a:t>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69262" y="2248905"/>
            <a:ext cx="334010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550" i="1" spc="35" dirty="0">
                <a:latin typeface="Times New Roman"/>
                <a:cs typeface="Times New Roman"/>
              </a:rPr>
              <a:t>r</a:t>
            </a:r>
            <a:r>
              <a:rPr sz="3075" i="1" spc="52" baseline="-24390" dirty="0">
                <a:latin typeface="Times New Roman"/>
                <a:cs typeface="Times New Roman"/>
              </a:rPr>
              <a:t>j</a:t>
            </a:r>
            <a:endParaRPr sz="3075" baseline="-2439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80369" y="2201592"/>
            <a:ext cx="57912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65" dirty="0">
                <a:latin typeface="Times New Roman"/>
                <a:cs typeface="Times New Roman"/>
              </a:rPr>
              <a:t>(</a:t>
            </a:r>
            <a:r>
              <a:rPr sz="2050" i="1" spc="65" dirty="0">
                <a:latin typeface="Times New Roman"/>
                <a:cs typeface="Times New Roman"/>
              </a:rPr>
              <a:t>t</a:t>
            </a:r>
            <a:r>
              <a:rPr sz="2050" i="1" spc="-360" dirty="0">
                <a:latin typeface="Times New Roman"/>
                <a:cs typeface="Times New Roman"/>
              </a:rPr>
              <a:t> </a:t>
            </a:r>
            <a:r>
              <a:rPr sz="2050" spc="-30" dirty="0">
                <a:latin typeface="Symbol"/>
                <a:cs typeface="Symbol"/>
              </a:rPr>
              <a:t></a:t>
            </a:r>
            <a:r>
              <a:rPr sz="2050" spc="-30" dirty="0">
                <a:latin typeface="Times New Roman"/>
                <a:cs typeface="Times New Roman"/>
              </a:rPr>
              <a:t>1)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66492" y="2595955"/>
            <a:ext cx="394970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550" spc="75" dirty="0">
                <a:latin typeface="Times New Roman"/>
                <a:cs typeface="Times New Roman"/>
              </a:rPr>
              <a:t>d</a:t>
            </a:r>
            <a:r>
              <a:rPr sz="3075" spc="112" baseline="-24390" dirty="0">
                <a:latin typeface="Times New Roman"/>
                <a:cs typeface="Times New Roman"/>
              </a:rPr>
              <a:t>i</a:t>
            </a:r>
            <a:endParaRPr sz="3075" baseline="-2439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333311"/>
            <a:ext cx="8577326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420109"/>
            <a:ext cx="323850" cy="400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3130" y="3302635"/>
            <a:ext cx="1638300" cy="10045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ts val="3835"/>
              </a:lnSpc>
              <a:spcBef>
                <a:spcPts val="130"/>
              </a:spcBef>
            </a:pP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  <a:p>
            <a:pPr marL="514350">
              <a:lnSpc>
                <a:spcPts val="3835"/>
              </a:lnSpc>
            </a:pP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150" spc="-15" baseline="-19841" dirty="0">
                <a:latin typeface="Times New Roman"/>
                <a:cs typeface="Times New Roman"/>
              </a:rPr>
              <a:t>a</a:t>
            </a:r>
            <a:endParaRPr sz="3150" baseline="-1984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45866" y="3789045"/>
            <a:ext cx="2976880" cy="10045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835"/>
              </a:lnSpc>
              <a:spcBef>
                <a:spcPts val="130"/>
              </a:spcBef>
              <a:tabLst>
                <a:tab pos="927735" algn="l"/>
                <a:tab pos="1842770" algn="l"/>
                <a:tab pos="2758440" algn="l"/>
              </a:tabLst>
            </a:pPr>
            <a:r>
              <a:rPr sz="3200" spc="15" dirty="0">
                <a:latin typeface="Times New Roman"/>
                <a:cs typeface="Times New Roman"/>
              </a:rPr>
              <a:t>1	0	0	0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835"/>
              </a:lnSpc>
              <a:tabLst>
                <a:tab pos="927735" algn="l"/>
                <a:tab pos="1842770" algn="l"/>
                <a:tab pos="2758440" algn="l"/>
              </a:tabLst>
            </a:pPr>
            <a:r>
              <a:rPr sz="3200" spc="15" dirty="0">
                <a:latin typeface="Times New Roman"/>
                <a:cs typeface="Times New Roman"/>
              </a:rPr>
              <a:t>0	1	0	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9761" y="4275454"/>
            <a:ext cx="34353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150" spc="-15" baseline="-19841" dirty="0">
                <a:latin typeface="Times New Roman"/>
                <a:cs typeface="Times New Roman"/>
              </a:rPr>
              <a:t>b</a:t>
            </a:r>
            <a:endParaRPr sz="3150" baseline="-1984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4626" y="4067429"/>
            <a:ext cx="23177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" dirty="0">
                <a:latin typeface="Arial"/>
                <a:cs typeface="Arial"/>
              </a:rPr>
              <a:t>=</a:t>
            </a:r>
            <a:endParaRPr sz="27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19475" y="2162111"/>
            <a:ext cx="2319655" cy="976630"/>
            <a:chOff x="3419475" y="2162111"/>
            <a:chExt cx="2319655" cy="976630"/>
          </a:xfrm>
        </p:grpSpPr>
        <p:sp>
          <p:nvSpPr>
            <p:cNvPr id="9" name="object 9"/>
            <p:cNvSpPr/>
            <p:nvPr/>
          </p:nvSpPr>
          <p:spPr>
            <a:xfrm>
              <a:off x="3419475" y="2548254"/>
              <a:ext cx="1585595" cy="132715"/>
            </a:xfrm>
            <a:custGeom>
              <a:avLst/>
              <a:gdLst/>
              <a:ahLst/>
              <a:cxnLst/>
              <a:rect l="l" t="t" r="r" b="b"/>
              <a:pathLst>
                <a:path w="1585595" h="132714">
                  <a:moveTo>
                    <a:pt x="1528567" y="66357"/>
                  </a:moveTo>
                  <a:lnTo>
                    <a:pt x="1457198" y="107950"/>
                  </a:lnTo>
                  <a:lnTo>
                    <a:pt x="1454912" y="116712"/>
                  </a:lnTo>
                  <a:lnTo>
                    <a:pt x="1462786" y="130429"/>
                  </a:lnTo>
                  <a:lnTo>
                    <a:pt x="1471549" y="132715"/>
                  </a:lnTo>
                  <a:lnTo>
                    <a:pt x="1478407" y="128650"/>
                  </a:lnTo>
                  <a:lnTo>
                    <a:pt x="1564172" y="78740"/>
                  </a:lnTo>
                  <a:lnTo>
                    <a:pt x="1549780" y="78740"/>
                  </a:lnTo>
                  <a:lnTo>
                    <a:pt x="1528567" y="66357"/>
                  </a:lnTo>
                  <a:close/>
                </a:path>
                <a:path w="1585595" h="132714">
                  <a:moveTo>
                    <a:pt x="1504090" y="52070"/>
                  </a:moveTo>
                  <a:lnTo>
                    <a:pt x="6350" y="52070"/>
                  </a:lnTo>
                  <a:lnTo>
                    <a:pt x="0" y="58420"/>
                  </a:lnTo>
                  <a:lnTo>
                    <a:pt x="0" y="74295"/>
                  </a:lnTo>
                  <a:lnTo>
                    <a:pt x="6350" y="80645"/>
                  </a:lnTo>
                  <a:lnTo>
                    <a:pt x="1504090" y="80645"/>
                  </a:lnTo>
                  <a:lnTo>
                    <a:pt x="1528567" y="66357"/>
                  </a:lnTo>
                  <a:lnTo>
                    <a:pt x="1504090" y="52070"/>
                  </a:lnTo>
                  <a:close/>
                </a:path>
                <a:path w="1585595" h="132714">
                  <a:moveTo>
                    <a:pt x="1570416" y="75106"/>
                  </a:moveTo>
                  <a:lnTo>
                    <a:pt x="1560898" y="80645"/>
                  </a:lnTo>
                  <a:lnTo>
                    <a:pt x="1564766" y="80645"/>
                  </a:lnTo>
                  <a:lnTo>
                    <a:pt x="1570416" y="75106"/>
                  </a:lnTo>
                  <a:close/>
                </a:path>
                <a:path w="1585595" h="132714">
                  <a:moveTo>
                    <a:pt x="1549780" y="53975"/>
                  </a:moveTo>
                  <a:lnTo>
                    <a:pt x="1528567" y="66357"/>
                  </a:lnTo>
                  <a:lnTo>
                    <a:pt x="1549780" y="78740"/>
                  </a:lnTo>
                  <a:lnTo>
                    <a:pt x="1549780" y="53975"/>
                  </a:lnTo>
                  <a:close/>
                </a:path>
                <a:path w="1585595" h="132714">
                  <a:moveTo>
                    <a:pt x="1563997" y="53975"/>
                  </a:moveTo>
                  <a:lnTo>
                    <a:pt x="1549780" y="53975"/>
                  </a:lnTo>
                  <a:lnTo>
                    <a:pt x="1549780" y="78740"/>
                  </a:lnTo>
                  <a:lnTo>
                    <a:pt x="1564172" y="78740"/>
                  </a:lnTo>
                  <a:lnTo>
                    <a:pt x="1570416" y="75106"/>
                  </a:lnTo>
                  <a:lnTo>
                    <a:pt x="1571244" y="74295"/>
                  </a:lnTo>
                  <a:lnTo>
                    <a:pt x="1571244" y="58420"/>
                  </a:lnTo>
                  <a:lnTo>
                    <a:pt x="1570691" y="57878"/>
                  </a:lnTo>
                  <a:lnTo>
                    <a:pt x="1563997" y="53975"/>
                  </a:lnTo>
                  <a:close/>
                </a:path>
                <a:path w="1585595" h="132714">
                  <a:moveTo>
                    <a:pt x="1570691" y="57878"/>
                  </a:moveTo>
                  <a:lnTo>
                    <a:pt x="1571244" y="58420"/>
                  </a:lnTo>
                  <a:lnTo>
                    <a:pt x="1571244" y="74295"/>
                  </a:lnTo>
                  <a:lnTo>
                    <a:pt x="1570416" y="75106"/>
                  </a:lnTo>
                  <a:lnTo>
                    <a:pt x="1585340" y="66421"/>
                  </a:lnTo>
                  <a:lnTo>
                    <a:pt x="1570691" y="57878"/>
                  </a:lnTo>
                  <a:close/>
                </a:path>
                <a:path w="1585595" h="132714">
                  <a:moveTo>
                    <a:pt x="1471549" y="0"/>
                  </a:moveTo>
                  <a:lnTo>
                    <a:pt x="1462786" y="2286"/>
                  </a:lnTo>
                  <a:lnTo>
                    <a:pt x="1454912" y="16002"/>
                  </a:lnTo>
                  <a:lnTo>
                    <a:pt x="1457198" y="24765"/>
                  </a:lnTo>
                  <a:lnTo>
                    <a:pt x="1528567" y="66357"/>
                  </a:lnTo>
                  <a:lnTo>
                    <a:pt x="1549780" y="53975"/>
                  </a:lnTo>
                  <a:lnTo>
                    <a:pt x="1563997" y="53975"/>
                  </a:lnTo>
                  <a:lnTo>
                    <a:pt x="1471549" y="0"/>
                  </a:lnTo>
                  <a:close/>
                </a:path>
                <a:path w="1585595" h="132714">
                  <a:moveTo>
                    <a:pt x="1564766" y="52070"/>
                  </a:moveTo>
                  <a:lnTo>
                    <a:pt x="1560730" y="52070"/>
                  </a:lnTo>
                  <a:lnTo>
                    <a:pt x="1570691" y="57878"/>
                  </a:lnTo>
                  <a:lnTo>
                    <a:pt x="1564766" y="52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3475" y="2228786"/>
              <a:ext cx="747712" cy="7477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6325" y="2162111"/>
              <a:ext cx="852487" cy="97631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00625" y="2257424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150" y="0"/>
                  </a:moveTo>
                  <a:lnTo>
                    <a:pt x="271986" y="3460"/>
                  </a:lnTo>
                  <a:lnTo>
                    <a:pt x="226970" y="13510"/>
                  </a:lnTo>
                  <a:lnTo>
                    <a:pt x="184599" y="29657"/>
                  </a:lnTo>
                  <a:lnTo>
                    <a:pt x="145363" y="51407"/>
                  </a:lnTo>
                  <a:lnTo>
                    <a:pt x="109758" y="78265"/>
                  </a:lnTo>
                  <a:lnTo>
                    <a:pt x="78277" y="109738"/>
                  </a:lnTo>
                  <a:lnTo>
                    <a:pt x="51413" y="145331"/>
                  </a:lnTo>
                  <a:lnTo>
                    <a:pt x="29660" y="184550"/>
                  </a:lnTo>
                  <a:lnTo>
                    <a:pt x="13511" y="226901"/>
                  </a:lnTo>
                  <a:lnTo>
                    <a:pt x="3460" y="271890"/>
                  </a:lnTo>
                  <a:lnTo>
                    <a:pt x="0" y="319024"/>
                  </a:lnTo>
                  <a:lnTo>
                    <a:pt x="3460" y="366188"/>
                  </a:lnTo>
                  <a:lnTo>
                    <a:pt x="13511" y="411204"/>
                  </a:lnTo>
                  <a:lnTo>
                    <a:pt x="29660" y="453575"/>
                  </a:lnTo>
                  <a:lnTo>
                    <a:pt x="51413" y="492811"/>
                  </a:lnTo>
                  <a:lnTo>
                    <a:pt x="78277" y="528416"/>
                  </a:lnTo>
                  <a:lnTo>
                    <a:pt x="109758" y="559897"/>
                  </a:lnTo>
                  <a:lnTo>
                    <a:pt x="145363" y="586761"/>
                  </a:lnTo>
                  <a:lnTo>
                    <a:pt x="184599" y="608514"/>
                  </a:lnTo>
                  <a:lnTo>
                    <a:pt x="226970" y="624663"/>
                  </a:lnTo>
                  <a:lnTo>
                    <a:pt x="271986" y="634714"/>
                  </a:lnTo>
                  <a:lnTo>
                    <a:pt x="319150" y="638175"/>
                  </a:lnTo>
                  <a:lnTo>
                    <a:pt x="366284" y="634714"/>
                  </a:lnTo>
                  <a:lnTo>
                    <a:pt x="411273" y="624663"/>
                  </a:lnTo>
                  <a:lnTo>
                    <a:pt x="453624" y="608514"/>
                  </a:lnTo>
                  <a:lnTo>
                    <a:pt x="492843" y="586761"/>
                  </a:lnTo>
                  <a:lnTo>
                    <a:pt x="528436" y="559897"/>
                  </a:lnTo>
                  <a:lnTo>
                    <a:pt x="559909" y="528416"/>
                  </a:lnTo>
                  <a:lnTo>
                    <a:pt x="586767" y="492811"/>
                  </a:lnTo>
                  <a:lnTo>
                    <a:pt x="608517" y="453575"/>
                  </a:lnTo>
                  <a:lnTo>
                    <a:pt x="624664" y="411204"/>
                  </a:lnTo>
                  <a:lnTo>
                    <a:pt x="634714" y="366188"/>
                  </a:lnTo>
                  <a:lnTo>
                    <a:pt x="638175" y="319024"/>
                  </a:lnTo>
                  <a:lnTo>
                    <a:pt x="634714" y="271890"/>
                  </a:lnTo>
                  <a:lnTo>
                    <a:pt x="624664" y="226901"/>
                  </a:lnTo>
                  <a:lnTo>
                    <a:pt x="608517" y="184550"/>
                  </a:lnTo>
                  <a:lnTo>
                    <a:pt x="586767" y="145331"/>
                  </a:lnTo>
                  <a:lnTo>
                    <a:pt x="559909" y="109738"/>
                  </a:lnTo>
                  <a:lnTo>
                    <a:pt x="528436" y="78265"/>
                  </a:lnTo>
                  <a:lnTo>
                    <a:pt x="492843" y="51407"/>
                  </a:lnTo>
                  <a:lnTo>
                    <a:pt x="453624" y="29657"/>
                  </a:lnTo>
                  <a:lnTo>
                    <a:pt x="411273" y="13510"/>
                  </a:lnTo>
                  <a:lnTo>
                    <a:pt x="366284" y="3460"/>
                  </a:lnTo>
                  <a:lnTo>
                    <a:pt x="3191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186934" y="2303144"/>
            <a:ext cx="2762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76550" y="2162111"/>
            <a:ext cx="833755" cy="976630"/>
            <a:chOff x="2876550" y="2162111"/>
            <a:chExt cx="833755" cy="97663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14650" y="2228786"/>
              <a:ext cx="757237" cy="7477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76550" y="2162111"/>
              <a:ext cx="833437" cy="9763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71800" y="2257424"/>
              <a:ext cx="647700" cy="638175"/>
            </a:xfrm>
            <a:custGeom>
              <a:avLst/>
              <a:gdLst/>
              <a:ahLst/>
              <a:cxnLst/>
              <a:rect l="l" t="t" r="r" b="b"/>
              <a:pathLst>
                <a:path w="647700" h="638175">
                  <a:moveTo>
                    <a:pt x="323850" y="0"/>
                  </a:moveTo>
                  <a:lnTo>
                    <a:pt x="276003" y="3460"/>
                  </a:lnTo>
                  <a:lnTo>
                    <a:pt x="230332" y="13510"/>
                  </a:lnTo>
                  <a:lnTo>
                    <a:pt x="187340" y="29657"/>
                  </a:lnTo>
                  <a:lnTo>
                    <a:pt x="147528" y="51407"/>
                  </a:lnTo>
                  <a:lnTo>
                    <a:pt x="111397" y="78265"/>
                  </a:lnTo>
                  <a:lnTo>
                    <a:pt x="79448" y="109738"/>
                  </a:lnTo>
                  <a:lnTo>
                    <a:pt x="52184" y="145331"/>
                  </a:lnTo>
                  <a:lnTo>
                    <a:pt x="30106" y="184550"/>
                  </a:lnTo>
                  <a:lnTo>
                    <a:pt x="13714" y="226901"/>
                  </a:lnTo>
                  <a:lnTo>
                    <a:pt x="3512" y="271890"/>
                  </a:lnTo>
                  <a:lnTo>
                    <a:pt x="0" y="319024"/>
                  </a:lnTo>
                  <a:lnTo>
                    <a:pt x="3512" y="366188"/>
                  </a:lnTo>
                  <a:lnTo>
                    <a:pt x="13714" y="411204"/>
                  </a:lnTo>
                  <a:lnTo>
                    <a:pt x="30106" y="453575"/>
                  </a:lnTo>
                  <a:lnTo>
                    <a:pt x="52184" y="492811"/>
                  </a:lnTo>
                  <a:lnTo>
                    <a:pt x="79448" y="528416"/>
                  </a:lnTo>
                  <a:lnTo>
                    <a:pt x="111397" y="559897"/>
                  </a:lnTo>
                  <a:lnTo>
                    <a:pt x="147528" y="586761"/>
                  </a:lnTo>
                  <a:lnTo>
                    <a:pt x="187340" y="608514"/>
                  </a:lnTo>
                  <a:lnTo>
                    <a:pt x="230332" y="624663"/>
                  </a:lnTo>
                  <a:lnTo>
                    <a:pt x="276003" y="634714"/>
                  </a:lnTo>
                  <a:lnTo>
                    <a:pt x="323850" y="638175"/>
                  </a:lnTo>
                  <a:lnTo>
                    <a:pt x="371696" y="634714"/>
                  </a:lnTo>
                  <a:lnTo>
                    <a:pt x="417367" y="624663"/>
                  </a:lnTo>
                  <a:lnTo>
                    <a:pt x="460359" y="608514"/>
                  </a:lnTo>
                  <a:lnTo>
                    <a:pt x="500171" y="586761"/>
                  </a:lnTo>
                  <a:lnTo>
                    <a:pt x="536302" y="559897"/>
                  </a:lnTo>
                  <a:lnTo>
                    <a:pt x="568251" y="528416"/>
                  </a:lnTo>
                  <a:lnTo>
                    <a:pt x="595515" y="492811"/>
                  </a:lnTo>
                  <a:lnTo>
                    <a:pt x="617593" y="453575"/>
                  </a:lnTo>
                  <a:lnTo>
                    <a:pt x="633985" y="411204"/>
                  </a:lnTo>
                  <a:lnTo>
                    <a:pt x="644187" y="366188"/>
                  </a:lnTo>
                  <a:lnTo>
                    <a:pt x="647700" y="319024"/>
                  </a:lnTo>
                  <a:lnTo>
                    <a:pt x="644187" y="271890"/>
                  </a:lnTo>
                  <a:lnTo>
                    <a:pt x="633985" y="226901"/>
                  </a:lnTo>
                  <a:lnTo>
                    <a:pt x="617593" y="184550"/>
                  </a:lnTo>
                  <a:lnTo>
                    <a:pt x="595515" y="145331"/>
                  </a:lnTo>
                  <a:lnTo>
                    <a:pt x="568251" y="109738"/>
                  </a:lnTo>
                  <a:lnTo>
                    <a:pt x="536302" y="78265"/>
                  </a:lnTo>
                  <a:lnTo>
                    <a:pt x="500171" y="51407"/>
                  </a:lnTo>
                  <a:lnTo>
                    <a:pt x="460359" y="29657"/>
                  </a:lnTo>
                  <a:lnTo>
                    <a:pt x="417367" y="13510"/>
                  </a:lnTo>
                  <a:lnTo>
                    <a:pt x="371696" y="346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70935" y="2303144"/>
            <a:ext cx="25400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82696" y="4842573"/>
            <a:ext cx="1900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Iteration 0, 1, 2,</a:t>
            </a:r>
            <a:r>
              <a:rPr sz="1800" spc="8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48707" y="1857246"/>
            <a:ext cx="1581785" cy="83629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543050" algn="l"/>
              </a:tabLst>
            </a:pPr>
            <a:r>
              <a:rPr sz="5325" spc="60" baseline="-20344" dirty="0">
                <a:latin typeface="Symbol"/>
                <a:cs typeface="Symbol"/>
              </a:rPr>
              <a:t></a:t>
            </a:r>
            <a:r>
              <a:rPr sz="5325" spc="60" baseline="-20344" dirty="0">
                <a:latin typeface="Times New Roman"/>
                <a:cs typeface="Times New Roman"/>
              </a:rPr>
              <a:t> </a:t>
            </a:r>
            <a:r>
              <a:rPr sz="7950" spc="697" baseline="-22536" dirty="0">
                <a:latin typeface="Symbol"/>
                <a:cs typeface="Symbol"/>
              </a:rPr>
              <a:t></a:t>
            </a:r>
            <a:r>
              <a:rPr sz="5300" u="heavy" spc="-3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50" i="1" u="heavy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	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16398" y="2866277"/>
            <a:ext cx="50927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i="1" spc="100" dirty="0">
                <a:latin typeface="Times New Roman"/>
                <a:cs typeface="Times New Roman"/>
              </a:rPr>
              <a:t>i</a:t>
            </a:r>
            <a:r>
              <a:rPr sz="2050" spc="100" dirty="0">
                <a:latin typeface="Symbol"/>
                <a:cs typeface="Symbol"/>
              </a:rPr>
              <a:t></a:t>
            </a:r>
            <a:r>
              <a:rPr sz="2050" spc="-165" dirty="0">
                <a:latin typeface="Times New Roman"/>
                <a:cs typeface="Times New Roman"/>
              </a:rPr>
              <a:t> </a:t>
            </a:r>
            <a:r>
              <a:rPr sz="2050" i="1" spc="15" dirty="0">
                <a:latin typeface="Times New Roman"/>
                <a:cs typeface="Times New Roman"/>
              </a:rPr>
              <a:t>j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371561" y="1735021"/>
            <a:ext cx="596265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325" i="1" spc="44" baseline="-28951" dirty="0">
                <a:latin typeface="Times New Roman"/>
                <a:cs typeface="Times New Roman"/>
              </a:rPr>
              <a:t>r</a:t>
            </a:r>
            <a:r>
              <a:rPr sz="5325" i="1" spc="-862" baseline="-28951" dirty="0">
                <a:latin typeface="Times New Roman"/>
                <a:cs typeface="Times New Roman"/>
              </a:rPr>
              <a:t> </a:t>
            </a:r>
            <a:r>
              <a:rPr sz="2050" spc="65" dirty="0">
                <a:latin typeface="Times New Roman"/>
                <a:cs typeface="Times New Roman"/>
              </a:rPr>
              <a:t>(</a:t>
            </a:r>
            <a:r>
              <a:rPr sz="2050" i="1" spc="65" dirty="0">
                <a:latin typeface="Times New Roman"/>
                <a:cs typeface="Times New Roman"/>
              </a:rPr>
              <a:t>t</a:t>
            </a:r>
            <a:r>
              <a:rPr sz="2050" i="1" spc="-310" dirty="0">
                <a:latin typeface="Times New Roman"/>
                <a:cs typeface="Times New Roman"/>
              </a:rPr>
              <a:t> </a:t>
            </a:r>
            <a:r>
              <a:rPr sz="2050" spc="20" dirty="0">
                <a:latin typeface="Times New Roman"/>
                <a:cs typeface="Times New Roman"/>
              </a:rPr>
              <a:t>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69262" y="2248905"/>
            <a:ext cx="334010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550" i="1" spc="35" dirty="0">
                <a:latin typeface="Times New Roman"/>
                <a:cs typeface="Times New Roman"/>
              </a:rPr>
              <a:t>r</a:t>
            </a:r>
            <a:r>
              <a:rPr sz="3075" i="1" spc="52" baseline="-24390" dirty="0">
                <a:latin typeface="Times New Roman"/>
                <a:cs typeface="Times New Roman"/>
              </a:rPr>
              <a:t>j</a:t>
            </a:r>
            <a:endParaRPr sz="3075" baseline="-2439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80369" y="2201592"/>
            <a:ext cx="57912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65" dirty="0">
                <a:latin typeface="Times New Roman"/>
                <a:cs typeface="Times New Roman"/>
              </a:rPr>
              <a:t>(</a:t>
            </a:r>
            <a:r>
              <a:rPr sz="2050" i="1" spc="65" dirty="0">
                <a:latin typeface="Times New Roman"/>
                <a:cs typeface="Times New Roman"/>
              </a:rPr>
              <a:t>t</a:t>
            </a:r>
            <a:r>
              <a:rPr sz="2050" i="1" spc="-360" dirty="0">
                <a:latin typeface="Times New Roman"/>
                <a:cs typeface="Times New Roman"/>
              </a:rPr>
              <a:t> </a:t>
            </a:r>
            <a:r>
              <a:rPr sz="2050" spc="-30" dirty="0">
                <a:latin typeface="Symbol"/>
                <a:cs typeface="Symbol"/>
              </a:rPr>
              <a:t></a:t>
            </a:r>
            <a:r>
              <a:rPr sz="2050" spc="-30" dirty="0">
                <a:latin typeface="Times New Roman"/>
                <a:cs typeface="Times New Roman"/>
              </a:rPr>
              <a:t>1)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66492" y="2595955"/>
            <a:ext cx="394970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550" spc="75" dirty="0">
                <a:latin typeface="Times New Roman"/>
                <a:cs typeface="Times New Roman"/>
              </a:rPr>
              <a:t>d</a:t>
            </a:r>
            <a:r>
              <a:rPr sz="3075" spc="112" baseline="-24390" dirty="0">
                <a:latin typeface="Times New Roman"/>
                <a:cs typeface="Times New Roman"/>
              </a:rPr>
              <a:t>i</a:t>
            </a:r>
            <a:endParaRPr sz="3075" baseline="-2439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5100701" cy="5857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4362" y="1347787"/>
            <a:ext cx="254190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u="heavy" spc="-20" dirty="0">
                <a:solidFill>
                  <a:srgbClr val="D50092"/>
                </a:solidFill>
                <a:uFill>
                  <a:solidFill>
                    <a:srgbClr val="D50092"/>
                  </a:solidFill>
                </a:uFill>
                <a:latin typeface="Calibri"/>
                <a:cs typeface="Calibri"/>
              </a:rPr>
              <a:t>Two</a:t>
            </a:r>
            <a:r>
              <a:rPr b="1" u="heavy" spc="-114" dirty="0">
                <a:solidFill>
                  <a:srgbClr val="D50092"/>
                </a:solidFill>
                <a:uFill>
                  <a:solidFill>
                    <a:srgbClr val="D50092"/>
                  </a:solidFill>
                </a:uFill>
                <a:latin typeface="Calibri"/>
                <a:cs typeface="Calibri"/>
              </a:rPr>
              <a:t> </a:t>
            </a:r>
            <a:r>
              <a:rPr b="1" u="heavy" dirty="0">
                <a:solidFill>
                  <a:srgbClr val="D50092"/>
                </a:solidFill>
                <a:uFill>
                  <a:solidFill>
                    <a:srgbClr val="D50092"/>
                  </a:solidFill>
                </a:uFill>
                <a:latin typeface="Calibri"/>
                <a:cs typeface="Calibri"/>
              </a:rPr>
              <a:t>problems: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951608"/>
            <a:ext cx="323850" cy="4006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441253"/>
            <a:ext cx="323850" cy="4003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8530" y="1833880"/>
            <a:ext cx="7477759" cy="45218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2931795">
              <a:lnSpc>
                <a:spcPts val="3829"/>
              </a:lnSpc>
              <a:spcBef>
                <a:spcPts val="265"/>
              </a:spcBef>
            </a:pPr>
            <a:r>
              <a:rPr sz="3200" b="1" dirty="0">
                <a:latin typeface="Calibri"/>
                <a:cs typeface="Calibri"/>
              </a:rPr>
              <a:t>(1)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Dead ends: </a:t>
            </a:r>
            <a:r>
              <a:rPr sz="3200" spc="15" dirty="0">
                <a:latin typeface="Calibri"/>
                <a:cs typeface="Calibri"/>
              </a:rPr>
              <a:t>Some</a:t>
            </a:r>
            <a:r>
              <a:rPr sz="3200" spc="-25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pages  </a:t>
            </a:r>
            <a:r>
              <a:rPr sz="3200" spc="-5" dirty="0">
                <a:latin typeface="Calibri"/>
                <a:cs typeface="Calibri"/>
              </a:rPr>
              <a:t>have </a:t>
            </a:r>
            <a:r>
              <a:rPr sz="3200" spc="25" dirty="0">
                <a:latin typeface="Calibri"/>
                <a:cs typeface="Calibri"/>
              </a:rPr>
              <a:t>no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15" dirty="0">
                <a:latin typeface="Calibri"/>
                <a:cs typeface="Calibri"/>
              </a:rPr>
              <a:t>out-links</a:t>
            </a:r>
            <a:endParaRPr sz="32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69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10" dirty="0">
                <a:latin typeface="Calibri"/>
                <a:cs typeface="Calibri"/>
              </a:rPr>
              <a:t>Random </a:t>
            </a:r>
            <a:r>
              <a:rPr sz="2750" spc="-5" dirty="0">
                <a:latin typeface="Calibri"/>
                <a:cs typeface="Calibri"/>
              </a:rPr>
              <a:t>walk </a:t>
            </a:r>
            <a:r>
              <a:rPr sz="2750" spc="5" dirty="0">
                <a:latin typeface="Calibri"/>
                <a:cs typeface="Calibri"/>
              </a:rPr>
              <a:t>has </a:t>
            </a:r>
            <a:r>
              <a:rPr sz="2750" spc="-10" dirty="0">
                <a:latin typeface="Calibri"/>
                <a:cs typeface="Calibri"/>
              </a:rPr>
              <a:t>“nowhere” </a:t>
            </a:r>
            <a:r>
              <a:rPr sz="2750" spc="-5" dirty="0">
                <a:latin typeface="Calibri"/>
                <a:cs typeface="Calibri"/>
              </a:rPr>
              <a:t>to go</a:t>
            </a:r>
            <a:r>
              <a:rPr sz="2750" spc="-7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endParaRPr sz="275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5" dirty="0">
                <a:latin typeface="Calibri"/>
                <a:cs typeface="Calibri"/>
              </a:rPr>
              <a:t>Such </a:t>
            </a:r>
            <a:r>
              <a:rPr sz="2750" spc="-5" dirty="0">
                <a:latin typeface="Calibri"/>
                <a:cs typeface="Calibri"/>
              </a:rPr>
              <a:t>pages </a:t>
            </a:r>
            <a:r>
              <a:rPr sz="2750" spc="5" dirty="0">
                <a:latin typeface="Calibri"/>
                <a:cs typeface="Calibri"/>
              </a:rPr>
              <a:t>cause importance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spc="-10" dirty="0">
                <a:latin typeface="Calibri"/>
                <a:cs typeface="Calibri"/>
              </a:rPr>
              <a:t>“leak</a:t>
            </a:r>
            <a:r>
              <a:rPr sz="2750" spc="49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out”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00">
              <a:latin typeface="Calibri"/>
              <a:cs typeface="Calibri"/>
            </a:endParaRPr>
          </a:p>
          <a:p>
            <a:pPr marL="12700">
              <a:lnSpc>
                <a:spcPts val="3835"/>
              </a:lnSpc>
            </a:pPr>
            <a:r>
              <a:rPr sz="3200" b="1" dirty="0">
                <a:latin typeface="Calibri"/>
                <a:cs typeface="Calibri"/>
              </a:rPr>
              <a:t>(2) </a:t>
            </a: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Spider</a:t>
            </a:r>
            <a:r>
              <a:rPr sz="3200" b="1" spc="-7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008000"/>
                </a:solidFill>
                <a:latin typeface="Calibri"/>
                <a:cs typeface="Calibri"/>
              </a:rPr>
              <a:t>traps: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35"/>
              </a:lnSpc>
            </a:pPr>
            <a:r>
              <a:rPr sz="3200" spc="10" dirty="0">
                <a:latin typeface="Calibri"/>
                <a:cs typeface="Calibri"/>
              </a:rPr>
              <a:t>(all </a:t>
            </a:r>
            <a:r>
              <a:rPr sz="3200" spc="15" dirty="0">
                <a:latin typeface="Calibri"/>
                <a:cs typeface="Calibri"/>
              </a:rPr>
              <a:t>out-links </a:t>
            </a:r>
            <a:r>
              <a:rPr sz="3200" spc="-5" dirty="0">
                <a:latin typeface="Calibri"/>
                <a:cs typeface="Calibri"/>
              </a:rPr>
              <a:t>are </a:t>
            </a:r>
            <a:r>
              <a:rPr sz="3200" spc="10" dirty="0">
                <a:latin typeface="Calibri"/>
                <a:cs typeface="Calibri"/>
              </a:rPr>
              <a:t>within the</a:t>
            </a:r>
            <a:r>
              <a:rPr sz="3200" spc="-42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group)</a:t>
            </a:r>
            <a:endParaRPr sz="32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82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10" dirty="0">
                <a:latin typeface="Calibri"/>
                <a:cs typeface="Calibri"/>
              </a:rPr>
              <a:t>Random </a:t>
            </a:r>
            <a:r>
              <a:rPr sz="2750" spc="-5" dirty="0">
                <a:latin typeface="Calibri"/>
                <a:cs typeface="Calibri"/>
              </a:rPr>
              <a:t>walk </a:t>
            </a:r>
            <a:r>
              <a:rPr sz="2750" spc="-15" dirty="0">
                <a:latin typeface="Calibri"/>
                <a:cs typeface="Calibri"/>
              </a:rPr>
              <a:t>gets </a:t>
            </a:r>
            <a:r>
              <a:rPr sz="2750" spc="-20" dirty="0">
                <a:latin typeface="Calibri"/>
                <a:cs typeface="Calibri"/>
              </a:rPr>
              <a:t>“stuck” </a:t>
            </a:r>
            <a:r>
              <a:rPr sz="2750" spc="-10" dirty="0">
                <a:latin typeface="Calibri"/>
                <a:cs typeface="Calibri"/>
              </a:rPr>
              <a:t>in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spc="54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trap</a:t>
            </a:r>
            <a:endParaRPr sz="275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10" dirty="0">
                <a:latin typeface="Calibri"/>
                <a:cs typeface="Calibri"/>
              </a:rPr>
              <a:t>And eventually </a:t>
            </a:r>
            <a:r>
              <a:rPr sz="2750" spc="-20" dirty="0">
                <a:latin typeface="Calibri"/>
                <a:cs typeface="Calibri"/>
              </a:rPr>
              <a:t>spider </a:t>
            </a:r>
            <a:r>
              <a:rPr sz="2750" spc="-15" dirty="0">
                <a:latin typeface="Calibri"/>
                <a:cs typeface="Calibri"/>
              </a:rPr>
              <a:t>traps </a:t>
            </a:r>
            <a:r>
              <a:rPr sz="2750" spc="5" dirty="0">
                <a:latin typeface="Calibri"/>
                <a:cs typeface="Calibri"/>
              </a:rPr>
              <a:t>absorb </a:t>
            </a:r>
            <a:r>
              <a:rPr sz="2750" dirty="0">
                <a:latin typeface="Calibri"/>
                <a:cs typeface="Calibri"/>
              </a:rPr>
              <a:t>all</a:t>
            </a:r>
            <a:r>
              <a:rPr sz="2750" spc="-39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importance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69201" y="1420875"/>
            <a:ext cx="1758950" cy="24933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011794" y="1155382"/>
            <a:ext cx="1021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Dead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5" dirty="0">
                <a:solidFill>
                  <a:srgbClr val="0000FF"/>
                </a:solidFill>
                <a:latin typeface="Arial"/>
                <a:cs typeface="Arial"/>
              </a:rPr>
              <a:t>end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5357876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277876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dirty="0">
                <a:solidFill>
                  <a:srgbClr val="008000"/>
                </a:solidFill>
                <a:latin typeface="Calibri"/>
                <a:cs typeface="Calibri"/>
              </a:rPr>
              <a:t>Power</a:t>
            </a:r>
            <a:r>
              <a:rPr b="1" spc="-1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8000"/>
                </a:solidFill>
                <a:latin typeface="Calibri"/>
                <a:cs typeface="Calibri"/>
              </a:rPr>
              <a:t>Iteration: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2180" y="1948180"/>
            <a:ext cx="22326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4325" indent="-276860">
              <a:lnSpc>
                <a:spcPct val="100000"/>
              </a:lnSpc>
              <a:spcBef>
                <a:spcPts val="130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spc="-5" dirty="0">
                <a:latin typeface="Calibri"/>
                <a:cs typeface="Calibri"/>
              </a:rPr>
              <a:t>Set </a:t>
            </a:r>
            <a:r>
              <a:rPr sz="2750" spc="-130" dirty="0">
                <a:latin typeface="Cambria Math"/>
                <a:cs typeface="Cambria Math"/>
              </a:rPr>
              <a:t>𝑟</a:t>
            </a:r>
            <a:r>
              <a:rPr sz="3000" spc="-195" baseline="-16666" dirty="0">
                <a:latin typeface="Cambria Math"/>
                <a:cs typeface="Cambria Math"/>
              </a:rPr>
              <a:t>𝑗 </a:t>
            </a:r>
            <a:r>
              <a:rPr sz="2750" spc="20" dirty="0">
                <a:latin typeface="Cambria Math"/>
                <a:cs typeface="Cambria Math"/>
              </a:rPr>
              <a:t>=</a:t>
            </a:r>
            <a:r>
              <a:rPr sz="2750" spc="204" dirty="0">
                <a:latin typeface="Cambria Math"/>
                <a:cs typeface="Cambria Math"/>
              </a:rPr>
              <a:t> </a:t>
            </a:r>
            <a:r>
              <a:rPr sz="2750" spc="20" dirty="0">
                <a:latin typeface="Cambria Math"/>
                <a:cs typeface="Cambria Math"/>
              </a:rPr>
              <a:t>1/𝑁</a:t>
            </a:r>
            <a:endParaRPr sz="27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580" y="2578036"/>
            <a:ext cx="125730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125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spc="10" dirty="0">
                <a:latin typeface="Cambria Math"/>
                <a:cs typeface="Cambria Math"/>
              </a:rPr>
              <a:t>𝑟 </a:t>
            </a:r>
            <a:r>
              <a:rPr sz="2750" spc="20" dirty="0">
                <a:latin typeface="Cambria Math"/>
                <a:cs typeface="Cambria Math"/>
              </a:rPr>
              <a:t>=</a:t>
            </a:r>
            <a:r>
              <a:rPr sz="2750" spc="225" dirty="0">
                <a:latin typeface="Cambria Math"/>
                <a:cs typeface="Cambria Math"/>
              </a:rPr>
              <a:t> </a:t>
            </a:r>
            <a:r>
              <a:rPr sz="4125" spc="592" baseline="1010" dirty="0">
                <a:latin typeface="Cambria Math"/>
                <a:cs typeface="Cambria Math"/>
              </a:rPr>
              <a:t>σ</a:t>
            </a:r>
            <a:endParaRPr sz="4125" baseline="101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12339" y="2834639"/>
            <a:ext cx="257175" cy="19050"/>
          </a:xfrm>
          <a:custGeom>
            <a:avLst/>
            <a:gdLst/>
            <a:ahLst/>
            <a:cxnLst/>
            <a:rect l="l" t="t" r="r" b="b"/>
            <a:pathLst>
              <a:path w="257175" h="19050">
                <a:moveTo>
                  <a:pt x="257175" y="0"/>
                </a:moveTo>
                <a:lnTo>
                  <a:pt x="0" y="0"/>
                </a:lnTo>
                <a:lnTo>
                  <a:pt x="0" y="19050"/>
                </a:lnTo>
                <a:lnTo>
                  <a:pt x="257175" y="19050"/>
                </a:lnTo>
                <a:lnTo>
                  <a:pt x="257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86685" y="2463482"/>
            <a:ext cx="2889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95" dirty="0">
                <a:latin typeface="Cambria Math"/>
                <a:cs typeface="Cambria Math"/>
              </a:rPr>
              <a:t>𝑟</a:t>
            </a:r>
            <a:r>
              <a:rPr sz="2475" spc="142" baseline="-15151" dirty="0">
                <a:latin typeface="Cambria Math"/>
                <a:cs typeface="Cambria Math"/>
              </a:rPr>
              <a:t>𝑖</a:t>
            </a:r>
            <a:endParaRPr sz="2475" baseline="-15151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3433" y="2759011"/>
            <a:ext cx="169354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886460" algn="l"/>
              </a:tabLst>
            </a:pPr>
            <a:r>
              <a:rPr sz="3000" spc="345" baseline="1388" dirty="0">
                <a:latin typeface="Cambria Math"/>
                <a:cs typeface="Cambria Math"/>
              </a:rPr>
              <a:t>𝑗	</a:t>
            </a:r>
            <a:r>
              <a:rPr sz="2000" spc="155" dirty="0">
                <a:latin typeface="Cambria Math"/>
                <a:cs typeface="Cambria Math"/>
              </a:rPr>
              <a:t>𝑖→𝑗</a:t>
            </a:r>
            <a:r>
              <a:rPr sz="2000" spc="60" dirty="0">
                <a:latin typeface="Cambria Math"/>
                <a:cs typeface="Cambria Math"/>
              </a:rPr>
              <a:t> </a:t>
            </a:r>
            <a:r>
              <a:rPr sz="3000" spc="150" baseline="-20833" dirty="0">
                <a:latin typeface="Cambria Math"/>
                <a:cs typeface="Cambria Math"/>
              </a:rPr>
              <a:t>𝑑</a:t>
            </a:r>
            <a:r>
              <a:rPr sz="2475" spc="150" baseline="-40404" dirty="0">
                <a:latin typeface="Cambria Math"/>
                <a:cs typeface="Cambria Math"/>
              </a:rPr>
              <a:t>𝑖</a:t>
            </a:r>
            <a:endParaRPr sz="2475" baseline="-40404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2286" y="3226180"/>
            <a:ext cx="163385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Clr>
                <a:srgbClr val="E66C7C"/>
              </a:buClr>
              <a:buFont typeface="Wingdings"/>
              <a:buChar char=""/>
              <a:tabLst>
                <a:tab pos="241935" algn="l"/>
              </a:tabLst>
            </a:pPr>
            <a:r>
              <a:rPr sz="2400" spc="10" dirty="0">
                <a:latin typeface="Calibri"/>
                <a:cs typeface="Calibri"/>
              </a:rPr>
              <a:t>And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iterate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183697"/>
            <a:ext cx="323850" cy="40036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38530" y="4066222"/>
            <a:ext cx="158686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19480" y="4712855"/>
          <a:ext cx="6186801" cy="11448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1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1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95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0963">
                <a:tc>
                  <a:txBody>
                    <a:bodyPr/>
                    <a:lstStyle/>
                    <a:p>
                      <a:pPr marL="31750">
                        <a:lnSpc>
                          <a:spcPts val="2620"/>
                        </a:lnSpc>
                      </a:pPr>
                      <a:r>
                        <a:rPr sz="24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spc="22" baseline="-19713" dirty="0">
                          <a:latin typeface="Times New Roman"/>
                          <a:cs typeface="Times New Roman"/>
                        </a:rPr>
                        <a:t>y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0" algn="r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2/6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3/12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5/24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808">
                <a:tc>
                  <a:txBody>
                    <a:bodyPr/>
                    <a:lstStyle/>
                    <a:p>
                      <a:pPr marL="31750">
                        <a:lnSpc>
                          <a:spcPts val="2695"/>
                        </a:lnSpc>
                      </a:pPr>
                      <a:r>
                        <a:rPr sz="24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spc="22" baseline="-19713" dirty="0">
                          <a:latin typeface="Times New Roman"/>
                          <a:cs typeface="Times New Roman"/>
                        </a:rPr>
                        <a:t>a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0" algn="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2/12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3/24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086">
                <a:tc>
                  <a:txBody>
                    <a:bodyPr/>
                    <a:lstStyle/>
                    <a:p>
                      <a:pPr marL="31750">
                        <a:lnSpc>
                          <a:spcPts val="2545"/>
                        </a:lnSpc>
                      </a:pPr>
                      <a:r>
                        <a:rPr sz="2400" spc="2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spc="30" baseline="-19713" dirty="0">
                          <a:latin typeface="Times New Roman"/>
                          <a:cs typeface="Times New Roman"/>
                        </a:rPr>
                        <a:t>m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0" algn="r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3/6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7/12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16/24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833437" y="4719701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200" y="1142936"/>
                </a:moveTo>
                <a:lnTo>
                  <a:pt x="46537" y="1136948"/>
                </a:lnTo>
                <a:lnTo>
                  <a:pt x="22317" y="1120619"/>
                </a:lnTo>
                <a:lnTo>
                  <a:pt x="5987" y="1096398"/>
                </a:lnTo>
                <a:lnTo>
                  <a:pt x="0" y="1066736"/>
                </a:lnTo>
                <a:lnTo>
                  <a:pt x="0" y="76200"/>
                </a:lnTo>
                <a:lnTo>
                  <a:pt x="5987" y="46505"/>
                </a:lnTo>
                <a:lnTo>
                  <a:pt x="22317" y="22288"/>
                </a:lnTo>
                <a:lnTo>
                  <a:pt x="46537" y="5976"/>
                </a:lnTo>
                <a:lnTo>
                  <a:pt x="76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14437" y="4719701"/>
            <a:ext cx="76835" cy="1143000"/>
          </a:xfrm>
          <a:custGeom>
            <a:avLst/>
            <a:gdLst/>
            <a:ahLst/>
            <a:cxnLst/>
            <a:rect l="l" t="t" r="r" b="b"/>
            <a:pathLst>
              <a:path w="76834" h="1143000">
                <a:moveTo>
                  <a:pt x="0" y="0"/>
                </a:moveTo>
                <a:lnTo>
                  <a:pt x="29671" y="5976"/>
                </a:lnTo>
                <a:lnTo>
                  <a:pt x="53914" y="22288"/>
                </a:lnTo>
                <a:lnTo>
                  <a:pt x="70265" y="46505"/>
                </a:lnTo>
                <a:lnTo>
                  <a:pt x="76263" y="76200"/>
                </a:lnTo>
                <a:lnTo>
                  <a:pt x="76263" y="1066736"/>
                </a:lnTo>
                <a:lnTo>
                  <a:pt x="70265" y="1096398"/>
                </a:lnTo>
                <a:lnTo>
                  <a:pt x="53914" y="1120619"/>
                </a:lnTo>
                <a:lnTo>
                  <a:pt x="29671" y="1136948"/>
                </a:lnTo>
                <a:lnTo>
                  <a:pt x="0" y="11429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41692" y="5790816"/>
            <a:ext cx="5179060" cy="839469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R="219075" algn="ctr">
              <a:lnSpc>
                <a:spcPct val="100000"/>
              </a:lnSpc>
              <a:spcBef>
                <a:spcPts val="955"/>
              </a:spcBef>
            </a:pP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Iteration 0, 1, 2,</a:t>
            </a:r>
            <a:r>
              <a:rPr sz="1800" spc="15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spc="-5" dirty="0">
                <a:latin typeface="Corbel"/>
                <a:cs typeface="Corbel"/>
              </a:rPr>
              <a:t>All </a:t>
            </a:r>
            <a:r>
              <a:rPr sz="2000" spc="-10" dirty="0">
                <a:latin typeface="Corbel"/>
                <a:cs typeface="Corbel"/>
              </a:rPr>
              <a:t>the PageRank </a:t>
            </a:r>
            <a:r>
              <a:rPr sz="2000" spc="5" dirty="0">
                <a:latin typeface="Corbel"/>
                <a:cs typeface="Corbel"/>
              </a:rPr>
              <a:t>score </a:t>
            </a:r>
            <a:r>
              <a:rPr sz="2000" spc="-15" dirty="0">
                <a:latin typeface="Corbel"/>
                <a:cs typeface="Corbel"/>
              </a:rPr>
              <a:t>gets </a:t>
            </a:r>
            <a:r>
              <a:rPr sz="2000" dirty="0">
                <a:latin typeface="Corbel"/>
                <a:cs typeface="Corbel"/>
              </a:rPr>
              <a:t>“trapped” </a:t>
            </a:r>
            <a:r>
              <a:rPr sz="2000" spc="-5" dirty="0">
                <a:latin typeface="Corbel"/>
                <a:cs typeface="Corbel"/>
              </a:rPr>
              <a:t>in </a:t>
            </a:r>
            <a:r>
              <a:rPr sz="2000" spc="-10" dirty="0">
                <a:latin typeface="Corbel"/>
                <a:cs typeface="Corbel"/>
              </a:rPr>
              <a:t>node</a:t>
            </a:r>
            <a:r>
              <a:rPr sz="2000" spc="12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m.</a:t>
            </a:r>
            <a:endParaRPr sz="2000">
              <a:latin typeface="Corbel"/>
              <a:cs typeface="Corbe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960492" y="1200150"/>
            <a:ext cx="1226820" cy="1443355"/>
            <a:chOff x="4960492" y="1200150"/>
            <a:chExt cx="1226820" cy="1443355"/>
          </a:xfrm>
        </p:grpSpPr>
        <p:sp>
          <p:nvSpPr>
            <p:cNvPr id="18" name="object 18"/>
            <p:cNvSpPr/>
            <p:nvPr/>
          </p:nvSpPr>
          <p:spPr>
            <a:xfrm>
              <a:off x="4960493" y="1200149"/>
              <a:ext cx="935990" cy="1193165"/>
            </a:xfrm>
            <a:custGeom>
              <a:avLst/>
              <a:gdLst/>
              <a:ahLst/>
              <a:cxnLst/>
              <a:rect l="l" t="t" r="r" b="b"/>
              <a:pathLst>
                <a:path w="935989" h="1193164">
                  <a:moveTo>
                    <a:pt x="273596" y="1091539"/>
                  </a:moveTo>
                  <a:lnTo>
                    <a:pt x="271653" y="1094867"/>
                  </a:lnTo>
                  <a:lnTo>
                    <a:pt x="273532" y="1102525"/>
                  </a:lnTo>
                  <a:lnTo>
                    <a:pt x="273596" y="1091539"/>
                  </a:lnTo>
                  <a:close/>
                </a:path>
                <a:path w="935989" h="1193164">
                  <a:moveTo>
                    <a:pt x="322961" y="686816"/>
                  </a:moveTo>
                  <a:lnTo>
                    <a:pt x="321068" y="679170"/>
                  </a:lnTo>
                  <a:lnTo>
                    <a:pt x="321132" y="670052"/>
                  </a:lnTo>
                  <a:lnTo>
                    <a:pt x="321183" y="661924"/>
                  </a:lnTo>
                  <a:lnTo>
                    <a:pt x="306095" y="670331"/>
                  </a:lnTo>
                  <a:lnTo>
                    <a:pt x="298450" y="672211"/>
                  </a:lnTo>
                  <a:lnTo>
                    <a:pt x="296341" y="675754"/>
                  </a:lnTo>
                  <a:lnTo>
                    <a:pt x="213106" y="722122"/>
                  </a:lnTo>
                  <a:lnTo>
                    <a:pt x="206121" y="725932"/>
                  </a:lnTo>
                  <a:lnTo>
                    <a:pt x="203708" y="734695"/>
                  </a:lnTo>
                  <a:lnTo>
                    <a:pt x="207518" y="741553"/>
                  </a:lnTo>
                  <a:lnTo>
                    <a:pt x="211328" y="748538"/>
                  </a:lnTo>
                  <a:lnTo>
                    <a:pt x="220091" y="750951"/>
                  </a:lnTo>
                  <a:lnTo>
                    <a:pt x="267487" y="724522"/>
                  </a:lnTo>
                  <a:lnTo>
                    <a:pt x="4064" y="1169670"/>
                  </a:lnTo>
                  <a:lnTo>
                    <a:pt x="0" y="1176401"/>
                  </a:lnTo>
                  <a:lnTo>
                    <a:pt x="2286" y="1185164"/>
                  </a:lnTo>
                  <a:lnTo>
                    <a:pt x="9017" y="1189228"/>
                  </a:lnTo>
                  <a:lnTo>
                    <a:pt x="15875" y="1193165"/>
                  </a:lnTo>
                  <a:lnTo>
                    <a:pt x="24638" y="1191006"/>
                  </a:lnTo>
                  <a:lnTo>
                    <a:pt x="28575" y="1184148"/>
                  </a:lnTo>
                  <a:lnTo>
                    <a:pt x="292138" y="738962"/>
                  </a:lnTo>
                  <a:lnTo>
                    <a:pt x="291846" y="785495"/>
                  </a:lnTo>
                  <a:lnTo>
                    <a:pt x="291833" y="793496"/>
                  </a:lnTo>
                  <a:lnTo>
                    <a:pt x="298069" y="799846"/>
                  </a:lnTo>
                  <a:lnTo>
                    <a:pt x="305943" y="799846"/>
                  </a:lnTo>
                  <a:lnTo>
                    <a:pt x="313817" y="799973"/>
                  </a:lnTo>
                  <a:lnTo>
                    <a:pt x="320294" y="793496"/>
                  </a:lnTo>
                  <a:lnTo>
                    <a:pt x="320421" y="785495"/>
                  </a:lnTo>
                  <a:lnTo>
                    <a:pt x="321005" y="690156"/>
                  </a:lnTo>
                  <a:lnTo>
                    <a:pt x="322961" y="686816"/>
                  </a:lnTo>
                  <a:close/>
                </a:path>
                <a:path w="935989" h="1193164">
                  <a:moveTo>
                    <a:pt x="479958" y="220116"/>
                  </a:moveTo>
                  <a:lnTo>
                    <a:pt x="474040" y="228536"/>
                  </a:lnTo>
                  <a:lnTo>
                    <a:pt x="479298" y="224663"/>
                  </a:lnTo>
                  <a:lnTo>
                    <a:pt x="479958" y="220116"/>
                  </a:lnTo>
                  <a:close/>
                </a:path>
                <a:path w="935989" h="1193164">
                  <a:moveTo>
                    <a:pt x="594614" y="605282"/>
                  </a:moveTo>
                  <a:lnTo>
                    <a:pt x="592328" y="596519"/>
                  </a:lnTo>
                  <a:lnTo>
                    <a:pt x="578739" y="588518"/>
                  </a:lnTo>
                  <a:lnTo>
                    <a:pt x="569976" y="590804"/>
                  </a:lnTo>
                  <a:lnTo>
                    <a:pt x="566039" y="597535"/>
                  </a:lnTo>
                  <a:lnTo>
                    <a:pt x="302463" y="1042733"/>
                  </a:lnTo>
                  <a:lnTo>
                    <a:pt x="302768" y="996315"/>
                  </a:lnTo>
                  <a:lnTo>
                    <a:pt x="302768" y="988187"/>
                  </a:lnTo>
                  <a:lnTo>
                    <a:pt x="296545" y="981964"/>
                  </a:lnTo>
                  <a:lnTo>
                    <a:pt x="288671" y="981837"/>
                  </a:lnTo>
                  <a:lnTo>
                    <a:pt x="280797" y="981837"/>
                  </a:lnTo>
                  <a:lnTo>
                    <a:pt x="274320" y="988187"/>
                  </a:lnTo>
                  <a:lnTo>
                    <a:pt x="274180" y="996315"/>
                  </a:lnTo>
                  <a:lnTo>
                    <a:pt x="273596" y="1091539"/>
                  </a:lnTo>
                  <a:lnTo>
                    <a:pt x="273583" y="1102728"/>
                  </a:lnTo>
                  <a:lnTo>
                    <a:pt x="273532" y="1102525"/>
                  </a:lnTo>
                  <a:lnTo>
                    <a:pt x="273431" y="1119759"/>
                  </a:lnTo>
                  <a:lnTo>
                    <a:pt x="287794" y="1111758"/>
                  </a:lnTo>
                  <a:lnTo>
                    <a:pt x="288137" y="1111567"/>
                  </a:lnTo>
                  <a:lnTo>
                    <a:pt x="296164" y="1109472"/>
                  </a:lnTo>
                  <a:lnTo>
                    <a:pt x="298323" y="1105903"/>
                  </a:lnTo>
                  <a:lnTo>
                    <a:pt x="381508" y="1059561"/>
                  </a:lnTo>
                  <a:lnTo>
                    <a:pt x="388493" y="1055751"/>
                  </a:lnTo>
                  <a:lnTo>
                    <a:pt x="390906" y="1046988"/>
                  </a:lnTo>
                  <a:lnTo>
                    <a:pt x="383286" y="1033272"/>
                  </a:lnTo>
                  <a:lnTo>
                    <a:pt x="374523" y="1030732"/>
                  </a:lnTo>
                  <a:lnTo>
                    <a:pt x="367665" y="1034669"/>
                  </a:lnTo>
                  <a:lnTo>
                    <a:pt x="327177" y="1057198"/>
                  </a:lnTo>
                  <a:lnTo>
                    <a:pt x="594614" y="605282"/>
                  </a:lnTo>
                  <a:close/>
                </a:path>
                <a:path w="935989" h="1193164">
                  <a:moveTo>
                    <a:pt x="935482" y="243332"/>
                  </a:moveTo>
                  <a:lnTo>
                    <a:pt x="930021" y="197358"/>
                  </a:lnTo>
                  <a:lnTo>
                    <a:pt x="914781" y="153543"/>
                  </a:lnTo>
                  <a:lnTo>
                    <a:pt x="891032" y="112522"/>
                  </a:lnTo>
                  <a:lnTo>
                    <a:pt x="860298" y="76073"/>
                  </a:lnTo>
                  <a:lnTo>
                    <a:pt x="823976" y="45212"/>
                  </a:lnTo>
                  <a:lnTo>
                    <a:pt x="797001" y="28575"/>
                  </a:lnTo>
                  <a:lnTo>
                    <a:pt x="783209" y="21209"/>
                  </a:lnTo>
                  <a:lnTo>
                    <a:pt x="738886" y="5588"/>
                  </a:lnTo>
                  <a:lnTo>
                    <a:pt x="693039" y="0"/>
                  </a:lnTo>
                  <a:lnTo>
                    <a:pt x="681482" y="254"/>
                  </a:lnTo>
                  <a:lnTo>
                    <a:pt x="635762" y="8382"/>
                  </a:lnTo>
                  <a:lnTo>
                    <a:pt x="582295" y="31623"/>
                  </a:lnTo>
                  <a:lnTo>
                    <a:pt x="543306" y="59055"/>
                  </a:lnTo>
                  <a:lnTo>
                    <a:pt x="509524" y="92710"/>
                  </a:lnTo>
                  <a:lnTo>
                    <a:pt x="481965" y="131572"/>
                  </a:lnTo>
                  <a:lnTo>
                    <a:pt x="462457" y="173228"/>
                  </a:lnTo>
                  <a:lnTo>
                    <a:pt x="436499" y="118745"/>
                  </a:lnTo>
                  <a:lnTo>
                    <a:pt x="433197" y="111887"/>
                  </a:lnTo>
                  <a:lnTo>
                    <a:pt x="424688" y="108839"/>
                  </a:lnTo>
                  <a:lnTo>
                    <a:pt x="417576" y="112141"/>
                  </a:lnTo>
                  <a:lnTo>
                    <a:pt x="410464" y="115570"/>
                  </a:lnTo>
                  <a:lnTo>
                    <a:pt x="407416" y="124079"/>
                  </a:lnTo>
                  <a:lnTo>
                    <a:pt x="410718" y="131191"/>
                  </a:lnTo>
                  <a:lnTo>
                    <a:pt x="451586" y="217043"/>
                  </a:lnTo>
                  <a:lnTo>
                    <a:pt x="451104" y="220345"/>
                  </a:lnTo>
                  <a:lnTo>
                    <a:pt x="456438" y="227584"/>
                  </a:lnTo>
                  <a:lnTo>
                    <a:pt x="456628" y="227622"/>
                  </a:lnTo>
                  <a:lnTo>
                    <a:pt x="463931" y="242951"/>
                  </a:lnTo>
                  <a:lnTo>
                    <a:pt x="473011" y="229997"/>
                  </a:lnTo>
                  <a:lnTo>
                    <a:pt x="474040" y="228536"/>
                  </a:lnTo>
                  <a:lnTo>
                    <a:pt x="479958" y="220091"/>
                  </a:lnTo>
                  <a:lnTo>
                    <a:pt x="539623" y="135128"/>
                  </a:lnTo>
                  <a:lnTo>
                    <a:pt x="537972" y="126238"/>
                  </a:lnTo>
                  <a:lnTo>
                    <a:pt x="531495" y="121793"/>
                  </a:lnTo>
                  <a:lnTo>
                    <a:pt x="526034" y="117957"/>
                  </a:lnTo>
                  <a:lnTo>
                    <a:pt x="560832" y="81661"/>
                  </a:lnTo>
                  <a:lnTo>
                    <a:pt x="595630" y="56896"/>
                  </a:lnTo>
                  <a:lnTo>
                    <a:pt x="633603" y="39243"/>
                  </a:lnTo>
                  <a:lnTo>
                    <a:pt x="672592" y="29845"/>
                  </a:lnTo>
                  <a:lnTo>
                    <a:pt x="692150" y="28575"/>
                  </a:lnTo>
                  <a:lnTo>
                    <a:pt x="701929" y="28829"/>
                  </a:lnTo>
                  <a:lnTo>
                    <a:pt x="741299" y="35814"/>
                  </a:lnTo>
                  <a:lnTo>
                    <a:pt x="788543" y="56261"/>
                  </a:lnTo>
                  <a:lnTo>
                    <a:pt x="823468" y="80899"/>
                  </a:lnTo>
                  <a:lnTo>
                    <a:pt x="853821" y="111125"/>
                  </a:lnTo>
                  <a:lnTo>
                    <a:pt x="878586" y="145923"/>
                  </a:lnTo>
                  <a:lnTo>
                    <a:pt x="896239" y="183896"/>
                  </a:lnTo>
                  <a:lnTo>
                    <a:pt x="905637" y="222885"/>
                  </a:lnTo>
                  <a:lnTo>
                    <a:pt x="906907" y="242443"/>
                  </a:lnTo>
                  <a:lnTo>
                    <a:pt x="906653" y="252222"/>
                  </a:lnTo>
                  <a:lnTo>
                    <a:pt x="899668" y="291592"/>
                  </a:lnTo>
                  <a:lnTo>
                    <a:pt x="879221" y="338836"/>
                  </a:lnTo>
                  <a:lnTo>
                    <a:pt x="854583" y="373761"/>
                  </a:lnTo>
                  <a:lnTo>
                    <a:pt x="824357" y="404114"/>
                  </a:lnTo>
                  <a:lnTo>
                    <a:pt x="789559" y="428879"/>
                  </a:lnTo>
                  <a:lnTo>
                    <a:pt x="751586" y="446532"/>
                  </a:lnTo>
                  <a:lnTo>
                    <a:pt x="712597" y="455930"/>
                  </a:lnTo>
                  <a:lnTo>
                    <a:pt x="684276" y="457454"/>
                  </a:lnTo>
                  <a:lnTo>
                    <a:pt x="678053" y="463931"/>
                  </a:lnTo>
                  <a:lnTo>
                    <a:pt x="678561" y="479806"/>
                  </a:lnTo>
                  <a:lnTo>
                    <a:pt x="685038" y="486029"/>
                  </a:lnTo>
                  <a:lnTo>
                    <a:pt x="703707" y="485521"/>
                  </a:lnTo>
                  <a:lnTo>
                    <a:pt x="749427" y="477393"/>
                  </a:lnTo>
                  <a:lnTo>
                    <a:pt x="802894" y="454152"/>
                  </a:lnTo>
                  <a:lnTo>
                    <a:pt x="841883" y="426720"/>
                  </a:lnTo>
                  <a:lnTo>
                    <a:pt x="875665" y="393065"/>
                  </a:lnTo>
                  <a:lnTo>
                    <a:pt x="903224" y="354203"/>
                  </a:lnTo>
                  <a:lnTo>
                    <a:pt x="923036" y="311785"/>
                  </a:lnTo>
                  <a:lnTo>
                    <a:pt x="933958" y="266446"/>
                  </a:lnTo>
                  <a:lnTo>
                    <a:pt x="935101" y="254889"/>
                  </a:lnTo>
                  <a:lnTo>
                    <a:pt x="935482" y="2433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3974" y="1409636"/>
              <a:ext cx="566737" cy="56673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5874" y="1362011"/>
              <a:ext cx="633412" cy="7381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91124" y="14382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00014" y="2494914"/>
              <a:ext cx="987425" cy="148590"/>
            </a:xfrm>
            <a:custGeom>
              <a:avLst/>
              <a:gdLst/>
              <a:ahLst/>
              <a:cxnLst/>
              <a:rect l="l" t="t" r="r" b="b"/>
              <a:pathLst>
                <a:path w="987425" h="148589">
                  <a:moveTo>
                    <a:pt x="905134" y="99007"/>
                  </a:moveTo>
                  <a:lnTo>
                    <a:pt x="856107" y="122682"/>
                  </a:lnTo>
                  <a:lnTo>
                    <a:pt x="853186" y="131190"/>
                  </a:lnTo>
                  <a:lnTo>
                    <a:pt x="860044" y="145414"/>
                  </a:lnTo>
                  <a:lnTo>
                    <a:pt x="868552" y="148336"/>
                  </a:lnTo>
                  <a:lnTo>
                    <a:pt x="961635" y="103440"/>
                  </a:lnTo>
                  <a:lnTo>
                    <a:pt x="905134" y="99007"/>
                  </a:lnTo>
                  <a:close/>
                </a:path>
                <a:path w="987425" h="148589">
                  <a:moveTo>
                    <a:pt x="971591" y="98639"/>
                  </a:moveTo>
                  <a:lnTo>
                    <a:pt x="961635" y="103440"/>
                  </a:lnTo>
                  <a:lnTo>
                    <a:pt x="965581" y="103759"/>
                  </a:lnTo>
                  <a:lnTo>
                    <a:pt x="971591" y="98639"/>
                  </a:lnTo>
                  <a:close/>
                </a:path>
                <a:path w="987425" h="148589">
                  <a:moveTo>
                    <a:pt x="930580" y="86718"/>
                  </a:moveTo>
                  <a:lnTo>
                    <a:pt x="905134" y="99007"/>
                  </a:lnTo>
                  <a:lnTo>
                    <a:pt x="961635" y="103440"/>
                  </a:lnTo>
                  <a:lnTo>
                    <a:pt x="967295" y="100711"/>
                  </a:lnTo>
                  <a:lnTo>
                    <a:pt x="950722" y="100711"/>
                  </a:lnTo>
                  <a:lnTo>
                    <a:pt x="930580" y="86718"/>
                  </a:lnTo>
                  <a:close/>
                </a:path>
                <a:path w="987425" h="148589">
                  <a:moveTo>
                    <a:pt x="952626" y="76073"/>
                  </a:moveTo>
                  <a:lnTo>
                    <a:pt x="930580" y="86718"/>
                  </a:lnTo>
                  <a:lnTo>
                    <a:pt x="950722" y="100711"/>
                  </a:lnTo>
                  <a:lnTo>
                    <a:pt x="952626" y="76073"/>
                  </a:lnTo>
                  <a:close/>
                </a:path>
                <a:path w="987425" h="148589">
                  <a:moveTo>
                    <a:pt x="965298" y="76073"/>
                  </a:moveTo>
                  <a:lnTo>
                    <a:pt x="952626" y="76073"/>
                  </a:lnTo>
                  <a:lnTo>
                    <a:pt x="950722" y="100711"/>
                  </a:lnTo>
                  <a:lnTo>
                    <a:pt x="967295" y="100711"/>
                  </a:lnTo>
                  <a:lnTo>
                    <a:pt x="971591" y="98639"/>
                  </a:lnTo>
                  <a:lnTo>
                    <a:pt x="972438" y="97917"/>
                  </a:lnTo>
                  <a:lnTo>
                    <a:pt x="973709" y="82169"/>
                  </a:lnTo>
                  <a:lnTo>
                    <a:pt x="973185" y="81554"/>
                  </a:lnTo>
                  <a:lnTo>
                    <a:pt x="965298" y="76073"/>
                  </a:lnTo>
                  <a:close/>
                </a:path>
                <a:path w="987425" h="148589">
                  <a:moveTo>
                    <a:pt x="8127" y="0"/>
                  </a:moveTo>
                  <a:lnTo>
                    <a:pt x="1270" y="5969"/>
                  </a:lnTo>
                  <a:lnTo>
                    <a:pt x="0" y="21717"/>
                  </a:lnTo>
                  <a:lnTo>
                    <a:pt x="5969" y="28575"/>
                  </a:lnTo>
                  <a:lnTo>
                    <a:pt x="905134" y="99007"/>
                  </a:lnTo>
                  <a:lnTo>
                    <a:pt x="930580" y="86718"/>
                  </a:lnTo>
                  <a:lnTo>
                    <a:pt x="907295" y="70542"/>
                  </a:lnTo>
                  <a:lnTo>
                    <a:pt x="8127" y="0"/>
                  </a:lnTo>
                  <a:close/>
                </a:path>
                <a:path w="987425" h="148589">
                  <a:moveTo>
                    <a:pt x="973185" y="81554"/>
                  </a:moveTo>
                  <a:lnTo>
                    <a:pt x="973709" y="82169"/>
                  </a:lnTo>
                  <a:lnTo>
                    <a:pt x="972438" y="97917"/>
                  </a:lnTo>
                  <a:lnTo>
                    <a:pt x="971591" y="98639"/>
                  </a:lnTo>
                  <a:lnTo>
                    <a:pt x="987044" y="91186"/>
                  </a:lnTo>
                  <a:lnTo>
                    <a:pt x="973185" y="81554"/>
                  </a:lnTo>
                  <a:close/>
                </a:path>
                <a:path w="987425" h="148589">
                  <a:moveTo>
                    <a:pt x="907295" y="70542"/>
                  </a:moveTo>
                  <a:lnTo>
                    <a:pt x="930580" y="86718"/>
                  </a:lnTo>
                  <a:lnTo>
                    <a:pt x="952626" y="76073"/>
                  </a:lnTo>
                  <a:lnTo>
                    <a:pt x="965298" y="76073"/>
                  </a:lnTo>
                  <a:lnTo>
                    <a:pt x="963721" y="74976"/>
                  </a:lnTo>
                  <a:lnTo>
                    <a:pt x="907295" y="70542"/>
                  </a:lnTo>
                  <a:close/>
                </a:path>
                <a:path w="987425" h="148589">
                  <a:moveTo>
                    <a:pt x="963721" y="74976"/>
                  </a:moveTo>
                  <a:lnTo>
                    <a:pt x="973185" y="81554"/>
                  </a:lnTo>
                  <a:lnTo>
                    <a:pt x="967867" y="75311"/>
                  </a:lnTo>
                  <a:lnTo>
                    <a:pt x="963721" y="74976"/>
                  </a:lnTo>
                  <a:close/>
                </a:path>
                <a:path w="987425" h="148589">
                  <a:moveTo>
                    <a:pt x="878967" y="16129"/>
                  </a:moveTo>
                  <a:lnTo>
                    <a:pt x="870076" y="17780"/>
                  </a:lnTo>
                  <a:lnTo>
                    <a:pt x="865505" y="24257"/>
                  </a:lnTo>
                  <a:lnTo>
                    <a:pt x="861060" y="30734"/>
                  </a:lnTo>
                  <a:lnTo>
                    <a:pt x="862711" y="39624"/>
                  </a:lnTo>
                  <a:lnTo>
                    <a:pt x="907295" y="70542"/>
                  </a:lnTo>
                  <a:lnTo>
                    <a:pt x="963721" y="74976"/>
                  </a:lnTo>
                  <a:lnTo>
                    <a:pt x="878967" y="161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326126" y="1460436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91075" y="2200211"/>
            <a:ext cx="643255" cy="738505"/>
            <a:chOff x="4791075" y="2200211"/>
            <a:chExt cx="643255" cy="73850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9175" y="2247836"/>
              <a:ext cx="566737" cy="56673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1075" y="2200211"/>
              <a:ext cx="642937" cy="73818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886325" y="22764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020945" y="2299906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038850" y="2276411"/>
            <a:ext cx="738505" cy="738505"/>
            <a:chOff x="6038850" y="2276411"/>
            <a:chExt cx="738505" cy="73850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4575" y="2324036"/>
              <a:ext cx="566737" cy="56673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8850" y="2276411"/>
              <a:ext cx="738187" cy="73818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181725" y="23526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266815" y="2376106"/>
            <a:ext cx="297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6861809" y="1367379"/>
          <a:ext cx="2209800" cy="14151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4950" algn="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7490" algn="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74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74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>
            <a:off x="7071106" y="3027109"/>
            <a:ext cx="1783080" cy="112204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45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25" dirty="0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+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025" b="1" spc="179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50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025" b="1" spc="51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</a:t>
            </a:r>
            <a:r>
              <a:rPr sz="2025" b="1" spc="-202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30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m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 </a:t>
            </a:r>
            <a:r>
              <a:rPr sz="2000" b="1" spc="25" dirty="0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+</a:t>
            </a:r>
            <a:r>
              <a:rPr sz="2000" b="1" spc="9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m</a:t>
            </a:r>
            <a:endParaRPr sz="2025" baseline="-18518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58509" y="2114550"/>
            <a:ext cx="528320" cy="486409"/>
          </a:xfrm>
          <a:custGeom>
            <a:avLst/>
            <a:gdLst/>
            <a:ahLst/>
            <a:cxnLst/>
            <a:rect l="l" t="t" r="r" b="b"/>
            <a:pathLst>
              <a:path w="528320" h="486410">
                <a:moveTo>
                  <a:pt x="389593" y="28575"/>
                </a:moveTo>
                <a:lnTo>
                  <a:pt x="284734" y="28575"/>
                </a:lnTo>
                <a:lnTo>
                  <a:pt x="294513" y="28828"/>
                </a:lnTo>
                <a:lnTo>
                  <a:pt x="304418" y="29717"/>
                </a:lnTo>
                <a:lnTo>
                  <a:pt x="343281" y="38862"/>
                </a:lnTo>
                <a:lnTo>
                  <a:pt x="381126" y="56261"/>
                </a:lnTo>
                <a:lnTo>
                  <a:pt x="416051" y="80899"/>
                </a:lnTo>
                <a:lnTo>
                  <a:pt x="446405" y="111125"/>
                </a:lnTo>
                <a:lnTo>
                  <a:pt x="471169" y="145923"/>
                </a:lnTo>
                <a:lnTo>
                  <a:pt x="488822" y="183896"/>
                </a:lnTo>
                <a:lnTo>
                  <a:pt x="498220" y="222885"/>
                </a:lnTo>
                <a:lnTo>
                  <a:pt x="499490" y="242442"/>
                </a:lnTo>
                <a:lnTo>
                  <a:pt x="499237" y="252222"/>
                </a:lnTo>
                <a:lnTo>
                  <a:pt x="492251" y="291591"/>
                </a:lnTo>
                <a:lnTo>
                  <a:pt x="471805" y="338836"/>
                </a:lnTo>
                <a:lnTo>
                  <a:pt x="447166" y="373761"/>
                </a:lnTo>
                <a:lnTo>
                  <a:pt x="416940" y="404113"/>
                </a:lnTo>
                <a:lnTo>
                  <a:pt x="382142" y="428878"/>
                </a:lnTo>
                <a:lnTo>
                  <a:pt x="344169" y="446532"/>
                </a:lnTo>
                <a:lnTo>
                  <a:pt x="305181" y="455929"/>
                </a:lnTo>
                <a:lnTo>
                  <a:pt x="276860" y="457453"/>
                </a:lnTo>
                <a:lnTo>
                  <a:pt x="270637" y="463930"/>
                </a:lnTo>
                <a:lnTo>
                  <a:pt x="271144" y="479805"/>
                </a:lnTo>
                <a:lnTo>
                  <a:pt x="277621" y="486028"/>
                </a:lnTo>
                <a:lnTo>
                  <a:pt x="296290" y="485521"/>
                </a:lnTo>
                <a:lnTo>
                  <a:pt x="342011" y="477392"/>
                </a:lnTo>
                <a:lnTo>
                  <a:pt x="395477" y="454151"/>
                </a:lnTo>
                <a:lnTo>
                  <a:pt x="434466" y="426720"/>
                </a:lnTo>
                <a:lnTo>
                  <a:pt x="468248" y="393064"/>
                </a:lnTo>
                <a:lnTo>
                  <a:pt x="495808" y="354202"/>
                </a:lnTo>
                <a:lnTo>
                  <a:pt x="515619" y="311785"/>
                </a:lnTo>
                <a:lnTo>
                  <a:pt x="526541" y="266446"/>
                </a:lnTo>
                <a:lnTo>
                  <a:pt x="528065" y="243332"/>
                </a:lnTo>
                <a:lnTo>
                  <a:pt x="527812" y="231775"/>
                </a:lnTo>
                <a:lnTo>
                  <a:pt x="519684" y="186054"/>
                </a:lnTo>
                <a:lnTo>
                  <a:pt x="496442" y="132587"/>
                </a:lnTo>
                <a:lnTo>
                  <a:pt x="469011" y="93599"/>
                </a:lnTo>
                <a:lnTo>
                  <a:pt x="435356" y="59816"/>
                </a:lnTo>
                <a:lnTo>
                  <a:pt x="396493" y="32258"/>
                </a:lnTo>
                <a:lnTo>
                  <a:pt x="389593" y="28575"/>
                </a:lnTo>
                <a:close/>
              </a:path>
              <a:path w="528320" h="486410">
                <a:moveTo>
                  <a:pt x="49213" y="227615"/>
                </a:moveTo>
                <a:lnTo>
                  <a:pt x="56514" y="242950"/>
                </a:lnTo>
                <a:lnTo>
                  <a:pt x="65605" y="229997"/>
                </a:lnTo>
                <a:lnTo>
                  <a:pt x="64642" y="229997"/>
                </a:lnTo>
                <a:lnTo>
                  <a:pt x="56768" y="228853"/>
                </a:lnTo>
                <a:lnTo>
                  <a:pt x="49213" y="227615"/>
                </a:lnTo>
                <a:close/>
              </a:path>
              <a:path w="528320" h="486410">
                <a:moveTo>
                  <a:pt x="55049" y="173215"/>
                </a:moveTo>
                <a:lnTo>
                  <a:pt x="44662" y="213740"/>
                </a:lnTo>
                <a:lnTo>
                  <a:pt x="44176" y="217036"/>
                </a:lnTo>
                <a:lnTo>
                  <a:pt x="49213" y="227615"/>
                </a:lnTo>
                <a:lnTo>
                  <a:pt x="56768" y="228853"/>
                </a:lnTo>
                <a:lnTo>
                  <a:pt x="64642" y="229997"/>
                </a:lnTo>
                <a:lnTo>
                  <a:pt x="66636" y="228528"/>
                </a:lnTo>
                <a:lnTo>
                  <a:pt x="72545" y="220090"/>
                </a:lnTo>
                <a:lnTo>
                  <a:pt x="73025" y="216788"/>
                </a:lnTo>
                <a:lnTo>
                  <a:pt x="73532" y="213740"/>
                </a:lnTo>
                <a:lnTo>
                  <a:pt x="74601" y="208534"/>
                </a:lnTo>
                <a:lnTo>
                  <a:pt x="71881" y="208534"/>
                </a:lnTo>
                <a:lnTo>
                  <a:pt x="47243" y="206501"/>
                </a:lnTo>
                <a:lnTo>
                  <a:pt x="61338" y="186411"/>
                </a:lnTo>
                <a:lnTo>
                  <a:pt x="55049" y="173215"/>
                </a:lnTo>
                <a:close/>
              </a:path>
              <a:path w="528320" h="486410">
                <a:moveTo>
                  <a:pt x="66636" y="228528"/>
                </a:moveTo>
                <a:lnTo>
                  <a:pt x="64642" y="229997"/>
                </a:lnTo>
                <a:lnTo>
                  <a:pt x="65605" y="229997"/>
                </a:lnTo>
                <a:lnTo>
                  <a:pt x="66636" y="228528"/>
                </a:lnTo>
                <a:close/>
              </a:path>
              <a:path w="528320" h="486410">
                <a:moveTo>
                  <a:pt x="72542" y="220111"/>
                </a:moveTo>
                <a:lnTo>
                  <a:pt x="66636" y="228528"/>
                </a:lnTo>
                <a:lnTo>
                  <a:pt x="71881" y="224662"/>
                </a:lnTo>
                <a:lnTo>
                  <a:pt x="72542" y="220111"/>
                </a:lnTo>
                <a:close/>
              </a:path>
              <a:path w="528320" h="486410">
                <a:moveTo>
                  <a:pt x="44176" y="217036"/>
                </a:moveTo>
                <a:lnTo>
                  <a:pt x="43687" y="220345"/>
                </a:lnTo>
                <a:lnTo>
                  <a:pt x="49021" y="227584"/>
                </a:lnTo>
                <a:lnTo>
                  <a:pt x="49213" y="227615"/>
                </a:lnTo>
                <a:lnTo>
                  <a:pt x="44176" y="217036"/>
                </a:lnTo>
                <a:close/>
              </a:path>
              <a:path w="528320" h="486410">
                <a:moveTo>
                  <a:pt x="118629" y="117946"/>
                </a:moveTo>
                <a:lnTo>
                  <a:pt x="88900" y="165608"/>
                </a:lnTo>
                <a:lnTo>
                  <a:pt x="75564" y="203835"/>
                </a:lnTo>
                <a:lnTo>
                  <a:pt x="72542" y="220111"/>
                </a:lnTo>
                <a:lnTo>
                  <a:pt x="132206" y="135127"/>
                </a:lnTo>
                <a:lnTo>
                  <a:pt x="130555" y="126237"/>
                </a:lnTo>
                <a:lnTo>
                  <a:pt x="124078" y="121792"/>
                </a:lnTo>
                <a:lnTo>
                  <a:pt x="118629" y="117946"/>
                </a:lnTo>
                <a:close/>
              </a:path>
              <a:path w="528320" h="486410">
                <a:moveTo>
                  <a:pt x="17271" y="108838"/>
                </a:moveTo>
                <a:lnTo>
                  <a:pt x="10160" y="112140"/>
                </a:lnTo>
                <a:lnTo>
                  <a:pt x="3048" y="115570"/>
                </a:lnTo>
                <a:lnTo>
                  <a:pt x="0" y="124078"/>
                </a:lnTo>
                <a:lnTo>
                  <a:pt x="3301" y="131190"/>
                </a:lnTo>
                <a:lnTo>
                  <a:pt x="44176" y="217036"/>
                </a:lnTo>
                <a:lnTo>
                  <a:pt x="44830" y="212598"/>
                </a:lnTo>
                <a:lnTo>
                  <a:pt x="45592" y="207899"/>
                </a:lnTo>
                <a:lnTo>
                  <a:pt x="47878" y="196596"/>
                </a:lnTo>
                <a:lnTo>
                  <a:pt x="50926" y="185292"/>
                </a:lnTo>
                <a:lnTo>
                  <a:pt x="54737" y="173989"/>
                </a:lnTo>
                <a:lnTo>
                  <a:pt x="55049" y="173215"/>
                </a:lnTo>
                <a:lnTo>
                  <a:pt x="29087" y="118745"/>
                </a:lnTo>
                <a:lnTo>
                  <a:pt x="25780" y="111887"/>
                </a:lnTo>
                <a:lnTo>
                  <a:pt x="17271" y="108838"/>
                </a:lnTo>
                <a:close/>
              </a:path>
              <a:path w="528320" h="486410">
                <a:moveTo>
                  <a:pt x="61338" y="186411"/>
                </a:moveTo>
                <a:lnTo>
                  <a:pt x="47243" y="206501"/>
                </a:lnTo>
                <a:lnTo>
                  <a:pt x="71881" y="208534"/>
                </a:lnTo>
                <a:lnTo>
                  <a:pt x="61338" y="186411"/>
                </a:lnTo>
                <a:close/>
              </a:path>
              <a:path w="528320" h="486410">
                <a:moveTo>
                  <a:pt x="117601" y="117221"/>
                </a:moveTo>
                <a:lnTo>
                  <a:pt x="108712" y="118745"/>
                </a:lnTo>
                <a:lnTo>
                  <a:pt x="104266" y="125222"/>
                </a:lnTo>
                <a:lnTo>
                  <a:pt x="61338" y="186411"/>
                </a:lnTo>
                <a:lnTo>
                  <a:pt x="71881" y="208534"/>
                </a:lnTo>
                <a:lnTo>
                  <a:pt x="74601" y="208534"/>
                </a:lnTo>
                <a:lnTo>
                  <a:pt x="75564" y="203835"/>
                </a:lnTo>
                <a:lnTo>
                  <a:pt x="78104" y="194183"/>
                </a:lnTo>
                <a:lnTo>
                  <a:pt x="98551" y="146938"/>
                </a:lnTo>
                <a:lnTo>
                  <a:pt x="118629" y="117946"/>
                </a:lnTo>
                <a:lnTo>
                  <a:pt x="117601" y="117221"/>
                </a:lnTo>
                <a:close/>
              </a:path>
              <a:path w="528320" h="486410">
                <a:moveTo>
                  <a:pt x="285622" y="0"/>
                </a:moveTo>
                <a:lnTo>
                  <a:pt x="239648" y="5461"/>
                </a:lnTo>
                <a:lnTo>
                  <a:pt x="195834" y="20700"/>
                </a:lnTo>
                <a:lnTo>
                  <a:pt x="154812" y="44450"/>
                </a:lnTo>
                <a:lnTo>
                  <a:pt x="118363" y="75184"/>
                </a:lnTo>
                <a:lnTo>
                  <a:pt x="87502" y="111505"/>
                </a:lnTo>
                <a:lnTo>
                  <a:pt x="63500" y="152273"/>
                </a:lnTo>
                <a:lnTo>
                  <a:pt x="55049" y="173215"/>
                </a:lnTo>
                <a:lnTo>
                  <a:pt x="61338" y="186411"/>
                </a:lnTo>
                <a:lnTo>
                  <a:pt x="104266" y="125222"/>
                </a:lnTo>
                <a:lnTo>
                  <a:pt x="108712" y="118745"/>
                </a:lnTo>
                <a:lnTo>
                  <a:pt x="117601" y="117221"/>
                </a:lnTo>
                <a:lnTo>
                  <a:pt x="119187" y="117221"/>
                </a:lnTo>
                <a:lnTo>
                  <a:pt x="123189" y="112013"/>
                </a:lnTo>
                <a:lnTo>
                  <a:pt x="137667" y="96265"/>
                </a:lnTo>
                <a:lnTo>
                  <a:pt x="170307" y="68452"/>
                </a:lnTo>
                <a:lnTo>
                  <a:pt x="206629" y="47116"/>
                </a:lnTo>
                <a:lnTo>
                  <a:pt x="245363" y="33400"/>
                </a:lnTo>
                <a:lnTo>
                  <a:pt x="284734" y="28575"/>
                </a:lnTo>
                <a:lnTo>
                  <a:pt x="389593" y="28575"/>
                </a:lnTo>
                <a:lnTo>
                  <a:pt x="375792" y="21209"/>
                </a:lnTo>
                <a:lnTo>
                  <a:pt x="331469" y="5587"/>
                </a:lnTo>
                <a:lnTo>
                  <a:pt x="297180" y="380"/>
                </a:lnTo>
                <a:lnTo>
                  <a:pt x="285622" y="0"/>
                </a:lnTo>
                <a:close/>
              </a:path>
              <a:path w="528320" h="486410">
                <a:moveTo>
                  <a:pt x="119187" y="117221"/>
                </a:moveTo>
                <a:lnTo>
                  <a:pt x="117601" y="117221"/>
                </a:lnTo>
                <a:lnTo>
                  <a:pt x="118629" y="117946"/>
                </a:lnTo>
                <a:lnTo>
                  <a:pt x="119187" y="117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911471" y="3011106"/>
            <a:ext cx="17805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m </a:t>
            </a:r>
            <a:r>
              <a:rPr sz="1800" spc="-15" dirty="0">
                <a:latin typeface="Arial"/>
                <a:cs typeface="Arial"/>
              </a:rPr>
              <a:t>is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5" dirty="0">
                <a:latin typeface="Arial"/>
                <a:cs typeface="Arial"/>
              </a:rPr>
              <a:t>spider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trap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333311"/>
            <a:ext cx="4776851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7682230" cy="1003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b="1" spc="5" dirty="0">
                <a:latin typeface="Calibri"/>
                <a:cs typeface="Calibri"/>
              </a:rPr>
              <a:t>The Google </a:t>
            </a:r>
            <a:r>
              <a:rPr b="1" spc="15" dirty="0">
                <a:latin typeface="Calibri"/>
                <a:cs typeface="Calibri"/>
              </a:rPr>
              <a:t>solution </a:t>
            </a:r>
            <a:r>
              <a:rPr b="1" spc="-10" dirty="0">
                <a:latin typeface="Calibri"/>
                <a:cs typeface="Calibri"/>
              </a:rPr>
              <a:t>for </a:t>
            </a:r>
            <a:r>
              <a:rPr b="1" spc="15" dirty="0">
                <a:latin typeface="Calibri"/>
                <a:cs typeface="Calibri"/>
              </a:rPr>
              <a:t>spider </a:t>
            </a:r>
            <a:r>
              <a:rPr b="1" spc="-10" dirty="0">
                <a:latin typeface="Calibri"/>
                <a:cs typeface="Calibri"/>
              </a:rPr>
              <a:t>traps: </a:t>
            </a:r>
            <a:r>
              <a:rPr b="1" spc="-30" dirty="0">
                <a:solidFill>
                  <a:srgbClr val="D50092"/>
                </a:solidFill>
                <a:latin typeface="Calibri"/>
                <a:cs typeface="Calibri"/>
              </a:rPr>
              <a:t>At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each  </a:t>
            </a:r>
            <a:r>
              <a:rPr b="1" spc="20" dirty="0">
                <a:solidFill>
                  <a:srgbClr val="D50092"/>
                </a:solidFill>
                <a:latin typeface="Calibri"/>
                <a:cs typeface="Calibri"/>
              </a:rPr>
              <a:t>time </a:t>
            </a:r>
            <a:r>
              <a:rPr b="1" spc="-5" dirty="0">
                <a:solidFill>
                  <a:srgbClr val="D50092"/>
                </a:solidFill>
                <a:latin typeface="Calibri"/>
                <a:cs typeface="Calibri"/>
              </a:rPr>
              <a:t>step,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the </a:t>
            </a:r>
            <a:r>
              <a:rPr b="1" spc="-10" dirty="0">
                <a:solidFill>
                  <a:srgbClr val="D50092"/>
                </a:solidFill>
                <a:latin typeface="Calibri"/>
                <a:cs typeface="Calibri"/>
              </a:rPr>
              <a:t>random </a:t>
            </a:r>
            <a:r>
              <a:rPr b="1" spc="-5" dirty="0">
                <a:solidFill>
                  <a:srgbClr val="D50092"/>
                </a:solidFill>
                <a:latin typeface="Calibri"/>
                <a:cs typeface="Calibri"/>
              </a:rPr>
              <a:t>surfer </a:t>
            </a:r>
            <a:r>
              <a:rPr b="1" spc="5" dirty="0">
                <a:solidFill>
                  <a:srgbClr val="D50092"/>
                </a:solidFill>
                <a:latin typeface="Calibri"/>
                <a:cs typeface="Calibri"/>
              </a:rPr>
              <a:t>has </a:t>
            </a:r>
            <a:r>
              <a:rPr b="1" spc="15" dirty="0">
                <a:solidFill>
                  <a:srgbClr val="D50092"/>
                </a:solidFill>
                <a:latin typeface="Calibri"/>
                <a:cs typeface="Calibri"/>
              </a:rPr>
              <a:t>two</a:t>
            </a:r>
            <a:r>
              <a:rPr b="1" spc="-37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options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983291"/>
            <a:ext cx="323850" cy="40036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638550" y="4943475"/>
            <a:ext cx="2095500" cy="1814830"/>
            <a:chOff x="3638550" y="4943475"/>
            <a:chExt cx="2095500" cy="1814830"/>
          </a:xfrm>
        </p:grpSpPr>
        <p:sp>
          <p:nvSpPr>
            <p:cNvPr id="7" name="object 7"/>
            <p:cNvSpPr/>
            <p:nvPr/>
          </p:nvSpPr>
          <p:spPr>
            <a:xfrm>
              <a:off x="3807968" y="4943474"/>
              <a:ext cx="935990" cy="1203325"/>
            </a:xfrm>
            <a:custGeom>
              <a:avLst/>
              <a:gdLst/>
              <a:ahLst/>
              <a:cxnLst/>
              <a:rect l="l" t="t" r="r" b="b"/>
              <a:pathLst>
                <a:path w="935989" h="1203325">
                  <a:moveTo>
                    <a:pt x="273596" y="1091552"/>
                  </a:moveTo>
                  <a:lnTo>
                    <a:pt x="271653" y="1094917"/>
                  </a:lnTo>
                  <a:lnTo>
                    <a:pt x="273532" y="1102575"/>
                  </a:lnTo>
                  <a:lnTo>
                    <a:pt x="273596" y="1091552"/>
                  </a:lnTo>
                  <a:close/>
                </a:path>
                <a:path w="935989" h="1203325">
                  <a:moveTo>
                    <a:pt x="322961" y="696341"/>
                  </a:moveTo>
                  <a:lnTo>
                    <a:pt x="321068" y="688695"/>
                  </a:lnTo>
                  <a:lnTo>
                    <a:pt x="321030" y="695109"/>
                  </a:lnTo>
                  <a:lnTo>
                    <a:pt x="321030" y="688594"/>
                  </a:lnTo>
                  <a:lnTo>
                    <a:pt x="321132" y="679538"/>
                  </a:lnTo>
                  <a:lnTo>
                    <a:pt x="321183" y="671461"/>
                  </a:lnTo>
                  <a:lnTo>
                    <a:pt x="306222" y="679792"/>
                  </a:lnTo>
                  <a:lnTo>
                    <a:pt x="298450" y="681786"/>
                  </a:lnTo>
                  <a:lnTo>
                    <a:pt x="296341" y="685304"/>
                  </a:lnTo>
                  <a:lnTo>
                    <a:pt x="206121" y="735507"/>
                  </a:lnTo>
                  <a:lnTo>
                    <a:pt x="203708" y="744207"/>
                  </a:lnTo>
                  <a:lnTo>
                    <a:pt x="211328" y="757999"/>
                  </a:lnTo>
                  <a:lnTo>
                    <a:pt x="220091" y="760476"/>
                  </a:lnTo>
                  <a:lnTo>
                    <a:pt x="267449" y="734098"/>
                  </a:lnTo>
                  <a:lnTo>
                    <a:pt x="4064" y="1179144"/>
                  </a:lnTo>
                  <a:lnTo>
                    <a:pt x="0" y="1185938"/>
                  </a:lnTo>
                  <a:lnTo>
                    <a:pt x="2286" y="1194701"/>
                  </a:lnTo>
                  <a:lnTo>
                    <a:pt x="15875" y="1202740"/>
                  </a:lnTo>
                  <a:lnTo>
                    <a:pt x="24638" y="1200492"/>
                  </a:lnTo>
                  <a:lnTo>
                    <a:pt x="28575" y="1193698"/>
                  </a:lnTo>
                  <a:lnTo>
                    <a:pt x="292138" y="748538"/>
                  </a:lnTo>
                  <a:lnTo>
                    <a:pt x="291846" y="795007"/>
                  </a:lnTo>
                  <a:lnTo>
                    <a:pt x="291719" y="802894"/>
                  </a:lnTo>
                  <a:lnTo>
                    <a:pt x="298069" y="809332"/>
                  </a:lnTo>
                  <a:lnTo>
                    <a:pt x="313817" y="809434"/>
                  </a:lnTo>
                  <a:lnTo>
                    <a:pt x="320294" y="803084"/>
                  </a:lnTo>
                  <a:lnTo>
                    <a:pt x="320421" y="795007"/>
                  </a:lnTo>
                  <a:lnTo>
                    <a:pt x="321005" y="699719"/>
                  </a:lnTo>
                  <a:lnTo>
                    <a:pt x="322961" y="696341"/>
                  </a:lnTo>
                  <a:close/>
                </a:path>
                <a:path w="935989" h="1203325">
                  <a:moveTo>
                    <a:pt x="479958" y="220116"/>
                  </a:moveTo>
                  <a:lnTo>
                    <a:pt x="474040" y="228536"/>
                  </a:lnTo>
                  <a:lnTo>
                    <a:pt x="479298" y="224663"/>
                  </a:lnTo>
                  <a:lnTo>
                    <a:pt x="479958" y="220116"/>
                  </a:lnTo>
                  <a:close/>
                </a:path>
                <a:path w="935989" h="1203325">
                  <a:moveTo>
                    <a:pt x="594614" y="605282"/>
                  </a:moveTo>
                  <a:lnTo>
                    <a:pt x="592328" y="596519"/>
                  </a:lnTo>
                  <a:lnTo>
                    <a:pt x="578739" y="588518"/>
                  </a:lnTo>
                  <a:lnTo>
                    <a:pt x="569976" y="590804"/>
                  </a:lnTo>
                  <a:lnTo>
                    <a:pt x="566039" y="597535"/>
                  </a:lnTo>
                  <a:lnTo>
                    <a:pt x="302463" y="1042720"/>
                  </a:lnTo>
                  <a:lnTo>
                    <a:pt x="302768" y="996251"/>
                  </a:lnTo>
                  <a:lnTo>
                    <a:pt x="302895" y="988364"/>
                  </a:lnTo>
                  <a:lnTo>
                    <a:pt x="296545" y="981925"/>
                  </a:lnTo>
                  <a:lnTo>
                    <a:pt x="273596" y="1091552"/>
                  </a:lnTo>
                  <a:lnTo>
                    <a:pt x="273558" y="1102677"/>
                  </a:lnTo>
                  <a:lnTo>
                    <a:pt x="273431" y="1119797"/>
                  </a:lnTo>
                  <a:lnTo>
                    <a:pt x="287921" y="1111719"/>
                  </a:lnTo>
                  <a:lnTo>
                    <a:pt x="288378" y="1111478"/>
                  </a:lnTo>
                  <a:lnTo>
                    <a:pt x="296164" y="1109472"/>
                  </a:lnTo>
                  <a:lnTo>
                    <a:pt x="298259" y="1105966"/>
                  </a:lnTo>
                  <a:lnTo>
                    <a:pt x="304469" y="1095489"/>
                  </a:lnTo>
                  <a:lnTo>
                    <a:pt x="300228" y="1102677"/>
                  </a:lnTo>
                  <a:lnTo>
                    <a:pt x="298259" y="1105966"/>
                  </a:lnTo>
                  <a:lnTo>
                    <a:pt x="388493" y="1055751"/>
                  </a:lnTo>
                  <a:lnTo>
                    <a:pt x="390906" y="1047051"/>
                  </a:lnTo>
                  <a:lnTo>
                    <a:pt x="383286" y="1033259"/>
                  </a:lnTo>
                  <a:lnTo>
                    <a:pt x="374523" y="1030782"/>
                  </a:lnTo>
                  <a:lnTo>
                    <a:pt x="327152" y="1057173"/>
                  </a:lnTo>
                  <a:lnTo>
                    <a:pt x="594614" y="605282"/>
                  </a:lnTo>
                  <a:close/>
                </a:path>
                <a:path w="935989" h="1203325">
                  <a:moveTo>
                    <a:pt x="935482" y="243332"/>
                  </a:moveTo>
                  <a:lnTo>
                    <a:pt x="930021" y="197358"/>
                  </a:lnTo>
                  <a:lnTo>
                    <a:pt x="914781" y="153543"/>
                  </a:lnTo>
                  <a:lnTo>
                    <a:pt x="891032" y="112522"/>
                  </a:lnTo>
                  <a:lnTo>
                    <a:pt x="860298" y="76073"/>
                  </a:lnTo>
                  <a:lnTo>
                    <a:pt x="823976" y="45212"/>
                  </a:lnTo>
                  <a:lnTo>
                    <a:pt x="797001" y="28575"/>
                  </a:lnTo>
                  <a:lnTo>
                    <a:pt x="783209" y="21209"/>
                  </a:lnTo>
                  <a:lnTo>
                    <a:pt x="738886" y="5588"/>
                  </a:lnTo>
                  <a:lnTo>
                    <a:pt x="693039" y="0"/>
                  </a:lnTo>
                  <a:lnTo>
                    <a:pt x="681482" y="254"/>
                  </a:lnTo>
                  <a:lnTo>
                    <a:pt x="635762" y="8382"/>
                  </a:lnTo>
                  <a:lnTo>
                    <a:pt x="582295" y="31623"/>
                  </a:lnTo>
                  <a:lnTo>
                    <a:pt x="543306" y="59055"/>
                  </a:lnTo>
                  <a:lnTo>
                    <a:pt x="509524" y="92710"/>
                  </a:lnTo>
                  <a:lnTo>
                    <a:pt x="481965" y="131572"/>
                  </a:lnTo>
                  <a:lnTo>
                    <a:pt x="462457" y="173228"/>
                  </a:lnTo>
                  <a:lnTo>
                    <a:pt x="436499" y="118745"/>
                  </a:lnTo>
                  <a:lnTo>
                    <a:pt x="433197" y="111887"/>
                  </a:lnTo>
                  <a:lnTo>
                    <a:pt x="424688" y="108839"/>
                  </a:lnTo>
                  <a:lnTo>
                    <a:pt x="417576" y="112141"/>
                  </a:lnTo>
                  <a:lnTo>
                    <a:pt x="410464" y="115570"/>
                  </a:lnTo>
                  <a:lnTo>
                    <a:pt x="407416" y="124079"/>
                  </a:lnTo>
                  <a:lnTo>
                    <a:pt x="410718" y="131191"/>
                  </a:lnTo>
                  <a:lnTo>
                    <a:pt x="451586" y="217043"/>
                  </a:lnTo>
                  <a:lnTo>
                    <a:pt x="451104" y="220345"/>
                  </a:lnTo>
                  <a:lnTo>
                    <a:pt x="456438" y="227584"/>
                  </a:lnTo>
                  <a:lnTo>
                    <a:pt x="456628" y="227622"/>
                  </a:lnTo>
                  <a:lnTo>
                    <a:pt x="463931" y="242951"/>
                  </a:lnTo>
                  <a:lnTo>
                    <a:pt x="473011" y="229997"/>
                  </a:lnTo>
                  <a:lnTo>
                    <a:pt x="474040" y="228536"/>
                  </a:lnTo>
                  <a:lnTo>
                    <a:pt x="479958" y="220091"/>
                  </a:lnTo>
                  <a:lnTo>
                    <a:pt x="539623" y="135128"/>
                  </a:lnTo>
                  <a:lnTo>
                    <a:pt x="537972" y="126238"/>
                  </a:lnTo>
                  <a:lnTo>
                    <a:pt x="531495" y="121793"/>
                  </a:lnTo>
                  <a:lnTo>
                    <a:pt x="526034" y="117957"/>
                  </a:lnTo>
                  <a:lnTo>
                    <a:pt x="560832" y="81661"/>
                  </a:lnTo>
                  <a:lnTo>
                    <a:pt x="595630" y="56896"/>
                  </a:lnTo>
                  <a:lnTo>
                    <a:pt x="633603" y="39243"/>
                  </a:lnTo>
                  <a:lnTo>
                    <a:pt x="672592" y="29845"/>
                  </a:lnTo>
                  <a:lnTo>
                    <a:pt x="692150" y="28575"/>
                  </a:lnTo>
                  <a:lnTo>
                    <a:pt x="701929" y="28829"/>
                  </a:lnTo>
                  <a:lnTo>
                    <a:pt x="741299" y="35814"/>
                  </a:lnTo>
                  <a:lnTo>
                    <a:pt x="788543" y="56261"/>
                  </a:lnTo>
                  <a:lnTo>
                    <a:pt x="823468" y="80899"/>
                  </a:lnTo>
                  <a:lnTo>
                    <a:pt x="853821" y="111125"/>
                  </a:lnTo>
                  <a:lnTo>
                    <a:pt x="878586" y="145923"/>
                  </a:lnTo>
                  <a:lnTo>
                    <a:pt x="896239" y="183896"/>
                  </a:lnTo>
                  <a:lnTo>
                    <a:pt x="905637" y="222885"/>
                  </a:lnTo>
                  <a:lnTo>
                    <a:pt x="906907" y="242443"/>
                  </a:lnTo>
                  <a:lnTo>
                    <a:pt x="906653" y="252234"/>
                  </a:lnTo>
                  <a:lnTo>
                    <a:pt x="899668" y="291592"/>
                  </a:lnTo>
                  <a:lnTo>
                    <a:pt x="879221" y="338836"/>
                  </a:lnTo>
                  <a:lnTo>
                    <a:pt x="854583" y="373761"/>
                  </a:lnTo>
                  <a:lnTo>
                    <a:pt x="824357" y="404114"/>
                  </a:lnTo>
                  <a:lnTo>
                    <a:pt x="789559" y="428879"/>
                  </a:lnTo>
                  <a:lnTo>
                    <a:pt x="751586" y="446532"/>
                  </a:lnTo>
                  <a:lnTo>
                    <a:pt x="712597" y="455930"/>
                  </a:lnTo>
                  <a:lnTo>
                    <a:pt x="684276" y="457454"/>
                  </a:lnTo>
                  <a:lnTo>
                    <a:pt x="678053" y="463931"/>
                  </a:lnTo>
                  <a:lnTo>
                    <a:pt x="678561" y="479806"/>
                  </a:lnTo>
                  <a:lnTo>
                    <a:pt x="685038" y="486029"/>
                  </a:lnTo>
                  <a:lnTo>
                    <a:pt x="703707" y="485521"/>
                  </a:lnTo>
                  <a:lnTo>
                    <a:pt x="749427" y="477393"/>
                  </a:lnTo>
                  <a:lnTo>
                    <a:pt x="802894" y="454152"/>
                  </a:lnTo>
                  <a:lnTo>
                    <a:pt x="841883" y="426720"/>
                  </a:lnTo>
                  <a:lnTo>
                    <a:pt x="875665" y="393065"/>
                  </a:lnTo>
                  <a:lnTo>
                    <a:pt x="903224" y="354203"/>
                  </a:lnTo>
                  <a:lnTo>
                    <a:pt x="923036" y="311785"/>
                  </a:lnTo>
                  <a:lnTo>
                    <a:pt x="933958" y="266446"/>
                  </a:lnTo>
                  <a:lnTo>
                    <a:pt x="935101" y="254889"/>
                  </a:lnTo>
                  <a:lnTo>
                    <a:pt x="935482" y="2433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1450" y="5153025"/>
              <a:ext cx="566737" cy="5667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43350" y="5105400"/>
              <a:ext cx="633412" cy="73818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38600" y="518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37965" y="6238303"/>
              <a:ext cx="987425" cy="148590"/>
            </a:xfrm>
            <a:custGeom>
              <a:avLst/>
              <a:gdLst/>
              <a:ahLst/>
              <a:cxnLst/>
              <a:rect l="l" t="t" r="r" b="b"/>
              <a:pathLst>
                <a:path w="987425" h="148589">
                  <a:moveTo>
                    <a:pt x="905019" y="98960"/>
                  </a:moveTo>
                  <a:lnTo>
                    <a:pt x="856107" y="122567"/>
                  </a:lnTo>
                  <a:lnTo>
                    <a:pt x="853186" y="131102"/>
                  </a:lnTo>
                  <a:lnTo>
                    <a:pt x="860044" y="145313"/>
                  </a:lnTo>
                  <a:lnTo>
                    <a:pt x="868552" y="148297"/>
                  </a:lnTo>
                  <a:lnTo>
                    <a:pt x="961518" y="103389"/>
                  </a:lnTo>
                  <a:lnTo>
                    <a:pt x="905019" y="98960"/>
                  </a:lnTo>
                  <a:close/>
                </a:path>
                <a:path w="987425" h="148589">
                  <a:moveTo>
                    <a:pt x="971674" y="98483"/>
                  </a:moveTo>
                  <a:lnTo>
                    <a:pt x="961518" y="103389"/>
                  </a:lnTo>
                  <a:lnTo>
                    <a:pt x="965581" y="103708"/>
                  </a:lnTo>
                  <a:lnTo>
                    <a:pt x="971674" y="98483"/>
                  </a:lnTo>
                  <a:close/>
                </a:path>
                <a:path w="987425" h="148589">
                  <a:moveTo>
                    <a:pt x="930590" y="86619"/>
                  </a:moveTo>
                  <a:lnTo>
                    <a:pt x="905019" y="98960"/>
                  </a:lnTo>
                  <a:lnTo>
                    <a:pt x="961518" y="103389"/>
                  </a:lnTo>
                  <a:lnTo>
                    <a:pt x="967326" y="100584"/>
                  </a:lnTo>
                  <a:lnTo>
                    <a:pt x="950722" y="100584"/>
                  </a:lnTo>
                  <a:lnTo>
                    <a:pt x="930590" y="86619"/>
                  </a:lnTo>
                  <a:close/>
                </a:path>
                <a:path w="987425" h="148589">
                  <a:moveTo>
                    <a:pt x="952626" y="75984"/>
                  </a:moveTo>
                  <a:lnTo>
                    <a:pt x="930590" y="86619"/>
                  </a:lnTo>
                  <a:lnTo>
                    <a:pt x="950722" y="100584"/>
                  </a:lnTo>
                  <a:lnTo>
                    <a:pt x="952626" y="75984"/>
                  </a:lnTo>
                  <a:close/>
                </a:path>
                <a:path w="987425" h="148589">
                  <a:moveTo>
                    <a:pt x="965322" y="75984"/>
                  </a:moveTo>
                  <a:lnTo>
                    <a:pt x="952626" y="75984"/>
                  </a:lnTo>
                  <a:lnTo>
                    <a:pt x="950722" y="100584"/>
                  </a:lnTo>
                  <a:lnTo>
                    <a:pt x="967326" y="100584"/>
                  </a:lnTo>
                  <a:lnTo>
                    <a:pt x="971674" y="98483"/>
                  </a:lnTo>
                  <a:lnTo>
                    <a:pt x="972438" y="97828"/>
                  </a:lnTo>
                  <a:lnTo>
                    <a:pt x="973709" y="82092"/>
                  </a:lnTo>
                  <a:lnTo>
                    <a:pt x="973110" y="81389"/>
                  </a:lnTo>
                  <a:lnTo>
                    <a:pt x="965322" y="75984"/>
                  </a:lnTo>
                  <a:close/>
                </a:path>
                <a:path w="987425" h="148589">
                  <a:moveTo>
                    <a:pt x="8127" y="0"/>
                  </a:moveTo>
                  <a:lnTo>
                    <a:pt x="1270" y="5880"/>
                  </a:lnTo>
                  <a:lnTo>
                    <a:pt x="0" y="21602"/>
                  </a:lnTo>
                  <a:lnTo>
                    <a:pt x="5969" y="28486"/>
                  </a:lnTo>
                  <a:lnTo>
                    <a:pt x="905019" y="98960"/>
                  </a:lnTo>
                  <a:lnTo>
                    <a:pt x="930590" y="86619"/>
                  </a:lnTo>
                  <a:lnTo>
                    <a:pt x="907316" y="70475"/>
                  </a:lnTo>
                  <a:lnTo>
                    <a:pt x="8127" y="0"/>
                  </a:lnTo>
                  <a:close/>
                </a:path>
                <a:path w="987425" h="148589">
                  <a:moveTo>
                    <a:pt x="973110" y="81389"/>
                  </a:moveTo>
                  <a:lnTo>
                    <a:pt x="973709" y="82092"/>
                  </a:lnTo>
                  <a:lnTo>
                    <a:pt x="972438" y="97828"/>
                  </a:lnTo>
                  <a:lnTo>
                    <a:pt x="971674" y="98483"/>
                  </a:lnTo>
                  <a:lnTo>
                    <a:pt x="987044" y="91059"/>
                  </a:lnTo>
                  <a:lnTo>
                    <a:pt x="973110" y="81389"/>
                  </a:lnTo>
                  <a:close/>
                </a:path>
                <a:path w="987425" h="148589">
                  <a:moveTo>
                    <a:pt x="907316" y="70475"/>
                  </a:moveTo>
                  <a:lnTo>
                    <a:pt x="930590" y="86619"/>
                  </a:lnTo>
                  <a:lnTo>
                    <a:pt x="952626" y="75984"/>
                  </a:lnTo>
                  <a:lnTo>
                    <a:pt x="965322" y="75984"/>
                  </a:lnTo>
                  <a:lnTo>
                    <a:pt x="963760" y="74900"/>
                  </a:lnTo>
                  <a:lnTo>
                    <a:pt x="907316" y="70475"/>
                  </a:lnTo>
                  <a:close/>
                </a:path>
                <a:path w="987425" h="148589">
                  <a:moveTo>
                    <a:pt x="963760" y="74900"/>
                  </a:moveTo>
                  <a:lnTo>
                    <a:pt x="973110" y="81389"/>
                  </a:lnTo>
                  <a:lnTo>
                    <a:pt x="967867" y="75222"/>
                  </a:lnTo>
                  <a:lnTo>
                    <a:pt x="963760" y="74900"/>
                  </a:lnTo>
                  <a:close/>
                </a:path>
                <a:path w="987425" h="148589">
                  <a:moveTo>
                    <a:pt x="878967" y="16052"/>
                  </a:moveTo>
                  <a:lnTo>
                    <a:pt x="870076" y="17665"/>
                  </a:lnTo>
                  <a:lnTo>
                    <a:pt x="865505" y="24155"/>
                  </a:lnTo>
                  <a:lnTo>
                    <a:pt x="861060" y="30632"/>
                  </a:lnTo>
                  <a:lnTo>
                    <a:pt x="862711" y="39535"/>
                  </a:lnTo>
                  <a:lnTo>
                    <a:pt x="907316" y="70475"/>
                  </a:lnTo>
                  <a:lnTo>
                    <a:pt x="963760" y="74900"/>
                  </a:lnTo>
                  <a:lnTo>
                    <a:pt x="878967" y="16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6650" y="5991225"/>
              <a:ext cx="566737" cy="5667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38550" y="5943600"/>
              <a:ext cx="642937" cy="73818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33800" y="6019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4"/>
                  </a:lnTo>
                  <a:lnTo>
                    <a:pt x="100793" y="39041"/>
                  </a:lnTo>
                  <a:lnTo>
                    <a:pt x="66960" y="66955"/>
                  </a:lnTo>
                  <a:lnTo>
                    <a:pt x="39045" y="100788"/>
                  </a:lnTo>
                  <a:lnTo>
                    <a:pt x="17966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6" y="317580"/>
                  </a:lnTo>
                  <a:lnTo>
                    <a:pt x="39045" y="356411"/>
                  </a:lnTo>
                  <a:lnTo>
                    <a:pt x="66960" y="390244"/>
                  </a:lnTo>
                  <a:lnTo>
                    <a:pt x="100793" y="418158"/>
                  </a:lnTo>
                  <a:lnTo>
                    <a:pt x="139624" y="439235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5"/>
                  </a:lnTo>
                  <a:lnTo>
                    <a:pt x="356406" y="418158"/>
                  </a:lnTo>
                  <a:lnTo>
                    <a:pt x="390239" y="390244"/>
                  </a:lnTo>
                  <a:lnTo>
                    <a:pt x="418154" y="356411"/>
                  </a:lnTo>
                  <a:lnTo>
                    <a:pt x="439233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3" y="139619"/>
                  </a:lnTo>
                  <a:lnTo>
                    <a:pt x="418154" y="100788"/>
                  </a:lnTo>
                  <a:lnTo>
                    <a:pt x="390239" y="66955"/>
                  </a:lnTo>
                  <a:lnTo>
                    <a:pt x="356406" y="39041"/>
                  </a:lnTo>
                  <a:lnTo>
                    <a:pt x="317575" y="17964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2050" y="6067425"/>
              <a:ext cx="566737" cy="56673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76800" y="6019800"/>
              <a:ext cx="738187" cy="73818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29200" y="609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4"/>
                  </a:lnTo>
                  <a:lnTo>
                    <a:pt x="100793" y="39041"/>
                  </a:lnTo>
                  <a:lnTo>
                    <a:pt x="66960" y="66955"/>
                  </a:lnTo>
                  <a:lnTo>
                    <a:pt x="39045" y="100788"/>
                  </a:lnTo>
                  <a:lnTo>
                    <a:pt x="17966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6" y="317580"/>
                  </a:lnTo>
                  <a:lnTo>
                    <a:pt x="39045" y="356411"/>
                  </a:lnTo>
                  <a:lnTo>
                    <a:pt x="66960" y="390244"/>
                  </a:lnTo>
                  <a:lnTo>
                    <a:pt x="100793" y="418158"/>
                  </a:lnTo>
                  <a:lnTo>
                    <a:pt x="139624" y="439235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5"/>
                  </a:lnTo>
                  <a:lnTo>
                    <a:pt x="356406" y="418158"/>
                  </a:lnTo>
                  <a:lnTo>
                    <a:pt x="390239" y="390244"/>
                  </a:lnTo>
                  <a:lnTo>
                    <a:pt x="418154" y="356411"/>
                  </a:lnTo>
                  <a:lnTo>
                    <a:pt x="439233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3" y="139619"/>
                  </a:lnTo>
                  <a:lnTo>
                    <a:pt x="418154" y="100788"/>
                  </a:lnTo>
                  <a:lnTo>
                    <a:pt x="390239" y="66955"/>
                  </a:lnTo>
                  <a:lnTo>
                    <a:pt x="356406" y="39041"/>
                  </a:lnTo>
                  <a:lnTo>
                    <a:pt x="317575" y="17964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05983" y="5857875"/>
              <a:ext cx="528320" cy="486409"/>
            </a:xfrm>
            <a:custGeom>
              <a:avLst/>
              <a:gdLst/>
              <a:ahLst/>
              <a:cxnLst/>
              <a:rect l="l" t="t" r="r" b="b"/>
              <a:pathLst>
                <a:path w="528320" h="486410">
                  <a:moveTo>
                    <a:pt x="389537" y="28575"/>
                  </a:moveTo>
                  <a:lnTo>
                    <a:pt x="284733" y="28575"/>
                  </a:lnTo>
                  <a:lnTo>
                    <a:pt x="294513" y="28790"/>
                  </a:lnTo>
                  <a:lnTo>
                    <a:pt x="304418" y="29743"/>
                  </a:lnTo>
                  <a:lnTo>
                    <a:pt x="343280" y="38862"/>
                  </a:lnTo>
                  <a:lnTo>
                    <a:pt x="381126" y="56311"/>
                  </a:lnTo>
                  <a:lnTo>
                    <a:pt x="416051" y="80899"/>
                  </a:lnTo>
                  <a:lnTo>
                    <a:pt x="446404" y="111163"/>
                  </a:lnTo>
                  <a:lnTo>
                    <a:pt x="471169" y="145910"/>
                  </a:lnTo>
                  <a:lnTo>
                    <a:pt x="488823" y="183832"/>
                  </a:lnTo>
                  <a:lnTo>
                    <a:pt x="498220" y="222846"/>
                  </a:lnTo>
                  <a:lnTo>
                    <a:pt x="499490" y="242506"/>
                  </a:lnTo>
                  <a:lnTo>
                    <a:pt x="499237" y="252171"/>
                  </a:lnTo>
                  <a:lnTo>
                    <a:pt x="492251" y="291553"/>
                  </a:lnTo>
                  <a:lnTo>
                    <a:pt x="471804" y="338785"/>
                  </a:lnTo>
                  <a:lnTo>
                    <a:pt x="447166" y="373710"/>
                  </a:lnTo>
                  <a:lnTo>
                    <a:pt x="416940" y="404101"/>
                  </a:lnTo>
                  <a:lnTo>
                    <a:pt x="382142" y="428840"/>
                  </a:lnTo>
                  <a:lnTo>
                    <a:pt x="344169" y="446582"/>
                  </a:lnTo>
                  <a:lnTo>
                    <a:pt x="305180" y="455930"/>
                  </a:lnTo>
                  <a:lnTo>
                    <a:pt x="276860" y="457415"/>
                  </a:lnTo>
                  <a:lnTo>
                    <a:pt x="270637" y="463981"/>
                  </a:lnTo>
                  <a:lnTo>
                    <a:pt x="271144" y="479755"/>
                  </a:lnTo>
                  <a:lnTo>
                    <a:pt x="277621" y="485978"/>
                  </a:lnTo>
                  <a:lnTo>
                    <a:pt x="296290" y="485482"/>
                  </a:lnTo>
                  <a:lnTo>
                    <a:pt x="342011" y="477393"/>
                  </a:lnTo>
                  <a:lnTo>
                    <a:pt x="395477" y="454126"/>
                  </a:lnTo>
                  <a:lnTo>
                    <a:pt x="434466" y="426669"/>
                  </a:lnTo>
                  <a:lnTo>
                    <a:pt x="468249" y="393052"/>
                  </a:lnTo>
                  <a:lnTo>
                    <a:pt x="495807" y="354253"/>
                  </a:lnTo>
                  <a:lnTo>
                    <a:pt x="515619" y="311797"/>
                  </a:lnTo>
                  <a:lnTo>
                    <a:pt x="526541" y="266484"/>
                  </a:lnTo>
                  <a:lnTo>
                    <a:pt x="528065" y="243268"/>
                  </a:lnTo>
                  <a:lnTo>
                    <a:pt x="527812" y="231838"/>
                  </a:lnTo>
                  <a:lnTo>
                    <a:pt x="519683" y="186093"/>
                  </a:lnTo>
                  <a:lnTo>
                    <a:pt x="496442" y="132600"/>
                  </a:lnTo>
                  <a:lnTo>
                    <a:pt x="469011" y="93624"/>
                  </a:lnTo>
                  <a:lnTo>
                    <a:pt x="435355" y="59880"/>
                  </a:lnTo>
                  <a:lnTo>
                    <a:pt x="396493" y="32270"/>
                  </a:lnTo>
                  <a:lnTo>
                    <a:pt x="389537" y="28575"/>
                  </a:lnTo>
                  <a:close/>
                </a:path>
                <a:path w="528320" h="486410">
                  <a:moveTo>
                    <a:pt x="49234" y="227667"/>
                  </a:moveTo>
                  <a:lnTo>
                    <a:pt x="56514" y="242951"/>
                  </a:lnTo>
                  <a:lnTo>
                    <a:pt x="65600" y="230009"/>
                  </a:lnTo>
                  <a:lnTo>
                    <a:pt x="64642" y="230009"/>
                  </a:lnTo>
                  <a:lnTo>
                    <a:pt x="49234" y="227667"/>
                  </a:lnTo>
                  <a:close/>
                </a:path>
                <a:path w="528320" h="486410">
                  <a:moveTo>
                    <a:pt x="55048" y="173206"/>
                  </a:moveTo>
                  <a:lnTo>
                    <a:pt x="44663" y="213690"/>
                  </a:lnTo>
                  <a:lnTo>
                    <a:pt x="44173" y="217042"/>
                  </a:lnTo>
                  <a:lnTo>
                    <a:pt x="49234" y="227667"/>
                  </a:lnTo>
                  <a:lnTo>
                    <a:pt x="64642" y="230009"/>
                  </a:lnTo>
                  <a:lnTo>
                    <a:pt x="66640" y="228527"/>
                  </a:lnTo>
                  <a:lnTo>
                    <a:pt x="72544" y="220117"/>
                  </a:lnTo>
                  <a:lnTo>
                    <a:pt x="73025" y="216839"/>
                  </a:lnTo>
                  <a:lnTo>
                    <a:pt x="73532" y="213690"/>
                  </a:lnTo>
                  <a:lnTo>
                    <a:pt x="74596" y="208546"/>
                  </a:lnTo>
                  <a:lnTo>
                    <a:pt x="71881" y="208546"/>
                  </a:lnTo>
                  <a:lnTo>
                    <a:pt x="47243" y="206489"/>
                  </a:lnTo>
                  <a:lnTo>
                    <a:pt x="61336" y="186407"/>
                  </a:lnTo>
                  <a:lnTo>
                    <a:pt x="55048" y="173206"/>
                  </a:lnTo>
                  <a:close/>
                </a:path>
                <a:path w="528320" h="486410">
                  <a:moveTo>
                    <a:pt x="66640" y="228527"/>
                  </a:moveTo>
                  <a:lnTo>
                    <a:pt x="64642" y="230009"/>
                  </a:lnTo>
                  <a:lnTo>
                    <a:pt x="65600" y="230009"/>
                  </a:lnTo>
                  <a:lnTo>
                    <a:pt x="66640" y="228527"/>
                  </a:lnTo>
                  <a:close/>
                </a:path>
                <a:path w="528320" h="486410">
                  <a:moveTo>
                    <a:pt x="72544" y="220117"/>
                  </a:moveTo>
                  <a:lnTo>
                    <a:pt x="66640" y="228527"/>
                  </a:lnTo>
                  <a:lnTo>
                    <a:pt x="71881" y="224637"/>
                  </a:lnTo>
                  <a:lnTo>
                    <a:pt x="72544" y="220117"/>
                  </a:lnTo>
                  <a:close/>
                </a:path>
                <a:path w="528320" h="486410">
                  <a:moveTo>
                    <a:pt x="44173" y="217042"/>
                  </a:moveTo>
                  <a:lnTo>
                    <a:pt x="43687" y="220357"/>
                  </a:lnTo>
                  <a:lnTo>
                    <a:pt x="49021" y="227634"/>
                  </a:lnTo>
                  <a:lnTo>
                    <a:pt x="49234" y="227667"/>
                  </a:lnTo>
                  <a:lnTo>
                    <a:pt x="44173" y="217042"/>
                  </a:lnTo>
                  <a:close/>
                </a:path>
                <a:path w="528320" h="486410">
                  <a:moveTo>
                    <a:pt x="118662" y="117950"/>
                  </a:moveTo>
                  <a:lnTo>
                    <a:pt x="88900" y="165633"/>
                  </a:lnTo>
                  <a:lnTo>
                    <a:pt x="75564" y="203860"/>
                  </a:lnTo>
                  <a:lnTo>
                    <a:pt x="72544" y="220117"/>
                  </a:lnTo>
                  <a:lnTo>
                    <a:pt x="127635" y="141643"/>
                  </a:lnTo>
                  <a:lnTo>
                    <a:pt x="132206" y="135178"/>
                  </a:lnTo>
                  <a:lnTo>
                    <a:pt x="130555" y="126276"/>
                  </a:lnTo>
                  <a:lnTo>
                    <a:pt x="118662" y="117950"/>
                  </a:lnTo>
                  <a:close/>
                </a:path>
                <a:path w="528320" h="486410">
                  <a:moveTo>
                    <a:pt x="17271" y="108813"/>
                  </a:moveTo>
                  <a:lnTo>
                    <a:pt x="3048" y="115595"/>
                  </a:lnTo>
                  <a:lnTo>
                    <a:pt x="0" y="124117"/>
                  </a:lnTo>
                  <a:lnTo>
                    <a:pt x="3301" y="131241"/>
                  </a:lnTo>
                  <a:lnTo>
                    <a:pt x="44173" y="217042"/>
                  </a:lnTo>
                  <a:lnTo>
                    <a:pt x="44830" y="212547"/>
                  </a:lnTo>
                  <a:lnTo>
                    <a:pt x="45592" y="207886"/>
                  </a:lnTo>
                  <a:lnTo>
                    <a:pt x="47878" y="196570"/>
                  </a:lnTo>
                  <a:lnTo>
                    <a:pt x="50926" y="185254"/>
                  </a:lnTo>
                  <a:lnTo>
                    <a:pt x="54737" y="173977"/>
                  </a:lnTo>
                  <a:lnTo>
                    <a:pt x="55048" y="173206"/>
                  </a:lnTo>
                  <a:lnTo>
                    <a:pt x="29124" y="118783"/>
                  </a:lnTo>
                  <a:lnTo>
                    <a:pt x="25780" y="111836"/>
                  </a:lnTo>
                  <a:lnTo>
                    <a:pt x="17271" y="108813"/>
                  </a:lnTo>
                  <a:close/>
                </a:path>
                <a:path w="528320" h="486410">
                  <a:moveTo>
                    <a:pt x="61336" y="186407"/>
                  </a:moveTo>
                  <a:lnTo>
                    <a:pt x="47243" y="206489"/>
                  </a:lnTo>
                  <a:lnTo>
                    <a:pt x="71881" y="208546"/>
                  </a:lnTo>
                  <a:lnTo>
                    <a:pt x="61336" y="186407"/>
                  </a:lnTo>
                  <a:close/>
                </a:path>
                <a:path w="528320" h="486410">
                  <a:moveTo>
                    <a:pt x="117601" y="117208"/>
                  </a:moveTo>
                  <a:lnTo>
                    <a:pt x="108712" y="118783"/>
                  </a:lnTo>
                  <a:lnTo>
                    <a:pt x="104266" y="125234"/>
                  </a:lnTo>
                  <a:lnTo>
                    <a:pt x="61336" y="186407"/>
                  </a:lnTo>
                  <a:lnTo>
                    <a:pt x="71881" y="208546"/>
                  </a:lnTo>
                  <a:lnTo>
                    <a:pt x="74596" y="208546"/>
                  </a:lnTo>
                  <a:lnTo>
                    <a:pt x="75564" y="203860"/>
                  </a:lnTo>
                  <a:lnTo>
                    <a:pt x="78104" y="194221"/>
                  </a:lnTo>
                  <a:lnTo>
                    <a:pt x="98551" y="146989"/>
                  </a:lnTo>
                  <a:lnTo>
                    <a:pt x="118662" y="117950"/>
                  </a:lnTo>
                  <a:lnTo>
                    <a:pt x="117601" y="117208"/>
                  </a:lnTo>
                  <a:close/>
                </a:path>
                <a:path w="528320" h="486410">
                  <a:moveTo>
                    <a:pt x="285623" y="0"/>
                  </a:moveTo>
                  <a:lnTo>
                    <a:pt x="239649" y="5435"/>
                  </a:lnTo>
                  <a:lnTo>
                    <a:pt x="195833" y="20675"/>
                  </a:lnTo>
                  <a:lnTo>
                    <a:pt x="154812" y="44462"/>
                  </a:lnTo>
                  <a:lnTo>
                    <a:pt x="118363" y="75209"/>
                  </a:lnTo>
                  <a:lnTo>
                    <a:pt x="87502" y="111531"/>
                  </a:lnTo>
                  <a:lnTo>
                    <a:pt x="63500" y="152311"/>
                  </a:lnTo>
                  <a:lnTo>
                    <a:pt x="55048" y="173206"/>
                  </a:lnTo>
                  <a:lnTo>
                    <a:pt x="61336" y="186407"/>
                  </a:lnTo>
                  <a:lnTo>
                    <a:pt x="104266" y="125234"/>
                  </a:lnTo>
                  <a:lnTo>
                    <a:pt x="108712" y="118783"/>
                  </a:lnTo>
                  <a:lnTo>
                    <a:pt x="117601" y="117208"/>
                  </a:lnTo>
                  <a:lnTo>
                    <a:pt x="119233" y="117208"/>
                  </a:lnTo>
                  <a:lnTo>
                    <a:pt x="123189" y="112064"/>
                  </a:lnTo>
                  <a:lnTo>
                    <a:pt x="137667" y="96240"/>
                  </a:lnTo>
                  <a:lnTo>
                    <a:pt x="170306" y="68503"/>
                  </a:lnTo>
                  <a:lnTo>
                    <a:pt x="206628" y="47142"/>
                  </a:lnTo>
                  <a:lnTo>
                    <a:pt x="245363" y="33426"/>
                  </a:lnTo>
                  <a:lnTo>
                    <a:pt x="284733" y="28575"/>
                  </a:lnTo>
                  <a:lnTo>
                    <a:pt x="389537" y="28575"/>
                  </a:lnTo>
                  <a:lnTo>
                    <a:pt x="375792" y="21272"/>
                  </a:lnTo>
                  <a:lnTo>
                    <a:pt x="331469" y="5613"/>
                  </a:lnTo>
                  <a:lnTo>
                    <a:pt x="297179" y="355"/>
                  </a:lnTo>
                  <a:lnTo>
                    <a:pt x="285623" y="0"/>
                  </a:lnTo>
                  <a:close/>
                </a:path>
                <a:path w="528320" h="486410">
                  <a:moveTo>
                    <a:pt x="119233" y="117208"/>
                  </a:moveTo>
                  <a:lnTo>
                    <a:pt x="117601" y="117208"/>
                  </a:lnTo>
                  <a:lnTo>
                    <a:pt x="118662" y="117950"/>
                  </a:lnTo>
                  <a:lnTo>
                    <a:pt x="119233" y="117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6029325" y="54864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0" y="152400"/>
                </a:moveTo>
                <a:lnTo>
                  <a:pt x="457200" y="152400"/>
                </a:lnTo>
                <a:lnTo>
                  <a:pt x="457200" y="0"/>
                </a:lnTo>
                <a:lnTo>
                  <a:pt x="762000" y="304800"/>
                </a:lnTo>
                <a:lnTo>
                  <a:pt x="457200" y="60960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7160768" y="4943475"/>
            <a:ext cx="1926589" cy="1443355"/>
            <a:chOff x="7160768" y="4943475"/>
            <a:chExt cx="1926589" cy="1443355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60768" y="5524754"/>
              <a:ext cx="1926081" cy="86184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568184" y="4943475"/>
              <a:ext cx="528320" cy="486409"/>
            </a:xfrm>
            <a:custGeom>
              <a:avLst/>
              <a:gdLst/>
              <a:ahLst/>
              <a:cxnLst/>
              <a:rect l="l" t="t" r="r" b="b"/>
              <a:pathLst>
                <a:path w="528320" h="486410">
                  <a:moveTo>
                    <a:pt x="389593" y="28575"/>
                  </a:moveTo>
                  <a:lnTo>
                    <a:pt x="284734" y="28575"/>
                  </a:lnTo>
                  <a:lnTo>
                    <a:pt x="294513" y="28829"/>
                  </a:lnTo>
                  <a:lnTo>
                    <a:pt x="304419" y="29718"/>
                  </a:lnTo>
                  <a:lnTo>
                    <a:pt x="343281" y="38862"/>
                  </a:lnTo>
                  <a:lnTo>
                    <a:pt x="381126" y="56261"/>
                  </a:lnTo>
                  <a:lnTo>
                    <a:pt x="416051" y="80899"/>
                  </a:lnTo>
                  <a:lnTo>
                    <a:pt x="446405" y="111125"/>
                  </a:lnTo>
                  <a:lnTo>
                    <a:pt x="471170" y="145923"/>
                  </a:lnTo>
                  <a:lnTo>
                    <a:pt x="488823" y="183895"/>
                  </a:lnTo>
                  <a:lnTo>
                    <a:pt x="498221" y="222885"/>
                  </a:lnTo>
                  <a:lnTo>
                    <a:pt x="499491" y="242443"/>
                  </a:lnTo>
                  <a:lnTo>
                    <a:pt x="499237" y="252222"/>
                  </a:lnTo>
                  <a:lnTo>
                    <a:pt x="492251" y="291591"/>
                  </a:lnTo>
                  <a:lnTo>
                    <a:pt x="471805" y="338836"/>
                  </a:lnTo>
                  <a:lnTo>
                    <a:pt x="447167" y="373761"/>
                  </a:lnTo>
                  <a:lnTo>
                    <a:pt x="416941" y="404113"/>
                  </a:lnTo>
                  <a:lnTo>
                    <a:pt x="382143" y="428878"/>
                  </a:lnTo>
                  <a:lnTo>
                    <a:pt x="344170" y="446531"/>
                  </a:lnTo>
                  <a:lnTo>
                    <a:pt x="305181" y="455930"/>
                  </a:lnTo>
                  <a:lnTo>
                    <a:pt x="276860" y="457453"/>
                  </a:lnTo>
                  <a:lnTo>
                    <a:pt x="270637" y="463931"/>
                  </a:lnTo>
                  <a:lnTo>
                    <a:pt x="271145" y="479806"/>
                  </a:lnTo>
                  <a:lnTo>
                    <a:pt x="277622" y="486028"/>
                  </a:lnTo>
                  <a:lnTo>
                    <a:pt x="296291" y="485521"/>
                  </a:lnTo>
                  <a:lnTo>
                    <a:pt x="342011" y="477393"/>
                  </a:lnTo>
                  <a:lnTo>
                    <a:pt x="395477" y="454152"/>
                  </a:lnTo>
                  <a:lnTo>
                    <a:pt x="434467" y="426719"/>
                  </a:lnTo>
                  <a:lnTo>
                    <a:pt x="468249" y="393065"/>
                  </a:lnTo>
                  <a:lnTo>
                    <a:pt x="495808" y="354203"/>
                  </a:lnTo>
                  <a:lnTo>
                    <a:pt x="515620" y="311784"/>
                  </a:lnTo>
                  <a:lnTo>
                    <a:pt x="526542" y="266445"/>
                  </a:lnTo>
                  <a:lnTo>
                    <a:pt x="528066" y="243331"/>
                  </a:lnTo>
                  <a:lnTo>
                    <a:pt x="527812" y="231775"/>
                  </a:lnTo>
                  <a:lnTo>
                    <a:pt x="519684" y="186055"/>
                  </a:lnTo>
                  <a:lnTo>
                    <a:pt x="496443" y="132587"/>
                  </a:lnTo>
                  <a:lnTo>
                    <a:pt x="469011" y="93599"/>
                  </a:lnTo>
                  <a:lnTo>
                    <a:pt x="435356" y="59817"/>
                  </a:lnTo>
                  <a:lnTo>
                    <a:pt x="396494" y="32257"/>
                  </a:lnTo>
                  <a:lnTo>
                    <a:pt x="389593" y="28575"/>
                  </a:lnTo>
                  <a:close/>
                </a:path>
                <a:path w="528320" h="486410">
                  <a:moveTo>
                    <a:pt x="49213" y="227615"/>
                  </a:moveTo>
                  <a:lnTo>
                    <a:pt x="56515" y="242950"/>
                  </a:lnTo>
                  <a:lnTo>
                    <a:pt x="65605" y="229997"/>
                  </a:lnTo>
                  <a:lnTo>
                    <a:pt x="64643" y="229997"/>
                  </a:lnTo>
                  <a:lnTo>
                    <a:pt x="56769" y="228854"/>
                  </a:lnTo>
                  <a:lnTo>
                    <a:pt x="49213" y="227615"/>
                  </a:lnTo>
                  <a:close/>
                </a:path>
                <a:path w="528320" h="486410">
                  <a:moveTo>
                    <a:pt x="55049" y="173215"/>
                  </a:moveTo>
                  <a:lnTo>
                    <a:pt x="44662" y="213741"/>
                  </a:lnTo>
                  <a:lnTo>
                    <a:pt x="44176" y="217036"/>
                  </a:lnTo>
                  <a:lnTo>
                    <a:pt x="49213" y="227615"/>
                  </a:lnTo>
                  <a:lnTo>
                    <a:pt x="56769" y="228854"/>
                  </a:lnTo>
                  <a:lnTo>
                    <a:pt x="64643" y="229997"/>
                  </a:lnTo>
                  <a:lnTo>
                    <a:pt x="66636" y="228528"/>
                  </a:lnTo>
                  <a:lnTo>
                    <a:pt x="72545" y="220091"/>
                  </a:lnTo>
                  <a:lnTo>
                    <a:pt x="73025" y="216788"/>
                  </a:lnTo>
                  <a:lnTo>
                    <a:pt x="73533" y="213741"/>
                  </a:lnTo>
                  <a:lnTo>
                    <a:pt x="74601" y="208533"/>
                  </a:lnTo>
                  <a:lnTo>
                    <a:pt x="71882" y="208533"/>
                  </a:lnTo>
                  <a:lnTo>
                    <a:pt x="47244" y="206501"/>
                  </a:lnTo>
                  <a:lnTo>
                    <a:pt x="61338" y="186411"/>
                  </a:lnTo>
                  <a:lnTo>
                    <a:pt x="55049" y="173215"/>
                  </a:lnTo>
                  <a:close/>
                </a:path>
                <a:path w="528320" h="486410">
                  <a:moveTo>
                    <a:pt x="66636" y="228528"/>
                  </a:moveTo>
                  <a:lnTo>
                    <a:pt x="64643" y="229997"/>
                  </a:lnTo>
                  <a:lnTo>
                    <a:pt x="65605" y="229997"/>
                  </a:lnTo>
                  <a:lnTo>
                    <a:pt x="66636" y="228528"/>
                  </a:lnTo>
                  <a:close/>
                </a:path>
                <a:path w="528320" h="486410">
                  <a:moveTo>
                    <a:pt x="72542" y="220111"/>
                  </a:moveTo>
                  <a:lnTo>
                    <a:pt x="66636" y="228528"/>
                  </a:lnTo>
                  <a:lnTo>
                    <a:pt x="71882" y="224662"/>
                  </a:lnTo>
                  <a:lnTo>
                    <a:pt x="72542" y="220111"/>
                  </a:lnTo>
                  <a:close/>
                </a:path>
                <a:path w="528320" h="486410">
                  <a:moveTo>
                    <a:pt x="44176" y="217036"/>
                  </a:moveTo>
                  <a:lnTo>
                    <a:pt x="43688" y="220344"/>
                  </a:lnTo>
                  <a:lnTo>
                    <a:pt x="49022" y="227583"/>
                  </a:lnTo>
                  <a:lnTo>
                    <a:pt x="49213" y="227615"/>
                  </a:lnTo>
                  <a:lnTo>
                    <a:pt x="44176" y="217036"/>
                  </a:lnTo>
                  <a:close/>
                </a:path>
                <a:path w="528320" h="486410">
                  <a:moveTo>
                    <a:pt x="118629" y="117946"/>
                  </a:moveTo>
                  <a:lnTo>
                    <a:pt x="88900" y="165607"/>
                  </a:lnTo>
                  <a:lnTo>
                    <a:pt x="75565" y="203835"/>
                  </a:lnTo>
                  <a:lnTo>
                    <a:pt x="72542" y="220111"/>
                  </a:lnTo>
                  <a:lnTo>
                    <a:pt x="132207" y="135127"/>
                  </a:lnTo>
                  <a:lnTo>
                    <a:pt x="130556" y="126237"/>
                  </a:lnTo>
                  <a:lnTo>
                    <a:pt x="124079" y="121793"/>
                  </a:lnTo>
                  <a:lnTo>
                    <a:pt x="118629" y="117946"/>
                  </a:lnTo>
                  <a:close/>
                </a:path>
                <a:path w="528320" h="486410">
                  <a:moveTo>
                    <a:pt x="17272" y="108838"/>
                  </a:moveTo>
                  <a:lnTo>
                    <a:pt x="10160" y="112141"/>
                  </a:lnTo>
                  <a:lnTo>
                    <a:pt x="3048" y="115569"/>
                  </a:lnTo>
                  <a:lnTo>
                    <a:pt x="0" y="124079"/>
                  </a:lnTo>
                  <a:lnTo>
                    <a:pt x="3301" y="131191"/>
                  </a:lnTo>
                  <a:lnTo>
                    <a:pt x="44176" y="217036"/>
                  </a:lnTo>
                  <a:lnTo>
                    <a:pt x="44831" y="212598"/>
                  </a:lnTo>
                  <a:lnTo>
                    <a:pt x="45593" y="207899"/>
                  </a:lnTo>
                  <a:lnTo>
                    <a:pt x="47879" y="196595"/>
                  </a:lnTo>
                  <a:lnTo>
                    <a:pt x="50926" y="185293"/>
                  </a:lnTo>
                  <a:lnTo>
                    <a:pt x="54737" y="173989"/>
                  </a:lnTo>
                  <a:lnTo>
                    <a:pt x="55049" y="173215"/>
                  </a:lnTo>
                  <a:lnTo>
                    <a:pt x="29087" y="118744"/>
                  </a:lnTo>
                  <a:lnTo>
                    <a:pt x="25781" y="111887"/>
                  </a:lnTo>
                  <a:lnTo>
                    <a:pt x="17272" y="108838"/>
                  </a:lnTo>
                  <a:close/>
                </a:path>
                <a:path w="528320" h="486410">
                  <a:moveTo>
                    <a:pt x="61338" y="186411"/>
                  </a:moveTo>
                  <a:lnTo>
                    <a:pt x="47244" y="206501"/>
                  </a:lnTo>
                  <a:lnTo>
                    <a:pt x="71882" y="208533"/>
                  </a:lnTo>
                  <a:lnTo>
                    <a:pt x="61338" y="186411"/>
                  </a:lnTo>
                  <a:close/>
                </a:path>
                <a:path w="528320" h="486410">
                  <a:moveTo>
                    <a:pt x="117601" y="117220"/>
                  </a:moveTo>
                  <a:lnTo>
                    <a:pt x="108712" y="118744"/>
                  </a:lnTo>
                  <a:lnTo>
                    <a:pt x="104267" y="125222"/>
                  </a:lnTo>
                  <a:lnTo>
                    <a:pt x="61338" y="186411"/>
                  </a:lnTo>
                  <a:lnTo>
                    <a:pt x="71882" y="208533"/>
                  </a:lnTo>
                  <a:lnTo>
                    <a:pt x="74601" y="208533"/>
                  </a:lnTo>
                  <a:lnTo>
                    <a:pt x="75565" y="203835"/>
                  </a:lnTo>
                  <a:lnTo>
                    <a:pt x="78105" y="194182"/>
                  </a:lnTo>
                  <a:lnTo>
                    <a:pt x="98551" y="146938"/>
                  </a:lnTo>
                  <a:lnTo>
                    <a:pt x="118629" y="117946"/>
                  </a:lnTo>
                  <a:lnTo>
                    <a:pt x="117601" y="117220"/>
                  </a:lnTo>
                  <a:close/>
                </a:path>
                <a:path w="528320" h="486410">
                  <a:moveTo>
                    <a:pt x="285623" y="0"/>
                  </a:moveTo>
                  <a:lnTo>
                    <a:pt x="239649" y="5461"/>
                  </a:lnTo>
                  <a:lnTo>
                    <a:pt x="195834" y="20700"/>
                  </a:lnTo>
                  <a:lnTo>
                    <a:pt x="154813" y="44450"/>
                  </a:lnTo>
                  <a:lnTo>
                    <a:pt x="118364" y="75183"/>
                  </a:lnTo>
                  <a:lnTo>
                    <a:pt x="87502" y="111506"/>
                  </a:lnTo>
                  <a:lnTo>
                    <a:pt x="63500" y="152273"/>
                  </a:lnTo>
                  <a:lnTo>
                    <a:pt x="55049" y="173215"/>
                  </a:lnTo>
                  <a:lnTo>
                    <a:pt x="61338" y="186411"/>
                  </a:lnTo>
                  <a:lnTo>
                    <a:pt x="104267" y="125222"/>
                  </a:lnTo>
                  <a:lnTo>
                    <a:pt x="108712" y="118744"/>
                  </a:lnTo>
                  <a:lnTo>
                    <a:pt x="117601" y="117220"/>
                  </a:lnTo>
                  <a:lnTo>
                    <a:pt x="119187" y="117220"/>
                  </a:lnTo>
                  <a:lnTo>
                    <a:pt x="123190" y="112013"/>
                  </a:lnTo>
                  <a:lnTo>
                    <a:pt x="137668" y="96266"/>
                  </a:lnTo>
                  <a:lnTo>
                    <a:pt x="170307" y="68452"/>
                  </a:lnTo>
                  <a:lnTo>
                    <a:pt x="206629" y="47117"/>
                  </a:lnTo>
                  <a:lnTo>
                    <a:pt x="245364" y="33400"/>
                  </a:lnTo>
                  <a:lnTo>
                    <a:pt x="284734" y="28575"/>
                  </a:lnTo>
                  <a:lnTo>
                    <a:pt x="389593" y="28575"/>
                  </a:lnTo>
                  <a:lnTo>
                    <a:pt x="375793" y="21208"/>
                  </a:lnTo>
                  <a:lnTo>
                    <a:pt x="331470" y="5587"/>
                  </a:lnTo>
                  <a:lnTo>
                    <a:pt x="297180" y="381"/>
                  </a:lnTo>
                  <a:lnTo>
                    <a:pt x="285623" y="0"/>
                  </a:lnTo>
                  <a:close/>
                </a:path>
                <a:path w="528320" h="486410">
                  <a:moveTo>
                    <a:pt x="119187" y="117220"/>
                  </a:moveTo>
                  <a:lnTo>
                    <a:pt x="117601" y="117220"/>
                  </a:lnTo>
                  <a:lnTo>
                    <a:pt x="118629" y="117946"/>
                  </a:lnTo>
                  <a:lnTo>
                    <a:pt x="119187" y="1172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50" y="5153025"/>
              <a:ext cx="566737" cy="56673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96150" y="5105400"/>
              <a:ext cx="633412" cy="73818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391400" y="5181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38530" y="2347096"/>
            <a:ext cx="6786880" cy="32569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07975" indent="-276860">
              <a:lnSpc>
                <a:spcPct val="100000"/>
              </a:lnSpc>
              <a:spcBef>
                <a:spcPts val="59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5" dirty="0">
                <a:latin typeface="Calibri"/>
                <a:cs typeface="Calibri"/>
              </a:rPr>
              <a:t>With </a:t>
            </a:r>
            <a:r>
              <a:rPr sz="2750" spc="-10" dirty="0">
                <a:latin typeface="Calibri"/>
                <a:cs typeface="Calibri"/>
              </a:rPr>
              <a:t>prob. </a:t>
            </a:r>
            <a:r>
              <a:rPr sz="2900" b="1" i="1" spc="70" dirty="0">
                <a:latin typeface="Symbol"/>
                <a:cs typeface="Symbol"/>
              </a:rPr>
              <a:t></a:t>
            </a:r>
            <a:r>
              <a:rPr sz="2750" spc="70" dirty="0">
                <a:latin typeface="Calibri"/>
                <a:cs typeface="Calibri"/>
              </a:rPr>
              <a:t>, </a:t>
            </a:r>
            <a:r>
              <a:rPr sz="2750" spc="-10" dirty="0">
                <a:latin typeface="Calibri"/>
                <a:cs typeface="Calibri"/>
              </a:rPr>
              <a:t>follow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-20" dirty="0">
                <a:latin typeface="Calibri"/>
                <a:cs typeface="Calibri"/>
              </a:rPr>
              <a:t>link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2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random</a:t>
            </a:r>
            <a:endParaRPr sz="275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50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5" dirty="0">
                <a:latin typeface="Calibri"/>
                <a:cs typeface="Calibri"/>
              </a:rPr>
              <a:t>With </a:t>
            </a:r>
            <a:r>
              <a:rPr sz="2750" spc="-10" dirty="0">
                <a:latin typeface="Calibri"/>
                <a:cs typeface="Calibri"/>
              </a:rPr>
              <a:t>prob. </a:t>
            </a:r>
            <a:r>
              <a:rPr sz="2750" b="1" spc="35" dirty="0">
                <a:latin typeface="Calibri"/>
                <a:cs typeface="Calibri"/>
              </a:rPr>
              <a:t>1-</a:t>
            </a:r>
            <a:r>
              <a:rPr sz="2900" b="1" i="1" spc="35" dirty="0">
                <a:latin typeface="Symbol"/>
                <a:cs typeface="Symbol"/>
              </a:rPr>
              <a:t></a:t>
            </a:r>
            <a:r>
              <a:rPr sz="2750" spc="35" dirty="0">
                <a:latin typeface="Calibri"/>
                <a:cs typeface="Calibri"/>
              </a:rPr>
              <a:t>, </a:t>
            </a:r>
            <a:r>
              <a:rPr sz="2750" spc="10" dirty="0">
                <a:latin typeface="Calibri"/>
                <a:cs typeface="Calibri"/>
              </a:rPr>
              <a:t>jump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spc="20" dirty="0">
                <a:latin typeface="Calibri"/>
                <a:cs typeface="Calibri"/>
              </a:rPr>
              <a:t>some </a:t>
            </a:r>
            <a:r>
              <a:rPr sz="2750" dirty="0">
                <a:latin typeface="Calibri"/>
                <a:cs typeface="Calibri"/>
              </a:rPr>
              <a:t>random</a:t>
            </a:r>
            <a:r>
              <a:rPr sz="2750" spc="254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page</a:t>
            </a:r>
            <a:endParaRPr sz="2750">
              <a:latin typeface="Calibri"/>
              <a:cs typeface="Calibri"/>
            </a:endParaRPr>
          </a:p>
          <a:p>
            <a:pPr marL="12700" marR="542290" indent="19050">
              <a:lnSpc>
                <a:spcPct val="99600"/>
              </a:lnSpc>
              <a:spcBef>
                <a:spcPts val="595"/>
              </a:spcBef>
              <a:buClr>
                <a:srgbClr val="5FB5CC"/>
              </a:buClr>
              <a:buSzPct val="94827"/>
              <a:buFont typeface="Wingdings"/>
              <a:buChar char=""/>
              <a:tabLst>
                <a:tab pos="308610" algn="l"/>
              </a:tabLst>
            </a:pPr>
            <a:r>
              <a:rPr sz="2900" b="1" i="1" spc="-70" dirty="0">
                <a:latin typeface="Symbol"/>
                <a:cs typeface="Symbol"/>
              </a:rPr>
              <a:t></a:t>
            </a:r>
            <a:r>
              <a:rPr sz="2900" b="1" i="1" spc="-70" dirty="0">
                <a:latin typeface="Times New Roman"/>
                <a:cs typeface="Times New Roman"/>
              </a:rPr>
              <a:t>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-5" dirty="0">
                <a:latin typeface="Calibri"/>
                <a:cs typeface="Calibri"/>
              </a:rPr>
              <a:t>typically </a:t>
            </a:r>
            <a:r>
              <a:rPr sz="2750" spc="-10" dirty="0">
                <a:latin typeface="Calibri"/>
                <a:cs typeface="Calibri"/>
              </a:rPr>
              <a:t>in </a:t>
            </a:r>
            <a:r>
              <a:rPr sz="2750" spc="-15" dirty="0">
                <a:latin typeface="Calibri"/>
                <a:cs typeface="Calibri"/>
              </a:rPr>
              <a:t>the range </a:t>
            </a:r>
            <a:r>
              <a:rPr sz="2750" spc="5" dirty="0">
                <a:latin typeface="Calibri"/>
                <a:cs typeface="Calibri"/>
              </a:rPr>
              <a:t>0.8 </a:t>
            </a:r>
            <a:r>
              <a:rPr sz="2750" spc="-10" dirty="0">
                <a:latin typeface="Calibri"/>
                <a:cs typeface="Calibri"/>
              </a:rPr>
              <a:t>to </a:t>
            </a:r>
            <a:r>
              <a:rPr sz="2750" spc="5" dirty="0">
                <a:latin typeface="Calibri"/>
                <a:cs typeface="Calibri"/>
              </a:rPr>
              <a:t>0.9  </a:t>
            </a:r>
            <a:r>
              <a:rPr sz="3200" b="1" spc="-5" dirty="0">
                <a:solidFill>
                  <a:srgbClr val="0000FF"/>
                </a:solidFill>
                <a:latin typeface="Calibri"/>
                <a:cs typeface="Calibri"/>
              </a:rPr>
              <a:t>Surfer </a:t>
            </a:r>
            <a:r>
              <a:rPr sz="3200" b="1" spc="20" dirty="0">
                <a:solidFill>
                  <a:srgbClr val="0000FF"/>
                </a:solidFill>
                <a:latin typeface="Calibri"/>
                <a:cs typeface="Calibri"/>
              </a:rPr>
              <a:t>will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teleport out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spider</a:t>
            </a:r>
            <a:r>
              <a:rPr sz="3200" b="1" spc="-4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0000FF"/>
                </a:solidFill>
                <a:latin typeface="Calibri"/>
                <a:cs typeface="Calibri"/>
              </a:rPr>
              <a:t>trap  </a:t>
            </a:r>
            <a:r>
              <a:rPr sz="3200" b="1" spc="20" dirty="0">
                <a:solidFill>
                  <a:srgbClr val="0000FF"/>
                </a:solidFill>
                <a:latin typeface="Calibri"/>
                <a:cs typeface="Calibri"/>
              </a:rPr>
              <a:t>within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few </a:t>
            </a:r>
            <a:r>
              <a:rPr sz="3200" b="1" spc="20" dirty="0">
                <a:solidFill>
                  <a:srgbClr val="0000FF"/>
                </a:solidFill>
                <a:latin typeface="Calibri"/>
                <a:cs typeface="Calibri"/>
              </a:rPr>
              <a:t>time</a:t>
            </a:r>
            <a:r>
              <a:rPr sz="3200" b="1" spc="-409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steps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50">
              <a:latin typeface="Calibri"/>
              <a:cs typeface="Calibri"/>
            </a:endParaRPr>
          </a:p>
          <a:p>
            <a:pPr marL="3243580">
              <a:lnSpc>
                <a:spcPct val="100000"/>
              </a:lnSpc>
              <a:tabLst>
                <a:tab pos="660400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	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991350" y="5943600"/>
            <a:ext cx="643255" cy="738505"/>
            <a:chOff x="6991350" y="5943600"/>
            <a:chExt cx="643255" cy="738505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29450" y="5991225"/>
              <a:ext cx="566737" cy="56673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91350" y="5943600"/>
              <a:ext cx="642937" cy="73818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086600" y="6019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4"/>
                  </a:lnTo>
                  <a:lnTo>
                    <a:pt x="100793" y="39041"/>
                  </a:lnTo>
                  <a:lnTo>
                    <a:pt x="66960" y="66955"/>
                  </a:lnTo>
                  <a:lnTo>
                    <a:pt x="39045" y="100788"/>
                  </a:lnTo>
                  <a:lnTo>
                    <a:pt x="17966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6" y="317580"/>
                  </a:lnTo>
                  <a:lnTo>
                    <a:pt x="39045" y="356411"/>
                  </a:lnTo>
                  <a:lnTo>
                    <a:pt x="66960" y="390244"/>
                  </a:lnTo>
                  <a:lnTo>
                    <a:pt x="100793" y="418158"/>
                  </a:lnTo>
                  <a:lnTo>
                    <a:pt x="139624" y="439235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5"/>
                  </a:lnTo>
                  <a:lnTo>
                    <a:pt x="356406" y="418158"/>
                  </a:lnTo>
                  <a:lnTo>
                    <a:pt x="390239" y="390244"/>
                  </a:lnTo>
                  <a:lnTo>
                    <a:pt x="418154" y="356411"/>
                  </a:lnTo>
                  <a:lnTo>
                    <a:pt x="439233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3" y="139619"/>
                  </a:lnTo>
                  <a:lnTo>
                    <a:pt x="418154" y="100788"/>
                  </a:lnTo>
                  <a:lnTo>
                    <a:pt x="390239" y="66955"/>
                  </a:lnTo>
                  <a:lnTo>
                    <a:pt x="356406" y="39041"/>
                  </a:lnTo>
                  <a:lnTo>
                    <a:pt x="317575" y="17964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864228" y="6051867"/>
            <a:ext cx="3556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7312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	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239125" y="6019800"/>
            <a:ext cx="738505" cy="738505"/>
            <a:chOff x="8239125" y="6019800"/>
            <a:chExt cx="738505" cy="738505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24850" y="6067425"/>
              <a:ext cx="566737" cy="56673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39125" y="6019800"/>
              <a:ext cx="738187" cy="73818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382000" y="609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4"/>
                  </a:lnTo>
                  <a:lnTo>
                    <a:pt x="100793" y="39041"/>
                  </a:lnTo>
                  <a:lnTo>
                    <a:pt x="66960" y="66955"/>
                  </a:lnTo>
                  <a:lnTo>
                    <a:pt x="39045" y="100788"/>
                  </a:lnTo>
                  <a:lnTo>
                    <a:pt x="17966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6" y="317580"/>
                  </a:lnTo>
                  <a:lnTo>
                    <a:pt x="39045" y="356411"/>
                  </a:lnTo>
                  <a:lnTo>
                    <a:pt x="66960" y="390244"/>
                  </a:lnTo>
                  <a:lnTo>
                    <a:pt x="100793" y="418158"/>
                  </a:lnTo>
                  <a:lnTo>
                    <a:pt x="139624" y="439235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5"/>
                  </a:lnTo>
                  <a:lnTo>
                    <a:pt x="356406" y="418158"/>
                  </a:lnTo>
                  <a:lnTo>
                    <a:pt x="390239" y="390244"/>
                  </a:lnTo>
                  <a:lnTo>
                    <a:pt x="418154" y="356411"/>
                  </a:lnTo>
                  <a:lnTo>
                    <a:pt x="439233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3" y="139619"/>
                  </a:lnTo>
                  <a:lnTo>
                    <a:pt x="418154" y="100788"/>
                  </a:lnTo>
                  <a:lnTo>
                    <a:pt x="390239" y="66955"/>
                  </a:lnTo>
                  <a:lnTo>
                    <a:pt x="356406" y="39041"/>
                  </a:lnTo>
                  <a:lnTo>
                    <a:pt x="317575" y="17964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110226" y="6128067"/>
            <a:ext cx="3657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73120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	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4967351" cy="4524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277876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dirty="0">
                <a:solidFill>
                  <a:srgbClr val="008000"/>
                </a:solidFill>
                <a:latin typeface="Calibri"/>
                <a:cs typeface="Calibri"/>
              </a:rPr>
              <a:t>Power</a:t>
            </a:r>
            <a:r>
              <a:rPr b="1" spc="-1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8000"/>
                </a:solidFill>
                <a:latin typeface="Calibri"/>
                <a:cs typeface="Calibri"/>
              </a:rPr>
              <a:t>Iteration: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2180" y="1948180"/>
            <a:ext cx="22326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4325" indent="-276860">
              <a:lnSpc>
                <a:spcPct val="100000"/>
              </a:lnSpc>
              <a:spcBef>
                <a:spcPts val="130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spc="-5" dirty="0">
                <a:latin typeface="Calibri"/>
                <a:cs typeface="Calibri"/>
              </a:rPr>
              <a:t>Set </a:t>
            </a:r>
            <a:r>
              <a:rPr sz="2750" spc="-130" dirty="0">
                <a:latin typeface="Cambria Math"/>
                <a:cs typeface="Cambria Math"/>
              </a:rPr>
              <a:t>𝑟</a:t>
            </a:r>
            <a:r>
              <a:rPr sz="3000" spc="-195" baseline="-16666" dirty="0">
                <a:latin typeface="Cambria Math"/>
                <a:cs typeface="Cambria Math"/>
              </a:rPr>
              <a:t>𝑗 </a:t>
            </a:r>
            <a:r>
              <a:rPr sz="2750" spc="20" dirty="0">
                <a:latin typeface="Cambria Math"/>
                <a:cs typeface="Cambria Math"/>
              </a:rPr>
              <a:t>=</a:t>
            </a:r>
            <a:r>
              <a:rPr sz="2750" spc="204" dirty="0">
                <a:latin typeface="Cambria Math"/>
                <a:cs typeface="Cambria Math"/>
              </a:rPr>
              <a:t> </a:t>
            </a:r>
            <a:r>
              <a:rPr sz="2750" spc="20" dirty="0">
                <a:latin typeface="Cambria Math"/>
                <a:cs typeface="Cambria Math"/>
              </a:rPr>
              <a:t>1/𝑁</a:t>
            </a:r>
            <a:endParaRPr sz="27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580" y="2578036"/>
            <a:ext cx="125730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125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spc="10" dirty="0">
                <a:latin typeface="Cambria Math"/>
                <a:cs typeface="Cambria Math"/>
              </a:rPr>
              <a:t>𝑟 </a:t>
            </a:r>
            <a:r>
              <a:rPr sz="2750" spc="20" dirty="0">
                <a:latin typeface="Cambria Math"/>
                <a:cs typeface="Cambria Math"/>
              </a:rPr>
              <a:t>=</a:t>
            </a:r>
            <a:r>
              <a:rPr sz="2750" spc="225" dirty="0">
                <a:latin typeface="Cambria Math"/>
                <a:cs typeface="Cambria Math"/>
              </a:rPr>
              <a:t> </a:t>
            </a:r>
            <a:r>
              <a:rPr sz="4125" spc="592" baseline="1010" dirty="0">
                <a:latin typeface="Cambria Math"/>
                <a:cs typeface="Cambria Math"/>
              </a:rPr>
              <a:t>σ</a:t>
            </a:r>
            <a:endParaRPr sz="4125" baseline="101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12339" y="2834639"/>
            <a:ext cx="257175" cy="19050"/>
          </a:xfrm>
          <a:custGeom>
            <a:avLst/>
            <a:gdLst/>
            <a:ahLst/>
            <a:cxnLst/>
            <a:rect l="l" t="t" r="r" b="b"/>
            <a:pathLst>
              <a:path w="257175" h="19050">
                <a:moveTo>
                  <a:pt x="257175" y="0"/>
                </a:moveTo>
                <a:lnTo>
                  <a:pt x="0" y="0"/>
                </a:lnTo>
                <a:lnTo>
                  <a:pt x="0" y="19050"/>
                </a:lnTo>
                <a:lnTo>
                  <a:pt x="257175" y="19050"/>
                </a:lnTo>
                <a:lnTo>
                  <a:pt x="257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86685" y="2463482"/>
            <a:ext cx="2889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95" dirty="0">
                <a:latin typeface="Cambria Math"/>
                <a:cs typeface="Cambria Math"/>
              </a:rPr>
              <a:t>𝑟</a:t>
            </a:r>
            <a:r>
              <a:rPr sz="2475" spc="142" baseline="-15151" dirty="0">
                <a:latin typeface="Cambria Math"/>
                <a:cs typeface="Cambria Math"/>
              </a:rPr>
              <a:t>𝑖</a:t>
            </a:r>
            <a:endParaRPr sz="2475" baseline="-15151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3433" y="2759011"/>
            <a:ext cx="169354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886460" algn="l"/>
              </a:tabLst>
            </a:pPr>
            <a:r>
              <a:rPr sz="3000" spc="345" baseline="1388" dirty="0">
                <a:latin typeface="Cambria Math"/>
                <a:cs typeface="Cambria Math"/>
              </a:rPr>
              <a:t>𝑗	</a:t>
            </a:r>
            <a:r>
              <a:rPr sz="2000" spc="155" dirty="0">
                <a:latin typeface="Cambria Math"/>
                <a:cs typeface="Cambria Math"/>
              </a:rPr>
              <a:t>𝑖→𝑗</a:t>
            </a:r>
            <a:r>
              <a:rPr sz="2000" spc="60" dirty="0">
                <a:latin typeface="Cambria Math"/>
                <a:cs typeface="Cambria Math"/>
              </a:rPr>
              <a:t> </a:t>
            </a:r>
            <a:r>
              <a:rPr sz="3000" spc="150" baseline="-20833" dirty="0">
                <a:latin typeface="Cambria Math"/>
                <a:cs typeface="Cambria Math"/>
              </a:rPr>
              <a:t>𝑑</a:t>
            </a:r>
            <a:r>
              <a:rPr sz="2475" spc="150" baseline="-40404" dirty="0">
                <a:latin typeface="Cambria Math"/>
                <a:cs typeface="Cambria Math"/>
              </a:rPr>
              <a:t>𝑖</a:t>
            </a:r>
            <a:endParaRPr sz="2475" baseline="-40404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2286" y="3226180"/>
            <a:ext cx="163385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Clr>
                <a:srgbClr val="E66C7C"/>
              </a:buClr>
              <a:buFont typeface="Wingdings"/>
              <a:buChar char=""/>
              <a:tabLst>
                <a:tab pos="241935" algn="l"/>
              </a:tabLst>
            </a:pPr>
            <a:r>
              <a:rPr sz="2400" spc="10" dirty="0">
                <a:latin typeface="Calibri"/>
                <a:cs typeface="Calibri"/>
              </a:rPr>
              <a:t>And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iterate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183697"/>
            <a:ext cx="323850" cy="40036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38530" y="4066222"/>
            <a:ext cx="158686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19480" y="4712855"/>
          <a:ext cx="6186801" cy="11448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1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6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95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0963">
                <a:tc>
                  <a:txBody>
                    <a:bodyPr/>
                    <a:lstStyle/>
                    <a:p>
                      <a:pPr marL="31750">
                        <a:lnSpc>
                          <a:spcPts val="2620"/>
                        </a:lnSpc>
                      </a:pPr>
                      <a:r>
                        <a:rPr sz="24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spc="22" baseline="-19713" dirty="0">
                          <a:latin typeface="Times New Roman"/>
                          <a:cs typeface="Times New Roman"/>
                        </a:rPr>
                        <a:t>y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0" algn="r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2/6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3/12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5/24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808">
                <a:tc>
                  <a:txBody>
                    <a:bodyPr/>
                    <a:lstStyle/>
                    <a:p>
                      <a:pPr marL="31750">
                        <a:lnSpc>
                          <a:spcPts val="2695"/>
                        </a:lnSpc>
                      </a:pPr>
                      <a:r>
                        <a:rPr sz="24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spc="22" baseline="-19713" dirty="0">
                          <a:latin typeface="Times New Roman"/>
                          <a:cs typeface="Times New Roman"/>
                        </a:rPr>
                        <a:t>a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0" algn="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2/12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3/24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086">
                <a:tc>
                  <a:txBody>
                    <a:bodyPr/>
                    <a:lstStyle/>
                    <a:p>
                      <a:pPr marL="31750">
                        <a:lnSpc>
                          <a:spcPts val="2545"/>
                        </a:lnSpc>
                      </a:pPr>
                      <a:r>
                        <a:rPr sz="2400" spc="2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325" spc="30" baseline="-19713" dirty="0">
                          <a:latin typeface="Times New Roman"/>
                          <a:cs typeface="Times New Roman"/>
                        </a:rPr>
                        <a:t>m</a:t>
                      </a:r>
                      <a:endParaRPr sz="2325" baseline="-1971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0" algn="r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2/24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833437" y="4719701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200" y="1142936"/>
                </a:moveTo>
                <a:lnTo>
                  <a:pt x="46537" y="1136948"/>
                </a:lnTo>
                <a:lnTo>
                  <a:pt x="22317" y="1120619"/>
                </a:lnTo>
                <a:lnTo>
                  <a:pt x="5987" y="1096398"/>
                </a:lnTo>
                <a:lnTo>
                  <a:pt x="0" y="1066736"/>
                </a:lnTo>
                <a:lnTo>
                  <a:pt x="0" y="76200"/>
                </a:lnTo>
                <a:lnTo>
                  <a:pt x="5987" y="46505"/>
                </a:lnTo>
                <a:lnTo>
                  <a:pt x="22317" y="22288"/>
                </a:lnTo>
                <a:lnTo>
                  <a:pt x="46537" y="5976"/>
                </a:lnTo>
                <a:lnTo>
                  <a:pt x="76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14437" y="4719701"/>
            <a:ext cx="76835" cy="1143000"/>
          </a:xfrm>
          <a:custGeom>
            <a:avLst/>
            <a:gdLst/>
            <a:ahLst/>
            <a:cxnLst/>
            <a:rect l="l" t="t" r="r" b="b"/>
            <a:pathLst>
              <a:path w="76834" h="1143000">
                <a:moveTo>
                  <a:pt x="0" y="0"/>
                </a:moveTo>
                <a:lnTo>
                  <a:pt x="29671" y="5976"/>
                </a:lnTo>
                <a:lnTo>
                  <a:pt x="53914" y="22288"/>
                </a:lnTo>
                <a:lnTo>
                  <a:pt x="70265" y="46505"/>
                </a:lnTo>
                <a:lnTo>
                  <a:pt x="76263" y="76200"/>
                </a:lnTo>
                <a:lnTo>
                  <a:pt x="76263" y="1066736"/>
                </a:lnTo>
                <a:lnTo>
                  <a:pt x="70265" y="1096398"/>
                </a:lnTo>
                <a:lnTo>
                  <a:pt x="53914" y="1120619"/>
                </a:lnTo>
                <a:lnTo>
                  <a:pt x="29671" y="1136948"/>
                </a:lnTo>
                <a:lnTo>
                  <a:pt x="0" y="11429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86765" y="5762476"/>
            <a:ext cx="7367905" cy="90043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593215">
              <a:lnSpc>
                <a:spcPct val="100000"/>
              </a:lnSpc>
              <a:spcBef>
                <a:spcPts val="1175"/>
              </a:spcBef>
            </a:pP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Iteration 0, 1, 2,</a:t>
            </a:r>
            <a:r>
              <a:rPr sz="1800" spc="15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000" dirty="0">
                <a:latin typeface="Corbel"/>
                <a:cs typeface="Corbel"/>
              </a:rPr>
              <a:t>Here </a:t>
            </a:r>
            <a:r>
              <a:rPr sz="2000" spc="-10" dirty="0">
                <a:latin typeface="Corbel"/>
                <a:cs typeface="Corbel"/>
              </a:rPr>
              <a:t>the PageRank </a:t>
            </a:r>
            <a:r>
              <a:rPr sz="2000" spc="5" dirty="0">
                <a:latin typeface="Corbel"/>
                <a:cs typeface="Corbel"/>
              </a:rPr>
              <a:t>score </a:t>
            </a:r>
            <a:r>
              <a:rPr sz="2000" dirty="0">
                <a:latin typeface="Corbel"/>
                <a:cs typeface="Corbel"/>
              </a:rPr>
              <a:t>“leaks” out since </a:t>
            </a:r>
            <a:r>
              <a:rPr sz="2000" spc="-10" dirty="0">
                <a:latin typeface="Corbel"/>
                <a:cs typeface="Corbel"/>
              </a:rPr>
              <a:t>the </a:t>
            </a:r>
            <a:r>
              <a:rPr sz="2000" spc="-5" dirty="0">
                <a:latin typeface="Corbel"/>
                <a:cs typeface="Corbel"/>
              </a:rPr>
              <a:t>matrix is </a:t>
            </a:r>
            <a:r>
              <a:rPr sz="2000" spc="-10" dirty="0">
                <a:latin typeface="Corbel"/>
                <a:cs typeface="Corbel"/>
              </a:rPr>
              <a:t>not</a:t>
            </a:r>
            <a:r>
              <a:rPr sz="2000" spc="2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stochastic.</a:t>
            </a:r>
            <a:endParaRPr sz="2000">
              <a:latin typeface="Corbel"/>
              <a:cs typeface="Corbe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960492" y="1200150"/>
            <a:ext cx="1226820" cy="1443355"/>
            <a:chOff x="4960492" y="1200150"/>
            <a:chExt cx="1226820" cy="1443355"/>
          </a:xfrm>
        </p:grpSpPr>
        <p:sp>
          <p:nvSpPr>
            <p:cNvPr id="18" name="object 18"/>
            <p:cNvSpPr/>
            <p:nvPr/>
          </p:nvSpPr>
          <p:spPr>
            <a:xfrm>
              <a:off x="4960493" y="1200149"/>
              <a:ext cx="935990" cy="1193165"/>
            </a:xfrm>
            <a:custGeom>
              <a:avLst/>
              <a:gdLst/>
              <a:ahLst/>
              <a:cxnLst/>
              <a:rect l="l" t="t" r="r" b="b"/>
              <a:pathLst>
                <a:path w="935989" h="1193164">
                  <a:moveTo>
                    <a:pt x="273596" y="1091539"/>
                  </a:moveTo>
                  <a:lnTo>
                    <a:pt x="271653" y="1094867"/>
                  </a:lnTo>
                  <a:lnTo>
                    <a:pt x="273532" y="1102525"/>
                  </a:lnTo>
                  <a:lnTo>
                    <a:pt x="273596" y="1091539"/>
                  </a:lnTo>
                  <a:close/>
                </a:path>
                <a:path w="935989" h="1193164">
                  <a:moveTo>
                    <a:pt x="322961" y="686816"/>
                  </a:moveTo>
                  <a:lnTo>
                    <a:pt x="321068" y="679170"/>
                  </a:lnTo>
                  <a:lnTo>
                    <a:pt x="321132" y="670052"/>
                  </a:lnTo>
                  <a:lnTo>
                    <a:pt x="321183" y="661924"/>
                  </a:lnTo>
                  <a:lnTo>
                    <a:pt x="306095" y="670331"/>
                  </a:lnTo>
                  <a:lnTo>
                    <a:pt x="298450" y="672211"/>
                  </a:lnTo>
                  <a:lnTo>
                    <a:pt x="296341" y="675754"/>
                  </a:lnTo>
                  <a:lnTo>
                    <a:pt x="213106" y="722122"/>
                  </a:lnTo>
                  <a:lnTo>
                    <a:pt x="206121" y="725932"/>
                  </a:lnTo>
                  <a:lnTo>
                    <a:pt x="203708" y="734695"/>
                  </a:lnTo>
                  <a:lnTo>
                    <a:pt x="207518" y="741553"/>
                  </a:lnTo>
                  <a:lnTo>
                    <a:pt x="211328" y="748538"/>
                  </a:lnTo>
                  <a:lnTo>
                    <a:pt x="220091" y="750951"/>
                  </a:lnTo>
                  <a:lnTo>
                    <a:pt x="267487" y="724522"/>
                  </a:lnTo>
                  <a:lnTo>
                    <a:pt x="4064" y="1169670"/>
                  </a:lnTo>
                  <a:lnTo>
                    <a:pt x="0" y="1176401"/>
                  </a:lnTo>
                  <a:lnTo>
                    <a:pt x="2286" y="1185164"/>
                  </a:lnTo>
                  <a:lnTo>
                    <a:pt x="9017" y="1189228"/>
                  </a:lnTo>
                  <a:lnTo>
                    <a:pt x="15875" y="1193165"/>
                  </a:lnTo>
                  <a:lnTo>
                    <a:pt x="24638" y="1191006"/>
                  </a:lnTo>
                  <a:lnTo>
                    <a:pt x="28575" y="1184148"/>
                  </a:lnTo>
                  <a:lnTo>
                    <a:pt x="292138" y="738962"/>
                  </a:lnTo>
                  <a:lnTo>
                    <a:pt x="291846" y="785495"/>
                  </a:lnTo>
                  <a:lnTo>
                    <a:pt x="291833" y="793496"/>
                  </a:lnTo>
                  <a:lnTo>
                    <a:pt x="298069" y="799846"/>
                  </a:lnTo>
                  <a:lnTo>
                    <a:pt x="305943" y="799846"/>
                  </a:lnTo>
                  <a:lnTo>
                    <a:pt x="313817" y="799973"/>
                  </a:lnTo>
                  <a:lnTo>
                    <a:pt x="320294" y="793496"/>
                  </a:lnTo>
                  <a:lnTo>
                    <a:pt x="320421" y="785495"/>
                  </a:lnTo>
                  <a:lnTo>
                    <a:pt x="321005" y="690156"/>
                  </a:lnTo>
                  <a:lnTo>
                    <a:pt x="322961" y="686816"/>
                  </a:lnTo>
                  <a:close/>
                </a:path>
                <a:path w="935989" h="1193164">
                  <a:moveTo>
                    <a:pt x="479958" y="220116"/>
                  </a:moveTo>
                  <a:lnTo>
                    <a:pt x="474040" y="228536"/>
                  </a:lnTo>
                  <a:lnTo>
                    <a:pt x="479298" y="224663"/>
                  </a:lnTo>
                  <a:lnTo>
                    <a:pt x="479958" y="220116"/>
                  </a:lnTo>
                  <a:close/>
                </a:path>
                <a:path w="935989" h="1193164">
                  <a:moveTo>
                    <a:pt x="594614" y="605282"/>
                  </a:moveTo>
                  <a:lnTo>
                    <a:pt x="592328" y="596519"/>
                  </a:lnTo>
                  <a:lnTo>
                    <a:pt x="578739" y="588518"/>
                  </a:lnTo>
                  <a:lnTo>
                    <a:pt x="569976" y="590804"/>
                  </a:lnTo>
                  <a:lnTo>
                    <a:pt x="566039" y="597535"/>
                  </a:lnTo>
                  <a:lnTo>
                    <a:pt x="302463" y="1042733"/>
                  </a:lnTo>
                  <a:lnTo>
                    <a:pt x="302768" y="996315"/>
                  </a:lnTo>
                  <a:lnTo>
                    <a:pt x="302768" y="988187"/>
                  </a:lnTo>
                  <a:lnTo>
                    <a:pt x="296545" y="981964"/>
                  </a:lnTo>
                  <a:lnTo>
                    <a:pt x="288671" y="981837"/>
                  </a:lnTo>
                  <a:lnTo>
                    <a:pt x="280797" y="981837"/>
                  </a:lnTo>
                  <a:lnTo>
                    <a:pt x="274320" y="988187"/>
                  </a:lnTo>
                  <a:lnTo>
                    <a:pt x="274180" y="996315"/>
                  </a:lnTo>
                  <a:lnTo>
                    <a:pt x="273596" y="1091539"/>
                  </a:lnTo>
                  <a:lnTo>
                    <a:pt x="273583" y="1102728"/>
                  </a:lnTo>
                  <a:lnTo>
                    <a:pt x="273532" y="1102525"/>
                  </a:lnTo>
                  <a:lnTo>
                    <a:pt x="273431" y="1119759"/>
                  </a:lnTo>
                  <a:lnTo>
                    <a:pt x="287794" y="1111758"/>
                  </a:lnTo>
                  <a:lnTo>
                    <a:pt x="288137" y="1111567"/>
                  </a:lnTo>
                  <a:lnTo>
                    <a:pt x="296164" y="1109472"/>
                  </a:lnTo>
                  <a:lnTo>
                    <a:pt x="298323" y="1105903"/>
                  </a:lnTo>
                  <a:lnTo>
                    <a:pt x="381508" y="1059561"/>
                  </a:lnTo>
                  <a:lnTo>
                    <a:pt x="388493" y="1055751"/>
                  </a:lnTo>
                  <a:lnTo>
                    <a:pt x="390906" y="1046988"/>
                  </a:lnTo>
                  <a:lnTo>
                    <a:pt x="383286" y="1033272"/>
                  </a:lnTo>
                  <a:lnTo>
                    <a:pt x="374523" y="1030732"/>
                  </a:lnTo>
                  <a:lnTo>
                    <a:pt x="367665" y="1034669"/>
                  </a:lnTo>
                  <a:lnTo>
                    <a:pt x="327177" y="1057198"/>
                  </a:lnTo>
                  <a:lnTo>
                    <a:pt x="594614" y="605282"/>
                  </a:lnTo>
                  <a:close/>
                </a:path>
                <a:path w="935989" h="1193164">
                  <a:moveTo>
                    <a:pt x="935482" y="243332"/>
                  </a:moveTo>
                  <a:lnTo>
                    <a:pt x="930021" y="197358"/>
                  </a:lnTo>
                  <a:lnTo>
                    <a:pt x="914781" y="153543"/>
                  </a:lnTo>
                  <a:lnTo>
                    <a:pt x="891032" y="112522"/>
                  </a:lnTo>
                  <a:lnTo>
                    <a:pt x="860298" y="76073"/>
                  </a:lnTo>
                  <a:lnTo>
                    <a:pt x="823976" y="45212"/>
                  </a:lnTo>
                  <a:lnTo>
                    <a:pt x="797001" y="28575"/>
                  </a:lnTo>
                  <a:lnTo>
                    <a:pt x="783209" y="21209"/>
                  </a:lnTo>
                  <a:lnTo>
                    <a:pt x="738886" y="5588"/>
                  </a:lnTo>
                  <a:lnTo>
                    <a:pt x="693039" y="0"/>
                  </a:lnTo>
                  <a:lnTo>
                    <a:pt x="681482" y="254"/>
                  </a:lnTo>
                  <a:lnTo>
                    <a:pt x="635762" y="8382"/>
                  </a:lnTo>
                  <a:lnTo>
                    <a:pt x="582295" y="31623"/>
                  </a:lnTo>
                  <a:lnTo>
                    <a:pt x="543306" y="59055"/>
                  </a:lnTo>
                  <a:lnTo>
                    <a:pt x="509524" y="92710"/>
                  </a:lnTo>
                  <a:lnTo>
                    <a:pt x="481965" y="131572"/>
                  </a:lnTo>
                  <a:lnTo>
                    <a:pt x="462457" y="173228"/>
                  </a:lnTo>
                  <a:lnTo>
                    <a:pt x="436499" y="118745"/>
                  </a:lnTo>
                  <a:lnTo>
                    <a:pt x="433197" y="111887"/>
                  </a:lnTo>
                  <a:lnTo>
                    <a:pt x="424688" y="108839"/>
                  </a:lnTo>
                  <a:lnTo>
                    <a:pt x="417576" y="112141"/>
                  </a:lnTo>
                  <a:lnTo>
                    <a:pt x="410464" y="115570"/>
                  </a:lnTo>
                  <a:lnTo>
                    <a:pt x="407416" y="124079"/>
                  </a:lnTo>
                  <a:lnTo>
                    <a:pt x="410718" y="131191"/>
                  </a:lnTo>
                  <a:lnTo>
                    <a:pt x="451586" y="217043"/>
                  </a:lnTo>
                  <a:lnTo>
                    <a:pt x="451104" y="220345"/>
                  </a:lnTo>
                  <a:lnTo>
                    <a:pt x="456438" y="227584"/>
                  </a:lnTo>
                  <a:lnTo>
                    <a:pt x="456628" y="227622"/>
                  </a:lnTo>
                  <a:lnTo>
                    <a:pt x="463931" y="242951"/>
                  </a:lnTo>
                  <a:lnTo>
                    <a:pt x="473011" y="229997"/>
                  </a:lnTo>
                  <a:lnTo>
                    <a:pt x="474040" y="228536"/>
                  </a:lnTo>
                  <a:lnTo>
                    <a:pt x="479958" y="220091"/>
                  </a:lnTo>
                  <a:lnTo>
                    <a:pt x="539623" y="135128"/>
                  </a:lnTo>
                  <a:lnTo>
                    <a:pt x="537972" y="126238"/>
                  </a:lnTo>
                  <a:lnTo>
                    <a:pt x="531495" y="121793"/>
                  </a:lnTo>
                  <a:lnTo>
                    <a:pt x="526034" y="117957"/>
                  </a:lnTo>
                  <a:lnTo>
                    <a:pt x="560832" y="81661"/>
                  </a:lnTo>
                  <a:lnTo>
                    <a:pt x="595630" y="56896"/>
                  </a:lnTo>
                  <a:lnTo>
                    <a:pt x="633603" y="39243"/>
                  </a:lnTo>
                  <a:lnTo>
                    <a:pt x="672592" y="29845"/>
                  </a:lnTo>
                  <a:lnTo>
                    <a:pt x="692150" y="28575"/>
                  </a:lnTo>
                  <a:lnTo>
                    <a:pt x="701929" y="28829"/>
                  </a:lnTo>
                  <a:lnTo>
                    <a:pt x="741299" y="35814"/>
                  </a:lnTo>
                  <a:lnTo>
                    <a:pt x="788543" y="56261"/>
                  </a:lnTo>
                  <a:lnTo>
                    <a:pt x="823468" y="80899"/>
                  </a:lnTo>
                  <a:lnTo>
                    <a:pt x="853821" y="111125"/>
                  </a:lnTo>
                  <a:lnTo>
                    <a:pt x="878586" y="145923"/>
                  </a:lnTo>
                  <a:lnTo>
                    <a:pt x="896239" y="183896"/>
                  </a:lnTo>
                  <a:lnTo>
                    <a:pt x="905637" y="222885"/>
                  </a:lnTo>
                  <a:lnTo>
                    <a:pt x="906907" y="242443"/>
                  </a:lnTo>
                  <a:lnTo>
                    <a:pt x="906653" y="252222"/>
                  </a:lnTo>
                  <a:lnTo>
                    <a:pt x="899668" y="291592"/>
                  </a:lnTo>
                  <a:lnTo>
                    <a:pt x="879221" y="338836"/>
                  </a:lnTo>
                  <a:lnTo>
                    <a:pt x="854583" y="373761"/>
                  </a:lnTo>
                  <a:lnTo>
                    <a:pt x="824357" y="404114"/>
                  </a:lnTo>
                  <a:lnTo>
                    <a:pt x="789559" y="428879"/>
                  </a:lnTo>
                  <a:lnTo>
                    <a:pt x="751586" y="446532"/>
                  </a:lnTo>
                  <a:lnTo>
                    <a:pt x="712597" y="455930"/>
                  </a:lnTo>
                  <a:lnTo>
                    <a:pt x="684276" y="457454"/>
                  </a:lnTo>
                  <a:lnTo>
                    <a:pt x="678053" y="463931"/>
                  </a:lnTo>
                  <a:lnTo>
                    <a:pt x="678561" y="479806"/>
                  </a:lnTo>
                  <a:lnTo>
                    <a:pt x="685038" y="486029"/>
                  </a:lnTo>
                  <a:lnTo>
                    <a:pt x="703707" y="485521"/>
                  </a:lnTo>
                  <a:lnTo>
                    <a:pt x="749427" y="477393"/>
                  </a:lnTo>
                  <a:lnTo>
                    <a:pt x="802894" y="454152"/>
                  </a:lnTo>
                  <a:lnTo>
                    <a:pt x="841883" y="426720"/>
                  </a:lnTo>
                  <a:lnTo>
                    <a:pt x="875665" y="393065"/>
                  </a:lnTo>
                  <a:lnTo>
                    <a:pt x="903224" y="354203"/>
                  </a:lnTo>
                  <a:lnTo>
                    <a:pt x="923036" y="311785"/>
                  </a:lnTo>
                  <a:lnTo>
                    <a:pt x="933958" y="266446"/>
                  </a:lnTo>
                  <a:lnTo>
                    <a:pt x="935101" y="254889"/>
                  </a:lnTo>
                  <a:lnTo>
                    <a:pt x="935482" y="2433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3974" y="1409636"/>
              <a:ext cx="566737" cy="56673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5874" y="1362011"/>
              <a:ext cx="633412" cy="7381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91124" y="14382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00014" y="2494914"/>
              <a:ext cx="987425" cy="148590"/>
            </a:xfrm>
            <a:custGeom>
              <a:avLst/>
              <a:gdLst/>
              <a:ahLst/>
              <a:cxnLst/>
              <a:rect l="l" t="t" r="r" b="b"/>
              <a:pathLst>
                <a:path w="987425" h="148589">
                  <a:moveTo>
                    <a:pt x="905134" y="99007"/>
                  </a:moveTo>
                  <a:lnTo>
                    <a:pt x="856107" y="122682"/>
                  </a:lnTo>
                  <a:lnTo>
                    <a:pt x="853186" y="131190"/>
                  </a:lnTo>
                  <a:lnTo>
                    <a:pt x="860044" y="145414"/>
                  </a:lnTo>
                  <a:lnTo>
                    <a:pt x="868552" y="148336"/>
                  </a:lnTo>
                  <a:lnTo>
                    <a:pt x="961635" y="103440"/>
                  </a:lnTo>
                  <a:lnTo>
                    <a:pt x="905134" y="99007"/>
                  </a:lnTo>
                  <a:close/>
                </a:path>
                <a:path w="987425" h="148589">
                  <a:moveTo>
                    <a:pt x="971591" y="98639"/>
                  </a:moveTo>
                  <a:lnTo>
                    <a:pt x="961635" y="103440"/>
                  </a:lnTo>
                  <a:lnTo>
                    <a:pt x="965581" y="103759"/>
                  </a:lnTo>
                  <a:lnTo>
                    <a:pt x="971591" y="98639"/>
                  </a:lnTo>
                  <a:close/>
                </a:path>
                <a:path w="987425" h="148589">
                  <a:moveTo>
                    <a:pt x="930580" y="86718"/>
                  </a:moveTo>
                  <a:lnTo>
                    <a:pt x="905134" y="99007"/>
                  </a:lnTo>
                  <a:lnTo>
                    <a:pt x="961635" y="103440"/>
                  </a:lnTo>
                  <a:lnTo>
                    <a:pt x="967295" y="100711"/>
                  </a:lnTo>
                  <a:lnTo>
                    <a:pt x="950722" y="100711"/>
                  </a:lnTo>
                  <a:lnTo>
                    <a:pt x="930580" y="86718"/>
                  </a:lnTo>
                  <a:close/>
                </a:path>
                <a:path w="987425" h="148589">
                  <a:moveTo>
                    <a:pt x="952626" y="76073"/>
                  </a:moveTo>
                  <a:lnTo>
                    <a:pt x="930580" y="86718"/>
                  </a:lnTo>
                  <a:lnTo>
                    <a:pt x="950722" y="100711"/>
                  </a:lnTo>
                  <a:lnTo>
                    <a:pt x="952626" y="76073"/>
                  </a:lnTo>
                  <a:close/>
                </a:path>
                <a:path w="987425" h="148589">
                  <a:moveTo>
                    <a:pt x="965298" y="76073"/>
                  </a:moveTo>
                  <a:lnTo>
                    <a:pt x="952626" y="76073"/>
                  </a:lnTo>
                  <a:lnTo>
                    <a:pt x="950722" y="100711"/>
                  </a:lnTo>
                  <a:lnTo>
                    <a:pt x="967295" y="100711"/>
                  </a:lnTo>
                  <a:lnTo>
                    <a:pt x="971591" y="98639"/>
                  </a:lnTo>
                  <a:lnTo>
                    <a:pt x="972438" y="97917"/>
                  </a:lnTo>
                  <a:lnTo>
                    <a:pt x="973709" y="82169"/>
                  </a:lnTo>
                  <a:lnTo>
                    <a:pt x="973185" y="81554"/>
                  </a:lnTo>
                  <a:lnTo>
                    <a:pt x="965298" y="76073"/>
                  </a:lnTo>
                  <a:close/>
                </a:path>
                <a:path w="987425" h="148589">
                  <a:moveTo>
                    <a:pt x="8127" y="0"/>
                  </a:moveTo>
                  <a:lnTo>
                    <a:pt x="1270" y="5969"/>
                  </a:lnTo>
                  <a:lnTo>
                    <a:pt x="0" y="21717"/>
                  </a:lnTo>
                  <a:lnTo>
                    <a:pt x="5969" y="28575"/>
                  </a:lnTo>
                  <a:lnTo>
                    <a:pt x="905134" y="99007"/>
                  </a:lnTo>
                  <a:lnTo>
                    <a:pt x="930580" y="86718"/>
                  </a:lnTo>
                  <a:lnTo>
                    <a:pt x="907295" y="70542"/>
                  </a:lnTo>
                  <a:lnTo>
                    <a:pt x="8127" y="0"/>
                  </a:lnTo>
                  <a:close/>
                </a:path>
                <a:path w="987425" h="148589">
                  <a:moveTo>
                    <a:pt x="973185" y="81554"/>
                  </a:moveTo>
                  <a:lnTo>
                    <a:pt x="973709" y="82169"/>
                  </a:lnTo>
                  <a:lnTo>
                    <a:pt x="972438" y="97917"/>
                  </a:lnTo>
                  <a:lnTo>
                    <a:pt x="971591" y="98639"/>
                  </a:lnTo>
                  <a:lnTo>
                    <a:pt x="987044" y="91186"/>
                  </a:lnTo>
                  <a:lnTo>
                    <a:pt x="973185" y="81554"/>
                  </a:lnTo>
                  <a:close/>
                </a:path>
                <a:path w="987425" h="148589">
                  <a:moveTo>
                    <a:pt x="907295" y="70542"/>
                  </a:moveTo>
                  <a:lnTo>
                    <a:pt x="930580" y="86718"/>
                  </a:lnTo>
                  <a:lnTo>
                    <a:pt x="952626" y="76073"/>
                  </a:lnTo>
                  <a:lnTo>
                    <a:pt x="965298" y="76073"/>
                  </a:lnTo>
                  <a:lnTo>
                    <a:pt x="963721" y="74976"/>
                  </a:lnTo>
                  <a:lnTo>
                    <a:pt x="907295" y="70542"/>
                  </a:lnTo>
                  <a:close/>
                </a:path>
                <a:path w="987425" h="148589">
                  <a:moveTo>
                    <a:pt x="963721" y="74976"/>
                  </a:moveTo>
                  <a:lnTo>
                    <a:pt x="973185" y="81554"/>
                  </a:lnTo>
                  <a:lnTo>
                    <a:pt x="967867" y="75311"/>
                  </a:lnTo>
                  <a:lnTo>
                    <a:pt x="963721" y="74976"/>
                  </a:lnTo>
                  <a:close/>
                </a:path>
                <a:path w="987425" h="148589">
                  <a:moveTo>
                    <a:pt x="878967" y="16129"/>
                  </a:moveTo>
                  <a:lnTo>
                    <a:pt x="870076" y="17780"/>
                  </a:lnTo>
                  <a:lnTo>
                    <a:pt x="865505" y="24257"/>
                  </a:lnTo>
                  <a:lnTo>
                    <a:pt x="861060" y="30734"/>
                  </a:lnTo>
                  <a:lnTo>
                    <a:pt x="862711" y="39624"/>
                  </a:lnTo>
                  <a:lnTo>
                    <a:pt x="907295" y="70542"/>
                  </a:lnTo>
                  <a:lnTo>
                    <a:pt x="963721" y="74976"/>
                  </a:lnTo>
                  <a:lnTo>
                    <a:pt x="878967" y="161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326126" y="1460436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91075" y="2200211"/>
            <a:ext cx="643255" cy="738505"/>
            <a:chOff x="4791075" y="2200211"/>
            <a:chExt cx="643255" cy="73850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9175" y="2247836"/>
              <a:ext cx="566737" cy="56673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1075" y="2200211"/>
              <a:ext cx="642937" cy="73818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886325" y="22764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020945" y="2299906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038850" y="2276411"/>
            <a:ext cx="738505" cy="738505"/>
            <a:chOff x="6038850" y="2276411"/>
            <a:chExt cx="738505" cy="73850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4575" y="2324036"/>
              <a:ext cx="566737" cy="56673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8850" y="2276411"/>
              <a:ext cx="738187" cy="73818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181725" y="23526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266815" y="2376106"/>
            <a:ext cx="297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6861809" y="1367379"/>
          <a:ext cx="2209800" cy="14151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4950" algn="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7490" algn="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74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74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>
            <a:off x="7071106" y="3027109"/>
            <a:ext cx="1783080" cy="112204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45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sz="2000" b="1" spc="25" dirty="0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+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025" b="1" spc="179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50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 </a:t>
            </a:r>
            <a:r>
              <a:rPr sz="2025" b="1" spc="51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y</a:t>
            </a:r>
            <a:r>
              <a:rPr sz="2025" b="1" spc="-300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30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m </a:t>
            </a: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sz="2000" b="1" spc="5" dirty="0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sz="2025" b="1" spc="7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sz="2025" b="1" spc="150" baseline="-1851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000" b="1" spc="45" dirty="0">
                <a:solidFill>
                  <a:srgbClr val="008000"/>
                </a:solidFill>
                <a:latin typeface="Times New Roman"/>
                <a:cs typeface="Times New Roman"/>
              </a:rPr>
              <a:t>/2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333311"/>
            <a:ext cx="6405626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b="1" spc="-20" dirty="0">
                <a:solidFill>
                  <a:srgbClr val="D50092"/>
                </a:solidFill>
                <a:latin typeface="Calibri"/>
                <a:cs typeface="Calibri"/>
              </a:rPr>
              <a:t>Teleports:</a:t>
            </a:r>
            <a:r>
              <a:rPr b="1" spc="-11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pc="5" dirty="0"/>
              <a:t>Follow</a:t>
            </a:r>
            <a:r>
              <a:rPr spc="-105" dirty="0"/>
              <a:t> </a:t>
            </a:r>
            <a:r>
              <a:rPr spc="10" dirty="0"/>
              <a:t>random</a:t>
            </a:r>
            <a:r>
              <a:rPr spc="-145" dirty="0"/>
              <a:t> </a:t>
            </a:r>
            <a:r>
              <a:rPr dirty="0"/>
              <a:t>teleport</a:t>
            </a:r>
            <a:r>
              <a:rPr spc="-70" dirty="0"/>
              <a:t> </a:t>
            </a:r>
            <a:r>
              <a:rPr spc="20" dirty="0"/>
              <a:t>links</a:t>
            </a:r>
            <a:r>
              <a:rPr spc="-185" dirty="0"/>
              <a:t> </a:t>
            </a:r>
            <a:r>
              <a:rPr spc="5" dirty="0"/>
              <a:t>with  </a:t>
            </a:r>
            <a:r>
              <a:rPr spc="10" dirty="0"/>
              <a:t>probability </a:t>
            </a:r>
            <a:r>
              <a:rPr spc="15" dirty="0"/>
              <a:t>1.0 </a:t>
            </a:r>
            <a:r>
              <a:rPr spc="-5" dirty="0"/>
              <a:t>from</a:t>
            </a:r>
            <a:r>
              <a:rPr spc="-310" dirty="0"/>
              <a:t> </a:t>
            </a:r>
            <a:r>
              <a:rPr spc="20" dirty="0"/>
              <a:t>dead-ends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7580" y="2415539"/>
            <a:ext cx="392811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130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spc="-15" dirty="0">
                <a:latin typeface="Calibri"/>
                <a:cs typeface="Calibri"/>
              </a:rPr>
              <a:t>Adjust </a:t>
            </a:r>
            <a:r>
              <a:rPr sz="2750" spc="5" dirty="0">
                <a:latin typeface="Calibri"/>
                <a:cs typeface="Calibri"/>
              </a:rPr>
              <a:t>matrix</a:t>
            </a:r>
            <a:r>
              <a:rPr sz="2750" spc="19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accordingly</a:t>
            </a:r>
            <a:endParaRPr sz="27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50567" y="3086100"/>
            <a:ext cx="1226820" cy="1443355"/>
            <a:chOff x="1750567" y="3086100"/>
            <a:chExt cx="1226820" cy="1443355"/>
          </a:xfrm>
        </p:grpSpPr>
        <p:sp>
          <p:nvSpPr>
            <p:cNvPr id="7" name="object 7"/>
            <p:cNvSpPr/>
            <p:nvPr/>
          </p:nvSpPr>
          <p:spPr>
            <a:xfrm>
              <a:off x="1750568" y="3086099"/>
              <a:ext cx="935990" cy="1193165"/>
            </a:xfrm>
            <a:custGeom>
              <a:avLst/>
              <a:gdLst/>
              <a:ahLst/>
              <a:cxnLst/>
              <a:rect l="l" t="t" r="r" b="b"/>
              <a:pathLst>
                <a:path w="935989" h="1193164">
                  <a:moveTo>
                    <a:pt x="273596" y="1091539"/>
                  </a:moveTo>
                  <a:lnTo>
                    <a:pt x="271653" y="1094867"/>
                  </a:lnTo>
                  <a:lnTo>
                    <a:pt x="273532" y="1102525"/>
                  </a:lnTo>
                  <a:lnTo>
                    <a:pt x="273596" y="1091539"/>
                  </a:lnTo>
                  <a:close/>
                </a:path>
                <a:path w="935989" h="1193164">
                  <a:moveTo>
                    <a:pt x="322961" y="686816"/>
                  </a:moveTo>
                  <a:lnTo>
                    <a:pt x="321068" y="679170"/>
                  </a:lnTo>
                  <a:lnTo>
                    <a:pt x="321132" y="670052"/>
                  </a:lnTo>
                  <a:lnTo>
                    <a:pt x="321183" y="661924"/>
                  </a:lnTo>
                  <a:lnTo>
                    <a:pt x="306095" y="670331"/>
                  </a:lnTo>
                  <a:lnTo>
                    <a:pt x="298450" y="672211"/>
                  </a:lnTo>
                  <a:lnTo>
                    <a:pt x="296341" y="675754"/>
                  </a:lnTo>
                  <a:lnTo>
                    <a:pt x="213106" y="722122"/>
                  </a:lnTo>
                  <a:lnTo>
                    <a:pt x="206121" y="725932"/>
                  </a:lnTo>
                  <a:lnTo>
                    <a:pt x="203708" y="734695"/>
                  </a:lnTo>
                  <a:lnTo>
                    <a:pt x="211328" y="748411"/>
                  </a:lnTo>
                  <a:lnTo>
                    <a:pt x="220091" y="750951"/>
                  </a:lnTo>
                  <a:lnTo>
                    <a:pt x="267487" y="724522"/>
                  </a:lnTo>
                  <a:lnTo>
                    <a:pt x="4064" y="1169670"/>
                  </a:lnTo>
                  <a:lnTo>
                    <a:pt x="0" y="1176401"/>
                  </a:lnTo>
                  <a:lnTo>
                    <a:pt x="2286" y="1185164"/>
                  </a:lnTo>
                  <a:lnTo>
                    <a:pt x="9017" y="1189228"/>
                  </a:lnTo>
                  <a:lnTo>
                    <a:pt x="15875" y="1193165"/>
                  </a:lnTo>
                  <a:lnTo>
                    <a:pt x="24638" y="1191006"/>
                  </a:lnTo>
                  <a:lnTo>
                    <a:pt x="28575" y="1184148"/>
                  </a:lnTo>
                  <a:lnTo>
                    <a:pt x="292138" y="738962"/>
                  </a:lnTo>
                  <a:lnTo>
                    <a:pt x="291846" y="785495"/>
                  </a:lnTo>
                  <a:lnTo>
                    <a:pt x="291833" y="793496"/>
                  </a:lnTo>
                  <a:lnTo>
                    <a:pt x="298069" y="799846"/>
                  </a:lnTo>
                  <a:lnTo>
                    <a:pt x="305943" y="799846"/>
                  </a:lnTo>
                  <a:lnTo>
                    <a:pt x="313817" y="799973"/>
                  </a:lnTo>
                  <a:lnTo>
                    <a:pt x="320294" y="793496"/>
                  </a:lnTo>
                  <a:lnTo>
                    <a:pt x="320421" y="785495"/>
                  </a:lnTo>
                  <a:lnTo>
                    <a:pt x="321005" y="690156"/>
                  </a:lnTo>
                  <a:lnTo>
                    <a:pt x="322961" y="686816"/>
                  </a:lnTo>
                  <a:close/>
                </a:path>
                <a:path w="935989" h="1193164">
                  <a:moveTo>
                    <a:pt x="479958" y="220116"/>
                  </a:moveTo>
                  <a:lnTo>
                    <a:pt x="474040" y="228536"/>
                  </a:lnTo>
                  <a:lnTo>
                    <a:pt x="479298" y="224663"/>
                  </a:lnTo>
                  <a:lnTo>
                    <a:pt x="479958" y="220116"/>
                  </a:lnTo>
                  <a:close/>
                </a:path>
                <a:path w="935989" h="1193164">
                  <a:moveTo>
                    <a:pt x="594614" y="605282"/>
                  </a:moveTo>
                  <a:lnTo>
                    <a:pt x="592328" y="596519"/>
                  </a:lnTo>
                  <a:lnTo>
                    <a:pt x="578739" y="588518"/>
                  </a:lnTo>
                  <a:lnTo>
                    <a:pt x="569976" y="590804"/>
                  </a:lnTo>
                  <a:lnTo>
                    <a:pt x="566039" y="597535"/>
                  </a:lnTo>
                  <a:lnTo>
                    <a:pt x="302463" y="1042733"/>
                  </a:lnTo>
                  <a:lnTo>
                    <a:pt x="302768" y="996315"/>
                  </a:lnTo>
                  <a:lnTo>
                    <a:pt x="302768" y="988187"/>
                  </a:lnTo>
                  <a:lnTo>
                    <a:pt x="296545" y="981964"/>
                  </a:lnTo>
                  <a:lnTo>
                    <a:pt x="288671" y="981837"/>
                  </a:lnTo>
                  <a:lnTo>
                    <a:pt x="280797" y="981837"/>
                  </a:lnTo>
                  <a:lnTo>
                    <a:pt x="274320" y="988187"/>
                  </a:lnTo>
                  <a:lnTo>
                    <a:pt x="274180" y="996315"/>
                  </a:lnTo>
                  <a:lnTo>
                    <a:pt x="273596" y="1091539"/>
                  </a:lnTo>
                  <a:lnTo>
                    <a:pt x="273583" y="1102728"/>
                  </a:lnTo>
                  <a:lnTo>
                    <a:pt x="273532" y="1102525"/>
                  </a:lnTo>
                  <a:lnTo>
                    <a:pt x="273431" y="1119759"/>
                  </a:lnTo>
                  <a:lnTo>
                    <a:pt x="287794" y="1111758"/>
                  </a:lnTo>
                  <a:lnTo>
                    <a:pt x="288137" y="1111567"/>
                  </a:lnTo>
                  <a:lnTo>
                    <a:pt x="296164" y="1109472"/>
                  </a:lnTo>
                  <a:lnTo>
                    <a:pt x="298323" y="1105903"/>
                  </a:lnTo>
                  <a:lnTo>
                    <a:pt x="381508" y="1059561"/>
                  </a:lnTo>
                  <a:lnTo>
                    <a:pt x="388493" y="1055751"/>
                  </a:lnTo>
                  <a:lnTo>
                    <a:pt x="390906" y="1046988"/>
                  </a:lnTo>
                  <a:lnTo>
                    <a:pt x="383286" y="1033272"/>
                  </a:lnTo>
                  <a:lnTo>
                    <a:pt x="374523" y="1030732"/>
                  </a:lnTo>
                  <a:lnTo>
                    <a:pt x="367665" y="1034669"/>
                  </a:lnTo>
                  <a:lnTo>
                    <a:pt x="327177" y="1057198"/>
                  </a:lnTo>
                  <a:lnTo>
                    <a:pt x="594614" y="605282"/>
                  </a:lnTo>
                  <a:close/>
                </a:path>
                <a:path w="935989" h="1193164">
                  <a:moveTo>
                    <a:pt x="935482" y="243332"/>
                  </a:moveTo>
                  <a:lnTo>
                    <a:pt x="930021" y="197358"/>
                  </a:lnTo>
                  <a:lnTo>
                    <a:pt x="914781" y="153543"/>
                  </a:lnTo>
                  <a:lnTo>
                    <a:pt x="891032" y="112522"/>
                  </a:lnTo>
                  <a:lnTo>
                    <a:pt x="860298" y="76073"/>
                  </a:lnTo>
                  <a:lnTo>
                    <a:pt x="823976" y="45212"/>
                  </a:lnTo>
                  <a:lnTo>
                    <a:pt x="797001" y="28575"/>
                  </a:lnTo>
                  <a:lnTo>
                    <a:pt x="783209" y="21209"/>
                  </a:lnTo>
                  <a:lnTo>
                    <a:pt x="738886" y="5588"/>
                  </a:lnTo>
                  <a:lnTo>
                    <a:pt x="693039" y="0"/>
                  </a:lnTo>
                  <a:lnTo>
                    <a:pt x="681482" y="254"/>
                  </a:lnTo>
                  <a:lnTo>
                    <a:pt x="635762" y="8382"/>
                  </a:lnTo>
                  <a:lnTo>
                    <a:pt x="582295" y="31623"/>
                  </a:lnTo>
                  <a:lnTo>
                    <a:pt x="543306" y="59055"/>
                  </a:lnTo>
                  <a:lnTo>
                    <a:pt x="509524" y="92710"/>
                  </a:lnTo>
                  <a:lnTo>
                    <a:pt x="481965" y="131572"/>
                  </a:lnTo>
                  <a:lnTo>
                    <a:pt x="462457" y="173228"/>
                  </a:lnTo>
                  <a:lnTo>
                    <a:pt x="436499" y="118745"/>
                  </a:lnTo>
                  <a:lnTo>
                    <a:pt x="433197" y="111887"/>
                  </a:lnTo>
                  <a:lnTo>
                    <a:pt x="424688" y="108839"/>
                  </a:lnTo>
                  <a:lnTo>
                    <a:pt x="417576" y="112141"/>
                  </a:lnTo>
                  <a:lnTo>
                    <a:pt x="410464" y="115570"/>
                  </a:lnTo>
                  <a:lnTo>
                    <a:pt x="407416" y="124079"/>
                  </a:lnTo>
                  <a:lnTo>
                    <a:pt x="410718" y="131191"/>
                  </a:lnTo>
                  <a:lnTo>
                    <a:pt x="451586" y="217043"/>
                  </a:lnTo>
                  <a:lnTo>
                    <a:pt x="451104" y="220345"/>
                  </a:lnTo>
                  <a:lnTo>
                    <a:pt x="456438" y="227584"/>
                  </a:lnTo>
                  <a:lnTo>
                    <a:pt x="456628" y="227622"/>
                  </a:lnTo>
                  <a:lnTo>
                    <a:pt x="463931" y="242951"/>
                  </a:lnTo>
                  <a:lnTo>
                    <a:pt x="473011" y="229997"/>
                  </a:lnTo>
                  <a:lnTo>
                    <a:pt x="474040" y="228536"/>
                  </a:lnTo>
                  <a:lnTo>
                    <a:pt x="479958" y="220091"/>
                  </a:lnTo>
                  <a:lnTo>
                    <a:pt x="539623" y="135128"/>
                  </a:lnTo>
                  <a:lnTo>
                    <a:pt x="537972" y="126238"/>
                  </a:lnTo>
                  <a:lnTo>
                    <a:pt x="531495" y="121793"/>
                  </a:lnTo>
                  <a:lnTo>
                    <a:pt x="526034" y="117957"/>
                  </a:lnTo>
                  <a:lnTo>
                    <a:pt x="560832" y="81661"/>
                  </a:lnTo>
                  <a:lnTo>
                    <a:pt x="595630" y="56896"/>
                  </a:lnTo>
                  <a:lnTo>
                    <a:pt x="633603" y="39243"/>
                  </a:lnTo>
                  <a:lnTo>
                    <a:pt x="672592" y="29845"/>
                  </a:lnTo>
                  <a:lnTo>
                    <a:pt x="692150" y="28575"/>
                  </a:lnTo>
                  <a:lnTo>
                    <a:pt x="701929" y="28829"/>
                  </a:lnTo>
                  <a:lnTo>
                    <a:pt x="741299" y="35814"/>
                  </a:lnTo>
                  <a:lnTo>
                    <a:pt x="788543" y="56261"/>
                  </a:lnTo>
                  <a:lnTo>
                    <a:pt x="823468" y="80899"/>
                  </a:lnTo>
                  <a:lnTo>
                    <a:pt x="853821" y="111125"/>
                  </a:lnTo>
                  <a:lnTo>
                    <a:pt x="878586" y="145923"/>
                  </a:lnTo>
                  <a:lnTo>
                    <a:pt x="896239" y="183896"/>
                  </a:lnTo>
                  <a:lnTo>
                    <a:pt x="905637" y="222885"/>
                  </a:lnTo>
                  <a:lnTo>
                    <a:pt x="906907" y="242443"/>
                  </a:lnTo>
                  <a:lnTo>
                    <a:pt x="906653" y="252222"/>
                  </a:lnTo>
                  <a:lnTo>
                    <a:pt x="899668" y="291592"/>
                  </a:lnTo>
                  <a:lnTo>
                    <a:pt x="879221" y="338836"/>
                  </a:lnTo>
                  <a:lnTo>
                    <a:pt x="854583" y="373761"/>
                  </a:lnTo>
                  <a:lnTo>
                    <a:pt x="824357" y="404114"/>
                  </a:lnTo>
                  <a:lnTo>
                    <a:pt x="789559" y="428879"/>
                  </a:lnTo>
                  <a:lnTo>
                    <a:pt x="751586" y="446544"/>
                  </a:lnTo>
                  <a:lnTo>
                    <a:pt x="712597" y="455930"/>
                  </a:lnTo>
                  <a:lnTo>
                    <a:pt x="684276" y="457454"/>
                  </a:lnTo>
                  <a:lnTo>
                    <a:pt x="678053" y="463931"/>
                  </a:lnTo>
                  <a:lnTo>
                    <a:pt x="678561" y="479806"/>
                  </a:lnTo>
                  <a:lnTo>
                    <a:pt x="685038" y="486029"/>
                  </a:lnTo>
                  <a:lnTo>
                    <a:pt x="703707" y="485533"/>
                  </a:lnTo>
                  <a:lnTo>
                    <a:pt x="749427" y="477393"/>
                  </a:lnTo>
                  <a:lnTo>
                    <a:pt x="802894" y="454152"/>
                  </a:lnTo>
                  <a:lnTo>
                    <a:pt x="841883" y="426720"/>
                  </a:lnTo>
                  <a:lnTo>
                    <a:pt x="875665" y="393065"/>
                  </a:lnTo>
                  <a:lnTo>
                    <a:pt x="903224" y="354203"/>
                  </a:lnTo>
                  <a:lnTo>
                    <a:pt x="923036" y="311785"/>
                  </a:lnTo>
                  <a:lnTo>
                    <a:pt x="933958" y="266446"/>
                  </a:lnTo>
                  <a:lnTo>
                    <a:pt x="935101" y="254889"/>
                  </a:lnTo>
                  <a:lnTo>
                    <a:pt x="935482" y="2433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4049" y="3295586"/>
              <a:ext cx="566737" cy="5667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85949" y="3247961"/>
              <a:ext cx="633412" cy="73818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981199" y="33242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90089" y="4380864"/>
              <a:ext cx="987425" cy="148590"/>
            </a:xfrm>
            <a:custGeom>
              <a:avLst/>
              <a:gdLst/>
              <a:ahLst/>
              <a:cxnLst/>
              <a:rect l="l" t="t" r="r" b="b"/>
              <a:pathLst>
                <a:path w="987425" h="148589">
                  <a:moveTo>
                    <a:pt x="905134" y="99007"/>
                  </a:moveTo>
                  <a:lnTo>
                    <a:pt x="856107" y="122682"/>
                  </a:lnTo>
                  <a:lnTo>
                    <a:pt x="853186" y="131191"/>
                  </a:lnTo>
                  <a:lnTo>
                    <a:pt x="860044" y="145415"/>
                  </a:lnTo>
                  <a:lnTo>
                    <a:pt x="868553" y="148336"/>
                  </a:lnTo>
                  <a:lnTo>
                    <a:pt x="961635" y="103440"/>
                  </a:lnTo>
                  <a:lnTo>
                    <a:pt x="905134" y="99007"/>
                  </a:lnTo>
                  <a:close/>
                </a:path>
                <a:path w="987425" h="148589">
                  <a:moveTo>
                    <a:pt x="971591" y="98639"/>
                  </a:moveTo>
                  <a:lnTo>
                    <a:pt x="961635" y="103440"/>
                  </a:lnTo>
                  <a:lnTo>
                    <a:pt x="965581" y="103759"/>
                  </a:lnTo>
                  <a:lnTo>
                    <a:pt x="971591" y="98639"/>
                  </a:lnTo>
                  <a:close/>
                </a:path>
                <a:path w="987425" h="148589">
                  <a:moveTo>
                    <a:pt x="930580" y="86718"/>
                  </a:moveTo>
                  <a:lnTo>
                    <a:pt x="905134" y="99007"/>
                  </a:lnTo>
                  <a:lnTo>
                    <a:pt x="961635" y="103440"/>
                  </a:lnTo>
                  <a:lnTo>
                    <a:pt x="967295" y="100711"/>
                  </a:lnTo>
                  <a:lnTo>
                    <a:pt x="950722" y="100711"/>
                  </a:lnTo>
                  <a:lnTo>
                    <a:pt x="930580" y="86718"/>
                  </a:lnTo>
                  <a:close/>
                </a:path>
                <a:path w="987425" h="148589">
                  <a:moveTo>
                    <a:pt x="952627" y="76073"/>
                  </a:moveTo>
                  <a:lnTo>
                    <a:pt x="930580" y="86718"/>
                  </a:lnTo>
                  <a:lnTo>
                    <a:pt x="950722" y="100711"/>
                  </a:lnTo>
                  <a:lnTo>
                    <a:pt x="952627" y="76073"/>
                  </a:lnTo>
                  <a:close/>
                </a:path>
                <a:path w="987425" h="148589">
                  <a:moveTo>
                    <a:pt x="965298" y="76073"/>
                  </a:moveTo>
                  <a:lnTo>
                    <a:pt x="952627" y="76073"/>
                  </a:lnTo>
                  <a:lnTo>
                    <a:pt x="950722" y="100711"/>
                  </a:lnTo>
                  <a:lnTo>
                    <a:pt x="967295" y="100711"/>
                  </a:lnTo>
                  <a:lnTo>
                    <a:pt x="971591" y="98639"/>
                  </a:lnTo>
                  <a:lnTo>
                    <a:pt x="972439" y="97917"/>
                  </a:lnTo>
                  <a:lnTo>
                    <a:pt x="973709" y="82168"/>
                  </a:lnTo>
                  <a:lnTo>
                    <a:pt x="973185" y="81554"/>
                  </a:lnTo>
                  <a:lnTo>
                    <a:pt x="965298" y="76073"/>
                  </a:lnTo>
                  <a:close/>
                </a:path>
                <a:path w="987425" h="148589">
                  <a:moveTo>
                    <a:pt x="8128" y="0"/>
                  </a:moveTo>
                  <a:lnTo>
                    <a:pt x="1270" y="5968"/>
                  </a:lnTo>
                  <a:lnTo>
                    <a:pt x="0" y="21717"/>
                  </a:lnTo>
                  <a:lnTo>
                    <a:pt x="5968" y="28575"/>
                  </a:lnTo>
                  <a:lnTo>
                    <a:pt x="905134" y="99007"/>
                  </a:lnTo>
                  <a:lnTo>
                    <a:pt x="930580" y="86718"/>
                  </a:lnTo>
                  <a:lnTo>
                    <a:pt x="907295" y="70542"/>
                  </a:lnTo>
                  <a:lnTo>
                    <a:pt x="8128" y="0"/>
                  </a:lnTo>
                  <a:close/>
                </a:path>
                <a:path w="987425" h="148589">
                  <a:moveTo>
                    <a:pt x="973185" y="81554"/>
                  </a:moveTo>
                  <a:lnTo>
                    <a:pt x="973709" y="82168"/>
                  </a:lnTo>
                  <a:lnTo>
                    <a:pt x="972439" y="97917"/>
                  </a:lnTo>
                  <a:lnTo>
                    <a:pt x="971591" y="98639"/>
                  </a:lnTo>
                  <a:lnTo>
                    <a:pt x="987044" y="91186"/>
                  </a:lnTo>
                  <a:lnTo>
                    <a:pt x="973185" y="81554"/>
                  </a:lnTo>
                  <a:close/>
                </a:path>
                <a:path w="987425" h="148589">
                  <a:moveTo>
                    <a:pt x="907295" y="70542"/>
                  </a:moveTo>
                  <a:lnTo>
                    <a:pt x="930580" y="86718"/>
                  </a:lnTo>
                  <a:lnTo>
                    <a:pt x="952627" y="76073"/>
                  </a:lnTo>
                  <a:lnTo>
                    <a:pt x="965298" y="76073"/>
                  </a:lnTo>
                  <a:lnTo>
                    <a:pt x="963721" y="74976"/>
                  </a:lnTo>
                  <a:lnTo>
                    <a:pt x="907295" y="70542"/>
                  </a:lnTo>
                  <a:close/>
                </a:path>
                <a:path w="987425" h="148589">
                  <a:moveTo>
                    <a:pt x="963721" y="74976"/>
                  </a:moveTo>
                  <a:lnTo>
                    <a:pt x="973185" y="81554"/>
                  </a:lnTo>
                  <a:lnTo>
                    <a:pt x="967867" y="75311"/>
                  </a:lnTo>
                  <a:lnTo>
                    <a:pt x="963721" y="74976"/>
                  </a:lnTo>
                  <a:close/>
                </a:path>
                <a:path w="987425" h="148589">
                  <a:moveTo>
                    <a:pt x="878967" y="16129"/>
                  </a:moveTo>
                  <a:lnTo>
                    <a:pt x="870077" y="17780"/>
                  </a:lnTo>
                  <a:lnTo>
                    <a:pt x="865505" y="24257"/>
                  </a:lnTo>
                  <a:lnTo>
                    <a:pt x="861060" y="30734"/>
                  </a:lnTo>
                  <a:lnTo>
                    <a:pt x="862711" y="39624"/>
                  </a:lnTo>
                  <a:lnTo>
                    <a:pt x="907295" y="70542"/>
                  </a:lnTo>
                  <a:lnTo>
                    <a:pt x="963721" y="74976"/>
                  </a:lnTo>
                  <a:lnTo>
                    <a:pt x="878967" y="161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14295" y="3349307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81150" y="4086161"/>
            <a:ext cx="643255" cy="738505"/>
            <a:chOff x="1581150" y="4086161"/>
            <a:chExt cx="643255" cy="73850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9250" y="4133786"/>
              <a:ext cx="566737" cy="5667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1150" y="4086161"/>
              <a:ext cx="642937" cy="73818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76400" y="41624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809114" y="4188777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28925" y="4162361"/>
            <a:ext cx="738505" cy="738505"/>
            <a:chOff x="2828925" y="4162361"/>
            <a:chExt cx="738505" cy="73850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4650" y="4209986"/>
              <a:ext cx="566737" cy="56673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4162361"/>
              <a:ext cx="738187" cy="7381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971800" y="42386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055366" y="4264977"/>
            <a:ext cx="297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180076" y="4882358"/>
          <a:ext cx="2211069" cy="14105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9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969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⅓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78">
                <a:tc>
                  <a:txBody>
                    <a:bodyPr/>
                    <a:lstStyle/>
                    <a:p>
                      <a:pPr marL="1066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⅓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⅓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137285" y="4882358"/>
          <a:ext cx="2215514" cy="14105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9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8001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1454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78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1454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3810000" y="3467100"/>
            <a:ext cx="1371600" cy="866775"/>
          </a:xfrm>
          <a:custGeom>
            <a:avLst/>
            <a:gdLst/>
            <a:ahLst/>
            <a:cxnLst/>
            <a:rect l="l" t="t" r="r" b="b"/>
            <a:pathLst>
              <a:path w="1371600" h="866775">
                <a:moveTo>
                  <a:pt x="0" y="216662"/>
                </a:moveTo>
                <a:lnTo>
                  <a:pt x="938276" y="216662"/>
                </a:lnTo>
                <a:lnTo>
                  <a:pt x="938276" y="0"/>
                </a:lnTo>
                <a:lnTo>
                  <a:pt x="1371600" y="433324"/>
                </a:lnTo>
                <a:lnTo>
                  <a:pt x="938276" y="866775"/>
                </a:lnTo>
                <a:lnTo>
                  <a:pt x="938276" y="650113"/>
                </a:lnTo>
                <a:lnTo>
                  <a:pt x="0" y="650113"/>
                </a:lnTo>
                <a:lnTo>
                  <a:pt x="0" y="216662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5560567" y="3038475"/>
            <a:ext cx="1435735" cy="1443355"/>
            <a:chOff x="5560567" y="3038475"/>
            <a:chExt cx="1435735" cy="1443355"/>
          </a:xfrm>
        </p:grpSpPr>
        <p:sp>
          <p:nvSpPr>
            <p:cNvPr id="27" name="object 27"/>
            <p:cNvSpPr/>
            <p:nvPr/>
          </p:nvSpPr>
          <p:spPr>
            <a:xfrm>
              <a:off x="6806945" y="3832733"/>
              <a:ext cx="189865" cy="488315"/>
            </a:xfrm>
            <a:custGeom>
              <a:avLst/>
              <a:gdLst/>
              <a:ahLst/>
              <a:cxnLst/>
              <a:rect l="l" t="t" r="r" b="b"/>
              <a:pathLst>
                <a:path w="189865" h="488314">
                  <a:moveTo>
                    <a:pt x="107648" y="404129"/>
                  </a:moveTo>
                  <a:lnTo>
                    <a:pt x="100681" y="406338"/>
                  </a:lnTo>
                  <a:lnTo>
                    <a:pt x="94869" y="411226"/>
                  </a:lnTo>
                  <a:lnTo>
                    <a:pt x="91469" y="417964"/>
                  </a:lnTo>
                  <a:lnTo>
                    <a:pt x="90916" y="425227"/>
                  </a:lnTo>
                  <a:lnTo>
                    <a:pt x="93100" y="432157"/>
                  </a:lnTo>
                  <a:lnTo>
                    <a:pt x="132206" y="464439"/>
                  </a:lnTo>
                  <a:lnTo>
                    <a:pt x="166012" y="487638"/>
                  </a:lnTo>
                  <a:lnTo>
                    <a:pt x="173323" y="487981"/>
                  </a:lnTo>
                  <a:lnTo>
                    <a:pt x="180205" y="485538"/>
                  </a:lnTo>
                  <a:lnTo>
                    <a:pt x="185800" y="480441"/>
                  </a:lnTo>
                  <a:lnTo>
                    <a:pt x="188989" y="473632"/>
                  </a:lnTo>
                  <a:lnTo>
                    <a:pt x="189309" y="466359"/>
                  </a:lnTo>
                  <a:lnTo>
                    <a:pt x="186890" y="459491"/>
                  </a:lnTo>
                  <a:lnTo>
                    <a:pt x="181863" y="453898"/>
                  </a:lnTo>
                  <a:lnTo>
                    <a:pt x="154939" y="433832"/>
                  </a:lnTo>
                  <a:lnTo>
                    <a:pt x="128904" y="413893"/>
                  </a:lnTo>
                  <a:lnTo>
                    <a:pt x="121665" y="408178"/>
                  </a:lnTo>
                  <a:lnTo>
                    <a:pt x="114925" y="404707"/>
                  </a:lnTo>
                  <a:lnTo>
                    <a:pt x="107648" y="404129"/>
                  </a:lnTo>
                  <a:close/>
                </a:path>
                <a:path w="189865" h="488314">
                  <a:moveTo>
                    <a:pt x="17906" y="286131"/>
                  </a:moveTo>
                  <a:lnTo>
                    <a:pt x="0" y="307721"/>
                  </a:lnTo>
                  <a:lnTo>
                    <a:pt x="380" y="310515"/>
                  </a:lnTo>
                  <a:lnTo>
                    <a:pt x="13080" y="347472"/>
                  </a:lnTo>
                  <a:lnTo>
                    <a:pt x="36829" y="381254"/>
                  </a:lnTo>
                  <a:lnTo>
                    <a:pt x="52847" y="390572"/>
                  </a:lnTo>
                  <a:lnTo>
                    <a:pt x="60072" y="389534"/>
                  </a:lnTo>
                  <a:lnTo>
                    <a:pt x="66548" y="385699"/>
                  </a:lnTo>
                  <a:lnTo>
                    <a:pt x="71070" y="379581"/>
                  </a:lnTo>
                  <a:lnTo>
                    <a:pt x="72818" y="372475"/>
                  </a:lnTo>
                  <a:lnTo>
                    <a:pt x="71780" y="365250"/>
                  </a:lnTo>
                  <a:lnTo>
                    <a:pt x="67945" y="358775"/>
                  </a:lnTo>
                  <a:lnTo>
                    <a:pt x="65024" y="355600"/>
                  </a:lnTo>
                  <a:lnTo>
                    <a:pt x="57403" y="346202"/>
                  </a:lnTo>
                  <a:lnTo>
                    <a:pt x="39243" y="311150"/>
                  </a:lnTo>
                  <a:lnTo>
                    <a:pt x="38219" y="305689"/>
                  </a:lnTo>
                  <a:lnTo>
                    <a:pt x="37766" y="303352"/>
                  </a:lnTo>
                  <a:lnTo>
                    <a:pt x="36105" y="296828"/>
                  </a:lnTo>
                  <a:lnTo>
                    <a:pt x="31702" y="291004"/>
                  </a:lnTo>
                  <a:lnTo>
                    <a:pt x="25417" y="287252"/>
                  </a:lnTo>
                  <a:lnTo>
                    <a:pt x="17906" y="286131"/>
                  </a:lnTo>
                  <a:close/>
                </a:path>
                <a:path w="189865" h="488314">
                  <a:moveTo>
                    <a:pt x="37766" y="303352"/>
                  </a:moveTo>
                  <a:lnTo>
                    <a:pt x="38100" y="305689"/>
                  </a:lnTo>
                  <a:lnTo>
                    <a:pt x="38004" y="304545"/>
                  </a:lnTo>
                  <a:lnTo>
                    <a:pt x="37766" y="303352"/>
                  </a:lnTo>
                  <a:close/>
                </a:path>
                <a:path w="189865" h="488314">
                  <a:moveTo>
                    <a:pt x="38004" y="304545"/>
                  </a:moveTo>
                  <a:lnTo>
                    <a:pt x="38100" y="305689"/>
                  </a:lnTo>
                  <a:lnTo>
                    <a:pt x="38004" y="304545"/>
                  </a:lnTo>
                  <a:close/>
                </a:path>
                <a:path w="189865" h="488314">
                  <a:moveTo>
                    <a:pt x="37822" y="303572"/>
                  </a:moveTo>
                  <a:lnTo>
                    <a:pt x="38004" y="304545"/>
                  </a:lnTo>
                  <a:lnTo>
                    <a:pt x="37973" y="304165"/>
                  </a:lnTo>
                  <a:lnTo>
                    <a:pt x="37822" y="303572"/>
                  </a:lnTo>
                  <a:close/>
                </a:path>
                <a:path w="189865" h="488314">
                  <a:moveTo>
                    <a:pt x="100123" y="162433"/>
                  </a:moveTo>
                  <a:lnTo>
                    <a:pt x="93132" y="164465"/>
                  </a:lnTo>
                  <a:lnTo>
                    <a:pt x="87249" y="169164"/>
                  </a:lnTo>
                  <a:lnTo>
                    <a:pt x="83311" y="173863"/>
                  </a:lnTo>
                  <a:lnTo>
                    <a:pt x="73786" y="184531"/>
                  </a:lnTo>
                  <a:lnTo>
                    <a:pt x="43052" y="218186"/>
                  </a:lnTo>
                  <a:lnTo>
                    <a:pt x="32083" y="239633"/>
                  </a:lnTo>
                  <a:lnTo>
                    <a:pt x="34057" y="246647"/>
                  </a:lnTo>
                  <a:lnTo>
                    <a:pt x="38734" y="252603"/>
                  </a:lnTo>
                  <a:lnTo>
                    <a:pt x="45333" y="256284"/>
                  </a:lnTo>
                  <a:lnTo>
                    <a:pt x="52562" y="257095"/>
                  </a:lnTo>
                  <a:lnTo>
                    <a:pt x="59576" y="255121"/>
                  </a:lnTo>
                  <a:lnTo>
                    <a:pt x="65531" y="250444"/>
                  </a:lnTo>
                  <a:lnTo>
                    <a:pt x="72008" y="242951"/>
                  </a:lnTo>
                  <a:lnTo>
                    <a:pt x="81660" y="232156"/>
                  </a:lnTo>
                  <a:lnTo>
                    <a:pt x="111759" y="199263"/>
                  </a:lnTo>
                  <a:lnTo>
                    <a:pt x="120888" y="179625"/>
                  </a:lnTo>
                  <a:lnTo>
                    <a:pt x="118818" y="172634"/>
                  </a:lnTo>
                  <a:lnTo>
                    <a:pt x="114046" y="166751"/>
                  </a:lnTo>
                  <a:lnTo>
                    <a:pt x="107376" y="163163"/>
                  </a:lnTo>
                  <a:lnTo>
                    <a:pt x="100123" y="162433"/>
                  </a:lnTo>
                  <a:close/>
                </a:path>
                <a:path w="189865" h="488314">
                  <a:moveTo>
                    <a:pt x="111585" y="111604"/>
                  </a:moveTo>
                  <a:lnTo>
                    <a:pt x="131318" y="132080"/>
                  </a:lnTo>
                  <a:lnTo>
                    <a:pt x="138624" y="130399"/>
                  </a:lnTo>
                  <a:lnTo>
                    <a:pt x="144525" y="126158"/>
                  </a:lnTo>
                  <a:lnTo>
                    <a:pt x="148427" y="119989"/>
                  </a:lnTo>
                  <a:lnTo>
                    <a:pt x="149333" y="114808"/>
                  </a:lnTo>
                  <a:lnTo>
                    <a:pt x="112902" y="114808"/>
                  </a:lnTo>
                  <a:lnTo>
                    <a:pt x="111585" y="111604"/>
                  </a:lnTo>
                  <a:close/>
                </a:path>
                <a:path w="189865" h="488314">
                  <a:moveTo>
                    <a:pt x="79121" y="0"/>
                  </a:moveTo>
                  <a:lnTo>
                    <a:pt x="78612" y="127762"/>
                  </a:lnTo>
                  <a:lnTo>
                    <a:pt x="111535" y="111484"/>
                  </a:lnTo>
                  <a:lnTo>
                    <a:pt x="103758" y="92583"/>
                  </a:lnTo>
                  <a:lnTo>
                    <a:pt x="102367" y="85139"/>
                  </a:lnTo>
                  <a:lnTo>
                    <a:pt x="103870" y="77993"/>
                  </a:lnTo>
                  <a:lnTo>
                    <a:pt x="107940" y="71905"/>
                  </a:lnTo>
                  <a:lnTo>
                    <a:pt x="114173" y="67691"/>
                  </a:lnTo>
                  <a:lnTo>
                    <a:pt x="121634" y="66301"/>
                  </a:lnTo>
                  <a:lnTo>
                    <a:pt x="166831" y="66301"/>
                  </a:lnTo>
                  <a:lnTo>
                    <a:pt x="79121" y="0"/>
                  </a:lnTo>
                  <a:close/>
                </a:path>
                <a:path w="189865" h="488314">
                  <a:moveTo>
                    <a:pt x="112137" y="111186"/>
                  </a:moveTo>
                  <a:lnTo>
                    <a:pt x="111581" y="111461"/>
                  </a:lnTo>
                  <a:lnTo>
                    <a:pt x="111585" y="111604"/>
                  </a:lnTo>
                  <a:lnTo>
                    <a:pt x="112902" y="114808"/>
                  </a:lnTo>
                  <a:lnTo>
                    <a:pt x="112137" y="111186"/>
                  </a:lnTo>
                  <a:close/>
                </a:path>
                <a:path w="189865" h="488314">
                  <a:moveTo>
                    <a:pt x="145738" y="94573"/>
                  </a:moveTo>
                  <a:lnTo>
                    <a:pt x="112137" y="111186"/>
                  </a:lnTo>
                  <a:lnTo>
                    <a:pt x="112902" y="114808"/>
                  </a:lnTo>
                  <a:lnTo>
                    <a:pt x="149333" y="114808"/>
                  </a:lnTo>
                  <a:lnTo>
                    <a:pt x="149732" y="112522"/>
                  </a:lnTo>
                  <a:lnTo>
                    <a:pt x="149536" y="108204"/>
                  </a:lnTo>
                  <a:lnTo>
                    <a:pt x="149478" y="104648"/>
                  </a:lnTo>
                  <a:lnTo>
                    <a:pt x="148971" y="102489"/>
                  </a:lnTo>
                  <a:lnTo>
                    <a:pt x="145738" y="94573"/>
                  </a:lnTo>
                  <a:close/>
                </a:path>
                <a:path w="189865" h="488314">
                  <a:moveTo>
                    <a:pt x="121634" y="66301"/>
                  </a:moveTo>
                  <a:lnTo>
                    <a:pt x="114173" y="67691"/>
                  </a:lnTo>
                  <a:lnTo>
                    <a:pt x="107920" y="71919"/>
                  </a:lnTo>
                  <a:lnTo>
                    <a:pt x="103870" y="77993"/>
                  </a:lnTo>
                  <a:lnTo>
                    <a:pt x="102367" y="85139"/>
                  </a:lnTo>
                  <a:lnTo>
                    <a:pt x="103758" y="92583"/>
                  </a:lnTo>
                  <a:lnTo>
                    <a:pt x="111535" y="111484"/>
                  </a:lnTo>
                  <a:lnTo>
                    <a:pt x="111505" y="108204"/>
                  </a:lnTo>
                  <a:lnTo>
                    <a:pt x="118170" y="108204"/>
                  </a:lnTo>
                  <a:lnTo>
                    <a:pt x="145738" y="94573"/>
                  </a:lnTo>
                  <a:lnTo>
                    <a:pt x="139064" y="78232"/>
                  </a:lnTo>
                  <a:lnTo>
                    <a:pt x="134889" y="71905"/>
                  </a:lnTo>
                  <a:lnTo>
                    <a:pt x="128809" y="67818"/>
                  </a:lnTo>
                  <a:lnTo>
                    <a:pt x="121634" y="66301"/>
                  </a:lnTo>
                  <a:close/>
                </a:path>
                <a:path w="189865" h="488314">
                  <a:moveTo>
                    <a:pt x="111505" y="108204"/>
                  </a:moveTo>
                  <a:lnTo>
                    <a:pt x="111581" y="111461"/>
                  </a:lnTo>
                  <a:lnTo>
                    <a:pt x="112137" y="111186"/>
                  </a:lnTo>
                  <a:lnTo>
                    <a:pt x="111505" y="108204"/>
                  </a:lnTo>
                  <a:close/>
                </a:path>
                <a:path w="189865" h="488314">
                  <a:moveTo>
                    <a:pt x="118170" y="108204"/>
                  </a:moveTo>
                  <a:lnTo>
                    <a:pt x="111505" y="108204"/>
                  </a:lnTo>
                  <a:lnTo>
                    <a:pt x="112137" y="111186"/>
                  </a:lnTo>
                  <a:lnTo>
                    <a:pt x="118170" y="108204"/>
                  </a:lnTo>
                  <a:close/>
                </a:path>
                <a:path w="189865" h="488314">
                  <a:moveTo>
                    <a:pt x="166831" y="66301"/>
                  </a:moveTo>
                  <a:lnTo>
                    <a:pt x="121634" y="66301"/>
                  </a:lnTo>
                  <a:lnTo>
                    <a:pt x="128809" y="67818"/>
                  </a:lnTo>
                  <a:lnTo>
                    <a:pt x="134899" y="71919"/>
                  </a:lnTo>
                  <a:lnTo>
                    <a:pt x="139064" y="78232"/>
                  </a:lnTo>
                  <a:lnTo>
                    <a:pt x="145738" y="94573"/>
                  </a:lnTo>
                  <a:lnTo>
                    <a:pt x="181101" y="77089"/>
                  </a:lnTo>
                  <a:lnTo>
                    <a:pt x="166831" y="66301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60568" y="3038474"/>
              <a:ext cx="1226820" cy="1443355"/>
            </a:xfrm>
            <a:custGeom>
              <a:avLst/>
              <a:gdLst/>
              <a:ahLst/>
              <a:cxnLst/>
              <a:rect l="l" t="t" r="r" b="b"/>
              <a:pathLst>
                <a:path w="1226820" h="1443354">
                  <a:moveTo>
                    <a:pt x="273596" y="1091539"/>
                  </a:moveTo>
                  <a:lnTo>
                    <a:pt x="271653" y="1094867"/>
                  </a:lnTo>
                  <a:lnTo>
                    <a:pt x="273532" y="1102525"/>
                  </a:lnTo>
                  <a:lnTo>
                    <a:pt x="273596" y="1091539"/>
                  </a:lnTo>
                  <a:close/>
                </a:path>
                <a:path w="1226820" h="1443354">
                  <a:moveTo>
                    <a:pt x="322961" y="696341"/>
                  </a:moveTo>
                  <a:lnTo>
                    <a:pt x="321068" y="688695"/>
                  </a:lnTo>
                  <a:lnTo>
                    <a:pt x="321132" y="679577"/>
                  </a:lnTo>
                  <a:lnTo>
                    <a:pt x="321183" y="671449"/>
                  </a:lnTo>
                  <a:lnTo>
                    <a:pt x="306095" y="679856"/>
                  </a:lnTo>
                  <a:lnTo>
                    <a:pt x="298450" y="681736"/>
                  </a:lnTo>
                  <a:lnTo>
                    <a:pt x="296341" y="685279"/>
                  </a:lnTo>
                  <a:lnTo>
                    <a:pt x="213106" y="731647"/>
                  </a:lnTo>
                  <a:lnTo>
                    <a:pt x="206121" y="735457"/>
                  </a:lnTo>
                  <a:lnTo>
                    <a:pt x="203708" y="744220"/>
                  </a:lnTo>
                  <a:lnTo>
                    <a:pt x="211328" y="757936"/>
                  </a:lnTo>
                  <a:lnTo>
                    <a:pt x="220091" y="760476"/>
                  </a:lnTo>
                  <a:lnTo>
                    <a:pt x="267487" y="734047"/>
                  </a:lnTo>
                  <a:lnTo>
                    <a:pt x="4064" y="1179195"/>
                  </a:lnTo>
                  <a:lnTo>
                    <a:pt x="0" y="1185926"/>
                  </a:lnTo>
                  <a:lnTo>
                    <a:pt x="2286" y="1194689"/>
                  </a:lnTo>
                  <a:lnTo>
                    <a:pt x="9017" y="1198753"/>
                  </a:lnTo>
                  <a:lnTo>
                    <a:pt x="15875" y="1202690"/>
                  </a:lnTo>
                  <a:lnTo>
                    <a:pt x="24638" y="1200531"/>
                  </a:lnTo>
                  <a:lnTo>
                    <a:pt x="28575" y="1193673"/>
                  </a:lnTo>
                  <a:lnTo>
                    <a:pt x="292138" y="748487"/>
                  </a:lnTo>
                  <a:lnTo>
                    <a:pt x="291846" y="795020"/>
                  </a:lnTo>
                  <a:lnTo>
                    <a:pt x="291833" y="803021"/>
                  </a:lnTo>
                  <a:lnTo>
                    <a:pt x="298069" y="809371"/>
                  </a:lnTo>
                  <a:lnTo>
                    <a:pt x="305943" y="809371"/>
                  </a:lnTo>
                  <a:lnTo>
                    <a:pt x="313817" y="809498"/>
                  </a:lnTo>
                  <a:lnTo>
                    <a:pt x="320294" y="803021"/>
                  </a:lnTo>
                  <a:lnTo>
                    <a:pt x="320421" y="795020"/>
                  </a:lnTo>
                  <a:lnTo>
                    <a:pt x="321005" y="699681"/>
                  </a:lnTo>
                  <a:lnTo>
                    <a:pt x="322961" y="696341"/>
                  </a:lnTo>
                  <a:close/>
                </a:path>
                <a:path w="1226820" h="1443354">
                  <a:moveTo>
                    <a:pt x="479958" y="220116"/>
                  </a:moveTo>
                  <a:lnTo>
                    <a:pt x="474040" y="228536"/>
                  </a:lnTo>
                  <a:lnTo>
                    <a:pt x="479298" y="224663"/>
                  </a:lnTo>
                  <a:lnTo>
                    <a:pt x="479958" y="220116"/>
                  </a:lnTo>
                  <a:close/>
                </a:path>
                <a:path w="1226820" h="1443354">
                  <a:moveTo>
                    <a:pt x="594614" y="605282"/>
                  </a:moveTo>
                  <a:lnTo>
                    <a:pt x="592328" y="596519"/>
                  </a:lnTo>
                  <a:lnTo>
                    <a:pt x="578739" y="588518"/>
                  </a:lnTo>
                  <a:lnTo>
                    <a:pt x="569976" y="590804"/>
                  </a:lnTo>
                  <a:lnTo>
                    <a:pt x="566039" y="597535"/>
                  </a:lnTo>
                  <a:lnTo>
                    <a:pt x="302463" y="1042733"/>
                  </a:lnTo>
                  <a:lnTo>
                    <a:pt x="302768" y="996315"/>
                  </a:lnTo>
                  <a:lnTo>
                    <a:pt x="302768" y="988187"/>
                  </a:lnTo>
                  <a:lnTo>
                    <a:pt x="296545" y="981964"/>
                  </a:lnTo>
                  <a:lnTo>
                    <a:pt x="288671" y="981837"/>
                  </a:lnTo>
                  <a:lnTo>
                    <a:pt x="280797" y="981837"/>
                  </a:lnTo>
                  <a:lnTo>
                    <a:pt x="274320" y="988187"/>
                  </a:lnTo>
                  <a:lnTo>
                    <a:pt x="274180" y="996315"/>
                  </a:lnTo>
                  <a:lnTo>
                    <a:pt x="273596" y="1091539"/>
                  </a:lnTo>
                  <a:lnTo>
                    <a:pt x="273583" y="1102728"/>
                  </a:lnTo>
                  <a:lnTo>
                    <a:pt x="273532" y="1102525"/>
                  </a:lnTo>
                  <a:lnTo>
                    <a:pt x="273431" y="1119759"/>
                  </a:lnTo>
                  <a:lnTo>
                    <a:pt x="287794" y="1111758"/>
                  </a:lnTo>
                  <a:lnTo>
                    <a:pt x="288137" y="1111567"/>
                  </a:lnTo>
                  <a:lnTo>
                    <a:pt x="296164" y="1109472"/>
                  </a:lnTo>
                  <a:lnTo>
                    <a:pt x="298323" y="1105903"/>
                  </a:lnTo>
                  <a:lnTo>
                    <a:pt x="381508" y="1059561"/>
                  </a:lnTo>
                  <a:lnTo>
                    <a:pt x="388493" y="1055751"/>
                  </a:lnTo>
                  <a:lnTo>
                    <a:pt x="390906" y="1046988"/>
                  </a:lnTo>
                  <a:lnTo>
                    <a:pt x="383286" y="1033272"/>
                  </a:lnTo>
                  <a:lnTo>
                    <a:pt x="374523" y="1030732"/>
                  </a:lnTo>
                  <a:lnTo>
                    <a:pt x="367665" y="1034669"/>
                  </a:lnTo>
                  <a:lnTo>
                    <a:pt x="327177" y="1057198"/>
                  </a:lnTo>
                  <a:lnTo>
                    <a:pt x="594614" y="605282"/>
                  </a:lnTo>
                  <a:close/>
                </a:path>
                <a:path w="1226820" h="1443354">
                  <a:moveTo>
                    <a:pt x="935482" y="243332"/>
                  </a:moveTo>
                  <a:lnTo>
                    <a:pt x="930021" y="197358"/>
                  </a:lnTo>
                  <a:lnTo>
                    <a:pt x="914781" y="153543"/>
                  </a:lnTo>
                  <a:lnTo>
                    <a:pt x="891032" y="112522"/>
                  </a:lnTo>
                  <a:lnTo>
                    <a:pt x="860298" y="76073"/>
                  </a:lnTo>
                  <a:lnTo>
                    <a:pt x="823976" y="45212"/>
                  </a:lnTo>
                  <a:lnTo>
                    <a:pt x="797001" y="28575"/>
                  </a:lnTo>
                  <a:lnTo>
                    <a:pt x="783209" y="21209"/>
                  </a:lnTo>
                  <a:lnTo>
                    <a:pt x="738886" y="5588"/>
                  </a:lnTo>
                  <a:lnTo>
                    <a:pt x="693039" y="0"/>
                  </a:lnTo>
                  <a:lnTo>
                    <a:pt x="681482" y="254"/>
                  </a:lnTo>
                  <a:lnTo>
                    <a:pt x="635762" y="8382"/>
                  </a:lnTo>
                  <a:lnTo>
                    <a:pt x="582295" y="31623"/>
                  </a:lnTo>
                  <a:lnTo>
                    <a:pt x="543306" y="59055"/>
                  </a:lnTo>
                  <a:lnTo>
                    <a:pt x="509524" y="92710"/>
                  </a:lnTo>
                  <a:lnTo>
                    <a:pt x="481965" y="131572"/>
                  </a:lnTo>
                  <a:lnTo>
                    <a:pt x="462457" y="173228"/>
                  </a:lnTo>
                  <a:lnTo>
                    <a:pt x="436499" y="118745"/>
                  </a:lnTo>
                  <a:lnTo>
                    <a:pt x="433197" y="111887"/>
                  </a:lnTo>
                  <a:lnTo>
                    <a:pt x="424688" y="108839"/>
                  </a:lnTo>
                  <a:lnTo>
                    <a:pt x="417576" y="112141"/>
                  </a:lnTo>
                  <a:lnTo>
                    <a:pt x="410464" y="115570"/>
                  </a:lnTo>
                  <a:lnTo>
                    <a:pt x="407416" y="124079"/>
                  </a:lnTo>
                  <a:lnTo>
                    <a:pt x="410718" y="131191"/>
                  </a:lnTo>
                  <a:lnTo>
                    <a:pt x="451586" y="217043"/>
                  </a:lnTo>
                  <a:lnTo>
                    <a:pt x="451104" y="220345"/>
                  </a:lnTo>
                  <a:lnTo>
                    <a:pt x="456438" y="227584"/>
                  </a:lnTo>
                  <a:lnTo>
                    <a:pt x="456628" y="227622"/>
                  </a:lnTo>
                  <a:lnTo>
                    <a:pt x="463931" y="242951"/>
                  </a:lnTo>
                  <a:lnTo>
                    <a:pt x="473011" y="229997"/>
                  </a:lnTo>
                  <a:lnTo>
                    <a:pt x="474040" y="228536"/>
                  </a:lnTo>
                  <a:lnTo>
                    <a:pt x="479958" y="220091"/>
                  </a:lnTo>
                  <a:lnTo>
                    <a:pt x="539623" y="135128"/>
                  </a:lnTo>
                  <a:lnTo>
                    <a:pt x="537972" y="126238"/>
                  </a:lnTo>
                  <a:lnTo>
                    <a:pt x="531495" y="121793"/>
                  </a:lnTo>
                  <a:lnTo>
                    <a:pt x="526034" y="117957"/>
                  </a:lnTo>
                  <a:lnTo>
                    <a:pt x="560832" y="81661"/>
                  </a:lnTo>
                  <a:lnTo>
                    <a:pt x="595630" y="56896"/>
                  </a:lnTo>
                  <a:lnTo>
                    <a:pt x="633603" y="39243"/>
                  </a:lnTo>
                  <a:lnTo>
                    <a:pt x="672592" y="29845"/>
                  </a:lnTo>
                  <a:lnTo>
                    <a:pt x="692150" y="28575"/>
                  </a:lnTo>
                  <a:lnTo>
                    <a:pt x="701929" y="28829"/>
                  </a:lnTo>
                  <a:lnTo>
                    <a:pt x="741299" y="35814"/>
                  </a:lnTo>
                  <a:lnTo>
                    <a:pt x="788543" y="56261"/>
                  </a:lnTo>
                  <a:lnTo>
                    <a:pt x="823468" y="80899"/>
                  </a:lnTo>
                  <a:lnTo>
                    <a:pt x="853821" y="111125"/>
                  </a:lnTo>
                  <a:lnTo>
                    <a:pt x="878586" y="145923"/>
                  </a:lnTo>
                  <a:lnTo>
                    <a:pt x="896239" y="183896"/>
                  </a:lnTo>
                  <a:lnTo>
                    <a:pt x="905637" y="222885"/>
                  </a:lnTo>
                  <a:lnTo>
                    <a:pt x="906907" y="242443"/>
                  </a:lnTo>
                  <a:lnTo>
                    <a:pt x="906653" y="252222"/>
                  </a:lnTo>
                  <a:lnTo>
                    <a:pt x="899668" y="291592"/>
                  </a:lnTo>
                  <a:lnTo>
                    <a:pt x="879221" y="338836"/>
                  </a:lnTo>
                  <a:lnTo>
                    <a:pt x="854583" y="373761"/>
                  </a:lnTo>
                  <a:lnTo>
                    <a:pt x="824357" y="404114"/>
                  </a:lnTo>
                  <a:lnTo>
                    <a:pt x="789559" y="428879"/>
                  </a:lnTo>
                  <a:lnTo>
                    <a:pt x="751586" y="446532"/>
                  </a:lnTo>
                  <a:lnTo>
                    <a:pt x="712597" y="455930"/>
                  </a:lnTo>
                  <a:lnTo>
                    <a:pt x="684276" y="457454"/>
                  </a:lnTo>
                  <a:lnTo>
                    <a:pt x="678053" y="463931"/>
                  </a:lnTo>
                  <a:lnTo>
                    <a:pt x="678561" y="479806"/>
                  </a:lnTo>
                  <a:lnTo>
                    <a:pt x="685038" y="486029"/>
                  </a:lnTo>
                  <a:lnTo>
                    <a:pt x="703707" y="485521"/>
                  </a:lnTo>
                  <a:lnTo>
                    <a:pt x="749427" y="477393"/>
                  </a:lnTo>
                  <a:lnTo>
                    <a:pt x="802894" y="454152"/>
                  </a:lnTo>
                  <a:lnTo>
                    <a:pt x="841883" y="426720"/>
                  </a:lnTo>
                  <a:lnTo>
                    <a:pt x="875665" y="393065"/>
                  </a:lnTo>
                  <a:lnTo>
                    <a:pt x="903224" y="354203"/>
                  </a:lnTo>
                  <a:lnTo>
                    <a:pt x="923036" y="311785"/>
                  </a:lnTo>
                  <a:lnTo>
                    <a:pt x="933958" y="266446"/>
                  </a:lnTo>
                  <a:lnTo>
                    <a:pt x="935101" y="254889"/>
                  </a:lnTo>
                  <a:lnTo>
                    <a:pt x="935482" y="243332"/>
                  </a:lnTo>
                  <a:close/>
                </a:path>
                <a:path w="1226820" h="1443354">
                  <a:moveTo>
                    <a:pt x="1226566" y="1385951"/>
                  </a:moveTo>
                  <a:lnTo>
                    <a:pt x="1212697" y="1376324"/>
                  </a:lnTo>
                  <a:lnTo>
                    <a:pt x="1207389" y="1370076"/>
                  </a:lnTo>
                  <a:lnTo>
                    <a:pt x="1203236" y="1369745"/>
                  </a:lnTo>
                  <a:lnTo>
                    <a:pt x="1118489" y="1310894"/>
                  </a:lnTo>
                  <a:lnTo>
                    <a:pt x="1109599" y="1312545"/>
                  </a:lnTo>
                  <a:lnTo>
                    <a:pt x="1105027" y="1319022"/>
                  </a:lnTo>
                  <a:lnTo>
                    <a:pt x="1100582" y="1325499"/>
                  </a:lnTo>
                  <a:lnTo>
                    <a:pt x="1102233" y="1334389"/>
                  </a:lnTo>
                  <a:lnTo>
                    <a:pt x="1146810" y="1365313"/>
                  </a:lnTo>
                  <a:lnTo>
                    <a:pt x="247650" y="1294765"/>
                  </a:lnTo>
                  <a:lnTo>
                    <a:pt x="240792" y="1300734"/>
                  </a:lnTo>
                  <a:lnTo>
                    <a:pt x="239522" y="1316482"/>
                  </a:lnTo>
                  <a:lnTo>
                    <a:pt x="245491" y="1323340"/>
                  </a:lnTo>
                  <a:lnTo>
                    <a:pt x="1144651" y="1393774"/>
                  </a:lnTo>
                  <a:lnTo>
                    <a:pt x="1095629" y="1417447"/>
                  </a:lnTo>
                  <a:lnTo>
                    <a:pt x="1092708" y="1425956"/>
                  </a:lnTo>
                  <a:lnTo>
                    <a:pt x="1099566" y="1440180"/>
                  </a:lnTo>
                  <a:lnTo>
                    <a:pt x="1108075" y="1443101"/>
                  </a:lnTo>
                  <a:lnTo>
                    <a:pt x="1201153" y="1398206"/>
                  </a:lnTo>
                  <a:lnTo>
                    <a:pt x="1205103" y="1398524"/>
                  </a:lnTo>
                  <a:lnTo>
                    <a:pt x="1211110" y="1393405"/>
                  </a:lnTo>
                  <a:lnTo>
                    <a:pt x="1226566" y="13859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34049" y="3247961"/>
              <a:ext cx="566737" cy="56673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95949" y="3200336"/>
              <a:ext cx="633412" cy="73818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791199" y="3276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928359" y="3304857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391150" y="4038536"/>
            <a:ext cx="643255" cy="738505"/>
            <a:chOff x="5391150" y="4038536"/>
            <a:chExt cx="643255" cy="738505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9250" y="4086161"/>
              <a:ext cx="566737" cy="56673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1150" y="4038536"/>
              <a:ext cx="642937" cy="73818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486400" y="41147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623305" y="4143629"/>
            <a:ext cx="19558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638925" y="4114736"/>
            <a:ext cx="738505" cy="738505"/>
            <a:chOff x="6638925" y="4114736"/>
            <a:chExt cx="738505" cy="738505"/>
          </a:xfrm>
        </p:grpSpPr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4650" y="4162361"/>
              <a:ext cx="566737" cy="56673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38925" y="4114736"/>
              <a:ext cx="738187" cy="73818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781800" y="41909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869176" y="4220527"/>
            <a:ext cx="297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333311"/>
            <a:ext cx="8415401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438019"/>
            <a:ext cx="323850" cy="40068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4362" y="1347787"/>
            <a:ext cx="7988934" cy="1986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66040">
              <a:lnSpc>
                <a:spcPct val="100000"/>
              </a:lnSpc>
              <a:spcBef>
                <a:spcPts val="125"/>
              </a:spcBef>
            </a:pPr>
            <a:r>
              <a:rPr b="1" spc="-15" dirty="0">
                <a:solidFill>
                  <a:srgbClr val="0000FF"/>
                </a:solidFill>
                <a:latin typeface="Calibri"/>
                <a:cs typeface="Calibri"/>
              </a:rPr>
              <a:t>Why </a:t>
            </a:r>
            <a:r>
              <a:rPr b="1" spc="-5" dirty="0">
                <a:solidFill>
                  <a:srgbClr val="0000FF"/>
                </a:solidFill>
                <a:latin typeface="Calibri"/>
                <a:cs typeface="Calibri"/>
              </a:rPr>
              <a:t>are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dead-ends </a:t>
            </a:r>
            <a:r>
              <a:rPr b="1" spc="5" dirty="0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b="1" spc="15" dirty="0">
                <a:solidFill>
                  <a:srgbClr val="0000FF"/>
                </a:solidFill>
                <a:latin typeface="Calibri"/>
                <a:cs typeface="Calibri"/>
              </a:rPr>
              <a:t>spider </a:t>
            </a:r>
            <a:r>
              <a:rPr b="1" spc="-10" dirty="0">
                <a:solidFill>
                  <a:srgbClr val="0000FF"/>
                </a:solidFill>
                <a:latin typeface="Calibri"/>
                <a:cs typeface="Calibri"/>
              </a:rPr>
              <a:t>traps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b="1" spc="-4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FF"/>
                </a:solidFill>
                <a:latin typeface="Calibri"/>
                <a:cs typeface="Calibri"/>
              </a:rPr>
              <a:t>problem  </a:t>
            </a:r>
            <a:r>
              <a:rPr b="1" spc="5" dirty="0">
                <a:latin typeface="Calibri"/>
                <a:cs typeface="Calibri"/>
              </a:rPr>
              <a:t>and </a:t>
            </a:r>
            <a:r>
              <a:rPr b="1" spc="-15" dirty="0">
                <a:solidFill>
                  <a:srgbClr val="FF0066"/>
                </a:solidFill>
                <a:latin typeface="Calibri"/>
                <a:cs typeface="Calibri"/>
              </a:rPr>
              <a:t>why </a:t>
            </a:r>
            <a:r>
              <a:rPr b="1" spc="15" dirty="0">
                <a:solidFill>
                  <a:srgbClr val="FF0066"/>
                </a:solidFill>
                <a:latin typeface="Calibri"/>
                <a:cs typeface="Calibri"/>
              </a:rPr>
              <a:t>do </a:t>
            </a:r>
            <a:r>
              <a:rPr b="1" spc="5" dirty="0">
                <a:solidFill>
                  <a:srgbClr val="FF0066"/>
                </a:solidFill>
                <a:latin typeface="Calibri"/>
                <a:cs typeface="Calibri"/>
              </a:rPr>
              <a:t>teleports solve </a:t>
            </a:r>
            <a:r>
              <a:rPr b="1" spc="10" dirty="0">
                <a:solidFill>
                  <a:srgbClr val="FF0066"/>
                </a:solidFill>
                <a:latin typeface="Calibri"/>
                <a:cs typeface="Calibri"/>
              </a:rPr>
              <a:t>the</a:t>
            </a:r>
            <a:r>
              <a:rPr b="1" spc="-34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b="1" spc="5" dirty="0">
                <a:solidFill>
                  <a:srgbClr val="FF0066"/>
                </a:solidFill>
                <a:latin typeface="Calibri"/>
                <a:cs typeface="Calibri"/>
              </a:rPr>
              <a:t>problem?</a:t>
            </a:r>
          </a:p>
          <a:p>
            <a:pPr marL="336550" marR="5080">
              <a:lnSpc>
                <a:spcPts val="3900"/>
              </a:lnSpc>
              <a:spcBef>
                <a:spcPts val="30"/>
              </a:spcBef>
            </a:pPr>
            <a:r>
              <a:rPr b="1" dirty="0">
                <a:solidFill>
                  <a:srgbClr val="0000FF"/>
                </a:solidFill>
                <a:latin typeface="Calibri"/>
                <a:cs typeface="Calibri"/>
              </a:rPr>
              <a:t>Spider-traps</a:t>
            </a:r>
            <a:r>
              <a:rPr b="1" spc="-1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pc="-10" dirty="0"/>
              <a:t>are</a:t>
            </a:r>
            <a:r>
              <a:rPr spc="-15" dirty="0"/>
              <a:t> </a:t>
            </a:r>
            <a:r>
              <a:rPr spc="25" dirty="0"/>
              <a:t>not</a:t>
            </a:r>
            <a:r>
              <a:rPr spc="-85" dirty="0"/>
              <a:t> </a:t>
            </a:r>
            <a:r>
              <a:rPr spc="10" dirty="0"/>
              <a:t>a</a:t>
            </a:r>
            <a:r>
              <a:rPr spc="-30" dirty="0"/>
              <a:t> </a:t>
            </a:r>
            <a:r>
              <a:rPr spc="5" dirty="0"/>
              <a:t>problem,</a:t>
            </a:r>
            <a:r>
              <a:rPr spc="-114" dirty="0"/>
              <a:t> </a:t>
            </a:r>
            <a:r>
              <a:rPr spc="30" dirty="0"/>
              <a:t>but</a:t>
            </a:r>
            <a:r>
              <a:rPr spc="-85" dirty="0"/>
              <a:t> </a:t>
            </a:r>
            <a:r>
              <a:rPr spc="10" dirty="0"/>
              <a:t>with</a:t>
            </a:r>
            <a:r>
              <a:rPr spc="-30" dirty="0"/>
              <a:t> </a:t>
            </a:r>
            <a:r>
              <a:rPr spc="-5" dirty="0"/>
              <a:t>traps  </a:t>
            </a:r>
            <a:r>
              <a:rPr dirty="0"/>
              <a:t>PageRank </a:t>
            </a:r>
            <a:r>
              <a:rPr spc="-10" dirty="0"/>
              <a:t>scores are </a:t>
            </a:r>
            <a:r>
              <a:rPr b="1" spc="5" dirty="0">
                <a:latin typeface="Calibri"/>
                <a:cs typeface="Calibri"/>
              </a:rPr>
              <a:t>not </a:t>
            </a:r>
            <a:r>
              <a:rPr spc="30" dirty="0"/>
              <a:t>what </a:t>
            </a:r>
            <a:r>
              <a:rPr spc="25" dirty="0"/>
              <a:t>we</a:t>
            </a:r>
            <a:r>
              <a:rPr spc="-484" dirty="0"/>
              <a:t> </a:t>
            </a:r>
            <a:r>
              <a:rPr spc="30" dirty="0"/>
              <a:t>want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354829"/>
            <a:ext cx="323850" cy="4006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8530" y="3397885"/>
            <a:ext cx="7686675" cy="324421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07975" marR="687705" indent="-276860">
              <a:lnSpc>
                <a:spcPct val="102400"/>
              </a:lnSpc>
              <a:spcBef>
                <a:spcPts val="5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spc="10" dirty="0">
                <a:solidFill>
                  <a:srgbClr val="FF0066"/>
                </a:solidFill>
                <a:latin typeface="Calibri"/>
                <a:cs typeface="Calibri"/>
              </a:rPr>
              <a:t>Solution: </a:t>
            </a:r>
            <a:r>
              <a:rPr sz="2750" spc="5" dirty="0">
                <a:latin typeface="Calibri"/>
                <a:cs typeface="Calibri"/>
              </a:rPr>
              <a:t>Never </a:t>
            </a:r>
            <a:r>
              <a:rPr sz="2750" spc="-10" dirty="0">
                <a:latin typeface="Calibri"/>
                <a:cs typeface="Calibri"/>
              </a:rPr>
              <a:t>get </a:t>
            </a:r>
            <a:r>
              <a:rPr sz="2750" spc="-5" dirty="0">
                <a:latin typeface="Calibri"/>
                <a:cs typeface="Calibri"/>
              </a:rPr>
              <a:t>stuck </a:t>
            </a:r>
            <a:r>
              <a:rPr sz="2750" spc="-10" dirty="0">
                <a:latin typeface="Calibri"/>
                <a:cs typeface="Calibri"/>
              </a:rPr>
              <a:t>in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-20" dirty="0">
                <a:latin typeface="Calibri"/>
                <a:cs typeface="Calibri"/>
              </a:rPr>
              <a:t>spider </a:t>
            </a:r>
            <a:r>
              <a:rPr sz="2750" spc="-10" dirty="0">
                <a:latin typeface="Calibri"/>
                <a:cs typeface="Calibri"/>
              </a:rPr>
              <a:t>trap </a:t>
            </a:r>
            <a:r>
              <a:rPr sz="2750" spc="-5" dirty="0">
                <a:latin typeface="Calibri"/>
                <a:cs typeface="Calibri"/>
              </a:rPr>
              <a:t>by  </a:t>
            </a:r>
            <a:r>
              <a:rPr sz="2750" spc="-15" dirty="0">
                <a:latin typeface="Calibri"/>
                <a:cs typeface="Calibri"/>
              </a:rPr>
              <a:t>teleporting </a:t>
            </a:r>
            <a:r>
              <a:rPr sz="2750" spc="10" dirty="0">
                <a:latin typeface="Calibri"/>
                <a:cs typeface="Calibri"/>
              </a:rPr>
              <a:t>out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15" dirty="0">
                <a:latin typeface="Calibri"/>
                <a:cs typeface="Calibri"/>
              </a:rPr>
              <a:t>it </a:t>
            </a:r>
            <a:r>
              <a:rPr sz="2750" spc="-10" dirty="0">
                <a:latin typeface="Calibri"/>
                <a:cs typeface="Calibri"/>
              </a:rPr>
              <a:t>in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-20" dirty="0">
                <a:latin typeface="Calibri"/>
                <a:cs typeface="Calibri"/>
              </a:rPr>
              <a:t>finite </a:t>
            </a:r>
            <a:r>
              <a:rPr sz="2750" spc="-5" dirty="0">
                <a:latin typeface="Calibri"/>
                <a:cs typeface="Calibri"/>
              </a:rPr>
              <a:t>number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22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steps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ts val="3770"/>
              </a:lnSpc>
            </a:pP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Dead-ends </a:t>
            </a:r>
            <a:r>
              <a:rPr sz="3200" spc="-5" dirty="0">
                <a:latin typeface="Calibri"/>
                <a:cs typeface="Calibri"/>
              </a:rPr>
              <a:t>are </a:t>
            </a:r>
            <a:r>
              <a:rPr sz="3200" spc="10" dirty="0">
                <a:latin typeface="Calibri"/>
                <a:cs typeface="Calibri"/>
              </a:rPr>
              <a:t>a</a:t>
            </a:r>
            <a:r>
              <a:rPr sz="3200" spc="-18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problem</a:t>
            </a:r>
            <a:endParaRPr sz="3200">
              <a:latin typeface="Calibri"/>
              <a:cs typeface="Calibri"/>
            </a:endParaRPr>
          </a:p>
          <a:p>
            <a:pPr marL="307975" marR="436880" indent="-276860">
              <a:lnSpc>
                <a:spcPct val="102400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5" dirty="0">
                <a:latin typeface="Calibri"/>
                <a:cs typeface="Calibri"/>
              </a:rPr>
              <a:t>The </a:t>
            </a:r>
            <a:r>
              <a:rPr sz="2750" spc="5" dirty="0">
                <a:latin typeface="Calibri"/>
                <a:cs typeface="Calibri"/>
              </a:rPr>
              <a:t>matrix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10" dirty="0">
                <a:latin typeface="Calibri"/>
                <a:cs typeface="Calibri"/>
              </a:rPr>
              <a:t>not </a:t>
            </a:r>
            <a:r>
              <a:rPr sz="2750" spc="15" dirty="0">
                <a:latin typeface="Calibri"/>
                <a:cs typeface="Calibri"/>
              </a:rPr>
              <a:t>column </a:t>
            </a:r>
            <a:r>
              <a:rPr sz="2750" spc="-5" dirty="0">
                <a:latin typeface="Calibri"/>
                <a:cs typeface="Calibri"/>
              </a:rPr>
              <a:t>stochastic </a:t>
            </a:r>
            <a:r>
              <a:rPr sz="2750" spc="-10" dirty="0">
                <a:latin typeface="Calibri"/>
                <a:cs typeface="Calibri"/>
              </a:rPr>
              <a:t>so </a:t>
            </a:r>
            <a:r>
              <a:rPr sz="2750" spc="10" dirty="0">
                <a:latin typeface="Calibri"/>
                <a:cs typeface="Calibri"/>
              </a:rPr>
              <a:t>our </a:t>
            </a:r>
            <a:r>
              <a:rPr sz="2750" spc="-20" dirty="0">
                <a:latin typeface="Calibri"/>
                <a:cs typeface="Calibri"/>
              </a:rPr>
              <a:t>initial  </a:t>
            </a:r>
            <a:r>
              <a:rPr sz="2750" spc="-5" dirty="0">
                <a:latin typeface="Calibri"/>
                <a:cs typeface="Calibri"/>
              </a:rPr>
              <a:t>assumptions </a:t>
            </a:r>
            <a:r>
              <a:rPr sz="2750" spc="15" dirty="0">
                <a:latin typeface="Calibri"/>
                <a:cs typeface="Calibri"/>
              </a:rPr>
              <a:t>are </a:t>
            </a:r>
            <a:r>
              <a:rPr sz="2750" spc="10" dirty="0">
                <a:latin typeface="Calibri"/>
                <a:cs typeface="Calibri"/>
              </a:rPr>
              <a:t>not</a:t>
            </a:r>
            <a:r>
              <a:rPr sz="2750" spc="-35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met</a:t>
            </a:r>
            <a:endParaRPr sz="2750">
              <a:latin typeface="Calibri"/>
              <a:cs typeface="Calibri"/>
            </a:endParaRPr>
          </a:p>
          <a:p>
            <a:pPr marL="307975" marR="5080" indent="-276860">
              <a:lnSpc>
                <a:spcPct val="102299"/>
              </a:lnSpc>
              <a:spcBef>
                <a:spcPts val="68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spc="5" dirty="0">
                <a:solidFill>
                  <a:srgbClr val="FF0066"/>
                </a:solidFill>
                <a:latin typeface="Calibri"/>
                <a:cs typeface="Calibri"/>
              </a:rPr>
              <a:t>Solution: </a:t>
            </a:r>
            <a:r>
              <a:rPr sz="2750" spc="10" dirty="0">
                <a:latin typeface="Calibri"/>
                <a:cs typeface="Calibri"/>
              </a:rPr>
              <a:t>Make </a:t>
            </a:r>
            <a:r>
              <a:rPr sz="2750" spc="5" dirty="0">
                <a:latin typeface="Calibri"/>
                <a:cs typeface="Calibri"/>
              </a:rPr>
              <a:t>matrix </a:t>
            </a:r>
            <a:r>
              <a:rPr sz="2750" spc="15" dirty="0">
                <a:latin typeface="Calibri"/>
                <a:cs typeface="Calibri"/>
              </a:rPr>
              <a:t>column </a:t>
            </a:r>
            <a:r>
              <a:rPr sz="2750" spc="-5" dirty="0">
                <a:latin typeface="Calibri"/>
                <a:cs typeface="Calibri"/>
              </a:rPr>
              <a:t>stochastic by always  </a:t>
            </a:r>
            <a:r>
              <a:rPr sz="2750" spc="-15" dirty="0">
                <a:latin typeface="Calibri"/>
                <a:cs typeface="Calibri"/>
              </a:rPr>
              <a:t>teleporting when </a:t>
            </a:r>
            <a:r>
              <a:rPr sz="2750" spc="-10" dirty="0">
                <a:latin typeface="Calibri"/>
                <a:cs typeface="Calibri"/>
              </a:rPr>
              <a:t>there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-5" dirty="0">
                <a:latin typeface="Calibri"/>
                <a:cs typeface="Calibri"/>
              </a:rPr>
              <a:t>nowhere </a:t>
            </a:r>
            <a:r>
              <a:rPr sz="2750" spc="-20" dirty="0">
                <a:latin typeface="Calibri"/>
                <a:cs typeface="Calibri"/>
              </a:rPr>
              <a:t>else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41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go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109980"/>
            <a:chOff x="0" y="0"/>
            <a:chExt cx="9144000" cy="1109980"/>
          </a:xfrm>
        </p:grpSpPr>
        <p:sp>
          <p:nvSpPr>
            <p:cNvPr id="3" name="object 3"/>
            <p:cNvSpPr/>
            <p:nvPr/>
          </p:nvSpPr>
          <p:spPr>
            <a:xfrm>
              <a:off x="4763" y="4825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399" y="0"/>
                  </a:lnTo>
                </a:path>
              </a:pathLst>
            </a:custGeom>
            <a:ln w="3175">
              <a:solidFill>
                <a:srgbClr val="FA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75" y="333311"/>
              <a:ext cx="6843776" cy="576262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7468234" cy="1003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835"/>
              </a:lnSpc>
              <a:spcBef>
                <a:spcPts val="125"/>
              </a:spcBef>
            </a:pPr>
            <a:r>
              <a:rPr b="1" u="heavy" spc="-15" dirty="0">
                <a:solidFill>
                  <a:srgbClr val="D50092"/>
                </a:solidFill>
                <a:uFill>
                  <a:solidFill>
                    <a:srgbClr val="D50092"/>
                  </a:solidFill>
                </a:uFill>
                <a:latin typeface="Calibri"/>
                <a:cs typeface="Calibri"/>
              </a:rPr>
              <a:t>Google’s </a:t>
            </a:r>
            <a:r>
              <a:rPr b="1" u="heavy" spc="15" dirty="0">
                <a:solidFill>
                  <a:srgbClr val="D50092"/>
                </a:solidFill>
                <a:uFill>
                  <a:solidFill>
                    <a:srgbClr val="D50092"/>
                  </a:solidFill>
                </a:uFill>
                <a:latin typeface="Calibri"/>
                <a:cs typeface="Calibri"/>
              </a:rPr>
              <a:t>solution </a:t>
            </a:r>
            <a:r>
              <a:rPr b="1" u="heavy" spc="5" dirty="0">
                <a:solidFill>
                  <a:srgbClr val="D50092"/>
                </a:solidFill>
                <a:uFill>
                  <a:solidFill>
                    <a:srgbClr val="D50092"/>
                  </a:solidFill>
                </a:uFill>
                <a:latin typeface="Calibri"/>
                <a:cs typeface="Calibri"/>
              </a:rPr>
              <a:t>that </a:t>
            </a:r>
            <a:r>
              <a:rPr b="1" u="heavy" spc="10" dirty="0">
                <a:solidFill>
                  <a:srgbClr val="D50092"/>
                </a:solidFill>
                <a:uFill>
                  <a:solidFill>
                    <a:srgbClr val="D50092"/>
                  </a:solidFill>
                </a:uFill>
                <a:latin typeface="Calibri"/>
                <a:cs typeface="Calibri"/>
              </a:rPr>
              <a:t>does </a:t>
            </a:r>
            <a:r>
              <a:rPr b="1" u="heavy" spc="20" dirty="0">
                <a:solidFill>
                  <a:srgbClr val="D50092"/>
                </a:solidFill>
                <a:uFill>
                  <a:solidFill>
                    <a:srgbClr val="D50092"/>
                  </a:solidFill>
                </a:uFill>
                <a:latin typeface="Calibri"/>
                <a:cs typeface="Calibri"/>
              </a:rPr>
              <a:t>it</a:t>
            </a:r>
            <a:r>
              <a:rPr b="1" u="heavy" spc="-380" dirty="0">
                <a:solidFill>
                  <a:srgbClr val="D50092"/>
                </a:solidFill>
                <a:uFill>
                  <a:solidFill>
                    <a:srgbClr val="D50092"/>
                  </a:solidFill>
                </a:uFill>
                <a:latin typeface="Calibri"/>
                <a:cs typeface="Calibri"/>
              </a:rPr>
              <a:t> </a:t>
            </a:r>
            <a:r>
              <a:rPr b="1" u="heavy" spc="15" dirty="0">
                <a:solidFill>
                  <a:srgbClr val="D50092"/>
                </a:solidFill>
                <a:uFill>
                  <a:solidFill>
                    <a:srgbClr val="D50092"/>
                  </a:solidFill>
                </a:uFill>
                <a:latin typeface="Calibri"/>
                <a:cs typeface="Calibri"/>
              </a:rPr>
              <a:t>all:</a:t>
            </a:r>
          </a:p>
          <a:p>
            <a:pPr marL="12700">
              <a:lnSpc>
                <a:spcPts val="3835"/>
              </a:lnSpc>
            </a:pPr>
            <a:r>
              <a:rPr spc="-25" dirty="0">
                <a:solidFill>
                  <a:srgbClr val="0000FF"/>
                </a:solidFill>
              </a:rPr>
              <a:t>At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spc="5" dirty="0">
                <a:solidFill>
                  <a:srgbClr val="0000FF"/>
                </a:solidFill>
              </a:rPr>
              <a:t>each</a:t>
            </a:r>
            <a:r>
              <a:rPr spc="-9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step,</a:t>
            </a:r>
            <a:r>
              <a:rPr spc="-110" dirty="0">
                <a:solidFill>
                  <a:srgbClr val="0000FF"/>
                </a:solidFill>
              </a:rPr>
              <a:t> </a:t>
            </a:r>
            <a:r>
              <a:rPr spc="15" dirty="0">
                <a:solidFill>
                  <a:srgbClr val="0000FF"/>
                </a:solidFill>
              </a:rPr>
              <a:t>random</a:t>
            </a:r>
            <a:r>
              <a:rPr spc="-160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surfer</a:t>
            </a:r>
            <a:r>
              <a:rPr spc="-50" dirty="0">
                <a:solidFill>
                  <a:srgbClr val="0000FF"/>
                </a:solidFill>
              </a:rPr>
              <a:t> </a:t>
            </a:r>
            <a:r>
              <a:rPr spc="30" dirty="0">
                <a:solidFill>
                  <a:srgbClr val="0000FF"/>
                </a:solidFill>
              </a:rPr>
              <a:t>has</a:t>
            </a:r>
            <a:r>
              <a:rPr spc="-114" dirty="0">
                <a:solidFill>
                  <a:srgbClr val="0000FF"/>
                </a:solidFill>
              </a:rPr>
              <a:t> </a:t>
            </a:r>
            <a:r>
              <a:rPr spc="5" dirty="0">
                <a:solidFill>
                  <a:srgbClr val="0000FF"/>
                </a:solidFill>
              </a:rPr>
              <a:t>two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spc="20" dirty="0">
                <a:solidFill>
                  <a:srgbClr val="0000FF"/>
                </a:solidFill>
              </a:rPr>
              <a:t>options: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792473"/>
            <a:ext cx="323850" cy="40068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38530" y="2347096"/>
            <a:ext cx="7399655" cy="184531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07975" indent="-276860">
              <a:lnSpc>
                <a:spcPct val="100000"/>
              </a:lnSpc>
              <a:spcBef>
                <a:spcPts val="59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5" dirty="0">
                <a:latin typeface="Calibri"/>
                <a:cs typeface="Calibri"/>
              </a:rPr>
              <a:t>With </a:t>
            </a:r>
            <a:r>
              <a:rPr sz="2750" spc="-15" dirty="0">
                <a:latin typeface="Calibri"/>
                <a:cs typeface="Calibri"/>
              </a:rPr>
              <a:t>probability </a:t>
            </a:r>
            <a:r>
              <a:rPr sz="2900" b="1" i="1" spc="70" dirty="0">
                <a:latin typeface="Symbol"/>
                <a:cs typeface="Symbol"/>
              </a:rPr>
              <a:t></a:t>
            </a:r>
            <a:r>
              <a:rPr sz="2750" spc="70" dirty="0">
                <a:latin typeface="Calibri"/>
                <a:cs typeface="Calibri"/>
              </a:rPr>
              <a:t>, </a:t>
            </a:r>
            <a:r>
              <a:rPr sz="2750" spc="-10" dirty="0">
                <a:latin typeface="Calibri"/>
                <a:cs typeface="Calibri"/>
              </a:rPr>
              <a:t>follow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-20" dirty="0">
                <a:latin typeface="Calibri"/>
                <a:cs typeface="Calibri"/>
              </a:rPr>
              <a:t>link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-2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random</a:t>
            </a:r>
            <a:endParaRPr sz="275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50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5" dirty="0">
                <a:latin typeface="Calibri"/>
                <a:cs typeface="Calibri"/>
              </a:rPr>
              <a:t>With </a:t>
            </a:r>
            <a:r>
              <a:rPr sz="2750" spc="-15" dirty="0">
                <a:latin typeface="Calibri"/>
                <a:cs typeface="Calibri"/>
              </a:rPr>
              <a:t>probability </a:t>
            </a:r>
            <a:r>
              <a:rPr sz="2750" b="1" i="1" spc="40" dirty="0">
                <a:latin typeface="Times New Roman"/>
                <a:cs typeface="Times New Roman"/>
              </a:rPr>
              <a:t>1-</a:t>
            </a:r>
            <a:r>
              <a:rPr sz="2900" b="1" i="1" spc="40" dirty="0">
                <a:latin typeface="Symbol"/>
                <a:cs typeface="Symbol"/>
              </a:rPr>
              <a:t></a:t>
            </a:r>
            <a:r>
              <a:rPr sz="2750" spc="40" dirty="0">
                <a:latin typeface="Calibri"/>
                <a:cs typeface="Calibri"/>
              </a:rPr>
              <a:t>, </a:t>
            </a:r>
            <a:r>
              <a:rPr sz="2750" spc="15" dirty="0">
                <a:latin typeface="Calibri"/>
                <a:cs typeface="Calibri"/>
              </a:rPr>
              <a:t>jump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spc="20" dirty="0">
                <a:latin typeface="Calibri"/>
                <a:cs typeface="Calibri"/>
              </a:rPr>
              <a:t>some </a:t>
            </a:r>
            <a:r>
              <a:rPr sz="2750" dirty="0">
                <a:latin typeface="Calibri"/>
                <a:cs typeface="Calibri"/>
              </a:rPr>
              <a:t>random</a:t>
            </a:r>
            <a:r>
              <a:rPr sz="2750" spc="-1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page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30"/>
              </a:spcBef>
            </a:pPr>
            <a:r>
              <a:rPr sz="3200" b="1" spc="-5" dirty="0">
                <a:solidFill>
                  <a:srgbClr val="0000FF"/>
                </a:solidFill>
                <a:latin typeface="Calibri"/>
                <a:cs typeface="Calibri"/>
              </a:rPr>
              <a:t>PageRank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equation </a:t>
            </a:r>
            <a:r>
              <a:rPr sz="3200" spc="-5" dirty="0">
                <a:solidFill>
                  <a:srgbClr val="7E7E7E"/>
                </a:solidFill>
                <a:latin typeface="Calibri"/>
                <a:cs typeface="Calibri"/>
              </a:rPr>
              <a:t>[Brin-Page,</a:t>
            </a:r>
            <a:r>
              <a:rPr sz="3200" spc="-3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spc="15" dirty="0">
                <a:solidFill>
                  <a:srgbClr val="7E7E7E"/>
                </a:solidFill>
                <a:latin typeface="Calibri"/>
                <a:cs typeface="Calibri"/>
              </a:rPr>
              <a:t>98]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13153" y="4795011"/>
            <a:ext cx="288925" cy="417195"/>
            <a:chOff x="1613153" y="4795011"/>
            <a:chExt cx="288925" cy="41719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3153" y="4795011"/>
              <a:ext cx="225552" cy="23990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45360" y="4883149"/>
              <a:ext cx="156845" cy="328930"/>
            </a:xfrm>
            <a:custGeom>
              <a:avLst/>
              <a:gdLst/>
              <a:ahLst/>
              <a:cxnLst/>
              <a:rect l="l" t="t" r="r" b="b"/>
              <a:pathLst>
                <a:path w="156844" h="328929">
                  <a:moveTo>
                    <a:pt x="4444" y="308101"/>
                  </a:moveTo>
                  <a:lnTo>
                    <a:pt x="0" y="327151"/>
                  </a:lnTo>
                  <a:lnTo>
                    <a:pt x="2286" y="327660"/>
                  </a:lnTo>
                  <a:lnTo>
                    <a:pt x="4825" y="328168"/>
                  </a:lnTo>
                  <a:lnTo>
                    <a:pt x="7746" y="328422"/>
                  </a:lnTo>
                  <a:lnTo>
                    <a:pt x="10668" y="328802"/>
                  </a:lnTo>
                  <a:lnTo>
                    <a:pt x="13715" y="328930"/>
                  </a:lnTo>
                  <a:lnTo>
                    <a:pt x="16890" y="328930"/>
                  </a:lnTo>
                  <a:lnTo>
                    <a:pt x="55050" y="321964"/>
                  </a:lnTo>
                  <a:lnTo>
                    <a:pt x="73632" y="309499"/>
                  </a:lnTo>
                  <a:lnTo>
                    <a:pt x="15493" y="309499"/>
                  </a:lnTo>
                  <a:lnTo>
                    <a:pt x="10287" y="309244"/>
                  </a:lnTo>
                  <a:lnTo>
                    <a:pt x="7874" y="308991"/>
                  </a:lnTo>
                  <a:lnTo>
                    <a:pt x="5968" y="308610"/>
                  </a:lnTo>
                  <a:lnTo>
                    <a:pt x="4444" y="308101"/>
                  </a:lnTo>
                  <a:close/>
                </a:path>
                <a:path w="156844" h="328929">
                  <a:moveTo>
                    <a:pt x="139445" y="73151"/>
                  </a:moveTo>
                  <a:lnTo>
                    <a:pt x="126872" y="73151"/>
                  </a:lnTo>
                  <a:lnTo>
                    <a:pt x="78358" y="75183"/>
                  </a:lnTo>
                  <a:lnTo>
                    <a:pt x="75564" y="87502"/>
                  </a:lnTo>
                  <a:lnTo>
                    <a:pt x="83693" y="87756"/>
                  </a:lnTo>
                  <a:lnTo>
                    <a:pt x="89407" y="88900"/>
                  </a:lnTo>
                  <a:lnTo>
                    <a:pt x="92582" y="90805"/>
                  </a:lnTo>
                  <a:lnTo>
                    <a:pt x="95757" y="92837"/>
                  </a:lnTo>
                  <a:lnTo>
                    <a:pt x="97408" y="96012"/>
                  </a:lnTo>
                  <a:lnTo>
                    <a:pt x="97281" y="102362"/>
                  </a:lnTo>
                  <a:lnTo>
                    <a:pt x="97027" y="105537"/>
                  </a:lnTo>
                  <a:lnTo>
                    <a:pt x="96646" y="108204"/>
                  </a:lnTo>
                  <a:lnTo>
                    <a:pt x="95376" y="115697"/>
                  </a:lnTo>
                  <a:lnTo>
                    <a:pt x="94233" y="121031"/>
                  </a:lnTo>
                  <a:lnTo>
                    <a:pt x="91674" y="133538"/>
                  </a:lnTo>
                  <a:lnTo>
                    <a:pt x="88729" y="147409"/>
                  </a:lnTo>
                  <a:lnTo>
                    <a:pt x="86994" y="155701"/>
                  </a:lnTo>
                  <a:lnTo>
                    <a:pt x="77469" y="198881"/>
                  </a:lnTo>
                  <a:lnTo>
                    <a:pt x="74493" y="211976"/>
                  </a:lnTo>
                  <a:lnTo>
                    <a:pt x="71469" y="225536"/>
                  </a:lnTo>
                  <a:lnTo>
                    <a:pt x="68397" y="239547"/>
                  </a:lnTo>
                  <a:lnTo>
                    <a:pt x="65277" y="254000"/>
                  </a:lnTo>
                  <a:lnTo>
                    <a:pt x="63327" y="262076"/>
                  </a:lnTo>
                  <a:lnTo>
                    <a:pt x="46989" y="298576"/>
                  </a:lnTo>
                  <a:lnTo>
                    <a:pt x="43306" y="302768"/>
                  </a:lnTo>
                  <a:lnTo>
                    <a:pt x="39104" y="305565"/>
                  </a:lnTo>
                  <a:lnTo>
                    <a:pt x="34543" y="307086"/>
                  </a:lnTo>
                  <a:lnTo>
                    <a:pt x="29844" y="308737"/>
                  </a:lnTo>
                  <a:lnTo>
                    <a:pt x="24511" y="309499"/>
                  </a:lnTo>
                  <a:lnTo>
                    <a:pt x="73632" y="309499"/>
                  </a:lnTo>
                  <a:lnTo>
                    <a:pt x="96504" y="270097"/>
                  </a:lnTo>
                  <a:lnTo>
                    <a:pt x="101726" y="250951"/>
                  </a:lnTo>
                  <a:lnTo>
                    <a:pt x="139445" y="73151"/>
                  </a:lnTo>
                  <a:close/>
                </a:path>
                <a:path w="156844" h="328929">
                  <a:moveTo>
                    <a:pt x="156718" y="0"/>
                  </a:moveTo>
                  <a:lnTo>
                    <a:pt x="120268" y="0"/>
                  </a:lnTo>
                  <a:lnTo>
                    <a:pt x="111378" y="39116"/>
                  </a:lnTo>
                  <a:lnTo>
                    <a:pt x="147827" y="39116"/>
                  </a:lnTo>
                  <a:lnTo>
                    <a:pt x="1567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2139442" y="4925440"/>
            <a:ext cx="304165" cy="33020"/>
          </a:xfrm>
          <a:custGeom>
            <a:avLst/>
            <a:gdLst/>
            <a:ahLst/>
            <a:cxnLst/>
            <a:rect l="l" t="t" r="r" b="b"/>
            <a:pathLst>
              <a:path w="304164" h="33020">
                <a:moveTo>
                  <a:pt x="303656" y="0"/>
                </a:moveTo>
                <a:lnTo>
                  <a:pt x="0" y="0"/>
                </a:lnTo>
                <a:lnTo>
                  <a:pt x="0" y="32765"/>
                </a:lnTo>
                <a:lnTo>
                  <a:pt x="303656" y="32765"/>
                </a:lnTo>
                <a:lnTo>
                  <a:pt x="3036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39442" y="4823205"/>
            <a:ext cx="304165" cy="33020"/>
          </a:xfrm>
          <a:custGeom>
            <a:avLst/>
            <a:gdLst/>
            <a:ahLst/>
            <a:cxnLst/>
            <a:rect l="l" t="t" r="r" b="b"/>
            <a:pathLst>
              <a:path w="304164" h="33020">
                <a:moveTo>
                  <a:pt x="303656" y="0"/>
                </a:moveTo>
                <a:lnTo>
                  <a:pt x="0" y="0"/>
                </a:lnTo>
                <a:lnTo>
                  <a:pt x="0" y="32766"/>
                </a:lnTo>
                <a:lnTo>
                  <a:pt x="303656" y="32766"/>
                </a:lnTo>
                <a:lnTo>
                  <a:pt x="3036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623439" y="4418329"/>
            <a:ext cx="631190" cy="1336675"/>
          </a:xfrm>
          <a:custGeom>
            <a:avLst/>
            <a:gdLst/>
            <a:ahLst/>
            <a:cxnLst/>
            <a:rect l="l" t="t" r="r" b="b"/>
            <a:pathLst>
              <a:path w="631189" h="1336675">
                <a:moveTo>
                  <a:pt x="115951" y="1007745"/>
                </a:moveTo>
                <a:lnTo>
                  <a:pt x="79756" y="1007745"/>
                </a:lnTo>
                <a:lnTo>
                  <a:pt x="71247" y="1046861"/>
                </a:lnTo>
                <a:lnTo>
                  <a:pt x="107061" y="1046861"/>
                </a:lnTo>
                <a:lnTo>
                  <a:pt x="115951" y="1007745"/>
                </a:lnTo>
                <a:close/>
              </a:path>
              <a:path w="631189" h="1336675">
                <a:moveTo>
                  <a:pt x="122936" y="1232725"/>
                </a:moveTo>
                <a:lnTo>
                  <a:pt x="110617" y="1220749"/>
                </a:lnTo>
                <a:lnTo>
                  <a:pt x="106807" y="1224864"/>
                </a:lnTo>
                <a:lnTo>
                  <a:pt x="103632" y="1228153"/>
                </a:lnTo>
                <a:lnTo>
                  <a:pt x="100711" y="1230998"/>
                </a:lnTo>
                <a:lnTo>
                  <a:pt x="97663" y="1233843"/>
                </a:lnTo>
                <a:lnTo>
                  <a:pt x="94996" y="1236167"/>
                </a:lnTo>
                <a:lnTo>
                  <a:pt x="92456" y="1237983"/>
                </a:lnTo>
                <a:lnTo>
                  <a:pt x="90043" y="1239799"/>
                </a:lnTo>
                <a:lnTo>
                  <a:pt x="87757" y="1241132"/>
                </a:lnTo>
                <a:lnTo>
                  <a:pt x="85471" y="1241971"/>
                </a:lnTo>
                <a:lnTo>
                  <a:pt x="83312" y="1242822"/>
                </a:lnTo>
                <a:lnTo>
                  <a:pt x="81153" y="1243241"/>
                </a:lnTo>
                <a:lnTo>
                  <a:pt x="75184" y="1243241"/>
                </a:lnTo>
                <a:lnTo>
                  <a:pt x="72390" y="1242212"/>
                </a:lnTo>
                <a:lnTo>
                  <a:pt x="70612" y="1240155"/>
                </a:lnTo>
                <a:lnTo>
                  <a:pt x="68707" y="1238110"/>
                </a:lnTo>
                <a:lnTo>
                  <a:pt x="67691" y="1234782"/>
                </a:lnTo>
                <a:lnTo>
                  <a:pt x="67691" y="1226794"/>
                </a:lnTo>
                <a:lnTo>
                  <a:pt x="72263" y="1201712"/>
                </a:lnTo>
                <a:lnTo>
                  <a:pt x="99187" y="1080897"/>
                </a:lnTo>
                <a:lnTo>
                  <a:pt x="90297" y="1080897"/>
                </a:lnTo>
                <a:lnTo>
                  <a:pt x="37592" y="1082929"/>
                </a:lnTo>
                <a:lnTo>
                  <a:pt x="35433" y="1095248"/>
                </a:lnTo>
                <a:lnTo>
                  <a:pt x="43307" y="1095502"/>
                </a:lnTo>
                <a:lnTo>
                  <a:pt x="48768" y="1096645"/>
                </a:lnTo>
                <a:lnTo>
                  <a:pt x="51816" y="1098804"/>
                </a:lnTo>
                <a:lnTo>
                  <a:pt x="54991" y="1101090"/>
                </a:lnTo>
                <a:lnTo>
                  <a:pt x="56642" y="1104519"/>
                </a:lnTo>
                <a:lnTo>
                  <a:pt x="56896" y="1109218"/>
                </a:lnTo>
                <a:lnTo>
                  <a:pt x="56896" y="1112520"/>
                </a:lnTo>
                <a:lnTo>
                  <a:pt x="56769" y="1113536"/>
                </a:lnTo>
                <a:lnTo>
                  <a:pt x="56515" y="1114425"/>
                </a:lnTo>
                <a:lnTo>
                  <a:pt x="55880" y="1120140"/>
                </a:lnTo>
                <a:lnTo>
                  <a:pt x="54864" y="1126490"/>
                </a:lnTo>
                <a:lnTo>
                  <a:pt x="52070" y="1140333"/>
                </a:lnTo>
                <a:lnTo>
                  <a:pt x="50546" y="1147572"/>
                </a:lnTo>
                <a:lnTo>
                  <a:pt x="46990" y="1162558"/>
                </a:lnTo>
                <a:lnTo>
                  <a:pt x="41656" y="1185379"/>
                </a:lnTo>
                <a:lnTo>
                  <a:pt x="40005" y="1192669"/>
                </a:lnTo>
                <a:lnTo>
                  <a:pt x="36957" y="1206576"/>
                </a:lnTo>
                <a:lnTo>
                  <a:pt x="35687" y="1213015"/>
                </a:lnTo>
                <a:lnTo>
                  <a:pt x="34798" y="1218933"/>
                </a:lnTo>
                <a:lnTo>
                  <a:pt x="33782" y="1224864"/>
                </a:lnTo>
                <a:lnTo>
                  <a:pt x="33439" y="1228153"/>
                </a:lnTo>
                <a:lnTo>
                  <a:pt x="33324" y="1239139"/>
                </a:lnTo>
                <a:lnTo>
                  <a:pt x="34036" y="1243304"/>
                </a:lnTo>
                <a:lnTo>
                  <a:pt x="58928" y="1267548"/>
                </a:lnTo>
                <a:lnTo>
                  <a:pt x="68580" y="1267548"/>
                </a:lnTo>
                <a:lnTo>
                  <a:pt x="105791" y="1248956"/>
                </a:lnTo>
                <a:lnTo>
                  <a:pt x="112242" y="1243241"/>
                </a:lnTo>
                <a:lnTo>
                  <a:pt x="116586" y="1239139"/>
                </a:lnTo>
                <a:lnTo>
                  <a:pt x="122936" y="1232725"/>
                </a:lnTo>
                <a:close/>
              </a:path>
              <a:path w="631189" h="1336675">
                <a:moveTo>
                  <a:pt x="446024" y="1152398"/>
                </a:moveTo>
                <a:lnTo>
                  <a:pt x="374650" y="1083310"/>
                </a:lnTo>
                <a:lnTo>
                  <a:pt x="363982" y="1093216"/>
                </a:lnTo>
                <a:lnTo>
                  <a:pt x="405511" y="1146048"/>
                </a:lnTo>
                <a:lnTo>
                  <a:pt x="176403" y="1146048"/>
                </a:lnTo>
                <a:lnTo>
                  <a:pt x="176403" y="1170152"/>
                </a:lnTo>
                <a:lnTo>
                  <a:pt x="405511" y="1170152"/>
                </a:lnTo>
                <a:lnTo>
                  <a:pt x="363982" y="1223111"/>
                </a:lnTo>
                <a:lnTo>
                  <a:pt x="374650" y="1233081"/>
                </a:lnTo>
                <a:lnTo>
                  <a:pt x="446024" y="1163955"/>
                </a:lnTo>
                <a:lnTo>
                  <a:pt x="446024" y="1152398"/>
                </a:lnTo>
                <a:close/>
              </a:path>
              <a:path w="631189" h="1336675">
                <a:moveTo>
                  <a:pt x="613918" y="1080897"/>
                </a:moveTo>
                <a:lnTo>
                  <a:pt x="601345" y="1080897"/>
                </a:lnTo>
                <a:lnTo>
                  <a:pt x="552831" y="1082929"/>
                </a:lnTo>
                <a:lnTo>
                  <a:pt x="550037" y="1095248"/>
                </a:lnTo>
                <a:lnTo>
                  <a:pt x="558165" y="1095502"/>
                </a:lnTo>
                <a:lnTo>
                  <a:pt x="563880" y="1096645"/>
                </a:lnTo>
                <a:lnTo>
                  <a:pt x="567055" y="1098550"/>
                </a:lnTo>
                <a:lnTo>
                  <a:pt x="570230" y="1100582"/>
                </a:lnTo>
                <a:lnTo>
                  <a:pt x="571881" y="1103757"/>
                </a:lnTo>
                <a:lnTo>
                  <a:pt x="571754" y="1110107"/>
                </a:lnTo>
                <a:lnTo>
                  <a:pt x="571500" y="1113282"/>
                </a:lnTo>
                <a:lnTo>
                  <a:pt x="571119" y="1115949"/>
                </a:lnTo>
                <a:lnTo>
                  <a:pt x="569849" y="1123442"/>
                </a:lnTo>
                <a:lnTo>
                  <a:pt x="568706" y="1128776"/>
                </a:lnTo>
                <a:lnTo>
                  <a:pt x="566140" y="1141310"/>
                </a:lnTo>
                <a:lnTo>
                  <a:pt x="561467" y="1163447"/>
                </a:lnTo>
                <a:lnTo>
                  <a:pt x="551942" y="1206601"/>
                </a:lnTo>
                <a:lnTo>
                  <a:pt x="548957" y="1219708"/>
                </a:lnTo>
                <a:lnTo>
                  <a:pt x="545934" y="1233271"/>
                </a:lnTo>
                <a:lnTo>
                  <a:pt x="542861" y="1247292"/>
                </a:lnTo>
                <a:lnTo>
                  <a:pt x="539750" y="1261745"/>
                </a:lnTo>
                <a:lnTo>
                  <a:pt x="537794" y="1269809"/>
                </a:lnTo>
                <a:lnTo>
                  <a:pt x="517779" y="1310474"/>
                </a:lnTo>
                <a:lnTo>
                  <a:pt x="498983" y="1317244"/>
                </a:lnTo>
                <a:lnTo>
                  <a:pt x="489966" y="1317244"/>
                </a:lnTo>
                <a:lnTo>
                  <a:pt x="487172" y="1317155"/>
                </a:lnTo>
                <a:lnTo>
                  <a:pt x="482346" y="1316799"/>
                </a:lnTo>
                <a:lnTo>
                  <a:pt x="480441" y="1316405"/>
                </a:lnTo>
                <a:lnTo>
                  <a:pt x="478917" y="1315796"/>
                </a:lnTo>
                <a:lnTo>
                  <a:pt x="474472" y="1334846"/>
                </a:lnTo>
                <a:lnTo>
                  <a:pt x="476758" y="1335443"/>
                </a:lnTo>
                <a:lnTo>
                  <a:pt x="479298" y="1335900"/>
                </a:lnTo>
                <a:lnTo>
                  <a:pt x="485140" y="1336509"/>
                </a:lnTo>
                <a:lnTo>
                  <a:pt x="488188" y="1336662"/>
                </a:lnTo>
                <a:lnTo>
                  <a:pt x="491363" y="1336662"/>
                </a:lnTo>
                <a:lnTo>
                  <a:pt x="529513" y="1329690"/>
                </a:lnTo>
                <a:lnTo>
                  <a:pt x="548055" y="1317244"/>
                </a:lnTo>
                <a:lnTo>
                  <a:pt x="551929" y="1313294"/>
                </a:lnTo>
                <a:lnTo>
                  <a:pt x="570966" y="1277874"/>
                </a:lnTo>
                <a:lnTo>
                  <a:pt x="576199" y="1258658"/>
                </a:lnTo>
                <a:lnTo>
                  <a:pt x="613918" y="1080897"/>
                </a:lnTo>
                <a:close/>
              </a:path>
              <a:path w="631189" h="1336675">
                <a:moveTo>
                  <a:pt x="618744" y="783082"/>
                </a:moveTo>
                <a:lnTo>
                  <a:pt x="582295" y="783082"/>
                </a:lnTo>
                <a:lnTo>
                  <a:pt x="576592" y="814666"/>
                </a:lnTo>
                <a:lnTo>
                  <a:pt x="570382" y="840066"/>
                </a:lnTo>
                <a:lnTo>
                  <a:pt x="548030" y="881113"/>
                </a:lnTo>
                <a:lnTo>
                  <a:pt x="513080" y="892302"/>
                </a:lnTo>
                <a:lnTo>
                  <a:pt x="85344" y="892302"/>
                </a:lnTo>
                <a:lnTo>
                  <a:pt x="402844" y="461391"/>
                </a:lnTo>
                <a:lnTo>
                  <a:pt x="402844" y="431673"/>
                </a:lnTo>
                <a:lnTo>
                  <a:pt x="108712" y="32258"/>
                </a:lnTo>
                <a:lnTo>
                  <a:pt x="497713" y="32258"/>
                </a:lnTo>
                <a:lnTo>
                  <a:pt x="540270" y="49517"/>
                </a:lnTo>
                <a:lnTo>
                  <a:pt x="564324" y="98869"/>
                </a:lnTo>
                <a:lnTo>
                  <a:pt x="572897" y="145923"/>
                </a:lnTo>
                <a:lnTo>
                  <a:pt x="605409" y="145923"/>
                </a:lnTo>
                <a:lnTo>
                  <a:pt x="605409" y="0"/>
                </a:lnTo>
                <a:lnTo>
                  <a:pt x="10160" y="0"/>
                </a:lnTo>
                <a:lnTo>
                  <a:pt x="10160" y="23368"/>
                </a:lnTo>
                <a:lnTo>
                  <a:pt x="345440" y="471297"/>
                </a:lnTo>
                <a:lnTo>
                  <a:pt x="0" y="939419"/>
                </a:lnTo>
                <a:lnTo>
                  <a:pt x="0" y="963803"/>
                </a:lnTo>
                <a:lnTo>
                  <a:pt x="606171" y="963803"/>
                </a:lnTo>
                <a:lnTo>
                  <a:pt x="618744" y="783082"/>
                </a:lnTo>
                <a:close/>
              </a:path>
              <a:path w="631189" h="1336675">
                <a:moveTo>
                  <a:pt x="631177" y="1007745"/>
                </a:moveTo>
                <a:lnTo>
                  <a:pt x="594741" y="1007745"/>
                </a:lnTo>
                <a:lnTo>
                  <a:pt x="585851" y="1046861"/>
                </a:lnTo>
                <a:lnTo>
                  <a:pt x="622300" y="1046861"/>
                </a:lnTo>
                <a:lnTo>
                  <a:pt x="631177" y="10077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82771" y="4682235"/>
            <a:ext cx="280035" cy="459105"/>
          </a:xfrm>
          <a:custGeom>
            <a:avLst/>
            <a:gdLst/>
            <a:ahLst/>
            <a:cxnLst/>
            <a:rect l="l" t="t" r="r" b="b"/>
            <a:pathLst>
              <a:path w="280035" h="459104">
                <a:moveTo>
                  <a:pt x="200660" y="0"/>
                </a:moveTo>
                <a:lnTo>
                  <a:pt x="154600" y="8786"/>
                </a:lnTo>
                <a:lnTo>
                  <a:pt x="118427" y="34559"/>
                </a:lnTo>
                <a:lnTo>
                  <a:pt x="91616" y="75459"/>
                </a:lnTo>
                <a:lnTo>
                  <a:pt x="78333" y="111809"/>
                </a:lnTo>
                <a:lnTo>
                  <a:pt x="0" y="458724"/>
                </a:lnTo>
                <a:lnTo>
                  <a:pt x="40131" y="458724"/>
                </a:lnTo>
                <a:lnTo>
                  <a:pt x="66548" y="341883"/>
                </a:lnTo>
                <a:lnTo>
                  <a:pt x="193674" y="341883"/>
                </a:lnTo>
                <a:lnTo>
                  <a:pt x="193928" y="341756"/>
                </a:lnTo>
                <a:lnTo>
                  <a:pt x="200513" y="337184"/>
                </a:lnTo>
                <a:lnTo>
                  <a:pt x="119506" y="337184"/>
                </a:lnTo>
                <a:lnTo>
                  <a:pt x="111378" y="336041"/>
                </a:lnTo>
                <a:lnTo>
                  <a:pt x="105028" y="333882"/>
                </a:lnTo>
                <a:lnTo>
                  <a:pt x="98551" y="331596"/>
                </a:lnTo>
                <a:lnTo>
                  <a:pt x="93344" y="328930"/>
                </a:lnTo>
                <a:lnTo>
                  <a:pt x="89407" y="325881"/>
                </a:lnTo>
                <a:lnTo>
                  <a:pt x="85343" y="322833"/>
                </a:lnTo>
                <a:lnTo>
                  <a:pt x="77215" y="302768"/>
                </a:lnTo>
                <a:lnTo>
                  <a:pt x="77597" y="299465"/>
                </a:lnTo>
                <a:lnTo>
                  <a:pt x="111707" y="140924"/>
                </a:lnTo>
                <a:lnTo>
                  <a:pt x="126873" y="87582"/>
                </a:lnTo>
                <a:lnTo>
                  <a:pt x="145923" y="49656"/>
                </a:lnTo>
                <a:lnTo>
                  <a:pt x="183195" y="21314"/>
                </a:lnTo>
                <a:lnTo>
                  <a:pt x="198247" y="19431"/>
                </a:lnTo>
                <a:lnTo>
                  <a:pt x="261920" y="19431"/>
                </a:lnTo>
                <a:lnTo>
                  <a:pt x="259333" y="16763"/>
                </a:lnTo>
                <a:lnTo>
                  <a:pt x="247880" y="9429"/>
                </a:lnTo>
                <a:lnTo>
                  <a:pt x="234283" y="4191"/>
                </a:lnTo>
                <a:lnTo>
                  <a:pt x="218543" y="1047"/>
                </a:lnTo>
                <a:lnTo>
                  <a:pt x="200660" y="0"/>
                </a:lnTo>
                <a:close/>
              </a:path>
              <a:path w="280035" h="459104">
                <a:moveTo>
                  <a:pt x="193674" y="341883"/>
                </a:moveTo>
                <a:lnTo>
                  <a:pt x="66548" y="341883"/>
                </a:lnTo>
                <a:lnTo>
                  <a:pt x="74973" y="345598"/>
                </a:lnTo>
                <a:lnTo>
                  <a:pt x="116617" y="355774"/>
                </a:lnTo>
                <a:lnTo>
                  <a:pt x="136270" y="356615"/>
                </a:lnTo>
                <a:lnTo>
                  <a:pt x="152084" y="355687"/>
                </a:lnTo>
                <a:lnTo>
                  <a:pt x="166957" y="352901"/>
                </a:lnTo>
                <a:lnTo>
                  <a:pt x="180901" y="348257"/>
                </a:lnTo>
                <a:lnTo>
                  <a:pt x="193674" y="341883"/>
                </a:lnTo>
                <a:close/>
              </a:path>
              <a:path w="280035" h="459104">
                <a:moveTo>
                  <a:pt x="261920" y="19431"/>
                </a:moveTo>
                <a:lnTo>
                  <a:pt x="198247" y="19431"/>
                </a:lnTo>
                <a:lnTo>
                  <a:pt x="207722" y="20099"/>
                </a:lnTo>
                <a:lnTo>
                  <a:pt x="215947" y="22113"/>
                </a:lnTo>
                <a:lnTo>
                  <a:pt x="238887" y="61594"/>
                </a:lnTo>
                <a:lnTo>
                  <a:pt x="238125" y="74118"/>
                </a:lnTo>
                <a:lnTo>
                  <a:pt x="220007" y="119026"/>
                </a:lnTo>
                <a:lnTo>
                  <a:pt x="181965" y="149590"/>
                </a:lnTo>
                <a:lnTo>
                  <a:pt x="144906" y="158876"/>
                </a:lnTo>
                <a:lnTo>
                  <a:pt x="141477" y="176402"/>
                </a:lnTo>
                <a:lnTo>
                  <a:pt x="185547" y="194437"/>
                </a:lnTo>
                <a:lnTo>
                  <a:pt x="200913" y="237997"/>
                </a:lnTo>
                <a:lnTo>
                  <a:pt x="200320" y="252166"/>
                </a:lnTo>
                <a:lnTo>
                  <a:pt x="191515" y="289813"/>
                </a:lnTo>
                <a:lnTo>
                  <a:pt x="165735" y="324865"/>
                </a:lnTo>
                <a:lnTo>
                  <a:pt x="129412" y="337184"/>
                </a:lnTo>
                <a:lnTo>
                  <a:pt x="200513" y="337184"/>
                </a:lnTo>
                <a:lnTo>
                  <a:pt x="231901" y="301370"/>
                </a:lnTo>
                <a:lnTo>
                  <a:pt x="243921" y="261223"/>
                </a:lnTo>
                <a:lnTo>
                  <a:pt x="244728" y="246887"/>
                </a:lnTo>
                <a:lnTo>
                  <a:pt x="241063" y="220930"/>
                </a:lnTo>
                <a:lnTo>
                  <a:pt x="230076" y="199437"/>
                </a:lnTo>
                <a:lnTo>
                  <a:pt x="211778" y="182397"/>
                </a:lnTo>
                <a:lnTo>
                  <a:pt x="186181" y="169799"/>
                </a:lnTo>
                <a:lnTo>
                  <a:pt x="186562" y="167766"/>
                </a:lnTo>
                <a:lnTo>
                  <a:pt x="222835" y="152925"/>
                </a:lnTo>
                <a:lnTo>
                  <a:pt x="256472" y="127831"/>
                </a:lnTo>
                <a:lnTo>
                  <a:pt x="276478" y="91947"/>
                </a:lnTo>
                <a:lnTo>
                  <a:pt x="280035" y="64769"/>
                </a:lnTo>
                <a:lnTo>
                  <a:pt x="278747" y="50125"/>
                </a:lnTo>
                <a:lnTo>
                  <a:pt x="274875" y="37242"/>
                </a:lnTo>
                <a:lnTo>
                  <a:pt x="268408" y="26122"/>
                </a:lnTo>
                <a:lnTo>
                  <a:pt x="261920" y="19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93439" y="4882515"/>
            <a:ext cx="457200" cy="28575"/>
          </a:xfrm>
          <a:custGeom>
            <a:avLst/>
            <a:gdLst/>
            <a:ahLst/>
            <a:cxnLst/>
            <a:rect l="l" t="t" r="r" b="b"/>
            <a:pathLst>
              <a:path w="457200" h="28575">
                <a:moveTo>
                  <a:pt x="457200" y="0"/>
                </a:moveTo>
                <a:lnTo>
                  <a:pt x="0" y="0"/>
                </a:lnTo>
                <a:lnTo>
                  <a:pt x="0" y="28575"/>
                </a:lnTo>
                <a:lnTo>
                  <a:pt x="457200" y="28575"/>
                </a:lnTo>
                <a:lnTo>
                  <a:pt x="457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3956303" y="4414011"/>
            <a:ext cx="295275" cy="347980"/>
            <a:chOff x="3956303" y="4414011"/>
            <a:chExt cx="295275" cy="34798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6303" y="4414011"/>
              <a:ext cx="225551" cy="23990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161726" y="4502149"/>
              <a:ext cx="90170" cy="260350"/>
            </a:xfrm>
            <a:custGeom>
              <a:avLst/>
              <a:gdLst/>
              <a:ahLst/>
              <a:cxnLst/>
              <a:rect l="l" t="t" r="r" b="b"/>
              <a:pathLst>
                <a:path w="90170" h="260350">
                  <a:moveTo>
                    <a:pt x="65849" y="73151"/>
                  </a:moveTo>
                  <a:lnTo>
                    <a:pt x="56959" y="73151"/>
                  </a:lnTo>
                  <a:lnTo>
                    <a:pt x="4254" y="75183"/>
                  </a:lnTo>
                  <a:lnTo>
                    <a:pt x="2095" y="87502"/>
                  </a:lnTo>
                  <a:lnTo>
                    <a:pt x="9969" y="87756"/>
                  </a:lnTo>
                  <a:lnTo>
                    <a:pt x="15430" y="88900"/>
                  </a:lnTo>
                  <a:lnTo>
                    <a:pt x="18478" y="91058"/>
                  </a:lnTo>
                  <a:lnTo>
                    <a:pt x="21653" y="93344"/>
                  </a:lnTo>
                  <a:lnTo>
                    <a:pt x="23304" y="96774"/>
                  </a:lnTo>
                  <a:lnTo>
                    <a:pt x="23558" y="101473"/>
                  </a:lnTo>
                  <a:lnTo>
                    <a:pt x="23431" y="105791"/>
                  </a:lnTo>
                  <a:lnTo>
                    <a:pt x="23177" y="106680"/>
                  </a:lnTo>
                  <a:lnTo>
                    <a:pt x="22542" y="112394"/>
                  </a:lnTo>
                  <a:lnTo>
                    <a:pt x="21526" y="118744"/>
                  </a:lnTo>
                  <a:lnTo>
                    <a:pt x="18732" y="132587"/>
                  </a:lnTo>
                  <a:lnTo>
                    <a:pt x="17208" y="139826"/>
                  </a:lnTo>
                  <a:lnTo>
                    <a:pt x="13652" y="154812"/>
                  </a:lnTo>
                  <a:lnTo>
                    <a:pt x="8318" y="177673"/>
                  </a:lnTo>
                  <a:lnTo>
                    <a:pt x="6667" y="184912"/>
                  </a:lnTo>
                  <a:lnTo>
                    <a:pt x="3619" y="198881"/>
                  </a:lnTo>
                  <a:lnTo>
                    <a:pt x="2349" y="205231"/>
                  </a:lnTo>
                  <a:lnTo>
                    <a:pt x="1460" y="211200"/>
                  </a:lnTo>
                  <a:lnTo>
                    <a:pt x="444" y="217169"/>
                  </a:lnTo>
                  <a:lnTo>
                    <a:pt x="105" y="220472"/>
                  </a:lnTo>
                  <a:lnTo>
                    <a:pt x="0" y="231394"/>
                  </a:lnTo>
                  <a:lnTo>
                    <a:pt x="698" y="235585"/>
                  </a:lnTo>
                  <a:lnTo>
                    <a:pt x="25590" y="259842"/>
                  </a:lnTo>
                  <a:lnTo>
                    <a:pt x="35242" y="259842"/>
                  </a:lnTo>
                  <a:lnTo>
                    <a:pt x="39941" y="259206"/>
                  </a:lnTo>
                  <a:lnTo>
                    <a:pt x="44259" y="257937"/>
                  </a:lnTo>
                  <a:lnTo>
                    <a:pt x="48704" y="256794"/>
                  </a:lnTo>
                  <a:lnTo>
                    <a:pt x="78995" y="235457"/>
                  </a:lnTo>
                  <a:lnTo>
                    <a:pt x="41846" y="235457"/>
                  </a:lnTo>
                  <a:lnTo>
                    <a:pt x="39052" y="234442"/>
                  </a:lnTo>
                  <a:lnTo>
                    <a:pt x="37274" y="232410"/>
                  </a:lnTo>
                  <a:lnTo>
                    <a:pt x="35369" y="230377"/>
                  </a:lnTo>
                  <a:lnTo>
                    <a:pt x="34353" y="227075"/>
                  </a:lnTo>
                  <a:lnTo>
                    <a:pt x="34353" y="219075"/>
                  </a:lnTo>
                  <a:lnTo>
                    <a:pt x="34734" y="215264"/>
                  </a:lnTo>
                  <a:lnTo>
                    <a:pt x="35369" y="211074"/>
                  </a:lnTo>
                  <a:lnTo>
                    <a:pt x="36131" y="206756"/>
                  </a:lnTo>
                  <a:lnTo>
                    <a:pt x="37274" y="201041"/>
                  </a:lnTo>
                  <a:lnTo>
                    <a:pt x="38925" y="193929"/>
                  </a:lnTo>
                  <a:lnTo>
                    <a:pt x="65849" y="73151"/>
                  </a:lnTo>
                  <a:close/>
                </a:path>
                <a:path w="90170" h="260350">
                  <a:moveTo>
                    <a:pt x="77279" y="212979"/>
                  </a:moveTo>
                  <a:lnTo>
                    <a:pt x="59118" y="230250"/>
                  </a:lnTo>
                  <a:lnTo>
                    <a:pt x="56705" y="232029"/>
                  </a:lnTo>
                  <a:lnTo>
                    <a:pt x="54419" y="233425"/>
                  </a:lnTo>
                  <a:lnTo>
                    <a:pt x="52133" y="234187"/>
                  </a:lnTo>
                  <a:lnTo>
                    <a:pt x="49974" y="235076"/>
                  </a:lnTo>
                  <a:lnTo>
                    <a:pt x="47815" y="235457"/>
                  </a:lnTo>
                  <a:lnTo>
                    <a:pt x="78995" y="235457"/>
                  </a:lnTo>
                  <a:lnTo>
                    <a:pt x="83248" y="231394"/>
                  </a:lnTo>
                  <a:lnTo>
                    <a:pt x="89598" y="224917"/>
                  </a:lnTo>
                  <a:lnTo>
                    <a:pt x="77279" y="212979"/>
                  </a:lnTo>
                  <a:close/>
                </a:path>
                <a:path w="90170" h="260350">
                  <a:moveTo>
                    <a:pt x="82613" y="0"/>
                  </a:moveTo>
                  <a:lnTo>
                    <a:pt x="46418" y="0"/>
                  </a:lnTo>
                  <a:lnTo>
                    <a:pt x="37909" y="39116"/>
                  </a:lnTo>
                  <a:lnTo>
                    <a:pt x="73723" y="39116"/>
                  </a:lnTo>
                  <a:lnTo>
                    <a:pt x="82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3919387" y="5015738"/>
            <a:ext cx="249554" cy="356870"/>
          </a:xfrm>
          <a:custGeom>
            <a:avLst/>
            <a:gdLst/>
            <a:ahLst/>
            <a:cxnLst/>
            <a:rect l="l" t="t" r="r" b="b"/>
            <a:pathLst>
              <a:path w="249554" h="356870">
                <a:moveTo>
                  <a:pt x="184705" y="289687"/>
                </a:moveTo>
                <a:lnTo>
                  <a:pt x="146644" y="289687"/>
                </a:lnTo>
                <a:lnTo>
                  <a:pt x="149819" y="290703"/>
                </a:lnTo>
                <a:lnTo>
                  <a:pt x="147319" y="298225"/>
                </a:lnTo>
                <a:lnTo>
                  <a:pt x="145533" y="305546"/>
                </a:lnTo>
                <a:lnTo>
                  <a:pt x="144461" y="312652"/>
                </a:lnTo>
                <a:lnTo>
                  <a:pt x="144289" y="315975"/>
                </a:lnTo>
                <a:lnTo>
                  <a:pt x="144195" y="320802"/>
                </a:lnTo>
                <a:lnTo>
                  <a:pt x="144675" y="327487"/>
                </a:lnTo>
                <a:lnTo>
                  <a:pt x="170439" y="355869"/>
                </a:lnTo>
                <a:lnTo>
                  <a:pt x="177632" y="356489"/>
                </a:lnTo>
                <a:lnTo>
                  <a:pt x="186532" y="355865"/>
                </a:lnTo>
                <a:lnTo>
                  <a:pt x="228511" y="333279"/>
                </a:lnTo>
                <a:lnTo>
                  <a:pt x="233999" y="328168"/>
                </a:lnTo>
                <a:lnTo>
                  <a:pt x="191348" y="328168"/>
                </a:lnTo>
                <a:lnTo>
                  <a:pt x="187919" y="326644"/>
                </a:lnTo>
                <a:lnTo>
                  <a:pt x="183601" y="320802"/>
                </a:lnTo>
                <a:lnTo>
                  <a:pt x="182585" y="315975"/>
                </a:lnTo>
                <a:lnTo>
                  <a:pt x="182706" y="306891"/>
                </a:lnTo>
                <a:lnTo>
                  <a:pt x="182920" y="302515"/>
                </a:lnTo>
                <a:lnTo>
                  <a:pt x="183934" y="294147"/>
                </a:lnTo>
                <a:lnTo>
                  <a:pt x="184705" y="289687"/>
                </a:lnTo>
                <a:close/>
              </a:path>
              <a:path w="249554" h="356870">
                <a:moveTo>
                  <a:pt x="127086" y="112649"/>
                </a:moveTo>
                <a:lnTo>
                  <a:pt x="77294" y="125400"/>
                </a:lnTo>
                <a:lnTo>
                  <a:pt x="36313" y="161909"/>
                </a:lnTo>
                <a:lnTo>
                  <a:pt x="16596" y="196850"/>
                </a:lnTo>
                <a:lnTo>
                  <a:pt x="4086" y="236759"/>
                </a:lnTo>
                <a:lnTo>
                  <a:pt x="71" y="276098"/>
                </a:lnTo>
                <a:lnTo>
                  <a:pt x="0" y="279146"/>
                </a:lnTo>
                <a:lnTo>
                  <a:pt x="888" y="295836"/>
                </a:lnTo>
                <a:lnTo>
                  <a:pt x="14818" y="335788"/>
                </a:lnTo>
                <a:lnTo>
                  <a:pt x="56855" y="356234"/>
                </a:lnTo>
                <a:lnTo>
                  <a:pt x="68521" y="355234"/>
                </a:lnTo>
                <a:lnTo>
                  <a:pt x="112479" y="331067"/>
                </a:lnTo>
                <a:lnTo>
                  <a:pt x="74127" y="327152"/>
                </a:lnTo>
                <a:lnTo>
                  <a:pt x="66455" y="326364"/>
                </a:lnTo>
                <a:lnTo>
                  <a:pt x="43970" y="288127"/>
                </a:lnTo>
                <a:lnTo>
                  <a:pt x="43634" y="279146"/>
                </a:lnTo>
                <a:lnTo>
                  <a:pt x="43653" y="272923"/>
                </a:lnTo>
                <a:lnTo>
                  <a:pt x="50003" y="224609"/>
                </a:lnTo>
                <a:lnTo>
                  <a:pt x="68618" y="176434"/>
                </a:lnTo>
                <a:lnTo>
                  <a:pt x="96759" y="143619"/>
                </a:lnTo>
                <a:lnTo>
                  <a:pt x="131531" y="132206"/>
                </a:lnTo>
                <a:lnTo>
                  <a:pt x="219673" y="132206"/>
                </a:lnTo>
                <a:lnTo>
                  <a:pt x="220957" y="126492"/>
                </a:lnTo>
                <a:lnTo>
                  <a:pt x="180807" y="126492"/>
                </a:lnTo>
                <a:lnTo>
                  <a:pt x="174241" y="122967"/>
                </a:lnTo>
                <a:lnTo>
                  <a:pt x="167710" y="120014"/>
                </a:lnTo>
                <a:lnTo>
                  <a:pt x="134468" y="112859"/>
                </a:lnTo>
                <a:lnTo>
                  <a:pt x="127086" y="112649"/>
                </a:lnTo>
                <a:close/>
              </a:path>
              <a:path w="249554" h="356870">
                <a:moveTo>
                  <a:pt x="235290" y="299084"/>
                </a:moveTo>
                <a:lnTo>
                  <a:pt x="206080" y="326136"/>
                </a:lnTo>
                <a:lnTo>
                  <a:pt x="200873" y="328168"/>
                </a:lnTo>
                <a:lnTo>
                  <a:pt x="233999" y="328168"/>
                </a:lnTo>
                <a:lnTo>
                  <a:pt x="238624" y="323850"/>
                </a:lnTo>
                <a:lnTo>
                  <a:pt x="249387" y="312928"/>
                </a:lnTo>
                <a:lnTo>
                  <a:pt x="235290" y="299084"/>
                </a:lnTo>
                <a:close/>
              </a:path>
              <a:path w="249554" h="356870">
                <a:moveTo>
                  <a:pt x="219673" y="132206"/>
                </a:moveTo>
                <a:lnTo>
                  <a:pt x="131531" y="132206"/>
                </a:lnTo>
                <a:lnTo>
                  <a:pt x="140367" y="132754"/>
                </a:lnTo>
                <a:lnTo>
                  <a:pt x="147835" y="134397"/>
                </a:lnTo>
                <a:lnTo>
                  <a:pt x="166837" y="168910"/>
                </a:lnTo>
                <a:lnTo>
                  <a:pt x="166601" y="176934"/>
                </a:lnTo>
                <a:lnTo>
                  <a:pt x="158675" y="222980"/>
                </a:lnTo>
                <a:lnTo>
                  <a:pt x="144660" y="262112"/>
                </a:lnTo>
                <a:lnTo>
                  <a:pt x="122768" y="295148"/>
                </a:lnTo>
                <a:lnTo>
                  <a:pt x="106004" y="313055"/>
                </a:lnTo>
                <a:lnTo>
                  <a:pt x="100416" y="318008"/>
                </a:lnTo>
                <a:lnTo>
                  <a:pt x="94955" y="321564"/>
                </a:lnTo>
                <a:lnTo>
                  <a:pt x="89276" y="323992"/>
                </a:lnTo>
                <a:lnTo>
                  <a:pt x="84414" y="326009"/>
                </a:lnTo>
                <a:lnTo>
                  <a:pt x="79207" y="327152"/>
                </a:lnTo>
                <a:lnTo>
                  <a:pt x="116251" y="327152"/>
                </a:lnTo>
                <a:lnTo>
                  <a:pt x="123585" y="319531"/>
                </a:lnTo>
                <a:lnTo>
                  <a:pt x="134922" y="305782"/>
                </a:lnTo>
                <a:lnTo>
                  <a:pt x="146644" y="289687"/>
                </a:lnTo>
                <a:lnTo>
                  <a:pt x="184705" y="289687"/>
                </a:lnTo>
                <a:lnTo>
                  <a:pt x="185639" y="284279"/>
                </a:lnTo>
                <a:lnTo>
                  <a:pt x="188046" y="272923"/>
                </a:lnTo>
                <a:lnTo>
                  <a:pt x="219673" y="132206"/>
                </a:lnTo>
                <a:close/>
              </a:path>
              <a:path w="249554" h="356870">
                <a:moveTo>
                  <a:pt x="249387" y="0"/>
                </a:moveTo>
                <a:lnTo>
                  <a:pt x="234782" y="0"/>
                </a:lnTo>
                <a:lnTo>
                  <a:pt x="172933" y="2286"/>
                </a:lnTo>
                <a:lnTo>
                  <a:pt x="170012" y="15112"/>
                </a:lnTo>
                <a:lnTo>
                  <a:pt x="178775" y="15620"/>
                </a:lnTo>
                <a:lnTo>
                  <a:pt x="184744" y="16382"/>
                </a:lnTo>
                <a:lnTo>
                  <a:pt x="198587" y="29337"/>
                </a:lnTo>
                <a:lnTo>
                  <a:pt x="198587" y="39243"/>
                </a:lnTo>
                <a:lnTo>
                  <a:pt x="193634" y="69595"/>
                </a:lnTo>
                <a:lnTo>
                  <a:pt x="180807" y="126492"/>
                </a:lnTo>
                <a:lnTo>
                  <a:pt x="220957" y="126492"/>
                </a:lnTo>
                <a:lnTo>
                  <a:pt x="249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18876" y="5216525"/>
            <a:ext cx="90170" cy="260350"/>
          </a:xfrm>
          <a:custGeom>
            <a:avLst/>
            <a:gdLst/>
            <a:ahLst/>
            <a:cxnLst/>
            <a:rect l="l" t="t" r="r" b="b"/>
            <a:pathLst>
              <a:path w="90170" h="260350">
                <a:moveTo>
                  <a:pt x="65849" y="73152"/>
                </a:moveTo>
                <a:lnTo>
                  <a:pt x="56959" y="73152"/>
                </a:lnTo>
                <a:lnTo>
                  <a:pt x="4254" y="75184"/>
                </a:lnTo>
                <a:lnTo>
                  <a:pt x="2095" y="87503"/>
                </a:lnTo>
                <a:lnTo>
                  <a:pt x="9969" y="87756"/>
                </a:lnTo>
                <a:lnTo>
                  <a:pt x="15430" y="88900"/>
                </a:lnTo>
                <a:lnTo>
                  <a:pt x="18478" y="91059"/>
                </a:lnTo>
                <a:lnTo>
                  <a:pt x="21653" y="93344"/>
                </a:lnTo>
                <a:lnTo>
                  <a:pt x="23304" y="96774"/>
                </a:lnTo>
                <a:lnTo>
                  <a:pt x="23558" y="101472"/>
                </a:lnTo>
                <a:lnTo>
                  <a:pt x="23431" y="105790"/>
                </a:lnTo>
                <a:lnTo>
                  <a:pt x="23177" y="106680"/>
                </a:lnTo>
                <a:lnTo>
                  <a:pt x="22542" y="112394"/>
                </a:lnTo>
                <a:lnTo>
                  <a:pt x="21526" y="118744"/>
                </a:lnTo>
                <a:lnTo>
                  <a:pt x="18732" y="132587"/>
                </a:lnTo>
                <a:lnTo>
                  <a:pt x="17208" y="139827"/>
                </a:lnTo>
                <a:lnTo>
                  <a:pt x="13652" y="154812"/>
                </a:lnTo>
                <a:lnTo>
                  <a:pt x="8318" y="177672"/>
                </a:lnTo>
                <a:lnTo>
                  <a:pt x="6667" y="184912"/>
                </a:lnTo>
                <a:lnTo>
                  <a:pt x="3619" y="198881"/>
                </a:lnTo>
                <a:lnTo>
                  <a:pt x="2349" y="205231"/>
                </a:lnTo>
                <a:lnTo>
                  <a:pt x="1460" y="211200"/>
                </a:lnTo>
                <a:lnTo>
                  <a:pt x="444" y="217169"/>
                </a:lnTo>
                <a:lnTo>
                  <a:pt x="105" y="220472"/>
                </a:lnTo>
                <a:lnTo>
                  <a:pt x="0" y="231394"/>
                </a:lnTo>
                <a:lnTo>
                  <a:pt x="698" y="235584"/>
                </a:lnTo>
                <a:lnTo>
                  <a:pt x="25590" y="259841"/>
                </a:lnTo>
                <a:lnTo>
                  <a:pt x="35242" y="259841"/>
                </a:lnTo>
                <a:lnTo>
                  <a:pt x="39941" y="259206"/>
                </a:lnTo>
                <a:lnTo>
                  <a:pt x="44259" y="257937"/>
                </a:lnTo>
                <a:lnTo>
                  <a:pt x="48704" y="256794"/>
                </a:lnTo>
                <a:lnTo>
                  <a:pt x="78995" y="235458"/>
                </a:lnTo>
                <a:lnTo>
                  <a:pt x="41846" y="235458"/>
                </a:lnTo>
                <a:lnTo>
                  <a:pt x="39052" y="234441"/>
                </a:lnTo>
                <a:lnTo>
                  <a:pt x="37274" y="232409"/>
                </a:lnTo>
                <a:lnTo>
                  <a:pt x="35369" y="230378"/>
                </a:lnTo>
                <a:lnTo>
                  <a:pt x="34353" y="227075"/>
                </a:lnTo>
                <a:lnTo>
                  <a:pt x="34353" y="219075"/>
                </a:lnTo>
                <a:lnTo>
                  <a:pt x="34734" y="215265"/>
                </a:lnTo>
                <a:lnTo>
                  <a:pt x="35369" y="211074"/>
                </a:lnTo>
                <a:lnTo>
                  <a:pt x="36131" y="206756"/>
                </a:lnTo>
                <a:lnTo>
                  <a:pt x="37274" y="201040"/>
                </a:lnTo>
                <a:lnTo>
                  <a:pt x="38925" y="193928"/>
                </a:lnTo>
                <a:lnTo>
                  <a:pt x="65849" y="73152"/>
                </a:lnTo>
                <a:close/>
              </a:path>
              <a:path w="90170" h="260350">
                <a:moveTo>
                  <a:pt x="77279" y="212978"/>
                </a:moveTo>
                <a:lnTo>
                  <a:pt x="59118" y="230250"/>
                </a:lnTo>
                <a:lnTo>
                  <a:pt x="56705" y="232028"/>
                </a:lnTo>
                <a:lnTo>
                  <a:pt x="54419" y="233425"/>
                </a:lnTo>
                <a:lnTo>
                  <a:pt x="52133" y="234187"/>
                </a:lnTo>
                <a:lnTo>
                  <a:pt x="49974" y="235077"/>
                </a:lnTo>
                <a:lnTo>
                  <a:pt x="47815" y="235458"/>
                </a:lnTo>
                <a:lnTo>
                  <a:pt x="78995" y="235458"/>
                </a:lnTo>
                <a:lnTo>
                  <a:pt x="83248" y="231394"/>
                </a:lnTo>
                <a:lnTo>
                  <a:pt x="89598" y="224916"/>
                </a:lnTo>
                <a:lnTo>
                  <a:pt x="77279" y="212978"/>
                </a:lnTo>
                <a:close/>
              </a:path>
              <a:path w="90170" h="260350">
                <a:moveTo>
                  <a:pt x="82613" y="0"/>
                </a:moveTo>
                <a:lnTo>
                  <a:pt x="46418" y="0"/>
                </a:lnTo>
                <a:lnTo>
                  <a:pt x="37909" y="39115"/>
                </a:lnTo>
                <a:lnTo>
                  <a:pt x="73723" y="39115"/>
                </a:lnTo>
                <a:lnTo>
                  <a:pt x="826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1642" y="4732020"/>
            <a:ext cx="304165" cy="317500"/>
          </a:xfrm>
          <a:custGeom>
            <a:avLst/>
            <a:gdLst/>
            <a:ahLst/>
            <a:cxnLst/>
            <a:rect l="l" t="t" r="r" b="b"/>
            <a:pathLst>
              <a:path w="304164" h="317500">
                <a:moveTo>
                  <a:pt x="303657" y="142240"/>
                </a:moveTo>
                <a:lnTo>
                  <a:pt x="169418" y="142240"/>
                </a:lnTo>
                <a:lnTo>
                  <a:pt x="169418" y="0"/>
                </a:lnTo>
                <a:lnTo>
                  <a:pt x="134366" y="0"/>
                </a:lnTo>
                <a:lnTo>
                  <a:pt x="134366" y="142240"/>
                </a:lnTo>
                <a:lnTo>
                  <a:pt x="0" y="142240"/>
                </a:lnTo>
                <a:lnTo>
                  <a:pt x="0" y="175260"/>
                </a:lnTo>
                <a:lnTo>
                  <a:pt x="134366" y="175260"/>
                </a:lnTo>
                <a:lnTo>
                  <a:pt x="134366" y="317500"/>
                </a:lnTo>
                <a:lnTo>
                  <a:pt x="169418" y="317500"/>
                </a:lnTo>
                <a:lnTo>
                  <a:pt x="169418" y="175260"/>
                </a:lnTo>
                <a:lnTo>
                  <a:pt x="303657" y="175260"/>
                </a:lnTo>
                <a:lnTo>
                  <a:pt x="303657" y="142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04561" y="4678679"/>
            <a:ext cx="156210" cy="467995"/>
          </a:xfrm>
          <a:custGeom>
            <a:avLst/>
            <a:gdLst/>
            <a:ahLst/>
            <a:cxnLst/>
            <a:rect l="l" t="t" r="r" b="b"/>
            <a:pathLst>
              <a:path w="156210" h="467995">
                <a:moveTo>
                  <a:pt x="149225" y="0"/>
                </a:moveTo>
                <a:lnTo>
                  <a:pt x="85582" y="30019"/>
                </a:lnTo>
                <a:lnTo>
                  <a:pt x="38608" y="82042"/>
                </a:lnTo>
                <a:lnTo>
                  <a:pt x="9683" y="151463"/>
                </a:lnTo>
                <a:lnTo>
                  <a:pt x="2424" y="191073"/>
                </a:lnTo>
                <a:lnTo>
                  <a:pt x="0" y="233934"/>
                </a:lnTo>
                <a:lnTo>
                  <a:pt x="2405" y="276939"/>
                </a:lnTo>
                <a:lnTo>
                  <a:pt x="9620" y="316611"/>
                </a:lnTo>
                <a:lnTo>
                  <a:pt x="21645" y="352948"/>
                </a:lnTo>
                <a:lnTo>
                  <a:pt x="59820" y="414571"/>
                </a:lnTo>
                <a:lnTo>
                  <a:pt x="115169" y="455425"/>
                </a:lnTo>
                <a:lnTo>
                  <a:pt x="149225" y="467614"/>
                </a:lnTo>
                <a:lnTo>
                  <a:pt x="155066" y="448691"/>
                </a:lnTo>
                <a:lnTo>
                  <a:pt x="128418" y="436876"/>
                </a:lnTo>
                <a:lnTo>
                  <a:pt x="105425" y="420465"/>
                </a:lnTo>
                <a:lnTo>
                  <a:pt x="70358" y="373761"/>
                </a:lnTo>
                <a:lnTo>
                  <a:pt x="49609" y="310213"/>
                </a:lnTo>
                <a:lnTo>
                  <a:pt x="42672" y="231521"/>
                </a:lnTo>
                <a:lnTo>
                  <a:pt x="44408" y="191639"/>
                </a:lnTo>
                <a:lnTo>
                  <a:pt x="58263" y="122400"/>
                </a:lnTo>
                <a:lnTo>
                  <a:pt x="86123" y="67806"/>
                </a:lnTo>
                <a:lnTo>
                  <a:pt x="128847" y="30761"/>
                </a:lnTo>
                <a:lnTo>
                  <a:pt x="155828" y="19050"/>
                </a:lnTo>
                <a:lnTo>
                  <a:pt x="149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13603" y="4694554"/>
            <a:ext cx="196215" cy="340360"/>
          </a:xfrm>
          <a:custGeom>
            <a:avLst/>
            <a:gdLst/>
            <a:ahLst/>
            <a:cxnLst/>
            <a:rect l="l" t="t" r="r" b="b"/>
            <a:pathLst>
              <a:path w="196214" h="340360">
                <a:moveTo>
                  <a:pt x="129032" y="0"/>
                </a:moveTo>
                <a:lnTo>
                  <a:pt x="115443" y="0"/>
                </a:lnTo>
                <a:lnTo>
                  <a:pt x="0" y="68707"/>
                </a:lnTo>
                <a:lnTo>
                  <a:pt x="10922" y="87757"/>
                </a:lnTo>
                <a:lnTo>
                  <a:pt x="21181" y="80994"/>
                </a:lnTo>
                <a:lnTo>
                  <a:pt x="39175" y="69754"/>
                </a:lnTo>
                <a:lnTo>
                  <a:pt x="56642" y="59817"/>
                </a:lnTo>
                <a:lnTo>
                  <a:pt x="64008" y="57150"/>
                </a:lnTo>
                <a:lnTo>
                  <a:pt x="73787" y="57150"/>
                </a:lnTo>
                <a:lnTo>
                  <a:pt x="77088" y="58674"/>
                </a:lnTo>
                <a:lnTo>
                  <a:pt x="81787" y="64770"/>
                </a:lnTo>
                <a:lnTo>
                  <a:pt x="82931" y="69596"/>
                </a:lnTo>
                <a:lnTo>
                  <a:pt x="82931" y="287528"/>
                </a:lnTo>
                <a:lnTo>
                  <a:pt x="46351" y="320022"/>
                </a:lnTo>
                <a:lnTo>
                  <a:pt x="14097" y="322326"/>
                </a:lnTo>
                <a:lnTo>
                  <a:pt x="14097" y="340360"/>
                </a:lnTo>
                <a:lnTo>
                  <a:pt x="196215" y="340360"/>
                </a:lnTo>
                <a:lnTo>
                  <a:pt x="196215" y="322326"/>
                </a:lnTo>
                <a:lnTo>
                  <a:pt x="187237" y="322066"/>
                </a:lnTo>
                <a:lnTo>
                  <a:pt x="171997" y="321165"/>
                </a:lnTo>
                <a:lnTo>
                  <a:pt x="132080" y="306324"/>
                </a:lnTo>
                <a:lnTo>
                  <a:pt x="127508" y="285496"/>
                </a:lnTo>
                <a:lnTo>
                  <a:pt x="127603" y="45719"/>
                </a:lnTo>
                <a:lnTo>
                  <a:pt x="128365" y="12954"/>
                </a:lnTo>
                <a:lnTo>
                  <a:pt x="1290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97016" y="4874242"/>
            <a:ext cx="304165" cy="33020"/>
          </a:xfrm>
          <a:custGeom>
            <a:avLst/>
            <a:gdLst/>
            <a:ahLst/>
            <a:cxnLst/>
            <a:rect l="l" t="t" r="r" b="b"/>
            <a:pathLst>
              <a:path w="304164" h="33020">
                <a:moveTo>
                  <a:pt x="303682" y="0"/>
                </a:moveTo>
                <a:lnTo>
                  <a:pt x="0" y="0"/>
                </a:lnTo>
                <a:lnTo>
                  <a:pt x="0" y="32783"/>
                </a:lnTo>
                <a:lnTo>
                  <a:pt x="303682" y="32783"/>
                </a:lnTo>
                <a:lnTo>
                  <a:pt x="3036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59296" y="4682235"/>
            <a:ext cx="280035" cy="459105"/>
          </a:xfrm>
          <a:custGeom>
            <a:avLst/>
            <a:gdLst/>
            <a:ahLst/>
            <a:cxnLst/>
            <a:rect l="l" t="t" r="r" b="b"/>
            <a:pathLst>
              <a:path w="280035" h="459104">
                <a:moveTo>
                  <a:pt x="200660" y="0"/>
                </a:moveTo>
                <a:lnTo>
                  <a:pt x="154600" y="8786"/>
                </a:lnTo>
                <a:lnTo>
                  <a:pt x="118427" y="34559"/>
                </a:lnTo>
                <a:lnTo>
                  <a:pt x="91616" y="75459"/>
                </a:lnTo>
                <a:lnTo>
                  <a:pt x="78333" y="111809"/>
                </a:lnTo>
                <a:lnTo>
                  <a:pt x="0" y="458724"/>
                </a:lnTo>
                <a:lnTo>
                  <a:pt x="40131" y="458724"/>
                </a:lnTo>
                <a:lnTo>
                  <a:pt x="66548" y="341883"/>
                </a:lnTo>
                <a:lnTo>
                  <a:pt x="193674" y="341883"/>
                </a:lnTo>
                <a:lnTo>
                  <a:pt x="193928" y="341756"/>
                </a:lnTo>
                <a:lnTo>
                  <a:pt x="200513" y="337184"/>
                </a:lnTo>
                <a:lnTo>
                  <a:pt x="119506" y="337184"/>
                </a:lnTo>
                <a:lnTo>
                  <a:pt x="111378" y="336041"/>
                </a:lnTo>
                <a:lnTo>
                  <a:pt x="105028" y="333882"/>
                </a:lnTo>
                <a:lnTo>
                  <a:pt x="98551" y="331596"/>
                </a:lnTo>
                <a:lnTo>
                  <a:pt x="93344" y="328930"/>
                </a:lnTo>
                <a:lnTo>
                  <a:pt x="89407" y="325881"/>
                </a:lnTo>
                <a:lnTo>
                  <a:pt x="85343" y="322833"/>
                </a:lnTo>
                <a:lnTo>
                  <a:pt x="77215" y="302768"/>
                </a:lnTo>
                <a:lnTo>
                  <a:pt x="77597" y="299465"/>
                </a:lnTo>
                <a:lnTo>
                  <a:pt x="111707" y="140924"/>
                </a:lnTo>
                <a:lnTo>
                  <a:pt x="126873" y="87582"/>
                </a:lnTo>
                <a:lnTo>
                  <a:pt x="145923" y="49656"/>
                </a:lnTo>
                <a:lnTo>
                  <a:pt x="183195" y="21314"/>
                </a:lnTo>
                <a:lnTo>
                  <a:pt x="198247" y="19431"/>
                </a:lnTo>
                <a:lnTo>
                  <a:pt x="261920" y="19431"/>
                </a:lnTo>
                <a:lnTo>
                  <a:pt x="259333" y="16763"/>
                </a:lnTo>
                <a:lnTo>
                  <a:pt x="247880" y="9429"/>
                </a:lnTo>
                <a:lnTo>
                  <a:pt x="234283" y="4191"/>
                </a:lnTo>
                <a:lnTo>
                  <a:pt x="218543" y="1047"/>
                </a:lnTo>
                <a:lnTo>
                  <a:pt x="200660" y="0"/>
                </a:lnTo>
                <a:close/>
              </a:path>
              <a:path w="280035" h="459104">
                <a:moveTo>
                  <a:pt x="193674" y="341883"/>
                </a:moveTo>
                <a:lnTo>
                  <a:pt x="66548" y="341883"/>
                </a:lnTo>
                <a:lnTo>
                  <a:pt x="74973" y="345598"/>
                </a:lnTo>
                <a:lnTo>
                  <a:pt x="116617" y="355774"/>
                </a:lnTo>
                <a:lnTo>
                  <a:pt x="136270" y="356615"/>
                </a:lnTo>
                <a:lnTo>
                  <a:pt x="152084" y="355687"/>
                </a:lnTo>
                <a:lnTo>
                  <a:pt x="166957" y="352901"/>
                </a:lnTo>
                <a:lnTo>
                  <a:pt x="180901" y="348257"/>
                </a:lnTo>
                <a:lnTo>
                  <a:pt x="193674" y="341883"/>
                </a:lnTo>
                <a:close/>
              </a:path>
              <a:path w="280035" h="459104">
                <a:moveTo>
                  <a:pt x="261920" y="19431"/>
                </a:moveTo>
                <a:lnTo>
                  <a:pt x="198247" y="19431"/>
                </a:lnTo>
                <a:lnTo>
                  <a:pt x="207722" y="20099"/>
                </a:lnTo>
                <a:lnTo>
                  <a:pt x="215947" y="22113"/>
                </a:lnTo>
                <a:lnTo>
                  <a:pt x="238887" y="61594"/>
                </a:lnTo>
                <a:lnTo>
                  <a:pt x="238125" y="74118"/>
                </a:lnTo>
                <a:lnTo>
                  <a:pt x="220007" y="119026"/>
                </a:lnTo>
                <a:lnTo>
                  <a:pt x="181965" y="149590"/>
                </a:lnTo>
                <a:lnTo>
                  <a:pt x="144906" y="158876"/>
                </a:lnTo>
                <a:lnTo>
                  <a:pt x="141477" y="176402"/>
                </a:lnTo>
                <a:lnTo>
                  <a:pt x="185547" y="194437"/>
                </a:lnTo>
                <a:lnTo>
                  <a:pt x="200913" y="237997"/>
                </a:lnTo>
                <a:lnTo>
                  <a:pt x="200320" y="252166"/>
                </a:lnTo>
                <a:lnTo>
                  <a:pt x="191515" y="289813"/>
                </a:lnTo>
                <a:lnTo>
                  <a:pt x="165735" y="324865"/>
                </a:lnTo>
                <a:lnTo>
                  <a:pt x="129412" y="337184"/>
                </a:lnTo>
                <a:lnTo>
                  <a:pt x="200513" y="337184"/>
                </a:lnTo>
                <a:lnTo>
                  <a:pt x="231901" y="301370"/>
                </a:lnTo>
                <a:lnTo>
                  <a:pt x="243921" y="261223"/>
                </a:lnTo>
                <a:lnTo>
                  <a:pt x="244728" y="246887"/>
                </a:lnTo>
                <a:lnTo>
                  <a:pt x="241063" y="220930"/>
                </a:lnTo>
                <a:lnTo>
                  <a:pt x="230076" y="199437"/>
                </a:lnTo>
                <a:lnTo>
                  <a:pt x="211778" y="182397"/>
                </a:lnTo>
                <a:lnTo>
                  <a:pt x="186181" y="169799"/>
                </a:lnTo>
                <a:lnTo>
                  <a:pt x="186562" y="167766"/>
                </a:lnTo>
                <a:lnTo>
                  <a:pt x="222835" y="152925"/>
                </a:lnTo>
                <a:lnTo>
                  <a:pt x="256472" y="127831"/>
                </a:lnTo>
                <a:lnTo>
                  <a:pt x="276478" y="91947"/>
                </a:lnTo>
                <a:lnTo>
                  <a:pt x="280035" y="64769"/>
                </a:lnTo>
                <a:lnTo>
                  <a:pt x="278747" y="50125"/>
                </a:lnTo>
                <a:lnTo>
                  <a:pt x="274875" y="37242"/>
                </a:lnTo>
                <a:lnTo>
                  <a:pt x="268408" y="26122"/>
                </a:lnTo>
                <a:lnTo>
                  <a:pt x="261920" y="19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88861" y="4678679"/>
            <a:ext cx="156210" cy="467995"/>
          </a:xfrm>
          <a:custGeom>
            <a:avLst/>
            <a:gdLst/>
            <a:ahLst/>
            <a:cxnLst/>
            <a:rect l="l" t="t" r="r" b="b"/>
            <a:pathLst>
              <a:path w="156209" h="467995">
                <a:moveTo>
                  <a:pt x="6603" y="0"/>
                </a:moveTo>
                <a:lnTo>
                  <a:pt x="0" y="19050"/>
                </a:lnTo>
                <a:lnTo>
                  <a:pt x="27052" y="30761"/>
                </a:lnTo>
                <a:lnTo>
                  <a:pt x="50307" y="47021"/>
                </a:lnTo>
                <a:lnTo>
                  <a:pt x="85471" y="93091"/>
                </a:lnTo>
                <a:lnTo>
                  <a:pt x="106219" y="155257"/>
                </a:lnTo>
                <a:lnTo>
                  <a:pt x="113157" y="231521"/>
                </a:lnTo>
                <a:lnTo>
                  <a:pt x="111418" y="272766"/>
                </a:lnTo>
                <a:lnTo>
                  <a:pt x="97512" y="343874"/>
                </a:lnTo>
                <a:lnTo>
                  <a:pt x="69681" y="399434"/>
                </a:lnTo>
                <a:lnTo>
                  <a:pt x="27354" y="436876"/>
                </a:lnTo>
                <a:lnTo>
                  <a:pt x="762" y="448691"/>
                </a:lnTo>
                <a:lnTo>
                  <a:pt x="6603" y="467614"/>
                </a:lnTo>
                <a:lnTo>
                  <a:pt x="70405" y="437737"/>
                </a:lnTo>
                <a:lnTo>
                  <a:pt x="117347" y="385953"/>
                </a:lnTo>
                <a:lnTo>
                  <a:pt x="146097" y="316611"/>
                </a:lnTo>
                <a:lnTo>
                  <a:pt x="153298" y="276939"/>
                </a:lnTo>
                <a:lnTo>
                  <a:pt x="155702" y="233934"/>
                </a:lnTo>
                <a:lnTo>
                  <a:pt x="153296" y="191073"/>
                </a:lnTo>
                <a:lnTo>
                  <a:pt x="146081" y="151463"/>
                </a:lnTo>
                <a:lnTo>
                  <a:pt x="134056" y="115115"/>
                </a:lnTo>
                <a:lnTo>
                  <a:pt x="95811" y="53274"/>
                </a:lnTo>
                <a:lnTo>
                  <a:pt x="40514" y="12265"/>
                </a:lnTo>
                <a:lnTo>
                  <a:pt x="6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74739" y="4882515"/>
            <a:ext cx="381000" cy="28575"/>
          </a:xfrm>
          <a:custGeom>
            <a:avLst/>
            <a:gdLst/>
            <a:ahLst/>
            <a:cxnLst/>
            <a:rect l="l" t="t" r="r" b="b"/>
            <a:pathLst>
              <a:path w="381000" h="28575">
                <a:moveTo>
                  <a:pt x="381000" y="0"/>
                </a:moveTo>
                <a:lnTo>
                  <a:pt x="0" y="0"/>
                </a:lnTo>
                <a:lnTo>
                  <a:pt x="0" y="28575"/>
                </a:lnTo>
                <a:lnTo>
                  <a:pt x="381000" y="28575"/>
                </a:lnTo>
                <a:lnTo>
                  <a:pt x="381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766179" y="4313554"/>
            <a:ext cx="196215" cy="340360"/>
          </a:xfrm>
          <a:custGeom>
            <a:avLst/>
            <a:gdLst/>
            <a:ahLst/>
            <a:cxnLst/>
            <a:rect l="l" t="t" r="r" b="b"/>
            <a:pathLst>
              <a:path w="196215" h="340360">
                <a:moveTo>
                  <a:pt x="129031" y="0"/>
                </a:moveTo>
                <a:lnTo>
                  <a:pt x="115443" y="0"/>
                </a:lnTo>
                <a:lnTo>
                  <a:pt x="0" y="68707"/>
                </a:lnTo>
                <a:lnTo>
                  <a:pt x="10922" y="87757"/>
                </a:lnTo>
                <a:lnTo>
                  <a:pt x="21181" y="80994"/>
                </a:lnTo>
                <a:lnTo>
                  <a:pt x="39175" y="69754"/>
                </a:lnTo>
                <a:lnTo>
                  <a:pt x="56642" y="59817"/>
                </a:lnTo>
                <a:lnTo>
                  <a:pt x="64007" y="57150"/>
                </a:lnTo>
                <a:lnTo>
                  <a:pt x="73787" y="57150"/>
                </a:lnTo>
                <a:lnTo>
                  <a:pt x="77089" y="58674"/>
                </a:lnTo>
                <a:lnTo>
                  <a:pt x="81788" y="64770"/>
                </a:lnTo>
                <a:lnTo>
                  <a:pt x="82930" y="69596"/>
                </a:lnTo>
                <a:lnTo>
                  <a:pt x="82930" y="287528"/>
                </a:lnTo>
                <a:lnTo>
                  <a:pt x="46351" y="320022"/>
                </a:lnTo>
                <a:lnTo>
                  <a:pt x="14097" y="322326"/>
                </a:lnTo>
                <a:lnTo>
                  <a:pt x="14097" y="340360"/>
                </a:lnTo>
                <a:lnTo>
                  <a:pt x="196215" y="340360"/>
                </a:lnTo>
                <a:lnTo>
                  <a:pt x="196215" y="322326"/>
                </a:lnTo>
                <a:lnTo>
                  <a:pt x="187237" y="322066"/>
                </a:lnTo>
                <a:lnTo>
                  <a:pt x="171997" y="321165"/>
                </a:lnTo>
                <a:lnTo>
                  <a:pt x="132079" y="306324"/>
                </a:lnTo>
                <a:lnTo>
                  <a:pt x="127507" y="285496"/>
                </a:lnTo>
                <a:lnTo>
                  <a:pt x="127603" y="45719"/>
                </a:lnTo>
                <a:lnTo>
                  <a:pt x="128365" y="12954"/>
                </a:lnTo>
                <a:lnTo>
                  <a:pt x="1290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88328" y="5031866"/>
            <a:ext cx="342265" cy="336550"/>
          </a:xfrm>
          <a:custGeom>
            <a:avLst/>
            <a:gdLst/>
            <a:ahLst/>
            <a:cxnLst/>
            <a:rect l="l" t="t" r="r" b="b"/>
            <a:pathLst>
              <a:path w="342265" h="336550">
                <a:moveTo>
                  <a:pt x="342138" y="0"/>
                </a:moveTo>
                <a:lnTo>
                  <a:pt x="255777" y="0"/>
                </a:lnTo>
                <a:lnTo>
                  <a:pt x="253111" y="12064"/>
                </a:lnTo>
                <a:lnTo>
                  <a:pt x="261493" y="12572"/>
                </a:lnTo>
                <a:lnTo>
                  <a:pt x="267589" y="14350"/>
                </a:lnTo>
                <a:lnTo>
                  <a:pt x="275336" y="20319"/>
                </a:lnTo>
                <a:lnTo>
                  <a:pt x="277241" y="25780"/>
                </a:lnTo>
                <a:lnTo>
                  <a:pt x="277241" y="33527"/>
                </a:lnTo>
                <a:lnTo>
                  <a:pt x="271906" y="73151"/>
                </a:lnTo>
                <a:lnTo>
                  <a:pt x="254635" y="150748"/>
                </a:lnTo>
                <a:lnTo>
                  <a:pt x="245133" y="195004"/>
                </a:lnTo>
                <a:lnTo>
                  <a:pt x="235886" y="241982"/>
                </a:lnTo>
                <a:lnTo>
                  <a:pt x="232664" y="262000"/>
                </a:lnTo>
                <a:lnTo>
                  <a:pt x="229997" y="262000"/>
                </a:lnTo>
                <a:lnTo>
                  <a:pt x="225782" y="246905"/>
                </a:lnTo>
                <a:lnTo>
                  <a:pt x="220757" y="230203"/>
                </a:lnTo>
                <a:lnTo>
                  <a:pt x="214923" y="211905"/>
                </a:lnTo>
                <a:lnTo>
                  <a:pt x="143128" y="0"/>
                </a:lnTo>
                <a:lnTo>
                  <a:pt x="64516" y="0"/>
                </a:lnTo>
                <a:lnTo>
                  <a:pt x="61849" y="12064"/>
                </a:lnTo>
                <a:lnTo>
                  <a:pt x="70230" y="12572"/>
                </a:lnTo>
                <a:lnTo>
                  <a:pt x="76326" y="14350"/>
                </a:lnTo>
                <a:lnTo>
                  <a:pt x="84074" y="20319"/>
                </a:lnTo>
                <a:lnTo>
                  <a:pt x="85978" y="25780"/>
                </a:lnTo>
                <a:lnTo>
                  <a:pt x="85978" y="40004"/>
                </a:lnTo>
                <a:lnTo>
                  <a:pt x="36105" y="274210"/>
                </a:lnTo>
                <a:lnTo>
                  <a:pt x="22478" y="314197"/>
                </a:lnTo>
                <a:lnTo>
                  <a:pt x="2667" y="324357"/>
                </a:lnTo>
                <a:lnTo>
                  <a:pt x="0" y="336422"/>
                </a:lnTo>
                <a:lnTo>
                  <a:pt x="86232" y="336422"/>
                </a:lnTo>
                <a:lnTo>
                  <a:pt x="88900" y="324357"/>
                </a:lnTo>
                <a:lnTo>
                  <a:pt x="80264" y="323722"/>
                </a:lnTo>
                <a:lnTo>
                  <a:pt x="74041" y="321817"/>
                </a:lnTo>
                <a:lnTo>
                  <a:pt x="66675" y="315721"/>
                </a:lnTo>
                <a:lnTo>
                  <a:pt x="64770" y="310514"/>
                </a:lnTo>
                <a:lnTo>
                  <a:pt x="64770" y="303148"/>
                </a:lnTo>
                <a:lnTo>
                  <a:pt x="69976" y="264667"/>
                </a:lnTo>
                <a:lnTo>
                  <a:pt x="91694" y="166369"/>
                </a:lnTo>
                <a:lnTo>
                  <a:pt x="98869" y="132143"/>
                </a:lnTo>
                <a:lnTo>
                  <a:pt x="108684" y="80940"/>
                </a:lnTo>
                <a:lnTo>
                  <a:pt x="112772" y="56989"/>
                </a:lnTo>
                <a:lnTo>
                  <a:pt x="113792" y="49275"/>
                </a:lnTo>
                <a:lnTo>
                  <a:pt x="117094" y="49275"/>
                </a:lnTo>
                <a:lnTo>
                  <a:pt x="127714" y="87026"/>
                </a:lnTo>
                <a:lnTo>
                  <a:pt x="139953" y="124967"/>
                </a:lnTo>
                <a:lnTo>
                  <a:pt x="211963" y="336422"/>
                </a:lnTo>
                <a:lnTo>
                  <a:pt x="245491" y="336422"/>
                </a:lnTo>
                <a:lnTo>
                  <a:pt x="305877" y="62406"/>
                </a:lnTo>
                <a:lnTo>
                  <a:pt x="310207" y="45313"/>
                </a:lnTo>
                <a:lnTo>
                  <a:pt x="333121" y="13334"/>
                </a:lnTo>
                <a:lnTo>
                  <a:pt x="339344" y="12064"/>
                </a:lnTo>
                <a:lnTo>
                  <a:pt x="3421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529830" y="4363402"/>
            <a:ext cx="156273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8000"/>
                </a:solidFill>
                <a:latin typeface="Corbel"/>
                <a:cs typeface="Corbel"/>
              </a:rPr>
              <a:t>d</a:t>
            </a:r>
            <a:r>
              <a:rPr sz="1800" baseline="-18518" dirty="0">
                <a:solidFill>
                  <a:srgbClr val="008000"/>
                </a:solidFill>
                <a:latin typeface="Corbel"/>
                <a:cs typeface="Corbel"/>
              </a:rPr>
              <a:t>i </a:t>
            </a:r>
            <a:r>
              <a:rPr sz="1800" dirty="0">
                <a:solidFill>
                  <a:srgbClr val="008000"/>
                </a:solidFill>
                <a:latin typeface="Corbel"/>
                <a:cs typeface="Corbel"/>
              </a:rPr>
              <a:t>…</a:t>
            </a:r>
            <a:r>
              <a:rPr sz="1800" spc="30" dirty="0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sz="1800" spc="-5" dirty="0">
                <a:solidFill>
                  <a:srgbClr val="008000"/>
                </a:solidFill>
                <a:latin typeface="Corbel"/>
                <a:cs typeface="Corbel"/>
              </a:rPr>
              <a:t>out-degree</a:t>
            </a:r>
            <a:endParaRPr sz="1800">
              <a:latin typeface="Corbel"/>
              <a:cs typeface="Corbel"/>
            </a:endParaRPr>
          </a:p>
          <a:p>
            <a:pPr marR="33655" algn="r">
              <a:lnSpc>
                <a:spcPct val="100000"/>
              </a:lnSpc>
              <a:spcBef>
                <a:spcPts val="20"/>
              </a:spcBef>
            </a:pPr>
            <a:r>
              <a:rPr sz="1800" spc="5" dirty="0">
                <a:solidFill>
                  <a:srgbClr val="008000"/>
                </a:solidFill>
                <a:latin typeface="Corbel"/>
                <a:cs typeface="Corbel"/>
              </a:rPr>
              <a:t>of </a:t>
            </a:r>
            <a:r>
              <a:rPr sz="1800" spc="10" dirty="0">
                <a:solidFill>
                  <a:srgbClr val="008000"/>
                </a:solidFill>
                <a:latin typeface="Corbel"/>
                <a:cs typeface="Corbel"/>
              </a:rPr>
              <a:t>node</a:t>
            </a:r>
            <a:r>
              <a:rPr sz="1800" spc="-200" dirty="0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008000"/>
                </a:solidFill>
                <a:latin typeface="Corbel"/>
                <a:cs typeface="Corbel"/>
              </a:rPr>
              <a:t>i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76299" y="5916295"/>
            <a:ext cx="647573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3000"/>
              </a:lnSpc>
              <a:spcBef>
                <a:spcPts val="70"/>
              </a:spcBef>
            </a:pPr>
            <a:r>
              <a:rPr sz="1550" spc="-15" dirty="0">
                <a:solidFill>
                  <a:srgbClr val="008000"/>
                </a:solidFill>
                <a:latin typeface="Arial"/>
                <a:cs typeface="Arial"/>
              </a:rPr>
              <a:t>This </a:t>
            </a: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formulation </a:t>
            </a:r>
            <a:r>
              <a:rPr sz="1550" spc="5" dirty="0">
                <a:solidFill>
                  <a:srgbClr val="008000"/>
                </a:solidFill>
                <a:latin typeface="Arial"/>
                <a:cs typeface="Arial"/>
              </a:rPr>
              <a:t>assumes that </a:t>
            </a:r>
            <a:r>
              <a:rPr sz="1550" spc="25" dirty="0">
                <a:solidFill>
                  <a:srgbClr val="008000"/>
                </a:solidFill>
                <a:latin typeface="Cambria Math"/>
                <a:cs typeface="Cambria Math"/>
              </a:rPr>
              <a:t>𝑴 </a:t>
            </a: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has </a:t>
            </a:r>
            <a:r>
              <a:rPr sz="1550" spc="-15" dirty="0">
                <a:solidFill>
                  <a:srgbClr val="008000"/>
                </a:solidFill>
                <a:latin typeface="Arial"/>
                <a:cs typeface="Arial"/>
              </a:rPr>
              <a:t>no </a:t>
            </a:r>
            <a:r>
              <a:rPr sz="1550" spc="10" dirty="0">
                <a:solidFill>
                  <a:srgbClr val="008000"/>
                </a:solidFill>
                <a:latin typeface="Arial"/>
                <a:cs typeface="Arial"/>
              </a:rPr>
              <a:t>dead </a:t>
            </a: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ends. </a:t>
            </a:r>
            <a:r>
              <a:rPr sz="1550" spc="60" dirty="0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sz="1550" spc="30" dirty="0">
                <a:solidFill>
                  <a:srgbClr val="008000"/>
                </a:solidFill>
                <a:latin typeface="Arial"/>
                <a:cs typeface="Arial"/>
              </a:rPr>
              <a:t>can </a:t>
            </a:r>
            <a:r>
              <a:rPr sz="1550" spc="10" dirty="0">
                <a:solidFill>
                  <a:srgbClr val="008000"/>
                </a:solidFill>
                <a:latin typeface="Arial"/>
                <a:cs typeface="Arial"/>
              </a:rPr>
              <a:t>either  preprocess </a:t>
            </a: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matrix </a:t>
            </a:r>
            <a:r>
              <a:rPr sz="1550" spc="25" dirty="0">
                <a:solidFill>
                  <a:srgbClr val="008000"/>
                </a:solidFill>
                <a:latin typeface="Cambria Math"/>
                <a:cs typeface="Cambria Math"/>
              </a:rPr>
              <a:t>𝑴 </a:t>
            </a:r>
            <a:r>
              <a:rPr sz="1550" spc="10" dirty="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sz="1550" spc="5" dirty="0">
                <a:solidFill>
                  <a:srgbClr val="008000"/>
                </a:solidFill>
                <a:latin typeface="Arial"/>
                <a:cs typeface="Arial"/>
              </a:rPr>
              <a:t>remove </a:t>
            </a:r>
            <a:r>
              <a:rPr sz="1550" spc="-5" dirty="0">
                <a:solidFill>
                  <a:srgbClr val="008000"/>
                </a:solidFill>
                <a:latin typeface="Arial"/>
                <a:cs typeface="Arial"/>
              </a:rPr>
              <a:t>all </a:t>
            </a:r>
            <a:r>
              <a:rPr sz="1550" spc="10" dirty="0">
                <a:solidFill>
                  <a:srgbClr val="008000"/>
                </a:solidFill>
                <a:latin typeface="Arial"/>
                <a:cs typeface="Arial"/>
              </a:rPr>
              <a:t>dead </a:t>
            </a:r>
            <a:r>
              <a:rPr sz="1550" spc="-10" dirty="0">
                <a:solidFill>
                  <a:srgbClr val="008000"/>
                </a:solidFill>
                <a:latin typeface="Arial"/>
                <a:cs typeface="Arial"/>
              </a:rPr>
              <a:t>ends </a:t>
            </a:r>
            <a:r>
              <a:rPr sz="1550" spc="20" dirty="0">
                <a:solidFill>
                  <a:srgbClr val="008000"/>
                </a:solidFill>
                <a:latin typeface="Arial"/>
                <a:cs typeface="Arial"/>
              </a:rPr>
              <a:t>or </a:t>
            </a:r>
            <a:r>
              <a:rPr sz="1550" spc="-5" dirty="0">
                <a:solidFill>
                  <a:srgbClr val="008000"/>
                </a:solidFill>
                <a:latin typeface="Arial"/>
                <a:cs typeface="Arial"/>
              </a:rPr>
              <a:t>explicitly </a:t>
            </a: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follow random  </a:t>
            </a:r>
            <a:r>
              <a:rPr sz="1550" spc="5" dirty="0">
                <a:solidFill>
                  <a:srgbClr val="008000"/>
                </a:solidFill>
                <a:latin typeface="Arial"/>
                <a:cs typeface="Arial"/>
              </a:rPr>
              <a:t>teleport </a:t>
            </a:r>
            <a:r>
              <a:rPr sz="1550" spc="-20" dirty="0">
                <a:solidFill>
                  <a:srgbClr val="008000"/>
                </a:solidFill>
                <a:latin typeface="Arial"/>
                <a:cs typeface="Arial"/>
              </a:rPr>
              <a:t>links </a:t>
            </a:r>
            <a:r>
              <a:rPr sz="1550" spc="10" dirty="0">
                <a:solidFill>
                  <a:srgbClr val="008000"/>
                </a:solidFill>
                <a:latin typeface="Arial"/>
                <a:cs typeface="Arial"/>
              </a:rPr>
              <a:t>with </a:t>
            </a:r>
            <a:r>
              <a:rPr sz="1550" spc="-5" dirty="0">
                <a:solidFill>
                  <a:srgbClr val="008000"/>
                </a:solidFill>
                <a:latin typeface="Arial"/>
                <a:cs typeface="Arial"/>
              </a:rPr>
              <a:t>probability </a:t>
            </a:r>
            <a:r>
              <a:rPr sz="1550" spc="20" dirty="0">
                <a:solidFill>
                  <a:srgbClr val="008000"/>
                </a:solidFill>
                <a:latin typeface="Arial"/>
                <a:cs typeface="Arial"/>
              </a:rPr>
              <a:t>1.0 from</a:t>
            </a:r>
            <a:r>
              <a:rPr sz="1550" spc="13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008000"/>
                </a:solidFill>
                <a:latin typeface="Arial"/>
                <a:cs typeface="Arial"/>
              </a:rPr>
              <a:t>dead-ends.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109980"/>
            <a:chOff x="0" y="0"/>
            <a:chExt cx="9144000" cy="1109980"/>
          </a:xfrm>
        </p:grpSpPr>
        <p:sp>
          <p:nvSpPr>
            <p:cNvPr id="3" name="object 3"/>
            <p:cNvSpPr/>
            <p:nvPr/>
          </p:nvSpPr>
          <p:spPr>
            <a:xfrm>
              <a:off x="4763" y="4825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399" y="0"/>
                  </a:lnTo>
                </a:path>
              </a:pathLst>
            </a:custGeom>
            <a:ln w="3175">
              <a:solidFill>
                <a:srgbClr val="FA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333311"/>
              <a:ext cx="4576826" cy="585787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8530" y="1347787"/>
            <a:ext cx="591756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1" spc="-5" dirty="0">
                <a:solidFill>
                  <a:srgbClr val="0000FF"/>
                </a:solidFill>
                <a:latin typeface="Calibri"/>
                <a:cs typeface="Calibri"/>
              </a:rPr>
              <a:t>PageRank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equation </a:t>
            </a:r>
            <a:r>
              <a:rPr sz="3200" spc="-5" dirty="0">
                <a:solidFill>
                  <a:srgbClr val="7E7E7E"/>
                </a:solidFill>
                <a:latin typeface="Calibri"/>
                <a:cs typeface="Calibri"/>
              </a:rPr>
              <a:t>[Brin-Page,</a:t>
            </a:r>
            <a:r>
              <a:rPr sz="3200" spc="-39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spc="15" dirty="0">
                <a:solidFill>
                  <a:srgbClr val="7E7E7E"/>
                </a:solidFill>
                <a:latin typeface="Calibri"/>
                <a:cs typeface="Calibri"/>
              </a:rPr>
              <a:t>‘98]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6860" y="2344801"/>
            <a:ext cx="228600" cy="337820"/>
            <a:chOff x="2316860" y="2344801"/>
            <a:chExt cx="228600" cy="3378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6860" y="2344801"/>
              <a:ext cx="183006" cy="1945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420619" y="2421255"/>
              <a:ext cx="125095" cy="261620"/>
            </a:xfrm>
            <a:custGeom>
              <a:avLst/>
              <a:gdLst/>
              <a:ahLst/>
              <a:cxnLst/>
              <a:rect l="l" t="t" r="r" b="b"/>
              <a:pathLst>
                <a:path w="125094" h="261619">
                  <a:moveTo>
                    <a:pt x="3682" y="244729"/>
                  </a:moveTo>
                  <a:lnTo>
                    <a:pt x="0" y="259969"/>
                  </a:lnTo>
                  <a:lnTo>
                    <a:pt x="3937" y="260731"/>
                  </a:lnTo>
                  <a:lnTo>
                    <a:pt x="8509" y="261239"/>
                  </a:lnTo>
                  <a:lnTo>
                    <a:pt x="10922" y="261366"/>
                  </a:lnTo>
                  <a:lnTo>
                    <a:pt x="22860" y="261366"/>
                  </a:lnTo>
                  <a:lnTo>
                    <a:pt x="31242" y="260223"/>
                  </a:lnTo>
                  <a:lnTo>
                    <a:pt x="38481" y="257810"/>
                  </a:lnTo>
                  <a:lnTo>
                    <a:pt x="45847" y="255524"/>
                  </a:lnTo>
                  <a:lnTo>
                    <a:pt x="52197" y="251841"/>
                  </a:lnTo>
                  <a:lnTo>
                    <a:pt x="57657" y="246761"/>
                  </a:lnTo>
                  <a:lnTo>
                    <a:pt x="58660" y="245872"/>
                  </a:lnTo>
                  <a:lnTo>
                    <a:pt x="10160" y="245872"/>
                  </a:lnTo>
                  <a:lnTo>
                    <a:pt x="6350" y="245618"/>
                  </a:lnTo>
                  <a:lnTo>
                    <a:pt x="4825" y="245237"/>
                  </a:lnTo>
                  <a:lnTo>
                    <a:pt x="3682" y="244729"/>
                  </a:lnTo>
                  <a:close/>
                </a:path>
                <a:path w="125094" h="261619">
                  <a:moveTo>
                    <a:pt x="110871" y="58039"/>
                  </a:moveTo>
                  <a:lnTo>
                    <a:pt x="100965" y="58039"/>
                  </a:lnTo>
                  <a:lnTo>
                    <a:pt x="62356" y="59690"/>
                  </a:lnTo>
                  <a:lnTo>
                    <a:pt x="60198" y="69469"/>
                  </a:lnTo>
                  <a:lnTo>
                    <a:pt x="66548" y="69596"/>
                  </a:lnTo>
                  <a:lnTo>
                    <a:pt x="71119" y="70485"/>
                  </a:lnTo>
                  <a:lnTo>
                    <a:pt x="73660" y="72136"/>
                  </a:lnTo>
                  <a:lnTo>
                    <a:pt x="76200" y="73660"/>
                  </a:lnTo>
                  <a:lnTo>
                    <a:pt x="77469" y="76200"/>
                  </a:lnTo>
                  <a:lnTo>
                    <a:pt x="77469" y="81280"/>
                  </a:lnTo>
                  <a:lnTo>
                    <a:pt x="77216" y="83820"/>
                  </a:lnTo>
                  <a:lnTo>
                    <a:pt x="76962" y="85979"/>
                  </a:lnTo>
                  <a:lnTo>
                    <a:pt x="76327" y="88900"/>
                  </a:lnTo>
                  <a:lnTo>
                    <a:pt x="75818" y="91948"/>
                  </a:lnTo>
                  <a:lnTo>
                    <a:pt x="75056" y="96139"/>
                  </a:lnTo>
                  <a:lnTo>
                    <a:pt x="72771" y="107061"/>
                  </a:lnTo>
                  <a:lnTo>
                    <a:pt x="71119" y="114427"/>
                  </a:lnTo>
                  <a:lnTo>
                    <a:pt x="69215" y="123698"/>
                  </a:lnTo>
                  <a:lnTo>
                    <a:pt x="59283" y="168370"/>
                  </a:lnTo>
                  <a:lnTo>
                    <a:pt x="51943" y="201803"/>
                  </a:lnTo>
                  <a:lnTo>
                    <a:pt x="49911" y="210693"/>
                  </a:lnTo>
                  <a:lnTo>
                    <a:pt x="47752" y="218059"/>
                  </a:lnTo>
                  <a:lnTo>
                    <a:pt x="45338" y="223774"/>
                  </a:lnTo>
                  <a:lnTo>
                    <a:pt x="43053" y="229489"/>
                  </a:lnTo>
                  <a:lnTo>
                    <a:pt x="40386" y="234061"/>
                  </a:lnTo>
                  <a:lnTo>
                    <a:pt x="37465" y="237236"/>
                  </a:lnTo>
                  <a:lnTo>
                    <a:pt x="34543" y="240537"/>
                  </a:lnTo>
                  <a:lnTo>
                    <a:pt x="31242" y="242824"/>
                  </a:lnTo>
                  <a:lnTo>
                    <a:pt x="23875" y="245364"/>
                  </a:lnTo>
                  <a:lnTo>
                    <a:pt x="19557" y="245872"/>
                  </a:lnTo>
                  <a:lnTo>
                    <a:pt x="58660" y="245872"/>
                  </a:lnTo>
                  <a:lnTo>
                    <a:pt x="78968" y="207295"/>
                  </a:lnTo>
                  <a:lnTo>
                    <a:pt x="80899" y="199390"/>
                  </a:lnTo>
                  <a:lnTo>
                    <a:pt x="110871" y="58039"/>
                  </a:lnTo>
                  <a:close/>
                </a:path>
                <a:path w="125094" h="261619">
                  <a:moveTo>
                    <a:pt x="124587" y="0"/>
                  </a:moveTo>
                  <a:lnTo>
                    <a:pt x="95631" y="0"/>
                  </a:lnTo>
                  <a:lnTo>
                    <a:pt x="88518" y="30987"/>
                  </a:lnTo>
                  <a:lnTo>
                    <a:pt x="117602" y="30987"/>
                  </a:lnTo>
                  <a:lnTo>
                    <a:pt x="1245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732658" y="2450592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69">
                <a:moveTo>
                  <a:pt x="246380" y="0"/>
                </a:moveTo>
                <a:lnTo>
                  <a:pt x="0" y="0"/>
                </a:lnTo>
                <a:lnTo>
                  <a:pt x="0" y="26543"/>
                </a:lnTo>
                <a:lnTo>
                  <a:pt x="246380" y="26543"/>
                </a:lnTo>
                <a:lnTo>
                  <a:pt x="246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32658" y="2367533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69">
                <a:moveTo>
                  <a:pt x="246380" y="0"/>
                </a:moveTo>
                <a:lnTo>
                  <a:pt x="0" y="0"/>
                </a:lnTo>
                <a:lnTo>
                  <a:pt x="0" y="26669"/>
                </a:lnTo>
                <a:lnTo>
                  <a:pt x="246380" y="26669"/>
                </a:lnTo>
                <a:lnTo>
                  <a:pt x="246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27120" y="2021839"/>
            <a:ext cx="502284" cy="782320"/>
          </a:xfrm>
          <a:custGeom>
            <a:avLst/>
            <a:gdLst/>
            <a:ahLst/>
            <a:cxnLst/>
            <a:rect l="l" t="t" r="r" b="b"/>
            <a:pathLst>
              <a:path w="502285" h="782319">
                <a:moveTo>
                  <a:pt x="491108" y="0"/>
                </a:moveTo>
                <a:lnTo>
                  <a:pt x="8255" y="0"/>
                </a:lnTo>
                <a:lnTo>
                  <a:pt x="8255" y="19050"/>
                </a:lnTo>
                <a:lnTo>
                  <a:pt x="280162" y="382397"/>
                </a:lnTo>
                <a:lnTo>
                  <a:pt x="0" y="762126"/>
                </a:lnTo>
                <a:lnTo>
                  <a:pt x="0" y="781938"/>
                </a:lnTo>
                <a:lnTo>
                  <a:pt x="491744" y="781938"/>
                </a:lnTo>
                <a:lnTo>
                  <a:pt x="501904" y="635381"/>
                </a:lnTo>
                <a:lnTo>
                  <a:pt x="472313" y="635381"/>
                </a:lnTo>
                <a:lnTo>
                  <a:pt x="467717" y="660979"/>
                </a:lnTo>
                <a:lnTo>
                  <a:pt x="462692" y="681577"/>
                </a:lnTo>
                <a:lnTo>
                  <a:pt x="436483" y="719947"/>
                </a:lnTo>
                <a:lnTo>
                  <a:pt x="416179" y="724026"/>
                </a:lnTo>
                <a:lnTo>
                  <a:pt x="69215" y="724026"/>
                </a:lnTo>
                <a:lnTo>
                  <a:pt x="326770" y="374396"/>
                </a:lnTo>
                <a:lnTo>
                  <a:pt x="326770" y="350265"/>
                </a:lnTo>
                <a:lnTo>
                  <a:pt x="88137" y="26288"/>
                </a:lnTo>
                <a:lnTo>
                  <a:pt x="403732" y="26288"/>
                </a:lnTo>
                <a:lnTo>
                  <a:pt x="446151" y="51054"/>
                </a:lnTo>
                <a:lnTo>
                  <a:pt x="461885" y="98220"/>
                </a:lnTo>
                <a:lnTo>
                  <a:pt x="464819" y="118363"/>
                </a:lnTo>
                <a:lnTo>
                  <a:pt x="491108" y="118363"/>
                </a:lnTo>
                <a:lnTo>
                  <a:pt x="491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155380" y="2849879"/>
            <a:ext cx="466725" cy="261620"/>
            <a:chOff x="3155380" y="2849879"/>
            <a:chExt cx="466725" cy="26162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55380" y="2849879"/>
              <a:ext cx="71181" cy="2063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62375" y="2909823"/>
              <a:ext cx="214249" cy="1191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96944" y="2849879"/>
              <a:ext cx="125095" cy="261620"/>
            </a:xfrm>
            <a:custGeom>
              <a:avLst/>
              <a:gdLst/>
              <a:ahLst/>
              <a:cxnLst/>
              <a:rect l="l" t="t" r="r" b="b"/>
              <a:pathLst>
                <a:path w="125095" h="261619">
                  <a:moveTo>
                    <a:pt x="3682" y="244729"/>
                  </a:moveTo>
                  <a:lnTo>
                    <a:pt x="0" y="259969"/>
                  </a:lnTo>
                  <a:lnTo>
                    <a:pt x="3937" y="260731"/>
                  </a:lnTo>
                  <a:lnTo>
                    <a:pt x="8508" y="261239"/>
                  </a:lnTo>
                  <a:lnTo>
                    <a:pt x="10921" y="261366"/>
                  </a:lnTo>
                  <a:lnTo>
                    <a:pt x="22859" y="261366"/>
                  </a:lnTo>
                  <a:lnTo>
                    <a:pt x="31241" y="260223"/>
                  </a:lnTo>
                  <a:lnTo>
                    <a:pt x="38480" y="257810"/>
                  </a:lnTo>
                  <a:lnTo>
                    <a:pt x="45846" y="255524"/>
                  </a:lnTo>
                  <a:lnTo>
                    <a:pt x="52196" y="251841"/>
                  </a:lnTo>
                  <a:lnTo>
                    <a:pt x="57657" y="246761"/>
                  </a:lnTo>
                  <a:lnTo>
                    <a:pt x="58660" y="245872"/>
                  </a:lnTo>
                  <a:lnTo>
                    <a:pt x="10159" y="245872"/>
                  </a:lnTo>
                  <a:lnTo>
                    <a:pt x="6350" y="245618"/>
                  </a:lnTo>
                  <a:lnTo>
                    <a:pt x="4825" y="245237"/>
                  </a:lnTo>
                  <a:lnTo>
                    <a:pt x="3682" y="244729"/>
                  </a:lnTo>
                  <a:close/>
                </a:path>
                <a:path w="125095" h="261619">
                  <a:moveTo>
                    <a:pt x="110870" y="58039"/>
                  </a:moveTo>
                  <a:lnTo>
                    <a:pt x="100964" y="58039"/>
                  </a:lnTo>
                  <a:lnTo>
                    <a:pt x="62356" y="59690"/>
                  </a:lnTo>
                  <a:lnTo>
                    <a:pt x="60197" y="69469"/>
                  </a:lnTo>
                  <a:lnTo>
                    <a:pt x="66547" y="69596"/>
                  </a:lnTo>
                  <a:lnTo>
                    <a:pt x="71119" y="70485"/>
                  </a:lnTo>
                  <a:lnTo>
                    <a:pt x="73659" y="72136"/>
                  </a:lnTo>
                  <a:lnTo>
                    <a:pt x="76200" y="73660"/>
                  </a:lnTo>
                  <a:lnTo>
                    <a:pt x="77469" y="76200"/>
                  </a:lnTo>
                  <a:lnTo>
                    <a:pt x="77469" y="81280"/>
                  </a:lnTo>
                  <a:lnTo>
                    <a:pt x="77215" y="83820"/>
                  </a:lnTo>
                  <a:lnTo>
                    <a:pt x="76962" y="85979"/>
                  </a:lnTo>
                  <a:lnTo>
                    <a:pt x="76326" y="88900"/>
                  </a:lnTo>
                  <a:lnTo>
                    <a:pt x="75818" y="91948"/>
                  </a:lnTo>
                  <a:lnTo>
                    <a:pt x="75056" y="96139"/>
                  </a:lnTo>
                  <a:lnTo>
                    <a:pt x="72770" y="107061"/>
                  </a:lnTo>
                  <a:lnTo>
                    <a:pt x="71119" y="114427"/>
                  </a:lnTo>
                  <a:lnTo>
                    <a:pt x="69214" y="123698"/>
                  </a:lnTo>
                  <a:lnTo>
                    <a:pt x="59283" y="168370"/>
                  </a:lnTo>
                  <a:lnTo>
                    <a:pt x="51942" y="201803"/>
                  </a:lnTo>
                  <a:lnTo>
                    <a:pt x="49910" y="210693"/>
                  </a:lnTo>
                  <a:lnTo>
                    <a:pt x="47751" y="218059"/>
                  </a:lnTo>
                  <a:lnTo>
                    <a:pt x="45338" y="223774"/>
                  </a:lnTo>
                  <a:lnTo>
                    <a:pt x="43052" y="229489"/>
                  </a:lnTo>
                  <a:lnTo>
                    <a:pt x="40385" y="234061"/>
                  </a:lnTo>
                  <a:lnTo>
                    <a:pt x="37464" y="237236"/>
                  </a:lnTo>
                  <a:lnTo>
                    <a:pt x="34543" y="240537"/>
                  </a:lnTo>
                  <a:lnTo>
                    <a:pt x="31241" y="242824"/>
                  </a:lnTo>
                  <a:lnTo>
                    <a:pt x="23875" y="245364"/>
                  </a:lnTo>
                  <a:lnTo>
                    <a:pt x="19557" y="245872"/>
                  </a:lnTo>
                  <a:lnTo>
                    <a:pt x="58660" y="245872"/>
                  </a:lnTo>
                  <a:lnTo>
                    <a:pt x="78968" y="207295"/>
                  </a:lnTo>
                  <a:lnTo>
                    <a:pt x="80899" y="199390"/>
                  </a:lnTo>
                  <a:lnTo>
                    <a:pt x="110870" y="58039"/>
                  </a:lnTo>
                  <a:close/>
                </a:path>
                <a:path w="125095" h="261619">
                  <a:moveTo>
                    <a:pt x="124587" y="0"/>
                  </a:moveTo>
                  <a:lnTo>
                    <a:pt x="95630" y="0"/>
                  </a:lnTo>
                  <a:lnTo>
                    <a:pt x="88518" y="30987"/>
                  </a:lnTo>
                  <a:lnTo>
                    <a:pt x="117601" y="30987"/>
                  </a:lnTo>
                  <a:lnTo>
                    <a:pt x="1245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3734561" y="2253233"/>
            <a:ext cx="227329" cy="372110"/>
          </a:xfrm>
          <a:custGeom>
            <a:avLst/>
            <a:gdLst/>
            <a:ahLst/>
            <a:cxnLst/>
            <a:rect l="l" t="t" r="r" b="b"/>
            <a:pathLst>
              <a:path w="227329" h="372110">
                <a:moveTo>
                  <a:pt x="162687" y="0"/>
                </a:moveTo>
                <a:lnTo>
                  <a:pt x="114808" y="12700"/>
                </a:lnTo>
                <a:lnTo>
                  <a:pt x="80772" y="48767"/>
                </a:lnTo>
                <a:lnTo>
                  <a:pt x="63519" y="90666"/>
                </a:lnTo>
                <a:lnTo>
                  <a:pt x="0" y="372110"/>
                </a:lnTo>
                <a:lnTo>
                  <a:pt x="32512" y="372110"/>
                </a:lnTo>
                <a:lnTo>
                  <a:pt x="53975" y="277367"/>
                </a:lnTo>
                <a:lnTo>
                  <a:pt x="156972" y="277367"/>
                </a:lnTo>
                <a:lnTo>
                  <a:pt x="157225" y="277240"/>
                </a:lnTo>
                <a:lnTo>
                  <a:pt x="162566" y="273557"/>
                </a:lnTo>
                <a:lnTo>
                  <a:pt x="96900" y="273557"/>
                </a:lnTo>
                <a:lnTo>
                  <a:pt x="90297" y="272668"/>
                </a:lnTo>
                <a:lnTo>
                  <a:pt x="62638" y="251444"/>
                </a:lnTo>
                <a:lnTo>
                  <a:pt x="62719" y="244475"/>
                </a:lnTo>
                <a:lnTo>
                  <a:pt x="90606" y="114331"/>
                </a:lnTo>
                <a:lnTo>
                  <a:pt x="102933" y="71072"/>
                </a:lnTo>
                <a:lnTo>
                  <a:pt x="127367" y="29517"/>
                </a:lnTo>
                <a:lnTo>
                  <a:pt x="160782" y="15748"/>
                </a:lnTo>
                <a:lnTo>
                  <a:pt x="212402" y="15748"/>
                </a:lnTo>
                <a:lnTo>
                  <a:pt x="210312" y="13588"/>
                </a:lnTo>
                <a:lnTo>
                  <a:pt x="201048" y="7661"/>
                </a:lnTo>
                <a:lnTo>
                  <a:pt x="190023" y="3413"/>
                </a:lnTo>
                <a:lnTo>
                  <a:pt x="177236" y="855"/>
                </a:lnTo>
                <a:lnTo>
                  <a:pt x="162687" y="0"/>
                </a:lnTo>
                <a:close/>
              </a:path>
              <a:path w="227329" h="372110">
                <a:moveTo>
                  <a:pt x="156972" y="277367"/>
                </a:moveTo>
                <a:lnTo>
                  <a:pt x="53975" y="277367"/>
                </a:lnTo>
                <a:lnTo>
                  <a:pt x="60785" y="280388"/>
                </a:lnTo>
                <a:lnTo>
                  <a:pt x="102272" y="289139"/>
                </a:lnTo>
                <a:lnTo>
                  <a:pt x="110489" y="289305"/>
                </a:lnTo>
                <a:lnTo>
                  <a:pt x="123346" y="288545"/>
                </a:lnTo>
                <a:lnTo>
                  <a:pt x="135429" y="286273"/>
                </a:lnTo>
                <a:lnTo>
                  <a:pt x="146726" y="282501"/>
                </a:lnTo>
                <a:lnTo>
                  <a:pt x="156972" y="277367"/>
                </a:lnTo>
                <a:close/>
              </a:path>
              <a:path w="227329" h="372110">
                <a:moveTo>
                  <a:pt x="212402" y="15748"/>
                </a:moveTo>
                <a:lnTo>
                  <a:pt x="160782" y="15748"/>
                </a:lnTo>
                <a:lnTo>
                  <a:pt x="168471" y="16295"/>
                </a:lnTo>
                <a:lnTo>
                  <a:pt x="175148" y="17938"/>
                </a:lnTo>
                <a:lnTo>
                  <a:pt x="193801" y="49911"/>
                </a:lnTo>
                <a:lnTo>
                  <a:pt x="193182" y="60100"/>
                </a:lnTo>
                <a:lnTo>
                  <a:pt x="178468" y="96601"/>
                </a:lnTo>
                <a:lnTo>
                  <a:pt x="147587" y="121368"/>
                </a:lnTo>
                <a:lnTo>
                  <a:pt x="117601" y="128904"/>
                </a:lnTo>
                <a:lnTo>
                  <a:pt x="114808" y="143128"/>
                </a:lnTo>
                <a:lnTo>
                  <a:pt x="150495" y="157733"/>
                </a:lnTo>
                <a:lnTo>
                  <a:pt x="162940" y="193166"/>
                </a:lnTo>
                <a:lnTo>
                  <a:pt x="162464" y="204644"/>
                </a:lnTo>
                <a:lnTo>
                  <a:pt x="151155" y="243790"/>
                </a:lnTo>
                <a:lnTo>
                  <a:pt x="120411" y="271065"/>
                </a:lnTo>
                <a:lnTo>
                  <a:pt x="104901" y="273557"/>
                </a:lnTo>
                <a:lnTo>
                  <a:pt x="162566" y="273557"/>
                </a:lnTo>
                <a:lnTo>
                  <a:pt x="188087" y="244475"/>
                </a:lnTo>
                <a:lnTo>
                  <a:pt x="198500" y="200278"/>
                </a:lnTo>
                <a:lnTo>
                  <a:pt x="195526" y="179228"/>
                </a:lnTo>
                <a:lnTo>
                  <a:pt x="186610" y="161798"/>
                </a:lnTo>
                <a:lnTo>
                  <a:pt x="171765" y="147986"/>
                </a:lnTo>
                <a:lnTo>
                  <a:pt x="151002" y="137794"/>
                </a:lnTo>
                <a:lnTo>
                  <a:pt x="151384" y="136143"/>
                </a:lnTo>
                <a:lnTo>
                  <a:pt x="188849" y="119379"/>
                </a:lnTo>
                <a:lnTo>
                  <a:pt x="216656" y="92285"/>
                </a:lnTo>
                <a:lnTo>
                  <a:pt x="227075" y="52577"/>
                </a:lnTo>
                <a:lnTo>
                  <a:pt x="226028" y="40645"/>
                </a:lnTo>
                <a:lnTo>
                  <a:pt x="222885" y="30178"/>
                </a:lnTo>
                <a:lnTo>
                  <a:pt x="217646" y="21163"/>
                </a:lnTo>
                <a:lnTo>
                  <a:pt x="212402" y="15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055364" y="2406014"/>
            <a:ext cx="371475" cy="28575"/>
          </a:xfrm>
          <a:custGeom>
            <a:avLst/>
            <a:gdLst/>
            <a:ahLst/>
            <a:cxnLst/>
            <a:rect l="l" t="t" r="r" b="b"/>
            <a:pathLst>
              <a:path w="371475" h="28575">
                <a:moveTo>
                  <a:pt x="371475" y="0"/>
                </a:moveTo>
                <a:lnTo>
                  <a:pt x="0" y="0"/>
                </a:lnTo>
                <a:lnTo>
                  <a:pt x="0" y="28575"/>
                </a:lnTo>
                <a:lnTo>
                  <a:pt x="371475" y="28575"/>
                </a:lnTo>
                <a:lnTo>
                  <a:pt x="371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07560" y="2030476"/>
            <a:ext cx="233425" cy="282828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4076435" y="2529585"/>
            <a:ext cx="312420" cy="374650"/>
            <a:chOff x="4076435" y="2529585"/>
            <a:chExt cx="312420" cy="374650"/>
          </a:xfrm>
        </p:grpSpPr>
        <p:sp>
          <p:nvSpPr>
            <p:cNvPr id="21" name="object 21"/>
            <p:cNvSpPr/>
            <p:nvPr/>
          </p:nvSpPr>
          <p:spPr>
            <a:xfrm>
              <a:off x="4076435" y="2529585"/>
              <a:ext cx="202565" cy="289560"/>
            </a:xfrm>
            <a:custGeom>
              <a:avLst/>
              <a:gdLst/>
              <a:ahLst/>
              <a:cxnLst/>
              <a:rect l="l" t="t" r="r" b="b"/>
              <a:pathLst>
                <a:path w="202564" h="289560">
                  <a:moveTo>
                    <a:pt x="149851" y="234950"/>
                  </a:moveTo>
                  <a:lnTo>
                    <a:pt x="118882" y="234950"/>
                  </a:lnTo>
                  <a:lnTo>
                    <a:pt x="121549" y="235838"/>
                  </a:lnTo>
                  <a:lnTo>
                    <a:pt x="118501" y="244093"/>
                  </a:lnTo>
                  <a:lnTo>
                    <a:pt x="117152" y="250951"/>
                  </a:lnTo>
                  <a:lnTo>
                    <a:pt x="117082" y="268543"/>
                  </a:lnTo>
                  <a:lnTo>
                    <a:pt x="119390" y="275589"/>
                  </a:lnTo>
                  <a:lnTo>
                    <a:pt x="129296" y="286512"/>
                  </a:lnTo>
                  <a:lnTo>
                    <a:pt x="135900" y="289178"/>
                  </a:lnTo>
                  <a:lnTo>
                    <a:pt x="144155" y="289178"/>
                  </a:lnTo>
                  <a:lnTo>
                    <a:pt x="185351" y="270319"/>
                  </a:lnTo>
                  <a:lnTo>
                    <a:pt x="189771" y="266191"/>
                  </a:lnTo>
                  <a:lnTo>
                    <a:pt x="155204" y="266191"/>
                  </a:lnTo>
                  <a:lnTo>
                    <a:pt x="152410" y="265049"/>
                  </a:lnTo>
                  <a:lnTo>
                    <a:pt x="150759" y="262636"/>
                  </a:lnTo>
                  <a:lnTo>
                    <a:pt x="148981" y="260223"/>
                  </a:lnTo>
                  <a:lnTo>
                    <a:pt x="148092" y="256286"/>
                  </a:lnTo>
                  <a:lnTo>
                    <a:pt x="148194" y="248953"/>
                  </a:lnTo>
                  <a:lnTo>
                    <a:pt x="148376" y="245381"/>
                  </a:lnTo>
                  <a:lnTo>
                    <a:pt x="149219" y="238585"/>
                  </a:lnTo>
                  <a:lnTo>
                    <a:pt x="149851" y="234950"/>
                  </a:lnTo>
                  <a:close/>
                </a:path>
                <a:path w="202564" h="289560">
                  <a:moveTo>
                    <a:pt x="111262" y="91439"/>
                  </a:moveTo>
                  <a:lnTo>
                    <a:pt x="103134" y="91439"/>
                  </a:lnTo>
                  <a:lnTo>
                    <a:pt x="88990" y="92583"/>
                  </a:lnTo>
                  <a:lnTo>
                    <a:pt x="50556" y="109727"/>
                  </a:lnTo>
                  <a:lnTo>
                    <a:pt x="20856" y="144714"/>
                  </a:lnTo>
                  <a:lnTo>
                    <a:pt x="3296" y="192071"/>
                  </a:lnTo>
                  <a:lnTo>
                    <a:pt x="0" y="227964"/>
                  </a:lnTo>
                  <a:lnTo>
                    <a:pt x="645" y="239946"/>
                  </a:lnTo>
                  <a:lnTo>
                    <a:pt x="18715" y="279675"/>
                  </a:lnTo>
                  <a:lnTo>
                    <a:pt x="46111" y="289051"/>
                  </a:lnTo>
                  <a:lnTo>
                    <a:pt x="55593" y="288240"/>
                  </a:lnTo>
                  <a:lnTo>
                    <a:pt x="91272" y="268543"/>
                  </a:lnTo>
                  <a:lnTo>
                    <a:pt x="51191" y="265429"/>
                  </a:lnTo>
                  <a:lnTo>
                    <a:pt x="44841" y="262000"/>
                  </a:lnTo>
                  <a:lnTo>
                    <a:pt x="35381" y="225805"/>
                  </a:lnTo>
                  <a:lnTo>
                    <a:pt x="35426" y="221361"/>
                  </a:lnTo>
                  <a:lnTo>
                    <a:pt x="40513" y="182147"/>
                  </a:lnTo>
                  <a:lnTo>
                    <a:pt x="55636" y="143113"/>
                  </a:lnTo>
                  <a:lnTo>
                    <a:pt x="87354" y="111347"/>
                  </a:lnTo>
                  <a:lnTo>
                    <a:pt x="106690" y="107187"/>
                  </a:lnTo>
                  <a:lnTo>
                    <a:pt x="178215" y="107187"/>
                  </a:lnTo>
                  <a:lnTo>
                    <a:pt x="179243" y="102615"/>
                  </a:lnTo>
                  <a:lnTo>
                    <a:pt x="146695" y="102615"/>
                  </a:lnTo>
                  <a:lnTo>
                    <a:pt x="139456" y="98425"/>
                  </a:lnTo>
                  <a:lnTo>
                    <a:pt x="132471" y="95630"/>
                  </a:lnTo>
                  <a:lnTo>
                    <a:pt x="125613" y="93852"/>
                  </a:lnTo>
                  <a:lnTo>
                    <a:pt x="118755" y="92201"/>
                  </a:lnTo>
                  <a:lnTo>
                    <a:pt x="111262" y="91439"/>
                  </a:lnTo>
                  <a:close/>
                </a:path>
                <a:path w="202564" h="289560">
                  <a:moveTo>
                    <a:pt x="190891" y="242569"/>
                  </a:moveTo>
                  <a:lnTo>
                    <a:pt x="162951" y="266191"/>
                  </a:lnTo>
                  <a:lnTo>
                    <a:pt x="189771" y="266191"/>
                  </a:lnTo>
                  <a:lnTo>
                    <a:pt x="193570" y="262636"/>
                  </a:lnTo>
                  <a:lnTo>
                    <a:pt x="202321" y="253746"/>
                  </a:lnTo>
                  <a:lnTo>
                    <a:pt x="190891" y="242569"/>
                  </a:lnTo>
                  <a:close/>
                </a:path>
                <a:path w="202564" h="289560">
                  <a:moveTo>
                    <a:pt x="178215" y="107187"/>
                  </a:moveTo>
                  <a:lnTo>
                    <a:pt x="116977" y="107187"/>
                  </a:lnTo>
                  <a:lnTo>
                    <a:pt x="124343" y="109600"/>
                  </a:lnTo>
                  <a:lnTo>
                    <a:pt x="128661" y="114300"/>
                  </a:lnTo>
                  <a:lnTo>
                    <a:pt x="133106" y="118999"/>
                  </a:lnTo>
                  <a:lnTo>
                    <a:pt x="135265" y="126618"/>
                  </a:lnTo>
                  <a:lnTo>
                    <a:pt x="135265" y="137033"/>
                  </a:lnTo>
                  <a:lnTo>
                    <a:pt x="128758" y="180921"/>
                  </a:lnTo>
                  <a:lnTo>
                    <a:pt x="111897" y="222123"/>
                  </a:lnTo>
                  <a:lnTo>
                    <a:pt x="108214" y="227964"/>
                  </a:lnTo>
                  <a:lnTo>
                    <a:pt x="104082" y="233765"/>
                  </a:lnTo>
                  <a:lnTo>
                    <a:pt x="99578" y="239394"/>
                  </a:lnTo>
                  <a:lnTo>
                    <a:pt x="95133" y="245110"/>
                  </a:lnTo>
                  <a:lnTo>
                    <a:pt x="90561" y="250062"/>
                  </a:lnTo>
                  <a:lnTo>
                    <a:pt x="85989" y="254000"/>
                  </a:lnTo>
                  <a:lnTo>
                    <a:pt x="81417" y="258063"/>
                  </a:lnTo>
                  <a:lnTo>
                    <a:pt x="76972" y="260858"/>
                  </a:lnTo>
                  <a:lnTo>
                    <a:pt x="72781" y="262763"/>
                  </a:lnTo>
                  <a:lnTo>
                    <a:pt x="68463" y="264540"/>
                  </a:lnTo>
                  <a:lnTo>
                    <a:pt x="64272" y="265429"/>
                  </a:lnTo>
                  <a:lnTo>
                    <a:pt x="94269" y="265429"/>
                  </a:lnTo>
                  <a:lnTo>
                    <a:pt x="100245" y="259222"/>
                  </a:lnTo>
                  <a:lnTo>
                    <a:pt x="109456" y="248021"/>
                  </a:lnTo>
                  <a:lnTo>
                    <a:pt x="118882" y="234950"/>
                  </a:lnTo>
                  <a:lnTo>
                    <a:pt x="149851" y="234950"/>
                  </a:lnTo>
                  <a:lnTo>
                    <a:pt x="150610" y="230574"/>
                  </a:lnTo>
                  <a:lnTo>
                    <a:pt x="152537" y="221361"/>
                  </a:lnTo>
                  <a:lnTo>
                    <a:pt x="178215" y="107187"/>
                  </a:lnTo>
                  <a:close/>
                </a:path>
                <a:path w="202564" h="289560">
                  <a:moveTo>
                    <a:pt x="202321" y="0"/>
                  </a:moveTo>
                  <a:lnTo>
                    <a:pt x="190510" y="0"/>
                  </a:lnTo>
                  <a:lnTo>
                    <a:pt x="140345" y="1777"/>
                  </a:lnTo>
                  <a:lnTo>
                    <a:pt x="137932" y="12191"/>
                  </a:lnTo>
                  <a:lnTo>
                    <a:pt x="145044" y="12573"/>
                  </a:lnTo>
                  <a:lnTo>
                    <a:pt x="149870" y="13335"/>
                  </a:lnTo>
                  <a:lnTo>
                    <a:pt x="152664" y="14224"/>
                  </a:lnTo>
                  <a:lnTo>
                    <a:pt x="155331" y="15112"/>
                  </a:lnTo>
                  <a:lnTo>
                    <a:pt x="157490" y="16637"/>
                  </a:lnTo>
                  <a:lnTo>
                    <a:pt x="158887" y="18668"/>
                  </a:lnTo>
                  <a:lnTo>
                    <a:pt x="160411" y="20827"/>
                  </a:lnTo>
                  <a:lnTo>
                    <a:pt x="161173" y="23875"/>
                  </a:lnTo>
                  <a:lnTo>
                    <a:pt x="161173" y="31876"/>
                  </a:lnTo>
                  <a:lnTo>
                    <a:pt x="160665" y="36449"/>
                  </a:lnTo>
                  <a:lnTo>
                    <a:pt x="159141" y="47116"/>
                  </a:lnTo>
                  <a:lnTo>
                    <a:pt x="158125" y="52069"/>
                  </a:lnTo>
                  <a:lnTo>
                    <a:pt x="157109" y="56387"/>
                  </a:lnTo>
                  <a:lnTo>
                    <a:pt x="146695" y="102615"/>
                  </a:lnTo>
                  <a:lnTo>
                    <a:pt x="179243" y="102615"/>
                  </a:lnTo>
                  <a:lnTo>
                    <a:pt x="2023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17430" y="2697479"/>
              <a:ext cx="71181" cy="206375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4542409" y="2293619"/>
            <a:ext cx="246379" cy="257810"/>
          </a:xfrm>
          <a:custGeom>
            <a:avLst/>
            <a:gdLst/>
            <a:ahLst/>
            <a:cxnLst/>
            <a:rect l="l" t="t" r="r" b="b"/>
            <a:pathLst>
              <a:path w="246379" h="257810">
                <a:moveTo>
                  <a:pt x="246380" y="115570"/>
                </a:moveTo>
                <a:lnTo>
                  <a:pt x="137287" y="115570"/>
                </a:lnTo>
                <a:lnTo>
                  <a:pt x="137287" y="0"/>
                </a:lnTo>
                <a:lnTo>
                  <a:pt x="108966" y="0"/>
                </a:lnTo>
                <a:lnTo>
                  <a:pt x="108966" y="115570"/>
                </a:lnTo>
                <a:lnTo>
                  <a:pt x="0" y="115570"/>
                </a:lnTo>
                <a:lnTo>
                  <a:pt x="0" y="142240"/>
                </a:lnTo>
                <a:lnTo>
                  <a:pt x="108966" y="142240"/>
                </a:lnTo>
                <a:lnTo>
                  <a:pt x="108966" y="257810"/>
                </a:lnTo>
                <a:lnTo>
                  <a:pt x="137287" y="257810"/>
                </a:lnTo>
                <a:lnTo>
                  <a:pt x="137287" y="142240"/>
                </a:lnTo>
                <a:lnTo>
                  <a:pt x="246380" y="142240"/>
                </a:lnTo>
                <a:lnTo>
                  <a:pt x="246380" y="115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39029" y="2250439"/>
            <a:ext cx="127000" cy="379730"/>
          </a:xfrm>
          <a:custGeom>
            <a:avLst/>
            <a:gdLst/>
            <a:ahLst/>
            <a:cxnLst/>
            <a:rect l="l" t="t" r="r" b="b"/>
            <a:pathLst>
              <a:path w="127000" h="379730">
                <a:moveTo>
                  <a:pt x="121031" y="0"/>
                </a:moveTo>
                <a:lnTo>
                  <a:pt x="69437" y="24257"/>
                </a:lnTo>
                <a:lnTo>
                  <a:pt x="31369" y="66421"/>
                </a:lnTo>
                <a:lnTo>
                  <a:pt x="7874" y="122793"/>
                </a:lnTo>
                <a:lnTo>
                  <a:pt x="0" y="189737"/>
                </a:lnTo>
                <a:lnTo>
                  <a:pt x="1952" y="224597"/>
                </a:lnTo>
                <a:lnTo>
                  <a:pt x="17573" y="286267"/>
                </a:lnTo>
                <a:lnTo>
                  <a:pt x="48575" y="336272"/>
                </a:lnTo>
                <a:lnTo>
                  <a:pt x="93481" y="369419"/>
                </a:lnTo>
                <a:lnTo>
                  <a:pt x="121031" y="379349"/>
                </a:lnTo>
                <a:lnTo>
                  <a:pt x="125857" y="363982"/>
                </a:lnTo>
                <a:lnTo>
                  <a:pt x="104209" y="354387"/>
                </a:lnTo>
                <a:lnTo>
                  <a:pt x="85550" y="341042"/>
                </a:lnTo>
                <a:lnTo>
                  <a:pt x="57150" y="303149"/>
                </a:lnTo>
                <a:lnTo>
                  <a:pt x="40290" y="251571"/>
                </a:lnTo>
                <a:lnTo>
                  <a:pt x="34671" y="187706"/>
                </a:lnTo>
                <a:lnTo>
                  <a:pt x="36075" y="155340"/>
                </a:lnTo>
                <a:lnTo>
                  <a:pt x="47315" y="99230"/>
                </a:lnTo>
                <a:lnTo>
                  <a:pt x="69913" y="54907"/>
                </a:lnTo>
                <a:lnTo>
                  <a:pt x="104584" y="24895"/>
                </a:lnTo>
                <a:lnTo>
                  <a:pt x="126492" y="15367"/>
                </a:lnTo>
                <a:lnTo>
                  <a:pt x="1210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10098" y="2263139"/>
            <a:ext cx="159385" cy="276225"/>
          </a:xfrm>
          <a:custGeom>
            <a:avLst/>
            <a:gdLst/>
            <a:ahLst/>
            <a:cxnLst/>
            <a:rect l="l" t="t" r="r" b="b"/>
            <a:pathLst>
              <a:path w="159385" h="276225">
                <a:moveTo>
                  <a:pt x="104648" y="0"/>
                </a:moveTo>
                <a:lnTo>
                  <a:pt x="93599" y="0"/>
                </a:lnTo>
                <a:lnTo>
                  <a:pt x="0" y="55880"/>
                </a:lnTo>
                <a:lnTo>
                  <a:pt x="8889" y="71247"/>
                </a:lnTo>
                <a:lnTo>
                  <a:pt x="17220" y="65748"/>
                </a:lnTo>
                <a:lnTo>
                  <a:pt x="31785" y="56655"/>
                </a:lnTo>
                <a:lnTo>
                  <a:pt x="45847" y="48640"/>
                </a:lnTo>
                <a:lnTo>
                  <a:pt x="51942" y="46482"/>
                </a:lnTo>
                <a:lnTo>
                  <a:pt x="59816" y="46482"/>
                </a:lnTo>
                <a:lnTo>
                  <a:pt x="62611" y="47625"/>
                </a:lnTo>
                <a:lnTo>
                  <a:pt x="66293" y="52577"/>
                </a:lnTo>
                <a:lnTo>
                  <a:pt x="67183" y="56514"/>
                </a:lnTo>
                <a:lnTo>
                  <a:pt x="67183" y="233299"/>
                </a:lnTo>
                <a:lnTo>
                  <a:pt x="37629" y="259762"/>
                </a:lnTo>
                <a:lnTo>
                  <a:pt x="11429" y="261620"/>
                </a:lnTo>
                <a:lnTo>
                  <a:pt x="11429" y="276225"/>
                </a:lnTo>
                <a:lnTo>
                  <a:pt x="159258" y="276225"/>
                </a:lnTo>
                <a:lnTo>
                  <a:pt x="159258" y="261620"/>
                </a:lnTo>
                <a:lnTo>
                  <a:pt x="148971" y="261365"/>
                </a:lnTo>
                <a:lnTo>
                  <a:pt x="140715" y="260858"/>
                </a:lnTo>
                <a:lnTo>
                  <a:pt x="105537" y="245490"/>
                </a:lnTo>
                <a:lnTo>
                  <a:pt x="103377" y="231775"/>
                </a:lnTo>
                <a:lnTo>
                  <a:pt x="103377" y="53212"/>
                </a:lnTo>
                <a:lnTo>
                  <a:pt x="103727" y="22939"/>
                </a:lnTo>
                <a:lnTo>
                  <a:pt x="1046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18709" y="2409007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79" h="26669">
                <a:moveTo>
                  <a:pt x="246379" y="0"/>
                </a:moveTo>
                <a:lnTo>
                  <a:pt x="0" y="0"/>
                </a:lnTo>
                <a:lnTo>
                  <a:pt x="0" y="26598"/>
                </a:lnTo>
                <a:lnTo>
                  <a:pt x="246379" y="26598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82437" y="2250439"/>
            <a:ext cx="388620" cy="379730"/>
          </a:xfrm>
          <a:custGeom>
            <a:avLst/>
            <a:gdLst/>
            <a:ahLst/>
            <a:cxnLst/>
            <a:rect l="l" t="t" r="r" b="b"/>
            <a:pathLst>
              <a:path w="388620" h="379730">
                <a:moveTo>
                  <a:pt x="227076" y="55372"/>
                </a:moveTo>
                <a:lnTo>
                  <a:pt x="226021" y="43446"/>
                </a:lnTo>
                <a:lnTo>
                  <a:pt x="222885" y="32981"/>
                </a:lnTo>
                <a:lnTo>
                  <a:pt x="217639" y="23964"/>
                </a:lnTo>
                <a:lnTo>
                  <a:pt x="212394" y="18542"/>
                </a:lnTo>
                <a:lnTo>
                  <a:pt x="210312" y="16383"/>
                </a:lnTo>
                <a:lnTo>
                  <a:pt x="201041" y="10464"/>
                </a:lnTo>
                <a:lnTo>
                  <a:pt x="193802" y="7683"/>
                </a:lnTo>
                <a:lnTo>
                  <a:pt x="193802" y="52705"/>
                </a:lnTo>
                <a:lnTo>
                  <a:pt x="193179" y="62903"/>
                </a:lnTo>
                <a:lnTo>
                  <a:pt x="178460" y="99402"/>
                </a:lnTo>
                <a:lnTo>
                  <a:pt x="147586" y="124167"/>
                </a:lnTo>
                <a:lnTo>
                  <a:pt x="117602" y="131699"/>
                </a:lnTo>
                <a:lnTo>
                  <a:pt x="114808" y="145923"/>
                </a:lnTo>
                <a:lnTo>
                  <a:pt x="150495" y="160528"/>
                </a:lnTo>
                <a:lnTo>
                  <a:pt x="162458" y="207441"/>
                </a:lnTo>
                <a:lnTo>
                  <a:pt x="151155" y="246595"/>
                </a:lnTo>
                <a:lnTo>
                  <a:pt x="120408" y="273862"/>
                </a:lnTo>
                <a:lnTo>
                  <a:pt x="104902" y="276352"/>
                </a:lnTo>
                <a:lnTo>
                  <a:pt x="96901" y="276352"/>
                </a:lnTo>
                <a:lnTo>
                  <a:pt x="63373" y="257175"/>
                </a:lnTo>
                <a:lnTo>
                  <a:pt x="62636" y="254241"/>
                </a:lnTo>
                <a:lnTo>
                  <a:pt x="62712" y="247269"/>
                </a:lnTo>
                <a:lnTo>
                  <a:pt x="90601" y="117132"/>
                </a:lnTo>
                <a:lnTo>
                  <a:pt x="102933" y="73875"/>
                </a:lnTo>
                <a:lnTo>
                  <a:pt x="127355" y="32321"/>
                </a:lnTo>
                <a:lnTo>
                  <a:pt x="160782" y="18542"/>
                </a:lnTo>
                <a:lnTo>
                  <a:pt x="168465" y="19100"/>
                </a:lnTo>
                <a:lnTo>
                  <a:pt x="193802" y="52705"/>
                </a:lnTo>
                <a:lnTo>
                  <a:pt x="193802" y="7683"/>
                </a:lnTo>
                <a:lnTo>
                  <a:pt x="190017" y="6210"/>
                </a:lnTo>
                <a:lnTo>
                  <a:pt x="177228" y="3657"/>
                </a:lnTo>
                <a:lnTo>
                  <a:pt x="162687" y="2794"/>
                </a:lnTo>
                <a:lnTo>
                  <a:pt x="149390" y="3594"/>
                </a:lnTo>
                <a:lnTo>
                  <a:pt x="104965" y="22479"/>
                </a:lnTo>
                <a:lnTo>
                  <a:pt x="74282" y="64020"/>
                </a:lnTo>
                <a:lnTo>
                  <a:pt x="59182" y="110490"/>
                </a:lnTo>
                <a:lnTo>
                  <a:pt x="0" y="374904"/>
                </a:lnTo>
                <a:lnTo>
                  <a:pt x="32512" y="374904"/>
                </a:lnTo>
                <a:lnTo>
                  <a:pt x="53975" y="280162"/>
                </a:lnTo>
                <a:lnTo>
                  <a:pt x="60782" y="283184"/>
                </a:lnTo>
                <a:lnTo>
                  <a:pt x="102260" y="291934"/>
                </a:lnTo>
                <a:lnTo>
                  <a:pt x="110490" y="292100"/>
                </a:lnTo>
                <a:lnTo>
                  <a:pt x="123342" y="291350"/>
                </a:lnTo>
                <a:lnTo>
                  <a:pt x="135420" y="289077"/>
                </a:lnTo>
                <a:lnTo>
                  <a:pt x="146723" y="285305"/>
                </a:lnTo>
                <a:lnTo>
                  <a:pt x="156972" y="280162"/>
                </a:lnTo>
                <a:lnTo>
                  <a:pt x="157226" y="280035"/>
                </a:lnTo>
                <a:lnTo>
                  <a:pt x="162560" y="276352"/>
                </a:lnTo>
                <a:lnTo>
                  <a:pt x="166789" y="273443"/>
                </a:lnTo>
                <a:lnTo>
                  <a:pt x="175133" y="265798"/>
                </a:lnTo>
                <a:lnTo>
                  <a:pt x="195910" y="225933"/>
                </a:lnTo>
                <a:lnTo>
                  <a:pt x="198501" y="203073"/>
                </a:lnTo>
                <a:lnTo>
                  <a:pt x="195516" y="182029"/>
                </a:lnTo>
                <a:lnTo>
                  <a:pt x="186601" y="164592"/>
                </a:lnTo>
                <a:lnTo>
                  <a:pt x="171754" y="150787"/>
                </a:lnTo>
                <a:lnTo>
                  <a:pt x="151003" y="140589"/>
                </a:lnTo>
                <a:lnTo>
                  <a:pt x="151384" y="138938"/>
                </a:lnTo>
                <a:lnTo>
                  <a:pt x="188849" y="122174"/>
                </a:lnTo>
                <a:lnTo>
                  <a:pt x="216649" y="95084"/>
                </a:lnTo>
                <a:lnTo>
                  <a:pt x="226974" y="62903"/>
                </a:lnTo>
                <a:lnTo>
                  <a:pt x="227076" y="55372"/>
                </a:lnTo>
                <a:close/>
              </a:path>
              <a:path w="388620" h="379730">
                <a:moveTo>
                  <a:pt x="388112" y="189738"/>
                </a:moveTo>
                <a:lnTo>
                  <a:pt x="380301" y="122796"/>
                </a:lnTo>
                <a:lnTo>
                  <a:pt x="356870" y="66421"/>
                </a:lnTo>
                <a:lnTo>
                  <a:pt x="318731" y="24257"/>
                </a:lnTo>
                <a:lnTo>
                  <a:pt x="267081" y="0"/>
                </a:lnTo>
                <a:lnTo>
                  <a:pt x="261747" y="15367"/>
                </a:lnTo>
                <a:lnTo>
                  <a:pt x="283718" y="24904"/>
                </a:lnTo>
                <a:lnTo>
                  <a:pt x="302602" y="38074"/>
                </a:lnTo>
                <a:lnTo>
                  <a:pt x="331089" y="75438"/>
                </a:lnTo>
                <a:lnTo>
                  <a:pt x="347941" y="125857"/>
                </a:lnTo>
                <a:lnTo>
                  <a:pt x="353568" y="187706"/>
                </a:lnTo>
                <a:lnTo>
                  <a:pt x="352158" y="221195"/>
                </a:lnTo>
                <a:lnTo>
                  <a:pt x="340868" y="278879"/>
                </a:lnTo>
                <a:lnTo>
                  <a:pt x="318236" y="323964"/>
                </a:lnTo>
                <a:lnTo>
                  <a:pt x="283946" y="354393"/>
                </a:lnTo>
                <a:lnTo>
                  <a:pt x="262382" y="363982"/>
                </a:lnTo>
                <a:lnTo>
                  <a:pt x="267081" y="379349"/>
                </a:lnTo>
                <a:lnTo>
                  <a:pt x="318871" y="355066"/>
                </a:lnTo>
                <a:lnTo>
                  <a:pt x="356870" y="313055"/>
                </a:lnTo>
                <a:lnTo>
                  <a:pt x="380301" y="256781"/>
                </a:lnTo>
                <a:lnTo>
                  <a:pt x="386156" y="224599"/>
                </a:lnTo>
                <a:lnTo>
                  <a:pt x="388112" y="1897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74689" y="2406014"/>
            <a:ext cx="304800" cy="28575"/>
          </a:xfrm>
          <a:custGeom>
            <a:avLst/>
            <a:gdLst/>
            <a:ahLst/>
            <a:cxnLst/>
            <a:rect l="l" t="t" r="r" b="b"/>
            <a:pathLst>
              <a:path w="304800" h="28575">
                <a:moveTo>
                  <a:pt x="304799" y="0"/>
                </a:moveTo>
                <a:lnTo>
                  <a:pt x="0" y="0"/>
                </a:lnTo>
                <a:lnTo>
                  <a:pt x="0" y="28575"/>
                </a:lnTo>
                <a:lnTo>
                  <a:pt x="304799" y="28575"/>
                </a:lnTo>
                <a:lnTo>
                  <a:pt x="3047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48348" y="1948814"/>
            <a:ext cx="159385" cy="276225"/>
          </a:xfrm>
          <a:custGeom>
            <a:avLst/>
            <a:gdLst/>
            <a:ahLst/>
            <a:cxnLst/>
            <a:rect l="l" t="t" r="r" b="b"/>
            <a:pathLst>
              <a:path w="159384" h="276225">
                <a:moveTo>
                  <a:pt x="104648" y="0"/>
                </a:moveTo>
                <a:lnTo>
                  <a:pt x="93599" y="0"/>
                </a:lnTo>
                <a:lnTo>
                  <a:pt x="0" y="55880"/>
                </a:lnTo>
                <a:lnTo>
                  <a:pt x="8889" y="71247"/>
                </a:lnTo>
                <a:lnTo>
                  <a:pt x="17220" y="65748"/>
                </a:lnTo>
                <a:lnTo>
                  <a:pt x="31785" y="56655"/>
                </a:lnTo>
                <a:lnTo>
                  <a:pt x="45847" y="48640"/>
                </a:lnTo>
                <a:lnTo>
                  <a:pt x="51942" y="46482"/>
                </a:lnTo>
                <a:lnTo>
                  <a:pt x="59816" y="46482"/>
                </a:lnTo>
                <a:lnTo>
                  <a:pt x="62611" y="47625"/>
                </a:lnTo>
                <a:lnTo>
                  <a:pt x="66293" y="52577"/>
                </a:lnTo>
                <a:lnTo>
                  <a:pt x="67183" y="56514"/>
                </a:lnTo>
                <a:lnTo>
                  <a:pt x="67183" y="233299"/>
                </a:lnTo>
                <a:lnTo>
                  <a:pt x="37629" y="259762"/>
                </a:lnTo>
                <a:lnTo>
                  <a:pt x="11429" y="261620"/>
                </a:lnTo>
                <a:lnTo>
                  <a:pt x="11429" y="276225"/>
                </a:lnTo>
                <a:lnTo>
                  <a:pt x="159257" y="276225"/>
                </a:lnTo>
                <a:lnTo>
                  <a:pt x="159257" y="261620"/>
                </a:lnTo>
                <a:lnTo>
                  <a:pt x="148971" y="261365"/>
                </a:lnTo>
                <a:lnTo>
                  <a:pt x="140715" y="260858"/>
                </a:lnTo>
                <a:lnTo>
                  <a:pt x="105537" y="245490"/>
                </a:lnTo>
                <a:lnTo>
                  <a:pt x="103377" y="231775"/>
                </a:lnTo>
                <a:lnTo>
                  <a:pt x="103377" y="53212"/>
                </a:lnTo>
                <a:lnTo>
                  <a:pt x="103727" y="22939"/>
                </a:lnTo>
                <a:lnTo>
                  <a:pt x="1046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85738" y="2542667"/>
            <a:ext cx="277495" cy="273050"/>
          </a:xfrm>
          <a:custGeom>
            <a:avLst/>
            <a:gdLst/>
            <a:ahLst/>
            <a:cxnLst/>
            <a:rect l="l" t="t" r="r" b="b"/>
            <a:pathLst>
              <a:path w="277495" h="273050">
                <a:moveTo>
                  <a:pt x="277494" y="0"/>
                </a:moveTo>
                <a:lnTo>
                  <a:pt x="207517" y="0"/>
                </a:lnTo>
                <a:lnTo>
                  <a:pt x="205359" y="9779"/>
                </a:lnTo>
                <a:lnTo>
                  <a:pt x="212089" y="10160"/>
                </a:lnTo>
                <a:lnTo>
                  <a:pt x="217042" y="11557"/>
                </a:lnTo>
                <a:lnTo>
                  <a:pt x="223392" y="16510"/>
                </a:lnTo>
                <a:lnTo>
                  <a:pt x="224916" y="20828"/>
                </a:lnTo>
                <a:lnTo>
                  <a:pt x="224916" y="27178"/>
                </a:lnTo>
                <a:lnTo>
                  <a:pt x="204071" y="133399"/>
                </a:lnTo>
                <a:lnTo>
                  <a:pt x="191404" y="196262"/>
                </a:lnTo>
                <a:lnTo>
                  <a:pt x="188722" y="212471"/>
                </a:lnTo>
                <a:lnTo>
                  <a:pt x="186562" y="212471"/>
                </a:lnTo>
                <a:lnTo>
                  <a:pt x="183108" y="200279"/>
                </a:lnTo>
                <a:lnTo>
                  <a:pt x="174293" y="171894"/>
                </a:lnTo>
                <a:lnTo>
                  <a:pt x="116204" y="0"/>
                </a:lnTo>
                <a:lnTo>
                  <a:pt x="52324" y="0"/>
                </a:lnTo>
                <a:lnTo>
                  <a:pt x="50164" y="9779"/>
                </a:lnTo>
                <a:lnTo>
                  <a:pt x="56896" y="10160"/>
                </a:lnTo>
                <a:lnTo>
                  <a:pt x="61975" y="11557"/>
                </a:lnTo>
                <a:lnTo>
                  <a:pt x="68199" y="16510"/>
                </a:lnTo>
                <a:lnTo>
                  <a:pt x="69723" y="20828"/>
                </a:lnTo>
                <a:lnTo>
                  <a:pt x="69723" y="32512"/>
                </a:lnTo>
                <a:lnTo>
                  <a:pt x="29301" y="222456"/>
                </a:lnTo>
                <a:lnTo>
                  <a:pt x="11049" y="260985"/>
                </a:lnTo>
                <a:lnTo>
                  <a:pt x="2159" y="263144"/>
                </a:lnTo>
                <a:lnTo>
                  <a:pt x="0" y="272923"/>
                </a:lnTo>
                <a:lnTo>
                  <a:pt x="69976" y="272923"/>
                </a:lnTo>
                <a:lnTo>
                  <a:pt x="72136" y="263144"/>
                </a:lnTo>
                <a:lnTo>
                  <a:pt x="65024" y="262636"/>
                </a:lnTo>
                <a:lnTo>
                  <a:pt x="60071" y="261112"/>
                </a:lnTo>
                <a:lnTo>
                  <a:pt x="54101" y="256159"/>
                </a:lnTo>
                <a:lnTo>
                  <a:pt x="52577" y="251968"/>
                </a:lnTo>
                <a:lnTo>
                  <a:pt x="52839" y="239349"/>
                </a:lnTo>
                <a:lnTo>
                  <a:pt x="53625" y="231981"/>
                </a:lnTo>
                <a:lnTo>
                  <a:pt x="54935" y="223779"/>
                </a:lnTo>
                <a:lnTo>
                  <a:pt x="56769" y="214757"/>
                </a:lnTo>
                <a:lnTo>
                  <a:pt x="77295" y="121140"/>
                </a:lnTo>
                <a:lnTo>
                  <a:pt x="83010" y="93100"/>
                </a:lnTo>
                <a:lnTo>
                  <a:pt x="90122" y="54752"/>
                </a:lnTo>
                <a:lnTo>
                  <a:pt x="92328" y="39878"/>
                </a:lnTo>
                <a:lnTo>
                  <a:pt x="94996" y="39878"/>
                </a:lnTo>
                <a:lnTo>
                  <a:pt x="99143" y="55215"/>
                </a:lnTo>
                <a:lnTo>
                  <a:pt x="103600" y="70564"/>
                </a:lnTo>
                <a:lnTo>
                  <a:pt x="108390" y="85937"/>
                </a:lnTo>
                <a:lnTo>
                  <a:pt x="171958" y="272923"/>
                </a:lnTo>
                <a:lnTo>
                  <a:pt x="199136" y="272923"/>
                </a:lnTo>
                <a:lnTo>
                  <a:pt x="248128" y="50611"/>
                </a:lnTo>
                <a:lnTo>
                  <a:pt x="251608" y="36756"/>
                </a:lnTo>
                <a:lnTo>
                  <a:pt x="275336" y="9779"/>
                </a:lnTo>
                <a:lnTo>
                  <a:pt x="2774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191255"/>
            <a:ext cx="323850" cy="400685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938530" y="3073780"/>
            <a:ext cx="360934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spc="5" dirty="0">
                <a:solidFill>
                  <a:srgbClr val="008000"/>
                </a:solidFill>
                <a:latin typeface="Calibri"/>
                <a:cs typeface="Calibri"/>
              </a:rPr>
              <a:t>The Google </a:t>
            </a:r>
            <a:r>
              <a:rPr b="1" spc="15" dirty="0">
                <a:solidFill>
                  <a:srgbClr val="008000"/>
                </a:solidFill>
                <a:latin typeface="Calibri"/>
                <a:cs typeface="Calibri"/>
              </a:rPr>
              <a:t>Matrix</a:t>
            </a:r>
            <a:r>
              <a:rPr b="1" spc="-2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b="1" i="1" spc="5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b="1" spc="5" dirty="0">
                <a:solidFill>
                  <a:srgbClr val="008000"/>
                </a:solidFill>
                <a:latin typeface="Calibri"/>
                <a:cs typeface="Calibri"/>
              </a:rPr>
              <a:t>:</a:t>
            </a:r>
          </a:p>
        </p:txBody>
      </p:sp>
      <p:sp>
        <p:nvSpPr>
          <p:cNvPr id="33" name="object 33"/>
          <p:cNvSpPr/>
          <p:nvPr/>
        </p:nvSpPr>
        <p:spPr>
          <a:xfrm>
            <a:off x="2281173" y="3968115"/>
            <a:ext cx="240029" cy="276225"/>
          </a:xfrm>
          <a:custGeom>
            <a:avLst/>
            <a:gdLst/>
            <a:ahLst/>
            <a:cxnLst/>
            <a:rect l="l" t="t" r="r" b="b"/>
            <a:pathLst>
              <a:path w="240030" h="276225">
                <a:moveTo>
                  <a:pt x="201294" y="0"/>
                </a:moveTo>
                <a:lnTo>
                  <a:pt x="171069" y="0"/>
                </a:lnTo>
                <a:lnTo>
                  <a:pt x="42925" y="221615"/>
                </a:lnTo>
                <a:lnTo>
                  <a:pt x="37635" y="230546"/>
                </a:lnTo>
                <a:lnTo>
                  <a:pt x="13843" y="261493"/>
                </a:lnTo>
                <a:lnTo>
                  <a:pt x="10159" y="264287"/>
                </a:lnTo>
                <a:lnTo>
                  <a:pt x="6223" y="265938"/>
                </a:lnTo>
                <a:lnTo>
                  <a:pt x="2158" y="266446"/>
                </a:lnTo>
                <a:lnTo>
                  <a:pt x="0" y="276225"/>
                </a:lnTo>
                <a:lnTo>
                  <a:pt x="81787" y="276225"/>
                </a:lnTo>
                <a:lnTo>
                  <a:pt x="83946" y="266446"/>
                </a:lnTo>
                <a:lnTo>
                  <a:pt x="75112" y="263989"/>
                </a:lnTo>
                <a:lnTo>
                  <a:pt x="68802" y="259842"/>
                </a:lnTo>
                <a:lnTo>
                  <a:pt x="65016" y="253980"/>
                </a:lnTo>
                <a:lnTo>
                  <a:pt x="63753" y="246380"/>
                </a:lnTo>
                <a:lnTo>
                  <a:pt x="63753" y="241300"/>
                </a:lnTo>
                <a:lnTo>
                  <a:pt x="78739" y="205232"/>
                </a:lnTo>
                <a:lnTo>
                  <a:pt x="89788" y="185674"/>
                </a:lnTo>
                <a:lnTo>
                  <a:pt x="213349" y="185674"/>
                </a:lnTo>
                <a:lnTo>
                  <a:pt x="212219" y="168275"/>
                </a:lnTo>
                <a:lnTo>
                  <a:pt x="98678" y="168275"/>
                </a:lnTo>
                <a:lnTo>
                  <a:pt x="169925" y="42291"/>
                </a:lnTo>
                <a:lnTo>
                  <a:pt x="204040" y="42291"/>
                </a:lnTo>
                <a:lnTo>
                  <a:pt x="201294" y="0"/>
                </a:lnTo>
                <a:close/>
              </a:path>
              <a:path w="240030" h="276225">
                <a:moveTo>
                  <a:pt x="213349" y="185674"/>
                </a:moveTo>
                <a:lnTo>
                  <a:pt x="177673" y="185674"/>
                </a:lnTo>
                <a:lnTo>
                  <a:pt x="179104" y="211871"/>
                </a:lnTo>
                <a:lnTo>
                  <a:pt x="179577" y="217551"/>
                </a:lnTo>
                <a:lnTo>
                  <a:pt x="179627" y="230546"/>
                </a:lnTo>
                <a:lnTo>
                  <a:pt x="164211" y="265811"/>
                </a:lnTo>
                <a:lnTo>
                  <a:pt x="156337" y="266446"/>
                </a:lnTo>
                <a:lnTo>
                  <a:pt x="154177" y="276225"/>
                </a:lnTo>
                <a:lnTo>
                  <a:pt x="237362" y="276225"/>
                </a:lnTo>
                <a:lnTo>
                  <a:pt x="239521" y="266446"/>
                </a:lnTo>
                <a:lnTo>
                  <a:pt x="233806" y="265684"/>
                </a:lnTo>
                <a:lnTo>
                  <a:pt x="229488" y="263779"/>
                </a:lnTo>
                <a:lnTo>
                  <a:pt x="215418" y="217551"/>
                </a:lnTo>
                <a:lnTo>
                  <a:pt x="213349" y="185674"/>
                </a:lnTo>
                <a:close/>
              </a:path>
              <a:path w="240030" h="276225">
                <a:moveTo>
                  <a:pt x="204040" y="42291"/>
                </a:moveTo>
                <a:lnTo>
                  <a:pt x="172084" y="42291"/>
                </a:lnTo>
                <a:lnTo>
                  <a:pt x="172196" y="53816"/>
                </a:lnTo>
                <a:lnTo>
                  <a:pt x="172352" y="61650"/>
                </a:lnTo>
                <a:lnTo>
                  <a:pt x="172593" y="70866"/>
                </a:lnTo>
                <a:lnTo>
                  <a:pt x="172785" y="80347"/>
                </a:lnTo>
                <a:lnTo>
                  <a:pt x="172989" y="88995"/>
                </a:lnTo>
                <a:lnTo>
                  <a:pt x="173218" y="96833"/>
                </a:lnTo>
                <a:lnTo>
                  <a:pt x="173481" y="103886"/>
                </a:lnTo>
                <a:lnTo>
                  <a:pt x="176911" y="168275"/>
                </a:lnTo>
                <a:lnTo>
                  <a:pt x="212219" y="168275"/>
                </a:lnTo>
                <a:lnTo>
                  <a:pt x="204040" y="42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685033" y="4155566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70">
                <a:moveTo>
                  <a:pt x="246380" y="0"/>
                </a:moveTo>
                <a:lnTo>
                  <a:pt x="0" y="0"/>
                </a:lnTo>
                <a:lnTo>
                  <a:pt x="0" y="26542"/>
                </a:lnTo>
                <a:lnTo>
                  <a:pt x="246380" y="26542"/>
                </a:lnTo>
                <a:lnTo>
                  <a:pt x="246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685033" y="4072509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70">
                <a:moveTo>
                  <a:pt x="246380" y="0"/>
                </a:moveTo>
                <a:lnTo>
                  <a:pt x="0" y="0"/>
                </a:lnTo>
                <a:lnTo>
                  <a:pt x="0" y="26670"/>
                </a:lnTo>
                <a:lnTo>
                  <a:pt x="246380" y="26670"/>
                </a:lnTo>
                <a:lnTo>
                  <a:pt x="246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77336" y="3958209"/>
            <a:ext cx="227329" cy="372110"/>
          </a:xfrm>
          <a:custGeom>
            <a:avLst/>
            <a:gdLst/>
            <a:ahLst/>
            <a:cxnLst/>
            <a:rect l="l" t="t" r="r" b="b"/>
            <a:pathLst>
              <a:path w="227329" h="372110">
                <a:moveTo>
                  <a:pt x="162687" y="0"/>
                </a:moveTo>
                <a:lnTo>
                  <a:pt x="114807" y="12700"/>
                </a:lnTo>
                <a:lnTo>
                  <a:pt x="80771" y="48768"/>
                </a:lnTo>
                <a:lnTo>
                  <a:pt x="63519" y="90666"/>
                </a:lnTo>
                <a:lnTo>
                  <a:pt x="0" y="372110"/>
                </a:lnTo>
                <a:lnTo>
                  <a:pt x="32512" y="372110"/>
                </a:lnTo>
                <a:lnTo>
                  <a:pt x="53975" y="277368"/>
                </a:lnTo>
                <a:lnTo>
                  <a:pt x="156972" y="277368"/>
                </a:lnTo>
                <a:lnTo>
                  <a:pt x="157225" y="277241"/>
                </a:lnTo>
                <a:lnTo>
                  <a:pt x="162566" y="273558"/>
                </a:lnTo>
                <a:lnTo>
                  <a:pt x="96900" y="273558"/>
                </a:lnTo>
                <a:lnTo>
                  <a:pt x="90296" y="272669"/>
                </a:lnTo>
                <a:lnTo>
                  <a:pt x="62638" y="251444"/>
                </a:lnTo>
                <a:lnTo>
                  <a:pt x="62719" y="244475"/>
                </a:lnTo>
                <a:lnTo>
                  <a:pt x="90606" y="114331"/>
                </a:lnTo>
                <a:lnTo>
                  <a:pt x="102933" y="71024"/>
                </a:lnTo>
                <a:lnTo>
                  <a:pt x="127367" y="29517"/>
                </a:lnTo>
                <a:lnTo>
                  <a:pt x="160781" y="15748"/>
                </a:lnTo>
                <a:lnTo>
                  <a:pt x="212402" y="15748"/>
                </a:lnTo>
                <a:lnTo>
                  <a:pt x="210312" y="13589"/>
                </a:lnTo>
                <a:lnTo>
                  <a:pt x="201048" y="7661"/>
                </a:lnTo>
                <a:lnTo>
                  <a:pt x="190023" y="3413"/>
                </a:lnTo>
                <a:lnTo>
                  <a:pt x="177236" y="855"/>
                </a:lnTo>
                <a:lnTo>
                  <a:pt x="162687" y="0"/>
                </a:lnTo>
                <a:close/>
              </a:path>
              <a:path w="227329" h="372110">
                <a:moveTo>
                  <a:pt x="156972" y="277368"/>
                </a:moveTo>
                <a:lnTo>
                  <a:pt x="53975" y="277368"/>
                </a:lnTo>
                <a:lnTo>
                  <a:pt x="60785" y="280388"/>
                </a:lnTo>
                <a:lnTo>
                  <a:pt x="102272" y="289139"/>
                </a:lnTo>
                <a:lnTo>
                  <a:pt x="110489" y="289306"/>
                </a:lnTo>
                <a:lnTo>
                  <a:pt x="123346" y="288545"/>
                </a:lnTo>
                <a:lnTo>
                  <a:pt x="135429" y="286273"/>
                </a:lnTo>
                <a:lnTo>
                  <a:pt x="146726" y="282501"/>
                </a:lnTo>
                <a:lnTo>
                  <a:pt x="156972" y="277368"/>
                </a:lnTo>
                <a:close/>
              </a:path>
              <a:path w="227329" h="372110">
                <a:moveTo>
                  <a:pt x="212402" y="15748"/>
                </a:moveTo>
                <a:lnTo>
                  <a:pt x="160781" y="15748"/>
                </a:lnTo>
                <a:lnTo>
                  <a:pt x="168471" y="16295"/>
                </a:lnTo>
                <a:lnTo>
                  <a:pt x="175148" y="17938"/>
                </a:lnTo>
                <a:lnTo>
                  <a:pt x="193801" y="49911"/>
                </a:lnTo>
                <a:lnTo>
                  <a:pt x="193182" y="60100"/>
                </a:lnTo>
                <a:lnTo>
                  <a:pt x="178468" y="96601"/>
                </a:lnTo>
                <a:lnTo>
                  <a:pt x="147587" y="121368"/>
                </a:lnTo>
                <a:lnTo>
                  <a:pt x="117601" y="128905"/>
                </a:lnTo>
                <a:lnTo>
                  <a:pt x="114807" y="143129"/>
                </a:lnTo>
                <a:lnTo>
                  <a:pt x="150494" y="157734"/>
                </a:lnTo>
                <a:lnTo>
                  <a:pt x="162940" y="193167"/>
                </a:lnTo>
                <a:lnTo>
                  <a:pt x="162464" y="204644"/>
                </a:lnTo>
                <a:lnTo>
                  <a:pt x="151155" y="243790"/>
                </a:lnTo>
                <a:lnTo>
                  <a:pt x="120411" y="271065"/>
                </a:lnTo>
                <a:lnTo>
                  <a:pt x="104901" y="273558"/>
                </a:lnTo>
                <a:lnTo>
                  <a:pt x="162566" y="273558"/>
                </a:lnTo>
                <a:lnTo>
                  <a:pt x="188087" y="244475"/>
                </a:lnTo>
                <a:lnTo>
                  <a:pt x="198500" y="200279"/>
                </a:lnTo>
                <a:lnTo>
                  <a:pt x="195526" y="179228"/>
                </a:lnTo>
                <a:lnTo>
                  <a:pt x="186610" y="161798"/>
                </a:lnTo>
                <a:lnTo>
                  <a:pt x="171765" y="147986"/>
                </a:lnTo>
                <a:lnTo>
                  <a:pt x="151002" y="137795"/>
                </a:lnTo>
                <a:lnTo>
                  <a:pt x="151383" y="136144"/>
                </a:lnTo>
                <a:lnTo>
                  <a:pt x="188849" y="119380"/>
                </a:lnTo>
                <a:lnTo>
                  <a:pt x="216656" y="92285"/>
                </a:lnTo>
                <a:lnTo>
                  <a:pt x="227075" y="52578"/>
                </a:lnTo>
                <a:lnTo>
                  <a:pt x="226028" y="40645"/>
                </a:lnTo>
                <a:lnTo>
                  <a:pt x="222885" y="30178"/>
                </a:lnTo>
                <a:lnTo>
                  <a:pt x="217646" y="21163"/>
                </a:lnTo>
                <a:lnTo>
                  <a:pt x="212402" y="15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28238" y="3971416"/>
            <a:ext cx="326390" cy="273050"/>
          </a:xfrm>
          <a:custGeom>
            <a:avLst/>
            <a:gdLst/>
            <a:ahLst/>
            <a:cxnLst/>
            <a:rect l="l" t="t" r="r" b="b"/>
            <a:pathLst>
              <a:path w="326389" h="273050">
                <a:moveTo>
                  <a:pt x="326136" y="0"/>
                </a:moveTo>
                <a:lnTo>
                  <a:pt x="263144" y="0"/>
                </a:lnTo>
                <a:lnTo>
                  <a:pt x="146558" y="193928"/>
                </a:lnTo>
                <a:lnTo>
                  <a:pt x="123698" y="0"/>
                </a:lnTo>
                <a:lnTo>
                  <a:pt x="52324" y="0"/>
                </a:lnTo>
                <a:lnTo>
                  <a:pt x="50164" y="9778"/>
                </a:lnTo>
                <a:lnTo>
                  <a:pt x="56896" y="10159"/>
                </a:lnTo>
                <a:lnTo>
                  <a:pt x="61975" y="11556"/>
                </a:lnTo>
                <a:lnTo>
                  <a:pt x="68199" y="16509"/>
                </a:lnTo>
                <a:lnTo>
                  <a:pt x="69723" y="20827"/>
                </a:lnTo>
                <a:lnTo>
                  <a:pt x="69723" y="32511"/>
                </a:lnTo>
                <a:lnTo>
                  <a:pt x="29301" y="222456"/>
                </a:lnTo>
                <a:lnTo>
                  <a:pt x="11049" y="260984"/>
                </a:lnTo>
                <a:lnTo>
                  <a:pt x="2159" y="263143"/>
                </a:lnTo>
                <a:lnTo>
                  <a:pt x="0" y="272922"/>
                </a:lnTo>
                <a:lnTo>
                  <a:pt x="69976" y="272922"/>
                </a:lnTo>
                <a:lnTo>
                  <a:pt x="72136" y="263143"/>
                </a:lnTo>
                <a:lnTo>
                  <a:pt x="65024" y="262635"/>
                </a:lnTo>
                <a:lnTo>
                  <a:pt x="60071" y="261111"/>
                </a:lnTo>
                <a:lnTo>
                  <a:pt x="54101" y="256158"/>
                </a:lnTo>
                <a:lnTo>
                  <a:pt x="52577" y="251967"/>
                </a:lnTo>
                <a:lnTo>
                  <a:pt x="52839" y="239349"/>
                </a:lnTo>
                <a:lnTo>
                  <a:pt x="53625" y="231981"/>
                </a:lnTo>
                <a:lnTo>
                  <a:pt x="54935" y="223779"/>
                </a:lnTo>
                <a:lnTo>
                  <a:pt x="81238" y="102824"/>
                </a:lnTo>
                <a:lnTo>
                  <a:pt x="85137" y="82502"/>
                </a:lnTo>
                <a:lnTo>
                  <a:pt x="88822" y="61346"/>
                </a:lnTo>
                <a:lnTo>
                  <a:pt x="92328" y="39369"/>
                </a:lnTo>
                <a:lnTo>
                  <a:pt x="96392" y="39369"/>
                </a:lnTo>
                <a:lnTo>
                  <a:pt x="98536" y="61158"/>
                </a:lnTo>
                <a:lnTo>
                  <a:pt x="102536" y="97734"/>
                </a:lnTo>
                <a:lnTo>
                  <a:pt x="120903" y="241172"/>
                </a:lnTo>
                <a:lnTo>
                  <a:pt x="142748" y="241172"/>
                </a:lnTo>
                <a:lnTo>
                  <a:pt x="233679" y="90931"/>
                </a:lnTo>
                <a:lnTo>
                  <a:pt x="251618" y="60832"/>
                </a:lnTo>
                <a:lnTo>
                  <a:pt x="261747" y="42925"/>
                </a:lnTo>
                <a:lnTo>
                  <a:pt x="264540" y="42925"/>
                </a:lnTo>
                <a:lnTo>
                  <a:pt x="257746" y="67770"/>
                </a:lnTo>
                <a:lnTo>
                  <a:pt x="251713" y="92709"/>
                </a:lnTo>
                <a:lnTo>
                  <a:pt x="223103" y="222456"/>
                </a:lnTo>
                <a:lnTo>
                  <a:pt x="218566" y="240029"/>
                </a:lnTo>
                <a:lnTo>
                  <a:pt x="195961" y="263143"/>
                </a:lnTo>
                <a:lnTo>
                  <a:pt x="193801" y="272922"/>
                </a:lnTo>
                <a:lnTo>
                  <a:pt x="273685" y="272922"/>
                </a:lnTo>
                <a:lnTo>
                  <a:pt x="275971" y="263143"/>
                </a:lnTo>
                <a:lnTo>
                  <a:pt x="268859" y="262635"/>
                </a:lnTo>
                <a:lnTo>
                  <a:pt x="263778" y="261111"/>
                </a:lnTo>
                <a:lnTo>
                  <a:pt x="257810" y="256158"/>
                </a:lnTo>
                <a:lnTo>
                  <a:pt x="256286" y="251967"/>
                </a:lnTo>
                <a:lnTo>
                  <a:pt x="256539" y="237997"/>
                </a:lnTo>
                <a:lnTo>
                  <a:pt x="296767" y="50611"/>
                </a:lnTo>
                <a:lnTo>
                  <a:pt x="310769" y="14731"/>
                </a:lnTo>
                <a:lnTo>
                  <a:pt x="323976" y="9778"/>
                </a:lnTo>
                <a:lnTo>
                  <a:pt x="3261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894709" y="3999229"/>
            <a:ext cx="246379" cy="256540"/>
          </a:xfrm>
          <a:custGeom>
            <a:avLst/>
            <a:gdLst/>
            <a:ahLst/>
            <a:cxnLst/>
            <a:rect l="l" t="t" r="r" b="b"/>
            <a:pathLst>
              <a:path w="246379" h="256539">
                <a:moveTo>
                  <a:pt x="246380" y="114300"/>
                </a:moveTo>
                <a:lnTo>
                  <a:pt x="137287" y="114300"/>
                </a:lnTo>
                <a:lnTo>
                  <a:pt x="137287" y="0"/>
                </a:lnTo>
                <a:lnTo>
                  <a:pt x="108966" y="0"/>
                </a:lnTo>
                <a:lnTo>
                  <a:pt x="108966" y="114300"/>
                </a:lnTo>
                <a:lnTo>
                  <a:pt x="0" y="114300"/>
                </a:lnTo>
                <a:lnTo>
                  <a:pt x="0" y="140970"/>
                </a:lnTo>
                <a:lnTo>
                  <a:pt x="108966" y="140970"/>
                </a:lnTo>
                <a:lnTo>
                  <a:pt x="108966" y="256540"/>
                </a:lnTo>
                <a:lnTo>
                  <a:pt x="137287" y="256540"/>
                </a:lnTo>
                <a:lnTo>
                  <a:pt x="137287" y="140970"/>
                </a:lnTo>
                <a:lnTo>
                  <a:pt x="246380" y="140970"/>
                </a:lnTo>
                <a:lnTo>
                  <a:pt x="24638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291330" y="3936364"/>
            <a:ext cx="1231900" cy="394335"/>
          </a:xfrm>
          <a:custGeom>
            <a:avLst/>
            <a:gdLst/>
            <a:ahLst/>
            <a:cxnLst/>
            <a:rect l="l" t="t" r="r" b="b"/>
            <a:pathLst>
              <a:path w="1231900" h="394335">
                <a:moveTo>
                  <a:pt x="126492" y="15367"/>
                </a:moveTo>
                <a:lnTo>
                  <a:pt x="121031" y="0"/>
                </a:lnTo>
                <a:lnTo>
                  <a:pt x="93548" y="9880"/>
                </a:lnTo>
                <a:lnTo>
                  <a:pt x="69430" y="24257"/>
                </a:lnTo>
                <a:lnTo>
                  <a:pt x="31369" y="66421"/>
                </a:lnTo>
                <a:lnTo>
                  <a:pt x="7874" y="122796"/>
                </a:lnTo>
                <a:lnTo>
                  <a:pt x="0" y="189738"/>
                </a:lnTo>
                <a:lnTo>
                  <a:pt x="1943" y="224599"/>
                </a:lnTo>
                <a:lnTo>
                  <a:pt x="17564" y="286270"/>
                </a:lnTo>
                <a:lnTo>
                  <a:pt x="48564" y="336283"/>
                </a:lnTo>
                <a:lnTo>
                  <a:pt x="93472" y="369430"/>
                </a:lnTo>
                <a:lnTo>
                  <a:pt x="121031" y="379349"/>
                </a:lnTo>
                <a:lnTo>
                  <a:pt x="125857" y="363982"/>
                </a:lnTo>
                <a:lnTo>
                  <a:pt x="104203" y="354393"/>
                </a:lnTo>
                <a:lnTo>
                  <a:pt x="85547" y="341045"/>
                </a:lnTo>
                <a:lnTo>
                  <a:pt x="57150" y="303149"/>
                </a:lnTo>
                <a:lnTo>
                  <a:pt x="40284" y="251574"/>
                </a:lnTo>
                <a:lnTo>
                  <a:pt x="34671" y="187706"/>
                </a:lnTo>
                <a:lnTo>
                  <a:pt x="36068" y="155346"/>
                </a:lnTo>
                <a:lnTo>
                  <a:pt x="47307" y="99237"/>
                </a:lnTo>
                <a:lnTo>
                  <a:pt x="69913" y="54914"/>
                </a:lnTo>
                <a:lnTo>
                  <a:pt x="104584" y="24904"/>
                </a:lnTo>
                <a:lnTo>
                  <a:pt x="126492" y="15367"/>
                </a:lnTo>
                <a:close/>
              </a:path>
              <a:path w="1231900" h="394335">
                <a:moveTo>
                  <a:pt x="330327" y="293370"/>
                </a:moveTo>
                <a:lnTo>
                  <a:pt x="285750" y="287274"/>
                </a:lnTo>
                <a:lnTo>
                  <a:pt x="274447" y="263525"/>
                </a:lnTo>
                <a:lnTo>
                  <a:pt x="274447" y="84963"/>
                </a:lnTo>
                <a:lnTo>
                  <a:pt x="274789" y="54698"/>
                </a:lnTo>
                <a:lnTo>
                  <a:pt x="275717" y="31750"/>
                </a:lnTo>
                <a:lnTo>
                  <a:pt x="264668" y="31750"/>
                </a:lnTo>
                <a:lnTo>
                  <a:pt x="171069" y="87630"/>
                </a:lnTo>
                <a:lnTo>
                  <a:pt x="179959" y="102997"/>
                </a:lnTo>
                <a:lnTo>
                  <a:pt x="188277" y="97510"/>
                </a:lnTo>
                <a:lnTo>
                  <a:pt x="202844" y="88417"/>
                </a:lnTo>
                <a:lnTo>
                  <a:pt x="216916" y="80391"/>
                </a:lnTo>
                <a:lnTo>
                  <a:pt x="223012" y="78232"/>
                </a:lnTo>
                <a:lnTo>
                  <a:pt x="230886" y="78232"/>
                </a:lnTo>
                <a:lnTo>
                  <a:pt x="233680" y="79375"/>
                </a:lnTo>
                <a:lnTo>
                  <a:pt x="237363" y="84328"/>
                </a:lnTo>
                <a:lnTo>
                  <a:pt x="238252" y="88265"/>
                </a:lnTo>
                <a:lnTo>
                  <a:pt x="238252" y="265049"/>
                </a:lnTo>
                <a:lnTo>
                  <a:pt x="208686" y="291515"/>
                </a:lnTo>
                <a:lnTo>
                  <a:pt x="182499" y="293370"/>
                </a:lnTo>
                <a:lnTo>
                  <a:pt x="182499" y="307975"/>
                </a:lnTo>
                <a:lnTo>
                  <a:pt x="330327" y="307975"/>
                </a:lnTo>
                <a:lnTo>
                  <a:pt x="330327" y="293370"/>
                </a:lnTo>
                <a:close/>
              </a:path>
              <a:path w="1231900" h="394335">
                <a:moveTo>
                  <a:pt x="726059" y="177622"/>
                </a:moveTo>
                <a:lnTo>
                  <a:pt x="479679" y="177622"/>
                </a:lnTo>
                <a:lnTo>
                  <a:pt x="479679" y="204216"/>
                </a:lnTo>
                <a:lnTo>
                  <a:pt x="726059" y="204216"/>
                </a:lnTo>
                <a:lnTo>
                  <a:pt x="726059" y="177622"/>
                </a:lnTo>
                <a:close/>
              </a:path>
              <a:path w="1231900" h="394335">
                <a:moveTo>
                  <a:pt x="1070483" y="74422"/>
                </a:moveTo>
                <a:lnTo>
                  <a:pt x="1069428" y="62496"/>
                </a:lnTo>
                <a:lnTo>
                  <a:pt x="1066292" y="52031"/>
                </a:lnTo>
                <a:lnTo>
                  <a:pt x="1061046" y="43014"/>
                </a:lnTo>
                <a:lnTo>
                  <a:pt x="1055801" y="37592"/>
                </a:lnTo>
                <a:lnTo>
                  <a:pt x="1053719" y="35433"/>
                </a:lnTo>
                <a:lnTo>
                  <a:pt x="1044448" y="29514"/>
                </a:lnTo>
                <a:lnTo>
                  <a:pt x="1037209" y="26733"/>
                </a:lnTo>
                <a:lnTo>
                  <a:pt x="1037209" y="71755"/>
                </a:lnTo>
                <a:lnTo>
                  <a:pt x="1036586" y="81953"/>
                </a:lnTo>
                <a:lnTo>
                  <a:pt x="1021867" y="118452"/>
                </a:lnTo>
                <a:lnTo>
                  <a:pt x="990993" y="143217"/>
                </a:lnTo>
                <a:lnTo>
                  <a:pt x="961009" y="150749"/>
                </a:lnTo>
                <a:lnTo>
                  <a:pt x="958215" y="164973"/>
                </a:lnTo>
                <a:lnTo>
                  <a:pt x="993902" y="179578"/>
                </a:lnTo>
                <a:lnTo>
                  <a:pt x="1005865" y="226491"/>
                </a:lnTo>
                <a:lnTo>
                  <a:pt x="994562" y="265645"/>
                </a:lnTo>
                <a:lnTo>
                  <a:pt x="963815" y="292912"/>
                </a:lnTo>
                <a:lnTo>
                  <a:pt x="948309" y="295402"/>
                </a:lnTo>
                <a:lnTo>
                  <a:pt x="940308" y="295402"/>
                </a:lnTo>
                <a:lnTo>
                  <a:pt x="906780" y="276225"/>
                </a:lnTo>
                <a:lnTo>
                  <a:pt x="906043" y="273291"/>
                </a:lnTo>
                <a:lnTo>
                  <a:pt x="906119" y="266319"/>
                </a:lnTo>
                <a:lnTo>
                  <a:pt x="934008" y="136182"/>
                </a:lnTo>
                <a:lnTo>
                  <a:pt x="946340" y="92875"/>
                </a:lnTo>
                <a:lnTo>
                  <a:pt x="970762" y="51371"/>
                </a:lnTo>
                <a:lnTo>
                  <a:pt x="1004189" y="37592"/>
                </a:lnTo>
                <a:lnTo>
                  <a:pt x="1011872" y="38150"/>
                </a:lnTo>
                <a:lnTo>
                  <a:pt x="1037209" y="71755"/>
                </a:lnTo>
                <a:lnTo>
                  <a:pt x="1037209" y="26733"/>
                </a:lnTo>
                <a:lnTo>
                  <a:pt x="1033424" y="25260"/>
                </a:lnTo>
                <a:lnTo>
                  <a:pt x="1020635" y="22707"/>
                </a:lnTo>
                <a:lnTo>
                  <a:pt x="1006094" y="21844"/>
                </a:lnTo>
                <a:lnTo>
                  <a:pt x="992797" y="22644"/>
                </a:lnTo>
                <a:lnTo>
                  <a:pt x="948372" y="41529"/>
                </a:lnTo>
                <a:lnTo>
                  <a:pt x="917689" y="83070"/>
                </a:lnTo>
                <a:lnTo>
                  <a:pt x="902589" y="129540"/>
                </a:lnTo>
                <a:lnTo>
                  <a:pt x="843407" y="393954"/>
                </a:lnTo>
                <a:lnTo>
                  <a:pt x="875919" y="393954"/>
                </a:lnTo>
                <a:lnTo>
                  <a:pt x="897382" y="299212"/>
                </a:lnTo>
                <a:lnTo>
                  <a:pt x="904189" y="302234"/>
                </a:lnTo>
                <a:lnTo>
                  <a:pt x="945667" y="310984"/>
                </a:lnTo>
                <a:lnTo>
                  <a:pt x="953897" y="311150"/>
                </a:lnTo>
                <a:lnTo>
                  <a:pt x="966749" y="310400"/>
                </a:lnTo>
                <a:lnTo>
                  <a:pt x="978827" y="308127"/>
                </a:lnTo>
                <a:lnTo>
                  <a:pt x="990130" y="304355"/>
                </a:lnTo>
                <a:lnTo>
                  <a:pt x="1000379" y="299212"/>
                </a:lnTo>
                <a:lnTo>
                  <a:pt x="1000633" y="299085"/>
                </a:lnTo>
                <a:lnTo>
                  <a:pt x="1005967" y="295402"/>
                </a:lnTo>
                <a:lnTo>
                  <a:pt x="1010196" y="292493"/>
                </a:lnTo>
                <a:lnTo>
                  <a:pt x="1018540" y="284848"/>
                </a:lnTo>
                <a:lnTo>
                  <a:pt x="1039317" y="244983"/>
                </a:lnTo>
                <a:lnTo>
                  <a:pt x="1041908" y="222123"/>
                </a:lnTo>
                <a:lnTo>
                  <a:pt x="1038923" y="201079"/>
                </a:lnTo>
                <a:lnTo>
                  <a:pt x="1030008" y="183654"/>
                </a:lnTo>
                <a:lnTo>
                  <a:pt x="1015161" y="169837"/>
                </a:lnTo>
                <a:lnTo>
                  <a:pt x="994410" y="159639"/>
                </a:lnTo>
                <a:lnTo>
                  <a:pt x="994791" y="157988"/>
                </a:lnTo>
                <a:lnTo>
                  <a:pt x="1032256" y="141224"/>
                </a:lnTo>
                <a:lnTo>
                  <a:pt x="1060056" y="114134"/>
                </a:lnTo>
                <a:lnTo>
                  <a:pt x="1070381" y="81953"/>
                </a:lnTo>
                <a:lnTo>
                  <a:pt x="1070483" y="74422"/>
                </a:lnTo>
                <a:close/>
              </a:path>
              <a:path w="1231900" h="394335">
                <a:moveTo>
                  <a:pt x="1231519" y="189738"/>
                </a:moveTo>
                <a:lnTo>
                  <a:pt x="1223708" y="122796"/>
                </a:lnTo>
                <a:lnTo>
                  <a:pt x="1200277" y="66421"/>
                </a:lnTo>
                <a:lnTo>
                  <a:pt x="1162138" y="24257"/>
                </a:lnTo>
                <a:lnTo>
                  <a:pt x="1110488" y="0"/>
                </a:lnTo>
                <a:lnTo>
                  <a:pt x="1105154" y="15367"/>
                </a:lnTo>
                <a:lnTo>
                  <a:pt x="1127125" y="24904"/>
                </a:lnTo>
                <a:lnTo>
                  <a:pt x="1146009" y="38074"/>
                </a:lnTo>
                <a:lnTo>
                  <a:pt x="1174496" y="75438"/>
                </a:lnTo>
                <a:lnTo>
                  <a:pt x="1191348" y="125857"/>
                </a:lnTo>
                <a:lnTo>
                  <a:pt x="1196975" y="187706"/>
                </a:lnTo>
                <a:lnTo>
                  <a:pt x="1195565" y="221195"/>
                </a:lnTo>
                <a:lnTo>
                  <a:pt x="1184275" y="278879"/>
                </a:lnTo>
                <a:lnTo>
                  <a:pt x="1161643" y="323964"/>
                </a:lnTo>
                <a:lnTo>
                  <a:pt x="1127353" y="354393"/>
                </a:lnTo>
                <a:lnTo>
                  <a:pt x="1105789" y="363982"/>
                </a:lnTo>
                <a:lnTo>
                  <a:pt x="1110488" y="379349"/>
                </a:lnTo>
                <a:lnTo>
                  <a:pt x="1162278" y="355066"/>
                </a:lnTo>
                <a:lnTo>
                  <a:pt x="1200277" y="313055"/>
                </a:lnTo>
                <a:lnTo>
                  <a:pt x="1223708" y="256781"/>
                </a:lnTo>
                <a:lnTo>
                  <a:pt x="1229563" y="224599"/>
                </a:lnTo>
                <a:lnTo>
                  <a:pt x="1231519" y="1897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72582" y="3653789"/>
            <a:ext cx="530860" cy="881380"/>
          </a:xfrm>
          <a:custGeom>
            <a:avLst/>
            <a:gdLst/>
            <a:ahLst/>
            <a:cxnLst/>
            <a:rect l="l" t="t" r="r" b="b"/>
            <a:pathLst>
              <a:path w="530860" h="881379">
                <a:moveTo>
                  <a:pt x="100584" y="66040"/>
                </a:moveTo>
                <a:lnTo>
                  <a:pt x="0" y="66040"/>
                </a:lnTo>
                <a:lnTo>
                  <a:pt x="0" y="85090"/>
                </a:lnTo>
                <a:lnTo>
                  <a:pt x="0" y="862330"/>
                </a:lnTo>
                <a:lnTo>
                  <a:pt x="0" y="881380"/>
                </a:lnTo>
                <a:lnTo>
                  <a:pt x="100584" y="881380"/>
                </a:lnTo>
                <a:lnTo>
                  <a:pt x="100584" y="862330"/>
                </a:lnTo>
                <a:lnTo>
                  <a:pt x="39243" y="862330"/>
                </a:lnTo>
                <a:lnTo>
                  <a:pt x="39243" y="85090"/>
                </a:lnTo>
                <a:lnTo>
                  <a:pt x="100584" y="85090"/>
                </a:lnTo>
                <a:lnTo>
                  <a:pt x="100584" y="66040"/>
                </a:lnTo>
                <a:close/>
              </a:path>
              <a:path w="530860" h="881379">
                <a:moveTo>
                  <a:pt x="339725" y="261620"/>
                </a:moveTo>
                <a:lnTo>
                  <a:pt x="295148" y="255524"/>
                </a:lnTo>
                <a:lnTo>
                  <a:pt x="283845" y="231775"/>
                </a:lnTo>
                <a:lnTo>
                  <a:pt x="283845" y="53213"/>
                </a:lnTo>
                <a:lnTo>
                  <a:pt x="284187" y="22948"/>
                </a:lnTo>
                <a:lnTo>
                  <a:pt x="285115" y="0"/>
                </a:lnTo>
                <a:lnTo>
                  <a:pt x="274066" y="0"/>
                </a:lnTo>
                <a:lnTo>
                  <a:pt x="180467" y="55880"/>
                </a:lnTo>
                <a:lnTo>
                  <a:pt x="189357" y="71247"/>
                </a:lnTo>
                <a:lnTo>
                  <a:pt x="197675" y="65760"/>
                </a:lnTo>
                <a:lnTo>
                  <a:pt x="212242" y="56667"/>
                </a:lnTo>
                <a:lnTo>
                  <a:pt x="226314" y="48641"/>
                </a:lnTo>
                <a:lnTo>
                  <a:pt x="232410" y="46482"/>
                </a:lnTo>
                <a:lnTo>
                  <a:pt x="240284" y="46482"/>
                </a:lnTo>
                <a:lnTo>
                  <a:pt x="243078" y="47625"/>
                </a:lnTo>
                <a:lnTo>
                  <a:pt x="246761" y="52578"/>
                </a:lnTo>
                <a:lnTo>
                  <a:pt x="247650" y="56515"/>
                </a:lnTo>
                <a:lnTo>
                  <a:pt x="247650" y="233299"/>
                </a:lnTo>
                <a:lnTo>
                  <a:pt x="218084" y="259765"/>
                </a:lnTo>
                <a:lnTo>
                  <a:pt x="191897" y="261620"/>
                </a:lnTo>
                <a:lnTo>
                  <a:pt x="191897" y="276225"/>
                </a:lnTo>
                <a:lnTo>
                  <a:pt x="339725" y="276225"/>
                </a:lnTo>
                <a:lnTo>
                  <a:pt x="339725" y="261620"/>
                </a:lnTo>
                <a:close/>
              </a:path>
              <a:path w="530860" h="881379">
                <a:moveTo>
                  <a:pt x="395351" y="593852"/>
                </a:moveTo>
                <a:lnTo>
                  <a:pt x="325374" y="593852"/>
                </a:lnTo>
                <a:lnTo>
                  <a:pt x="323215" y="603631"/>
                </a:lnTo>
                <a:lnTo>
                  <a:pt x="329946" y="604012"/>
                </a:lnTo>
                <a:lnTo>
                  <a:pt x="334899" y="605409"/>
                </a:lnTo>
                <a:lnTo>
                  <a:pt x="341249" y="610362"/>
                </a:lnTo>
                <a:lnTo>
                  <a:pt x="342773" y="614680"/>
                </a:lnTo>
                <a:lnTo>
                  <a:pt x="342773" y="621030"/>
                </a:lnTo>
                <a:lnTo>
                  <a:pt x="321919" y="727252"/>
                </a:lnTo>
                <a:lnTo>
                  <a:pt x="309257" y="790117"/>
                </a:lnTo>
                <a:lnTo>
                  <a:pt x="306578" y="806323"/>
                </a:lnTo>
                <a:lnTo>
                  <a:pt x="304419" y="806323"/>
                </a:lnTo>
                <a:lnTo>
                  <a:pt x="300951" y="794131"/>
                </a:lnTo>
                <a:lnTo>
                  <a:pt x="292138" y="765746"/>
                </a:lnTo>
                <a:lnTo>
                  <a:pt x="234061" y="593852"/>
                </a:lnTo>
                <a:lnTo>
                  <a:pt x="170180" y="593852"/>
                </a:lnTo>
                <a:lnTo>
                  <a:pt x="168021" y="603631"/>
                </a:lnTo>
                <a:lnTo>
                  <a:pt x="174752" y="604012"/>
                </a:lnTo>
                <a:lnTo>
                  <a:pt x="179832" y="605409"/>
                </a:lnTo>
                <a:lnTo>
                  <a:pt x="186055" y="610362"/>
                </a:lnTo>
                <a:lnTo>
                  <a:pt x="187579" y="614680"/>
                </a:lnTo>
                <a:lnTo>
                  <a:pt x="187579" y="626364"/>
                </a:lnTo>
                <a:lnTo>
                  <a:pt x="147154" y="816317"/>
                </a:lnTo>
                <a:lnTo>
                  <a:pt x="128905" y="854837"/>
                </a:lnTo>
                <a:lnTo>
                  <a:pt x="120015" y="856996"/>
                </a:lnTo>
                <a:lnTo>
                  <a:pt x="117856" y="866775"/>
                </a:lnTo>
                <a:lnTo>
                  <a:pt x="187833" y="866775"/>
                </a:lnTo>
                <a:lnTo>
                  <a:pt x="189992" y="856996"/>
                </a:lnTo>
                <a:lnTo>
                  <a:pt x="182880" y="856488"/>
                </a:lnTo>
                <a:lnTo>
                  <a:pt x="177927" y="854964"/>
                </a:lnTo>
                <a:lnTo>
                  <a:pt x="171958" y="850011"/>
                </a:lnTo>
                <a:lnTo>
                  <a:pt x="170434" y="845820"/>
                </a:lnTo>
                <a:lnTo>
                  <a:pt x="170688" y="833208"/>
                </a:lnTo>
                <a:lnTo>
                  <a:pt x="171475" y="825842"/>
                </a:lnTo>
                <a:lnTo>
                  <a:pt x="172783" y="817638"/>
                </a:lnTo>
                <a:lnTo>
                  <a:pt x="174625" y="808609"/>
                </a:lnTo>
                <a:lnTo>
                  <a:pt x="195148" y="714997"/>
                </a:lnTo>
                <a:lnTo>
                  <a:pt x="200863" y="686955"/>
                </a:lnTo>
                <a:lnTo>
                  <a:pt x="207975" y="648614"/>
                </a:lnTo>
                <a:lnTo>
                  <a:pt x="210185" y="633730"/>
                </a:lnTo>
                <a:lnTo>
                  <a:pt x="212852" y="633730"/>
                </a:lnTo>
                <a:lnTo>
                  <a:pt x="216992" y="649071"/>
                </a:lnTo>
                <a:lnTo>
                  <a:pt x="221449" y="664425"/>
                </a:lnTo>
                <a:lnTo>
                  <a:pt x="226237" y="679792"/>
                </a:lnTo>
                <a:lnTo>
                  <a:pt x="289814" y="866775"/>
                </a:lnTo>
                <a:lnTo>
                  <a:pt x="316992" y="866775"/>
                </a:lnTo>
                <a:lnTo>
                  <a:pt x="365975" y="644474"/>
                </a:lnTo>
                <a:lnTo>
                  <a:pt x="369455" y="630618"/>
                </a:lnTo>
                <a:lnTo>
                  <a:pt x="393192" y="603631"/>
                </a:lnTo>
                <a:lnTo>
                  <a:pt x="395351" y="593852"/>
                </a:lnTo>
                <a:close/>
              </a:path>
              <a:path w="530860" h="881379">
                <a:moveTo>
                  <a:pt x="411607" y="457200"/>
                </a:moveTo>
                <a:lnTo>
                  <a:pt x="106807" y="457200"/>
                </a:lnTo>
                <a:lnTo>
                  <a:pt x="106807" y="485775"/>
                </a:lnTo>
                <a:lnTo>
                  <a:pt x="411607" y="485775"/>
                </a:lnTo>
                <a:lnTo>
                  <a:pt x="411607" y="457200"/>
                </a:lnTo>
                <a:close/>
              </a:path>
              <a:path w="530860" h="881379">
                <a:moveTo>
                  <a:pt x="530733" y="66040"/>
                </a:moveTo>
                <a:lnTo>
                  <a:pt x="430149" y="66040"/>
                </a:lnTo>
                <a:lnTo>
                  <a:pt x="430149" y="85090"/>
                </a:lnTo>
                <a:lnTo>
                  <a:pt x="491490" y="85090"/>
                </a:lnTo>
                <a:lnTo>
                  <a:pt x="491490" y="862330"/>
                </a:lnTo>
                <a:lnTo>
                  <a:pt x="430149" y="862330"/>
                </a:lnTo>
                <a:lnTo>
                  <a:pt x="430149" y="881380"/>
                </a:lnTo>
                <a:lnTo>
                  <a:pt x="530733" y="881380"/>
                </a:lnTo>
                <a:lnTo>
                  <a:pt x="530733" y="862330"/>
                </a:lnTo>
                <a:lnTo>
                  <a:pt x="530733" y="85090"/>
                </a:lnTo>
                <a:lnTo>
                  <a:pt x="530733" y="660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6255384" y="4409821"/>
            <a:ext cx="643255" cy="187325"/>
            <a:chOff x="6255384" y="4409821"/>
            <a:chExt cx="643255" cy="187325"/>
          </a:xfrm>
        </p:grpSpPr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55384" y="4409821"/>
              <a:ext cx="204850" cy="18694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00621" y="4433443"/>
              <a:ext cx="159130" cy="15900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93534" y="4409821"/>
              <a:ext cx="204850" cy="186944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679632"/>
            <a:ext cx="323850" cy="40036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5652452"/>
            <a:ext cx="323850" cy="400684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938530" y="4562157"/>
            <a:ext cx="7541895" cy="20167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835"/>
              </a:lnSpc>
              <a:spcBef>
                <a:spcPts val="125"/>
              </a:spcBef>
            </a:pPr>
            <a:r>
              <a:rPr sz="3200" b="1" spc="-60" dirty="0">
                <a:solidFill>
                  <a:srgbClr val="D50092"/>
                </a:solidFill>
                <a:latin typeface="Calibri"/>
                <a:cs typeface="Calibri"/>
              </a:rPr>
              <a:t>We </a:t>
            </a:r>
            <a:r>
              <a:rPr sz="3200" b="1" spc="-20" dirty="0">
                <a:solidFill>
                  <a:srgbClr val="D50092"/>
                </a:solidFill>
                <a:latin typeface="Calibri"/>
                <a:cs typeface="Calibri"/>
              </a:rPr>
              <a:t>have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a </a:t>
            </a:r>
            <a:r>
              <a:rPr sz="3200" b="1" spc="-5" dirty="0">
                <a:solidFill>
                  <a:srgbClr val="D50092"/>
                </a:solidFill>
                <a:latin typeface="Calibri"/>
                <a:cs typeface="Calibri"/>
              </a:rPr>
              <a:t>recursive </a:t>
            </a: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problem: </a:t>
            </a:r>
            <a:r>
              <a:rPr sz="3200" spc="10" dirty="0">
                <a:solidFill>
                  <a:srgbClr val="008000"/>
                </a:solidFill>
                <a:latin typeface="Cambria Math"/>
                <a:cs typeface="Cambria Math"/>
              </a:rPr>
              <a:t>𝒓 </a:t>
            </a:r>
            <a:r>
              <a:rPr sz="3200" spc="20" dirty="0">
                <a:solidFill>
                  <a:srgbClr val="008000"/>
                </a:solidFill>
                <a:latin typeface="Cambria Math"/>
                <a:cs typeface="Cambria Math"/>
              </a:rPr>
              <a:t>= </a:t>
            </a:r>
            <a:r>
              <a:rPr sz="3200" spc="15" dirty="0">
                <a:solidFill>
                  <a:srgbClr val="008000"/>
                </a:solidFill>
                <a:latin typeface="Cambria Math"/>
                <a:cs typeface="Cambria Math"/>
              </a:rPr>
              <a:t>𝑨 </a:t>
            </a:r>
            <a:r>
              <a:rPr sz="3200" spc="5" dirty="0">
                <a:solidFill>
                  <a:srgbClr val="008000"/>
                </a:solidFill>
                <a:latin typeface="Cambria Math"/>
                <a:cs typeface="Cambria Math"/>
              </a:rPr>
              <a:t>⋅</a:t>
            </a:r>
            <a:r>
              <a:rPr sz="3200" spc="135" dirty="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sz="3200" spc="10" dirty="0">
                <a:solidFill>
                  <a:srgbClr val="008000"/>
                </a:solidFill>
                <a:latin typeface="Cambria Math"/>
                <a:cs typeface="Cambria Math"/>
              </a:rPr>
              <a:t>𝒓</a:t>
            </a:r>
            <a:endParaRPr sz="3200">
              <a:latin typeface="Cambria Math"/>
              <a:cs typeface="Cambria Math"/>
            </a:endParaRPr>
          </a:p>
          <a:p>
            <a:pPr marL="12700" marR="1649730">
              <a:lnSpc>
                <a:spcPts val="3829"/>
              </a:lnSpc>
              <a:spcBef>
                <a:spcPts val="130"/>
              </a:spcBef>
            </a:pPr>
            <a:r>
              <a:rPr sz="3200" b="1" spc="10" dirty="0">
                <a:latin typeface="Calibri"/>
                <a:cs typeface="Calibri"/>
              </a:rPr>
              <a:t>And the </a:t>
            </a:r>
            <a:r>
              <a:rPr sz="3200" b="1" dirty="0">
                <a:latin typeface="Calibri"/>
                <a:cs typeface="Calibri"/>
              </a:rPr>
              <a:t>Power </a:t>
            </a:r>
            <a:r>
              <a:rPr sz="3200" b="1" spc="15" dirty="0">
                <a:latin typeface="Calibri"/>
                <a:cs typeface="Calibri"/>
              </a:rPr>
              <a:t>method still</a:t>
            </a:r>
            <a:r>
              <a:rPr sz="3200" b="1" spc="-530" dirty="0">
                <a:latin typeface="Calibri"/>
                <a:cs typeface="Calibri"/>
              </a:rPr>
              <a:t> </a:t>
            </a:r>
            <a:r>
              <a:rPr sz="3200" b="1" spc="5" dirty="0">
                <a:latin typeface="Calibri"/>
                <a:cs typeface="Calibri"/>
              </a:rPr>
              <a:t>works! 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What </a:t>
            </a:r>
            <a:r>
              <a:rPr sz="3200" b="1" spc="20" dirty="0">
                <a:solidFill>
                  <a:srgbClr val="0000FF"/>
                </a:solidFill>
                <a:latin typeface="Calibri"/>
                <a:cs typeface="Calibri"/>
              </a:rPr>
              <a:t>is </a:t>
            </a:r>
            <a:r>
              <a:rPr sz="3400" b="1" i="1" spc="-95" dirty="0">
                <a:solidFill>
                  <a:srgbClr val="0000FF"/>
                </a:solidFill>
                <a:latin typeface="Symbol"/>
                <a:cs typeface="Symbol"/>
              </a:rPr>
              <a:t></a:t>
            </a:r>
            <a:r>
              <a:rPr sz="3400" b="1" i="1" spc="-2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54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5" dirty="0">
                <a:latin typeface="Calibri"/>
                <a:cs typeface="Calibri"/>
              </a:rPr>
              <a:t>In practice </a:t>
            </a:r>
            <a:r>
              <a:rPr sz="2900" i="1" spc="-70" dirty="0">
                <a:latin typeface="Symbol"/>
                <a:cs typeface="Symbol"/>
              </a:rPr>
              <a:t></a:t>
            </a:r>
            <a:r>
              <a:rPr sz="2900" i="1" spc="-70" dirty="0">
                <a:latin typeface="Times New Roman"/>
                <a:cs typeface="Times New Roman"/>
              </a:rPr>
              <a:t> </a:t>
            </a:r>
            <a:r>
              <a:rPr sz="2750" i="1" spc="15" dirty="0">
                <a:latin typeface="Times New Roman"/>
                <a:cs typeface="Times New Roman"/>
              </a:rPr>
              <a:t>=0.8,0.9 </a:t>
            </a:r>
            <a:r>
              <a:rPr sz="2750" spc="25" dirty="0">
                <a:latin typeface="Calibri"/>
                <a:cs typeface="Calibri"/>
              </a:rPr>
              <a:t>(jump </a:t>
            </a:r>
            <a:r>
              <a:rPr sz="2750" spc="5" dirty="0">
                <a:latin typeface="Calibri"/>
                <a:cs typeface="Calibri"/>
              </a:rPr>
              <a:t>every </a:t>
            </a:r>
            <a:r>
              <a:rPr sz="2750" i="1" spc="15" dirty="0">
                <a:latin typeface="Times New Roman"/>
                <a:cs typeface="Times New Roman"/>
              </a:rPr>
              <a:t>5 </a:t>
            </a:r>
            <a:r>
              <a:rPr sz="2750" spc="-20" dirty="0">
                <a:latin typeface="Calibri"/>
                <a:cs typeface="Calibri"/>
              </a:rPr>
              <a:t>steps </a:t>
            </a:r>
            <a:r>
              <a:rPr sz="2750" spc="30" dirty="0">
                <a:latin typeface="Calibri"/>
                <a:cs typeface="Calibri"/>
              </a:rPr>
              <a:t>on</a:t>
            </a:r>
            <a:r>
              <a:rPr sz="2750" spc="46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avg.)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796405" y="3161728"/>
            <a:ext cx="2275840" cy="50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 marR="30480">
              <a:lnSpc>
                <a:spcPct val="100899"/>
              </a:lnSpc>
              <a:spcBef>
                <a:spcPts val="110"/>
              </a:spcBef>
            </a:pPr>
            <a:r>
              <a:rPr sz="1550" spc="-15" dirty="0">
                <a:solidFill>
                  <a:srgbClr val="008000"/>
                </a:solidFill>
                <a:latin typeface="Arial"/>
                <a:cs typeface="Arial"/>
              </a:rPr>
              <a:t>[1/N]</a:t>
            </a:r>
            <a:r>
              <a:rPr sz="1575" spc="-22" baseline="-15873" dirty="0">
                <a:solidFill>
                  <a:srgbClr val="008000"/>
                </a:solidFill>
                <a:latin typeface="Arial"/>
                <a:cs typeface="Arial"/>
              </a:rPr>
              <a:t>NxN</a:t>
            </a:r>
            <a:r>
              <a:rPr sz="1550" spc="-15" dirty="0">
                <a:solidFill>
                  <a:srgbClr val="008000"/>
                </a:solidFill>
                <a:latin typeface="Arial"/>
                <a:cs typeface="Arial"/>
              </a:rPr>
              <a:t>…N by </a:t>
            </a:r>
            <a:r>
              <a:rPr sz="1550" spc="15" dirty="0">
                <a:solidFill>
                  <a:srgbClr val="008000"/>
                </a:solidFill>
                <a:latin typeface="Arial"/>
                <a:cs typeface="Arial"/>
              </a:rPr>
              <a:t>N </a:t>
            </a: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matrix  where </a:t>
            </a:r>
            <a:r>
              <a:rPr sz="1550" spc="-5" dirty="0">
                <a:solidFill>
                  <a:srgbClr val="008000"/>
                </a:solidFill>
                <a:latin typeface="Arial"/>
                <a:cs typeface="Arial"/>
              </a:rPr>
              <a:t>all </a:t>
            </a:r>
            <a:r>
              <a:rPr sz="1550" spc="10" dirty="0">
                <a:solidFill>
                  <a:srgbClr val="008000"/>
                </a:solidFill>
                <a:latin typeface="Arial"/>
                <a:cs typeface="Arial"/>
              </a:rPr>
              <a:t>entries </a:t>
            </a:r>
            <a:r>
              <a:rPr sz="1550" spc="15" dirty="0">
                <a:solidFill>
                  <a:srgbClr val="008000"/>
                </a:solidFill>
                <a:latin typeface="Arial"/>
                <a:cs typeface="Arial"/>
              </a:rPr>
              <a:t>are</a:t>
            </a:r>
            <a:r>
              <a:rPr sz="1550" spc="20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008000"/>
                </a:solidFill>
                <a:latin typeface="Arial"/>
                <a:cs typeface="Arial"/>
              </a:rPr>
              <a:t>1/N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42836"/>
            <a:ext cx="6577076" cy="5762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70610" y="5120068"/>
            <a:ext cx="636270" cy="1126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65"/>
              </a:lnSpc>
              <a:tabLst>
                <a:tab pos="450850" algn="l"/>
              </a:tabLst>
            </a:pPr>
            <a:r>
              <a:rPr sz="2400" dirty="0">
                <a:latin typeface="Times New Roman"/>
                <a:cs typeface="Times New Roman"/>
              </a:rPr>
              <a:t>a	=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400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40304" y="5200506"/>
          <a:ext cx="5183503" cy="1072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50">
                <a:tc>
                  <a:txBody>
                    <a:bodyPr/>
                    <a:lstStyle/>
                    <a:p>
                      <a:pPr marL="31750">
                        <a:lnSpc>
                          <a:spcPts val="26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6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0.33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ts val="26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0.24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2600"/>
                        </a:lnSpc>
                        <a:tabLst>
                          <a:tab pos="2059305" algn="l"/>
                        </a:tabLst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0.26	7/33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82">
                <a:tc>
                  <a:txBody>
                    <a:bodyPr/>
                    <a:lstStyle/>
                    <a:p>
                      <a:pPr marL="31750">
                        <a:lnSpc>
                          <a:spcPts val="278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5415" algn="r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0.20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ts val="278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0.20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2780"/>
                        </a:lnSpc>
                        <a:tabLst>
                          <a:tab pos="975360" algn="l"/>
                          <a:tab pos="2059305" algn="l"/>
                        </a:tabLst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0.18	</a:t>
                      </a:r>
                      <a:r>
                        <a:rPr sz="3600" baseline="2314" dirty="0">
                          <a:latin typeface="Times New Roman"/>
                          <a:cs typeface="Times New Roman"/>
                        </a:rPr>
                        <a:t>. . .	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5/33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53">
                <a:tc>
                  <a:txBody>
                    <a:bodyPr/>
                    <a:lstStyle/>
                    <a:p>
                      <a:pPr marL="31750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0.46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ts val="269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0.52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95"/>
                        </a:lnSpc>
                        <a:tabLst>
                          <a:tab pos="1906270" algn="l"/>
                        </a:tabLst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0.56	21/33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022578" y="1314450"/>
            <a:ext cx="2671445" cy="2948305"/>
            <a:chOff x="1022578" y="1314450"/>
            <a:chExt cx="2671445" cy="2948305"/>
          </a:xfrm>
        </p:grpSpPr>
        <p:sp>
          <p:nvSpPr>
            <p:cNvPr id="6" name="object 6"/>
            <p:cNvSpPr/>
            <p:nvPr/>
          </p:nvSpPr>
          <p:spPr>
            <a:xfrm>
              <a:off x="1023873" y="4004817"/>
              <a:ext cx="2476500" cy="257810"/>
            </a:xfrm>
            <a:custGeom>
              <a:avLst/>
              <a:gdLst/>
              <a:ahLst/>
              <a:cxnLst/>
              <a:rect l="l" t="t" r="r" b="b"/>
              <a:pathLst>
                <a:path w="2476500" h="257810">
                  <a:moveTo>
                    <a:pt x="81959" y="49430"/>
                  </a:moveTo>
                  <a:lnTo>
                    <a:pt x="56468" y="61838"/>
                  </a:lnTo>
                  <a:lnTo>
                    <a:pt x="79767" y="77875"/>
                  </a:lnTo>
                  <a:lnTo>
                    <a:pt x="2468117" y="257809"/>
                  </a:lnTo>
                  <a:lnTo>
                    <a:pt x="2474976" y="251840"/>
                  </a:lnTo>
                  <a:lnTo>
                    <a:pt x="2475484" y="243966"/>
                  </a:lnTo>
                  <a:lnTo>
                    <a:pt x="2476118" y="236092"/>
                  </a:lnTo>
                  <a:lnTo>
                    <a:pt x="2470150" y="229234"/>
                  </a:lnTo>
                  <a:lnTo>
                    <a:pt x="2462276" y="228726"/>
                  </a:lnTo>
                  <a:lnTo>
                    <a:pt x="81959" y="49430"/>
                  </a:lnTo>
                  <a:close/>
                </a:path>
                <a:path w="2476500" h="257810">
                  <a:moveTo>
                    <a:pt x="23416" y="73671"/>
                  </a:moveTo>
                  <a:lnTo>
                    <a:pt x="108394" y="132206"/>
                  </a:lnTo>
                  <a:lnTo>
                    <a:pt x="117284" y="130682"/>
                  </a:lnTo>
                  <a:lnTo>
                    <a:pt x="121767" y="124078"/>
                  </a:lnTo>
                  <a:lnTo>
                    <a:pt x="126237" y="117601"/>
                  </a:lnTo>
                  <a:lnTo>
                    <a:pt x="124599" y="108711"/>
                  </a:lnTo>
                  <a:lnTo>
                    <a:pt x="79767" y="77875"/>
                  </a:lnTo>
                  <a:lnTo>
                    <a:pt x="27178" y="73913"/>
                  </a:lnTo>
                  <a:lnTo>
                    <a:pt x="23416" y="73671"/>
                  </a:lnTo>
                  <a:close/>
                </a:path>
                <a:path w="2476500" h="257810">
                  <a:moveTo>
                    <a:pt x="25454" y="45153"/>
                  </a:moveTo>
                  <a:lnTo>
                    <a:pt x="15541" y="49974"/>
                  </a:lnTo>
                  <a:lnTo>
                    <a:pt x="14592" y="50799"/>
                  </a:lnTo>
                  <a:lnTo>
                    <a:pt x="13411" y="66547"/>
                  </a:lnTo>
                  <a:lnTo>
                    <a:pt x="13889" y="67104"/>
                  </a:lnTo>
                  <a:lnTo>
                    <a:pt x="23416" y="73671"/>
                  </a:lnTo>
                  <a:lnTo>
                    <a:pt x="27178" y="73913"/>
                  </a:lnTo>
                  <a:lnTo>
                    <a:pt x="79767" y="77875"/>
                  </a:lnTo>
                  <a:lnTo>
                    <a:pt x="71982" y="72516"/>
                  </a:lnTo>
                  <a:lnTo>
                    <a:pt x="34531" y="72516"/>
                  </a:lnTo>
                  <a:lnTo>
                    <a:pt x="36372" y="48005"/>
                  </a:lnTo>
                  <a:lnTo>
                    <a:pt x="63045" y="48005"/>
                  </a:lnTo>
                  <a:lnTo>
                    <a:pt x="25454" y="45153"/>
                  </a:lnTo>
                  <a:close/>
                </a:path>
                <a:path w="2476500" h="257810">
                  <a:moveTo>
                    <a:pt x="13889" y="67104"/>
                  </a:moveTo>
                  <a:lnTo>
                    <a:pt x="19303" y="73405"/>
                  </a:lnTo>
                  <a:lnTo>
                    <a:pt x="23416" y="73671"/>
                  </a:lnTo>
                  <a:lnTo>
                    <a:pt x="13889" y="67104"/>
                  </a:lnTo>
                  <a:close/>
                </a:path>
                <a:path w="2476500" h="257810">
                  <a:moveTo>
                    <a:pt x="36372" y="48005"/>
                  </a:moveTo>
                  <a:lnTo>
                    <a:pt x="34531" y="72516"/>
                  </a:lnTo>
                  <a:lnTo>
                    <a:pt x="56468" y="61838"/>
                  </a:lnTo>
                  <a:lnTo>
                    <a:pt x="36372" y="48005"/>
                  </a:lnTo>
                  <a:close/>
                </a:path>
                <a:path w="2476500" h="257810">
                  <a:moveTo>
                    <a:pt x="56468" y="61838"/>
                  </a:moveTo>
                  <a:lnTo>
                    <a:pt x="34531" y="72516"/>
                  </a:lnTo>
                  <a:lnTo>
                    <a:pt x="71982" y="72516"/>
                  </a:lnTo>
                  <a:lnTo>
                    <a:pt x="56468" y="61838"/>
                  </a:lnTo>
                  <a:close/>
                </a:path>
                <a:path w="2476500" h="257810">
                  <a:moveTo>
                    <a:pt x="15541" y="49974"/>
                  </a:moveTo>
                  <a:lnTo>
                    <a:pt x="0" y="57530"/>
                  </a:lnTo>
                  <a:lnTo>
                    <a:pt x="13889" y="67104"/>
                  </a:lnTo>
                  <a:lnTo>
                    <a:pt x="13411" y="66547"/>
                  </a:lnTo>
                  <a:lnTo>
                    <a:pt x="14592" y="50799"/>
                  </a:lnTo>
                  <a:lnTo>
                    <a:pt x="15541" y="49974"/>
                  </a:lnTo>
                  <a:close/>
                </a:path>
                <a:path w="2476500" h="257810">
                  <a:moveTo>
                    <a:pt x="63045" y="48005"/>
                  </a:moveTo>
                  <a:lnTo>
                    <a:pt x="36372" y="48005"/>
                  </a:lnTo>
                  <a:lnTo>
                    <a:pt x="56468" y="61838"/>
                  </a:lnTo>
                  <a:lnTo>
                    <a:pt x="81959" y="49430"/>
                  </a:lnTo>
                  <a:lnTo>
                    <a:pt x="63045" y="48005"/>
                  </a:lnTo>
                  <a:close/>
                </a:path>
                <a:path w="2476500" h="257810">
                  <a:moveTo>
                    <a:pt x="21450" y="44830"/>
                  </a:moveTo>
                  <a:lnTo>
                    <a:pt x="15541" y="49974"/>
                  </a:lnTo>
                  <a:lnTo>
                    <a:pt x="25454" y="45153"/>
                  </a:lnTo>
                  <a:lnTo>
                    <a:pt x="21450" y="44830"/>
                  </a:lnTo>
                  <a:close/>
                </a:path>
                <a:path w="2476500" h="257810">
                  <a:moveTo>
                    <a:pt x="118351" y="0"/>
                  </a:moveTo>
                  <a:lnTo>
                    <a:pt x="25454" y="45153"/>
                  </a:lnTo>
                  <a:lnTo>
                    <a:pt x="81959" y="49430"/>
                  </a:lnTo>
                  <a:lnTo>
                    <a:pt x="130860" y="25653"/>
                  </a:lnTo>
                  <a:lnTo>
                    <a:pt x="133807" y="17144"/>
                  </a:lnTo>
                  <a:lnTo>
                    <a:pt x="126911" y="2920"/>
                  </a:lnTo>
                  <a:lnTo>
                    <a:pt x="118351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22578" y="2083942"/>
              <a:ext cx="2378710" cy="2030730"/>
            </a:xfrm>
            <a:custGeom>
              <a:avLst/>
              <a:gdLst/>
              <a:ahLst/>
              <a:cxnLst/>
              <a:rect l="l" t="t" r="r" b="b"/>
              <a:pathLst>
                <a:path w="2378710" h="2030729">
                  <a:moveTo>
                    <a:pt x="996848" y="17145"/>
                  </a:moveTo>
                  <a:lnTo>
                    <a:pt x="994816" y="8382"/>
                  </a:lnTo>
                  <a:lnTo>
                    <a:pt x="981354" y="0"/>
                  </a:lnTo>
                  <a:lnTo>
                    <a:pt x="972591" y="2032"/>
                  </a:lnTo>
                  <a:lnTo>
                    <a:pt x="32105" y="1512900"/>
                  </a:lnTo>
                  <a:lnTo>
                    <a:pt x="33667" y="1458595"/>
                  </a:lnTo>
                  <a:lnTo>
                    <a:pt x="27457" y="1452003"/>
                  </a:lnTo>
                  <a:lnTo>
                    <a:pt x="19570" y="1451737"/>
                  </a:lnTo>
                  <a:lnTo>
                    <a:pt x="11684" y="1451610"/>
                  </a:lnTo>
                  <a:lnTo>
                    <a:pt x="5105" y="1457706"/>
                  </a:lnTo>
                  <a:lnTo>
                    <a:pt x="2133" y="1561007"/>
                  </a:lnTo>
                  <a:lnTo>
                    <a:pt x="0" y="1564386"/>
                  </a:lnTo>
                  <a:lnTo>
                    <a:pt x="1803" y="1572260"/>
                  </a:lnTo>
                  <a:lnTo>
                    <a:pt x="1320" y="1589278"/>
                  </a:lnTo>
                  <a:lnTo>
                    <a:pt x="15989" y="1581531"/>
                  </a:lnTo>
                  <a:lnTo>
                    <a:pt x="16408" y="1581315"/>
                  </a:lnTo>
                  <a:lnTo>
                    <a:pt x="24257" y="1579499"/>
                  </a:lnTo>
                  <a:lnTo>
                    <a:pt x="26454" y="1576006"/>
                  </a:lnTo>
                  <a:lnTo>
                    <a:pt x="117716" y="1527810"/>
                  </a:lnTo>
                  <a:lnTo>
                    <a:pt x="120383" y="1519174"/>
                  </a:lnTo>
                  <a:lnTo>
                    <a:pt x="113017" y="1505204"/>
                  </a:lnTo>
                  <a:lnTo>
                    <a:pt x="104368" y="1502537"/>
                  </a:lnTo>
                  <a:lnTo>
                    <a:pt x="56464" y="1527848"/>
                  </a:lnTo>
                  <a:lnTo>
                    <a:pt x="996848" y="17145"/>
                  </a:lnTo>
                  <a:close/>
                </a:path>
                <a:path w="2378710" h="2030729">
                  <a:moveTo>
                    <a:pt x="2362708" y="1980730"/>
                  </a:moveTo>
                  <a:lnTo>
                    <a:pt x="2352611" y="1985581"/>
                  </a:lnTo>
                  <a:lnTo>
                    <a:pt x="2356637" y="1985899"/>
                  </a:lnTo>
                  <a:lnTo>
                    <a:pt x="2362708" y="1980730"/>
                  </a:lnTo>
                  <a:close/>
                </a:path>
                <a:path w="2378710" h="2030729">
                  <a:moveTo>
                    <a:pt x="2378100" y="1973326"/>
                  </a:moveTo>
                  <a:lnTo>
                    <a:pt x="2364168" y="1963623"/>
                  </a:lnTo>
                  <a:lnTo>
                    <a:pt x="2358923" y="1957451"/>
                  </a:lnTo>
                  <a:lnTo>
                    <a:pt x="2354846" y="1957133"/>
                  </a:lnTo>
                  <a:lnTo>
                    <a:pt x="2270137" y="1898015"/>
                  </a:lnTo>
                  <a:lnTo>
                    <a:pt x="2261260" y="1899666"/>
                  </a:lnTo>
                  <a:lnTo>
                    <a:pt x="2256675" y="1906143"/>
                  </a:lnTo>
                  <a:lnTo>
                    <a:pt x="2252243" y="1912620"/>
                  </a:lnTo>
                  <a:lnTo>
                    <a:pt x="2253767" y="1921510"/>
                  </a:lnTo>
                  <a:lnTo>
                    <a:pt x="2260244" y="1926082"/>
                  </a:lnTo>
                  <a:lnTo>
                    <a:pt x="2298306" y="1952574"/>
                  </a:lnTo>
                  <a:lnTo>
                    <a:pt x="70840" y="1773047"/>
                  </a:lnTo>
                  <a:lnTo>
                    <a:pt x="63957" y="1779016"/>
                  </a:lnTo>
                  <a:lnTo>
                    <a:pt x="62687" y="1794637"/>
                  </a:lnTo>
                  <a:lnTo>
                    <a:pt x="68541" y="1801622"/>
                  </a:lnTo>
                  <a:lnTo>
                    <a:pt x="2296172" y="1981034"/>
                  </a:lnTo>
                  <a:lnTo>
                    <a:pt x="2247150" y="2004568"/>
                  </a:lnTo>
                  <a:lnTo>
                    <a:pt x="2244115" y="2013077"/>
                  </a:lnTo>
                  <a:lnTo>
                    <a:pt x="2250973" y="2027301"/>
                  </a:lnTo>
                  <a:lnTo>
                    <a:pt x="2259482" y="2030349"/>
                  </a:lnTo>
                  <a:lnTo>
                    <a:pt x="2352611" y="1985581"/>
                  </a:lnTo>
                  <a:lnTo>
                    <a:pt x="2358542" y="1982724"/>
                  </a:lnTo>
                  <a:lnTo>
                    <a:pt x="2362708" y="1980730"/>
                  </a:lnTo>
                  <a:lnTo>
                    <a:pt x="2378100" y="19733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95448" y="2023998"/>
              <a:ext cx="1498600" cy="1774825"/>
            </a:xfrm>
            <a:custGeom>
              <a:avLst/>
              <a:gdLst/>
              <a:ahLst/>
              <a:cxnLst/>
              <a:rect l="l" t="t" r="r" b="b"/>
              <a:pathLst>
                <a:path w="1498600" h="1774825">
                  <a:moveTo>
                    <a:pt x="36585" y="43410"/>
                  </a:moveTo>
                  <a:lnTo>
                    <a:pt x="41444" y="71293"/>
                  </a:lnTo>
                  <a:lnTo>
                    <a:pt x="1471167" y="1767586"/>
                  </a:lnTo>
                  <a:lnTo>
                    <a:pt x="1476248" y="1773555"/>
                  </a:lnTo>
                  <a:lnTo>
                    <a:pt x="1485264" y="1774317"/>
                  </a:lnTo>
                  <a:lnTo>
                    <a:pt x="1491234" y="1769237"/>
                  </a:lnTo>
                  <a:lnTo>
                    <a:pt x="1497329" y="1764157"/>
                  </a:lnTo>
                  <a:lnTo>
                    <a:pt x="1498091" y="1755139"/>
                  </a:lnTo>
                  <a:lnTo>
                    <a:pt x="1493012" y="1749170"/>
                  </a:lnTo>
                  <a:lnTo>
                    <a:pt x="63333" y="52932"/>
                  </a:lnTo>
                  <a:lnTo>
                    <a:pt x="36585" y="43410"/>
                  </a:lnTo>
                  <a:close/>
                </a:path>
                <a:path w="1498600" h="1774825">
                  <a:moveTo>
                    <a:pt x="4855" y="27910"/>
                  </a:moveTo>
                  <a:lnTo>
                    <a:pt x="21208" y="121920"/>
                  </a:lnTo>
                  <a:lnTo>
                    <a:pt x="22606" y="129666"/>
                  </a:lnTo>
                  <a:lnTo>
                    <a:pt x="29971" y="134874"/>
                  </a:lnTo>
                  <a:lnTo>
                    <a:pt x="37718" y="133603"/>
                  </a:lnTo>
                  <a:lnTo>
                    <a:pt x="45593" y="132206"/>
                  </a:lnTo>
                  <a:lnTo>
                    <a:pt x="50673" y="124840"/>
                  </a:lnTo>
                  <a:lnTo>
                    <a:pt x="49402" y="116966"/>
                  </a:lnTo>
                  <a:lnTo>
                    <a:pt x="41444" y="71293"/>
                  </a:lnTo>
                  <a:lnTo>
                    <a:pt x="7365" y="30861"/>
                  </a:lnTo>
                  <a:lnTo>
                    <a:pt x="4855" y="27910"/>
                  </a:lnTo>
                  <a:close/>
                </a:path>
                <a:path w="1498600" h="1774825">
                  <a:moveTo>
                    <a:pt x="15112" y="5714"/>
                  </a:moveTo>
                  <a:lnTo>
                    <a:pt x="9143" y="10795"/>
                  </a:lnTo>
                  <a:lnTo>
                    <a:pt x="3048" y="15875"/>
                  </a:lnTo>
                  <a:lnTo>
                    <a:pt x="2954" y="16983"/>
                  </a:lnTo>
                  <a:lnTo>
                    <a:pt x="4855" y="27910"/>
                  </a:lnTo>
                  <a:lnTo>
                    <a:pt x="7365" y="30861"/>
                  </a:lnTo>
                  <a:lnTo>
                    <a:pt x="41444" y="71293"/>
                  </a:lnTo>
                  <a:lnTo>
                    <a:pt x="36585" y="43410"/>
                  </a:lnTo>
                  <a:lnTo>
                    <a:pt x="13462" y="35178"/>
                  </a:lnTo>
                  <a:lnTo>
                    <a:pt x="32384" y="19303"/>
                  </a:lnTo>
                  <a:lnTo>
                    <a:pt x="34990" y="19303"/>
                  </a:lnTo>
                  <a:lnTo>
                    <a:pt x="29209" y="12446"/>
                  </a:lnTo>
                  <a:lnTo>
                    <a:pt x="26717" y="9516"/>
                  </a:lnTo>
                  <a:lnTo>
                    <a:pt x="16333" y="5818"/>
                  </a:lnTo>
                  <a:lnTo>
                    <a:pt x="15112" y="5714"/>
                  </a:lnTo>
                  <a:close/>
                </a:path>
                <a:path w="1498600" h="1774825">
                  <a:moveTo>
                    <a:pt x="26717" y="9516"/>
                  </a:moveTo>
                  <a:lnTo>
                    <a:pt x="29209" y="12446"/>
                  </a:lnTo>
                  <a:lnTo>
                    <a:pt x="63333" y="52932"/>
                  </a:lnTo>
                  <a:lnTo>
                    <a:pt x="114426" y="71120"/>
                  </a:lnTo>
                  <a:lnTo>
                    <a:pt x="122555" y="67183"/>
                  </a:lnTo>
                  <a:lnTo>
                    <a:pt x="125221" y="59816"/>
                  </a:lnTo>
                  <a:lnTo>
                    <a:pt x="127888" y="52324"/>
                  </a:lnTo>
                  <a:lnTo>
                    <a:pt x="123951" y="44196"/>
                  </a:lnTo>
                  <a:lnTo>
                    <a:pt x="26717" y="9516"/>
                  </a:lnTo>
                  <a:close/>
                </a:path>
                <a:path w="1498600" h="1774825">
                  <a:moveTo>
                    <a:pt x="34990" y="19303"/>
                  </a:moveTo>
                  <a:lnTo>
                    <a:pt x="32384" y="19303"/>
                  </a:lnTo>
                  <a:lnTo>
                    <a:pt x="36585" y="43410"/>
                  </a:lnTo>
                  <a:lnTo>
                    <a:pt x="63333" y="52932"/>
                  </a:lnTo>
                  <a:lnTo>
                    <a:pt x="34990" y="19303"/>
                  </a:lnTo>
                  <a:close/>
                </a:path>
                <a:path w="1498600" h="1774825">
                  <a:moveTo>
                    <a:pt x="32384" y="19303"/>
                  </a:moveTo>
                  <a:lnTo>
                    <a:pt x="13462" y="35178"/>
                  </a:lnTo>
                  <a:lnTo>
                    <a:pt x="36585" y="43410"/>
                  </a:lnTo>
                  <a:lnTo>
                    <a:pt x="32384" y="19303"/>
                  </a:lnTo>
                  <a:close/>
                </a:path>
                <a:path w="1498600" h="1774825">
                  <a:moveTo>
                    <a:pt x="2954" y="16983"/>
                  </a:moveTo>
                  <a:lnTo>
                    <a:pt x="2286" y="24891"/>
                  </a:lnTo>
                  <a:lnTo>
                    <a:pt x="4855" y="27910"/>
                  </a:lnTo>
                  <a:lnTo>
                    <a:pt x="2954" y="16983"/>
                  </a:lnTo>
                  <a:close/>
                </a:path>
                <a:path w="1498600" h="1774825">
                  <a:moveTo>
                    <a:pt x="0" y="0"/>
                  </a:moveTo>
                  <a:lnTo>
                    <a:pt x="2954" y="16983"/>
                  </a:lnTo>
                  <a:lnTo>
                    <a:pt x="3048" y="15875"/>
                  </a:lnTo>
                  <a:lnTo>
                    <a:pt x="9143" y="10795"/>
                  </a:lnTo>
                  <a:lnTo>
                    <a:pt x="15112" y="5714"/>
                  </a:lnTo>
                  <a:lnTo>
                    <a:pt x="16043" y="5714"/>
                  </a:lnTo>
                  <a:lnTo>
                    <a:pt x="0" y="0"/>
                  </a:lnTo>
                  <a:close/>
                </a:path>
                <a:path w="1498600" h="1774825">
                  <a:moveTo>
                    <a:pt x="16333" y="5818"/>
                  </a:moveTo>
                  <a:lnTo>
                    <a:pt x="26717" y="9516"/>
                  </a:lnTo>
                  <a:lnTo>
                    <a:pt x="24130" y="6476"/>
                  </a:lnTo>
                  <a:lnTo>
                    <a:pt x="16333" y="5818"/>
                  </a:lnTo>
                  <a:close/>
                </a:path>
                <a:path w="1498600" h="1774825">
                  <a:moveTo>
                    <a:pt x="16043" y="5714"/>
                  </a:moveTo>
                  <a:lnTo>
                    <a:pt x="15112" y="5714"/>
                  </a:lnTo>
                  <a:lnTo>
                    <a:pt x="16333" y="5818"/>
                  </a:lnTo>
                  <a:lnTo>
                    <a:pt x="16043" y="5714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49322" y="1314450"/>
              <a:ext cx="573405" cy="530860"/>
            </a:xfrm>
            <a:custGeom>
              <a:avLst/>
              <a:gdLst/>
              <a:ahLst/>
              <a:cxnLst/>
              <a:rect l="l" t="t" r="r" b="b"/>
              <a:pathLst>
                <a:path w="573405" h="530860">
                  <a:moveTo>
                    <a:pt x="416366" y="28575"/>
                  </a:moveTo>
                  <a:lnTo>
                    <a:pt x="306704" y="28575"/>
                  </a:lnTo>
                  <a:lnTo>
                    <a:pt x="317626" y="28955"/>
                  </a:lnTo>
                  <a:lnTo>
                    <a:pt x="328549" y="29845"/>
                  </a:lnTo>
                  <a:lnTo>
                    <a:pt x="371982" y="40004"/>
                  </a:lnTo>
                  <a:lnTo>
                    <a:pt x="413384" y="59182"/>
                  </a:lnTo>
                  <a:lnTo>
                    <a:pt x="451993" y="86233"/>
                  </a:lnTo>
                  <a:lnTo>
                    <a:pt x="485647" y="119761"/>
                  </a:lnTo>
                  <a:lnTo>
                    <a:pt x="512952" y="157987"/>
                  </a:lnTo>
                  <a:lnTo>
                    <a:pt x="532510" y="199771"/>
                  </a:lnTo>
                  <a:lnTo>
                    <a:pt x="542936" y="242950"/>
                  </a:lnTo>
                  <a:lnTo>
                    <a:pt x="544321" y="264795"/>
                  </a:lnTo>
                  <a:lnTo>
                    <a:pt x="544068" y="275463"/>
                  </a:lnTo>
                  <a:lnTo>
                    <a:pt x="536956" y="319277"/>
                  </a:lnTo>
                  <a:lnTo>
                    <a:pt x="516254" y="371601"/>
                  </a:lnTo>
                  <a:lnTo>
                    <a:pt x="491616" y="409955"/>
                  </a:lnTo>
                  <a:lnTo>
                    <a:pt x="461263" y="443484"/>
                  </a:lnTo>
                  <a:lnTo>
                    <a:pt x="426465" y="470535"/>
                  </a:lnTo>
                  <a:lnTo>
                    <a:pt x="388746" y="489965"/>
                  </a:lnTo>
                  <a:lnTo>
                    <a:pt x="350012" y="500125"/>
                  </a:lnTo>
                  <a:lnTo>
                    <a:pt x="321563" y="501776"/>
                  </a:lnTo>
                  <a:lnTo>
                    <a:pt x="315468" y="508380"/>
                  </a:lnTo>
                  <a:lnTo>
                    <a:pt x="315975" y="524128"/>
                  </a:lnTo>
                  <a:lnTo>
                    <a:pt x="322579" y="530351"/>
                  </a:lnTo>
                  <a:lnTo>
                    <a:pt x="341249" y="529716"/>
                  </a:lnTo>
                  <a:lnTo>
                    <a:pt x="387095" y="520826"/>
                  </a:lnTo>
                  <a:lnTo>
                    <a:pt x="440816" y="495300"/>
                  </a:lnTo>
                  <a:lnTo>
                    <a:pt x="479678" y="465200"/>
                  </a:lnTo>
                  <a:lnTo>
                    <a:pt x="513460" y="428244"/>
                  </a:lnTo>
                  <a:lnTo>
                    <a:pt x="540893" y="386079"/>
                  </a:lnTo>
                  <a:lnTo>
                    <a:pt x="560704" y="339725"/>
                  </a:lnTo>
                  <a:lnTo>
                    <a:pt x="571372" y="290449"/>
                  </a:lnTo>
                  <a:lnTo>
                    <a:pt x="572896" y="265429"/>
                  </a:lnTo>
                  <a:lnTo>
                    <a:pt x="572515" y="252857"/>
                  </a:lnTo>
                  <a:lnTo>
                    <a:pt x="563626" y="203073"/>
                  </a:lnTo>
                  <a:lnTo>
                    <a:pt x="550037" y="167259"/>
                  </a:lnTo>
                  <a:lnTo>
                    <a:pt x="524256" y="122809"/>
                  </a:lnTo>
                  <a:lnTo>
                    <a:pt x="490474" y="82930"/>
                  </a:lnTo>
                  <a:lnTo>
                    <a:pt x="450595" y="49275"/>
                  </a:lnTo>
                  <a:lnTo>
                    <a:pt x="428878" y="35178"/>
                  </a:lnTo>
                  <a:lnTo>
                    <a:pt x="416366" y="28575"/>
                  </a:lnTo>
                  <a:close/>
                </a:path>
                <a:path w="573405" h="530860">
                  <a:moveTo>
                    <a:pt x="48420" y="227508"/>
                  </a:moveTo>
                  <a:lnTo>
                    <a:pt x="55625" y="242950"/>
                  </a:lnTo>
                  <a:lnTo>
                    <a:pt x="64781" y="230124"/>
                  </a:lnTo>
                  <a:lnTo>
                    <a:pt x="63626" y="230124"/>
                  </a:lnTo>
                  <a:lnTo>
                    <a:pt x="55879" y="228853"/>
                  </a:lnTo>
                  <a:lnTo>
                    <a:pt x="48420" y="227508"/>
                  </a:lnTo>
                  <a:close/>
                </a:path>
                <a:path w="573405" h="530860">
                  <a:moveTo>
                    <a:pt x="54985" y="173878"/>
                  </a:moveTo>
                  <a:lnTo>
                    <a:pt x="51053" y="184912"/>
                  </a:lnTo>
                  <a:lnTo>
                    <a:pt x="47625" y="196087"/>
                  </a:lnTo>
                  <a:lnTo>
                    <a:pt x="44957" y="207645"/>
                  </a:lnTo>
                  <a:lnTo>
                    <a:pt x="44195" y="212344"/>
                  </a:lnTo>
                  <a:lnTo>
                    <a:pt x="43401" y="216750"/>
                  </a:lnTo>
                  <a:lnTo>
                    <a:pt x="48420" y="227508"/>
                  </a:lnTo>
                  <a:lnTo>
                    <a:pt x="55879" y="228853"/>
                  </a:lnTo>
                  <a:lnTo>
                    <a:pt x="63626" y="230124"/>
                  </a:lnTo>
                  <a:lnTo>
                    <a:pt x="65956" y="228477"/>
                  </a:lnTo>
                  <a:lnTo>
                    <a:pt x="71818" y="220264"/>
                  </a:lnTo>
                  <a:lnTo>
                    <a:pt x="72436" y="216750"/>
                  </a:lnTo>
                  <a:lnTo>
                    <a:pt x="72897" y="213867"/>
                  </a:lnTo>
                  <a:lnTo>
                    <a:pt x="74078" y="208661"/>
                  </a:lnTo>
                  <a:lnTo>
                    <a:pt x="71246" y="208661"/>
                  </a:lnTo>
                  <a:lnTo>
                    <a:pt x="46608" y="206375"/>
                  </a:lnTo>
                  <a:lnTo>
                    <a:pt x="60850" y="186423"/>
                  </a:lnTo>
                  <a:lnTo>
                    <a:pt x="54985" y="173878"/>
                  </a:lnTo>
                  <a:close/>
                </a:path>
                <a:path w="573405" h="530860">
                  <a:moveTo>
                    <a:pt x="65956" y="228477"/>
                  </a:moveTo>
                  <a:lnTo>
                    <a:pt x="63626" y="230124"/>
                  </a:lnTo>
                  <a:lnTo>
                    <a:pt x="64781" y="230124"/>
                  </a:lnTo>
                  <a:lnTo>
                    <a:pt x="65956" y="228477"/>
                  </a:lnTo>
                  <a:close/>
                </a:path>
                <a:path w="573405" h="530860">
                  <a:moveTo>
                    <a:pt x="71818" y="220264"/>
                  </a:moveTo>
                  <a:lnTo>
                    <a:pt x="65956" y="228477"/>
                  </a:lnTo>
                  <a:lnTo>
                    <a:pt x="70993" y="224916"/>
                  </a:lnTo>
                  <a:lnTo>
                    <a:pt x="71818" y="220264"/>
                  </a:lnTo>
                  <a:close/>
                </a:path>
                <a:path w="573405" h="530860">
                  <a:moveTo>
                    <a:pt x="43401" y="216750"/>
                  </a:moveTo>
                  <a:lnTo>
                    <a:pt x="42799" y="220090"/>
                  </a:lnTo>
                  <a:lnTo>
                    <a:pt x="48132" y="227457"/>
                  </a:lnTo>
                  <a:lnTo>
                    <a:pt x="48420" y="227508"/>
                  </a:lnTo>
                  <a:lnTo>
                    <a:pt x="43401" y="216750"/>
                  </a:lnTo>
                  <a:close/>
                </a:path>
                <a:path w="573405" h="530860">
                  <a:moveTo>
                    <a:pt x="120991" y="120032"/>
                  </a:moveTo>
                  <a:lnTo>
                    <a:pt x="89662" y="166115"/>
                  </a:lnTo>
                  <a:lnTo>
                    <a:pt x="75056" y="204342"/>
                  </a:lnTo>
                  <a:lnTo>
                    <a:pt x="72389" y="217042"/>
                  </a:lnTo>
                  <a:lnTo>
                    <a:pt x="71818" y="220264"/>
                  </a:lnTo>
                  <a:lnTo>
                    <a:pt x="127507" y="142239"/>
                  </a:lnTo>
                  <a:lnTo>
                    <a:pt x="132079" y="135762"/>
                  </a:lnTo>
                  <a:lnTo>
                    <a:pt x="130556" y="126873"/>
                  </a:lnTo>
                  <a:lnTo>
                    <a:pt x="124206" y="122300"/>
                  </a:lnTo>
                  <a:lnTo>
                    <a:pt x="120991" y="120032"/>
                  </a:lnTo>
                  <a:close/>
                </a:path>
                <a:path w="573405" h="530860">
                  <a:moveTo>
                    <a:pt x="17399" y="108458"/>
                  </a:moveTo>
                  <a:lnTo>
                    <a:pt x="3047" y="115188"/>
                  </a:lnTo>
                  <a:lnTo>
                    <a:pt x="0" y="123698"/>
                  </a:lnTo>
                  <a:lnTo>
                    <a:pt x="3361" y="130937"/>
                  </a:lnTo>
                  <a:lnTo>
                    <a:pt x="43401" y="216750"/>
                  </a:lnTo>
                  <a:lnTo>
                    <a:pt x="44195" y="212344"/>
                  </a:lnTo>
                  <a:lnTo>
                    <a:pt x="44957" y="207645"/>
                  </a:lnTo>
                  <a:lnTo>
                    <a:pt x="47625" y="196087"/>
                  </a:lnTo>
                  <a:lnTo>
                    <a:pt x="51053" y="184912"/>
                  </a:lnTo>
                  <a:lnTo>
                    <a:pt x="54978" y="173862"/>
                  </a:lnTo>
                  <a:lnTo>
                    <a:pt x="29209" y="118745"/>
                  </a:lnTo>
                  <a:lnTo>
                    <a:pt x="25907" y="111633"/>
                  </a:lnTo>
                  <a:lnTo>
                    <a:pt x="17399" y="108458"/>
                  </a:lnTo>
                  <a:close/>
                </a:path>
                <a:path w="573405" h="530860">
                  <a:moveTo>
                    <a:pt x="60850" y="186423"/>
                  </a:moveTo>
                  <a:lnTo>
                    <a:pt x="46608" y="206375"/>
                  </a:lnTo>
                  <a:lnTo>
                    <a:pt x="71246" y="208661"/>
                  </a:lnTo>
                  <a:lnTo>
                    <a:pt x="60850" y="186423"/>
                  </a:lnTo>
                  <a:close/>
                </a:path>
                <a:path w="573405" h="530860">
                  <a:moveTo>
                    <a:pt x="117728" y="117728"/>
                  </a:moveTo>
                  <a:lnTo>
                    <a:pt x="108838" y="119125"/>
                  </a:lnTo>
                  <a:lnTo>
                    <a:pt x="104266" y="125602"/>
                  </a:lnTo>
                  <a:lnTo>
                    <a:pt x="60850" y="186423"/>
                  </a:lnTo>
                  <a:lnTo>
                    <a:pt x="71246" y="208661"/>
                  </a:lnTo>
                  <a:lnTo>
                    <a:pt x="74078" y="208661"/>
                  </a:lnTo>
                  <a:lnTo>
                    <a:pt x="75056" y="204342"/>
                  </a:lnTo>
                  <a:lnTo>
                    <a:pt x="77850" y="194563"/>
                  </a:lnTo>
                  <a:lnTo>
                    <a:pt x="100329" y="147574"/>
                  </a:lnTo>
                  <a:lnTo>
                    <a:pt x="120991" y="120032"/>
                  </a:lnTo>
                  <a:lnTo>
                    <a:pt x="117728" y="117728"/>
                  </a:lnTo>
                  <a:close/>
                </a:path>
                <a:path w="573405" h="530860">
                  <a:moveTo>
                    <a:pt x="307594" y="0"/>
                  </a:moveTo>
                  <a:lnTo>
                    <a:pt x="257682" y="5334"/>
                  </a:lnTo>
                  <a:lnTo>
                    <a:pt x="209931" y="20447"/>
                  </a:lnTo>
                  <a:lnTo>
                    <a:pt x="165100" y="44196"/>
                  </a:lnTo>
                  <a:lnTo>
                    <a:pt x="125094" y="74802"/>
                  </a:lnTo>
                  <a:lnTo>
                    <a:pt x="91185" y="110998"/>
                  </a:lnTo>
                  <a:lnTo>
                    <a:pt x="64896" y="151891"/>
                  </a:lnTo>
                  <a:lnTo>
                    <a:pt x="54985" y="173878"/>
                  </a:lnTo>
                  <a:lnTo>
                    <a:pt x="60850" y="186423"/>
                  </a:lnTo>
                  <a:lnTo>
                    <a:pt x="104266" y="125602"/>
                  </a:lnTo>
                  <a:lnTo>
                    <a:pt x="108838" y="119125"/>
                  </a:lnTo>
                  <a:lnTo>
                    <a:pt x="117728" y="117728"/>
                  </a:lnTo>
                  <a:lnTo>
                    <a:pt x="122951" y="117728"/>
                  </a:lnTo>
                  <a:lnTo>
                    <a:pt x="127381" y="112522"/>
                  </a:lnTo>
                  <a:lnTo>
                    <a:pt x="143382" y="96647"/>
                  </a:lnTo>
                  <a:lnTo>
                    <a:pt x="179577" y="68834"/>
                  </a:lnTo>
                  <a:lnTo>
                    <a:pt x="219837" y="47371"/>
                  </a:lnTo>
                  <a:lnTo>
                    <a:pt x="262889" y="33527"/>
                  </a:lnTo>
                  <a:lnTo>
                    <a:pt x="306704" y="28575"/>
                  </a:lnTo>
                  <a:lnTo>
                    <a:pt x="416366" y="28575"/>
                  </a:lnTo>
                  <a:lnTo>
                    <a:pt x="406019" y="23113"/>
                  </a:lnTo>
                  <a:lnTo>
                    <a:pt x="370077" y="9398"/>
                  </a:lnTo>
                  <a:lnTo>
                    <a:pt x="332739" y="1524"/>
                  </a:lnTo>
                  <a:lnTo>
                    <a:pt x="320294" y="380"/>
                  </a:lnTo>
                  <a:lnTo>
                    <a:pt x="307594" y="0"/>
                  </a:lnTo>
                  <a:close/>
                </a:path>
                <a:path w="573405" h="530860">
                  <a:moveTo>
                    <a:pt x="122951" y="117728"/>
                  </a:moveTo>
                  <a:lnTo>
                    <a:pt x="117728" y="117728"/>
                  </a:lnTo>
                  <a:lnTo>
                    <a:pt x="120991" y="120032"/>
                  </a:lnTo>
                  <a:lnTo>
                    <a:pt x="122951" y="117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6874" y="1523936"/>
              <a:ext cx="652462" cy="65246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8299" y="1485836"/>
              <a:ext cx="719137" cy="84296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24024" y="1552575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525" y="0"/>
                  </a:moveTo>
                  <a:lnTo>
                    <a:pt x="222711" y="4373"/>
                  </a:lnTo>
                  <a:lnTo>
                    <a:pt x="176770" y="16982"/>
                  </a:lnTo>
                  <a:lnTo>
                    <a:pt x="134469" y="37060"/>
                  </a:lnTo>
                  <a:lnTo>
                    <a:pt x="96574" y="63839"/>
                  </a:lnTo>
                  <a:lnTo>
                    <a:pt x="63850" y="96552"/>
                  </a:lnTo>
                  <a:lnTo>
                    <a:pt x="37065" y="134431"/>
                  </a:lnTo>
                  <a:lnTo>
                    <a:pt x="16984" y="176711"/>
                  </a:lnTo>
                  <a:lnTo>
                    <a:pt x="4373" y="222622"/>
                  </a:lnTo>
                  <a:lnTo>
                    <a:pt x="0" y="271399"/>
                  </a:lnTo>
                  <a:lnTo>
                    <a:pt x="4373" y="320213"/>
                  </a:lnTo>
                  <a:lnTo>
                    <a:pt x="16984" y="366154"/>
                  </a:lnTo>
                  <a:lnTo>
                    <a:pt x="37065" y="408455"/>
                  </a:lnTo>
                  <a:lnTo>
                    <a:pt x="63850" y="446350"/>
                  </a:lnTo>
                  <a:lnTo>
                    <a:pt x="96574" y="479074"/>
                  </a:lnTo>
                  <a:lnTo>
                    <a:pt x="134469" y="505859"/>
                  </a:lnTo>
                  <a:lnTo>
                    <a:pt x="176770" y="525940"/>
                  </a:lnTo>
                  <a:lnTo>
                    <a:pt x="222711" y="538551"/>
                  </a:lnTo>
                  <a:lnTo>
                    <a:pt x="271525" y="542925"/>
                  </a:lnTo>
                  <a:lnTo>
                    <a:pt x="320302" y="538551"/>
                  </a:lnTo>
                  <a:lnTo>
                    <a:pt x="366213" y="525940"/>
                  </a:lnTo>
                  <a:lnTo>
                    <a:pt x="408493" y="505859"/>
                  </a:lnTo>
                  <a:lnTo>
                    <a:pt x="446372" y="479074"/>
                  </a:lnTo>
                  <a:lnTo>
                    <a:pt x="479085" y="446350"/>
                  </a:lnTo>
                  <a:lnTo>
                    <a:pt x="505864" y="408455"/>
                  </a:lnTo>
                  <a:lnTo>
                    <a:pt x="525942" y="366154"/>
                  </a:lnTo>
                  <a:lnTo>
                    <a:pt x="538551" y="320213"/>
                  </a:lnTo>
                  <a:lnTo>
                    <a:pt x="542925" y="271399"/>
                  </a:lnTo>
                  <a:lnTo>
                    <a:pt x="538551" y="222622"/>
                  </a:lnTo>
                  <a:lnTo>
                    <a:pt x="525942" y="176711"/>
                  </a:lnTo>
                  <a:lnTo>
                    <a:pt x="505864" y="134431"/>
                  </a:lnTo>
                  <a:lnTo>
                    <a:pt x="479085" y="96552"/>
                  </a:lnTo>
                  <a:lnTo>
                    <a:pt x="446372" y="63839"/>
                  </a:lnTo>
                  <a:lnTo>
                    <a:pt x="408493" y="37060"/>
                  </a:lnTo>
                  <a:lnTo>
                    <a:pt x="366213" y="16982"/>
                  </a:lnTo>
                  <a:lnTo>
                    <a:pt x="320302" y="4373"/>
                  </a:lnTo>
                  <a:lnTo>
                    <a:pt x="2715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93570" y="1593468"/>
            <a:ext cx="22225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7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7200" y="3524186"/>
            <a:ext cx="728980" cy="843280"/>
            <a:chOff x="457200" y="3524186"/>
            <a:chExt cx="728980" cy="84328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" y="3562286"/>
              <a:ext cx="652462" cy="65246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524186"/>
              <a:ext cx="728662" cy="84296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52450" y="3590924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462" y="0"/>
                  </a:moveTo>
                  <a:lnTo>
                    <a:pt x="222667" y="4373"/>
                  </a:lnTo>
                  <a:lnTo>
                    <a:pt x="176740" y="16982"/>
                  </a:lnTo>
                  <a:lnTo>
                    <a:pt x="134450" y="37060"/>
                  </a:lnTo>
                  <a:lnTo>
                    <a:pt x="96563" y="63839"/>
                  </a:lnTo>
                  <a:lnTo>
                    <a:pt x="63844" y="96552"/>
                  </a:lnTo>
                  <a:lnTo>
                    <a:pt x="37062" y="134431"/>
                  </a:lnTo>
                  <a:lnTo>
                    <a:pt x="16983" y="176711"/>
                  </a:lnTo>
                  <a:lnTo>
                    <a:pt x="4373" y="222622"/>
                  </a:lnTo>
                  <a:lnTo>
                    <a:pt x="0" y="271399"/>
                  </a:lnTo>
                  <a:lnTo>
                    <a:pt x="4373" y="320213"/>
                  </a:lnTo>
                  <a:lnTo>
                    <a:pt x="16983" y="366154"/>
                  </a:lnTo>
                  <a:lnTo>
                    <a:pt x="37062" y="408455"/>
                  </a:lnTo>
                  <a:lnTo>
                    <a:pt x="63844" y="446350"/>
                  </a:lnTo>
                  <a:lnTo>
                    <a:pt x="96563" y="479074"/>
                  </a:lnTo>
                  <a:lnTo>
                    <a:pt x="134450" y="505859"/>
                  </a:lnTo>
                  <a:lnTo>
                    <a:pt x="176740" y="525940"/>
                  </a:lnTo>
                  <a:lnTo>
                    <a:pt x="222667" y="538551"/>
                  </a:lnTo>
                  <a:lnTo>
                    <a:pt x="271462" y="542925"/>
                  </a:lnTo>
                  <a:lnTo>
                    <a:pt x="320257" y="538551"/>
                  </a:lnTo>
                  <a:lnTo>
                    <a:pt x="366184" y="525940"/>
                  </a:lnTo>
                  <a:lnTo>
                    <a:pt x="408474" y="505859"/>
                  </a:lnTo>
                  <a:lnTo>
                    <a:pt x="446361" y="479074"/>
                  </a:lnTo>
                  <a:lnTo>
                    <a:pt x="479080" y="446350"/>
                  </a:lnTo>
                  <a:lnTo>
                    <a:pt x="505862" y="408455"/>
                  </a:lnTo>
                  <a:lnTo>
                    <a:pt x="525941" y="366154"/>
                  </a:lnTo>
                  <a:lnTo>
                    <a:pt x="538551" y="320213"/>
                  </a:lnTo>
                  <a:lnTo>
                    <a:pt x="542925" y="271399"/>
                  </a:lnTo>
                  <a:lnTo>
                    <a:pt x="538551" y="222622"/>
                  </a:lnTo>
                  <a:lnTo>
                    <a:pt x="525941" y="176711"/>
                  </a:lnTo>
                  <a:lnTo>
                    <a:pt x="505862" y="134431"/>
                  </a:lnTo>
                  <a:lnTo>
                    <a:pt x="479080" y="96552"/>
                  </a:lnTo>
                  <a:lnTo>
                    <a:pt x="446361" y="63839"/>
                  </a:lnTo>
                  <a:lnTo>
                    <a:pt x="408474" y="37060"/>
                  </a:lnTo>
                  <a:lnTo>
                    <a:pt x="366184" y="16982"/>
                  </a:lnTo>
                  <a:lnTo>
                    <a:pt x="320257" y="4373"/>
                  </a:lnTo>
                  <a:lnTo>
                    <a:pt x="27146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09612" y="3634994"/>
            <a:ext cx="22225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7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47976" y="2084197"/>
            <a:ext cx="2343150" cy="2473960"/>
            <a:chOff x="1847976" y="2084197"/>
            <a:chExt cx="2343150" cy="247396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3274" y="3752786"/>
              <a:ext cx="652462" cy="65246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8024" y="3714686"/>
              <a:ext cx="842962" cy="84296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47976" y="2084197"/>
              <a:ext cx="2343023" cy="229588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506215" y="3820414"/>
            <a:ext cx="33972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7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77444" y="2023998"/>
            <a:ext cx="1536700" cy="2691130"/>
            <a:chOff x="277444" y="2023998"/>
            <a:chExt cx="1536700" cy="2691130"/>
          </a:xfrm>
        </p:grpSpPr>
        <p:sp>
          <p:nvSpPr>
            <p:cNvPr id="25" name="object 25"/>
            <p:cNvSpPr/>
            <p:nvPr/>
          </p:nvSpPr>
          <p:spPr>
            <a:xfrm>
              <a:off x="277444" y="2023998"/>
              <a:ext cx="1536700" cy="2691130"/>
            </a:xfrm>
            <a:custGeom>
              <a:avLst/>
              <a:gdLst/>
              <a:ahLst/>
              <a:cxnLst/>
              <a:rect l="l" t="t" r="r" b="b"/>
              <a:pathLst>
                <a:path w="1536700" h="2691129">
                  <a:moveTo>
                    <a:pt x="121805" y="2360803"/>
                  </a:moveTo>
                  <a:lnTo>
                    <a:pt x="117906" y="2357501"/>
                  </a:lnTo>
                  <a:lnTo>
                    <a:pt x="111937" y="2352421"/>
                  </a:lnTo>
                  <a:lnTo>
                    <a:pt x="106121" y="2354465"/>
                  </a:lnTo>
                  <a:lnTo>
                    <a:pt x="99555" y="2356015"/>
                  </a:lnTo>
                  <a:lnTo>
                    <a:pt x="92240" y="2357031"/>
                  </a:lnTo>
                  <a:lnTo>
                    <a:pt x="84162" y="2357501"/>
                  </a:lnTo>
                  <a:lnTo>
                    <a:pt x="75628" y="2357361"/>
                  </a:lnTo>
                  <a:lnTo>
                    <a:pt x="66979" y="2356574"/>
                  </a:lnTo>
                  <a:lnTo>
                    <a:pt x="58191" y="2355126"/>
                  </a:lnTo>
                  <a:lnTo>
                    <a:pt x="49276" y="2353056"/>
                  </a:lnTo>
                  <a:lnTo>
                    <a:pt x="36690" y="2367788"/>
                  </a:lnTo>
                  <a:lnTo>
                    <a:pt x="76314" y="2375789"/>
                  </a:lnTo>
                  <a:lnTo>
                    <a:pt x="82994" y="2375408"/>
                  </a:lnTo>
                  <a:lnTo>
                    <a:pt x="0" y="2472944"/>
                  </a:lnTo>
                  <a:lnTo>
                    <a:pt x="15303" y="2485898"/>
                  </a:lnTo>
                  <a:lnTo>
                    <a:pt x="109359" y="2375408"/>
                  </a:lnTo>
                  <a:lnTo>
                    <a:pt x="121805" y="2360803"/>
                  </a:lnTo>
                  <a:close/>
                </a:path>
                <a:path w="1536700" h="2691129">
                  <a:moveTo>
                    <a:pt x="200977" y="2425446"/>
                  </a:moveTo>
                  <a:lnTo>
                    <a:pt x="188734" y="2415032"/>
                  </a:lnTo>
                  <a:lnTo>
                    <a:pt x="42926" y="2513076"/>
                  </a:lnTo>
                  <a:lnTo>
                    <a:pt x="55257" y="2523617"/>
                  </a:lnTo>
                  <a:lnTo>
                    <a:pt x="200977" y="2425446"/>
                  </a:lnTo>
                  <a:close/>
                </a:path>
                <a:path w="1536700" h="2691129">
                  <a:moveTo>
                    <a:pt x="266865" y="2484247"/>
                  </a:moveTo>
                  <a:lnTo>
                    <a:pt x="262978" y="2480945"/>
                  </a:lnTo>
                  <a:lnTo>
                    <a:pt x="257009" y="2475865"/>
                  </a:lnTo>
                  <a:lnTo>
                    <a:pt x="251193" y="2477973"/>
                  </a:lnTo>
                  <a:lnTo>
                    <a:pt x="244614" y="2479510"/>
                  </a:lnTo>
                  <a:lnTo>
                    <a:pt x="237299" y="2480500"/>
                  </a:lnTo>
                  <a:lnTo>
                    <a:pt x="229222" y="2480945"/>
                  </a:lnTo>
                  <a:lnTo>
                    <a:pt x="220700" y="2480830"/>
                  </a:lnTo>
                  <a:lnTo>
                    <a:pt x="212051" y="2480056"/>
                  </a:lnTo>
                  <a:lnTo>
                    <a:pt x="203263" y="2478633"/>
                  </a:lnTo>
                  <a:lnTo>
                    <a:pt x="194348" y="2476500"/>
                  </a:lnTo>
                  <a:lnTo>
                    <a:pt x="181749" y="2491232"/>
                  </a:lnTo>
                  <a:lnTo>
                    <a:pt x="188010" y="2493518"/>
                  </a:lnTo>
                  <a:lnTo>
                    <a:pt x="195618" y="2495550"/>
                  </a:lnTo>
                  <a:lnTo>
                    <a:pt x="213563" y="2498598"/>
                  </a:lnTo>
                  <a:lnTo>
                    <a:pt x="221373" y="2499233"/>
                  </a:lnTo>
                  <a:lnTo>
                    <a:pt x="228053" y="2498852"/>
                  </a:lnTo>
                  <a:lnTo>
                    <a:pt x="145072" y="2596388"/>
                  </a:lnTo>
                  <a:lnTo>
                    <a:pt x="160362" y="2609342"/>
                  </a:lnTo>
                  <a:lnTo>
                    <a:pt x="254419" y="2498852"/>
                  </a:lnTo>
                  <a:lnTo>
                    <a:pt x="266865" y="2484247"/>
                  </a:lnTo>
                  <a:close/>
                </a:path>
                <a:path w="1536700" h="2691129">
                  <a:moveTo>
                    <a:pt x="378396" y="2583053"/>
                  </a:moveTo>
                  <a:lnTo>
                    <a:pt x="345922" y="2555367"/>
                  </a:lnTo>
                  <a:lnTo>
                    <a:pt x="316433" y="2530221"/>
                  </a:lnTo>
                  <a:lnTo>
                    <a:pt x="249885" y="2584069"/>
                  </a:lnTo>
                  <a:lnTo>
                    <a:pt x="262661" y="2598166"/>
                  </a:lnTo>
                  <a:lnTo>
                    <a:pt x="267970" y="2596515"/>
                  </a:lnTo>
                  <a:lnTo>
                    <a:pt x="273558" y="2596261"/>
                  </a:lnTo>
                  <a:lnTo>
                    <a:pt x="307289" y="2622651"/>
                  </a:lnTo>
                  <a:lnTo>
                    <a:pt x="308444" y="2629281"/>
                  </a:lnTo>
                  <a:lnTo>
                    <a:pt x="308140" y="2636177"/>
                  </a:lnTo>
                  <a:lnTo>
                    <a:pt x="278930" y="2670137"/>
                  </a:lnTo>
                  <a:lnTo>
                    <a:pt x="264604" y="2672003"/>
                  </a:lnTo>
                  <a:lnTo>
                    <a:pt x="257924" y="2670784"/>
                  </a:lnTo>
                  <a:lnTo>
                    <a:pt x="235165" y="2639098"/>
                  </a:lnTo>
                  <a:lnTo>
                    <a:pt x="236245" y="2633065"/>
                  </a:lnTo>
                  <a:lnTo>
                    <a:pt x="238531" y="2626804"/>
                  </a:lnTo>
                  <a:lnTo>
                    <a:pt x="242036" y="2620264"/>
                  </a:lnTo>
                  <a:lnTo>
                    <a:pt x="224815" y="2607945"/>
                  </a:lnTo>
                  <a:lnTo>
                    <a:pt x="219786" y="2616543"/>
                  </a:lnTo>
                  <a:lnTo>
                    <a:pt x="216573" y="2625369"/>
                  </a:lnTo>
                  <a:lnTo>
                    <a:pt x="215392" y="2633065"/>
                  </a:lnTo>
                  <a:lnTo>
                    <a:pt x="215265" y="2636177"/>
                  </a:lnTo>
                  <a:lnTo>
                    <a:pt x="215607" y="2643632"/>
                  </a:lnTo>
                  <a:lnTo>
                    <a:pt x="235254" y="2676779"/>
                  </a:lnTo>
                  <a:lnTo>
                    <a:pt x="268681" y="2690558"/>
                  </a:lnTo>
                  <a:lnTo>
                    <a:pt x="280860" y="2689479"/>
                  </a:lnTo>
                  <a:lnTo>
                    <a:pt x="315607" y="2668651"/>
                  </a:lnTo>
                  <a:lnTo>
                    <a:pt x="329133" y="2630043"/>
                  </a:lnTo>
                  <a:lnTo>
                    <a:pt x="327406" y="2620073"/>
                  </a:lnTo>
                  <a:lnTo>
                    <a:pt x="323850" y="2610955"/>
                  </a:lnTo>
                  <a:lnTo>
                    <a:pt x="318452" y="2602712"/>
                  </a:lnTo>
                  <a:lnTo>
                    <a:pt x="312089" y="2596261"/>
                  </a:lnTo>
                  <a:lnTo>
                    <a:pt x="311213" y="2595372"/>
                  </a:lnTo>
                  <a:lnTo>
                    <a:pt x="304698" y="2590609"/>
                  </a:lnTo>
                  <a:lnTo>
                    <a:pt x="297497" y="2586977"/>
                  </a:lnTo>
                  <a:lnTo>
                    <a:pt x="289598" y="2584462"/>
                  </a:lnTo>
                  <a:lnTo>
                    <a:pt x="281012" y="2583053"/>
                  </a:lnTo>
                  <a:lnTo>
                    <a:pt x="316230" y="2555367"/>
                  </a:lnTo>
                  <a:lnTo>
                    <a:pt x="365963" y="2597658"/>
                  </a:lnTo>
                  <a:lnTo>
                    <a:pt x="378396" y="2583053"/>
                  </a:lnTo>
                  <a:close/>
                </a:path>
                <a:path w="1536700" h="2691129">
                  <a:moveTo>
                    <a:pt x="779653" y="998347"/>
                  </a:moveTo>
                  <a:lnTo>
                    <a:pt x="749960" y="971550"/>
                  </a:lnTo>
                  <a:lnTo>
                    <a:pt x="725957" y="939444"/>
                  </a:lnTo>
                  <a:lnTo>
                    <a:pt x="708012" y="904875"/>
                  </a:lnTo>
                  <a:lnTo>
                    <a:pt x="707885" y="904595"/>
                  </a:lnTo>
                  <a:lnTo>
                    <a:pt x="703834" y="894003"/>
                  </a:lnTo>
                  <a:lnTo>
                    <a:pt x="700824" y="884047"/>
                  </a:lnTo>
                  <a:lnTo>
                    <a:pt x="689267" y="876681"/>
                  </a:lnTo>
                  <a:lnTo>
                    <a:pt x="639800" y="955167"/>
                  </a:lnTo>
                  <a:lnTo>
                    <a:pt x="654088" y="964184"/>
                  </a:lnTo>
                  <a:lnTo>
                    <a:pt x="691515" y="904875"/>
                  </a:lnTo>
                  <a:lnTo>
                    <a:pt x="694791" y="914742"/>
                  </a:lnTo>
                  <a:lnTo>
                    <a:pt x="716216" y="956868"/>
                  </a:lnTo>
                  <a:lnTo>
                    <a:pt x="747280" y="994664"/>
                  </a:lnTo>
                  <a:lnTo>
                    <a:pt x="770013" y="1013587"/>
                  </a:lnTo>
                  <a:lnTo>
                    <a:pt x="779653" y="998347"/>
                  </a:lnTo>
                  <a:close/>
                </a:path>
                <a:path w="1536700" h="2691129">
                  <a:moveTo>
                    <a:pt x="824890" y="931164"/>
                  </a:moveTo>
                  <a:lnTo>
                    <a:pt x="721766" y="817118"/>
                  </a:lnTo>
                  <a:lnTo>
                    <a:pt x="714260" y="829056"/>
                  </a:lnTo>
                  <a:lnTo>
                    <a:pt x="817333" y="943229"/>
                  </a:lnTo>
                  <a:lnTo>
                    <a:pt x="824890" y="931164"/>
                  </a:lnTo>
                  <a:close/>
                </a:path>
                <a:path w="1536700" h="2691129">
                  <a:moveTo>
                    <a:pt x="885520" y="830453"/>
                  </a:moveTo>
                  <a:lnTo>
                    <a:pt x="814463" y="785622"/>
                  </a:lnTo>
                  <a:lnTo>
                    <a:pt x="763943" y="753745"/>
                  </a:lnTo>
                  <a:lnTo>
                    <a:pt x="757897" y="763397"/>
                  </a:lnTo>
                  <a:lnTo>
                    <a:pt x="767080" y="801814"/>
                  </a:lnTo>
                  <a:lnTo>
                    <a:pt x="766902" y="809625"/>
                  </a:lnTo>
                  <a:lnTo>
                    <a:pt x="766191" y="817626"/>
                  </a:lnTo>
                  <a:lnTo>
                    <a:pt x="780567" y="826643"/>
                  </a:lnTo>
                  <a:lnTo>
                    <a:pt x="781773" y="820928"/>
                  </a:lnTo>
                  <a:lnTo>
                    <a:pt x="782510" y="814070"/>
                  </a:lnTo>
                  <a:lnTo>
                    <a:pt x="783005" y="798195"/>
                  </a:lnTo>
                  <a:lnTo>
                    <a:pt x="782561" y="791337"/>
                  </a:lnTo>
                  <a:lnTo>
                    <a:pt x="781405" y="785622"/>
                  </a:lnTo>
                  <a:lnTo>
                    <a:pt x="876147" y="845439"/>
                  </a:lnTo>
                  <a:lnTo>
                    <a:pt x="885520" y="830453"/>
                  </a:lnTo>
                  <a:close/>
                </a:path>
                <a:path w="1536700" h="2691129">
                  <a:moveTo>
                    <a:pt x="945489" y="721233"/>
                  </a:moveTo>
                  <a:lnTo>
                    <a:pt x="920788" y="683641"/>
                  </a:lnTo>
                  <a:lnTo>
                    <a:pt x="894549" y="675716"/>
                  </a:lnTo>
                  <a:lnTo>
                    <a:pt x="885659" y="676783"/>
                  </a:lnTo>
                  <a:lnTo>
                    <a:pt x="854519" y="702818"/>
                  </a:lnTo>
                  <a:lnTo>
                    <a:pt x="850950" y="724281"/>
                  </a:lnTo>
                  <a:lnTo>
                    <a:pt x="822528" y="697230"/>
                  </a:lnTo>
                  <a:lnTo>
                    <a:pt x="853020" y="648843"/>
                  </a:lnTo>
                  <a:lnTo>
                    <a:pt x="838809" y="639953"/>
                  </a:lnTo>
                  <a:lnTo>
                    <a:pt x="800811" y="700151"/>
                  </a:lnTo>
                  <a:lnTo>
                    <a:pt x="855611" y="751078"/>
                  </a:lnTo>
                  <a:lnTo>
                    <a:pt x="866228" y="738251"/>
                  </a:lnTo>
                  <a:lnTo>
                    <a:pt x="864158" y="733933"/>
                  </a:lnTo>
                  <a:lnTo>
                    <a:pt x="863244" y="729107"/>
                  </a:lnTo>
                  <a:lnTo>
                    <a:pt x="887577" y="694690"/>
                  </a:lnTo>
                  <a:lnTo>
                    <a:pt x="893559" y="694118"/>
                  </a:lnTo>
                  <a:lnTo>
                    <a:pt x="899642" y="694867"/>
                  </a:lnTo>
                  <a:lnTo>
                    <a:pt x="928941" y="721233"/>
                  </a:lnTo>
                  <a:lnTo>
                    <a:pt x="931214" y="729615"/>
                  </a:lnTo>
                  <a:lnTo>
                    <a:pt x="930084" y="737362"/>
                  </a:lnTo>
                  <a:lnTo>
                    <a:pt x="921816" y="750443"/>
                  </a:lnTo>
                  <a:lnTo>
                    <a:pt x="916698" y="754380"/>
                  </a:lnTo>
                  <a:lnTo>
                    <a:pt x="903732" y="757936"/>
                  </a:lnTo>
                  <a:lnTo>
                    <a:pt x="896327" y="757047"/>
                  </a:lnTo>
                  <a:lnTo>
                    <a:pt x="887996" y="753364"/>
                  </a:lnTo>
                  <a:lnTo>
                    <a:pt x="879462" y="769874"/>
                  </a:lnTo>
                  <a:lnTo>
                    <a:pt x="887539" y="773163"/>
                  </a:lnTo>
                  <a:lnTo>
                    <a:pt x="895591" y="774852"/>
                  </a:lnTo>
                  <a:lnTo>
                    <a:pt x="903579" y="774928"/>
                  </a:lnTo>
                  <a:lnTo>
                    <a:pt x="911529" y="773430"/>
                  </a:lnTo>
                  <a:lnTo>
                    <a:pt x="919111" y="770331"/>
                  </a:lnTo>
                  <a:lnTo>
                    <a:pt x="926007" y="765784"/>
                  </a:lnTo>
                  <a:lnTo>
                    <a:pt x="932243" y="759752"/>
                  </a:lnTo>
                  <a:lnTo>
                    <a:pt x="933577" y="757936"/>
                  </a:lnTo>
                  <a:lnTo>
                    <a:pt x="937793" y="752221"/>
                  </a:lnTo>
                  <a:lnTo>
                    <a:pt x="942898" y="742099"/>
                  </a:lnTo>
                  <a:lnTo>
                    <a:pt x="945489" y="731901"/>
                  </a:lnTo>
                  <a:lnTo>
                    <a:pt x="945489" y="721233"/>
                  </a:lnTo>
                  <a:close/>
                </a:path>
                <a:path w="1536700" h="2691129">
                  <a:moveTo>
                    <a:pt x="1536496" y="24892"/>
                  </a:moveTo>
                  <a:lnTo>
                    <a:pt x="1534718" y="17284"/>
                  </a:lnTo>
                  <a:lnTo>
                    <a:pt x="1534998" y="7747"/>
                  </a:lnTo>
                  <a:lnTo>
                    <a:pt x="1535226" y="0"/>
                  </a:lnTo>
                  <a:lnTo>
                    <a:pt x="1520126" y="7975"/>
                  </a:lnTo>
                  <a:lnTo>
                    <a:pt x="1512239" y="9779"/>
                  </a:lnTo>
                  <a:lnTo>
                    <a:pt x="1510131" y="13258"/>
                  </a:lnTo>
                  <a:lnTo>
                    <a:pt x="1418894" y="61468"/>
                  </a:lnTo>
                  <a:lnTo>
                    <a:pt x="1416227" y="70104"/>
                  </a:lnTo>
                  <a:lnTo>
                    <a:pt x="1423593" y="84074"/>
                  </a:lnTo>
                  <a:lnTo>
                    <a:pt x="1432229" y="86741"/>
                  </a:lnTo>
                  <a:lnTo>
                    <a:pt x="1480235" y="61391"/>
                  </a:lnTo>
                  <a:lnTo>
                    <a:pt x="543864" y="1565529"/>
                  </a:lnTo>
                  <a:lnTo>
                    <a:pt x="539699" y="1572145"/>
                  </a:lnTo>
                  <a:lnTo>
                    <a:pt x="541743" y="1581023"/>
                  </a:lnTo>
                  <a:lnTo>
                    <a:pt x="548436" y="1585214"/>
                  </a:lnTo>
                  <a:lnTo>
                    <a:pt x="555142" y="1589278"/>
                  </a:lnTo>
                  <a:lnTo>
                    <a:pt x="563956" y="1587246"/>
                  </a:lnTo>
                  <a:lnTo>
                    <a:pt x="1504454" y="76555"/>
                  </a:lnTo>
                  <a:lnTo>
                    <a:pt x="1503070" y="123698"/>
                  </a:lnTo>
                  <a:lnTo>
                    <a:pt x="1502841" y="130810"/>
                  </a:lnTo>
                  <a:lnTo>
                    <a:pt x="1509064" y="137287"/>
                  </a:lnTo>
                  <a:lnTo>
                    <a:pt x="1524812" y="137795"/>
                  </a:lnTo>
                  <a:lnTo>
                    <a:pt x="1531416" y="131572"/>
                  </a:lnTo>
                  <a:lnTo>
                    <a:pt x="1531683" y="122936"/>
                  </a:lnTo>
                  <a:lnTo>
                    <a:pt x="1534401" y="28346"/>
                  </a:lnTo>
                  <a:lnTo>
                    <a:pt x="1536496" y="24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4337" y="3815969"/>
              <a:ext cx="532130" cy="572135"/>
            </a:xfrm>
            <a:custGeom>
              <a:avLst/>
              <a:gdLst/>
              <a:ahLst/>
              <a:cxnLst/>
              <a:rect l="l" t="t" r="r" b="b"/>
              <a:pathLst>
                <a:path w="532130" h="572135">
                  <a:moveTo>
                    <a:pt x="173930" y="55089"/>
                  </a:moveTo>
                  <a:lnTo>
                    <a:pt x="130987" y="77088"/>
                  </a:lnTo>
                  <a:lnTo>
                    <a:pt x="92189" y="107314"/>
                  </a:lnTo>
                  <a:lnTo>
                    <a:pt x="58724" y="144398"/>
                  </a:lnTo>
                  <a:lnTo>
                    <a:pt x="31394" y="186816"/>
                  </a:lnTo>
                  <a:lnTo>
                    <a:pt x="11925" y="232917"/>
                  </a:lnTo>
                  <a:lnTo>
                    <a:pt x="1371" y="281939"/>
                  </a:lnTo>
                  <a:lnTo>
                    <a:pt x="0" y="307212"/>
                  </a:lnTo>
                  <a:lnTo>
                    <a:pt x="419" y="319785"/>
                  </a:lnTo>
                  <a:lnTo>
                    <a:pt x="9448" y="369442"/>
                  </a:lnTo>
                  <a:lnTo>
                    <a:pt x="23228" y="405383"/>
                  </a:lnTo>
                  <a:lnTo>
                    <a:pt x="49377" y="449960"/>
                  </a:lnTo>
                  <a:lnTo>
                    <a:pt x="83172" y="489584"/>
                  </a:lnTo>
                  <a:lnTo>
                    <a:pt x="123202" y="523112"/>
                  </a:lnTo>
                  <a:lnTo>
                    <a:pt x="167728" y="549020"/>
                  </a:lnTo>
                  <a:lnTo>
                    <a:pt x="203631" y="562609"/>
                  </a:lnTo>
                  <a:lnTo>
                    <a:pt x="253466" y="571372"/>
                  </a:lnTo>
                  <a:lnTo>
                    <a:pt x="266077" y="571753"/>
                  </a:lnTo>
                  <a:lnTo>
                    <a:pt x="278815" y="571372"/>
                  </a:lnTo>
                  <a:lnTo>
                    <a:pt x="328320" y="563244"/>
                  </a:lnTo>
                  <a:lnTo>
                    <a:pt x="379828" y="543178"/>
                  </a:lnTo>
                  <a:lnTo>
                    <a:pt x="265391" y="543178"/>
                  </a:lnTo>
                  <a:lnTo>
                    <a:pt x="254380" y="542797"/>
                  </a:lnTo>
                  <a:lnTo>
                    <a:pt x="210870" y="534923"/>
                  </a:lnTo>
                  <a:lnTo>
                    <a:pt x="158330" y="511936"/>
                  </a:lnTo>
                  <a:lnTo>
                    <a:pt x="119938" y="484631"/>
                  </a:lnTo>
                  <a:lnTo>
                    <a:pt x="86385" y="451103"/>
                  </a:lnTo>
                  <a:lnTo>
                    <a:pt x="59207" y="412622"/>
                  </a:lnTo>
                  <a:lnTo>
                    <a:pt x="40106" y="371347"/>
                  </a:lnTo>
                  <a:lnTo>
                    <a:pt x="29819" y="328040"/>
                  </a:lnTo>
                  <a:lnTo>
                    <a:pt x="28549" y="306323"/>
                  </a:lnTo>
                  <a:lnTo>
                    <a:pt x="28841" y="295401"/>
                  </a:lnTo>
                  <a:lnTo>
                    <a:pt x="36080" y="251713"/>
                  </a:lnTo>
                  <a:lnTo>
                    <a:pt x="57162" y="199135"/>
                  </a:lnTo>
                  <a:lnTo>
                    <a:pt x="82029" y="160908"/>
                  </a:lnTo>
                  <a:lnTo>
                    <a:pt x="112572" y="127380"/>
                  </a:lnTo>
                  <a:lnTo>
                    <a:pt x="119964" y="121175"/>
                  </a:lnTo>
                  <a:lnTo>
                    <a:pt x="117538" y="117728"/>
                  </a:lnTo>
                  <a:lnTo>
                    <a:pt x="119049" y="108838"/>
                  </a:lnTo>
                  <a:lnTo>
                    <a:pt x="186505" y="60992"/>
                  </a:lnTo>
                  <a:lnTo>
                    <a:pt x="173930" y="55089"/>
                  </a:lnTo>
                  <a:close/>
                </a:path>
                <a:path w="532130" h="572135">
                  <a:moveTo>
                    <a:pt x="509816" y="314324"/>
                  </a:moveTo>
                  <a:lnTo>
                    <a:pt x="503199" y="320420"/>
                  </a:lnTo>
                  <a:lnTo>
                    <a:pt x="502538" y="338962"/>
                  </a:lnTo>
                  <a:lnTo>
                    <a:pt x="501548" y="348868"/>
                  </a:lnTo>
                  <a:lnTo>
                    <a:pt x="491261" y="387603"/>
                  </a:lnTo>
                  <a:lnTo>
                    <a:pt x="471855" y="425322"/>
                  </a:lnTo>
                  <a:lnTo>
                    <a:pt x="444690" y="460120"/>
                  </a:lnTo>
                  <a:lnTo>
                    <a:pt x="411073" y="490346"/>
                  </a:lnTo>
                  <a:lnTo>
                    <a:pt x="372516" y="515111"/>
                  </a:lnTo>
                  <a:lnTo>
                    <a:pt x="330682" y="532637"/>
                  </a:lnTo>
                  <a:lnTo>
                    <a:pt x="287312" y="541908"/>
                  </a:lnTo>
                  <a:lnTo>
                    <a:pt x="265391" y="543178"/>
                  </a:lnTo>
                  <a:lnTo>
                    <a:pt x="379828" y="543178"/>
                  </a:lnTo>
                  <a:lnTo>
                    <a:pt x="429387" y="512317"/>
                  </a:lnTo>
                  <a:lnTo>
                    <a:pt x="466445" y="478535"/>
                  </a:lnTo>
                  <a:lnTo>
                    <a:pt x="496620" y="439546"/>
                  </a:lnTo>
                  <a:lnTo>
                    <a:pt x="518172" y="397128"/>
                  </a:lnTo>
                  <a:lnTo>
                    <a:pt x="529983" y="351662"/>
                  </a:lnTo>
                  <a:lnTo>
                    <a:pt x="531748" y="321436"/>
                  </a:lnTo>
                  <a:lnTo>
                    <a:pt x="525589" y="314832"/>
                  </a:lnTo>
                  <a:lnTo>
                    <a:pt x="509816" y="314324"/>
                  </a:lnTo>
                  <a:close/>
                </a:path>
                <a:path w="532130" h="572135">
                  <a:moveTo>
                    <a:pt x="220254" y="71980"/>
                  </a:moveTo>
                  <a:lnTo>
                    <a:pt x="175247" y="85470"/>
                  </a:lnTo>
                  <a:lnTo>
                    <a:pt x="129514" y="113156"/>
                  </a:lnTo>
                  <a:lnTo>
                    <a:pt x="119964" y="121175"/>
                  </a:lnTo>
                  <a:lnTo>
                    <a:pt x="122097" y="124205"/>
                  </a:lnTo>
                  <a:lnTo>
                    <a:pt x="126669" y="130555"/>
                  </a:lnTo>
                  <a:lnTo>
                    <a:pt x="135585" y="132079"/>
                  </a:lnTo>
                  <a:lnTo>
                    <a:pt x="220254" y="71980"/>
                  </a:lnTo>
                  <a:close/>
                </a:path>
                <a:path w="532130" h="572135">
                  <a:moveTo>
                    <a:pt x="186505" y="60992"/>
                  </a:moveTo>
                  <a:lnTo>
                    <a:pt x="119049" y="108838"/>
                  </a:lnTo>
                  <a:lnTo>
                    <a:pt x="117538" y="117728"/>
                  </a:lnTo>
                  <a:lnTo>
                    <a:pt x="119964" y="121175"/>
                  </a:lnTo>
                  <a:lnTo>
                    <a:pt x="129514" y="113156"/>
                  </a:lnTo>
                  <a:lnTo>
                    <a:pt x="147497" y="100456"/>
                  </a:lnTo>
                  <a:lnTo>
                    <a:pt x="184835" y="81533"/>
                  </a:lnTo>
                  <a:lnTo>
                    <a:pt x="220254" y="71980"/>
                  </a:lnTo>
                  <a:lnTo>
                    <a:pt x="221109" y="71373"/>
                  </a:lnTo>
                  <a:lnTo>
                    <a:pt x="208622" y="71373"/>
                  </a:lnTo>
                  <a:lnTo>
                    <a:pt x="186505" y="60992"/>
                  </a:lnTo>
                  <a:close/>
                </a:path>
                <a:path w="532130" h="572135">
                  <a:moveTo>
                    <a:pt x="228511" y="66119"/>
                  </a:moveTo>
                  <a:lnTo>
                    <a:pt x="220254" y="71980"/>
                  </a:lnTo>
                  <a:lnTo>
                    <a:pt x="224751" y="71246"/>
                  </a:lnTo>
                  <a:lnTo>
                    <a:pt x="228511" y="66119"/>
                  </a:lnTo>
                  <a:close/>
                </a:path>
                <a:path w="532130" h="572135">
                  <a:moveTo>
                    <a:pt x="206425" y="46862"/>
                  </a:moveTo>
                  <a:lnTo>
                    <a:pt x="186505" y="60992"/>
                  </a:lnTo>
                  <a:lnTo>
                    <a:pt x="208622" y="71373"/>
                  </a:lnTo>
                  <a:lnTo>
                    <a:pt x="206425" y="46862"/>
                  </a:lnTo>
                  <a:close/>
                </a:path>
                <a:path w="532130" h="572135">
                  <a:moveTo>
                    <a:pt x="223732" y="46862"/>
                  </a:moveTo>
                  <a:lnTo>
                    <a:pt x="206425" y="46862"/>
                  </a:lnTo>
                  <a:lnTo>
                    <a:pt x="208622" y="71373"/>
                  </a:lnTo>
                  <a:lnTo>
                    <a:pt x="221109" y="71373"/>
                  </a:lnTo>
                  <a:lnTo>
                    <a:pt x="228511" y="66119"/>
                  </a:lnTo>
                  <a:lnTo>
                    <a:pt x="230060" y="64007"/>
                  </a:lnTo>
                  <a:lnTo>
                    <a:pt x="227592" y="48675"/>
                  </a:lnTo>
                  <a:lnTo>
                    <a:pt x="223732" y="46862"/>
                  </a:lnTo>
                  <a:close/>
                </a:path>
                <a:path w="532130" h="572135">
                  <a:moveTo>
                    <a:pt x="227592" y="48675"/>
                  </a:moveTo>
                  <a:lnTo>
                    <a:pt x="230060" y="64007"/>
                  </a:lnTo>
                  <a:lnTo>
                    <a:pt x="228511" y="66119"/>
                  </a:lnTo>
                  <a:lnTo>
                    <a:pt x="242938" y="55879"/>
                  </a:lnTo>
                  <a:lnTo>
                    <a:pt x="227592" y="48675"/>
                  </a:lnTo>
                  <a:close/>
                </a:path>
                <a:path w="532130" h="572135">
                  <a:moveTo>
                    <a:pt x="216803" y="43609"/>
                  </a:moveTo>
                  <a:lnTo>
                    <a:pt x="173930" y="55089"/>
                  </a:lnTo>
                  <a:lnTo>
                    <a:pt x="186505" y="60992"/>
                  </a:lnTo>
                  <a:lnTo>
                    <a:pt x="206425" y="46862"/>
                  </a:lnTo>
                  <a:lnTo>
                    <a:pt x="223732" y="46862"/>
                  </a:lnTo>
                  <a:lnTo>
                    <a:pt x="216803" y="43609"/>
                  </a:lnTo>
                  <a:close/>
                </a:path>
                <a:path w="532130" h="572135">
                  <a:moveTo>
                    <a:pt x="123799" y="0"/>
                  </a:moveTo>
                  <a:lnTo>
                    <a:pt x="115290" y="3047"/>
                  </a:lnTo>
                  <a:lnTo>
                    <a:pt x="108585" y="17271"/>
                  </a:lnTo>
                  <a:lnTo>
                    <a:pt x="111658" y="25780"/>
                  </a:lnTo>
                  <a:lnTo>
                    <a:pt x="118795" y="29209"/>
                  </a:lnTo>
                  <a:lnTo>
                    <a:pt x="173930" y="55089"/>
                  </a:lnTo>
                  <a:lnTo>
                    <a:pt x="184911" y="51180"/>
                  </a:lnTo>
                  <a:lnTo>
                    <a:pt x="196215" y="47878"/>
                  </a:lnTo>
                  <a:lnTo>
                    <a:pt x="207518" y="45211"/>
                  </a:lnTo>
                  <a:lnTo>
                    <a:pt x="212432" y="44322"/>
                  </a:lnTo>
                  <a:lnTo>
                    <a:pt x="216803" y="43609"/>
                  </a:lnTo>
                  <a:lnTo>
                    <a:pt x="123799" y="0"/>
                  </a:lnTo>
                  <a:close/>
                </a:path>
                <a:path w="532130" h="572135">
                  <a:moveTo>
                    <a:pt x="220218" y="43052"/>
                  </a:moveTo>
                  <a:lnTo>
                    <a:pt x="216803" y="43609"/>
                  </a:lnTo>
                  <a:lnTo>
                    <a:pt x="227592" y="48675"/>
                  </a:lnTo>
                  <a:lnTo>
                    <a:pt x="227545" y="48386"/>
                  </a:lnTo>
                  <a:lnTo>
                    <a:pt x="220218" y="43052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41450" y="2779394"/>
              <a:ext cx="306070" cy="374015"/>
            </a:xfrm>
            <a:custGeom>
              <a:avLst/>
              <a:gdLst/>
              <a:ahLst/>
              <a:cxnLst/>
              <a:rect l="l" t="t" r="r" b="b"/>
              <a:pathLst>
                <a:path w="306069" h="374014">
                  <a:moveTo>
                    <a:pt x="68185" y="264921"/>
                  </a:moveTo>
                  <a:lnTo>
                    <a:pt x="51688" y="264921"/>
                  </a:lnTo>
                  <a:lnTo>
                    <a:pt x="54973" y="274782"/>
                  </a:lnTo>
                  <a:lnTo>
                    <a:pt x="76398" y="316912"/>
                  </a:lnTo>
                  <a:lnTo>
                    <a:pt x="107422" y="354774"/>
                  </a:lnTo>
                  <a:lnTo>
                    <a:pt x="130175" y="373633"/>
                  </a:lnTo>
                  <a:lnTo>
                    <a:pt x="139827" y="358393"/>
                  </a:lnTo>
                  <a:lnTo>
                    <a:pt x="131468" y="351940"/>
                  </a:lnTo>
                  <a:lnTo>
                    <a:pt x="123729" y="345344"/>
                  </a:lnTo>
                  <a:lnTo>
                    <a:pt x="93535" y="310784"/>
                  </a:lnTo>
                  <a:lnTo>
                    <a:pt x="73122" y="275847"/>
                  </a:lnTo>
                  <a:lnTo>
                    <a:pt x="68185" y="264921"/>
                  </a:lnTo>
                  <a:close/>
                </a:path>
                <a:path w="306069" h="374014">
                  <a:moveTo>
                    <a:pt x="49403" y="236727"/>
                  </a:moveTo>
                  <a:lnTo>
                    <a:pt x="0" y="315213"/>
                  </a:lnTo>
                  <a:lnTo>
                    <a:pt x="14224" y="324230"/>
                  </a:lnTo>
                  <a:lnTo>
                    <a:pt x="51688" y="264921"/>
                  </a:lnTo>
                  <a:lnTo>
                    <a:pt x="68185" y="264921"/>
                  </a:lnTo>
                  <a:lnTo>
                    <a:pt x="68056" y="264636"/>
                  </a:lnTo>
                  <a:lnTo>
                    <a:pt x="64013" y="254043"/>
                  </a:lnTo>
                  <a:lnTo>
                    <a:pt x="60959" y="244093"/>
                  </a:lnTo>
                  <a:lnTo>
                    <a:pt x="49403" y="236727"/>
                  </a:lnTo>
                  <a:close/>
                </a:path>
                <a:path w="306069" h="374014">
                  <a:moveTo>
                    <a:pt x="81915" y="177164"/>
                  </a:moveTo>
                  <a:lnTo>
                    <a:pt x="74422" y="189102"/>
                  </a:lnTo>
                  <a:lnTo>
                    <a:pt x="177546" y="303275"/>
                  </a:lnTo>
                  <a:lnTo>
                    <a:pt x="185038" y="291210"/>
                  </a:lnTo>
                  <a:lnTo>
                    <a:pt x="81915" y="177164"/>
                  </a:lnTo>
                  <a:close/>
                </a:path>
                <a:path w="306069" h="374014">
                  <a:moveTo>
                    <a:pt x="174437" y="145668"/>
                  </a:moveTo>
                  <a:lnTo>
                    <a:pt x="141605" y="145668"/>
                  </a:lnTo>
                  <a:lnTo>
                    <a:pt x="236347" y="205485"/>
                  </a:lnTo>
                  <a:lnTo>
                    <a:pt x="245744" y="190626"/>
                  </a:lnTo>
                  <a:lnTo>
                    <a:pt x="174437" y="145668"/>
                  </a:lnTo>
                  <a:close/>
                </a:path>
                <a:path w="306069" h="374014">
                  <a:moveTo>
                    <a:pt x="124078" y="113918"/>
                  </a:moveTo>
                  <a:lnTo>
                    <a:pt x="118109" y="123443"/>
                  </a:lnTo>
                  <a:lnTo>
                    <a:pt x="121665" y="129285"/>
                  </a:lnTo>
                  <a:lnTo>
                    <a:pt x="124206" y="137159"/>
                  </a:lnTo>
                  <a:lnTo>
                    <a:pt x="125856" y="146812"/>
                  </a:lnTo>
                  <a:lnTo>
                    <a:pt x="126811" y="154241"/>
                  </a:lnTo>
                  <a:lnTo>
                    <a:pt x="127206" y="161861"/>
                  </a:lnTo>
                  <a:lnTo>
                    <a:pt x="127053" y="169671"/>
                  </a:lnTo>
                  <a:lnTo>
                    <a:pt x="126365" y="177672"/>
                  </a:lnTo>
                  <a:lnTo>
                    <a:pt x="140715" y="186689"/>
                  </a:lnTo>
                  <a:lnTo>
                    <a:pt x="141986" y="180975"/>
                  </a:lnTo>
                  <a:lnTo>
                    <a:pt x="142621" y="174116"/>
                  </a:lnTo>
                  <a:lnTo>
                    <a:pt x="143128" y="158241"/>
                  </a:lnTo>
                  <a:lnTo>
                    <a:pt x="142747" y="151383"/>
                  </a:lnTo>
                  <a:lnTo>
                    <a:pt x="141605" y="145668"/>
                  </a:lnTo>
                  <a:lnTo>
                    <a:pt x="174437" y="145668"/>
                  </a:lnTo>
                  <a:lnTo>
                    <a:pt x="124078" y="113918"/>
                  </a:lnTo>
                  <a:close/>
                </a:path>
                <a:path w="306069" h="374014">
                  <a:moveTo>
                    <a:pt x="248157" y="113410"/>
                  </a:moveTo>
                  <a:lnTo>
                    <a:pt x="239649" y="129920"/>
                  </a:lnTo>
                  <a:lnTo>
                    <a:pt x="247721" y="133209"/>
                  </a:lnTo>
                  <a:lnTo>
                    <a:pt x="255746" y="134889"/>
                  </a:lnTo>
                  <a:lnTo>
                    <a:pt x="263723" y="134975"/>
                  </a:lnTo>
                  <a:lnTo>
                    <a:pt x="271652" y="133476"/>
                  </a:lnTo>
                  <a:lnTo>
                    <a:pt x="279225" y="130430"/>
                  </a:lnTo>
                  <a:lnTo>
                    <a:pt x="286131" y="125872"/>
                  </a:lnTo>
                  <a:lnTo>
                    <a:pt x="292369" y="119814"/>
                  </a:lnTo>
                  <a:lnTo>
                    <a:pt x="293722" y="117982"/>
                  </a:lnTo>
                  <a:lnTo>
                    <a:pt x="263906" y="117982"/>
                  </a:lnTo>
                  <a:lnTo>
                    <a:pt x="256539" y="117093"/>
                  </a:lnTo>
                  <a:lnTo>
                    <a:pt x="248157" y="113410"/>
                  </a:lnTo>
                  <a:close/>
                </a:path>
                <a:path w="306069" h="374014">
                  <a:moveTo>
                    <a:pt x="293189" y="54217"/>
                  </a:moveTo>
                  <a:lnTo>
                    <a:pt x="253732" y="54217"/>
                  </a:lnTo>
                  <a:lnTo>
                    <a:pt x="259794" y="54927"/>
                  </a:lnTo>
                  <a:lnTo>
                    <a:pt x="265975" y="56971"/>
                  </a:lnTo>
                  <a:lnTo>
                    <a:pt x="291338" y="89662"/>
                  </a:lnTo>
                  <a:lnTo>
                    <a:pt x="290194" y="97408"/>
                  </a:lnTo>
                  <a:lnTo>
                    <a:pt x="285750" y="104647"/>
                  </a:lnTo>
                  <a:lnTo>
                    <a:pt x="281939" y="110489"/>
                  </a:lnTo>
                  <a:lnTo>
                    <a:pt x="276860" y="114426"/>
                  </a:lnTo>
                  <a:lnTo>
                    <a:pt x="263906" y="117982"/>
                  </a:lnTo>
                  <a:lnTo>
                    <a:pt x="293722" y="117982"/>
                  </a:lnTo>
                  <a:lnTo>
                    <a:pt x="297942" y="112267"/>
                  </a:lnTo>
                  <a:lnTo>
                    <a:pt x="303061" y="102197"/>
                  </a:lnTo>
                  <a:lnTo>
                    <a:pt x="305657" y="91995"/>
                  </a:lnTo>
                  <a:lnTo>
                    <a:pt x="305635" y="81279"/>
                  </a:lnTo>
                  <a:lnTo>
                    <a:pt x="303275" y="71246"/>
                  </a:lnTo>
                  <a:lnTo>
                    <a:pt x="299658" y="63101"/>
                  </a:lnTo>
                  <a:lnTo>
                    <a:pt x="294719" y="55800"/>
                  </a:lnTo>
                  <a:lnTo>
                    <a:pt x="293189" y="54217"/>
                  </a:lnTo>
                  <a:close/>
                </a:path>
                <a:path w="306069" h="374014">
                  <a:moveTo>
                    <a:pt x="199008" y="0"/>
                  </a:moveTo>
                  <a:lnTo>
                    <a:pt x="160909" y="60197"/>
                  </a:lnTo>
                  <a:lnTo>
                    <a:pt x="215773" y="111125"/>
                  </a:lnTo>
                  <a:lnTo>
                    <a:pt x="226441" y="98297"/>
                  </a:lnTo>
                  <a:lnTo>
                    <a:pt x="224281" y="93979"/>
                  </a:lnTo>
                  <a:lnTo>
                    <a:pt x="223393" y="89153"/>
                  </a:lnTo>
                  <a:lnTo>
                    <a:pt x="223628" y="84327"/>
                  </a:lnTo>
                  <a:lnTo>
                    <a:pt x="211074" y="84327"/>
                  </a:lnTo>
                  <a:lnTo>
                    <a:pt x="182625" y="57276"/>
                  </a:lnTo>
                  <a:lnTo>
                    <a:pt x="213232" y="8889"/>
                  </a:lnTo>
                  <a:lnTo>
                    <a:pt x="199008" y="0"/>
                  </a:lnTo>
                  <a:close/>
                </a:path>
                <a:path w="306069" h="374014">
                  <a:moveTo>
                    <a:pt x="254724" y="35758"/>
                  </a:moveTo>
                  <a:lnTo>
                    <a:pt x="217931" y="56641"/>
                  </a:lnTo>
                  <a:lnTo>
                    <a:pt x="211074" y="84327"/>
                  </a:lnTo>
                  <a:lnTo>
                    <a:pt x="223628" y="84327"/>
                  </a:lnTo>
                  <a:lnTo>
                    <a:pt x="223900" y="78739"/>
                  </a:lnTo>
                  <a:lnTo>
                    <a:pt x="225551" y="73659"/>
                  </a:lnTo>
                  <a:lnTo>
                    <a:pt x="233425" y="61213"/>
                  </a:lnTo>
                  <a:lnTo>
                    <a:pt x="239775" y="56514"/>
                  </a:lnTo>
                  <a:lnTo>
                    <a:pt x="247776" y="54863"/>
                  </a:lnTo>
                  <a:lnTo>
                    <a:pt x="253732" y="54217"/>
                  </a:lnTo>
                  <a:lnTo>
                    <a:pt x="293189" y="54217"/>
                  </a:lnTo>
                  <a:lnTo>
                    <a:pt x="288470" y="49333"/>
                  </a:lnTo>
                  <a:lnTo>
                    <a:pt x="280924" y="43687"/>
                  </a:lnTo>
                  <a:lnTo>
                    <a:pt x="272286" y="39187"/>
                  </a:lnTo>
                  <a:lnTo>
                    <a:pt x="263540" y="36544"/>
                  </a:lnTo>
                  <a:lnTo>
                    <a:pt x="254724" y="357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836670" y="3313366"/>
            <a:ext cx="5365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35" dirty="0">
                <a:latin typeface="Arial"/>
                <a:cs typeface="Arial"/>
              </a:rPr>
              <a:t>13</a:t>
            </a:r>
            <a:r>
              <a:rPr sz="1550" spc="10" dirty="0">
                <a:latin typeface="Arial"/>
                <a:cs typeface="Arial"/>
              </a:rPr>
              <a:t>/</a:t>
            </a:r>
            <a:r>
              <a:rPr sz="1550" spc="35" dirty="0">
                <a:latin typeface="Arial"/>
                <a:cs typeface="Arial"/>
              </a:rPr>
              <a:t>1</a:t>
            </a:r>
            <a:r>
              <a:rPr sz="1550" spc="15" dirty="0">
                <a:latin typeface="Arial"/>
                <a:cs typeface="Arial"/>
              </a:rPr>
              <a:t>5</a:t>
            </a:r>
            <a:endParaRPr sz="1550">
              <a:latin typeface="Arial"/>
              <a:cs typeface="Arial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2534666" y="1388388"/>
          <a:ext cx="6460490" cy="14644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5212">
                <a:tc>
                  <a:txBody>
                    <a:bodyPr/>
                    <a:lstStyle/>
                    <a:p>
                      <a:pPr marL="31750">
                        <a:lnSpc>
                          <a:spcPts val="1735"/>
                        </a:lnSpc>
                      </a:pPr>
                      <a:r>
                        <a:rPr sz="1550" spc="20" dirty="0">
                          <a:latin typeface="Arial"/>
                          <a:cs typeface="Arial"/>
                        </a:rPr>
                        <a:t>7/15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1/2</a:t>
                      </a:r>
                      <a:r>
                        <a:rPr sz="2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1/2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 1/3</a:t>
                      </a:r>
                      <a:r>
                        <a:rPr sz="2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3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2320">
                        <a:lnSpc>
                          <a:spcPts val="2470"/>
                        </a:lnSpc>
                      </a:pPr>
                      <a:r>
                        <a:rPr sz="2400" spc="-35" dirty="0">
                          <a:latin typeface="Corbel"/>
                          <a:cs typeface="Corbel"/>
                        </a:rPr>
                        <a:t>0.8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2720"/>
                        </a:lnSpc>
                        <a:tabLst>
                          <a:tab pos="685165" algn="l"/>
                        </a:tabLst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1/2	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27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20370">
                        <a:lnSpc>
                          <a:spcPts val="2180"/>
                        </a:lnSpc>
                      </a:pPr>
                      <a:r>
                        <a:rPr sz="2400" dirty="0">
                          <a:latin typeface="Corbel"/>
                          <a:cs typeface="Corbel"/>
                        </a:rPr>
                        <a:t>+</a:t>
                      </a:r>
                      <a:r>
                        <a:rPr sz="24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400" spc="-25" dirty="0">
                          <a:latin typeface="Corbel"/>
                          <a:cs typeface="Corbel"/>
                        </a:rPr>
                        <a:t>0.2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27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 1/3</a:t>
                      </a:r>
                      <a:r>
                        <a:rPr sz="2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8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ts val="2755"/>
                        </a:lnSpc>
                        <a:tabLst>
                          <a:tab pos="523240" algn="l"/>
                        </a:tabLst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	1/2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ts val="275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275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1/3 1/3</a:t>
                      </a:r>
                      <a:r>
                        <a:rPr sz="2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5472429" y="2999105"/>
            <a:ext cx="262890" cy="1127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2400" dirty="0">
                <a:latin typeface="Times New Roman"/>
                <a:cs typeface="Times New Roman"/>
              </a:rPr>
              <a:t>y  a  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96026" y="2976626"/>
            <a:ext cx="2219325" cy="12573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69850">
              <a:lnSpc>
                <a:spcPts val="2865"/>
              </a:lnSpc>
              <a:spcBef>
                <a:spcPts val="280"/>
              </a:spcBef>
              <a:tabLst>
                <a:tab pos="1536700" algn="l"/>
              </a:tabLst>
            </a:pPr>
            <a:r>
              <a:rPr sz="2400" dirty="0">
                <a:latin typeface="Times New Roman"/>
                <a:cs typeface="Times New Roman"/>
              </a:rPr>
              <a:t>7/15 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7/15	</a:t>
            </a:r>
            <a:r>
              <a:rPr sz="2400" dirty="0">
                <a:latin typeface="Times New Roman"/>
                <a:cs typeface="Times New Roman"/>
              </a:rPr>
              <a:t>1/15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ts val="2865"/>
              </a:lnSpc>
              <a:tabLst>
                <a:tab pos="1517015" algn="l"/>
              </a:tabLst>
            </a:pPr>
            <a:r>
              <a:rPr sz="2400" dirty="0">
                <a:latin typeface="Times New Roman"/>
                <a:cs typeface="Times New Roman"/>
              </a:rPr>
              <a:t>7/15  1/15	1/15</a:t>
            </a:r>
            <a:endParaRPr sz="24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  <a:spcBef>
                <a:spcPts val="50"/>
              </a:spcBef>
            </a:pPr>
            <a:r>
              <a:rPr sz="2400" dirty="0">
                <a:latin typeface="Times New Roman"/>
                <a:cs typeface="Times New Roman"/>
              </a:rPr>
              <a:t>1/15 7/15</a:t>
            </a:r>
            <a:r>
              <a:rPr sz="2400" spc="4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13/15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34278" y="1126553"/>
            <a:ext cx="2800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8000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757414" y="1076007"/>
            <a:ext cx="1146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8000"/>
                </a:solidFill>
                <a:latin typeface="Arial"/>
                <a:cs typeface="Arial"/>
              </a:rPr>
              <a:t>[1/N]</a:t>
            </a:r>
            <a:r>
              <a:rPr sz="2325" b="1" spc="-7" baseline="-19713" dirty="0">
                <a:solidFill>
                  <a:srgbClr val="008000"/>
                </a:solidFill>
                <a:latin typeface="Arial"/>
                <a:cs typeface="Arial"/>
              </a:rPr>
              <a:t>NxN</a:t>
            </a:r>
            <a:endParaRPr sz="2325" baseline="-19713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22134" y="4337685"/>
            <a:ext cx="246379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008000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475" y="3467100"/>
              <a:ext cx="7472426" cy="13286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33311"/>
            <a:ext cx="5395976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17637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00162"/>
            <a:ext cx="665035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5" dirty="0">
                <a:solidFill>
                  <a:srgbClr val="0000FF"/>
                </a:solidFill>
                <a:latin typeface="Calibri"/>
                <a:cs typeface="Calibri"/>
              </a:rPr>
              <a:t>Key </a:t>
            </a:r>
            <a:r>
              <a:rPr b="1" spc="-5" dirty="0">
                <a:solidFill>
                  <a:srgbClr val="0000FF"/>
                </a:solidFill>
                <a:latin typeface="Calibri"/>
                <a:cs typeface="Calibri"/>
              </a:rPr>
              <a:t>step </a:t>
            </a:r>
            <a:r>
              <a:rPr b="1" spc="20" dirty="0">
                <a:solidFill>
                  <a:srgbClr val="0000FF"/>
                </a:solidFill>
                <a:latin typeface="Calibri"/>
                <a:cs typeface="Calibri"/>
              </a:rPr>
              <a:t>is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matrix-vector</a:t>
            </a:r>
            <a:r>
              <a:rPr b="1" spc="-5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multiplication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323210"/>
            <a:ext cx="323850" cy="4006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200654"/>
            <a:ext cx="323850" cy="4006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25830" y="1700835"/>
            <a:ext cx="6736080" cy="19005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20675" indent="-276860">
              <a:lnSpc>
                <a:spcPct val="100000"/>
              </a:lnSpc>
              <a:spcBef>
                <a:spcPts val="425"/>
              </a:spcBef>
              <a:buClr>
                <a:srgbClr val="5FB5CC"/>
              </a:buClr>
              <a:buFont typeface="Wingdings"/>
              <a:buChar char=""/>
              <a:tabLst>
                <a:tab pos="321310" algn="l"/>
              </a:tabLst>
            </a:pPr>
            <a:r>
              <a:rPr sz="4125" b="1" i="1" baseline="-17171" dirty="0">
                <a:latin typeface="Calibri"/>
                <a:cs typeface="Calibri"/>
              </a:rPr>
              <a:t>r</a:t>
            </a:r>
            <a:r>
              <a:rPr sz="1850" dirty="0">
                <a:latin typeface="Calibri"/>
                <a:cs typeface="Calibri"/>
              </a:rPr>
              <a:t>new </a:t>
            </a:r>
            <a:r>
              <a:rPr sz="4125" spc="15" baseline="-17171" dirty="0">
                <a:latin typeface="Calibri"/>
                <a:cs typeface="Calibri"/>
              </a:rPr>
              <a:t>= </a:t>
            </a:r>
            <a:r>
              <a:rPr sz="4125" b="1" i="1" spc="22" baseline="-17171" dirty="0">
                <a:latin typeface="Calibri"/>
                <a:cs typeface="Calibri"/>
              </a:rPr>
              <a:t>A </a:t>
            </a:r>
            <a:r>
              <a:rPr sz="4125" b="1" spc="7" baseline="-17171" dirty="0">
                <a:latin typeface="Calibri"/>
                <a:cs typeface="Calibri"/>
              </a:rPr>
              <a:t>∙</a:t>
            </a:r>
            <a:r>
              <a:rPr sz="4125" b="1" spc="-150" baseline="-17171" dirty="0">
                <a:latin typeface="Calibri"/>
                <a:cs typeface="Calibri"/>
              </a:rPr>
              <a:t> </a:t>
            </a:r>
            <a:r>
              <a:rPr sz="4125" b="1" i="1" spc="15" baseline="-17171" dirty="0">
                <a:latin typeface="Calibri"/>
                <a:cs typeface="Calibri"/>
              </a:rPr>
              <a:t>r</a:t>
            </a:r>
            <a:r>
              <a:rPr sz="1850" spc="10" dirty="0">
                <a:latin typeface="Calibri"/>
                <a:cs typeface="Calibri"/>
              </a:rPr>
              <a:t>old</a:t>
            </a:r>
            <a:endParaRPr sz="1850">
              <a:latin typeface="Calibri"/>
              <a:cs typeface="Calibri"/>
            </a:endParaRPr>
          </a:p>
          <a:p>
            <a:pPr marL="25400" marR="17780">
              <a:lnSpc>
                <a:spcPts val="3450"/>
              </a:lnSpc>
              <a:spcBef>
                <a:spcPts val="819"/>
              </a:spcBef>
            </a:pPr>
            <a:r>
              <a:rPr sz="3200" spc="-20" dirty="0">
                <a:latin typeface="Calibri"/>
                <a:cs typeface="Calibri"/>
              </a:rPr>
              <a:t>Easy </a:t>
            </a:r>
            <a:r>
              <a:rPr sz="3200" spc="5" dirty="0">
                <a:latin typeface="Calibri"/>
                <a:cs typeface="Calibri"/>
              </a:rPr>
              <a:t>if </a:t>
            </a:r>
            <a:r>
              <a:rPr sz="3200" spc="25" dirty="0">
                <a:latin typeface="Calibri"/>
                <a:cs typeface="Calibri"/>
              </a:rPr>
              <a:t>we </a:t>
            </a:r>
            <a:r>
              <a:rPr sz="3200" spc="-5" dirty="0">
                <a:latin typeface="Calibri"/>
                <a:cs typeface="Calibri"/>
              </a:rPr>
              <a:t>have </a:t>
            </a:r>
            <a:r>
              <a:rPr sz="3200" spc="15" dirty="0">
                <a:latin typeface="Calibri"/>
                <a:cs typeface="Calibri"/>
              </a:rPr>
              <a:t>enough </a:t>
            </a:r>
            <a:r>
              <a:rPr sz="3200" spc="10" dirty="0">
                <a:latin typeface="Calibri"/>
                <a:cs typeface="Calibri"/>
              </a:rPr>
              <a:t>main </a:t>
            </a:r>
            <a:r>
              <a:rPr sz="3200" dirty="0">
                <a:latin typeface="Calibri"/>
                <a:cs typeface="Calibri"/>
              </a:rPr>
              <a:t>memory</a:t>
            </a:r>
            <a:r>
              <a:rPr sz="3200" spc="-38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to  </a:t>
            </a:r>
            <a:r>
              <a:rPr sz="3200" spc="20" dirty="0">
                <a:latin typeface="Calibri"/>
                <a:cs typeface="Calibri"/>
              </a:rPr>
              <a:t>hold </a:t>
            </a:r>
            <a:r>
              <a:rPr sz="3200" b="1" spc="5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, </a:t>
            </a:r>
            <a:r>
              <a:rPr sz="3200" b="1" spc="-5" dirty="0">
                <a:latin typeface="Calibri"/>
                <a:cs typeface="Calibri"/>
              </a:rPr>
              <a:t>r</a:t>
            </a:r>
            <a:r>
              <a:rPr sz="3150" spc="-7" baseline="25132" dirty="0">
                <a:latin typeface="Calibri"/>
                <a:cs typeface="Calibri"/>
              </a:rPr>
              <a:t>old</a:t>
            </a:r>
            <a:r>
              <a:rPr sz="3200" spc="-5" dirty="0">
                <a:latin typeface="Calibri"/>
                <a:cs typeface="Calibri"/>
              </a:rPr>
              <a:t>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r</a:t>
            </a:r>
            <a:r>
              <a:rPr sz="3150" baseline="25132" dirty="0">
                <a:latin typeface="Calibri"/>
                <a:cs typeface="Calibri"/>
              </a:rPr>
              <a:t>new</a:t>
            </a:r>
            <a:endParaRPr sz="3150" baseline="25132">
              <a:latin typeface="Calibri"/>
              <a:cs typeface="Calibri"/>
            </a:endParaRPr>
          </a:p>
          <a:p>
            <a:pPr marL="25400">
              <a:lnSpc>
                <a:spcPts val="3410"/>
              </a:lnSpc>
            </a:pPr>
            <a:r>
              <a:rPr sz="3200" b="1" spc="-30" dirty="0">
                <a:solidFill>
                  <a:srgbClr val="D50092"/>
                </a:solidFill>
                <a:latin typeface="Calibri"/>
                <a:cs typeface="Calibri"/>
              </a:rPr>
              <a:t>Say </a:t>
            </a:r>
            <a:r>
              <a:rPr sz="3200" b="1" spc="15" dirty="0">
                <a:solidFill>
                  <a:srgbClr val="D50092"/>
                </a:solidFill>
                <a:latin typeface="Calibri"/>
                <a:cs typeface="Calibri"/>
              </a:rPr>
              <a:t>N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= </a:t>
            </a:r>
            <a:r>
              <a:rPr sz="3200" b="1" spc="15" dirty="0">
                <a:solidFill>
                  <a:srgbClr val="D50092"/>
                </a:solidFill>
                <a:latin typeface="Calibri"/>
                <a:cs typeface="Calibri"/>
              </a:rPr>
              <a:t>1 </a:t>
            </a:r>
            <a:r>
              <a:rPr sz="3200" b="1" spc="20" dirty="0">
                <a:solidFill>
                  <a:srgbClr val="D50092"/>
                </a:solidFill>
                <a:latin typeface="Calibri"/>
                <a:cs typeface="Calibri"/>
              </a:rPr>
              <a:t>billion</a:t>
            </a:r>
            <a:r>
              <a:rPr sz="3200" b="1" spc="-21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pages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2180" y="3626739"/>
            <a:ext cx="3667125" cy="25673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14325" marR="448945" indent="-276860">
              <a:lnSpc>
                <a:spcPts val="3010"/>
              </a:lnSpc>
              <a:spcBef>
                <a:spcPts val="470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spc="-20" dirty="0">
                <a:latin typeface="Calibri"/>
                <a:cs typeface="Calibri"/>
              </a:rPr>
              <a:t>We </a:t>
            </a:r>
            <a:r>
              <a:rPr sz="2750" spc="-15" dirty="0">
                <a:latin typeface="Calibri"/>
                <a:cs typeface="Calibri"/>
              </a:rPr>
              <a:t>need </a:t>
            </a:r>
            <a:r>
              <a:rPr sz="2750" spc="15" dirty="0">
                <a:latin typeface="Calibri"/>
                <a:cs typeface="Calibri"/>
              </a:rPr>
              <a:t>4 </a:t>
            </a:r>
            <a:r>
              <a:rPr sz="2750" spc="-10" dirty="0">
                <a:latin typeface="Calibri"/>
                <a:cs typeface="Calibri"/>
              </a:rPr>
              <a:t>bytes </a:t>
            </a:r>
            <a:r>
              <a:rPr sz="2750" spc="-15" dirty="0">
                <a:latin typeface="Calibri"/>
                <a:cs typeface="Calibri"/>
              </a:rPr>
              <a:t>for  </a:t>
            </a:r>
            <a:r>
              <a:rPr sz="2750" spc="10" dirty="0">
                <a:latin typeface="Calibri"/>
                <a:cs typeface="Calibri"/>
              </a:rPr>
              <a:t>each </a:t>
            </a:r>
            <a:r>
              <a:rPr sz="2750" spc="-10" dirty="0">
                <a:latin typeface="Calibri"/>
                <a:cs typeface="Calibri"/>
              </a:rPr>
              <a:t>entry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(say)</a:t>
            </a:r>
            <a:endParaRPr sz="2750">
              <a:latin typeface="Calibri"/>
              <a:cs typeface="Calibri"/>
            </a:endParaRPr>
          </a:p>
          <a:p>
            <a:pPr marL="314325" marR="458470" indent="-276860">
              <a:lnSpc>
                <a:spcPts val="3000"/>
              </a:lnSpc>
              <a:spcBef>
                <a:spcPts val="750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spc="15" dirty="0">
                <a:latin typeface="Calibri"/>
                <a:cs typeface="Calibri"/>
              </a:rPr>
              <a:t>2 </a:t>
            </a:r>
            <a:r>
              <a:rPr sz="2750" spc="-15" dirty="0">
                <a:latin typeface="Calibri"/>
                <a:cs typeface="Calibri"/>
              </a:rPr>
              <a:t>billion entries for  </a:t>
            </a:r>
            <a:r>
              <a:rPr sz="2750" spc="-5" dirty="0">
                <a:latin typeface="Calibri"/>
                <a:cs typeface="Calibri"/>
              </a:rPr>
              <a:t>vectors, </a:t>
            </a:r>
            <a:r>
              <a:rPr sz="2750" spc="-15" dirty="0">
                <a:latin typeface="Calibri"/>
                <a:cs typeface="Calibri"/>
              </a:rPr>
              <a:t>approx</a:t>
            </a:r>
            <a:r>
              <a:rPr sz="2750" spc="15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8GB</a:t>
            </a:r>
            <a:endParaRPr sz="2750">
              <a:latin typeface="Calibri"/>
              <a:cs typeface="Calibri"/>
            </a:endParaRPr>
          </a:p>
          <a:p>
            <a:pPr marL="314325" indent="-276860">
              <a:lnSpc>
                <a:spcPct val="100000"/>
              </a:lnSpc>
              <a:spcBef>
                <a:spcPts val="335"/>
              </a:spcBef>
              <a:buClr>
                <a:srgbClr val="5FB5CC"/>
              </a:buClr>
              <a:buFont typeface="Wingdings"/>
              <a:buChar char=""/>
              <a:tabLst>
                <a:tab pos="314960" algn="l"/>
              </a:tabLst>
            </a:pPr>
            <a:r>
              <a:rPr sz="2750" spc="5" dirty="0">
                <a:solidFill>
                  <a:srgbClr val="D50092"/>
                </a:solidFill>
                <a:latin typeface="Calibri"/>
                <a:cs typeface="Calibri"/>
              </a:rPr>
              <a:t>Matrix </a:t>
            </a:r>
            <a:r>
              <a:rPr sz="2750" b="1" spc="15" dirty="0">
                <a:solidFill>
                  <a:srgbClr val="D50092"/>
                </a:solidFill>
                <a:latin typeface="Calibri"/>
                <a:cs typeface="Calibri"/>
              </a:rPr>
              <a:t>A </a:t>
            </a:r>
            <a:r>
              <a:rPr sz="2750" spc="5" dirty="0">
                <a:solidFill>
                  <a:srgbClr val="D50092"/>
                </a:solidFill>
                <a:latin typeface="Calibri"/>
                <a:cs typeface="Calibri"/>
              </a:rPr>
              <a:t>has </a:t>
            </a:r>
            <a:r>
              <a:rPr sz="2750" spc="20" dirty="0">
                <a:solidFill>
                  <a:srgbClr val="D50092"/>
                </a:solidFill>
                <a:latin typeface="Calibri"/>
                <a:cs typeface="Calibri"/>
              </a:rPr>
              <a:t>N</a:t>
            </a:r>
            <a:r>
              <a:rPr sz="2775" spc="30" baseline="25525" dirty="0">
                <a:solidFill>
                  <a:srgbClr val="D50092"/>
                </a:solidFill>
                <a:latin typeface="Calibri"/>
                <a:cs typeface="Calibri"/>
              </a:rPr>
              <a:t>2</a:t>
            </a:r>
            <a:r>
              <a:rPr sz="2775" spc="450" baseline="2552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2750" spc="-15" dirty="0">
                <a:solidFill>
                  <a:srgbClr val="D50092"/>
                </a:solidFill>
                <a:latin typeface="Calibri"/>
                <a:cs typeface="Calibri"/>
              </a:rPr>
              <a:t>entries</a:t>
            </a:r>
            <a:endParaRPr sz="2750">
              <a:latin typeface="Calibri"/>
              <a:cs typeface="Calibri"/>
            </a:endParaRPr>
          </a:p>
          <a:p>
            <a:pPr marL="581660" lvl="1" indent="-229235">
              <a:lnSpc>
                <a:spcPct val="100000"/>
              </a:lnSpc>
              <a:spcBef>
                <a:spcPts val="355"/>
              </a:spcBef>
              <a:buClr>
                <a:srgbClr val="E66C7C"/>
              </a:buClr>
              <a:buFont typeface="Wingdings"/>
              <a:buChar char=""/>
              <a:tabLst>
                <a:tab pos="581660" algn="l"/>
              </a:tabLst>
            </a:pPr>
            <a:r>
              <a:rPr sz="2400" spc="5" dirty="0">
                <a:latin typeface="Calibri"/>
                <a:cs typeface="Calibri"/>
              </a:rPr>
              <a:t>10</a:t>
            </a:r>
            <a:r>
              <a:rPr sz="2325" spc="7" baseline="26881" dirty="0">
                <a:latin typeface="Calibri"/>
                <a:cs typeface="Calibri"/>
              </a:rPr>
              <a:t>18 </a:t>
            </a:r>
            <a:r>
              <a:rPr sz="2400" spc="-1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large</a:t>
            </a:r>
            <a:r>
              <a:rPr sz="2400" spc="-16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number!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3226" y="4119626"/>
            <a:ext cx="990600" cy="923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295"/>
              </a:spcBef>
              <a:tabLst>
                <a:tab pos="436245" algn="l"/>
                <a:tab pos="779145" algn="l"/>
              </a:tabLst>
            </a:pPr>
            <a:r>
              <a:rPr sz="1800" dirty="0">
                <a:latin typeface="Times New Roman"/>
                <a:cs typeface="Times New Roman"/>
              </a:rPr>
              <a:t>½	½	0</a:t>
            </a:r>
            <a:endParaRPr sz="1800">
              <a:latin typeface="Times New Roman"/>
              <a:cs typeface="Times New Roman"/>
            </a:endParaRPr>
          </a:p>
          <a:p>
            <a:pPr marL="150495">
              <a:lnSpc>
                <a:spcPct val="100000"/>
              </a:lnSpc>
              <a:spcBef>
                <a:spcPts val="15"/>
              </a:spcBef>
              <a:tabLst>
                <a:tab pos="493395" algn="l"/>
                <a:tab pos="779145" algn="l"/>
              </a:tabLst>
            </a:pPr>
            <a:r>
              <a:rPr sz="1800" dirty="0">
                <a:latin typeface="Times New Roman"/>
                <a:cs typeface="Times New Roman"/>
              </a:rPr>
              <a:t>½	0	0</a:t>
            </a:r>
            <a:endParaRPr sz="1800">
              <a:latin typeface="Times New Roman"/>
              <a:cs typeface="Times New Roman"/>
            </a:endParaRPr>
          </a:p>
          <a:p>
            <a:pPr marL="93345">
              <a:lnSpc>
                <a:spcPct val="100000"/>
              </a:lnSpc>
              <a:spcBef>
                <a:spcPts val="15"/>
              </a:spcBef>
              <a:tabLst>
                <a:tab pos="435609" algn="l"/>
                <a:tab pos="778510" algn="l"/>
              </a:tabLst>
            </a:pPr>
            <a:r>
              <a:rPr sz="1800" dirty="0">
                <a:latin typeface="Times New Roman"/>
                <a:cs typeface="Times New Roman"/>
              </a:rPr>
              <a:t>0	½	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53426" y="4119626"/>
            <a:ext cx="1181100" cy="923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295"/>
              </a:spcBef>
            </a:pPr>
            <a:r>
              <a:rPr sz="1800" spc="5" dirty="0">
                <a:latin typeface="Times New Roman"/>
                <a:cs typeface="Times New Roman"/>
              </a:rPr>
              <a:t>1/3 1/3</a:t>
            </a:r>
            <a:r>
              <a:rPr sz="1800" spc="-17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1/3</a:t>
            </a:r>
            <a:endParaRPr sz="180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15"/>
              </a:spcBef>
            </a:pPr>
            <a:r>
              <a:rPr sz="1800" spc="5" dirty="0">
                <a:latin typeface="Times New Roman"/>
                <a:cs typeface="Times New Roman"/>
              </a:rPr>
              <a:t>1/3 1/3</a:t>
            </a:r>
            <a:r>
              <a:rPr sz="1800" spc="-17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1/3</a:t>
            </a:r>
            <a:endParaRPr sz="180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15"/>
              </a:spcBef>
            </a:pPr>
            <a:r>
              <a:rPr sz="1800" spc="5" dirty="0">
                <a:latin typeface="Times New Roman"/>
                <a:cs typeface="Times New Roman"/>
              </a:rPr>
              <a:t>1/3 1/3</a:t>
            </a:r>
            <a:r>
              <a:rPr sz="1800" spc="-17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1/3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810438" y="5414962"/>
          <a:ext cx="2219960" cy="1219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047">
                <a:tc>
                  <a:txBody>
                    <a:bodyPr/>
                    <a:lstStyle/>
                    <a:p>
                      <a:pPr algn="ctr">
                        <a:lnSpc>
                          <a:spcPts val="27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7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27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637">
                <a:tc>
                  <a:txBody>
                    <a:bodyPr/>
                    <a:lstStyle/>
                    <a:p>
                      <a:pPr algn="ctr">
                        <a:lnSpc>
                          <a:spcPts val="275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75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275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13/15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190871" y="4315460"/>
            <a:ext cx="1045844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125" b="1" i="1" spc="22" baseline="-6060" dirty="0">
                <a:solidFill>
                  <a:srgbClr val="008000"/>
                </a:solidFill>
                <a:latin typeface="Corbel"/>
                <a:cs typeface="Corbel"/>
              </a:rPr>
              <a:t>A </a:t>
            </a:r>
            <a:r>
              <a:rPr sz="4125" spc="22" baseline="-6060" dirty="0">
                <a:latin typeface="Corbel"/>
                <a:cs typeface="Corbel"/>
              </a:rPr>
              <a:t>=</a:t>
            </a:r>
            <a:r>
              <a:rPr sz="4125" spc="232" baseline="-6060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0.8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59701" y="4363085"/>
            <a:ext cx="56388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35" dirty="0">
                <a:latin typeface="Corbel"/>
                <a:cs typeface="Corbel"/>
              </a:rPr>
              <a:t>+0.</a:t>
            </a:r>
            <a:r>
              <a:rPr sz="2400" dirty="0">
                <a:latin typeface="Corbel"/>
                <a:cs typeface="Corbel"/>
              </a:rPr>
              <a:t>2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29401" y="3524186"/>
            <a:ext cx="29806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rbel"/>
                <a:cs typeface="Corbel"/>
              </a:rPr>
              <a:t>A </a:t>
            </a:r>
            <a:r>
              <a:rPr sz="2400" dirty="0">
                <a:latin typeface="Corbel"/>
                <a:cs typeface="Corbel"/>
              </a:rPr>
              <a:t>= </a:t>
            </a:r>
            <a:r>
              <a:rPr sz="2400" dirty="0">
                <a:latin typeface="Symbol"/>
                <a:cs typeface="Symbol"/>
              </a:rPr>
              <a:t></a:t>
            </a:r>
            <a:r>
              <a:rPr sz="2400" b="1" dirty="0">
                <a:latin typeface="Corbel"/>
                <a:cs typeface="Corbel"/>
              </a:rPr>
              <a:t>∙M </a:t>
            </a:r>
            <a:r>
              <a:rPr sz="2400" dirty="0">
                <a:latin typeface="Corbel"/>
                <a:cs typeface="Corbel"/>
              </a:rPr>
              <a:t>+ </a:t>
            </a:r>
            <a:r>
              <a:rPr sz="2400" spc="10" dirty="0">
                <a:latin typeface="Corbel"/>
                <a:cs typeface="Corbel"/>
              </a:rPr>
              <a:t>(1-</a:t>
            </a:r>
            <a:r>
              <a:rPr sz="2400" spc="10" dirty="0">
                <a:latin typeface="Symbol"/>
                <a:cs typeface="Symbol"/>
              </a:rPr>
              <a:t></a:t>
            </a:r>
            <a:r>
              <a:rPr sz="2400" spc="10" dirty="0">
                <a:latin typeface="Corbel"/>
                <a:cs typeface="Corbel"/>
              </a:rPr>
              <a:t>)</a:t>
            </a:r>
            <a:r>
              <a:rPr sz="2400" spc="-250" dirty="0">
                <a:latin typeface="Corbel"/>
                <a:cs typeface="Corbel"/>
              </a:rPr>
              <a:t> </a:t>
            </a:r>
            <a:r>
              <a:rPr sz="2400" spc="5" dirty="0">
                <a:latin typeface="Corbel"/>
                <a:cs typeface="Corbel"/>
              </a:rPr>
              <a:t>[1/N]</a:t>
            </a:r>
            <a:r>
              <a:rPr sz="2325" spc="7" baseline="-19713" dirty="0">
                <a:latin typeface="Corbel"/>
                <a:cs typeface="Corbel"/>
              </a:rPr>
              <a:t>NxN</a:t>
            </a:r>
            <a:endParaRPr sz="2325" baseline="-19713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16675" y="5823267"/>
            <a:ext cx="20701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" dirty="0">
                <a:latin typeface="Corbel"/>
                <a:cs typeface="Corbel"/>
              </a:rPr>
              <a:t>=</a:t>
            </a:r>
            <a:endParaRPr sz="275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6300851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323" y="1687067"/>
            <a:ext cx="150380" cy="2045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4811" y="1690116"/>
            <a:ext cx="207987" cy="2015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84883" y="1802892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69">
                <a:moveTo>
                  <a:pt x="246379" y="0"/>
                </a:moveTo>
                <a:lnTo>
                  <a:pt x="0" y="0"/>
                </a:lnTo>
                <a:lnTo>
                  <a:pt x="0" y="26543"/>
                </a:lnTo>
                <a:lnTo>
                  <a:pt x="246379" y="26543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84883" y="1719833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69">
                <a:moveTo>
                  <a:pt x="246379" y="0"/>
                </a:moveTo>
                <a:lnTo>
                  <a:pt x="0" y="0"/>
                </a:lnTo>
                <a:lnTo>
                  <a:pt x="0" y="26669"/>
                </a:lnTo>
                <a:lnTo>
                  <a:pt x="246379" y="26669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71598" y="1617344"/>
            <a:ext cx="251460" cy="274320"/>
          </a:xfrm>
          <a:custGeom>
            <a:avLst/>
            <a:gdLst/>
            <a:ahLst/>
            <a:cxnLst/>
            <a:rect l="l" t="t" r="r" b="b"/>
            <a:pathLst>
              <a:path w="251460" h="274319">
                <a:moveTo>
                  <a:pt x="220725" y="0"/>
                </a:moveTo>
                <a:lnTo>
                  <a:pt x="163068" y="0"/>
                </a:lnTo>
                <a:lnTo>
                  <a:pt x="38988" y="223138"/>
                </a:lnTo>
                <a:lnTo>
                  <a:pt x="34794" y="230451"/>
                </a:lnTo>
                <a:lnTo>
                  <a:pt x="7619" y="260095"/>
                </a:lnTo>
                <a:lnTo>
                  <a:pt x="2920" y="261112"/>
                </a:lnTo>
                <a:lnTo>
                  <a:pt x="0" y="274319"/>
                </a:lnTo>
                <a:lnTo>
                  <a:pt x="84327" y="274319"/>
                </a:lnTo>
                <a:lnTo>
                  <a:pt x="87375" y="261112"/>
                </a:lnTo>
                <a:lnTo>
                  <a:pt x="75945" y="259714"/>
                </a:lnTo>
                <a:lnTo>
                  <a:pt x="70357" y="254126"/>
                </a:lnTo>
                <a:lnTo>
                  <a:pt x="70357" y="238632"/>
                </a:lnTo>
                <a:lnTo>
                  <a:pt x="71627" y="232282"/>
                </a:lnTo>
                <a:lnTo>
                  <a:pt x="88900" y="194690"/>
                </a:lnTo>
                <a:lnTo>
                  <a:pt x="91693" y="189737"/>
                </a:lnTo>
                <a:lnTo>
                  <a:pt x="228392" y="189737"/>
                </a:lnTo>
                <a:lnTo>
                  <a:pt x="227448" y="166369"/>
                </a:lnTo>
                <a:lnTo>
                  <a:pt x="104139" y="166369"/>
                </a:lnTo>
                <a:lnTo>
                  <a:pt x="165988" y="49783"/>
                </a:lnTo>
                <a:lnTo>
                  <a:pt x="222737" y="49783"/>
                </a:lnTo>
                <a:lnTo>
                  <a:pt x="220725" y="0"/>
                </a:lnTo>
                <a:close/>
              </a:path>
              <a:path w="251460" h="274319">
                <a:moveTo>
                  <a:pt x="228392" y="189737"/>
                </a:moveTo>
                <a:lnTo>
                  <a:pt x="169925" y="189737"/>
                </a:lnTo>
                <a:lnTo>
                  <a:pt x="170306" y="209295"/>
                </a:lnTo>
                <a:lnTo>
                  <a:pt x="170561" y="215645"/>
                </a:lnTo>
                <a:lnTo>
                  <a:pt x="170687" y="235330"/>
                </a:lnTo>
                <a:lnTo>
                  <a:pt x="147700" y="261112"/>
                </a:lnTo>
                <a:lnTo>
                  <a:pt x="144780" y="274319"/>
                </a:lnTo>
                <a:lnTo>
                  <a:pt x="248157" y="274319"/>
                </a:lnTo>
                <a:lnTo>
                  <a:pt x="251078" y="261112"/>
                </a:lnTo>
                <a:lnTo>
                  <a:pt x="247142" y="260603"/>
                </a:lnTo>
                <a:lnTo>
                  <a:pt x="243839" y="259460"/>
                </a:lnTo>
                <a:lnTo>
                  <a:pt x="229634" y="221614"/>
                </a:lnTo>
                <a:lnTo>
                  <a:pt x="229310" y="212471"/>
                </a:lnTo>
                <a:lnTo>
                  <a:pt x="228392" y="189737"/>
                </a:lnTo>
                <a:close/>
              </a:path>
              <a:path w="251460" h="274319">
                <a:moveTo>
                  <a:pt x="222737" y="49783"/>
                </a:moveTo>
                <a:lnTo>
                  <a:pt x="168275" y="49783"/>
                </a:lnTo>
                <a:lnTo>
                  <a:pt x="168243" y="94916"/>
                </a:lnTo>
                <a:lnTo>
                  <a:pt x="168362" y="106074"/>
                </a:lnTo>
                <a:lnTo>
                  <a:pt x="168528" y="118363"/>
                </a:lnTo>
                <a:lnTo>
                  <a:pt x="169290" y="166369"/>
                </a:lnTo>
                <a:lnTo>
                  <a:pt x="227448" y="166369"/>
                </a:lnTo>
                <a:lnTo>
                  <a:pt x="222737" y="497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70632" y="1750314"/>
            <a:ext cx="46990" cy="48895"/>
          </a:xfrm>
          <a:custGeom>
            <a:avLst/>
            <a:gdLst/>
            <a:ahLst/>
            <a:cxnLst/>
            <a:rect l="l" t="t" r="r" b="b"/>
            <a:pathLst>
              <a:path w="46989" h="48894">
                <a:moveTo>
                  <a:pt x="30099" y="0"/>
                </a:moveTo>
                <a:lnTo>
                  <a:pt x="23241" y="0"/>
                </a:lnTo>
                <a:lnTo>
                  <a:pt x="16510" y="0"/>
                </a:lnTo>
                <a:lnTo>
                  <a:pt x="10922" y="2286"/>
                </a:lnTo>
                <a:lnTo>
                  <a:pt x="2159" y="11302"/>
                </a:lnTo>
                <a:lnTo>
                  <a:pt x="0" y="17145"/>
                </a:lnTo>
                <a:lnTo>
                  <a:pt x="0" y="31496"/>
                </a:lnTo>
                <a:lnTo>
                  <a:pt x="2159" y="37464"/>
                </a:lnTo>
                <a:lnTo>
                  <a:pt x="6604" y="41910"/>
                </a:lnTo>
                <a:lnTo>
                  <a:pt x="10922" y="46482"/>
                </a:lnTo>
                <a:lnTo>
                  <a:pt x="16510" y="48768"/>
                </a:lnTo>
                <a:lnTo>
                  <a:pt x="30099" y="48768"/>
                </a:lnTo>
                <a:lnTo>
                  <a:pt x="35560" y="46482"/>
                </a:lnTo>
                <a:lnTo>
                  <a:pt x="44323" y="37464"/>
                </a:lnTo>
                <a:lnTo>
                  <a:pt x="46481" y="31496"/>
                </a:lnTo>
                <a:lnTo>
                  <a:pt x="46481" y="17145"/>
                </a:lnTo>
                <a:lnTo>
                  <a:pt x="44323" y="11302"/>
                </a:lnTo>
                <a:lnTo>
                  <a:pt x="40005" y="6731"/>
                </a:lnTo>
                <a:lnTo>
                  <a:pt x="35560" y="2286"/>
                </a:lnTo>
                <a:lnTo>
                  <a:pt x="30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40685" y="1690116"/>
            <a:ext cx="208025" cy="2015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645029" y="1471294"/>
            <a:ext cx="149098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93700" algn="l"/>
              </a:tabLst>
            </a:pPr>
            <a:r>
              <a:rPr b="1" spc="5" dirty="0">
                <a:latin typeface="Calibri"/>
                <a:cs typeface="Calibri"/>
              </a:rPr>
              <a:t>,	</a:t>
            </a:r>
            <a:r>
              <a:rPr b="1" spc="15" dirty="0">
                <a:latin typeface="Calibri"/>
                <a:cs typeface="Calibri"/>
              </a:rPr>
              <a:t>w</a:t>
            </a:r>
            <a:r>
              <a:rPr b="1" dirty="0">
                <a:latin typeface="Calibri"/>
                <a:cs typeface="Calibri"/>
              </a:rPr>
              <a:t>h</a:t>
            </a:r>
            <a:r>
              <a:rPr b="1" spc="35" dirty="0">
                <a:latin typeface="Calibri"/>
                <a:cs typeface="Calibri"/>
              </a:rPr>
              <a:t>e</a:t>
            </a:r>
            <a:r>
              <a:rPr b="1" spc="-15" dirty="0">
                <a:latin typeface="Calibri"/>
                <a:cs typeface="Calibri"/>
              </a:rPr>
              <a:t>r</a:t>
            </a:r>
            <a:r>
              <a:rPr b="1" spc="15" dirty="0">
                <a:latin typeface="Calibri"/>
                <a:cs typeface="Calibri"/>
              </a:rPr>
              <a:t>e</a:t>
            </a:r>
          </a:p>
        </p:txBody>
      </p:sp>
      <p:sp>
        <p:nvSpPr>
          <p:cNvPr id="11" name="object 11"/>
          <p:cNvSpPr/>
          <p:nvPr/>
        </p:nvSpPr>
        <p:spPr>
          <a:xfrm>
            <a:off x="4195699" y="1617344"/>
            <a:ext cx="483234" cy="424815"/>
          </a:xfrm>
          <a:custGeom>
            <a:avLst/>
            <a:gdLst/>
            <a:ahLst/>
            <a:cxnLst/>
            <a:rect l="l" t="t" r="r" b="b"/>
            <a:pathLst>
              <a:path w="483235" h="424814">
                <a:moveTo>
                  <a:pt x="251079" y="261112"/>
                </a:moveTo>
                <a:lnTo>
                  <a:pt x="230124" y="228219"/>
                </a:lnTo>
                <a:lnTo>
                  <a:pt x="229298" y="212483"/>
                </a:lnTo>
                <a:lnTo>
                  <a:pt x="228384" y="189738"/>
                </a:lnTo>
                <a:lnTo>
                  <a:pt x="227444" y="166370"/>
                </a:lnTo>
                <a:lnTo>
                  <a:pt x="222732" y="49784"/>
                </a:lnTo>
                <a:lnTo>
                  <a:pt x="220726" y="0"/>
                </a:lnTo>
                <a:lnTo>
                  <a:pt x="169291" y="0"/>
                </a:lnTo>
                <a:lnTo>
                  <a:pt x="169291" y="166370"/>
                </a:lnTo>
                <a:lnTo>
                  <a:pt x="104140" y="166370"/>
                </a:lnTo>
                <a:lnTo>
                  <a:pt x="165989" y="49784"/>
                </a:lnTo>
                <a:lnTo>
                  <a:pt x="168275" y="49784"/>
                </a:lnTo>
                <a:lnTo>
                  <a:pt x="168236" y="94919"/>
                </a:lnTo>
                <a:lnTo>
                  <a:pt x="168351" y="106083"/>
                </a:lnTo>
                <a:lnTo>
                  <a:pt x="168529" y="118364"/>
                </a:lnTo>
                <a:lnTo>
                  <a:pt x="169291" y="166370"/>
                </a:lnTo>
                <a:lnTo>
                  <a:pt x="169291" y="0"/>
                </a:lnTo>
                <a:lnTo>
                  <a:pt x="163068" y="0"/>
                </a:lnTo>
                <a:lnTo>
                  <a:pt x="38989" y="223139"/>
                </a:lnTo>
                <a:lnTo>
                  <a:pt x="34785" y="230454"/>
                </a:lnTo>
                <a:lnTo>
                  <a:pt x="7620" y="260096"/>
                </a:lnTo>
                <a:lnTo>
                  <a:pt x="2921" y="261112"/>
                </a:lnTo>
                <a:lnTo>
                  <a:pt x="0" y="274320"/>
                </a:lnTo>
                <a:lnTo>
                  <a:pt x="84328" y="274320"/>
                </a:lnTo>
                <a:lnTo>
                  <a:pt x="87376" y="261112"/>
                </a:lnTo>
                <a:lnTo>
                  <a:pt x="75946" y="259715"/>
                </a:lnTo>
                <a:lnTo>
                  <a:pt x="70358" y="254127"/>
                </a:lnTo>
                <a:lnTo>
                  <a:pt x="70358" y="238633"/>
                </a:lnTo>
                <a:lnTo>
                  <a:pt x="71628" y="232283"/>
                </a:lnTo>
                <a:lnTo>
                  <a:pt x="88900" y="194691"/>
                </a:lnTo>
                <a:lnTo>
                  <a:pt x="91694" y="189738"/>
                </a:lnTo>
                <a:lnTo>
                  <a:pt x="169926" y="189738"/>
                </a:lnTo>
                <a:lnTo>
                  <a:pt x="170307" y="209296"/>
                </a:lnTo>
                <a:lnTo>
                  <a:pt x="170561" y="215646"/>
                </a:lnTo>
                <a:lnTo>
                  <a:pt x="164973" y="254000"/>
                </a:lnTo>
                <a:lnTo>
                  <a:pt x="147701" y="261112"/>
                </a:lnTo>
                <a:lnTo>
                  <a:pt x="144780" y="274320"/>
                </a:lnTo>
                <a:lnTo>
                  <a:pt x="248158" y="274320"/>
                </a:lnTo>
                <a:lnTo>
                  <a:pt x="251079" y="261112"/>
                </a:lnTo>
                <a:close/>
              </a:path>
              <a:path w="483235" h="424814">
                <a:moveTo>
                  <a:pt x="363855" y="215392"/>
                </a:moveTo>
                <a:lnTo>
                  <a:pt x="347345" y="215392"/>
                </a:lnTo>
                <a:lnTo>
                  <a:pt x="305181" y="217043"/>
                </a:lnTo>
                <a:lnTo>
                  <a:pt x="303022" y="226568"/>
                </a:lnTo>
                <a:lnTo>
                  <a:pt x="308610" y="227076"/>
                </a:lnTo>
                <a:lnTo>
                  <a:pt x="312420" y="228219"/>
                </a:lnTo>
                <a:lnTo>
                  <a:pt x="314198" y="229743"/>
                </a:lnTo>
                <a:lnTo>
                  <a:pt x="315976" y="231394"/>
                </a:lnTo>
                <a:lnTo>
                  <a:pt x="316865" y="234061"/>
                </a:lnTo>
                <a:lnTo>
                  <a:pt x="316865" y="242443"/>
                </a:lnTo>
                <a:lnTo>
                  <a:pt x="290195" y="363220"/>
                </a:lnTo>
                <a:lnTo>
                  <a:pt x="283845" y="387096"/>
                </a:lnTo>
                <a:lnTo>
                  <a:pt x="281940" y="392811"/>
                </a:lnTo>
                <a:lnTo>
                  <a:pt x="263906" y="408051"/>
                </a:lnTo>
                <a:lnTo>
                  <a:pt x="255905" y="408051"/>
                </a:lnTo>
                <a:lnTo>
                  <a:pt x="252730" y="407670"/>
                </a:lnTo>
                <a:lnTo>
                  <a:pt x="250063" y="406908"/>
                </a:lnTo>
                <a:lnTo>
                  <a:pt x="246126" y="422656"/>
                </a:lnTo>
                <a:lnTo>
                  <a:pt x="250825" y="423926"/>
                </a:lnTo>
                <a:lnTo>
                  <a:pt x="255397" y="424434"/>
                </a:lnTo>
                <a:lnTo>
                  <a:pt x="259842" y="424434"/>
                </a:lnTo>
                <a:lnTo>
                  <a:pt x="274269" y="423418"/>
                </a:lnTo>
                <a:lnTo>
                  <a:pt x="287096" y="420331"/>
                </a:lnTo>
                <a:lnTo>
                  <a:pt x="298323" y="415175"/>
                </a:lnTo>
                <a:lnTo>
                  <a:pt x="307797" y="408051"/>
                </a:lnTo>
                <a:lnTo>
                  <a:pt x="307975" y="407924"/>
                </a:lnTo>
                <a:lnTo>
                  <a:pt x="316191" y="398500"/>
                </a:lnTo>
                <a:lnTo>
                  <a:pt x="323151" y="386626"/>
                </a:lnTo>
                <a:lnTo>
                  <a:pt x="328866" y="372313"/>
                </a:lnTo>
                <a:lnTo>
                  <a:pt x="333375" y="355600"/>
                </a:lnTo>
                <a:lnTo>
                  <a:pt x="363855" y="215392"/>
                </a:lnTo>
                <a:close/>
              </a:path>
              <a:path w="483235" h="424814">
                <a:moveTo>
                  <a:pt x="374015" y="159512"/>
                </a:moveTo>
                <a:lnTo>
                  <a:pt x="337185" y="159512"/>
                </a:lnTo>
                <a:lnTo>
                  <a:pt x="329184" y="194818"/>
                </a:lnTo>
                <a:lnTo>
                  <a:pt x="366522" y="194818"/>
                </a:lnTo>
                <a:lnTo>
                  <a:pt x="374015" y="159512"/>
                </a:lnTo>
                <a:close/>
              </a:path>
              <a:path w="483235" h="424814">
                <a:moveTo>
                  <a:pt x="479298" y="159512"/>
                </a:moveTo>
                <a:lnTo>
                  <a:pt x="442341" y="159512"/>
                </a:lnTo>
                <a:lnTo>
                  <a:pt x="434467" y="194818"/>
                </a:lnTo>
                <a:lnTo>
                  <a:pt x="471805" y="194818"/>
                </a:lnTo>
                <a:lnTo>
                  <a:pt x="479298" y="159512"/>
                </a:lnTo>
                <a:close/>
              </a:path>
              <a:path w="483235" h="424814">
                <a:moveTo>
                  <a:pt x="482981" y="335788"/>
                </a:moveTo>
                <a:lnTo>
                  <a:pt x="472694" y="325501"/>
                </a:lnTo>
                <a:lnTo>
                  <a:pt x="467995" y="330835"/>
                </a:lnTo>
                <a:lnTo>
                  <a:pt x="463804" y="334899"/>
                </a:lnTo>
                <a:lnTo>
                  <a:pt x="460375" y="337439"/>
                </a:lnTo>
                <a:lnTo>
                  <a:pt x="456946" y="340106"/>
                </a:lnTo>
                <a:lnTo>
                  <a:pt x="453771" y="341503"/>
                </a:lnTo>
                <a:lnTo>
                  <a:pt x="448691" y="341503"/>
                </a:lnTo>
                <a:lnTo>
                  <a:pt x="446913" y="340741"/>
                </a:lnTo>
                <a:lnTo>
                  <a:pt x="445643" y="339344"/>
                </a:lnTo>
                <a:lnTo>
                  <a:pt x="444373" y="337820"/>
                </a:lnTo>
                <a:lnTo>
                  <a:pt x="443966" y="335788"/>
                </a:lnTo>
                <a:lnTo>
                  <a:pt x="444068" y="325755"/>
                </a:lnTo>
                <a:lnTo>
                  <a:pt x="444373" y="323977"/>
                </a:lnTo>
                <a:lnTo>
                  <a:pt x="444627" y="321818"/>
                </a:lnTo>
                <a:lnTo>
                  <a:pt x="445262" y="318643"/>
                </a:lnTo>
                <a:lnTo>
                  <a:pt x="446278" y="314579"/>
                </a:lnTo>
                <a:lnTo>
                  <a:pt x="469265" y="215392"/>
                </a:lnTo>
                <a:lnTo>
                  <a:pt x="452882" y="215392"/>
                </a:lnTo>
                <a:lnTo>
                  <a:pt x="410591" y="217043"/>
                </a:lnTo>
                <a:lnTo>
                  <a:pt x="408432" y="226568"/>
                </a:lnTo>
                <a:lnTo>
                  <a:pt x="414147" y="227076"/>
                </a:lnTo>
                <a:lnTo>
                  <a:pt x="417830" y="228219"/>
                </a:lnTo>
                <a:lnTo>
                  <a:pt x="419608" y="229743"/>
                </a:lnTo>
                <a:lnTo>
                  <a:pt x="421386" y="231394"/>
                </a:lnTo>
                <a:lnTo>
                  <a:pt x="422275" y="234061"/>
                </a:lnTo>
                <a:lnTo>
                  <a:pt x="422275" y="243078"/>
                </a:lnTo>
                <a:lnTo>
                  <a:pt x="421259" y="250317"/>
                </a:lnTo>
                <a:lnTo>
                  <a:pt x="418973" y="259461"/>
                </a:lnTo>
                <a:lnTo>
                  <a:pt x="406908" y="309626"/>
                </a:lnTo>
                <a:lnTo>
                  <a:pt x="404749" y="318262"/>
                </a:lnTo>
                <a:lnTo>
                  <a:pt x="403758" y="325501"/>
                </a:lnTo>
                <a:lnTo>
                  <a:pt x="403796" y="342506"/>
                </a:lnTo>
                <a:lnTo>
                  <a:pt x="406019" y="349885"/>
                </a:lnTo>
                <a:lnTo>
                  <a:pt x="410845" y="354838"/>
                </a:lnTo>
                <a:lnTo>
                  <a:pt x="415544" y="359791"/>
                </a:lnTo>
                <a:lnTo>
                  <a:pt x="422910" y="362331"/>
                </a:lnTo>
                <a:lnTo>
                  <a:pt x="442087" y="362331"/>
                </a:lnTo>
                <a:lnTo>
                  <a:pt x="476110" y="342506"/>
                </a:lnTo>
                <a:lnTo>
                  <a:pt x="477139" y="341503"/>
                </a:lnTo>
                <a:lnTo>
                  <a:pt x="482981" y="335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56734" y="1802892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79" h="26669">
                <a:moveTo>
                  <a:pt x="246379" y="0"/>
                </a:moveTo>
                <a:lnTo>
                  <a:pt x="0" y="0"/>
                </a:lnTo>
                <a:lnTo>
                  <a:pt x="0" y="26543"/>
                </a:lnTo>
                <a:lnTo>
                  <a:pt x="246379" y="26543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56734" y="1719833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79" h="26669">
                <a:moveTo>
                  <a:pt x="246379" y="0"/>
                </a:moveTo>
                <a:lnTo>
                  <a:pt x="0" y="0"/>
                </a:lnTo>
                <a:lnTo>
                  <a:pt x="0" y="26669"/>
                </a:lnTo>
                <a:lnTo>
                  <a:pt x="246379" y="26669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39511" y="1605533"/>
            <a:ext cx="256540" cy="372745"/>
          </a:xfrm>
          <a:custGeom>
            <a:avLst/>
            <a:gdLst/>
            <a:ahLst/>
            <a:cxnLst/>
            <a:rect l="l" t="t" r="r" b="b"/>
            <a:pathLst>
              <a:path w="256539" h="372744">
                <a:moveTo>
                  <a:pt x="179324" y="0"/>
                </a:moveTo>
                <a:lnTo>
                  <a:pt x="131335" y="8197"/>
                </a:lnTo>
                <a:lnTo>
                  <a:pt x="95948" y="32130"/>
                </a:lnTo>
                <a:lnTo>
                  <a:pt x="71564" y="69899"/>
                </a:lnTo>
                <a:lnTo>
                  <a:pt x="54990" y="122174"/>
                </a:lnTo>
                <a:lnTo>
                  <a:pt x="0" y="372490"/>
                </a:lnTo>
                <a:lnTo>
                  <a:pt x="56768" y="372490"/>
                </a:lnTo>
                <a:lnTo>
                  <a:pt x="76962" y="279780"/>
                </a:lnTo>
                <a:lnTo>
                  <a:pt x="175733" y="279780"/>
                </a:lnTo>
                <a:lnTo>
                  <a:pt x="180086" y="278002"/>
                </a:lnTo>
                <a:lnTo>
                  <a:pt x="191013" y="271833"/>
                </a:lnTo>
                <a:lnTo>
                  <a:pt x="195410" y="268477"/>
                </a:lnTo>
                <a:lnTo>
                  <a:pt x="109600" y="268477"/>
                </a:lnTo>
                <a:lnTo>
                  <a:pt x="101853" y="266318"/>
                </a:lnTo>
                <a:lnTo>
                  <a:pt x="95885" y="261746"/>
                </a:lnTo>
                <a:lnTo>
                  <a:pt x="89788" y="257175"/>
                </a:lnTo>
                <a:lnTo>
                  <a:pt x="86740" y="251205"/>
                </a:lnTo>
                <a:lnTo>
                  <a:pt x="86740" y="238760"/>
                </a:lnTo>
                <a:lnTo>
                  <a:pt x="87249" y="234187"/>
                </a:lnTo>
                <a:lnTo>
                  <a:pt x="115188" y="108203"/>
                </a:lnTo>
                <a:lnTo>
                  <a:pt x="126396" y="69627"/>
                </a:lnTo>
                <a:lnTo>
                  <a:pt x="147937" y="32863"/>
                </a:lnTo>
                <a:lnTo>
                  <a:pt x="175387" y="20700"/>
                </a:lnTo>
                <a:lnTo>
                  <a:pt x="244721" y="20700"/>
                </a:lnTo>
                <a:lnTo>
                  <a:pt x="236600" y="13588"/>
                </a:lnTo>
                <a:lnTo>
                  <a:pt x="225579" y="7608"/>
                </a:lnTo>
                <a:lnTo>
                  <a:pt x="212343" y="3365"/>
                </a:lnTo>
                <a:lnTo>
                  <a:pt x="196917" y="837"/>
                </a:lnTo>
                <a:lnTo>
                  <a:pt x="179324" y="0"/>
                </a:lnTo>
                <a:close/>
              </a:path>
              <a:path w="256539" h="372744">
                <a:moveTo>
                  <a:pt x="175733" y="279780"/>
                </a:moveTo>
                <a:lnTo>
                  <a:pt x="76962" y="279780"/>
                </a:lnTo>
                <a:lnTo>
                  <a:pt x="82296" y="282575"/>
                </a:lnTo>
                <a:lnTo>
                  <a:pt x="125602" y="289305"/>
                </a:lnTo>
                <a:lnTo>
                  <a:pt x="140652" y="288611"/>
                </a:lnTo>
                <a:lnTo>
                  <a:pt x="154749" y="286512"/>
                </a:lnTo>
                <a:lnTo>
                  <a:pt x="167893" y="282983"/>
                </a:lnTo>
                <a:lnTo>
                  <a:pt x="175733" y="279780"/>
                </a:lnTo>
                <a:close/>
              </a:path>
              <a:path w="256539" h="372744">
                <a:moveTo>
                  <a:pt x="244721" y="20700"/>
                </a:moveTo>
                <a:lnTo>
                  <a:pt x="182499" y="20700"/>
                </a:lnTo>
                <a:lnTo>
                  <a:pt x="188213" y="23240"/>
                </a:lnTo>
                <a:lnTo>
                  <a:pt x="192404" y="28193"/>
                </a:lnTo>
                <a:lnTo>
                  <a:pt x="196596" y="33274"/>
                </a:lnTo>
                <a:lnTo>
                  <a:pt x="198754" y="40766"/>
                </a:lnTo>
                <a:lnTo>
                  <a:pt x="198754" y="50800"/>
                </a:lnTo>
                <a:lnTo>
                  <a:pt x="189057" y="90608"/>
                </a:lnTo>
                <a:lnTo>
                  <a:pt x="161305" y="117538"/>
                </a:lnTo>
                <a:lnTo>
                  <a:pt x="135127" y="125729"/>
                </a:lnTo>
                <a:lnTo>
                  <a:pt x="130555" y="146176"/>
                </a:lnTo>
                <a:lnTo>
                  <a:pt x="163331" y="166927"/>
                </a:lnTo>
                <a:lnTo>
                  <a:pt x="168528" y="192912"/>
                </a:lnTo>
                <a:lnTo>
                  <a:pt x="168126" y="203009"/>
                </a:lnTo>
                <a:lnTo>
                  <a:pt x="154463" y="246649"/>
                </a:lnTo>
                <a:lnTo>
                  <a:pt x="118745" y="268477"/>
                </a:lnTo>
                <a:lnTo>
                  <a:pt x="195410" y="268477"/>
                </a:lnTo>
                <a:lnTo>
                  <a:pt x="220725" y="236202"/>
                </a:lnTo>
                <a:lnTo>
                  <a:pt x="227584" y="200787"/>
                </a:lnTo>
                <a:lnTo>
                  <a:pt x="226822" y="189880"/>
                </a:lnTo>
                <a:lnTo>
                  <a:pt x="208535" y="154898"/>
                </a:lnTo>
                <a:lnTo>
                  <a:pt x="178942" y="138556"/>
                </a:lnTo>
                <a:lnTo>
                  <a:pt x="179324" y="135762"/>
                </a:lnTo>
                <a:lnTo>
                  <a:pt x="225972" y="112849"/>
                </a:lnTo>
                <a:lnTo>
                  <a:pt x="251428" y="79819"/>
                </a:lnTo>
                <a:lnTo>
                  <a:pt x="256286" y="52958"/>
                </a:lnTo>
                <a:lnTo>
                  <a:pt x="255042" y="40766"/>
                </a:lnTo>
                <a:lnTo>
                  <a:pt x="251348" y="30178"/>
                </a:lnTo>
                <a:lnTo>
                  <a:pt x="245195" y="21115"/>
                </a:lnTo>
                <a:lnTo>
                  <a:pt x="244721" y="20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09463" y="1618741"/>
            <a:ext cx="574675" cy="423545"/>
          </a:xfrm>
          <a:custGeom>
            <a:avLst/>
            <a:gdLst/>
            <a:ahLst/>
            <a:cxnLst/>
            <a:rect l="l" t="t" r="r" b="b"/>
            <a:pathLst>
              <a:path w="574675" h="423544">
                <a:moveTo>
                  <a:pt x="351536" y="0"/>
                </a:moveTo>
                <a:lnTo>
                  <a:pt x="258572" y="0"/>
                </a:lnTo>
                <a:lnTo>
                  <a:pt x="163703" y="166878"/>
                </a:lnTo>
                <a:lnTo>
                  <a:pt x="148082" y="0"/>
                </a:lnTo>
                <a:lnTo>
                  <a:pt x="54991" y="0"/>
                </a:lnTo>
                <a:lnTo>
                  <a:pt x="52197" y="13081"/>
                </a:lnTo>
                <a:lnTo>
                  <a:pt x="58039" y="13970"/>
                </a:lnTo>
                <a:lnTo>
                  <a:pt x="62230" y="15621"/>
                </a:lnTo>
                <a:lnTo>
                  <a:pt x="67437" y="20828"/>
                </a:lnTo>
                <a:lnTo>
                  <a:pt x="68707" y="24892"/>
                </a:lnTo>
                <a:lnTo>
                  <a:pt x="68707" y="38227"/>
                </a:lnTo>
                <a:lnTo>
                  <a:pt x="29718" y="218948"/>
                </a:lnTo>
                <a:lnTo>
                  <a:pt x="10287" y="257556"/>
                </a:lnTo>
                <a:lnTo>
                  <a:pt x="2794" y="259715"/>
                </a:lnTo>
                <a:lnTo>
                  <a:pt x="0" y="272923"/>
                </a:lnTo>
                <a:lnTo>
                  <a:pt x="73406" y="272923"/>
                </a:lnTo>
                <a:lnTo>
                  <a:pt x="76200" y="259715"/>
                </a:lnTo>
                <a:lnTo>
                  <a:pt x="70231" y="258953"/>
                </a:lnTo>
                <a:lnTo>
                  <a:pt x="66040" y="257175"/>
                </a:lnTo>
                <a:lnTo>
                  <a:pt x="60833" y="251968"/>
                </a:lnTo>
                <a:lnTo>
                  <a:pt x="59563" y="247904"/>
                </a:lnTo>
                <a:lnTo>
                  <a:pt x="59690" y="233172"/>
                </a:lnTo>
                <a:lnTo>
                  <a:pt x="61214" y="223139"/>
                </a:lnTo>
                <a:lnTo>
                  <a:pt x="81534" y="131191"/>
                </a:lnTo>
                <a:lnTo>
                  <a:pt x="85191" y="113792"/>
                </a:lnTo>
                <a:lnTo>
                  <a:pt x="88963" y="94322"/>
                </a:lnTo>
                <a:lnTo>
                  <a:pt x="92811" y="72783"/>
                </a:lnTo>
                <a:lnTo>
                  <a:pt x="96774" y="49149"/>
                </a:lnTo>
                <a:lnTo>
                  <a:pt x="99949" y="49149"/>
                </a:lnTo>
                <a:lnTo>
                  <a:pt x="100825" y="65227"/>
                </a:lnTo>
                <a:lnTo>
                  <a:pt x="102120" y="82804"/>
                </a:lnTo>
                <a:lnTo>
                  <a:pt x="105918" y="122555"/>
                </a:lnTo>
                <a:lnTo>
                  <a:pt x="119126" y="242697"/>
                </a:lnTo>
                <a:lnTo>
                  <a:pt x="151511" y="242697"/>
                </a:lnTo>
                <a:lnTo>
                  <a:pt x="241554" y="86995"/>
                </a:lnTo>
                <a:lnTo>
                  <a:pt x="261747" y="51181"/>
                </a:lnTo>
                <a:lnTo>
                  <a:pt x="265684" y="51181"/>
                </a:lnTo>
                <a:lnTo>
                  <a:pt x="254127" y="93179"/>
                </a:lnTo>
                <a:lnTo>
                  <a:pt x="244094" y="134874"/>
                </a:lnTo>
                <a:lnTo>
                  <a:pt x="225679" y="218948"/>
                </a:lnTo>
                <a:lnTo>
                  <a:pt x="223240" y="228879"/>
                </a:lnTo>
                <a:lnTo>
                  <a:pt x="198755" y="259715"/>
                </a:lnTo>
                <a:lnTo>
                  <a:pt x="195961" y="272923"/>
                </a:lnTo>
                <a:lnTo>
                  <a:pt x="296545" y="272923"/>
                </a:lnTo>
                <a:lnTo>
                  <a:pt x="299339" y="259715"/>
                </a:lnTo>
                <a:lnTo>
                  <a:pt x="293497" y="258953"/>
                </a:lnTo>
                <a:lnTo>
                  <a:pt x="289179" y="257175"/>
                </a:lnTo>
                <a:lnTo>
                  <a:pt x="283972" y="251968"/>
                </a:lnTo>
                <a:lnTo>
                  <a:pt x="282702" y="247904"/>
                </a:lnTo>
                <a:lnTo>
                  <a:pt x="282702" y="237236"/>
                </a:lnTo>
                <a:lnTo>
                  <a:pt x="321691" y="53975"/>
                </a:lnTo>
                <a:lnTo>
                  <a:pt x="341122" y="15240"/>
                </a:lnTo>
                <a:lnTo>
                  <a:pt x="348742" y="13081"/>
                </a:lnTo>
                <a:lnTo>
                  <a:pt x="351536" y="0"/>
                </a:lnTo>
                <a:close/>
              </a:path>
              <a:path w="574675" h="423544">
                <a:moveTo>
                  <a:pt x="455041" y="213995"/>
                </a:moveTo>
                <a:lnTo>
                  <a:pt x="438531" y="213995"/>
                </a:lnTo>
                <a:lnTo>
                  <a:pt x="396367" y="215646"/>
                </a:lnTo>
                <a:lnTo>
                  <a:pt x="394208" y="225171"/>
                </a:lnTo>
                <a:lnTo>
                  <a:pt x="399796" y="225679"/>
                </a:lnTo>
                <a:lnTo>
                  <a:pt x="403606" y="226822"/>
                </a:lnTo>
                <a:lnTo>
                  <a:pt x="405384" y="228346"/>
                </a:lnTo>
                <a:lnTo>
                  <a:pt x="407162" y="229997"/>
                </a:lnTo>
                <a:lnTo>
                  <a:pt x="408051" y="232664"/>
                </a:lnTo>
                <a:lnTo>
                  <a:pt x="408051" y="241046"/>
                </a:lnTo>
                <a:lnTo>
                  <a:pt x="381381" y="361823"/>
                </a:lnTo>
                <a:lnTo>
                  <a:pt x="375031" y="385699"/>
                </a:lnTo>
                <a:lnTo>
                  <a:pt x="373126" y="391414"/>
                </a:lnTo>
                <a:lnTo>
                  <a:pt x="355092" y="406654"/>
                </a:lnTo>
                <a:lnTo>
                  <a:pt x="347091" y="406654"/>
                </a:lnTo>
                <a:lnTo>
                  <a:pt x="343916" y="406273"/>
                </a:lnTo>
                <a:lnTo>
                  <a:pt x="341249" y="405511"/>
                </a:lnTo>
                <a:lnTo>
                  <a:pt x="337312" y="421259"/>
                </a:lnTo>
                <a:lnTo>
                  <a:pt x="342011" y="422529"/>
                </a:lnTo>
                <a:lnTo>
                  <a:pt x="346583" y="423037"/>
                </a:lnTo>
                <a:lnTo>
                  <a:pt x="351028" y="423037"/>
                </a:lnTo>
                <a:lnTo>
                  <a:pt x="365455" y="422021"/>
                </a:lnTo>
                <a:lnTo>
                  <a:pt x="378282" y="418934"/>
                </a:lnTo>
                <a:lnTo>
                  <a:pt x="389509" y="413778"/>
                </a:lnTo>
                <a:lnTo>
                  <a:pt x="398983" y="406654"/>
                </a:lnTo>
                <a:lnTo>
                  <a:pt x="399161" y="406527"/>
                </a:lnTo>
                <a:lnTo>
                  <a:pt x="407377" y="397103"/>
                </a:lnTo>
                <a:lnTo>
                  <a:pt x="414337" y="385229"/>
                </a:lnTo>
                <a:lnTo>
                  <a:pt x="420052" y="370916"/>
                </a:lnTo>
                <a:lnTo>
                  <a:pt x="424561" y="354203"/>
                </a:lnTo>
                <a:lnTo>
                  <a:pt x="455041" y="213995"/>
                </a:lnTo>
                <a:close/>
              </a:path>
              <a:path w="574675" h="423544">
                <a:moveTo>
                  <a:pt x="465201" y="158115"/>
                </a:moveTo>
                <a:lnTo>
                  <a:pt x="428371" y="158115"/>
                </a:lnTo>
                <a:lnTo>
                  <a:pt x="420370" y="193421"/>
                </a:lnTo>
                <a:lnTo>
                  <a:pt x="457708" y="193421"/>
                </a:lnTo>
                <a:lnTo>
                  <a:pt x="465201" y="158115"/>
                </a:lnTo>
                <a:close/>
              </a:path>
              <a:path w="574675" h="423544">
                <a:moveTo>
                  <a:pt x="570484" y="158115"/>
                </a:moveTo>
                <a:lnTo>
                  <a:pt x="533527" y="158115"/>
                </a:lnTo>
                <a:lnTo>
                  <a:pt x="525653" y="193421"/>
                </a:lnTo>
                <a:lnTo>
                  <a:pt x="562991" y="193421"/>
                </a:lnTo>
                <a:lnTo>
                  <a:pt x="570484" y="158115"/>
                </a:lnTo>
                <a:close/>
              </a:path>
              <a:path w="574675" h="423544">
                <a:moveTo>
                  <a:pt x="574167" y="334391"/>
                </a:moveTo>
                <a:lnTo>
                  <a:pt x="563880" y="324104"/>
                </a:lnTo>
                <a:lnTo>
                  <a:pt x="559181" y="329438"/>
                </a:lnTo>
                <a:lnTo>
                  <a:pt x="554990" y="333502"/>
                </a:lnTo>
                <a:lnTo>
                  <a:pt x="551561" y="336042"/>
                </a:lnTo>
                <a:lnTo>
                  <a:pt x="548132" y="338709"/>
                </a:lnTo>
                <a:lnTo>
                  <a:pt x="544957" y="340106"/>
                </a:lnTo>
                <a:lnTo>
                  <a:pt x="539877" y="340106"/>
                </a:lnTo>
                <a:lnTo>
                  <a:pt x="538099" y="339344"/>
                </a:lnTo>
                <a:lnTo>
                  <a:pt x="536829" y="337947"/>
                </a:lnTo>
                <a:lnTo>
                  <a:pt x="535559" y="336423"/>
                </a:lnTo>
                <a:lnTo>
                  <a:pt x="535152" y="334391"/>
                </a:lnTo>
                <a:lnTo>
                  <a:pt x="535254" y="324358"/>
                </a:lnTo>
                <a:lnTo>
                  <a:pt x="535559" y="322580"/>
                </a:lnTo>
                <a:lnTo>
                  <a:pt x="535813" y="320421"/>
                </a:lnTo>
                <a:lnTo>
                  <a:pt x="536448" y="317246"/>
                </a:lnTo>
                <a:lnTo>
                  <a:pt x="537464" y="313182"/>
                </a:lnTo>
                <a:lnTo>
                  <a:pt x="560451" y="213995"/>
                </a:lnTo>
                <a:lnTo>
                  <a:pt x="544068" y="213995"/>
                </a:lnTo>
                <a:lnTo>
                  <a:pt x="501777" y="215646"/>
                </a:lnTo>
                <a:lnTo>
                  <a:pt x="499618" y="225171"/>
                </a:lnTo>
                <a:lnTo>
                  <a:pt x="505333" y="225679"/>
                </a:lnTo>
                <a:lnTo>
                  <a:pt x="509016" y="226822"/>
                </a:lnTo>
                <a:lnTo>
                  <a:pt x="510794" y="228346"/>
                </a:lnTo>
                <a:lnTo>
                  <a:pt x="512572" y="229997"/>
                </a:lnTo>
                <a:lnTo>
                  <a:pt x="513461" y="232664"/>
                </a:lnTo>
                <a:lnTo>
                  <a:pt x="513461" y="241681"/>
                </a:lnTo>
                <a:lnTo>
                  <a:pt x="512445" y="248920"/>
                </a:lnTo>
                <a:lnTo>
                  <a:pt x="510159" y="258064"/>
                </a:lnTo>
                <a:lnTo>
                  <a:pt x="498094" y="308229"/>
                </a:lnTo>
                <a:lnTo>
                  <a:pt x="495935" y="316865"/>
                </a:lnTo>
                <a:lnTo>
                  <a:pt x="494944" y="324104"/>
                </a:lnTo>
                <a:lnTo>
                  <a:pt x="494982" y="341109"/>
                </a:lnTo>
                <a:lnTo>
                  <a:pt x="497205" y="348488"/>
                </a:lnTo>
                <a:lnTo>
                  <a:pt x="502031" y="353441"/>
                </a:lnTo>
                <a:lnTo>
                  <a:pt x="506730" y="358394"/>
                </a:lnTo>
                <a:lnTo>
                  <a:pt x="514096" y="360934"/>
                </a:lnTo>
                <a:lnTo>
                  <a:pt x="533273" y="360934"/>
                </a:lnTo>
                <a:lnTo>
                  <a:pt x="567296" y="341109"/>
                </a:lnTo>
                <a:lnTo>
                  <a:pt x="568325" y="340106"/>
                </a:lnTo>
                <a:lnTo>
                  <a:pt x="574167" y="3343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33109" y="1645919"/>
            <a:ext cx="246379" cy="257810"/>
          </a:xfrm>
          <a:custGeom>
            <a:avLst/>
            <a:gdLst/>
            <a:ahLst/>
            <a:cxnLst/>
            <a:rect l="l" t="t" r="r" b="b"/>
            <a:pathLst>
              <a:path w="246379" h="257810">
                <a:moveTo>
                  <a:pt x="246380" y="115570"/>
                </a:moveTo>
                <a:lnTo>
                  <a:pt x="137287" y="115570"/>
                </a:lnTo>
                <a:lnTo>
                  <a:pt x="137287" y="0"/>
                </a:lnTo>
                <a:lnTo>
                  <a:pt x="108966" y="0"/>
                </a:lnTo>
                <a:lnTo>
                  <a:pt x="108966" y="115570"/>
                </a:lnTo>
                <a:lnTo>
                  <a:pt x="0" y="115570"/>
                </a:lnTo>
                <a:lnTo>
                  <a:pt x="0" y="142240"/>
                </a:lnTo>
                <a:lnTo>
                  <a:pt x="108966" y="142240"/>
                </a:lnTo>
                <a:lnTo>
                  <a:pt x="108966" y="257810"/>
                </a:lnTo>
                <a:lnTo>
                  <a:pt x="137287" y="257810"/>
                </a:lnTo>
                <a:lnTo>
                  <a:pt x="137287" y="142240"/>
                </a:lnTo>
                <a:lnTo>
                  <a:pt x="246380" y="142240"/>
                </a:lnTo>
                <a:lnTo>
                  <a:pt x="246380" y="115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03314" y="1447164"/>
            <a:ext cx="600075" cy="339725"/>
          </a:xfrm>
          <a:custGeom>
            <a:avLst/>
            <a:gdLst/>
            <a:ahLst/>
            <a:cxnLst/>
            <a:rect l="l" t="t" r="r" b="b"/>
            <a:pathLst>
              <a:path w="600075" h="339725">
                <a:moveTo>
                  <a:pt x="371449" y="110921"/>
                </a:moveTo>
                <a:lnTo>
                  <a:pt x="205359" y="110921"/>
                </a:lnTo>
                <a:lnTo>
                  <a:pt x="205359" y="132969"/>
                </a:lnTo>
                <a:lnTo>
                  <a:pt x="371449" y="132969"/>
                </a:lnTo>
                <a:lnTo>
                  <a:pt x="371449" y="110921"/>
                </a:lnTo>
                <a:close/>
              </a:path>
              <a:path w="600075" h="339725">
                <a:moveTo>
                  <a:pt x="586994" y="38227"/>
                </a:moveTo>
                <a:lnTo>
                  <a:pt x="564832" y="5575"/>
                </a:lnTo>
                <a:lnTo>
                  <a:pt x="545465" y="838"/>
                </a:lnTo>
                <a:lnTo>
                  <a:pt x="545465" y="29464"/>
                </a:lnTo>
                <a:lnTo>
                  <a:pt x="545350" y="38227"/>
                </a:lnTo>
                <a:lnTo>
                  <a:pt x="526402" y="79705"/>
                </a:lnTo>
                <a:lnTo>
                  <a:pt x="499618" y="90805"/>
                </a:lnTo>
                <a:lnTo>
                  <a:pt x="496316" y="105410"/>
                </a:lnTo>
                <a:lnTo>
                  <a:pt x="505714" y="107315"/>
                </a:lnTo>
                <a:lnTo>
                  <a:pt x="512572" y="110871"/>
                </a:lnTo>
                <a:lnTo>
                  <a:pt x="521462" y="121285"/>
                </a:lnTo>
                <a:lnTo>
                  <a:pt x="523748" y="129032"/>
                </a:lnTo>
                <a:lnTo>
                  <a:pt x="523748" y="139192"/>
                </a:lnTo>
                <a:lnTo>
                  <a:pt x="511810" y="181610"/>
                </a:lnTo>
                <a:lnTo>
                  <a:pt x="506222" y="186436"/>
                </a:lnTo>
                <a:lnTo>
                  <a:pt x="500761" y="191262"/>
                </a:lnTo>
                <a:lnTo>
                  <a:pt x="494538" y="193675"/>
                </a:lnTo>
                <a:lnTo>
                  <a:pt x="481203" y="193675"/>
                </a:lnTo>
                <a:lnTo>
                  <a:pt x="475742" y="192024"/>
                </a:lnTo>
                <a:lnTo>
                  <a:pt x="466979" y="185547"/>
                </a:lnTo>
                <a:lnTo>
                  <a:pt x="464820" y="181229"/>
                </a:lnTo>
                <a:lnTo>
                  <a:pt x="464820" y="172212"/>
                </a:lnTo>
                <a:lnTo>
                  <a:pt x="465074" y="168910"/>
                </a:lnTo>
                <a:lnTo>
                  <a:pt x="465836" y="165862"/>
                </a:lnTo>
                <a:lnTo>
                  <a:pt x="485267" y="78105"/>
                </a:lnTo>
                <a:lnTo>
                  <a:pt x="498106" y="39433"/>
                </a:lnTo>
                <a:lnTo>
                  <a:pt x="528701" y="15113"/>
                </a:lnTo>
                <a:lnTo>
                  <a:pt x="533908" y="15113"/>
                </a:lnTo>
                <a:lnTo>
                  <a:pt x="537972" y="16891"/>
                </a:lnTo>
                <a:lnTo>
                  <a:pt x="544068" y="24003"/>
                </a:lnTo>
                <a:lnTo>
                  <a:pt x="545465" y="29464"/>
                </a:lnTo>
                <a:lnTo>
                  <a:pt x="545465" y="838"/>
                </a:lnTo>
                <a:lnTo>
                  <a:pt x="544207" y="622"/>
                </a:lnTo>
                <a:lnTo>
                  <a:pt x="531495" y="0"/>
                </a:lnTo>
                <a:lnTo>
                  <a:pt x="518947" y="673"/>
                </a:lnTo>
                <a:lnTo>
                  <a:pt x="479044" y="16408"/>
                </a:lnTo>
                <a:lnTo>
                  <a:pt x="453847" y="50457"/>
                </a:lnTo>
                <a:lnTo>
                  <a:pt x="441833" y="88138"/>
                </a:lnTo>
                <a:lnTo>
                  <a:pt x="402209" y="268605"/>
                </a:lnTo>
                <a:lnTo>
                  <a:pt x="443103" y="268605"/>
                </a:lnTo>
                <a:lnTo>
                  <a:pt x="457708" y="201803"/>
                </a:lnTo>
                <a:lnTo>
                  <a:pt x="461518" y="203835"/>
                </a:lnTo>
                <a:lnTo>
                  <a:pt x="466725" y="205486"/>
                </a:lnTo>
                <a:lnTo>
                  <a:pt x="479425" y="208026"/>
                </a:lnTo>
                <a:lnTo>
                  <a:pt x="486029" y="208661"/>
                </a:lnTo>
                <a:lnTo>
                  <a:pt x="492760" y="208661"/>
                </a:lnTo>
                <a:lnTo>
                  <a:pt x="503631" y="208165"/>
                </a:lnTo>
                <a:lnTo>
                  <a:pt x="513803" y="206654"/>
                </a:lnTo>
                <a:lnTo>
                  <a:pt x="523252" y="204114"/>
                </a:lnTo>
                <a:lnTo>
                  <a:pt x="528891" y="201803"/>
                </a:lnTo>
                <a:lnTo>
                  <a:pt x="532003" y="200533"/>
                </a:lnTo>
                <a:lnTo>
                  <a:pt x="539877" y="196062"/>
                </a:lnTo>
                <a:lnTo>
                  <a:pt x="543001" y="193675"/>
                </a:lnTo>
                <a:lnTo>
                  <a:pt x="546760" y="190804"/>
                </a:lnTo>
                <a:lnTo>
                  <a:pt x="565734" y="153860"/>
                </a:lnTo>
                <a:lnTo>
                  <a:pt x="566293" y="144780"/>
                </a:lnTo>
                <a:lnTo>
                  <a:pt x="565734" y="136982"/>
                </a:lnTo>
                <a:lnTo>
                  <a:pt x="539445" y="103174"/>
                </a:lnTo>
                <a:lnTo>
                  <a:pt x="531241" y="99949"/>
                </a:lnTo>
                <a:lnTo>
                  <a:pt x="531495" y="97917"/>
                </a:lnTo>
                <a:lnTo>
                  <a:pt x="573024" y="74295"/>
                </a:lnTo>
                <a:lnTo>
                  <a:pt x="586130" y="48285"/>
                </a:lnTo>
                <a:lnTo>
                  <a:pt x="586994" y="38227"/>
                </a:lnTo>
                <a:close/>
              </a:path>
              <a:path w="600075" h="339725">
                <a:moveTo>
                  <a:pt x="600075" y="311150"/>
                </a:moveTo>
                <a:lnTo>
                  <a:pt x="0" y="311150"/>
                </a:lnTo>
                <a:lnTo>
                  <a:pt x="0" y="339725"/>
                </a:lnTo>
                <a:lnTo>
                  <a:pt x="600075" y="339725"/>
                </a:lnTo>
                <a:lnTo>
                  <a:pt x="600075" y="311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26935" y="1454403"/>
            <a:ext cx="133096" cy="19913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92163" y="1904364"/>
            <a:ext cx="208279" cy="19685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7062" y="2209164"/>
            <a:ext cx="323850" cy="40068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13130" y="2091436"/>
            <a:ext cx="32004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200" spc="-220" dirty="0">
                <a:latin typeface="Cambria Math"/>
                <a:cs typeface="Cambria Math"/>
              </a:rPr>
              <a:t>𝑟</a:t>
            </a:r>
            <a:r>
              <a:rPr sz="3450" spc="-330" baseline="-16908" dirty="0">
                <a:latin typeface="Cambria Math"/>
                <a:cs typeface="Cambria Math"/>
              </a:rPr>
              <a:t>𝑗</a:t>
            </a:r>
            <a:endParaRPr sz="3450" baseline="-16908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20900" y="2310511"/>
            <a:ext cx="521334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180" dirty="0">
                <a:latin typeface="Cambria Math"/>
                <a:cs typeface="Cambria Math"/>
              </a:rPr>
              <a:t>i</a:t>
            </a:r>
            <a:r>
              <a:rPr sz="2300" spc="5" dirty="0">
                <a:latin typeface="Cambria Math"/>
                <a:cs typeface="Cambria Math"/>
              </a:rPr>
              <a:t>=</a:t>
            </a:r>
            <a:r>
              <a:rPr sz="2300" spc="70" dirty="0">
                <a:latin typeface="Cambria Math"/>
                <a:cs typeface="Cambria Math"/>
              </a:rPr>
              <a:t>1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99539" y="1929130"/>
            <a:ext cx="99631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800" spc="30" baseline="-22569" dirty="0">
                <a:latin typeface="Cambria Math"/>
                <a:cs typeface="Cambria Math"/>
              </a:rPr>
              <a:t>=</a:t>
            </a:r>
            <a:r>
              <a:rPr sz="4800" spc="60" baseline="-22569" dirty="0">
                <a:latin typeface="Cambria Math"/>
                <a:cs typeface="Cambria Math"/>
              </a:rPr>
              <a:t> </a:t>
            </a:r>
            <a:r>
              <a:rPr sz="4800" spc="367" baseline="-19965" dirty="0">
                <a:latin typeface="Cambria Math"/>
                <a:cs typeface="Cambria Math"/>
              </a:rPr>
              <a:t>σ</a:t>
            </a:r>
            <a:r>
              <a:rPr sz="2300" spc="245" dirty="0">
                <a:latin typeface="Cambria Math"/>
                <a:cs typeface="Cambria Math"/>
              </a:rPr>
              <a:t>𝑁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61285" y="2091436"/>
            <a:ext cx="10890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latin typeface="Cambria Math"/>
                <a:cs typeface="Cambria Math"/>
              </a:rPr>
              <a:t>𝐴</a:t>
            </a:r>
            <a:r>
              <a:rPr sz="3450" spc="37" baseline="-16908" dirty="0">
                <a:latin typeface="Cambria Math"/>
                <a:cs typeface="Cambria Math"/>
              </a:rPr>
              <a:t>𝑗𝑖 </a:t>
            </a:r>
            <a:r>
              <a:rPr sz="3200" spc="5" dirty="0">
                <a:latin typeface="Cambria Math"/>
                <a:cs typeface="Cambria Math"/>
              </a:rPr>
              <a:t>⋅</a:t>
            </a:r>
            <a:r>
              <a:rPr sz="3200" spc="-204" dirty="0">
                <a:latin typeface="Cambria Math"/>
                <a:cs typeface="Cambria Math"/>
              </a:rPr>
              <a:t> </a:t>
            </a:r>
            <a:r>
              <a:rPr sz="3200" spc="-155" dirty="0">
                <a:latin typeface="Cambria Math"/>
                <a:cs typeface="Cambria Math"/>
              </a:rPr>
              <a:t>𝑟</a:t>
            </a:r>
            <a:r>
              <a:rPr sz="3450" spc="-232" baseline="-16908" dirty="0">
                <a:latin typeface="Cambria Math"/>
                <a:cs typeface="Cambria Math"/>
              </a:rPr>
              <a:t>𝑖</a:t>
            </a:r>
            <a:endParaRPr sz="3450" baseline="-16908">
              <a:latin typeface="Cambria Math"/>
              <a:cs typeface="Cambria Math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323" y="2953892"/>
            <a:ext cx="150380" cy="204597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954811" y="2963926"/>
            <a:ext cx="228600" cy="337820"/>
            <a:chOff x="954811" y="2963926"/>
            <a:chExt cx="228600" cy="337820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4811" y="2963926"/>
              <a:ext cx="182994" cy="19456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058595" y="3040380"/>
              <a:ext cx="125095" cy="261620"/>
            </a:xfrm>
            <a:custGeom>
              <a:avLst/>
              <a:gdLst/>
              <a:ahLst/>
              <a:cxnLst/>
              <a:rect l="l" t="t" r="r" b="b"/>
              <a:pathLst>
                <a:path w="125094" h="261620">
                  <a:moveTo>
                    <a:pt x="3606" y="244729"/>
                  </a:moveTo>
                  <a:lnTo>
                    <a:pt x="0" y="259969"/>
                  </a:lnTo>
                  <a:lnTo>
                    <a:pt x="1828" y="260350"/>
                  </a:lnTo>
                  <a:lnTo>
                    <a:pt x="3886" y="260731"/>
                  </a:lnTo>
                  <a:lnTo>
                    <a:pt x="8509" y="261239"/>
                  </a:lnTo>
                  <a:lnTo>
                    <a:pt x="10909" y="261366"/>
                  </a:lnTo>
                  <a:lnTo>
                    <a:pt x="22821" y="261366"/>
                  </a:lnTo>
                  <a:lnTo>
                    <a:pt x="31191" y="260223"/>
                  </a:lnTo>
                  <a:lnTo>
                    <a:pt x="38493" y="257810"/>
                  </a:lnTo>
                  <a:lnTo>
                    <a:pt x="45796" y="255524"/>
                  </a:lnTo>
                  <a:lnTo>
                    <a:pt x="52184" y="251841"/>
                  </a:lnTo>
                  <a:lnTo>
                    <a:pt x="57670" y="246761"/>
                  </a:lnTo>
                  <a:lnTo>
                    <a:pt x="58653" y="245872"/>
                  </a:lnTo>
                  <a:lnTo>
                    <a:pt x="10134" y="245872"/>
                  </a:lnTo>
                  <a:lnTo>
                    <a:pt x="6299" y="245618"/>
                  </a:lnTo>
                  <a:lnTo>
                    <a:pt x="4749" y="245237"/>
                  </a:lnTo>
                  <a:lnTo>
                    <a:pt x="3606" y="244729"/>
                  </a:lnTo>
                  <a:close/>
                </a:path>
                <a:path w="125094" h="261620">
                  <a:moveTo>
                    <a:pt x="110871" y="58039"/>
                  </a:moveTo>
                  <a:lnTo>
                    <a:pt x="100926" y="58039"/>
                  </a:lnTo>
                  <a:lnTo>
                    <a:pt x="62280" y="59690"/>
                  </a:lnTo>
                  <a:lnTo>
                    <a:pt x="60121" y="69469"/>
                  </a:lnTo>
                  <a:lnTo>
                    <a:pt x="66560" y="69596"/>
                  </a:lnTo>
                  <a:lnTo>
                    <a:pt x="71056" y="70485"/>
                  </a:lnTo>
                  <a:lnTo>
                    <a:pt x="73596" y="72136"/>
                  </a:lnTo>
                  <a:lnTo>
                    <a:pt x="76149" y="73660"/>
                  </a:lnTo>
                  <a:lnTo>
                    <a:pt x="77419" y="76200"/>
                  </a:lnTo>
                  <a:lnTo>
                    <a:pt x="71107" y="114427"/>
                  </a:lnTo>
                  <a:lnTo>
                    <a:pt x="59225" y="168370"/>
                  </a:lnTo>
                  <a:lnTo>
                    <a:pt x="56840" y="179133"/>
                  </a:lnTo>
                  <a:lnTo>
                    <a:pt x="54400" y="190277"/>
                  </a:lnTo>
                  <a:lnTo>
                    <a:pt x="51904" y="201803"/>
                  </a:lnTo>
                  <a:lnTo>
                    <a:pt x="49885" y="210693"/>
                  </a:lnTo>
                  <a:lnTo>
                    <a:pt x="47701" y="218059"/>
                  </a:lnTo>
                  <a:lnTo>
                    <a:pt x="42989" y="229489"/>
                  </a:lnTo>
                  <a:lnTo>
                    <a:pt x="40347" y="234061"/>
                  </a:lnTo>
                  <a:lnTo>
                    <a:pt x="37414" y="237236"/>
                  </a:lnTo>
                  <a:lnTo>
                    <a:pt x="34480" y="240537"/>
                  </a:lnTo>
                  <a:lnTo>
                    <a:pt x="31165" y="242824"/>
                  </a:lnTo>
                  <a:lnTo>
                    <a:pt x="23761" y="245364"/>
                  </a:lnTo>
                  <a:lnTo>
                    <a:pt x="19558" y="245872"/>
                  </a:lnTo>
                  <a:lnTo>
                    <a:pt x="58653" y="245872"/>
                  </a:lnTo>
                  <a:lnTo>
                    <a:pt x="78947" y="207295"/>
                  </a:lnTo>
                  <a:lnTo>
                    <a:pt x="80886" y="199390"/>
                  </a:lnTo>
                  <a:lnTo>
                    <a:pt x="110871" y="58039"/>
                  </a:lnTo>
                  <a:close/>
                </a:path>
                <a:path w="125094" h="261620">
                  <a:moveTo>
                    <a:pt x="124561" y="0"/>
                  </a:moveTo>
                  <a:lnTo>
                    <a:pt x="95592" y="0"/>
                  </a:lnTo>
                  <a:lnTo>
                    <a:pt x="88518" y="30987"/>
                  </a:lnTo>
                  <a:lnTo>
                    <a:pt x="117500" y="30987"/>
                  </a:lnTo>
                  <a:lnTo>
                    <a:pt x="1245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1465833" y="3069717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69">
                <a:moveTo>
                  <a:pt x="246379" y="0"/>
                </a:moveTo>
                <a:lnTo>
                  <a:pt x="0" y="0"/>
                </a:lnTo>
                <a:lnTo>
                  <a:pt x="0" y="26543"/>
                </a:lnTo>
                <a:lnTo>
                  <a:pt x="246379" y="26543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65833" y="2986658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69">
                <a:moveTo>
                  <a:pt x="246379" y="0"/>
                </a:moveTo>
                <a:lnTo>
                  <a:pt x="0" y="0"/>
                </a:lnTo>
                <a:lnTo>
                  <a:pt x="0" y="26669"/>
                </a:lnTo>
                <a:lnTo>
                  <a:pt x="246379" y="26669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1850770" y="2809620"/>
            <a:ext cx="494665" cy="415925"/>
            <a:chOff x="1850770" y="2809620"/>
            <a:chExt cx="494665" cy="415925"/>
          </a:xfrm>
        </p:grpSpPr>
        <p:sp>
          <p:nvSpPr>
            <p:cNvPr id="32" name="object 32"/>
            <p:cNvSpPr/>
            <p:nvPr/>
          </p:nvSpPr>
          <p:spPr>
            <a:xfrm>
              <a:off x="1850770" y="2853308"/>
              <a:ext cx="259715" cy="372110"/>
            </a:xfrm>
            <a:custGeom>
              <a:avLst/>
              <a:gdLst/>
              <a:ahLst/>
              <a:cxnLst/>
              <a:rect l="l" t="t" r="r" b="b"/>
              <a:pathLst>
                <a:path w="259714" h="372110">
                  <a:moveTo>
                    <a:pt x="254635" y="0"/>
                  </a:moveTo>
                  <a:lnTo>
                    <a:pt x="7620" y="0"/>
                  </a:lnTo>
                  <a:lnTo>
                    <a:pt x="7620" y="11302"/>
                  </a:lnTo>
                  <a:lnTo>
                    <a:pt x="123571" y="191135"/>
                  </a:lnTo>
                  <a:lnTo>
                    <a:pt x="0" y="360933"/>
                  </a:lnTo>
                  <a:lnTo>
                    <a:pt x="0" y="372110"/>
                  </a:lnTo>
                  <a:lnTo>
                    <a:pt x="253619" y="372110"/>
                  </a:lnTo>
                  <a:lnTo>
                    <a:pt x="259334" y="274574"/>
                  </a:lnTo>
                  <a:lnTo>
                    <a:pt x="235966" y="274574"/>
                  </a:lnTo>
                  <a:lnTo>
                    <a:pt x="234438" y="282553"/>
                  </a:lnTo>
                  <a:lnTo>
                    <a:pt x="231286" y="296130"/>
                  </a:lnTo>
                  <a:lnTo>
                    <a:pt x="211328" y="329438"/>
                  </a:lnTo>
                  <a:lnTo>
                    <a:pt x="193040" y="333755"/>
                  </a:lnTo>
                  <a:lnTo>
                    <a:pt x="53212" y="333755"/>
                  </a:lnTo>
                  <a:lnTo>
                    <a:pt x="162433" y="183768"/>
                  </a:lnTo>
                  <a:lnTo>
                    <a:pt x="162433" y="168528"/>
                  </a:lnTo>
                  <a:lnTo>
                    <a:pt x="65024" y="20700"/>
                  </a:lnTo>
                  <a:lnTo>
                    <a:pt x="183387" y="20700"/>
                  </a:lnTo>
                  <a:lnTo>
                    <a:pt x="217424" y="43561"/>
                  </a:lnTo>
                  <a:lnTo>
                    <a:pt x="232918" y="88900"/>
                  </a:lnTo>
                  <a:lnTo>
                    <a:pt x="254635" y="88900"/>
                  </a:lnTo>
                  <a:lnTo>
                    <a:pt x="254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40584" y="2809620"/>
              <a:ext cx="204850" cy="186943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55255" y="3059429"/>
            <a:ext cx="71181" cy="206375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2279523" y="3136518"/>
            <a:ext cx="166370" cy="85090"/>
          </a:xfrm>
          <a:custGeom>
            <a:avLst/>
            <a:gdLst/>
            <a:ahLst/>
            <a:cxnLst/>
            <a:rect l="l" t="t" r="r" b="b"/>
            <a:pathLst>
              <a:path w="166369" h="85089">
                <a:moveTo>
                  <a:pt x="166116" y="62738"/>
                </a:moveTo>
                <a:lnTo>
                  <a:pt x="0" y="62738"/>
                </a:lnTo>
                <a:lnTo>
                  <a:pt x="0" y="84836"/>
                </a:lnTo>
                <a:lnTo>
                  <a:pt x="166116" y="84836"/>
                </a:lnTo>
                <a:lnTo>
                  <a:pt x="166116" y="62738"/>
                </a:lnTo>
                <a:close/>
              </a:path>
              <a:path w="166369" h="85089">
                <a:moveTo>
                  <a:pt x="166116" y="0"/>
                </a:moveTo>
                <a:lnTo>
                  <a:pt x="0" y="0"/>
                </a:lnTo>
                <a:lnTo>
                  <a:pt x="0" y="22098"/>
                </a:lnTo>
                <a:lnTo>
                  <a:pt x="166116" y="22098"/>
                </a:lnTo>
                <a:lnTo>
                  <a:pt x="16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00629" y="3077591"/>
            <a:ext cx="122174" cy="185674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4245864" y="2705100"/>
            <a:ext cx="704215" cy="671830"/>
            <a:chOff x="4245864" y="2705100"/>
            <a:chExt cx="704215" cy="671830"/>
          </a:xfrm>
        </p:grpSpPr>
        <p:sp>
          <p:nvSpPr>
            <p:cNvPr id="38" name="object 38"/>
            <p:cNvSpPr/>
            <p:nvPr/>
          </p:nvSpPr>
          <p:spPr>
            <a:xfrm>
              <a:off x="4245864" y="2705099"/>
              <a:ext cx="704215" cy="671830"/>
            </a:xfrm>
            <a:custGeom>
              <a:avLst/>
              <a:gdLst/>
              <a:ahLst/>
              <a:cxnLst/>
              <a:rect l="l" t="t" r="r" b="b"/>
              <a:pathLst>
                <a:path w="704214" h="671829">
                  <a:moveTo>
                    <a:pt x="600075" y="320040"/>
                  </a:moveTo>
                  <a:lnTo>
                    <a:pt x="0" y="320040"/>
                  </a:lnTo>
                  <a:lnTo>
                    <a:pt x="0" y="348615"/>
                  </a:lnTo>
                  <a:lnTo>
                    <a:pt x="600075" y="348615"/>
                  </a:lnTo>
                  <a:lnTo>
                    <a:pt x="600075" y="320040"/>
                  </a:lnTo>
                  <a:close/>
                </a:path>
                <a:path w="704214" h="671829">
                  <a:moveTo>
                    <a:pt x="704215" y="0"/>
                  </a:moveTo>
                  <a:lnTo>
                    <a:pt x="609092" y="0"/>
                  </a:lnTo>
                  <a:lnTo>
                    <a:pt x="609092" y="17780"/>
                  </a:lnTo>
                  <a:lnTo>
                    <a:pt x="667258" y="17780"/>
                  </a:lnTo>
                  <a:lnTo>
                    <a:pt x="667258" y="655320"/>
                  </a:lnTo>
                  <a:lnTo>
                    <a:pt x="609092" y="655320"/>
                  </a:lnTo>
                  <a:lnTo>
                    <a:pt x="609092" y="671830"/>
                  </a:lnTo>
                  <a:lnTo>
                    <a:pt x="704215" y="671830"/>
                  </a:lnTo>
                  <a:lnTo>
                    <a:pt x="704215" y="655320"/>
                  </a:lnTo>
                  <a:lnTo>
                    <a:pt x="704215" y="17780"/>
                  </a:lnTo>
                  <a:lnTo>
                    <a:pt x="704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72280" y="2734690"/>
              <a:ext cx="122174" cy="18567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441698" y="2709417"/>
              <a:ext cx="381635" cy="273050"/>
            </a:xfrm>
            <a:custGeom>
              <a:avLst/>
              <a:gdLst/>
              <a:ahLst/>
              <a:cxnLst/>
              <a:rect l="l" t="t" r="r" b="b"/>
              <a:pathLst>
                <a:path w="381635" h="273050">
                  <a:moveTo>
                    <a:pt x="166090" y="115493"/>
                  </a:moveTo>
                  <a:lnTo>
                    <a:pt x="0" y="115493"/>
                  </a:lnTo>
                  <a:lnTo>
                    <a:pt x="0" y="137541"/>
                  </a:lnTo>
                  <a:lnTo>
                    <a:pt x="166090" y="137541"/>
                  </a:lnTo>
                  <a:lnTo>
                    <a:pt x="166090" y="115493"/>
                  </a:lnTo>
                  <a:close/>
                </a:path>
                <a:path w="381635" h="273050">
                  <a:moveTo>
                    <a:pt x="381635" y="34798"/>
                  </a:moveTo>
                  <a:lnTo>
                    <a:pt x="371881" y="14097"/>
                  </a:lnTo>
                  <a:lnTo>
                    <a:pt x="363474" y="7366"/>
                  </a:lnTo>
                  <a:lnTo>
                    <a:pt x="358013" y="4699"/>
                  </a:lnTo>
                  <a:lnTo>
                    <a:pt x="353923" y="3479"/>
                  </a:lnTo>
                  <a:lnTo>
                    <a:pt x="353923" y="47498"/>
                  </a:lnTo>
                  <a:lnTo>
                    <a:pt x="352552" y="54356"/>
                  </a:lnTo>
                  <a:lnTo>
                    <a:pt x="326644" y="86106"/>
                  </a:lnTo>
                  <a:lnTo>
                    <a:pt x="295529" y="94488"/>
                  </a:lnTo>
                  <a:lnTo>
                    <a:pt x="293116" y="106934"/>
                  </a:lnTo>
                  <a:lnTo>
                    <a:pt x="328739" y="129019"/>
                  </a:lnTo>
                  <a:lnTo>
                    <a:pt x="331216" y="143764"/>
                  </a:lnTo>
                  <a:lnTo>
                    <a:pt x="331216" y="152400"/>
                  </a:lnTo>
                  <a:lnTo>
                    <a:pt x="319278" y="184404"/>
                  </a:lnTo>
                  <a:lnTo>
                    <a:pt x="315595" y="189103"/>
                  </a:lnTo>
                  <a:lnTo>
                    <a:pt x="310896" y="192786"/>
                  </a:lnTo>
                  <a:lnTo>
                    <a:pt x="305562" y="195199"/>
                  </a:lnTo>
                  <a:lnTo>
                    <a:pt x="300228" y="197739"/>
                  </a:lnTo>
                  <a:lnTo>
                    <a:pt x="294259" y="199009"/>
                  </a:lnTo>
                  <a:lnTo>
                    <a:pt x="276860" y="199009"/>
                  </a:lnTo>
                  <a:lnTo>
                    <a:pt x="268605" y="197231"/>
                  </a:lnTo>
                  <a:lnTo>
                    <a:pt x="257683" y="190373"/>
                  </a:lnTo>
                  <a:lnTo>
                    <a:pt x="255016" y="186055"/>
                  </a:lnTo>
                  <a:lnTo>
                    <a:pt x="255016" y="179197"/>
                  </a:lnTo>
                  <a:lnTo>
                    <a:pt x="255270" y="176657"/>
                  </a:lnTo>
                  <a:lnTo>
                    <a:pt x="255651" y="175260"/>
                  </a:lnTo>
                  <a:lnTo>
                    <a:pt x="256159" y="173609"/>
                  </a:lnTo>
                  <a:lnTo>
                    <a:pt x="275844" y="83312"/>
                  </a:lnTo>
                  <a:lnTo>
                    <a:pt x="290029" y="41186"/>
                  </a:lnTo>
                  <a:lnTo>
                    <a:pt x="319379" y="15201"/>
                  </a:lnTo>
                  <a:lnTo>
                    <a:pt x="328930" y="14097"/>
                  </a:lnTo>
                  <a:lnTo>
                    <a:pt x="337058" y="14097"/>
                  </a:lnTo>
                  <a:lnTo>
                    <a:pt x="343281" y="16383"/>
                  </a:lnTo>
                  <a:lnTo>
                    <a:pt x="351917" y="25019"/>
                  </a:lnTo>
                  <a:lnTo>
                    <a:pt x="353796" y="31026"/>
                  </a:lnTo>
                  <a:lnTo>
                    <a:pt x="353923" y="47498"/>
                  </a:lnTo>
                  <a:lnTo>
                    <a:pt x="353923" y="3479"/>
                  </a:lnTo>
                  <a:lnTo>
                    <a:pt x="351663" y="2794"/>
                  </a:lnTo>
                  <a:lnTo>
                    <a:pt x="345186" y="1016"/>
                  </a:lnTo>
                  <a:lnTo>
                    <a:pt x="337947" y="0"/>
                  </a:lnTo>
                  <a:lnTo>
                    <a:pt x="329819" y="0"/>
                  </a:lnTo>
                  <a:lnTo>
                    <a:pt x="289598" y="11150"/>
                  </a:lnTo>
                  <a:lnTo>
                    <a:pt x="261137" y="45008"/>
                  </a:lnTo>
                  <a:lnTo>
                    <a:pt x="249047" y="81153"/>
                  </a:lnTo>
                  <a:lnTo>
                    <a:pt x="206121" y="272669"/>
                  </a:lnTo>
                  <a:lnTo>
                    <a:pt x="233426" y="272669"/>
                  </a:lnTo>
                  <a:lnTo>
                    <a:pt x="248793" y="204724"/>
                  </a:lnTo>
                  <a:lnTo>
                    <a:pt x="255778" y="207772"/>
                  </a:lnTo>
                  <a:lnTo>
                    <a:pt x="262636" y="210058"/>
                  </a:lnTo>
                  <a:lnTo>
                    <a:pt x="276352" y="212598"/>
                  </a:lnTo>
                  <a:lnTo>
                    <a:pt x="283972" y="213233"/>
                  </a:lnTo>
                  <a:lnTo>
                    <a:pt x="292354" y="213233"/>
                  </a:lnTo>
                  <a:lnTo>
                    <a:pt x="327787" y="204724"/>
                  </a:lnTo>
                  <a:lnTo>
                    <a:pt x="331673" y="202526"/>
                  </a:lnTo>
                  <a:lnTo>
                    <a:pt x="336626" y="199009"/>
                  </a:lnTo>
                  <a:lnTo>
                    <a:pt x="336804" y="198894"/>
                  </a:lnTo>
                  <a:lnTo>
                    <a:pt x="341503" y="194818"/>
                  </a:lnTo>
                  <a:lnTo>
                    <a:pt x="359854" y="155486"/>
                  </a:lnTo>
                  <a:lnTo>
                    <a:pt x="360172" y="148717"/>
                  </a:lnTo>
                  <a:lnTo>
                    <a:pt x="359638" y="141249"/>
                  </a:lnTo>
                  <a:lnTo>
                    <a:pt x="333362" y="107010"/>
                  </a:lnTo>
                  <a:lnTo>
                    <a:pt x="324993" y="103124"/>
                  </a:lnTo>
                  <a:lnTo>
                    <a:pt x="325374" y="101219"/>
                  </a:lnTo>
                  <a:lnTo>
                    <a:pt x="364490" y="81153"/>
                  </a:lnTo>
                  <a:lnTo>
                    <a:pt x="368935" y="75946"/>
                  </a:lnTo>
                  <a:lnTo>
                    <a:pt x="373380" y="70866"/>
                  </a:lnTo>
                  <a:lnTo>
                    <a:pt x="376682" y="65278"/>
                  </a:lnTo>
                  <a:lnTo>
                    <a:pt x="378714" y="59436"/>
                  </a:lnTo>
                  <a:lnTo>
                    <a:pt x="380619" y="53594"/>
                  </a:lnTo>
                  <a:lnTo>
                    <a:pt x="381635" y="47498"/>
                  </a:lnTo>
                  <a:lnTo>
                    <a:pt x="381635" y="347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36110" y="3181095"/>
              <a:ext cx="204850" cy="186943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2748153" y="2705099"/>
            <a:ext cx="337185" cy="671830"/>
          </a:xfrm>
          <a:custGeom>
            <a:avLst/>
            <a:gdLst/>
            <a:ahLst/>
            <a:cxnLst/>
            <a:rect l="l" t="t" r="r" b="b"/>
            <a:pathLst>
              <a:path w="337185" h="671829">
                <a:moveTo>
                  <a:pt x="95250" y="0"/>
                </a:moveTo>
                <a:lnTo>
                  <a:pt x="0" y="0"/>
                </a:lnTo>
                <a:lnTo>
                  <a:pt x="0" y="17780"/>
                </a:lnTo>
                <a:lnTo>
                  <a:pt x="0" y="655320"/>
                </a:lnTo>
                <a:lnTo>
                  <a:pt x="0" y="671830"/>
                </a:lnTo>
                <a:lnTo>
                  <a:pt x="95250" y="671830"/>
                </a:lnTo>
                <a:lnTo>
                  <a:pt x="95250" y="655320"/>
                </a:lnTo>
                <a:lnTo>
                  <a:pt x="37084" y="655320"/>
                </a:lnTo>
                <a:lnTo>
                  <a:pt x="37084" y="17780"/>
                </a:lnTo>
                <a:lnTo>
                  <a:pt x="95250" y="17780"/>
                </a:lnTo>
                <a:lnTo>
                  <a:pt x="95250" y="0"/>
                </a:lnTo>
                <a:close/>
              </a:path>
              <a:path w="337185" h="671829">
                <a:moveTo>
                  <a:pt x="337185" y="219837"/>
                </a:moveTo>
                <a:lnTo>
                  <a:pt x="336130" y="207911"/>
                </a:lnTo>
                <a:lnTo>
                  <a:pt x="332981" y="197446"/>
                </a:lnTo>
                <a:lnTo>
                  <a:pt x="327748" y="188429"/>
                </a:lnTo>
                <a:lnTo>
                  <a:pt x="322503" y="183007"/>
                </a:lnTo>
                <a:lnTo>
                  <a:pt x="320421" y="180848"/>
                </a:lnTo>
                <a:lnTo>
                  <a:pt x="311150" y="174929"/>
                </a:lnTo>
                <a:lnTo>
                  <a:pt x="303911" y="172148"/>
                </a:lnTo>
                <a:lnTo>
                  <a:pt x="303911" y="217170"/>
                </a:lnTo>
                <a:lnTo>
                  <a:pt x="303288" y="227368"/>
                </a:lnTo>
                <a:lnTo>
                  <a:pt x="288569" y="263867"/>
                </a:lnTo>
                <a:lnTo>
                  <a:pt x="257695" y="288632"/>
                </a:lnTo>
                <a:lnTo>
                  <a:pt x="227711" y="296164"/>
                </a:lnTo>
                <a:lnTo>
                  <a:pt x="224917" y="310388"/>
                </a:lnTo>
                <a:lnTo>
                  <a:pt x="260604" y="324993"/>
                </a:lnTo>
                <a:lnTo>
                  <a:pt x="272567" y="371906"/>
                </a:lnTo>
                <a:lnTo>
                  <a:pt x="261264" y="411060"/>
                </a:lnTo>
                <a:lnTo>
                  <a:pt x="230517" y="438327"/>
                </a:lnTo>
                <a:lnTo>
                  <a:pt x="215011" y="440817"/>
                </a:lnTo>
                <a:lnTo>
                  <a:pt x="207010" y="440817"/>
                </a:lnTo>
                <a:lnTo>
                  <a:pt x="173482" y="421640"/>
                </a:lnTo>
                <a:lnTo>
                  <a:pt x="172745" y="418706"/>
                </a:lnTo>
                <a:lnTo>
                  <a:pt x="172821" y="411734"/>
                </a:lnTo>
                <a:lnTo>
                  <a:pt x="200710" y="281597"/>
                </a:lnTo>
                <a:lnTo>
                  <a:pt x="213042" y="238340"/>
                </a:lnTo>
                <a:lnTo>
                  <a:pt x="237464" y="196786"/>
                </a:lnTo>
                <a:lnTo>
                  <a:pt x="270891" y="183007"/>
                </a:lnTo>
                <a:lnTo>
                  <a:pt x="278574" y="183565"/>
                </a:lnTo>
                <a:lnTo>
                  <a:pt x="303911" y="217170"/>
                </a:lnTo>
                <a:lnTo>
                  <a:pt x="303911" y="172148"/>
                </a:lnTo>
                <a:lnTo>
                  <a:pt x="300126" y="170675"/>
                </a:lnTo>
                <a:lnTo>
                  <a:pt x="287337" y="168122"/>
                </a:lnTo>
                <a:lnTo>
                  <a:pt x="272796" y="167259"/>
                </a:lnTo>
                <a:lnTo>
                  <a:pt x="259499" y="168059"/>
                </a:lnTo>
                <a:lnTo>
                  <a:pt x="215074" y="186944"/>
                </a:lnTo>
                <a:lnTo>
                  <a:pt x="184391" y="228485"/>
                </a:lnTo>
                <a:lnTo>
                  <a:pt x="169291" y="274955"/>
                </a:lnTo>
                <a:lnTo>
                  <a:pt x="110109" y="539369"/>
                </a:lnTo>
                <a:lnTo>
                  <a:pt x="142621" y="539369"/>
                </a:lnTo>
                <a:lnTo>
                  <a:pt x="164084" y="444627"/>
                </a:lnTo>
                <a:lnTo>
                  <a:pt x="170891" y="447649"/>
                </a:lnTo>
                <a:lnTo>
                  <a:pt x="212369" y="456399"/>
                </a:lnTo>
                <a:lnTo>
                  <a:pt x="220599" y="456565"/>
                </a:lnTo>
                <a:lnTo>
                  <a:pt x="233451" y="455815"/>
                </a:lnTo>
                <a:lnTo>
                  <a:pt x="245529" y="453542"/>
                </a:lnTo>
                <a:lnTo>
                  <a:pt x="256832" y="449770"/>
                </a:lnTo>
                <a:lnTo>
                  <a:pt x="267081" y="444627"/>
                </a:lnTo>
                <a:lnTo>
                  <a:pt x="267335" y="444500"/>
                </a:lnTo>
                <a:lnTo>
                  <a:pt x="272669" y="440817"/>
                </a:lnTo>
                <a:lnTo>
                  <a:pt x="276898" y="437908"/>
                </a:lnTo>
                <a:lnTo>
                  <a:pt x="285242" y="430263"/>
                </a:lnTo>
                <a:lnTo>
                  <a:pt x="306019" y="390398"/>
                </a:lnTo>
                <a:lnTo>
                  <a:pt x="308610" y="367538"/>
                </a:lnTo>
                <a:lnTo>
                  <a:pt x="305625" y="346494"/>
                </a:lnTo>
                <a:lnTo>
                  <a:pt x="296710" y="329057"/>
                </a:lnTo>
                <a:lnTo>
                  <a:pt x="281863" y="315252"/>
                </a:lnTo>
                <a:lnTo>
                  <a:pt x="261112" y="305054"/>
                </a:lnTo>
                <a:lnTo>
                  <a:pt x="261493" y="303403"/>
                </a:lnTo>
                <a:lnTo>
                  <a:pt x="298958" y="286639"/>
                </a:lnTo>
                <a:lnTo>
                  <a:pt x="326758" y="259549"/>
                </a:lnTo>
                <a:lnTo>
                  <a:pt x="337083" y="227368"/>
                </a:lnTo>
                <a:lnTo>
                  <a:pt x="337185" y="2198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209163" y="2885566"/>
            <a:ext cx="513080" cy="416559"/>
          </a:xfrm>
          <a:custGeom>
            <a:avLst/>
            <a:gdLst/>
            <a:ahLst/>
            <a:cxnLst/>
            <a:rect l="l" t="t" r="r" b="b"/>
            <a:pathLst>
              <a:path w="513079" h="416560">
                <a:moveTo>
                  <a:pt x="326136" y="0"/>
                </a:moveTo>
                <a:lnTo>
                  <a:pt x="263144" y="0"/>
                </a:lnTo>
                <a:lnTo>
                  <a:pt x="146558" y="193929"/>
                </a:lnTo>
                <a:lnTo>
                  <a:pt x="123698" y="0"/>
                </a:lnTo>
                <a:lnTo>
                  <a:pt x="52324" y="0"/>
                </a:lnTo>
                <a:lnTo>
                  <a:pt x="50165" y="9779"/>
                </a:lnTo>
                <a:lnTo>
                  <a:pt x="56896" y="10160"/>
                </a:lnTo>
                <a:lnTo>
                  <a:pt x="61976" y="11557"/>
                </a:lnTo>
                <a:lnTo>
                  <a:pt x="68199" y="16510"/>
                </a:lnTo>
                <a:lnTo>
                  <a:pt x="69723" y="20828"/>
                </a:lnTo>
                <a:lnTo>
                  <a:pt x="69723" y="32512"/>
                </a:lnTo>
                <a:lnTo>
                  <a:pt x="29298" y="222465"/>
                </a:lnTo>
                <a:lnTo>
                  <a:pt x="11049" y="260985"/>
                </a:lnTo>
                <a:lnTo>
                  <a:pt x="2159" y="263144"/>
                </a:lnTo>
                <a:lnTo>
                  <a:pt x="0" y="272923"/>
                </a:lnTo>
                <a:lnTo>
                  <a:pt x="69977" y="272923"/>
                </a:lnTo>
                <a:lnTo>
                  <a:pt x="72136" y="263144"/>
                </a:lnTo>
                <a:lnTo>
                  <a:pt x="65024" y="262636"/>
                </a:lnTo>
                <a:lnTo>
                  <a:pt x="60071" y="261112"/>
                </a:lnTo>
                <a:lnTo>
                  <a:pt x="54102" y="256159"/>
                </a:lnTo>
                <a:lnTo>
                  <a:pt x="52565" y="251968"/>
                </a:lnTo>
                <a:lnTo>
                  <a:pt x="52832" y="239356"/>
                </a:lnTo>
                <a:lnTo>
                  <a:pt x="53619" y="231990"/>
                </a:lnTo>
                <a:lnTo>
                  <a:pt x="54927" y="223786"/>
                </a:lnTo>
                <a:lnTo>
                  <a:pt x="81229" y="102831"/>
                </a:lnTo>
                <a:lnTo>
                  <a:pt x="85128" y="82511"/>
                </a:lnTo>
                <a:lnTo>
                  <a:pt x="88811" y="61353"/>
                </a:lnTo>
                <a:lnTo>
                  <a:pt x="92316" y="39370"/>
                </a:lnTo>
                <a:lnTo>
                  <a:pt x="96380" y="39370"/>
                </a:lnTo>
                <a:lnTo>
                  <a:pt x="98526" y="61163"/>
                </a:lnTo>
                <a:lnTo>
                  <a:pt x="102527" y="97739"/>
                </a:lnTo>
                <a:lnTo>
                  <a:pt x="120904" y="241173"/>
                </a:lnTo>
                <a:lnTo>
                  <a:pt x="142748" y="241173"/>
                </a:lnTo>
                <a:lnTo>
                  <a:pt x="233680" y="90932"/>
                </a:lnTo>
                <a:lnTo>
                  <a:pt x="251612" y="60833"/>
                </a:lnTo>
                <a:lnTo>
                  <a:pt x="261747" y="42926"/>
                </a:lnTo>
                <a:lnTo>
                  <a:pt x="264541" y="42926"/>
                </a:lnTo>
                <a:lnTo>
                  <a:pt x="257733" y="67779"/>
                </a:lnTo>
                <a:lnTo>
                  <a:pt x="251714" y="92710"/>
                </a:lnTo>
                <a:lnTo>
                  <a:pt x="223100" y="222465"/>
                </a:lnTo>
                <a:lnTo>
                  <a:pt x="218567" y="240030"/>
                </a:lnTo>
                <a:lnTo>
                  <a:pt x="195961" y="263144"/>
                </a:lnTo>
                <a:lnTo>
                  <a:pt x="193802" y="272923"/>
                </a:lnTo>
                <a:lnTo>
                  <a:pt x="273685" y="272923"/>
                </a:lnTo>
                <a:lnTo>
                  <a:pt x="275971" y="263144"/>
                </a:lnTo>
                <a:lnTo>
                  <a:pt x="268859" y="262636"/>
                </a:lnTo>
                <a:lnTo>
                  <a:pt x="263779" y="261112"/>
                </a:lnTo>
                <a:lnTo>
                  <a:pt x="257810" y="256159"/>
                </a:lnTo>
                <a:lnTo>
                  <a:pt x="256286" y="251968"/>
                </a:lnTo>
                <a:lnTo>
                  <a:pt x="256540" y="237998"/>
                </a:lnTo>
                <a:lnTo>
                  <a:pt x="296760" y="50622"/>
                </a:lnTo>
                <a:lnTo>
                  <a:pt x="310769" y="14732"/>
                </a:lnTo>
                <a:lnTo>
                  <a:pt x="323977" y="9779"/>
                </a:lnTo>
                <a:lnTo>
                  <a:pt x="326136" y="0"/>
                </a:lnTo>
                <a:close/>
              </a:path>
              <a:path w="513079" h="416560">
                <a:moveTo>
                  <a:pt x="389128" y="212852"/>
                </a:moveTo>
                <a:lnTo>
                  <a:pt x="379222" y="212852"/>
                </a:lnTo>
                <a:lnTo>
                  <a:pt x="340614" y="214503"/>
                </a:lnTo>
                <a:lnTo>
                  <a:pt x="338455" y="224282"/>
                </a:lnTo>
                <a:lnTo>
                  <a:pt x="344805" y="224409"/>
                </a:lnTo>
                <a:lnTo>
                  <a:pt x="349377" y="225298"/>
                </a:lnTo>
                <a:lnTo>
                  <a:pt x="351917" y="226949"/>
                </a:lnTo>
                <a:lnTo>
                  <a:pt x="354457" y="228473"/>
                </a:lnTo>
                <a:lnTo>
                  <a:pt x="355727" y="231013"/>
                </a:lnTo>
                <a:lnTo>
                  <a:pt x="355727" y="236093"/>
                </a:lnTo>
                <a:lnTo>
                  <a:pt x="355473" y="238633"/>
                </a:lnTo>
                <a:lnTo>
                  <a:pt x="355219" y="240792"/>
                </a:lnTo>
                <a:lnTo>
                  <a:pt x="354584" y="243713"/>
                </a:lnTo>
                <a:lnTo>
                  <a:pt x="354076" y="246761"/>
                </a:lnTo>
                <a:lnTo>
                  <a:pt x="353314" y="250952"/>
                </a:lnTo>
                <a:lnTo>
                  <a:pt x="351028" y="261874"/>
                </a:lnTo>
                <a:lnTo>
                  <a:pt x="349377" y="269240"/>
                </a:lnTo>
                <a:lnTo>
                  <a:pt x="347472" y="278511"/>
                </a:lnTo>
                <a:lnTo>
                  <a:pt x="337527" y="323189"/>
                </a:lnTo>
                <a:lnTo>
                  <a:pt x="330200" y="356616"/>
                </a:lnTo>
                <a:lnTo>
                  <a:pt x="328168" y="365506"/>
                </a:lnTo>
                <a:lnTo>
                  <a:pt x="326009" y="372872"/>
                </a:lnTo>
                <a:lnTo>
                  <a:pt x="323596" y="378587"/>
                </a:lnTo>
                <a:lnTo>
                  <a:pt x="321310" y="384302"/>
                </a:lnTo>
                <a:lnTo>
                  <a:pt x="318643" y="388874"/>
                </a:lnTo>
                <a:lnTo>
                  <a:pt x="315722" y="392049"/>
                </a:lnTo>
                <a:lnTo>
                  <a:pt x="312801" y="395351"/>
                </a:lnTo>
                <a:lnTo>
                  <a:pt x="309499" y="397637"/>
                </a:lnTo>
                <a:lnTo>
                  <a:pt x="302133" y="400177"/>
                </a:lnTo>
                <a:lnTo>
                  <a:pt x="297815" y="400685"/>
                </a:lnTo>
                <a:lnTo>
                  <a:pt x="288417" y="400685"/>
                </a:lnTo>
                <a:lnTo>
                  <a:pt x="284607" y="400431"/>
                </a:lnTo>
                <a:lnTo>
                  <a:pt x="283083" y="400050"/>
                </a:lnTo>
                <a:lnTo>
                  <a:pt x="281940" y="399542"/>
                </a:lnTo>
                <a:lnTo>
                  <a:pt x="278257" y="414782"/>
                </a:lnTo>
                <a:lnTo>
                  <a:pt x="282194" y="415544"/>
                </a:lnTo>
                <a:lnTo>
                  <a:pt x="286766" y="416052"/>
                </a:lnTo>
                <a:lnTo>
                  <a:pt x="289179" y="416179"/>
                </a:lnTo>
                <a:lnTo>
                  <a:pt x="301117" y="416179"/>
                </a:lnTo>
                <a:lnTo>
                  <a:pt x="309499" y="415036"/>
                </a:lnTo>
                <a:lnTo>
                  <a:pt x="316738" y="412623"/>
                </a:lnTo>
                <a:lnTo>
                  <a:pt x="324104" y="410337"/>
                </a:lnTo>
                <a:lnTo>
                  <a:pt x="330454" y="406654"/>
                </a:lnTo>
                <a:lnTo>
                  <a:pt x="335915" y="401574"/>
                </a:lnTo>
                <a:lnTo>
                  <a:pt x="336905" y="400685"/>
                </a:lnTo>
                <a:lnTo>
                  <a:pt x="357212" y="362115"/>
                </a:lnTo>
                <a:lnTo>
                  <a:pt x="359156" y="354203"/>
                </a:lnTo>
                <a:lnTo>
                  <a:pt x="389128" y="212852"/>
                </a:lnTo>
                <a:close/>
              </a:path>
              <a:path w="513079" h="416560">
                <a:moveTo>
                  <a:pt x="402844" y="154813"/>
                </a:moveTo>
                <a:lnTo>
                  <a:pt x="373888" y="154813"/>
                </a:lnTo>
                <a:lnTo>
                  <a:pt x="366776" y="185801"/>
                </a:lnTo>
                <a:lnTo>
                  <a:pt x="395859" y="185801"/>
                </a:lnTo>
                <a:lnTo>
                  <a:pt x="402844" y="154813"/>
                </a:lnTo>
                <a:close/>
              </a:path>
              <a:path w="513079" h="416560">
                <a:moveTo>
                  <a:pt x="507238" y="154813"/>
                </a:moveTo>
                <a:lnTo>
                  <a:pt x="478409" y="154813"/>
                </a:lnTo>
                <a:lnTo>
                  <a:pt x="471678" y="185801"/>
                </a:lnTo>
                <a:lnTo>
                  <a:pt x="500253" y="185801"/>
                </a:lnTo>
                <a:lnTo>
                  <a:pt x="507238" y="154813"/>
                </a:lnTo>
                <a:close/>
              </a:path>
              <a:path w="513079" h="416560">
                <a:moveTo>
                  <a:pt x="512699" y="333502"/>
                </a:moveTo>
                <a:lnTo>
                  <a:pt x="502920" y="324104"/>
                </a:lnTo>
                <a:lnTo>
                  <a:pt x="499999" y="327279"/>
                </a:lnTo>
                <a:lnTo>
                  <a:pt x="497459" y="329946"/>
                </a:lnTo>
                <a:lnTo>
                  <a:pt x="492760" y="334391"/>
                </a:lnTo>
                <a:lnTo>
                  <a:pt x="490601" y="336296"/>
                </a:lnTo>
                <a:lnTo>
                  <a:pt x="488569" y="337693"/>
                </a:lnTo>
                <a:lnTo>
                  <a:pt x="486664" y="339217"/>
                </a:lnTo>
                <a:lnTo>
                  <a:pt x="484759" y="340233"/>
                </a:lnTo>
                <a:lnTo>
                  <a:pt x="482981" y="340868"/>
                </a:lnTo>
                <a:lnTo>
                  <a:pt x="481330" y="341630"/>
                </a:lnTo>
                <a:lnTo>
                  <a:pt x="479552" y="341884"/>
                </a:lnTo>
                <a:lnTo>
                  <a:pt x="474853" y="341884"/>
                </a:lnTo>
                <a:lnTo>
                  <a:pt x="472567" y="341122"/>
                </a:lnTo>
                <a:lnTo>
                  <a:pt x="471170" y="339471"/>
                </a:lnTo>
                <a:lnTo>
                  <a:pt x="469646" y="337820"/>
                </a:lnTo>
                <a:lnTo>
                  <a:pt x="468884" y="335153"/>
                </a:lnTo>
                <a:lnTo>
                  <a:pt x="468884" y="328803"/>
                </a:lnTo>
                <a:lnTo>
                  <a:pt x="469138" y="325882"/>
                </a:lnTo>
                <a:lnTo>
                  <a:pt x="469646" y="322453"/>
                </a:lnTo>
                <a:lnTo>
                  <a:pt x="471170" y="314579"/>
                </a:lnTo>
                <a:lnTo>
                  <a:pt x="472567" y="308864"/>
                </a:lnTo>
                <a:lnTo>
                  <a:pt x="493903" y="212852"/>
                </a:lnTo>
                <a:lnTo>
                  <a:pt x="486791" y="212852"/>
                </a:lnTo>
                <a:lnTo>
                  <a:pt x="445008" y="214503"/>
                </a:lnTo>
                <a:lnTo>
                  <a:pt x="443230" y="224282"/>
                </a:lnTo>
                <a:lnTo>
                  <a:pt x="449453" y="224409"/>
                </a:lnTo>
                <a:lnTo>
                  <a:pt x="453898" y="225425"/>
                </a:lnTo>
                <a:lnTo>
                  <a:pt x="456311" y="227203"/>
                </a:lnTo>
                <a:lnTo>
                  <a:pt x="458724" y="228854"/>
                </a:lnTo>
                <a:lnTo>
                  <a:pt x="460121" y="231648"/>
                </a:lnTo>
                <a:lnTo>
                  <a:pt x="460248" y="237998"/>
                </a:lnTo>
                <a:lnTo>
                  <a:pt x="459994" y="239522"/>
                </a:lnTo>
                <a:lnTo>
                  <a:pt x="459486" y="244094"/>
                </a:lnTo>
                <a:lnTo>
                  <a:pt x="458724" y="249047"/>
                </a:lnTo>
                <a:lnTo>
                  <a:pt x="457581" y="254635"/>
                </a:lnTo>
                <a:lnTo>
                  <a:pt x="456438" y="260096"/>
                </a:lnTo>
                <a:lnTo>
                  <a:pt x="455168" y="265938"/>
                </a:lnTo>
                <a:lnTo>
                  <a:pt x="453898" y="271907"/>
                </a:lnTo>
                <a:lnTo>
                  <a:pt x="452501" y="277876"/>
                </a:lnTo>
                <a:lnTo>
                  <a:pt x="450977" y="283845"/>
                </a:lnTo>
                <a:lnTo>
                  <a:pt x="449580" y="289814"/>
                </a:lnTo>
                <a:lnTo>
                  <a:pt x="448183" y="295910"/>
                </a:lnTo>
                <a:lnTo>
                  <a:pt x="446786" y="301752"/>
                </a:lnTo>
                <a:lnTo>
                  <a:pt x="445643" y="307213"/>
                </a:lnTo>
                <a:lnTo>
                  <a:pt x="444373" y="312801"/>
                </a:lnTo>
                <a:lnTo>
                  <a:pt x="443484" y="317881"/>
                </a:lnTo>
                <a:lnTo>
                  <a:pt x="442722" y="322580"/>
                </a:lnTo>
                <a:lnTo>
                  <a:pt x="441833" y="327279"/>
                </a:lnTo>
                <a:lnTo>
                  <a:pt x="441566" y="329946"/>
                </a:lnTo>
                <a:lnTo>
                  <a:pt x="441515" y="338709"/>
                </a:lnTo>
                <a:lnTo>
                  <a:pt x="442087" y="342011"/>
                </a:lnTo>
                <a:lnTo>
                  <a:pt x="443230" y="345186"/>
                </a:lnTo>
                <a:lnTo>
                  <a:pt x="444373" y="348488"/>
                </a:lnTo>
                <a:lnTo>
                  <a:pt x="461899" y="361188"/>
                </a:lnTo>
                <a:lnTo>
                  <a:pt x="469519" y="361188"/>
                </a:lnTo>
                <a:lnTo>
                  <a:pt x="473202" y="360807"/>
                </a:lnTo>
                <a:lnTo>
                  <a:pt x="476758" y="359791"/>
                </a:lnTo>
                <a:lnTo>
                  <a:pt x="480314" y="358902"/>
                </a:lnTo>
                <a:lnTo>
                  <a:pt x="504278" y="341884"/>
                </a:lnTo>
                <a:lnTo>
                  <a:pt x="507746" y="338709"/>
                </a:lnTo>
                <a:lnTo>
                  <a:pt x="512699" y="3335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875659" y="2913379"/>
            <a:ext cx="246379" cy="256540"/>
          </a:xfrm>
          <a:custGeom>
            <a:avLst/>
            <a:gdLst/>
            <a:ahLst/>
            <a:cxnLst/>
            <a:rect l="l" t="t" r="r" b="b"/>
            <a:pathLst>
              <a:path w="246379" h="256539">
                <a:moveTo>
                  <a:pt x="246380" y="114300"/>
                </a:moveTo>
                <a:lnTo>
                  <a:pt x="137287" y="114300"/>
                </a:lnTo>
                <a:lnTo>
                  <a:pt x="137287" y="0"/>
                </a:lnTo>
                <a:lnTo>
                  <a:pt x="108966" y="0"/>
                </a:lnTo>
                <a:lnTo>
                  <a:pt x="108966" y="114300"/>
                </a:lnTo>
                <a:lnTo>
                  <a:pt x="0" y="114300"/>
                </a:lnTo>
                <a:lnTo>
                  <a:pt x="0" y="140970"/>
                </a:lnTo>
                <a:lnTo>
                  <a:pt x="108966" y="140970"/>
                </a:lnTo>
                <a:lnTo>
                  <a:pt x="108966" y="256540"/>
                </a:lnTo>
                <a:lnTo>
                  <a:pt x="137287" y="256540"/>
                </a:lnTo>
                <a:lnTo>
                  <a:pt x="137287" y="140970"/>
                </a:lnTo>
                <a:lnTo>
                  <a:pt x="246380" y="140970"/>
                </a:lnTo>
                <a:lnTo>
                  <a:pt x="24638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118608" y="3017139"/>
            <a:ext cx="46990" cy="48895"/>
          </a:xfrm>
          <a:custGeom>
            <a:avLst/>
            <a:gdLst/>
            <a:ahLst/>
            <a:cxnLst/>
            <a:rect l="l" t="t" r="r" b="b"/>
            <a:pathLst>
              <a:path w="46989" h="48894">
                <a:moveTo>
                  <a:pt x="30099" y="0"/>
                </a:moveTo>
                <a:lnTo>
                  <a:pt x="23240" y="0"/>
                </a:lnTo>
                <a:lnTo>
                  <a:pt x="16509" y="0"/>
                </a:lnTo>
                <a:lnTo>
                  <a:pt x="10921" y="2286"/>
                </a:lnTo>
                <a:lnTo>
                  <a:pt x="2158" y="11302"/>
                </a:lnTo>
                <a:lnTo>
                  <a:pt x="0" y="17145"/>
                </a:lnTo>
                <a:lnTo>
                  <a:pt x="0" y="31496"/>
                </a:lnTo>
                <a:lnTo>
                  <a:pt x="2158" y="37464"/>
                </a:lnTo>
                <a:lnTo>
                  <a:pt x="6603" y="41910"/>
                </a:lnTo>
                <a:lnTo>
                  <a:pt x="10921" y="46482"/>
                </a:lnTo>
                <a:lnTo>
                  <a:pt x="16509" y="48768"/>
                </a:lnTo>
                <a:lnTo>
                  <a:pt x="30099" y="48768"/>
                </a:lnTo>
                <a:lnTo>
                  <a:pt x="35559" y="46482"/>
                </a:lnTo>
                <a:lnTo>
                  <a:pt x="44322" y="37464"/>
                </a:lnTo>
                <a:lnTo>
                  <a:pt x="46481" y="31496"/>
                </a:lnTo>
                <a:lnTo>
                  <a:pt x="46481" y="17145"/>
                </a:lnTo>
                <a:lnTo>
                  <a:pt x="44322" y="11302"/>
                </a:lnTo>
                <a:lnTo>
                  <a:pt x="40004" y="6731"/>
                </a:lnTo>
                <a:lnTo>
                  <a:pt x="35559" y="2286"/>
                </a:lnTo>
                <a:lnTo>
                  <a:pt x="30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288660" y="2963926"/>
            <a:ext cx="233425" cy="282828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1551558" y="3793616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70">
                <a:moveTo>
                  <a:pt x="246379" y="0"/>
                </a:moveTo>
                <a:lnTo>
                  <a:pt x="0" y="0"/>
                </a:lnTo>
                <a:lnTo>
                  <a:pt x="0" y="26542"/>
                </a:lnTo>
                <a:lnTo>
                  <a:pt x="246379" y="26542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551558" y="3710559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70">
                <a:moveTo>
                  <a:pt x="246379" y="0"/>
                </a:moveTo>
                <a:lnTo>
                  <a:pt x="0" y="0"/>
                </a:lnTo>
                <a:lnTo>
                  <a:pt x="0" y="26670"/>
                </a:lnTo>
                <a:lnTo>
                  <a:pt x="246379" y="26670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1936495" y="3533521"/>
            <a:ext cx="494665" cy="454025"/>
            <a:chOff x="1936495" y="3533521"/>
            <a:chExt cx="494665" cy="454025"/>
          </a:xfrm>
        </p:grpSpPr>
        <p:sp>
          <p:nvSpPr>
            <p:cNvPr id="50" name="object 50"/>
            <p:cNvSpPr/>
            <p:nvPr/>
          </p:nvSpPr>
          <p:spPr>
            <a:xfrm>
              <a:off x="1936495" y="3577209"/>
              <a:ext cx="259715" cy="372110"/>
            </a:xfrm>
            <a:custGeom>
              <a:avLst/>
              <a:gdLst/>
              <a:ahLst/>
              <a:cxnLst/>
              <a:rect l="l" t="t" r="r" b="b"/>
              <a:pathLst>
                <a:path w="259714" h="372110">
                  <a:moveTo>
                    <a:pt x="254635" y="0"/>
                  </a:moveTo>
                  <a:lnTo>
                    <a:pt x="7620" y="0"/>
                  </a:lnTo>
                  <a:lnTo>
                    <a:pt x="7620" y="11302"/>
                  </a:lnTo>
                  <a:lnTo>
                    <a:pt x="123571" y="191134"/>
                  </a:lnTo>
                  <a:lnTo>
                    <a:pt x="0" y="360933"/>
                  </a:lnTo>
                  <a:lnTo>
                    <a:pt x="0" y="372109"/>
                  </a:lnTo>
                  <a:lnTo>
                    <a:pt x="253619" y="372109"/>
                  </a:lnTo>
                  <a:lnTo>
                    <a:pt x="259334" y="274573"/>
                  </a:lnTo>
                  <a:lnTo>
                    <a:pt x="235966" y="274573"/>
                  </a:lnTo>
                  <a:lnTo>
                    <a:pt x="234438" y="282553"/>
                  </a:lnTo>
                  <a:lnTo>
                    <a:pt x="231286" y="296130"/>
                  </a:lnTo>
                  <a:lnTo>
                    <a:pt x="211328" y="329438"/>
                  </a:lnTo>
                  <a:lnTo>
                    <a:pt x="193040" y="333755"/>
                  </a:lnTo>
                  <a:lnTo>
                    <a:pt x="53212" y="333755"/>
                  </a:lnTo>
                  <a:lnTo>
                    <a:pt x="162433" y="183768"/>
                  </a:lnTo>
                  <a:lnTo>
                    <a:pt x="162433" y="168528"/>
                  </a:lnTo>
                  <a:lnTo>
                    <a:pt x="65024" y="20700"/>
                  </a:lnTo>
                  <a:lnTo>
                    <a:pt x="183387" y="20700"/>
                  </a:lnTo>
                  <a:lnTo>
                    <a:pt x="217424" y="43560"/>
                  </a:lnTo>
                  <a:lnTo>
                    <a:pt x="232918" y="88899"/>
                  </a:lnTo>
                  <a:lnTo>
                    <a:pt x="254635" y="88899"/>
                  </a:lnTo>
                  <a:lnTo>
                    <a:pt x="254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32405" y="3783330"/>
              <a:ext cx="65531" cy="20383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26309" y="3533521"/>
              <a:ext cx="204850" cy="186943"/>
            </a:xfrm>
            <a:prstGeom prst="rect">
              <a:avLst/>
            </a:prstGeom>
          </p:spPr>
        </p:pic>
      </p:grpSp>
      <p:sp>
        <p:nvSpPr>
          <p:cNvPr id="53" name="object 53"/>
          <p:cNvSpPr/>
          <p:nvPr/>
        </p:nvSpPr>
        <p:spPr>
          <a:xfrm>
            <a:off x="2346198" y="3860419"/>
            <a:ext cx="166370" cy="85090"/>
          </a:xfrm>
          <a:custGeom>
            <a:avLst/>
            <a:gdLst/>
            <a:ahLst/>
            <a:cxnLst/>
            <a:rect l="l" t="t" r="r" b="b"/>
            <a:pathLst>
              <a:path w="166369" h="85089">
                <a:moveTo>
                  <a:pt x="166116" y="62738"/>
                </a:moveTo>
                <a:lnTo>
                  <a:pt x="0" y="62738"/>
                </a:lnTo>
                <a:lnTo>
                  <a:pt x="0" y="84836"/>
                </a:lnTo>
                <a:lnTo>
                  <a:pt x="166116" y="84836"/>
                </a:lnTo>
                <a:lnTo>
                  <a:pt x="166116" y="62738"/>
                </a:lnTo>
                <a:close/>
              </a:path>
              <a:path w="166369" h="85089">
                <a:moveTo>
                  <a:pt x="166116" y="0"/>
                </a:moveTo>
                <a:lnTo>
                  <a:pt x="0" y="0"/>
                </a:lnTo>
                <a:lnTo>
                  <a:pt x="0" y="22098"/>
                </a:lnTo>
                <a:lnTo>
                  <a:pt x="166116" y="22098"/>
                </a:lnTo>
                <a:lnTo>
                  <a:pt x="16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4" name="object 5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67304" y="3801490"/>
            <a:ext cx="122174" cy="185673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2782061" y="3596259"/>
            <a:ext cx="227329" cy="372110"/>
          </a:xfrm>
          <a:custGeom>
            <a:avLst/>
            <a:gdLst/>
            <a:ahLst/>
            <a:cxnLst/>
            <a:rect l="l" t="t" r="r" b="b"/>
            <a:pathLst>
              <a:path w="227330" h="372110">
                <a:moveTo>
                  <a:pt x="162687" y="0"/>
                </a:moveTo>
                <a:lnTo>
                  <a:pt x="114807" y="12699"/>
                </a:lnTo>
                <a:lnTo>
                  <a:pt x="80771" y="48767"/>
                </a:lnTo>
                <a:lnTo>
                  <a:pt x="63519" y="90666"/>
                </a:lnTo>
                <a:lnTo>
                  <a:pt x="0" y="372109"/>
                </a:lnTo>
                <a:lnTo>
                  <a:pt x="32512" y="372109"/>
                </a:lnTo>
                <a:lnTo>
                  <a:pt x="53975" y="277367"/>
                </a:lnTo>
                <a:lnTo>
                  <a:pt x="156972" y="277367"/>
                </a:lnTo>
                <a:lnTo>
                  <a:pt x="157225" y="277240"/>
                </a:lnTo>
                <a:lnTo>
                  <a:pt x="162566" y="273557"/>
                </a:lnTo>
                <a:lnTo>
                  <a:pt x="96900" y="273557"/>
                </a:lnTo>
                <a:lnTo>
                  <a:pt x="90296" y="272668"/>
                </a:lnTo>
                <a:lnTo>
                  <a:pt x="62638" y="251444"/>
                </a:lnTo>
                <a:lnTo>
                  <a:pt x="62719" y="244474"/>
                </a:lnTo>
                <a:lnTo>
                  <a:pt x="90606" y="114331"/>
                </a:lnTo>
                <a:lnTo>
                  <a:pt x="102933" y="71024"/>
                </a:lnTo>
                <a:lnTo>
                  <a:pt x="127367" y="29517"/>
                </a:lnTo>
                <a:lnTo>
                  <a:pt x="160781" y="15747"/>
                </a:lnTo>
                <a:lnTo>
                  <a:pt x="212402" y="15747"/>
                </a:lnTo>
                <a:lnTo>
                  <a:pt x="210312" y="13588"/>
                </a:lnTo>
                <a:lnTo>
                  <a:pt x="201048" y="7661"/>
                </a:lnTo>
                <a:lnTo>
                  <a:pt x="190023" y="3413"/>
                </a:lnTo>
                <a:lnTo>
                  <a:pt x="177236" y="855"/>
                </a:lnTo>
                <a:lnTo>
                  <a:pt x="162687" y="0"/>
                </a:lnTo>
                <a:close/>
              </a:path>
              <a:path w="227330" h="372110">
                <a:moveTo>
                  <a:pt x="156972" y="277367"/>
                </a:moveTo>
                <a:lnTo>
                  <a:pt x="53975" y="277367"/>
                </a:lnTo>
                <a:lnTo>
                  <a:pt x="60785" y="280388"/>
                </a:lnTo>
                <a:lnTo>
                  <a:pt x="102272" y="289139"/>
                </a:lnTo>
                <a:lnTo>
                  <a:pt x="110489" y="289305"/>
                </a:lnTo>
                <a:lnTo>
                  <a:pt x="123346" y="288545"/>
                </a:lnTo>
                <a:lnTo>
                  <a:pt x="135429" y="286273"/>
                </a:lnTo>
                <a:lnTo>
                  <a:pt x="146726" y="282501"/>
                </a:lnTo>
                <a:lnTo>
                  <a:pt x="156972" y="277367"/>
                </a:lnTo>
                <a:close/>
              </a:path>
              <a:path w="227330" h="372110">
                <a:moveTo>
                  <a:pt x="212402" y="15747"/>
                </a:moveTo>
                <a:lnTo>
                  <a:pt x="160781" y="15747"/>
                </a:lnTo>
                <a:lnTo>
                  <a:pt x="168471" y="16295"/>
                </a:lnTo>
                <a:lnTo>
                  <a:pt x="175148" y="17938"/>
                </a:lnTo>
                <a:lnTo>
                  <a:pt x="193801" y="49910"/>
                </a:lnTo>
                <a:lnTo>
                  <a:pt x="193182" y="60100"/>
                </a:lnTo>
                <a:lnTo>
                  <a:pt x="178468" y="96601"/>
                </a:lnTo>
                <a:lnTo>
                  <a:pt x="147587" y="121368"/>
                </a:lnTo>
                <a:lnTo>
                  <a:pt x="117601" y="128904"/>
                </a:lnTo>
                <a:lnTo>
                  <a:pt x="114807" y="143128"/>
                </a:lnTo>
                <a:lnTo>
                  <a:pt x="150494" y="157733"/>
                </a:lnTo>
                <a:lnTo>
                  <a:pt x="162940" y="193166"/>
                </a:lnTo>
                <a:lnTo>
                  <a:pt x="162464" y="204644"/>
                </a:lnTo>
                <a:lnTo>
                  <a:pt x="151155" y="243790"/>
                </a:lnTo>
                <a:lnTo>
                  <a:pt x="120411" y="271065"/>
                </a:lnTo>
                <a:lnTo>
                  <a:pt x="104901" y="273557"/>
                </a:lnTo>
                <a:lnTo>
                  <a:pt x="162566" y="273557"/>
                </a:lnTo>
                <a:lnTo>
                  <a:pt x="188087" y="244474"/>
                </a:lnTo>
                <a:lnTo>
                  <a:pt x="198500" y="200278"/>
                </a:lnTo>
                <a:lnTo>
                  <a:pt x="195526" y="179228"/>
                </a:lnTo>
                <a:lnTo>
                  <a:pt x="186610" y="161798"/>
                </a:lnTo>
                <a:lnTo>
                  <a:pt x="171765" y="147986"/>
                </a:lnTo>
                <a:lnTo>
                  <a:pt x="151002" y="137794"/>
                </a:lnTo>
                <a:lnTo>
                  <a:pt x="151383" y="136143"/>
                </a:lnTo>
                <a:lnTo>
                  <a:pt x="188849" y="119379"/>
                </a:lnTo>
                <a:lnTo>
                  <a:pt x="216656" y="92285"/>
                </a:lnTo>
                <a:lnTo>
                  <a:pt x="227075" y="52577"/>
                </a:lnTo>
                <a:lnTo>
                  <a:pt x="226028" y="40645"/>
                </a:lnTo>
                <a:lnTo>
                  <a:pt x="222884" y="30178"/>
                </a:lnTo>
                <a:lnTo>
                  <a:pt x="217646" y="21163"/>
                </a:lnTo>
                <a:lnTo>
                  <a:pt x="212402" y="15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132963" y="3609466"/>
            <a:ext cx="513080" cy="416559"/>
          </a:xfrm>
          <a:custGeom>
            <a:avLst/>
            <a:gdLst/>
            <a:ahLst/>
            <a:cxnLst/>
            <a:rect l="l" t="t" r="r" b="b"/>
            <a:pathLst>
              <a:path w="513079" h="416560">
                <a:moveTo>
                  <a:pt x="326136" y="0"/>
                </a:moveTo>
                <a:lnTo>
                  <a:pt x="263144" y="0"/>
                </a:lnTo>
                <a:lnTo>
                  <a:pt x="146558" y="193929"/>
                </a:lnTo>
                <a:lnTo>
                  <a:pt x="123698" y="0"/>
                </a:lnTo>
                <a:lnTo>
                  <a:pt x="52324" y="0"/>
                </a:lnTo>
                <a:lnTo>
                  <a:pt x="50165" y="9779"/>
                </a:lnTo>
                <a:lnTo>
                  <a:pt x="56896" y="10160"/>
                </a:lnTo>
                <a:lnTo>
                  <a:pt x="61976" y="11557"/>
                </a:lnTo>
                <a:lnTo>
                  <a:pt x="68199" y="16510"/>
                </a:lnTo>
                <a:lnTo>
                  <a:pt x="69723" y="20828"/>
                </a:lnTo>
                <a:lnTo>
                  <a:pt x="69723" y="32512"/>
                </a:lnTo>
                <a:lnTo>
                  <a:pt x="29298" y="222465"/>
                </a:lnTo>
                <a:lnTo>
                  <a:pt x="11049" y="260985"/>
                </a:lnTo>
                <a:lnTo>
                  <a:pt x="2159" y="263144"/>
                </a:lnTo>
                <a:lnTo>
                  <a:pt x="0" y="272923"/>
                </a:lnTo>
                <a:lnTo>
                  <a:pt x="69977" y="272923"/>
                </a:lnTo>
                <a:lnTo>
                  <a:pt x="72136" y="263144"/>
                </a:lnTo>
                <a:lnTo>
                  <a:pt x="65024" y="262636"/>
                </a:lnTo>
                <a:lnTo>
                  <a:pt x="60071" y="261112"/>
                </a:lnTo>
                <a:lnTo>
                  <a:pt x="54102" y="256159"/>
                </a:lnTo>
                <a:lnTo>
                  <a:pt x="52578" y="251968"/>
                </a:lnTo>
                <a:lnTo>
                  <a:pt x="52832" y="239356"/>
                </a:lnTo>
                <a:lnTo>
                  <a:pt x="53619" y="231990"/>
                </a:lnTo>
                <a:lnTo>
                  <a:pt x="54927" y="223786"/>
                </a:lnTo>
                <a:lnTo>
                  <a:pt x="81229" y="102831"/>
                </a:lnTo>
                <a:lnTo>
                  <a:pt x="85128" y="82511"/>
                </a:lnTo>
                <a:lnTo>
                  <a:pt x="88811" y="61353"/>
                </a:lnTo>
                <a:lnTo>
                  <a:pt x="92329" y="39370"/>
                </a:lnTo>
                <a:lnTo>
                  <a:pt x="96393" y="39370"/>
                </a:lnTo>
                <a:lnTo>
                  <a:pt x="98526" y="61163"/>
                </a:lnTo>
                <a:lnTo>
                  <a:pt x="102527" y="97739"/>
                </a:lnTo>
                <a:lnTo>
                  <a:pt x="120891" y="241173"/>
                </a:lnTo>
                <a:lnTo>
                  <a:pt x="142748" y="241173"/>
                </a:lnTo>
                <a:lnTo>
                  <a:pt x="233680" y="90932"/>
                </a:lnTo>
                <a:lnTo>
                  <a:pt x="251612" y="60833"/>
                </a:lnTo>
                <a:lnTo>
                  <a:pt x="261747" y="42926"/>
                </a:lnTo>
                <a:lnTo>
                  <a:pt x="264541" y="42926"/>
                </a:lnTo>
                <a:lnTo>
                  <a:pt x="257733" y="67779"/>
                </a:lnTo>
                <a:lnTo>
                  <a:pt x="251714" y="92710"/>
                </a:lnTo>
                <a:lnTo>
                  <a:pt x="223100" y="222465"/>
                </a:lnTo>
                <a:lnTo>
                  <a:pt x="218567" y="240030"/>
                </a:lnTo>
                <a:lnTo>
                  <a:pt x="195961" y="263144"/>
                </a:lnTo>
                <a:lnTo>
                  <a:pt x="193802" y="272923"/>
                </a:lnTo>
                <a:lnTo>
                  <a:pt x="273685" y="272923"/>
                </a:lnTo>
                <a:lnTo>
                  <a:pt x="275971" y="263144"/>
                </a:lnTo>
                <a:lnTo>
                  <a:pt x="268859" y="262636"/>
                </a:lnTo>
                <a:lnTo>
                  <a:pt x="263779" y="261112"/>
                </a:lnTo>
                <a:lnTo>
                  <a:pt x="257810" y="256159"/>
                </a:lnTo>
                <a:lnTo>
                  <a:pt x="256286" y="251968"/>
                </a:lnTo>
                <a:lnTo>
                  <a:pt x="256540" y="237998"/>
                </a:lnTo>
                <a:lnTo>
                  <a:pt x="296760" y="50622"/>
                </a:lnTo>
                <a:lnTo>
                  <a:pt x="310769" y="14732"/>
                </a:lnTo>
                <a:lnTo>
                  <a:pt x="323977" y="9779"/>
                </a:lnTo>
                <a:lnTo>
                  <a:pt x="326136" y="0"/>
                </a:lnTo>
                <a:close/>
              </a:path>
              <a:path w="513079" h="416560">
                <a:moveTo>
                  <a:pt x="389128" y="212852"/>
                </a:moveTo>
                <a:lnTo>
                  <a:pt x="379222" y="212852"/>
                </a:lnTo>
                <a:lnTo>
                  <a:pt x="340614" y="214503"/>
                </a:lnTo>
                <a:lnTo>
                  <a:pt x="338455" y="224282"/>
                </a:lnTo>
                <a:lnTo>
                  <a:pt x="344805" y="224409"/>
                </a:lnTo>
                <a:lnTo>
                  <a:pt x="349377" y="225298"/>
                </a:lnTo>
                <a:lnTo>
                  <a:pt x="351917" y="226949"/>
                </a:lnTo>
                <a:lnTo>
                  <a:pt x="354457" y="228473"/>
                </a:lnTo>
                <a:lnTo>
                  <a:pt x="355727" y="231013"/>
                </a:lnTo>
                <a:lnTo>
                  <a:pt x="355727" y="236093"/>
                </a:lnTo>
                <a:lnTo>
                  <a:pt x="355473" y="238633"/>
                </a:lnTo>
                <a:lnTo>
                  <a:pt x="355219" y="240792"/>
                </a:lnTo>
                <a:lnTo>
                  <a:pt x="354584" y="243713"/>
                </a:lnTo>
                <a:lnTo>
                  <a:pt x="354076" y="246761"/>
                </a:lnTo>
                <a:lnTo>
                  <a:pt x="353314" y="250952"/>
                </a:lnTo>
                <a:lnTo>
                  <a:pt x="351028" y="261874"/>
                </a:lnTo>
                <a:lnTo>
                  <a:pt x="349377" y="269240"/>
                </a:lnTo>
                <a:lnTo>
                  <a:pt x="347472" y="278511"/>
                </a:lnTo>
                <a:lnTo>
                  <a:pt x="337527" y="323189"/>
                </a:lnTo>
                <a:lnTo>
                  <a:pt x="330200" y="356616"/>
                </a:lnTo>
                <a:lnTo>
                  <a:pt x="328168" y="365506"/>
                </a:lnTo>
                <a:lnTo>
                  <a:pt x="326009" y="372872"/>
                </a:lnTo>
                <a:lnTo>
                  <a:pt x="323596" y="378587"/>
                </a:lnTo>
                <a:lnTo>
                  <a:pt x="321310" y="384302"/>
                </a:lnTo>
                <a:lnTo>
                  <a:pt x="318643" y="388874"/>
                </a:lnTo>
                <a:lnTo>
                  <a:pt x="315722" y="392049"/>
                </a:lnTo>
                <a:lnTo>
                  <a:pt x="312801" y="395351"/>
                </a:lnTo>
                <a:lnTo>
                  <a:pt x="309499" y="397637"/>
                </a:lnTo>
                <a:lnTo>
                  <a:pt x="302133" y="400177"/>
                </a:lnTo>
                <a:lnTo>
                  <a:pt x="297815" y="400685"/>
                </a:lnTo>
                <a:lnTo>
                  <a:pt x="288417" y="400685"/>
                </a:lnTo>
                <a:lnTo>
                  <a:pt x="284607" y="400431"/>
                </a:lnTo>
                <a:lnTo>
                  <a:pt x="283083" y="400050"/>
                </a:lnTo>
                <a:lnTo>
                  <a:pt x="281940" y="399542"/>
                </a:lnTo>
                <a:lnTo>
                  <a:pt x="278257" y="414782"/>
                </a:lnTo>
                <a:lnTo>
                  <a:pt x="282194" y="415544"/>
                </a:lnTo>
                <a:lnTo>
                  <a:pt x="286766" y="416052"/>
                </a:lnTo>
                <a:lnTo>
                  <a:pt x="289179" y="416179"/>
                </a:lnTo>
                <a:lnTo>
                  <a:pt x="301117" y="416179"/>
                </a:lnTo>
                <a:lnTo>
                  <a:pt x="309499" y="415036"/>
                </a:lnTo>
                <a:lnTo>
                  <a:pt x="316738" y="412623"/>
                </a:lnTo>
                <a:lnTo>
                  <a:pt x="324104" y="410337"/>
                </a:lnTo>
                <a:lnTo>
                  <a:pt x="330454" y="406654"/>
                </a:lnTo>
                <a:lnTo>
                  <a:pt x="335915" y="401574"/>
                </a:lnTo>
                <a:lnTo>
                  <a:pt x="336905" y="400685"/>
                </a:lnTo>
                <a:lnTo>
                  <a:pt x="357212" y="362115"/>
                </a:lnTo>
                <a:lnTo>
                  <a:pt x="359156" y="354203"/>
                </a:lnTo>
                <a:lnTo>
                  <a:pt x="389128" y="212852"/>
                </a:lnTo>
                <a:close/>
              </a:path>
              <a:path w="513079" h="416560">
                <a:moveTo>
                  <a:pt x="402844" y="154813"/>
                </a:moveTo>
                <a:lnTo>
                  <a:pt x="373888" y="154813"/>
                </a:lnTo>
                <a:lnTo>
                  <a:pt x="366776" y="185801"/>
                </a:lnTo>
                <a:lnTo>
                  <a:pt x="395859" y="185801"/>
                </a:lnTo>
                <a:lnTo>
                  <a:pt x="402844" y="154813"/>
                </a:lnTo>
                <a:close/>
              </a:path>
              <a:path w="513079" h="416560">
                <a:moveTo>
                  <a:pt x="507238" y="154813"/>
                </a:moveTo>
                <a:lnTo>
                  <a:pt x="478409" y="154813"/>
                </a:lnTo>
                <a:lnTo>
                  <a:pt x="471678" y="185801"/>
                </a:lnTo>
                <a:lnTo>
                  <a:pt x="500253" y="185801"/>
                </a:lnTo>
                <a:lnTo>
                  <a:pt x="507238" y="154813"/>
                </a:lnTo>
                <a:close/>
              </a:path>
              <a:path w="513079" h="416560">
                <a:moveTo>
                  <a:pt x="512699" y="333502"/>
                </a:moveTo>
                <a:lnTo>
                  <a:pt x="502920" y="324104"/>
                </a:lnTo>
                <a:lnTo>
                  <a:pt x="499999" y="327279"/>
                </a:lnTo>
                <a:lnTo>
                  <a:pt x="497459" y="329946"/>
                </a:lnTo>
                <a:lnTo>
                  <a:pt x="492760" y="334391"/>
                </a:lnTo>
                <a:lnTo>
                  <a:pt x="490601" y="336296"/>
                </a:lnTo>
                <a:lnTo>
                  <a:pt x="488569" y="337693"/>
                </a:lnTo>
                <a:lnTo>
                  <a:pt x="486664" y="339217"/>
                </a:lnTo>
                <a:lnTo>
                  <a:pt x="484759" y="340233"/>
                </a:lnTo>
                <a:lnTo>
                  <a:pt x="482981" y="340868"/>
                </a:lnTo>
                <a:lnTo>
                  <a:pt x="481330" y="341630"/>
                </a:lnTo>
                <a:lnTo>
                  <a:pt x="479552" y="341884"/>
                </a:lnTo>
                <a:lnTo>
                  <a:pt x="474853" y="341884"/>
                </a:lnTo>
                <a:lnTo>
                  <a:pt x="472567" y="341122"/>
                </a:lnTo>
                <a:lnTo>
                  <a:pt x="471170" y="339471"/>
                </a:lnTo>
                <a:lnTo>
                  <a:pt x="469646" y="337820"/>
                </a:lnTo>
                <a:lnTo>
                  <a:pt x="468884" y="335153"/>
                </a:lnTo>
                <a:lnTo>
                  <a:pt x="468884" y="328803"/>
                </a:lnTo>
                <a:lnTo>
                  <a:pt x="469138" y="325882"/>
                </a:lnTo>
                <a:lnTo>
                  <a:pt x="469646" y="322453"/>
                </a:lnTo>
                <a:lnTo>
                  <a:pt x="471170" y="314579"/>
                </a:lnTo>
                <a:lnTo>
                  <a:pt x="472567" y="308864"/>
                </a:lnTo>
                <a:lnTo>
                  <a:pt x="493903" y="212852"/>
                </a:lnTo>
                <a:lnTo>
                  <a:pt x="486791" y="212852"/>
                </a:lnTo>
                <a:lnTo>
                  <a:pt x="445008" y="214503"/>
                </a:lnTo>
                <a:lnTo>
                  <a:pt x="443230" y="224282"/>
                </a:lnTo>
                <a:lnTo>
                  <a:pt x="449453" y="224409"/>
                </a:lnTo>
                <a:lnTo>
                  <a:pt x="453898" y="225425"/>
                </a:lnTo>
                <a:lnTo>
                  <a:pt x="456311" y="227203"/>
                </a:lnTo>
                <a:lnTo>
                  <a:pt x="458724" y="228854"/>
                </a:lnTo>
                <a:lnTo>
                  <a:pt x="460121" y="231648"/>
                </a:lnTo>
                <a:lnTo>
                  <a:pt x="460248" y="237998"/>
                </a:lnTo>
                <a:lnTo>
                  <a:pt x="459994" y="239522"/>
                </a:lnTo>
                <a:lnTo>
                  <a:pt x="459486" y="244094"/>
                </a:lnTo>
                <a:lnTo>
                  <a:pt x="458724" y="249047"/>
                </a:lnTo>
                <a:lnTo>
                  <a:pt x="457581" y="254635"/>
                </a:lnTo>
                <a:lnTo>
                  <a:pt x="456438" y="260096"/>
                </a:lnTo>
                <a:lnTo>
                  <a:pt x="455168" y="265938"/>
                </a:lnTo>
                <a:lnTo>
                  <a:pt x="453898" y="271907"/>
                </a:lnTo>
                <a:lnTo>
                  <a:pt x="452501" y="277749"/>
                </a:lnTo>
                <a:lnTo>
                  <a:pt x="450977" y="283845"/>
                </a:lnTo>
                <a:lnTo>
                  <a:pt x="449580" y="289814"/>
                </a:lnTo>
                <a:lnTo>
                  <a:pt x="448183" y="295910"/>
                </a:lnTo>
                <a:lnTo>
                  <a:pt x="446786" y="301752"/>
                </a:lnTo>
                <a:lnTo>
                  <a:pt x="445643" y="307213"/>
                </a:lnTo>
                <a:lnTo>
                  <a:pt x="444373" y="312801"/>
                </a:lnTo>
                <a:lnTo>
                  <a:pt x="443484" y="317881"/>
                </a:lnTo>
                <a:lnTo>
                  <a:pt x="442722" y="322580"/>
                </a:lnTo>
                <a:lnTo>
                  <a:pt x="441833" y="327279"/>
                </a:lnTo>
                <a:lnTo>
                  <a:pt x="441566" y="329946"/>
                </a:lnTo>
                <a:lnTo>
                  <a:pt x="441515" y="338709"/>
                </a:lnTo>
                <a:lnTo>
                  <a:pt x="442087" y="342011"/>
                </a:lnTo>
                <a:lnTo>
                  <a:pt x="443230" y="345186"/>
                </a:lnTo>
                <a:lnTo>
                  <a:pt x="444373" y="348488"/>
                </a:lnTo>
                <a:lnTo>
                  <a:pt x="461899" y="361188"/>
                </a:lnTo>
                <a:lnTo>
                  <a:pt x="469519" y="361188"/>
                </a:lnTo>
                <a:lnTo>
                  <a:pt x="473202" y="360807"/>
                </a:lnTo>
                <a:lnTo>
                  <a:pt x="476758" y="359791"/>
                </a:lnTo>
                <a:lnTo>
                  <a:pt x="480314" y="358902"/>
                </a:lnTo>
                <a:lnTo>
                  <a:pt x="504278" y="341884"/>
                </a:lnTo>
                <a:lnTo>
                  <a:pt x="507746" y="338709"/>
                </a:lnTo>
                <a:lnTo>
                  <a:pt x="512699" y="3335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804158" y="3741039"/>
            <a:ext cx="46990" cy="48895"/>
          </a:xfrm>
          <a:custGeom>
            <a:avLst/>
            <a:gdLst/>
            <a:ahLst/>
            <a:cxnLst/>
            <a:rect l="l" t="t" r="r" b="b"/>
            <a:pathLst>
              <a:path w="46989" h="48895">
                <a:moveTo>
                  <a:pt x="30099" y="0"/>
                </a:moveTo>
                <a:lnTo>
                  <a:pt x="23240" y="0"/>
                </a:lnTo>
                <a:lnTo>
                  <a:pt x="16509" y="0"/>
                </a:lnTo>
                <a:lnTo>
                  <a:pt x="10921" y="2286"/>
                </a:lnTo>
                <a:lnTo>
                  <a:pt x="2158" y="11303"/>
                </a:lnTo>
                <a:lnTo>
                  <a:pt x="0" y="17144"/>
                </a:lnTo>
                <a:lnTo>
                  <a:pt x="0" y="31496"/>
                </a:lnTo>
                <a:lnTo>
                  <a:pt x="2158" y="37465"/>
                </a:lnTo>
                <a:lnTo>
                  <a:pt x="6603" y="41910"/>
                </a:lnTo>
                <a:lnTo>
                  <a:pt x="10921" y="46481"/>
                </a:lnTo>
                <a:lnTo>
                  <a:pt x="16509" y="48768"/>
                </a:lnTo>
                <a:lnTo>
                  <a:pt x="30099" y="48768"/>
                </a:lnTo>
                <a:lnTo>
                  <a:pt x="35559" y="46481"/>
                </a:lnTo>
                <a:lnTo>
                  <a:pt x="44322" y="37465"/>
                </a:lnTo>
                <a:lnTo>
                  <a:pt x="46481" y="31496"/>
                </a:lnTo>
                <a:lnTo>
                  <a:pt x="46481" y="17144"/>
                </a:lnTo>
                <a:lnTo>
                  <a:pt x="44322" y="11303"/>
                </a:lnTo>
                <a:lnTo>
                  <a:pt x="40004" y="6731"/>
                </a:lnTo>
                <a:lnTo>
                  <a:pt x="35559" y="2286"/>
                </a:lnTo>
                <a:lnTo>
                  <a:pt x="30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74210" y="3687826"/>
            <a:ext cx="233425" cy="282829"/>
          </a:xfrm>
          <a:prstGeom prst="rect">
            <a:avLst/>
          </a:prstGeom>
        </p:spPr>
      </p:pic>
      <p:sp>
        <p:nvSpPr>
          <p:cNvPr id="59" name="object 59"/>
          <p:cNvSpPr/>
          <p:nvPr/>
        </p:nvSpPr>
        <p:spPr>
          <a:xfrm>
            <a:off x="4370959" y="3637279"/>
            <a:ext cx="246379" cy="256540"/>
          </a:xfrm>
          <a:custGeom>
            <a:avLst/>
            <a:gdLst/>
            <a:ahLst/>
            <a:cxnLst/>
            <a:rect l="l" t="t" r="r" b="b"/>
            <a:pathLst>
              <a:path w="246379" h="256539">
                <a:moveTo>
                  <a:pt x="246380" y="114300"/>
                </a:moveTo>
                <a:lnTo>
                  <a:pt x="137287" y="114300"/>
                </a:lnTo>
                <a:lnTo>
                  <a:pt x="137287" y="0"/>
                </a:lnTo>
                <a:lnTo>
                  <a:pt x="108966" y="0"/>
                </a:lnTo>
                <a:lnTo>
                  <a:pt x="108966" y="114300"/>
                </a:lnTo>
                <a:lnTo>
                  <a:pt x="0" y="114300"/>
                </a:lnTo>
                <a:lnTo>
                  <a:pt x="0" y="140970"/>
                </a:lnTo>
                <a:lnTo>
                  <a:pt x="108966" y="140970"/>
                </a:lnTo>
                <a:lnTo>
                  <a:pt x="108966" y="256540"/>
                </a:lnTo>
                <a:lnTo>
                  <a:pt x="137287" y="256540"/>
                </a:lnTo>
                <a:lnTo>
                  <a:pt x="137287" y="140970"/>
                </a:lnTo>
                <a:lnTo>
                  <a:pt x="246380" y="140970"/>
                </a:lnTo>
                <a:lnTo>
                  <a:pt x="24638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741164" y="3433317"/>
            <a:ext cx="600075" cy="344805"/>
          </a:xfrm>
          <a:custGeom>
            <a:avLst/>
            <a:gdLst/>
            <a:ahLst/>
            <a:cxnLst/>
            <a:rect l="l" t="t" r="r" b="b"/>
            <a:pathLst>
              <a:path w="600075" h="344804">
                <a:moveTo>
                  <a:pt x="361924" y="115493"/>
                </a:moveTo>
                <a:lnTo>
                  <a:pt x="195834" y="115493"/>
                </a:lnTo>
                <a:lnTo>
                  <a:pt x="195834" y="137553"/>
                </a:lnTo>
                <a:lnTo>
                  <a:pt x="361924" y="137553"/>
                </a:lnTo>
                <a:lnTo>
                  <a:pt x="361924" y="115493"/>
                </a:lnTo>
                <a:close/>
              </a:path>
              <a:path w="600075" h="344804">
                <a:moveTo>
                  <a:pt x="577469" y="34798"/>
                </a:moveTo>
                <a:lnTo>
                  <a:pt x="567715" y="14097"/>
                </a:lnTo>
                <a:lnTo>
                  <a:pt x="559308" y="7366"/>
                </a:lnTo>
                <a:lnTo>
                  <a:pt x="553847" y="4699"/>
                </a:lnTo>
                <a:lnTo>
                  <a:pt x="549757" y="3479"/>
                </a:lnTo>
                <a:lnTo>
                  <a:pt x="549757" y="47498"/>
                </a:lnTo>
                <a:lnTo>
                  <a:pt x="548386" y="54356"/>
                </a:lnTo>
                <a:lnTo>
                  <a:pt x="522478" y="86106"/>
                </a:lnTo>
                <a:lnTo>
                  <a:pt x="491363" y="94488"/>
                </a:lnTo>
                <a:lnTo>
                  <a:pt x="488950" y="106934"/>
                </a:lnTo>
                <a:lnTo>
                  <a:pt x="524573" y="129019"/>
                </a:lnTo>
                <a:lnTo>
                  <a:pt x="527050" y="143776"/>
                </a:lnTo>
                <a:lnTo>
                  <a:pt x="527050" y="152400"/>
                </a:lnTo>
                <a:lnTo>
                  <a:pt x="515112" y="184404"/>
                </a:lnTo>
                <a:lnTo>
                  <a:pt x="511429" y="189103"/>
                </a:lnTo>
                <a:lnTo>
                  <a:pt x="506730" y="192786"/>
                </a:lnTo>
                <a:lnTo>
                  <a:pt x="501396" y="195199"/>
                </a:lnTo>
                <a:lnTo>
                  <a:pt x="496062" y="197739"/>
                </a:lnTo>
                <a:lnTo>
                  <a:pt x="490093" y="199009"/>
                </a:lnTo>
                <a:lnTo>
                  <a:pt x="472694" y="199009"/>
                </a:lnTo>
                <a:lnTo>
                  <a:pt x="464439" y="197231"/>
                </a:lnTo>
                <a:lnTo>
                  <a:pt x="453517" y="190373"/>
                </a:lnTo>
                <a:lnTo>
                  <a:pt x="450850" y="186055"/>
                </a:lnTo>
                <a:lnTo>
                  <a:pt x="450850" y="179197"/>
                </a:lnTo>
                <a:lnTo>
                  <a:pt x="451104" y="176657"/>
                </a:lnTo>
                <a:lnTo>
                  <a:pt x="451485" y="175260"/>
                </a:lnTo>
                <a:lnTo>
                  <a:pt x="451993" y="173609"/>
                </a:lnTo>
                <a:lnTo>
                  <a:pt x="471678" y="83312"/>
                </a:lnTo>
                <a:lnTo>
                  <a:pt x="485863" y="41186"/>
                </a:lnTo>
                <a:lnTo>
                  <a:pt x="515213" y="15201"/>
                </a:lnTo>
                <a:lnTo>
                  <a:pt x="524764" y="14097"/>
                </a:lnTo>
                <a:lnTo>
                  <a:pt x="532892" y="14097"/>
                </a:lnTo>
                <a:lnTo>
                  <a:pt x="539115" y="16383"/>
                </a:lnTo>
                <a:lnTo>
                  <a:pt x="547751" y="25019"/>
                </a:lnTo>
                <a:lnTo>
                  <a:pt x="549630" y="31026"/>
                </a:lnTo>
                <a:lnTo>
                  <a:pt x="549757" y="47498"/>
                </a:lnTo>
                <a:lnTo>
                  <a:pt x="549757" y="3479"/>
                </a:lnTo>
                <a:lnTo>
                  <a:pt x="547497" y="2794"/>
                </a:lnTo>
                <a:lnTo>
                  <a:pt x="541020" y="1016"/>
                </a:lnTo>
                <a:lnTo>
                  <a:pt x="533781" y="0"/>
                </a:lnTo>
                <a:lnTo>
                  <a:pt x="525653" y="0"/>
                </a:lnTo>
                <a:lnTo>
                  <a:pt x="485432" y="11150"/>
                </a:lnTo>
                <a:lnTo>
                  <a:pt x="456971" y="45008"/>
                </a:lnTo>
                <a:lnTo>
                  <a:pt x="444881" y="81153"/>
                </a:lnTo>
                <a:lnTo>
                  <a:pt x="401955" y="272669"/>
                </a:lnTo>
                <a:lnTo>
                  <a:pt x="429260" y="272669"/>
                </a:lnTo>
                <a:lnTo>
                  <a:pt x="444627" y="204724"/>
                </a:lnTo>
                <a:lnTo>
                  <a:pt x="451612" y="207772"/>
                </a:lnTo>
                <a:lnTo>
                  <a:pt x="458470" y="210058"/>
                </a:lnTo>
                <a:lnTo>
                  <a:pt x="472186" y="212598"/>
                </a:lnTo>
                <a:lnTo>
                  <a:pt x="479806" y="213233"/>
                </a:lnTo>
                <a:lnTo>
                  <a:pt x="488188" y="213233"/>
                </a:lnTo>
                <a:lnTo>
                  <a:pt x="523621" y="204724"/>
                </a:lnTo>
                <a:lnTo>
                  <a:pt x="527507" y="202526"/>
                </a:lnTo>
                <a:lnTo>
                  <a:pt x="532460" y="199009"/>
                </a:lnTo>
                <a:lnTo>
                  <a:pt x="532638" y="198894"/>
                </a:lnTo>
                <a:lnTo>
                  <a:pt x="537337" y="194818"/>
                </a:lnTo>
                <a:lnTo>
                  <a:pt x="555688" y="155486"/>
                </a:lnTo>
                <a:lnTo>
                  <a:pt x="556006" y="148717"/>
                </a:lnTo>
                <a:lnTo>
                  <a:pt x="555472" y="141249"/>
                </a:lnTo>
                <a:lnTo>
                  <a:pt x="529196" y="107010"/>
                </a:lnTo>
                <a:lnTo>
                  <a:pt x="520827" y="103124"/>
                </a:lnTo>
                <a:lnTo>
                  <a:pt x="521208" y="101219"/>
                </a:lnTo>
                <a:lnTo>
                  <a:pt x="560324" y="81153"/>
                </a:lnTo>
                <a:lnTo>
                  <a:pt x="564769" y="75946"/>
                </a:lnTo>
                <a:lnTo>
                  <a:pt x="569214" y="70866"/>
                </a:lnTo>
                <a:lnTo>
                  <a:pt x="572516" y="65278"/>
                </a:lnTo>
                <a:lnTo>
                  <a:pt x="574548" y="59436"/>
                </a:lnTo>
                <a:lnTo>
                  <a:pt x="576453" y="53594"/>
                </a:lnTo>
                <a:lnTo>
                  <a:pt x="577469" y="47498"/>
                </a:lnTo>
                <a:lnTo>
                  <a:pt x="577469" y="34798"/>
                </a:lnTo>
                <a:close/>
              </a:path>
              <a:path w="600075" h="344804">
                <a:moveTo>
                  <a:pt x="600075" y="315722"/>
                </a:moveTo>
                <a:lnTo>
                  <a:pt x="0" y="315722"/>
                </a:lnTo>
                <a:lnTo>
                  <a:pt x="0" y="344297"/>
                </a:lnTo>
                <a:lnTo>
                  <a:pt x="600075" y="344297"/>
                </a:lnTo>
                <a:lnTo>
                  <a:pt x="600075" y="315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67579" y="3458590"/>
            <a:ext cx="122174" cy="185674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31409" y="3904996"/>
            <a:ext cx="204850" cy="186944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5413121" y="3533521"/>
            <a:ext cx="566420" cy="454025"/>
            <a:chOff x="5413121" y="3533521"/>
            <a:chExt cx="566420" cy="454025"/>
          </a:xfrm>
        </p:grpSpPr>
        <p:sp>
          <p:nvSpPr>
            <p:cNvPr id="64" name="object 64"/>
            <p:cNvSpPr/>
            <p:nvPr/>
          </p:nvSpPr>
          <p:spPr>
            <a:xfrm>
              <a:off x="5413121" y="3577209"/>
              <a:ext cx="259715" cy="372110"/>
            </a:xfrm>
            <a:custGeom>
              <a:avLst/>
              <a:gdLst/>
              <a:ahLst/>
              <a:cxnLst/>
              <a:rect l="l" t="t" r="r" b="b"/>
              <a:pathLst>
                <a:path w="259714" h="372110">
                  <a:moveTo>
                    <a:pt x="254634" y="0"/>
                  </a:moveTo>
                  <a:lnTo>
                    <a:pt x="7619" y="0"/>
                  </a:lnTo>
                  <a:lnTo>
                    <a:pt x="7619" y="11302"/>
                  </a:lnTo>
                  <a:lnTo>
                    <a:pt x="123570" y="191134"/>
                  </a:lnTo>
                  <a:lnTo>
                    <a:pt x="0" y="360933"/>
                  </a:lnTo>
                  <a:lnTo>
                    <a:pt x="0" y="372109"/>
                  </a:lnTo>
                  <a:lnTo>
                    <a:pt x="253618" y="372109"/>
                  </a:lnTo>
                  <a:lnTo>
                    <a:pt x="259333" y="274573"/>
                  </a:lnTo>
                  <a:lnTo>
                    <a:pt x="235965" y="274573"/>
                  </a:lnTo>
                  <a:lnTo>
                    <a:pt x="234438" y="282553"/>
                  </a:lnTo>
                  <a:lnTo>
                    <a:pt x="231286" y="296130"/>
                  </a:lnTo>
                  <a:lnTo>
                    <a:pt x="211327" y="329438"/>
                  </a:lnTo>
                  <a:lnTo>
                    <a:pt x="193039" y="333755"/>
                  </a:lnTo>
                  <a:lnTo>
                    <a:pt x="53212" y="333755"/>
                  </a:lnTo>
                  <a:lnTo>
                    <a:pt x="162432" y="183768"/>
                  </a:lnTo>
                  <a:lnTo>
                    <a:pt x="162432" y="168528"/>
                  </a:lnTo>
                  <a:lnTo>
                    <a:pt x="65024" y="20700"/>
                  </a:lnTo>
                  <a:lnTo>
                    <a:pt x="183387" y="20700"/>
                  </a:lnTo>
                  <a:lnTo>
                    <a:pt x="217424" y="43560"/>
                  </a:lnTo>
                  <a:lnTo>
                    <a:pt x="232917" y="88899"/>
                  </a:lnTo>
                  <a:lnTo>
                    <a:pt x="254634" y="88899"/>
                  </a:lnTo>
                  <a:lnTo>
                    <a:pt x="2546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09031" y="3783330"/>
              <a:ext cx="65532" cy="20383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813298" y="3860418"/>
              <a:ext cx="166370" cy="85090"/>
            </a:xfrm>
            <a:custGeom>
              <a:avLst/>
              <a:gdLst/>
              <a:ahLst/>
              <a:cxnLst/>
              <a:rect l="l" t="t" r="r" b="b"/>
              <a:pathLst>
                <a:path w="166370" h="85089">
                  <a:moveTo>
                    <a:pt x="166116" y="62738"/>
                  </a:moveTo>
                  <a:lnTo>
                    <a:pt x="0" y="62738"/>
                  </a:lnTo>
                  <a:lnTo>
                    <a:pt x="0" y="84836"/>
                  </a:lnTo>
                  <a:lnTo>
                    <a:pt x="166116" y="84836"/>
                  </a:lnTo>
                  <a:lnTo>
                    <a:pt x="166116" y="62738"/>
                  </a:lnTo>
                  <a:close/>
                </a:path>
                <a:path w="166370" h="85089">
                  <a:moveTo>
                    <a:pt x="166116" y="0"/>
                  </a:moveTo>
                  <a:lnTo>
                    <a:pt x="0" y="0"/>
                  </a:lnTo>
                  <a:lnTo>
                    <a:pt x="0" y="22098"/>
                  </a:lnTo>
                  <a:lnTo>
                    <a:pt x="166116" y="22098"/>
                  </a:lnTo>
                  <a:lnTo>
                    <a:pt x="166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02935" y="3533521"/>
              <a:ext cx="204850" cy="186943"/>
            </a:xfrm>
            <a:prstGeom prst="rect">
              <a:avLst/>
            </a:prstGeom>
          </p:spPr>
        </p:pic>
      </p:grpSp>
      <p:pic>
        <p:nvPicPr>
          <p:cNvPr id="68" name="object 6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34404" y="3801490"/>
            <a:ext cx="122174" cy="185673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250685" y="3687826"/>
            <a:ext cx="233425" cy="282829"/>
          </a:xfrm>
          <a:prstGeom prst="rect">
            <a:avLst/>
          </a:prstGeom>
        </p:spPr>
      </p:pic>
      <p:sp>
        <p:nvSpPr>
          <p:cNvPr id="70" name="object 70"/>
          <p:cNvSpPr/>
          <p:nvPr/>
        </p:nvSpPr>
        <p:spPr>
          <a:xfrm>
            <a:off x="1551558" y="4507991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70">
                <a:moveTo>
                  <a:pt x="246379" y="0"/>
                </a:moveTo>
                <a:lnTo>
                  <a:pt x="0" y="0"/>
                </a:lnTo>
                <a:lnTo>
                  <a:pt x="0" y="26542"/>
                </a:lnTo>
                <a:lnTo>
                  <a:pt x="246379" y="26542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551558" y="4424934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70">
                <a:moveTo>
                  <a:pt x="246379" y="0"/>
                </a:moveTo>
                <a:lnTo>
                  <a:pt x="0" y="0"/>
                </a:lnTo>
                <a:lnTo>
                  <a:pt x="0" y="26670"/>
                </a:lnTo>
                <a:lnTo>
                  <a:pt x="246379" y="26670"/>
                </a:lnTo>
                <a:lnTo>
                  <a:pt x="246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2" name="object 72"/>
          <p:cNvGrpSpPr/>
          <p:nvPr/>
        </p:nvGrpSpPr>
        <p:grpSpPr>
          <a:xfrm>
            <a:off x="1936495" y="4247896"/>
            <a:ext cx="494665" cy="454025"/>
            <a:chOff x="1936495" y="4247896"/>
            <a:chExt cx="494665" cy="454025"/>
          </a:xfrm>
        </p:grpSpPr>
        <p:sp>
          <p:nvSpPr>
            <p:cNvPr id="73" name="object 73"/>
            <p:cNvSpPr/>
            <p:nvPr/>
          </p:nvSpPr>
          <p:spPr>
            <a:xfrm>
              <a:off x="1936495" y="4291584"/>
              <a:ext cx="259715" cy="372110"/>
            </a:xfrm>
            <a:custGeom>
              <a:avLst/>
              <a:gdLst/>
              <a:ahLst/>
              <a:cxnLst/>
              <a:rect l="l" t="t" r="r" b="b"/>
              <a:pathLst>
                <a:path w="259714" h="372110">
                  <a:moveTo>
                    <a:pt x="254635" y="0"/>
                  </a:moveTo>
                  <a:lnTo>
                    <a:pt x="7620" y="0"/>
                  </a:lnTo>
                  <a:lnTo>
                    <a:pt x="7620" y="11303"/>
                  </a:lnTo>
                  <a:lnTo>
                    <a:pt x="123571" y="191135"/>
                  </a:lnTo>
                  <a:lnTo>
                    <a:pt x="0" y="360934"/>
                  </a:lnTo>
                  <a:lnTo>
                    <a:pt x="0" y="372110"/>
                  </a:lnTo>
                  <a:lnTo>
                    <a:pt x="253619" y="372110"/>
                  </a:lnTo>
                  <a:lnTo>
                    <a:pt x="259334" y="274574"/>
                  </a:lnTo>
                  <a:lnTo>
                    <a:pt x="235966" y="274574"/>
                  </a:lnTo>
                  <a:lnTo>
                    <a:pt x="234438" y="282553"/>
                  </a:lnTo>
                  <a:lnTo>
                    <a:pt x="231286" y="296130"/>
                  </a:lnTo>
                  <a:lnTo>
                    <a:pt x="211328" y="329438"/>
                  </a:lnTo>
                  <a:lnTo>
                    <a:pt x="193040" y="333756"/>
                  </a:lnTo>
                  <a:lnTo>
                    <a:pt x="53212" y="333756"/>
                  </a:lnTo>
                  <a:lnTo>
                    <a:pt x="162433" y="183769"/>
                  </a:lnTo>
                  <a:lnTo>
                    <a:pt x="162433" y="168529"/>
                  </a:lnTo>
                  <a:lnTo>
                    <a:pt x="65024" y="20701"/>
                  </a:lnTo>
                  <a:lnTo>
                    <a:pt x="183387" y="20701"/>
                  </a:lnTo>
                  <a:lnTo>
                    <a:pt x="217424" y="43561"/>
                  </a:lnTo>
                  <a:lnTo>
                    <a:pt x="232918" y="88900"/>
                  </a:lnTo>
                  <a:lnTo>
                    <a:pt x="254635" y="88900"/>
                  </a:lnTo>
                  <a:lnTo>
                    <a:pt x="254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32405" y="4497705"/>
              <a:ext cx="65531" cy="20383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26309" y="4247896"/>
              <a:ext cx="204850" cy="186944"/>
            </a:xfrm>
            <a:prstGeom prst="rect">
              <a:avLst/>
            </a:prstGeom>
          </p:spPr>
        </p:pic>
      </p:grpSp>
      <p:sp>
        <p:nvSpPr>
          <p:cNvPr id="76" name="object 76"/>
          <p:cNvSpPr/>
          <p:nvPr/>
        </p:nvSpPr>
        <p:spPr>
          <a:xfrm>
            <a:off x="2346198" y="4574794"/>
            <a:ext cx="166370" cy="85090"/>
          </a:xfrm>
          <a:custGeom>
            <a:avLst/>
            <a:gdLst/>
            <a:ahLst/>
            <a:cxnLst/>
            <a:rect l="l" t="t" r="r" b="b"/>
            <a:pathLst>
              <a:path w="166369" h="85089">
                <a:moveTo>
                  <a:pt x="166116" y="62738"/>
                </a:moveTo>
                <a:lnTo>
                  <a:pt x="0" y="62738"/>
                </a:lnTo>
                <a:lnTo>
                  <a:pt x="0" y="84836"/>
                </a:lnTo>
                <a:lnTo>
                  <a:pt x="166116" y="84836"/>
                </a:lnTo>
                <a:lnTo>
                  <a:pt x="166116" y="62738"/>
                </a:lnTo>
                <a:close/>
              </a:path>
              <a:path w="166369" h="85089">
                <a:moveTo>
                  <a:pt x="166116" y="0"/>
                </a:moveTo>
                <a:lnTo>
                  <a:pt x="0" y="0"/>
                </a:lnTo>
                <a:lnTo>
                  <a:pt x="0" y="22098"/>
                </a:lnTo>
                <a:lnTo>
                  <a:pt x="166116" y="22098"/>
                </a:lnTo>
                <a:lnTo>
                  <a:pt x="16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7" name="object 7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67304" y="4515865"/>
            <a:ext cx="122174" cy="185673"/>
          </a:xfrm>
          <a:prstGeom prst="rect">
            <a:avLst/>
          </a:prstGeom>
        </p:spPr>
      </p:pic>
      <p:sp>
        <p:nvSpPr>
          <p:cNvPr id="78" name="object 78"/>
          <p:cNvSpPr/>
          <p:nvPr/>
        </p:nvSpPr>
        <p:spPr>
          <a:xfrm>
            <a:off x="2782061" y="4310634"/>
            <a:ext cx="227329" cy="372110"/>
          </a:xfrm>
          <a:custGeom>
            <a:avLst/>
            <a:gdLst/>
            <a:ahLst/>
            <a:cxnLst/>
            <a:rect l="l" t="t" r="r" b="b"/>
            <a:pathLst>
              <a:path w="227330" h="372110">
                <a:moveTo>
                  <a:pt x="162687" y="0"/>
                </a:moveTo>
                <a:lnTo>
                  <a:pt x="114807" y="12700"/>
                </a:lnTo>
                <a:lnTo>
                  <a:pt x="80771" y="48768"/>
                </a:lnTo>
                <a:lnTo>
                  <a:pt x="63519" y="90666"/>
                </a:lnTo>
                <a:lnTo>
                  <a:pt x="0" y="372110"/>
                </a:lnTo>
                <a:lnTo>
                  <a:pt x="32512" y="372110"/>
                </a:lnTo>
                <a:lnTo>
                  <a:pt x="53975" y="277368"/>
                </a:lnTo>
                <a:lnTo>
                  <a:pt x="156972" y="277368"/>
                </a:lnTo>
                <a:lnTo>
                  <a:pt x="157225" y="277241"/>
                </a:lnTo>
                <a:lnTo>
                  <a:pt x="162566" y="273558"/>
                </a:lnTo>
                <a:lnTo>
                  <a:pt x="96900" y="273558"/>
                </a:lnTo>
                <a:lnTo>
                  <a:pt x="90296" y="272669"/>
                </a:lnTo>
                <a:lnTo>
                  <a:pt x="62638" y="251444"/>
                </a:lnTo>
                <a:lnTo>
                  <a:pt x="62719" y="244475"/>
                </a:lnTo>
                <a:lnTo>
                  <a:pt x="90606" y="114331"/>
                </a:lnTo>
                <a:lnTo>
                  <a:pt x="102933" y="71024"/>
                </a:lnTo>
                <a:lnTo>
                  <a:pt x="127367" y="29517"/>
                </a:lnTo>
                <a:lnTo>
                  <a:pt x="160781" y="15748"/>
                </a:lnTo>
                <a:lnTo>
                  <a:pt x="212402" y="15748"/>
                </a:lnTo>
                <a:lnTo>
                  <a:pt x="210312" y="13589"/>
                </a:lnTo>
                <a:lnTo>
                  <a:pt x="201048" y="7661"/>
                </a:lnTo>
                <a:lnTo>
                  <a:pt x="190023" y="3413"/>
                </a:lnTo>
                <a:lnTo>
                  <a:pt x="177236" y="855"/>
                </a:lnTo>
                <a:lnTo>
                  <a:pt x="162687" y="0"/>
                </a:lnTo>
                <a:close/>
              </a:path>
              <a:path w="227330" h="372110">
                <a:moveTo>
                  <a:pt x="156972" y="277368"/>
                </a:moveTo>
                <a:lnTo>
                  <a:pt x="53975" y="277368"/>
                </a:lnTo>
                <a:lnTo>
                  <a:pt x="60785" y="280388"/>
                </a:lnTo>
                <a:lnTo>
                  <a:pt x="102272" y="289139"/>
                </a:lnTo>
                <a:lnTo>
                  <a:pt x="110489" y="289306"/>
                </a:lnTo>
                <a:lnTo>
                  <a:pt x="123346" y="288545"/>
                </a:lnTo>
                <a:lnTo>
                  <a:pt x="135429" y="286273"/>
                </a:lnTo>
                <a:lnTo>
                  <a:pt x="146726" y="282501"/>
                </a:lnTo>
                <a:lnTo>
                  <a:pt x="156972" y="277368"/>
                </a:lnTo>
                <a:close/>
              </a:path>
              <a:path w="227330" h="372110">
                <a:moveTo>
                  <a:pt x="212402" y="15748"/>
                </a:moveTo>
                <a:lnTo>
                  <a:pt x="160781" y="15748"/>
                </a:lnTo>
                <a:lnTo>
                  <a:pt x="168471" y="16295"/>
                </a:lnTo>
                <a:lnTo>
                  <a:pt x="175148" y="17938"/>
                </a:lnTo>
                <a:lnTo>
                  <a:pt x="193801" y="49911"/>
                </a:lnTo>
                <a:lnTo>
                  <a:pt x="193182" y="60100"/>
                </a:lnTo>
                <a:lnTo>
                  <a:pt x="178468" y="96601"/>
                </a:lnTo>
                <a:lnTo>
                  <a:pt x="147587" y="121368"/>
                </a:lnTo>
                <a:lnTo>
                  <a:pt x="117601" y="128905"/>
                </a:lnTo>
                <a:lnTo>
                  <a:pt x="114807" y="143129"/>
                </a:lnTo>
                <a:lnTo>
                  <a:pt x="150494" y="157734"/>
                </a:lnTo>
                <a:lnTo>
                  <a:pt x="162940" y="193167"/>
                </a:lnTo>
                <a:lnTo>
                  <a:pt x="162464" y="204644"/>
                </a:lnTo>
                <a:lnTo>
                  <a:pt x="151155" y="243790"/>
                </a:lnTo>
                <a:lnTo>
                  <a:pt x="120411" y="271065"/>
                </a:lnTo>
                <a:lnTo>
                  <a:pt x="104901" y="273558"/>
                </a:lnTo>
                <a:lnTo>
                  <a:pt x="162566" y="273558"/>
                </a:lnTo>
                <a:lnTo>
                  <a:pt x="188087" y="244475"/>
                </a:lnTo>
                <a:lnTo>
                  <a:pt x="198500" y="200279"/>
                </a:lnTo>
                <a:lnTo>
                  <a:pt x="195526" y="179228"/>
                </a:lnTo>
                <a:lnTo>
                  <a:pt x="186610" y="161798"/>
                </a:lnTo>
                <a:lnTo>
                  <a:pt x="171765" y="147986"/>
                </a:lnTo>
                <a:lnTo>
                  <a:pt x="151002" y="137795"/>
                </a:lnTo>
                <a:lnTo>
                  <a:pt x="151383" y="136144"/>
                </a:lnTo>
                <a:lnTo>
                  <a:pt x="188849" y="119380"/>
                </a:lnTo>
                <a:lnTo>
                  <a:pt x="216656" y="92285"/>
                </a:lnTo>
                <a:lnTo>
                  <a:pt x="227075" y="52578"/>
                </a:lnTo>
                <a:lnTo>
                  <a:pt x="226028" y="40645"/>
                </a:lnTo>
                <a:lnTo>
                  <a:pt x="222884" y="30178"/>
                </a:lnTo>
                <a:lnTo>
                  <a:pt x="217646" y="21163"/>
                </a:lnTo>
                <a:lnTo>
                  <a:pt x="212402" y="15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9" name="object 79"/>
          <p:cNvGrpSpPr/>
          <p:nvPr/>
        </p:nvGrpSpPr>
        <p:grpSpPr>
          <a:xfrm>
            <a:off x="3132963" y="4323841"/>
            <a:ext cx="513080" cy="416559"/>
            <a:chOff x="3132963" y="4323841"/>
            <a:chExt cx="513080" cy="416559"/>
          </a:xfrm>
        </p:grpSpPr>
        <p:sp>
          <p:nvSpPr>
            <p:cNvPr id="80" name="object 80"/>
            <p:cNvSpPr/>
            <p:nvPr/>
          </p:nvSpPr>
          <p:spPr>
            <a:xfrm>
              <a:off x="3132963" y="4323841"/>
              <a:ext cx="403225" cy="416559"/>
            </a:xfrm>
            <a:custGeom>
              <a:avLst/>
              <a:gdLst/>
              <a:ahLst/>
              <a:cxnLst/>
              <a:rect l="l" t="t" r="r" b="b"/>
              <a:pathLst>
                <a:path w="403225" h="416560">
                  <a:moveTo>
                    <a:pt x="326136" y="0"/>
                  </a:moveTo>
                  <a:lnTo>
                    <a:pt x="263144" y="0"/>
                  </a:lnTo>
                  <a:lnTo>
                    <a:pt x="146558" y="193929"/>
                  </a:lnTo>
                  <a:lnTo>
                    <a:pt x="123698" y="0"/>
                  </a:lnTo>
                  <a:lnTo>
                    <a:pt x="52324" y="0"/>
                  </a:lnTo>
                  <a:lnTo>
                    <a:pt x="50165" y="9779"/>
                  </a:lnTo>
                  <a:lnTo>
                    <a:pt x="56896" y="10160"/>
                  </a:lnTo>
                  <a:lnTo>
                    <a:pt x="61976" y="11557"/>
                  </a:lnTo>
                  <a:lnTo>
                    <a:pt x="68199" y="16510"/>
                  </a:lnTo>
                  <a:lnTo>
                    <a:pt x="69723" y="20828"/>
                  </a:lnTo>
                  <a:lnTo>
                    <a:pt x="69723" y="32512"/>
                  </a:lnTo>
                  <a:lnTo>
                    <a:pt x="29298" y="222465"/>
                  </a:lnTo>
                  <a:lnTo>
                    <a:pt x="11049" y="260985"/>
                  </a:lnTo>
                  <a:lnTo>
                    <a:pt x="2159" y="263144"/>
                  </a:lnTo>
                  <a:lnTo>
                    <a:pt x="0" y="272923"/>
                  </a:lnTo>
                  <a:lnTo>
                    <a:pt x="69977" y="272923"/>
                  </a:lnTo>
                  <a:lnTo>
                    <a:pt x="72136" y="263144"/>
                  </a:lnTo>
                  <a:lnTo>
                    <a:pt x="65024" y="262636"/>
                  </a:lnTo>
                  <a:lnTo>
                    <a:pt x="60071" y="261112"/>
                  </a:lnTo>
                  <a:lnTo>
                    <a:pt x="54102" y="256159"/>
                  </a:lnTo>
                  <a:lnTo>
                    <a:pt x="52578" y="251968"/>
                  </a:lnTo>
                  <a:lnTo>
                    <a:pt x="52832" y="239356"/>
                  </a:lnTo>
                  <a:lnTo>
                    <a:pt x="53619" y="231990"/>
                  </a:lnTo>
                  <a:lnTo>
                    <a:pt x="54927" y="223786"/>
                  </a:lnTo>
                  <a:lnTo>
                    <a:pt x="81229" y="102831"/>
                  </a:lnTo>
                  <a:lnTo>
                    <a:pt x="85128" y="82511"/>
                  </a:lnTo>
                  <a:lnTo>
                    <a:pt x="88811" y="61353"/>
                  </a:lnTo>
                  <a:lnTo>
                    <a:pt x="92329" y="39370"/>
                  </a:lnTo>
                  <a:lnTo>
                    <a:pt x="96393" y="39370"/>
                  </a:lnTo>
                  <a:lnTo>
                    <a:pt x="98526" y="61163"/>
                  </a:lnTo>
                  <a:lnTo>
                    <a:pt x="102527" y="97739"/>
                  </a:lnTo>
                  <a:lnTo>
                    <a:pt x="120891" y="241173"/>
                  </a:lnTo>
                  <a:lnTo>
                    <a:pt x="142748" y="241173"/>
                  </a:lnTo>
                  <a:lnTo>
                    <a:pt x="233680" y="90932"/>
                  </a:lnTo>
                  <a:lnTo>
                    <a:pt x="251612" y="60833"/>
                  </a:lnTo>
                  <a:lnTo>
                    <a:pt x="261747" y="42926"/>
                  </a:lnTo>
                  <a:lnTo>
                    <a:pt x="264541" y="42926"/>
                  </a:lnTo>
                  <a:lnTo>
                    <a:pt x="257733" y="67779"/>
                  </a:lnTo>
                  <a:lnTo>
                    <a:pt x="251714" y="92710"/>
                  </a:lnTo>
                  <a:lnTo>
                    <a:pt x="223100" y="222465"/>
                  </a:lnTo>
                  <a:lnTo>
                    <a:pt x="218567" y="240030"/>
                  </a:lnTo>
                  <a:lnTo>
                    <a:pt x="195961" y="263144"/>
                  </a:lnTo>
                  <a:lnTo>
                    <a:pt x="193802" y="272923"/>
                  </a:lnTo>
                  <a:lnTo>
                    <a:pt x="273685" y="272923"/>
                  </a:lnTo>
                  <a:lnTo>
                    <a:pt x="275971" y="263144"/>
                  </a:lnTo>
                  <a:lnTo>
                    <a:pt x="268859" y="262636"/>
                  </a:lnTo>
                  <a:lnTo>
                    <a:pt x="263779" y="261112"/>
                  </a:lnTo>
                  <a:lnTo>
                    <a:pt x="257810" y="256159"/>
                  </a:lnTo>
                  <a:lnTo>
                    <a:pt x="256286" y="251968"/>
                  </a:lnTo>
                  <a:lnTo>
                    <a:pt x="256540" y="237998"/>
                  </a:lnTo>
                  <a:lnTo>
                    <a:pt x="296760" y="50622"/>
                  </a:lnTo>
                  <a:lnTo>
                    <a:pt x="310769" y="14732"/>
                  </a:lnTo>
                  <a:lnTo>
                    <a:pt x="323977" y="9779"/>
                  </a:lnTo>
                  <a:lnTo>
                    <a:pt x="326136" y="0"/>
                  </a:lnTo>
                  <a:close/>
                </a:path>
                <a:path w="403225" h="416560">
                  <a:moveTo>
                    <a:pt x="389128" y="212852"/>
                  </a:moveTo>
                  <a:lnTo>
                    <a:pt x="379222" y="212852"/>
                  </a:lnTo>
                  <a:lnTo>
                    <a:pt x="340614" y="214503"/>
                  </a:lnTo>
                  <a:lnTo>
                    <a:pt x="338455" y="224282"/>
                  </a:lnTo>
                  <a:lnTo>
                    <a:pt x="344805" y="224409"/>
                  </a:lnTo>
                  <a:lnTo>
                    <a:pt x="349377" y="225298"/>
                  </a:lnTo>
                  <a:lnTo>
                    <a:pt x="351917" y="226949"/>
                  </a:lnTo>
                  <a:lnTo>
                    <a:pt x="354457" y="228473"/>
                  </a:lnTo>
                  <a:lnTo>
                    <a:pt x="355727" y="231013"/>
                  </a:lnTo>
                  <a:lnTo>
                    <a:pt x="355727" y="236093"/>
                  </a:lnTo>
                  <a:lnTo>
                    <a:pt x="355473" y="238633"/>
                  </a:lnTo>
                  <a:lnTo>
                    <a:pt x="355219" y="240792"/>
                  </a:lnTo>
                  <a:lnTo>
                    <a:pt x="354584" y="243713"/>
                  </a:lnTo>
                  <a:lnTo>
                    <a:pt x="354076" y="246761"/>
                  </a:lnTo>
                  <a:lnTo>
                    <a:pt x="353314" y="250952"/>
                  </a:lnTo>
                  <a:lnTo>
                    <a:pt x="351028" y="261874"/>
                  </a:lnTo>
                  <a:lnTo>
                    <a:pt x="349377" y="269240"/>
                  </a:lnTo>
                  <a:lnTo>
                    <a:pt x="347472" y="278511"/>
                  </a:lnTo>
                  <a:lnTo>
                    <a:pt x="337527" y="323189"/>
                  </a:lnTo>
                  <a:lnTo>
                    <a:pt x="330200" y="356616"/>
                  </a:lnTo>
                  <a:lnTo>
                    <a:pt x="328168" y="365506"/>
                  </a:lnTo>
                  <a:lnTo>
                    <a:pt x="326009" y="372872"/>
                  </a:lnTo>
                  <a:lnTo>
                    <a:pt x="323596" y="378587"/>
                  </a:lnTo>
                  <a:lnTo>
                    <a:pt x="321310" y="384302"/>
                  </a:lnTo>
                  <a:lnTo>
                    <a:pt x="318643" y="388874"/>
                  </a:lnTo>
                  <a:lnTo>
                    <a:pt x="315722" y="392049"/>
                  </a:lnTo>
                  <a:lnTo>
                    <a:pt x="312801" y="395351"/>
                  </a:lnTo>
                  <a:lnTo>
                    <a:pt x="309499" y="397637"/>
                  </a:lnTo>
                  <a:lnTo>
                    <a:pt x="302133" y="400177"/>
                  </a:lnTo>
                  <a:lnTo>
                    <a:pt x="297815" y="400685"/>
                  </a:lnTo>
                  <a:lnTo>
                    <a:pt x="288417" y="400685"/>
                  </a:lnTo>
                  <a:lnTo>
                    <a:pt x="284607" y="400431"/>
                  </a:lnTo>
                  <a:lnTo>
                    <a:pt x="283083" y="400050"/>
                  </a:lnTo>
                  <a:lnTo>
                    <a:pt x="281940" y="399542"/>
                  </a:lnTo>
                  <a:lnTo>
                    <a:pt x="278257" y="414782"/>
                  </a:lnTo>
                  <a:lnTo>
                    <a:pt x="282194" y="415544"/>
                  </a:lnTo>
                  <a:lnTo>
                    <a:pt x="286766" y="416052"/>
                  </a:lnTo>
                  <a:lnTo>
                    <a:pt x="289179" y="416179"/>
                  </a:lnTo>
                  <a:lnTo>
                    <a:pt x="301117" y="416179"/>
                  </a:lnTo>
                  <a:lnTo>
                    <a:pt x="309499" y="415036"/>
                  </a:lnTo>
                  <a:lnTo>
                    <a:pt x="316738" y="412623"/>
                  </a:lnTo>
                  <a:lnTo>
                    <a:pt x="324104" y="410337"/>
                  </a:lnTo>
                  <a:lnTo>
                    <a:pt x="330454" y="406654"/>
                  </a:lnTo>
                  <a:lnTo>
                    <a:pt x="335915" y="401574"/>
                  </a:lnTo>
                  <a:lnTo>
                    <a:pt x="336905" y="400685"/>
                  </a:lnTo>
                  <a:lnTo>
                    <a:pt x="357212" y="362115"/>
                  </a:lnTo>
                  <a:lnTo>
                    <a:pt x="359156" y="354203"/>
                  </a:lnTo>
                  <a:lnTo>
                    <a:pt x="389128" y="212852"/>
                  </a:lnTo>
                  <a:close/>
                </a:path>
                <a:path w="403225" h="416560">
                  <a:moveTo>
                    <a:pt x="402844" y="154813"/>
                  </a:moveTo>
                  <a:lnTo>
                    <a:pt x="373888" y="154813"/>
                  </a:lnTo>
                  <a:lnTo>
                    <a:pt x="366776" y="185801"/>
                  </a:lnTo>
                  <a:lnTo>
                    <a:pt x="395859" y="185801"/>
                  </a:lnTo>
                  <a:lnTo>
                    <a:pt x="402844" y="1548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74480" y="4478654"/>
              <a:ext cx="71181" cy="206375"/>
            </a:xfrm>
            <a:prstGeom prst="rect">
              <a:avLst/>
            </a:prstGeom>
          </p:spPr>
        </p:pic>
      </p:grpSp>
      <p:sp>
        <p:nvSpPr>
          <p:cNvPr id="82" name="object 82"/>
          <p:cNvSpPr/>
          <p:nvPr/>
        </p:nvSpPr>
        <p:spPr>
          <a:xfrm>
            <a:off x="3804158" y="4455414"/>
            <a:ext cx="46990" cy="48895"/>
          </a:xfrm>
          <a:custGeom>
            <a:avLst/>
            <a:gdLst/>
            <a:ahLst/>
            <a:cxnLst/>
            <a:rect l="l" t="t" r="r" b="b"/>
            <a:pathLst>
              <a:path w="46989" h="48895">
                <a:moveTo>
                  <a:pt x="30099" y="0"/>
                </a:moveTo>
                <a:lnTo>
                  <a:pt x="23240" y="0"/>
                </a:lnTo>
                <a:lnTo>
                  <a:pt x="16509" y="0"/>
                </a:lnTo>
                <a:lnTo>
                  <a:pt x="10921" y="2286"/>
                </a:lnTo>
                <a:lnTo>
                  <a:pt x="2158" y="11303"/>
                </a:lnTo>
                <a:lnTo>
                  <a:pt x="0" y="17144"/>
                </a:lnTo>
                <a:lnTo>
                  <a:pt x="0" y="31496"/>
                </a:lnTo>
                <a:lnTo>
                  <a:pt x="2158" y="37465"/>
                </a:lnTo>
                <a:lnTo>
                  <a:pt x="6603" y="41910"/>
                </a:lnTo>
                <a:lnTo>
                  <a:pt x="10921" y="46481"/>
                </a:lnTo>
                <a:lnTo>
                  <a:pt x="16509" y="48768"/>
                </a:lnTo>
                <a:lnTo>
                  <a:pt x="30099" y="48768"/>
                </a:lnTo>
                <a:lnTo>
                  <a:pt x="35559" y="46481"/>
                </a:lnTo>
                <a:lnTo>
                  <a:pt x="44322" y="37465"/>
                </a:lnTo>
                <a:lnTo>
                  <a:pt x="46481" y="31496"/>
                </a:lnTo>
                <a:lnTo>
                  <a:pt x="46481" y="17144"/>
                </a:lnTo>
                <a:lnTo>
                  <a:pt x="44322" y="11303"/>
                </a:lnTo>
                <a:lnTo>
                  <a:pt x="40004" y="6731"/>
                </a:lnTo>
                <a:lnTo>
                  <a:pt x="35559" y="2286"/>
                </a:lnTo>
                <a:lnTo>
                  <a:pt x="30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3" name="object 8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74210" y="4402201"/>
            <a:ext cx="233425" cy="282829"/>
          </a:xfrm>
          <a:prstGeom prst="rect">
            <a:avLst/>
          </a:prstGeom>
        </p:spPr>
      </p:pic>
      <p:sp>
        <p:nvSpPr>
          <p:cNvPr id="84" name="object 84"/>
          <p:cNvSpPr/>
          <p:nvPr/>
        </p:nvSpPr>
        <p:spPr>
          <a:xfrm>
            <a:off x="4370959" y="4351019"/>
            <a:ext cx="246379" cy="257810"/>
          </a:xfrm>
          <a:custGeom>
            <a:avLst/>
            <a:gdLst/>
            <a:ahLst/>
            <a:cxnLst/>
            <a:rect l="l" t="t" r="r" b="b"/>
            <a:pathLst>
              <a:path w="246379" h="257810">
                <a:moveTo>
                  <a:pt x="246380" y="115570"/>
                </a:moveTo>
                <a:lnTo>
                  <a:pt x="137287" y="115570"/>
                </a:lnTo>
                <a:lnTo>
                  <a:pt x="137287" y="0"/>
                </a:lnTo>
                <a:lnTo>
                  <a:pt x="108966" y="0"/>
                </a:lnTo>
                <a:lnTo>
                  <a:pt x="108966" y="115570"/>
                </a:lnTo>
                <a:lnTo>
                  <a:pt x="0" y="115570"/>
                </a:lnTo>
                <a:lnTo>
                  <a:pt x="0" y="142240"/>
                </a:lnTo>
                <a:lnTo>
                  <a:pt x="108966" y="142240"/>
                </a:lnTo>
                <a:lnTo>
                  <a:pt x="108966" y="257810"/>
                </a:lnTo>
                <a:lnTo>
                  <a:pt x="137287" y="257810"/>
                </a:lnTo>
                <a:lnTo>
                  <a:pt x="137287" y="142240"/>
                </a:lnTo>
                <a:lnTo>
                  <a:pt x="246380" y="142240"/>
                </a:lnTo>
                <a:lnTo>
                  <a:pt x="246380" y="115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741164" y="4147692"/>
            <a:ext cx="600075" cy="344805"/>
          </a:xfrm>
          <a:custGeom>
            <a:avLst/>
            <a:gdLst/>
            <a:ahLst/>
            <a:cxnLst/>
            <a:rect l="l" t="t" r="r" b="b"/>
            <a:pathLst>
              <a:path w="600075" h="344804">
                <a:moveTo>
                  <a:pt x="361924" y="115493"/>
                </a:moveTo>
                <a:lnTo>
                  <a:pt x="195834" y="115493"/>
                </a:lnTo>
                <a:lnTo>
                  <a:pt x="195834" y="137541"/>
                </a:lnTo>
                <a:lnTo>
                  <a:pt x="361924" y="137541"/>
                </a:lnTo>
                <a:lnTo>
                  <a:pt x="361924" y="115493"/>
                </a:lnTo>
                <a:close/>
              </a:path>
              <a:path w="600075" h="344804">
                <a:moveTo>
                  <a:pt x="577469" y="34798"/>
                </a:moveTo>
                <a:lnTo>
                  <a:pt x="567715" y="14097"/>
                </a:lnTo>
                <a:lnTo>
                  <a:pt x="559308" y="7366"/>
                </a:lnTo>
                <a:lnTo>
                  <a:pt x="553847" y="4699"/>
                </a:lnTo>
                <a:lnTo>
                  <a:pt x="549757" y="3479"/>
                </a:lnTo>
                <a:lnTo>
                  <a:pt x="549757" y="47498"/>
                </a:lnTo>
                <a:lnTo>
                  <a:pt x="548386" y="54356"/>
                </a:lnTo>
                <a:lnTo>
                  <a:pt x="522478" y="86106"/>
                </a:lnTo>
                <a:lnTo>
                  <a:pt x="491363" y="94488"/>
                </a:lnTo>
                <a:lnTo>
                  <a:pt x="488950" y="106934"/>
                </a:lnTo>
                <a:lnTo>
                  <a:pt x="524573" y="129019"/>
                </a:lnTo>
                <a:lnTo>
                  <a:pt x="527050" y="143764"/>
                </a:lnTo>
                <a:lnTo>
                  <a:pt x="527050" y="152400"/>
                </a:lnTo>
                <a:lnTo>
                  <a:pt x="515112" y="184404"/>
                </a:lnTo>
                <a:lnTo>
                  <a:pt x="511429" y="189103"/>
                </a:lnTo>
                <a:lnTo>
                  <a:pt x="506730" y="192786"/>
                </a:lnTo>
                <a:lnTo>
                  <a:pt x="501396" y="195199"/>
                </a:lnTo>
                <a:lnTo>
                  <a:pt x="496062" y="197739"/>
                </a:lnTo>
                <a:lnTo>
                  <a:pt x="490093" y="199009"/>
                </a:lnTo>
                <a:lnTo>
                  <a:pt x="472694" y="199009"/>
                </a:lnTo>
                <a:lnTo>
                  <a:pt x="464439" y="197231"/>
                </a:lnTo>
                <a:lnTo>
                  <a:pt x="453517" y="190373"/>
                </a:lnTo>
                <a:lnTo>
                  <a:pt x="450850" y="186055"/>
                </a:lnTo>
                <a:lnTo>
                  <a:pt x="450850" y="179197"/>
                </a:lnTo>
                <a:lnTo>
                  <a:pt x="451104" y="176657"/>
                </a:lnTo>
                <a:lnTo>
                  <a:pt x="451485" y="175260"/>
                </a:lnTo>
                <a:lnTo>
                  <a:pt x="451993" y="173609"/>
                </a:lnTo>
                <a:lnTo>
                  <a:pt x="471678" y="83312"/>
                </a:lnTo>
                <a:lnTo>
                  <a:pt x="485863" y="41186"/>
                </a:lnTo>
                <a:lnTo>
                  <a:pt x="515213" y="15201"/>
                </a:lnTo>
                <a:lnTo>
                  <a:pt x="524764" y="14097"/>
                </a:lnTo>
                <a:lnTo>
                  <a:pt x="532892" y="14097"/>
                </a:lnTo>
                <a:lnTo>
                  <a:pt x="539115" y="16383"/>
                </a:lnTo>
                <a:lnTo>
                  <a:pt x="547751" y="25019"/>
                </a:lnTo>
                <a:lnTo>
                  <a:pt x="549630" y="31026"/>
                </a:lnTo>
                <a:lnTo>
                  <a:pt x="549757" y="47498"/>
                </a:lnTo>
                <a:lnTo>
                  <a:pt x="549757" y="3479"/>
                </a:lnTo>
                <a:lnTo>
                  <a:pt x="547497" y="2794"/>
                </a:lnTo>
                <a:lnTo>
                  <a:pt x="541020" y="1016"/>
                </a:lnTo>
                <a:lnTo>
                  <a:pt x="533781" y="0"/>
                </a:lnTo>
                <a:lnTo>
                  <a:pt x="525653" y="0"/>
                </a:lnTo>
                <a:lnTo>
                  <a:pt x="485432" y="11150"/>
                </a:lnTo>
                <a:lnTo>
                  <a:pt x="456971" y="45008"/>
                </a:lnTo>
                <a:lnTo>
                  <a:pt x="444881" y="81153"/>
                </a:lnTo>
                <a:lnTo>
                  <a:pt x="401955" y="272669"/>
                </a:lnTo>
                <a:lnTo>
                  <a:pt x="429260" y="272669"/>
                </a:lnTo>
                <a:lnTo>
                  <a:pt x="444627" y="204724"/>
                </a:lnTo>
                <a:lnTo>
                  <a:pt x="451612" y="207772"/>
                </a:lnTo>
                <a:lnTo>
                  <a:pt x="458470" y="210058"/>
                </a:lnTo>
                <a:lnTo>
                  <a:pt x="472186" y="212598"/>
                </a:lnTo>
                <a:lnTo>
                  <a:pt x="479806" y="213233"/>
                </a:lnTo>
                <a:lnTo>
                  <a:pt x="488188" y="213233"/>
                </a:lnTo>
                <a:lnTo>
                  <a:pt x="523621" y="204724"/>
                </a:lnTo>
                <a:lnTo>
                  <a:pt x="527507" y="202526"/>
                </a:lnTo>
                <a:lnTo>
                  <a:pt x="532460" y="199009"/>
                </a:lnTo>
                <a:lnTo>
                  <a:pt x="532638" y="198894"/>
                </a:lnTo>
                <a:lnTo>
                  <a:pt x="537337" y="194818"/>
                </a:lnTo>
                <a:lnTo>
                  <a:pt x="555688" y="155486"/>
                </a:lnTo>
                <a:lnTo>
                  <a:pt x="556006" y="148717"/>
                </a:lnTo>
                <a:lnTo>
                  <a:pt x="555472" y="141249"/>
                </a:lnTo>
                <a:lnTo>
                  <a:pt x="529196" y="107010"/>
                </a:lnTo>
                <a:lnTo>
                  <a:pt x="520827" y="103124"/>
                </a:lnTo>
                <a:lnTo>
                  <a:pt x="521208" y="101219"/>
                </a:lnTo>
                <a:lnTo>
                  <a:pt x="560324" y="81153"/>
                </a:lnTo>
                <a:lnTo>
                  <a:pt x="564769" y="75946"/>
                </a:lnTo>
                <a:lnTo>
                  <a:pt x="569214" y="70866"/>
                </a:lnTo>
                <a:lnTo>
                  <a:pt x="572516" y="65278"/>
                </a:lnTo>
                <a:lnTo>
                  <a:pt x="574548" y="59436"/>
                </a:lnTo>
                <a:lnTo>
                  <a:pt x="576453" y="53594"/>
                </a:lnTo>
                <a:lnTo>
                  <a:pt x="577469" y="47498"/>
                </a:lnTo>
                <a:lnTo>
                  <a:pt x="577469" y="34798"/>
                </a:lnTo>
                <a:close/>
              </a:path>
              <a:path w="600075" h="344804">
                <a:moveTo>
                  <a:pt x="600075" y="315722"/>
                </a:moveTo>
                <a:lnTo>
                  <a:pt x="0" y="315722"/>
                </a:lnTo>
                <a:lnTo>
                  <a:pt x="0" y="344297"/>
                </a:lnTo>
                <a:lnTo>
                  <a:pt x="600075" y="344297"/>
                </a:lnTo>
                <a:lnTo>
                  <a:pt x="600075" y="315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6" name="object 8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67579" y="4172965"/>
            <a:ext cx="122174" cy="185673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31409" y="4619371"/>
            <a:ext cx="204850" cy="186944"/>
          </a:xfrm>
          <a:prstGeom prst="rect">
            <a:avLst/>
          </a:prstGeom>
        </p:spPr>
      </p:pic>
      <p:sp>
        <p:nvSpPr>
          <p:cNvPr id="88" name="object 88"/>
          <p:cNvSpPr txBox="1"/>
          <p:nvPr/>
        </p:nvSpPr>
        <p:spPr>
          <a:xfrm>
            <a:off x="6440170" y="4237354"/>
            <a:ext cx="74422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35" dirty="0">
                <a:solidFill>
                  <a:srgbClr val="008000"/>
                </a:solidFill>
                <a:latin typeface="Calibri"/>
                <a:cs typeface="Calibri"/>
              </a:rPr>
              <a:t>si</a:t>
            </a:r>
            <a:r>
              <a:rPr sz="2750" spc="-20" dirty="0">
                <a:solidFill>
                  <a:srgbClr val="008000"/>
                </a:solidFill>
                <a:latin typeface="Calibri"/>
                <a:cs typeface="Calibri"/>
              </a:rPr>
              <a:t>n</a:t>
            </a:r>
            <a:r>
              <a:rPr sz="2750" spc="30" dirty="0">
                <a:solidFill>
                  <a:srgbClr val="008000"/>
                </a:solidFill>
                <a:latin typeface="Calibri"/>
                <a:cs typeface="Calibri"/>
              </a:rPr>
              <a:t>c</a:t>
            </a:r>
            <a:r>
              <a:rPr sz="2750" spc="10" dirty="0">
                <a:solidFill>
                  <a:srgbClr val="008000"/>
                </a:solidFill>
                <a:latin typeface="Calibri"/>
                <a:cs typeface="Calibri"/>
              </a:rPr>
              <a:t>e</a:t>
            </a:r>
            <a:endParaRPr sz="2750">
              <a:latin typeface="Calibri"/>
              <a:cs typeface="Calibri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7260208" y="4350511"/>
            <a:ext cx="469265" cy="325120"/>
            <a:chOff x="7260208" y="4350511"/>
            <a:chExt cx="469265" cy="325120"/>
          </a:xfrm>
        </p:grpSpPr>
        <p:sp>
          <p:nvSpPr>
            <p:cNvPr id="90" name="object 90"/>
            <p:cNvSpPr/>
            <p:nvPr/>
          </p:nvSpPr>
          <p:spPr>
            <a:xfrm>
              <a:off x="7260208" y="4350511"/>
              <a:ext cx="223520" cy="320675"/>
            </a:xfrm>
            <a:custGeom>
              <a:avLst/>
              <a:gdLst/>
              <a:ahLst/>
              <a:cxnLst/>
              <a:rect l="l" t="t" r="r" b="b"/>
              <a:pathLst>
                <a:path w="223520" h="320675">
                  <a:moveTo>
                    <a:pt x="219075" y="0"/>
                  </a:moveTo>
                  <a:lnTo>
                    <a:pt x="6604" y="0"/>
                  </a:lnTo>
                  <a:lnTo>
                    <a:pt x="6604" y="9779"/>
                  </a:lnTo>
                  <a:lnTo>
                    <a:pt x="106425" y="164464"/>
                  </a:lnTo>
                  <a:lnTo>
                    <a:pt x="0" y="310642"/>
                  </a:lnTo>
                  <a:lnTo>
                    <a:pt x="0" y="320294"/>
                  </a:lnTo>
                  <a:lnTo>
                    <a:pt x="218186" y="320294"/>
                  </a:lnTo>
                  <a:lnTo>
                    <a:pt x="223266" y="236219"/>
                  </a:lnTo>
                  <a:lnTo>
                    <a:pt x="203073" y="236219"/>
                  </a:lnTo>
                  <a:lnTo>
                    <a:pt x="201422" y="245871"/>
                  </a:lnTo>
                  <a:lnTo>
                    <a:pt x="199517" y="253745"/>
                  </a:lnTo>
                  <a:lnTo>
                    <a:pt x="171450" y="286765"/>
                  </a:lnTo>
                  <a:lnTo>
                    <a:pt x="166116" y="287146"/>
                  </a:lnTo>
                  <a:lnTo>
                    <a:pt x="45847" y="287146"/>
                  </a:lnTo>
                  <a:lnTo>
                    <a:pt x="139700" y="158114"/>
                  </a:lnTo>
                  <a:lnTo>
                    <a:pt x="139700" y="145033"/>
                  </a:lnTo>
                  <a:lnTo>
                    <a:pt x="56007" y="17906"/>
                  </a:lnTo>
                  <a:lnTo>
                    <a:pt x="157861" y="17906"/>
                  </a:lnTo>
                  <a:lnTo>
                    <a:pt x="189738" y="43052"/>
                  </a:lnTo>
                  <a:lnTo>
                    <a:pt x="200533" y="76581"/>
                  </a:lnTo>
                  <a:lnTo>
                    <a:pt x="219075" y="76581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16875" y="4429378"/>
              <a:ext cx="212344" cy="245871"/>
            </a:xfrm>
            <a:prstGeom prst="rect">
              <a:avLst/>
            </a:prstGeom>
          </p:spPr>
        </p:pic>
      </p:grpSp>
      <p:sp>
        <p:nvSpPr>
          <p:cNvPr id="92" name="object 92"/>
          <p:cNvSpPr/>
          <p:nvPr/>
        </p:nvSpPr>
        <p:spPr>
          <a:xfrm>
            <a:off x="7881493" y="4520310"/>
            <a:ext cx="212090" cy="23495"/>
          </a:xfrm>
          <a:custGeom>
            <a:avLst/>
            <a:gdLst/>
            <a:ahLst/>
            <a:cxnLst/>
            <a:rect l="l" t="t" r="r" b="b"/>
            <a:pathLst>
              <a:path w="212090" h="23495">
                <a:moveTo>
                  <a:pt x="211962" y="0"/>
                </a:moveTo>
                <a:lnTo>
                  <a:pt x="0" y="0"/>
                </a:lnTo>
                <a:lnTo>
                  <a:pt x="0" y="22987"/>
                </a:lnTo>
                <a:lnTo>
                  <a:pt x="211962" y="22987"/>
                </a:lnTo>
                <a:lnTo>
                  <a:pt x="2119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881493" y="4448936"/>
            <a:ext cx="212090" cy="22860"/>
          </a:xfrm>
          <a:custGeom>
            <a:avLst/>
            <a:gdLst/>
            <a:ahLst/>
            <a:cxnLst/>
            <a:rect l="l" t="t" r="r" b="b"/>
            <a:pathLst>
              <a:path w="212090" h="22860">
                <a:moveTo>
                  <a:pt x="211962" y="0"/>
                </a:moveTo>
                <a:lnTo>
                  <a:pt x="0" y="0"/>
                </a:lnTo>
                <a:lnTo>
                  <a:pt x="0" y="22860"/>
                </a:lnTo>
                <a:lnTo>
                  <a:pt x="211962" y="22860"/>
                </a:lnTo>
                <a:lnTo>
                  <a:pt x="2119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4" name="object 9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248395" y="4359147"/>
            <a:ext cx="137032" cy="237616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7062" y="5013325"/>
            <a:ext cx="323850" cy="400684"/>
          </a:xfrm>
          <a:prstGeom prst="rect">
            <a:avLst/>
          </a:prstGeom>
        </p:spPr>
      </p:pic>
      <p:sp>
        <p:nvSpPr>
          <p:cNvPr id="96" name="object 96"/>
          <p:cNvSpPr txBox="1"/>
          <p:nvPr/>
        </p:nvSpPr>
        <p:spPr>
          <a:xfrm>
            <a:off x="938530" y="4895469"/>
            <a:ext cx="1777364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So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we</a:t>
            </a:r>
            <a:r>
              <a:rPr sz="3200" b="1" spc="-1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get: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97" name="object 9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793110" y="5109590"/>
            <a:ext cx="208025" cy="201548"/>
          </a:xfrm>
          <a:prstGeom prst="rect">
            <a:avLst/>
          </a:prstGeom>
        </p:spPr>
      </p:pic>
      <p:sp>
        <p:nvSpPr>
          <p:cNvPr id="98" name="object 98"/>
          <p:cNvSpPr/>
          <p:nvPr/>
        </p:nvSpPr>
        <p:spPr>
          <a:xfrm>
            <a:off x="3151758" y="5222366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79" h="26670">
                <a:moveTo>
                  <a:pt x="246380" y="0"/>
                </a:moveTo>
                <a:lnTo>
                  <a:pt x="0" y="0"/>
                </a:lnTo>
                <a:lnTo>
                  <a:pt x="0" y="26542"/>
                </a:lnTo>
                <a:lnTo>
                  <a:pt x="246380" y="26542"/>
                </a:lnTo>
                <a:lnTo>
                  <a:pt x="24638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151758" y="5139309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79" h="26670">
                <a:moveTo>
                  <a:pt x="246380" y="0"/>
                </a:moveTo>
                <a:lnTo>
                  <a:pt x="0" y="0"/>
                </a:lnTo>
                <a:lnTo>
                  <a:pt x="0" y="26670"/>
                </a:lnTo>
                <a:lnTo>
                  <a:pt x="246380" y="26670"/>
                </a:lnTo>
                <a:lnTo>
                  <a:pt x="24638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534536" y="5025009"/>
            <a:ext cx="256540" cy="372745"/>
          </a:xfrm>
          <a:custGeom>
            <a:avLst/>
            <a:gdLst/>
            <a:ahLst/>
            <a:cxnLst/>
            <a:rect l="l" t="t" r="r" b="b"/>
            <a:pathLst>
              <a:path w="256539" h="372745">
                <a:moveTo>
                  <a:pt x="179324" y="0"/>
                </a:moveTo>
                <a:lnTo>
                  <a:pt x="131335" y="8197"/>
                </a:lnTo>
                <a:lnTo>
                  <a:pt x="95948" y="32131"/>
                </a:lnTo>
                <a:lnTo>
                  <a:pt x="71564" y="69899"/>
                </a:lnTo>
                <a:lnTo>
                  <a:pt x="54990" y="122174"/>
                </a:lnTo>
                <a:lnTo>
                  <a:pt x="0" y="372491"/>
                </a:lnTo>
                <a:lnTo>
                  <a:pt x="56768" y="372491"/>
                </a:lnTo>
                <a:lnTo>
                  <a:pt x="76962" y="279781"/>
                </a:lnTo>
                <a:lnTo>
                  <a:pt x="175733" y="279781"/>
                </a:lnTo>
                <a:lnTo>
                  <a:pt x="180086" y="278003"/>
                </a:lnTo>
                <a:lnTo>
                  <a:pt x="191013" y="271815"/>
                </a:lnTo>
                <a:lnTo>
                  <a:pt x="195369" y="268478"/>
                </a:lnTo>
                <a:lnTo>
                  <a:pt x="109600" y="268478"/>
                </a:lnTo>
                <a:lnTo>
                  <a:pt x="101853" y="266319"/>
                </a:lnTo>
                <a:lnTo>
                  <a:pt x="95885" y="261747"/>
                </a:lnTo>
                <a:lnTo>
                  <a:pt x="89788" y="257175"/>
                </a:lnTo>
                <a:lnTo>
                  <a:pt x="86740" y="251206"/>
                </a:lnTo>
                <a:lnTo>
                  <a:pt x="86740" y="238760"/>
                </a:lnTo>
                <a:lnTo>
                  <a:pt x="87249" y="234188"/>
                </a:lnTo>
                <a:lnTo>
                  <a:pt x="115188" y="108204"/>
                </a:lnTo>
                <a:lnTo>
                  <a:pt x="126396" y="69627"/>
                </a:lnTo>
                <a:lnTo>
                  <a:pt x="147937" y="32863"/>
                </a:lnTo>
                <a:lnTo>
                  <a:pt x="175387" y="20701"/>
                </a:lnTo>
                <a:lnTo>
                  <a:pt x="244721" y="20701"/>
                </a:lnTo>
                <a:lnTo>
                  <a:pt x="236600" y="13589"/>
                </a:lnTo>
                <a:lnTo>
                  <a:pt x="225579" y="7608"/>
                </a:lnTo>
                <a:lnTo>
                  <a:pt x="212343" y="3365"/>
                </a:lnTo>
                <a:lnTo>
                  <a:pt x="196917" y="837"/>
                </a:lnTo>
                <a:lnTo>
                  <a:pt x="179324" y="0"/>
                </a:lnTo>
                <a:close/>
              </a:path>
              <a:path w="256539" h="372745">
                <a:moveTo>
                  <a:pt x="175733" y="279781"/>
                </a:moveTo>
                <a:lnTo>
                  <a:pt x="76962" y="279781"/>
                </a:lnTo>
                <a:lnTo>
                  <a:pt x="82296" y="282575"/>
                </a:lnTo>
                <a:lnTo>
                  <a:pt x="125602" y="289306"/>
                </a:lnTo>
                <a:lnTo>
                  <a:pt x="140652" y="288611"/>
                </a:lnTo>
                <a:lnTo>
                  <a:pt x="154749" y="286512"/>
                </a:lnTo>
                <a:lnTo>
                  <a:pt x="167893" y="282983"/>
                </a:lnTo>
                <a:lnTo>
                  <a:pt x="175733" y="279781"/>
                </a:lnTo>
                <a:close/>
              </a:path>
              <a:path w="256539" h="372745">
                <a:moveTo>
                  <a:pt x="244721" y="20701"/>
                </a:moveTo>
                <a:lnTo>
                  <a:pt x="182499" y="20701"/>
                </a:lnTo>
                <a:lnTo>
                  <a:pt x="188213" y="23241"/>
                </a:lnTo>
                <a:lnTo>
                  <a:pt x="192404" y="28194"/>
                </a:lnTo>
                <a:lnTo>
                  <a:pt x="196596" y="33274"/>
                </a:lnTo>
                <a:lnTo>
                  <a:pt x="198754" y="40767"/>
                </a:lnTo>
                <a:lnTo>
                  <a:pt x="198754" y="50800"/>
                </a:lnTo>
                <a:lnTo>
                  <a:pt x="189057" y="90608"/>
                </a:lnTo>
                <a:lnTo>
                  <a:pt x="161305" y="117538"/>
                </a:lnTo>
                <a:lnTo>
                  <a:pt x="135127" y="125730"/>
                </a:lnTo>
                <a:lnTo>
                  <a:pt x="130555" y="146177"/>
                </a:lnTo>
                <a:lnTo>
                  <a:pt x="163331" y="166927"/>
                </a:lnTo>
                <a:lnTo>
                  <a:pt x="168528" y="192913"/>
                </a:lnTo>
                <a:lnTo>
                  <a:pt x="168126" y="203009"/>
                </a:lnTo>
                <a:lnTo>
                  <a:pt x="154463" y="246649"/>
                </a:lnTo>
                <a:lnTo>
                  <a:pt x="118745" y="268478"/>
                </a:lnTo>
                <a:lnTo>
                  <a:pt x="195369" y="268478"/>
                </a:lnTo>
                <a:lnTo>
                  <a:pt x="220725" y="236202"/>
                </a:lnTo>
                <a:lnTo>
                  <a:pt x="227584" y="200787"/>
                </a:lnTo>
                <a:lnTo>
                  <a:pt x="226822" y="189880"/>
                </a:lnTo>
                <a:lnTo>
                  <a:pt x="208535" y="154898"/>
                </a:lnTo>
                <a:lnTo>
                  <a:pt x="178942" y="138557"/>
                </a:lnTo>
                <a:lnTo>
                  <a:pt x="179324" y="135763"/>
                </a:lnTo>
                <a:lnTo>
                  <a:pt x="225972" y="112849"/>
                </a:lnTo>
                <a:lnTo>
                  <a:pt x="251428" y="79819"/>
                </a:lnTo>
                <a:lnTo>
                  <a:pt x="256286" y="52959"/>
                </a:lnTo>
                <a:lnTo>
                  <a:pt x="255042" y="40767"/>
                </a:lnTo>
                <a:lnTo>
                  <a:pt x="251348" y="30178"/>
                </a:lnTo>
                <a:lnTo>
                  <a:pt x="245195" y="21115"/>
                </a:lnTo>
                <a:lnTo>
                  <a:pt x="244721" y="2070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904488" y="5038216"/>
            <a:ext cx="351790" cy="273050"/>
          </a:xfrm>
          <a:custGeom>
            <a:avLst/>
            <a:gdLst/>
            <a:ahLst/>
            <a:cxnLst/>
            <a:rect l="l" t="t" r="r" b="b"/>
            <a:pathLst>
              <a:path w="351789" h="273050">
                <a:moveTo>
                  <a:pt x="351536" y="0"/>
                </a:moveTo>
                <a:lnTo>
                  <a:pt x="258572" y="0"/>
                </a:lnTo>
                <a:lnTo>
                  <a:pt x="163702" y="166877"/>
                </a:lnTo>
                <a:lnTo>
                  <a:pt x="148082" y="0"/>
                </a:lnTo>
                <a:lnTo>
                  <a:pt x="54990" y="0"/>
                </a:lnTo>
                <a:lnTo>
                  <a:pt x="52197" y="13080"/>
                </a:lnTo>
                <a:lnTo>
                  <a:pt x="58038" y="13969"/>
                </a:lnTo>
                <a:lnTo>
                  <a:pt x="62229" y="15620"/>
                </a:lnTo>
                <a:lnTo>
                  <a:pt x="67437" y="20827"/>
                </a:lnTo>
                <a:lnTo>
                  <a:pt x="68707" y="24891"/>
                </a:lnTo>
                <a:lnTo>
                  <a:pt x="68707" y="38226"/>
                </a:lnTo>
                <a:lnTo>
                  <a:pt x="29717" y="218947"/>
                </a:lnTo>
                <a:lnTo>
                  <a:pt x="10287" y="257555"/>
                </a:lnTo>
                <a:lnTo>
                  <a:pt x="2794" y="259714"/>
                </a:lnTo>
                <a:lnTo>
                  <a:pt x="0" y="272922"/>
                </a:lnTo>
                <a:lnTo>
                  <a:pt x="73406" y="272922"/>
                </a:lnTo>
                <a:lnTo>
                  <a:pt x="76200" y="259714"/>
                </a:lnTo>
                <a:lnTo>
                  <a:pt x="70231" y="258952"/>
                </a:lnTo>
                <a:lnTo>
                  <a:pt x="66039" y="257174"/>
                </a:lnTo>
                <a:lnTo>
                  <a:pt x="60833" y="251967"/>
                </a:lnTo>
                <a:lnTo>
                  <a:pt x="59562" y="247903"/>
                </a:lnTo>
                <a:lnTo>
                  <a:pt x="59689" y="233171"/>
                </a:lnTo>
                <a:lnTo>
                  <a:pt x="61213" y="223138"/>
                </a:lnTo>
                <a:lnTo>
                  <a:pt x="81534" y="131190"/>
                </a:lnTo>
                <a:lnTo>
                  <a:pt x="85201" y="113782"/>
                </a:lnTo>
                <a:lnTo>
                  <a:pt x="88963" y="94313"/>
                </a:lnTo>
                <a:lnTo>
                  <a:pt x="92821" y="72772"/>
                </a:lnTo>
                <a:lnTo>
                  <a:pt x="96774" y="49148"/>
                </a:lnTo>
                <a:lnTo>
                  <a:pt x="99949" y="49148"/>
                </a:lnTo>
                <a:lnTo>
                  <a:pt x="100828" y="65226"/>
                </a:lnTo>
                <a:lnTo>
                  <a:pt x="102123" y="82803"/>
                </a:lnTo>
                <a:lnTo>
                  <a:pt x="105917" y="122554"/>
                </a:lnTo>
                <a:lnTo>
                  <a:pt x="119125" y="242696"/>
                </a:lnTo>
                <a:lnTo>
                  <a:pt x="151511" y="242696"/>
                </a:lnTo>
                <a:lnTo>
                  <a:pt x="241553" y="86994"/>
                </a:lnTo>
                <a:lnTo>
                  <a:pt x="261747" y="51180"/>
                </a:lnTo>
                <a:lnTo>
                  <a:pt x="265684" y="51180"/>
                </a:lnTo>
                <a:lnTo>
                  <a:pt x="254126" y="93170"/>
                </a:lnTo>
                <a:lnTo>
                  <a:pt x="244094" y="134873"/>
                </a:lnTo>
                <a:lnTo>
                  <a:pt x="225678" y="218947"/>
                </a:lnTo>
                <a:lnTo>
                  <a:pt x="223252" y="228875"/>
                </a:lnTo>
                <a:lnTo>
                  <a:pt x="198754" y="259714"/>
                </a:lnTo>
                <a:lnTo>
                  <a:pt x="195961" y="272922"/>
                </a:lnTo>
                <a:lnTo>
                  <a:pt x="296545" y="272922"/>
                </a:lnTo>
                <a:lnTo>
                  <a:pt x="299338" y="259714"/>
                </a:lnTo>
                <a:lnTo>
                  <a:pt x="293497" y="258952"/>
                </a:lnTo>
                <a:lnTo>
                  <a:pt x="289178" y="257174"/>
                </a:lnTo>
                <a:lnTo>
                  <a:pt x="283972" y="251967"/>
                </a:lnTo>
                <a:lnTo>
                  <a:pt x="282701" y="247903"/>
                </a:lnTo>
                <a:lnTo>
                  <a:pt x="282701" y="237235"/>
                </a:lnTo>
                <a:lnTo>
                  <a:pt x="321690" y="53974"/>
                </a:lnTo>
                <a:lnTo>
                  <a:pt x="341122" y="15239"/>
                </a:lnTo>
                <a:lnTo>
                  <a:pt x="348741" y="13080"/>
                </a:lnTo>
                <a:lnTo>
                  <a:pt x="35153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394708" y="5169789"/>
            <a:ext cx="46990" cy="48895"/>
          </a:xfrm>
          <a:custGeom>
            <a:avLst/>
            <a:gdLst/>
            <a:ahLst/>
            <a:cxnLst/>
            <a:rect l="l" t="t" r="r" b="b"/>
            <a:pathLst>
              <a:path w="46989" h="48895">
                <a:moveTo>
                  <a:pt x="30099" y="0"/>
                </a:moveTo>
                <a:lnTo>
                  <a:pt x="23240" y="0"/>
                </a:lnTo>
                <a:lnTo>
                  <a:pt x="16509" y="0"/>
                </a:lnTo>
                <a:lnTo>
                  <a:pt x="10921" y="2286"/>
                </a:lnTo>
                <a:lnTo>
                  <a:pt x="2158" y="11303"/>
                </a:lnTo>
                <a:lnTo>
                  <a:pt x="0" y="17144"/>
                </a:lnTo>
                <a:lnTo>
                  <a:pt x="0" y="31496"/>
                </a:lnTo>
                <a:lnTo>
                  <a:pt x="2158" y="37465"/>
                </a:lnTo>
                <a:lnTo>
                  <a:pt x="6603" y="41910"/>
                </a:lnTo>
                <a:lnTo>
                  <a:pt x="10921" y="46481"/>
                </a:lnTo>
                <a:lnTo>
                  <a:pt x="16509" y="48768"/>
                </a:lnTo>
                <a:lnTo>
                  <a:pt x="30099" y="48768"/>
                </a:lnTo>
                <a:lnTo>
                  <a:pt x="35559" y="46481"/>
                </a:lnTo>
                <a:lnTo>
                  <a:pt x="44322" y="37465"/>
                </a:lnTo>
                <a:lnTo>
                  <a:pt x="46481" y="31496"/>
                </a:lnTo>
                <a:lnTo>
                  <a:pt x="46481" y="17144"/>
                </a:lnTo>
                <a:lnTo>
                  <a:pt x="44322" y="11303"/>
                </a:lnTo>
                <a:lnTo>
                  <a:pt x="40004" y="6731"/>
                </a:lnTo>
                <a:lnTo>
                  <a:pt x="35559" y="2286"/>
                </a:lnTo>
                <a:lnTo>
                  <a:pt x="30099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3" name="object 10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564760" y="5109590"/>
            <a:ext cx="208025" cy="201548"/>
          </a:xfrm>
          <a:prstGeom prst="rect">
            <a:avLst/>
          </a:prstGeom>
        </p:spPr>
      </p:pic>
      <p:sp>
        <p:nvSpPr>
          <p:cNvPr id="104" name="object 104"/>
          <p:cNvSpPr/>
          <p:nvPr/>
        </p:nvSpPr>
        <p:spPr>
          <a:xfrm>
            <a:off x="4904359" y="5066029"/>
            <a:ext cx="246379" cy="256540"/>
          </a:xfrm>
          <a:custGeom>
            <a:avLst/>
            <a:gdLst/>
            <a:ahLst/>
            <a:cxnLst/>
            <a:rect l="l" t="t" r="r" b="b"/>
            <a:pathLst>
              <a:path w="246379" h="256539">
                <a:moveTo>
                  <a:pt x="246380" y="114300"/>
                </a:moveTo>
                <a:lnTo>
                  <a:pt x="137287" y="114300"/>
                </a:lnTo>
                <a:lnTo>
                  <a:pt x="137287" y="0"/>
                </a:lnTo>
                <a:lnTo>
                  <a:pt x="108966" y="0"/>
                </a:lnTo>
                <a:lnTo>
                  <a:pt x="108966" y="114300"/>
                </a:lnTo>
                <a:lnTo>
                  <a:pt x="0" y="114300"/>
                </a:lnTo>
                <a:lnTo>
                  <a:pt x="0" y="140970"/>
                </a:lnTo>
                <a:lnTo>
                  <a:pt x="108966" y="140970"/>
                </a:lnTo>
                <a:lnTo>
                  <a:pt x="108966" y="256540"/>
                </a:lnTo>
                <a:lnTo>
                  <a:pt x="137287" y="256540"/>
                </a:lnTo>
                <a:lnTo>
                  <a:pt x="137287" y="140970"/>
                </a:lnTo>
                <a:lnTo>
                  <a:pt x="246380" y="140970"/>
                </a:lnTo>
                <a:lnTo>
                  <a:pt x="246380" y="1143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5" name="object 105"/>
          <p:cNvGrpSpPr/>
          <p:nvPr/>
        </p:nvGrpSpPr>
        <p:grpSpPr>
          <a:xfrm>
            <a:off x="5310378" y="4857750"/>
            <a:ext cx="811530" cy="671830"/>
            <a:chOff x="5310378" y="4857750"/>
            <a:chExt cx="811530" cy="671830"/>
          </a:xfrm>
        </p:grpSpPr>
        <p:sp>
          <p:nvSpPr>
            <p:cNvPr id="106" name="object 106"/>
            <p:cNvSpPr/>
            <p:nvPr/>
          </p:nvSpPr>
          <p:spPr>
            <a:xfrm>
              <a:off x="5310378" y="4857749"/>
              <a:ext cx="811530" cy="671830"/>
            </a:xfrm>
            <a:custGeom>
              <a:avLst/>
              <a:gdLst/>
              <a:ahLst/>
              <a:cxnLst/>
              <a:rect l="l" t="t" r="r" b="b"/>
              <a:pathLst>
                <a:path w="811529" h="671829">
                  <a:moveTo>
                    <a:pt x="95250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655320"/>
                  </a:lnTo>
                  <a:lnTo>
                    <a:pt x="0" y="671830"/>
                  </a:lnTo>
                  <a:lnTo>
                    <a:pt x="95250" y="671830"/>
                  </a:lnTo>
                  <a:lnTo>
                    <a:pt x="95250" y="655320"/>
                  </a:lnTo>
                  <a:lnTo>
                    <a:pt x="37084" y="655320"/>
                  </a:lnTo>
                  <a:lnTo>
                    <a:pt x="37084" y="17780"/>
                  </a:lnTo>
                  <a:lnTo>
                    <a:pt x="95250" y="17780"/>
                  </a:lnTo>
                  <a:lnTo>
                    <a:pt x="95250" y="0"/>
                  </a:lnTo>
                  <a:close/>
                </a:path>
                <a:path w="811529" h="671829">
                  <a:moveTo>
                    <a:pt x="707136" y="320040"/>
                  </a:moveTo>
                  <a:lnTo>
                    <a:pt x="107061" y="320040"/>
                  </a:lnTo>
                  <a:lnTo>
                    <a:pt x="107061" y="348615"/>
                  </a:lnTo>
                  <a:lnTo>
                    <a:pt x="707136" y="348615"/>
                  </a:lnTo>
                  <a:lnTo>
                    <a:pt x="707136" y="320040"/>
                  </a:lnTo>
                  <a:close/>
                </a:path>
                <a:path w="811529" h="671829">
                  <a:moveTo>
                    <a:pt x="811276" y="0"/>
                  </a:moveTo>
                  <a:lnTo>
                    <a:pt x="716153" y="0"/>
                  </a:lnTo>
                  <a:lnTo>
                    <a:pt x="716153" y="17780"/>
                  </a:lnTo>
                  <a:lnTo>
                    <a:pt x="774319" y="17780"/>
                  </a:lnTo>
                  <a:lnTo>
                    <a:pt x="774319" y="655320"/>
                  </a:lnTo>
                  <a:lnTo>
                    <a:pt x="716153" y="655320"/>
                  </a:lnTo>
                  <a:lnTo>
                    <a:pt x="716153" y="671830"/>
                  </a:lnTo>
                  <a:lnTo>
                    <a:pt x="811276" y="671830"/>
                  </a:lnTo>
                  <a:lnTo>
                    <a:pt x="811276" y="655320"/>
                  </a:lnTo>
                  <a:lnTo>
                    <a:pt x="811276" y="17780"/>
                  </a:lnTo>
                  <a:lnTo>
                    <a:pt x="81127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41061" y="4873878"/>
              <a:ext cx="133096" cy="199135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5622798" y="4866639"/>
              <a:ext cx="381635" cy="268605"/>
            </a:xfrm>
            <a:custGeom>
              <a:avLst/>
              <a:gdLst/>
              <a:ahLst/>
              <a:cxnLst/>
              <a:rect l="l" t="t" r="r" b="b"/>
              <a:pathLst>
                <a:path w="381635" h="268604">
                  <a:moveTo>
                    <a:pt x="166090" y="110921"/>
                  </a:moveTo>
                  <a:lnTo>
                    <a:pt x="0" y="110921"/>
                  </a:lnTo>
                  <a:lnTo>
                    <a:pt x="0" y="132969"/>
                  </a:lnTo>
                  <a:lnTo>
                    <a:pt x="166090" y="132969"/>
                  </a:lnTo>
                  <a:lnTo>
                    <a:pt x="166090" y="110921"/>
                  </a:lnTo>
                  <a:close/>
                </a:path>
                <a:path w="381635" h="268604">
                  <a:moveTo>
                    <a:pt x="381635" y="38227"/>
                  </a:moveTo>
                  <a:lnTo>
                    <a:pt x="359473" y="5575"/>
                  </a:lnTo>
                  <a:lnTo>
                    <a:pt x="340106" y="838"/>
                  </a:lnTo>
                  <a:lnTo>
                    <a:pt x="340106" y="29464"/>
                  </a:lnTo>
                  <a:lnTo>
                    <a:pt x="339991" y="38227"/>
                  </a:lnTo>
                  <a:lnTo>
                    <a:pt x="321043" y="79705"/>
                  </a:lnTo>
                  <a:lnTo>
                    <a:pt x="294259" y="90805"/>
                  </a:lnTo>
                  <a:lnTo>
                    <a:pt x="290957" y="105410"/>
                  </a:lnTo>
                  <a:lnTo>
                    <a:pt x="300355" y="107315"/>
                  </a:lnTo>
                  <a:lnTo>
                    <a:pt x="307213" y="110871"/>
                  </a:lnTo>
                  <a:lnTo>
                    <a:pt x="316103" y="121285"/>
                  </a:lnTo>
                  <a:lnTo>
                    <a:pt x="318389" y="129032"/>
                  </a:lnTo>
                  <a:lnTo>
                    <a:pt x="318389" y="139192"/>
                  </a:lnTo>
                  <a:lnTo>
                    <a:pt x="306451" y="181610"/>
                  </a:lnTo>
                  <a:lnTo>
                    <a:pt x="300863" y="186436"/>
                  </a:lnTo>
                  <a:lnTo>
                    <a:pt x="295402" y="191262"/>
                  </a:lnTo>
                  <a:lnTo>
                    <a:pt x="289179" y="193675"/>
                  </a:lnTo>
                  <a:lnTo>
                    <a:pt x="275844" y="193675"/>
                  </a:lnTo>
                  <a:lnTo>
                    <a:pt x="270383" y="192024"/>
                  </a:lnTo>
                  <a:lnTo>
                    <a:pt x="261620" y="185547"/>
                  </a:lnTo>
                  <a:lnTo>
                    <a:pt x="259461" y="181229"/>
                  </a:lnTo>
                  <a:lnTo>
                    <a:pt x="259461" y="172212"/>
                  </a:lnTo>
                  <a:lnTo>
                    <a:pt x="259715" y="168910"/>
                  </a:lnTo>
                  <a:lnTo>
                    <a:pt x="260477" y="165862"/>
                  </a:lnTo>
                  <a:lnTo>
                    <a:pt x="279908" y="78105"/>
                  </a:lnTo>
                  <a:lnTo>
                    <a:pt x="292747" y="39433"/>
                  </a:lnTo>
                  <a:lnTo>
                    <a:pt x="323342" y="15113"/>
                  </a:lnTo>
                  <a:lnTo>
                    <a:pt x="328549" y="15113"/>
                  </a:lnTo>
                  <a:lnTo>
                    <a:pt x="332613" y="16891"/>
                  </a:lnTo>
                  <a:lnTo>
                    <a:pt x="338709" y="24003"/>
                  </a:lnTo>
                  <a:lnTo>
                    <a:pt x="340106" y="29464"/>
                  </a:lnTo>
                  <a:lnTo>
                    <a:pt x="340106" y="838"/>
                  </a:lnTo>
                  <a:lnTo>
                    <a:pt x="338848" y="622"/>
                  </a:lnTo>
                  <a:lnTo>
                    <a:pt x="326136" y="0"/>
                  </a:lnTo>
                  <a:lnTo>
                    <a:pt x="313588" y="673"/>
                  </a:lnTo>
                  <a:lnTo>
                    <a:pt x="273685" y="16408"/>
                  </a:lnTo>
                  <a:lnTo>
                    <a:pt x="248488" y="50457"/>
                  </a:lnTo>
                  <a:lnTo>
                    <a:pt x="236474" y="88138"/>
                  </a:lnTo>
                  <a:lnTo>
                    <a:pt x="196850" y="268605"/>
                  </a:lnTo>
                  <a:lnTo>
                    <a:pt x="237744" y="268605"/>
                  </a:lnTo>
                  <a:lnTo>
                    <a:pt x="252349" y="201803"/>
                  </a:lnTo>
                  <a:lnTo>
                    <a:pt x="256159" y="203835"/>
                  </a:lnTo>
                  <a:lnTo>
                    <a:pt x="261366" y="205486"/>
                  </a:lnTo>
                  <a:lnTo>
                    <a:pt x="274066" y="208026"/>
                  </a:lnTo>
                  <a:lnTo>
                    <a:pt x="280670" y="208661"/>
                  </a:lnTo>
                  <a:lnTo>
                    <a:pt x="287401" y="208661"/>
                  </a:lnTo>
                  <a:lnTo>
                    <a:pt x="298272" y="208165"/>
                  </a:lnTo>
                  <a:lnTo>
                    <a:pt x="308444" y="206654"/>
                  </a:lnTo>
                  <a:lnTo>
                    <a:pt x="317893" y="204114"/>
                  </a:lnTo>
                  <a:lnTo>
                    <a:pt x="323532" y="201803"/>
                  </a:lnTo>
                  <a:lnTo>
                    <a:pt x="326644" y="200533"/>
                  </a:lnTo>
                  <a:lnTo>
                    <a:pt x="334518" y="196062"/>
                  </a:lnTo>
                  <a:lnTo>
                    <a:pt x="337642" y="193675"/>
                  </a:lnTo>
                  <a:lnTo>
                    <a:pt x="341401" y="190804"/>
                  </a:lnTo>
                  <a:lnTo>
                    <a:pt x="360375" y="153860"/>
                  </a:lnTo>
                  <a:lnTo>
                    <a:pt x="360934" y="144780"/>
                  </a:lnTo>
                  <a:lnTo>
                    <a:pt x="360375" y="136982"/>
                  </a:lnTo>
                  <a:lnTo>
                    <a:pt x="334086" y="103174"/>
                  </a:lnTo>
                  <a:lnTo>
                    <a:pt x="325882" y="99949"/>
                  </a:lnTo>
                  <a:lnTo>
                    <a:pt x="326136" y="97917"/>
                  </a:lnTo>
                  <a:lnTo>
                    <a:pt x="367665" y="74295"/>
                  </a:lnTo>
                  <a:lnTo>
                    <a:pt x="380771" y="48285"/>
                  </a:lnTo>
                  <a:lnTo>
                    <a:pt x="381635" y="3822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06288" y="5323840"/>
              <a:ext cx="208279" cy="196850"/>
            </a:xfrm>
            <a:prstGeom prst="rect">
              <a:avLst/>
            </a:prstGeom>
          </p:spPr>
        </p:pic>
      </p:grpSp>
      <p:pic>
        <p:nvPicPr>
          <p:cNvPr id="110" name="object 11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177788" y="5400040"/>
            <a:ext cx="208279" cy="196850"/>
          </a:xfrm>
          <a:prstGeom prst="rect">
            <a:avLst/>
          </a:prstGeom>
        </p:spPr>
      </p:pic>
      <p:sp>
        <p:nvSpPr>
          <p:cNvPr id="111" name="object 111"/>
          <p:cNvSpPr txBox="1"/>
          <p:nvPr/>
        </p:nvSpPr>
        <p:spPr>
          <a:xfrm>
            <a:off x="4817745" y="6306820"/>
            <a:ext cx="1289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008000"/>
                </a:solidFill>
                <a:latin typeface="Corbel"/>
                <a:cs typeface="Corbel"/>
              </a:rPr>
              <a:t>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579239" y="6182995"/>
            <a:ext cx="41249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2750" algn="l"/>
              </a:tabLst>
            </a:pPr>
            <a:r>
              <a:rPr sz="1800" i="1" spc="-15" dirty="0">
                <a:solidFill>
                  <a:srgbClr val="008000"/>
                </a:solidFill>
                <a:latin typeface="Corbel"/>
                <a:cs typeface="Corbel"/>
              </a:rPr>
              <a:t>[x]	</a:t>
            </a:r>
            <a:r>
              <a:rPr sz="1800" dirty="0">
                <a:solidFill>
                  <a:srgbClr val="008000"/>
                </a:solidFill>
                <a:latin typeface="Corbel"/>
                <a:cs typeface="Corbel"/>
              </a:rPr>
              <a:t>… a vector </a:t>
            </a:r>
            <a:r>
              <a:rPr sz="1800" spc="5" dirty="0">
                <a:solidFill>
                  <a:srgbClr val="008000"/>
                </a:solidFill>
                <a:latin typeface="Corbel"/>
                <a:cs typeface="Corbel"/>
              </a:rPr>
              <a:t>of length </a:t>
            </a:r>
            <a:r>
              <a:rPr sz="1800" i="1" dirty="0">
                <a:solidFill>
                  <a:srgbClr val="008000"/>
                </a:solidFill>
                <a:latin typeface="Corbel"/>
                <a:cs typeface="Corbel"/>
              </a:rPr>
              <a:t>N </a:t>
            </a:r>
            <a:r>
              <a:rPr sz="1800" spc="-5" dirty="0">
                <a:solidFill>
                  <a:srgbClr val="008000"/>
                </a:solidFill>
                <a:latin typeface="Corbel"/>
                <a:cs typeface="Corbel"/>
              </a:rPr>
              <a:t>with </a:t>
            </a:r>
            <a:r>
              <a:rPr sz="1800" spc="15" dirty="0">
                <a:solidFill>
                  <a:srgbClr val="008000"/>
                </a:solidFill>
                <a:latin typeface="Corbel"/>
                <a:cs typeface="Corbel"/>
              </a:rPr>
              <a:t>all </a:t>
            </a:r>
            <a:r>
              <a:rPr sz="1800" spc="5" dirty="0">
                <a:solidFill>
                  <a:srgbClr val="008000"/>
                </a:solidFill>
                <a:latin typeface="Corbel"/>
                <a:cs typeface="Corbel"/>
              </a:rPr>
              <a:t>entries</a:t>
            </a:r>
            <a:r>
              <a:rPr sz="1800" spc="-250" dirty="0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sz="1800" i="1" dirty="0">
                <a:solidFill>
                  <a:srgbClr val="008000"/>
                </a:solidFill>
                <a:latin typeface="Corbel"/>
                <a:cs typeface="Corbel"/>
              </a:rPr>
              <a:t>x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55257" y="6094095"/>
            <a:ext cx="2347595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008000"/>
                </a:solidFill>
                <a:latin typeface="Arial"/>
                <a:cs typeface="Arial"/>
              </a:rPr>
              <a:t>Note: </a:t>
            </a:r>
            <a:r>
              <a:rPr sz="1550" spc="-5" dirty="0">
                <a:solidFill>
                  <a:srgbClr val="008000"/>
                </a:solidFill>
                <a:latin typeface="Arial"/>
                <a:cs typeface="Arial"/>
              </a:rPr>
              <a:t>Here </a:t>
            </a:r>
            <a:r>
              <a:rPr sz="1550" spc="5" dirty="0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assume</a:t>
            </a:r>
            <a:r>
              <a:rPr sz="1550" spc="-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550" b="1" spc="20" dirty="0">
                <a:solidFill>
                  <a:srgbClr val="008000"/>
                </a:solidFill>
                <a:latin typeface="Arial"/>
                <a:cs typeface="Arial"/>
              </a:rPr>
              <a:t>M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550" dirty="0">
                <a:solidFill>
                  <a:srgbClr val="008000"/>
                </a:solidFill>
                <a:latin typeface="Arial"/>
                <a:cs typeface="Arial"/>
              </a:rPr>
              <a:t>has </a:t>
            </a:r>
            <a:r>
              <a:rPr sz="1550" spc="-15" dirty="0">
                <a:solidFill>
                  <a:srgbClr val="008000"/>
                </a:solidFill>
                <a:latin typeface="Arial"/>
                <a:cs typeface="Arial"/>
              </a:rPr>
              <a:t>no</a:t>
            </a:r>
            <a:r>
              <a:rPr sz="1550" spc="15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550" spc="-5" dirty="0">
                <a:solidFill>
                  <a:srgbClr val="008000"/>
                </a:solidFill>
                <a:latin typeface="Arial"/>
                <a:cs typeface="Arial"/>
              </a:rPr>
              <a:t>dead-ends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333311"/>
            <a:ext cx="6548501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17637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00162"/>
            <a:ext cx="719137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We </a:t>
            </a:r>
            <a:r>
              <a:rPr spc="10" dirty="0"/>
              <a:t>just </a:t>
            </a:r>
            <a:r>
              <a:rPr spc="-5" dirty="0"/>
              <a:t>rearranged </a:t>
            </a:r>
            <a:r>
              <a:rPr spc="5" dirty="0"/>
              <a:t>the </a:t>
            </a:r>
            <a:r>
              <a:rPr b="1" spc="-5" dirty="0">
                <a:solidFill>
                  <a:srgbClr val="0000FF"/>
                </a:solidFill>
                <a:latin typeface="Calibri"/>
                <a:cs typeface="Calibri"/>
              </a:rPr>
              <a:t>PageRank</a:t>
            </a:r>
            <a:r>
              <a:rPr b="1" spc="-2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equation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26410" y="2309241"/>
            <a:ext cx="208025" cy="20154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885058" y="2422017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69">
                <a:moveTo>
                  <a:pt x="246380" y="0"/>
                </a:moveTo>
                <a:lnTo>
                  <a:pt x="0" y="0"/>
                </a:lnTo>
                <a:lnTo>
                  <a:pt x="0" y="26543"/>
                </a:lnTo>
                <a:lnTo>
                  <a:pt x="246380" y="26543"/>
                </a:lnTo>
                <a:lnTo>
                  <a:pt x="246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85058" y="2338958"/>
            <a:ext cx="246379" cy="26670"/>
          </a:xfrm>
          <a:custGeom>
            <a:avLst/>
            <a:gdLst/>
            <a:ahLst/>
            <a:cxnLst/>
            <a:rect l="l" t="t" r="r" b="b"/>
            <a:pathLst>
              <a:path w="246380" h="26669">
                <a:moveTo>
                  <a:pt x="246380" y="0"/>
                </a:moveTo>
                <a:lnTo>
                  <a:pt x="0" y="0"/>
                </a:lnTo>
                <a:lnTo>
                  <a:pt x="0" y="26669"/>
                </a:lnTo>
                <a:lnTo>
                  <a:pt x="246380" y="26669"/>
                </a:lnTo>
                <a:lnTo>
                  <a:pt x="246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67836" y="2224658"/>
            <a:ext cx="636270" cy="372745"/>
          </a:xfrm>
          <a:custGeom>
            <a:avLst/>
            <a:gdLst/>
            <a:ahLst/>
            <a:cxnLst/>
            <a:rect l="l" t="t" r="r" b="b"/>
            <a:pathLst>
              <a:path w="636270" h="372744">
                <a:moveTo>
                  <a:pt x="179324" y="0"/>
                </a:moveTo>
                <a:lnTo>
                  <a:pt x="131335" y="8197"/>
                </a:lnTo>
                <a:lnTo>
                  <a:pt x="95948" y="32130"/>
                </a:lnTo>
                <a:lnTo>
                  <a:pt x="71564" y="69899"/>
                </a:lnTo>
                <a:lnTo>
                  <a:pt x="54990" y="122174"/>
                </a:lnTo>
                <a:lnTo>
                  <a:pt x="0" y="372490"/>
                </a:lnTo>
                <a:lnTo>
                  <a:pt x="56768" y="372490"/>
                </a:lnTo>
                <a:lnTo>
                  <a:pt x="76962" y="279780"/>
                </a:lnTo>
                <a:lnTo>
                  <a:pt x="175733" y="279780"/>
                </a:lnTo>
                <a:lnTo>
                  <a:pt x="180086" y="278002"/>
                </a:lnTo>
                <a:lnTo>
                  <a:pt x="191013" y="271833"/>
                </a:lnTo>
                <a:lnTo>
                  <a:pt x="195410" y="268477"/>
                </a:lnTo>
                <a:lnTo>
                  <a:pt x="109600" y="268477"/>
                </a:lnTo>
                <a:lnTo>
                  <a:pt x="101853" y="266318"/>
                </a:lnTo>
                <a:lnTo>
                  <a:pt x="95885" y="261746"/>
                </a:lnTo>
                <a:lnTo>
                  <a:pt x="89788" y="257175"/>
                </a:lnTo>
                <a:lnTo>
                  <a:pt x="86740" y="251205"/>
                </a:lnTo>
                <a:lnTo>
                  <a:pt x="86740" y="238760"/>
                </a:lnTo>
                <a:lnTo>
                  <a:pt x="87249" y="234187"/>
                </a:lnTo>
                <a:lnTo>
                  <a:pt x="115188" y="108203"/>
                </a:lnTo>
                <a:lnTo>
                  <a:pt x="126396" y="69627"/>
                </a:lnTo>
                <a:lnTo>
                  <a:pt x="147937" y="32863"/>
                </a:lnTo>
                <a:lnTo>
                  <a:pt x="175387" y="20700"/>
                </a:lnTo>
                <a:lnTo>
                  <a:pt x="244721" y="20700"/>
                </a:lnTo>
                <a:lnTo>
                  <a:pt x="236600" y="13588"/>
                </a:lnTo>
                <a:lnTo>
                  <a:pt x="225579" y="7608"/>
                </a:lnTo>
                <a:lnTo>
                  <a:pt x="212343" y="3365"/>
                </a:lnTo>
                <a:lnTo>
                  <a:pt x="196917" y="837"/>
                </a:lnTo>
                <a:lnTo>
                  <a:pt x="179324" y="0"/>
                </a:lnTo>
                <a:close/>
              </a:path>
              <a:path w="636270" h="372744">
                <a:moveTo>
                  <a:pt x="175733" y="279780"/>
                </a:moveTo>
                <a:lnTo>
                  <a:pt x="76962" y="279780"/>
                </a:lnTo>
                <a:lnTo>
                  <a:pt x="82296" y="282575"/>
                </a:lnTo>
                <a:lnTo>
                  <a:pt x="125602" y="289305"/>
                </a:lnTo>
                <a:lnTo>
                  <a:pt x="140652" y="288611"/>
                </a:lnTo>
                <a:lnTo>
                  <a:pt x="154749" y="286512"/>
                </a:lnTo>
                <a:lnTo>
                  <a:pt x="167893" y="282983"/>
                </a:lnTo>
                <a:lnTo>
                  <a:pt x="175733" y="279780"/>
                </a:lnTo>
                <a:close/>
              </a:path>
              <a:path w="636270" h="372744">
                <a:moveTo>
                  <a:pt x="244721" y="20700"/>
                </a:moveTo>
                <a:lnTo>
                  <a:pt x="182499" y="20700"/>
                </a:lnTo>
                <a:lnTo>
                  <a:pt x="188213" y="23240"/>
                </a:lnTo>
                <a:lnTo>
                  <a:pt x="192404" y="28193"/>
                </a:lnTo>
                <a:lnTo>
                  <a:pt x="196596" y="33274"/>
                </a:lnTo>
                <a:lnTo>
                  <a:pt x="198754" y="40766"/>
                </a:lnTo>
                <a:lnTo>
                  <a:pt x="198754" y="50800"/>
                </a:lnTo>
                <a:lnTo>
                  <a:pt x="189057" y="90608"/>
                </a:lnTo>
                <a:lnTo>
                  <a:pt x="161305" y="117538"/>
                </a:lnTo>
                <a:lnTo>
                  <a:pt x="135127" y="125729"/>
                </a:lnTo>
                <a:lnTo>
                  <a:pt x="130555" y="146176"/>
                </a:lnTo>
                <a:lnTo>
                  <a:pt x="163331" y="166927"/>
                </a:lnTo>
                <a:lnTo>
                  <a:pt x="168528" y="192912"/>
                </a:lnTo>
                <a:lnTo>
                  <a:pt x="168126" y="203009"/>
                </a:lnTo>
                <a:lnTo>
                  <a:pt x="154463" y="246649"/>
                </a:lnTo>
                <a:lnTo>
                  <a:pt x="118745" y="268477"/>
                </a:lnTo>
                <a:lnTo>
                  <a:pt x="195410" y="268477"/>
                </a:lnTo>
                <a:lnTo>
                  <a:pt x="220725" y="236202"/>
                </a:lnTo>
                <a:lnTo>
                  <a:pt x="227584" y="200787"/>
                </a:lnTo>
                <a:lnTo>
                  <a:pt x="226822" y="189880"/>
                </a:lnTo>
                <a:lnTo>
                  <a:pt x="208535" y="154898"/>
                </a:lnTo>
                <a:lnTo>
                  <a:pt x="178942" y="138556"/>
                </a:lnTo>
                <a:lnTo>
                  <a:pt x="179324" y="135762"/>
                </a:lnTo>
                <a:lnTo>
                  <a:pt x="225972" y="112849"/>
                </a:lnTo>
                <a:lnTo>
                  <a:pt x="251428" y="79819"/>
                </a:lnTo>
                <a:lnTo>
                  <a:pt x="256286" y="52958"/>
                </a:lnTo>
                <a:lnTo>
                  <a:pt x="255042" y="40766"/>
                </a:lnTo>
                <a:lnTo>
                  <a:pt x="251348" y="30178"/>
                </a:lnTo>
                <a:lnTo>
                  <a:pt x="245195" y="21115"/>
                </a:lnTo>
                <a:lnTo>
                  <a:pt x="244721" y="20700"/>
                </a:lnTo>
                <a:close/>
              </a:path>
              <a:path w="636270" h="372744">
                <a:moveTo>
                  <a:pt x="432308" y="13207"/>
                </a:moveTo>
                <a:lnTo>
                  <a:pt x="339216" y="13207"/>
                </a:lnTo>
                <a:lnTo>
                  <a:pt x="336423" y="26288"/>
                </a:lnTo>
                <a:lnTo>
                  <a:pt x="342264" y="27177"/>
                </a:lnTo>
                <a:lnTo>
                  <a:pt x="346455" y="28828"/>
                </a:lnTo>
                <a:lnTo>
                  <a:pt x="351663" y="34036"/>
                </a:lnTo>
                <a:lnTo>
                  <a:pt x="352933" y="38100"/>
                </a:lnTo>
                <a:lnTo>
                  <a:pt x="352933" y="51435"/>
                </a:lnTo>
                <a:lnTo>
                  <a:pt x="313943" y="232155"/>
                </a:lnTo>
                <a:lnTo>
                  <a:pt x="294513" y="270763"/>
                </a:lnTo>
                <a:lnTo>
                  <a:pt x="287020" y="272923"/>
                </a:lnTo>
                <a:lnTo>
                  <a:pt x="284225" y="286130"/>
                </a:lnTo>
                <a:lnTo>
                  <a:pt x="357632" y="286130"/>
                </a:lnTo>
                <a:lnTo>
                  <a:pt x="360425" y="272923"/>
                </a:lnTo>
                <a:lnTo>
                  <a:pt x="354457" y="272161"/>
                </a:lnTo>
                <a:lnTo>
                  <a:pt x="350265" y="270382"/>
                </a:lnTo>
                <a:lnTo>
                  <a:pt x="345059" y="265175"/>
                </a:lnTo>
                <a:lnTo>
                  <a:pt x="343788" y="261112"/>
                </a:lnTo>
                <a:lnTo>
                  <a:pt x="343915" y="246379"/>
                </a:lnTo>
                <a:lnTo>
                  <a:pt x="344424" y="243204"/>
                </a:lnTo>
                <a:lnTo>
                  <a:pt x="344804" y="240156"/>
                </a:lnTo>
                <a:lnTo>
                  <a:pt x="345439" y="236346"/>
                </a:lnTo>
                <a:lnTo>
                  <a:pt x="346328" y="232155"/>
                </a:lnTo>
                <a:lnTo>
                  <a:pt x="365760" y="144399"/>
                </a:lnTo>
                <a:lnTo>
                  <a:pt x="369427" y="126990"/>
                </a:lnTo>
                <a:lnTo>
                  <a:pt x="373189" y="107521"/>
                </a:lnTo>
                <a:lnTo>
                  <a:pt x="377142" y="85413"/>
                </a:lnTo>
                <a:lnTo>
                  <a:pt x="381000" y="62356"/>
                </a:lnTo>
                <a:lnTo>
                  <a:pt x="436908" y="62356"/>
                </a:lnTo>
                <a:lnTo>
                  <a:pt x="432308" y="13207"/>
                </a:lnTo>
                <a:close/>
              </a:path>
              <a:path w="636270" h="372744">
                <a:moveTo>
                  <a:pt x="606611" y="64388"/>
                </a:moveTo>
                <a:lnTo>
                  <a:pt x="549910" y="64388"/>
                </a:lnTo>
                <a:lnTo>
                  <a:pt x="543929" y="85413"/>
                </a:lnTo>
                <a:lnTo>
                  <a:pt x="538352" y="106378"/>
                </a:lnTo>
                <a:lnTo>
                  <a:pt x="533157" y="127271"/>
                </a:lnTo>
                <a:lnTo>
                  <a:pt x="528320" y="148081"/>
                </a:lnTo>
                <a:lnTo>
                  <a:pt x="509904" y="232155"/>
                </a:lnTo>
                <a:lnTo>
                  <a:pt x="507478" y="242083"/>
                </a:lnTo>
                <a:lnTo>
                  <a:pt x="482980" y="272923"/>
                </a:lnTo>
                <a:lnTo>
                  <a:pt x="480187" y="286130"/>
                </a:lnTo>
                <a:lnTo>
                  <a:pt x="580771" y="286130"/>
                </a:lnTo>
                <a:lnTo>
                  <a:pt x="583564" y="272923"/>
                </a:lnTo>
                <a:lnTo>
                  <a:pt x="577723" y="272161"/>
                </a:lnTo>
                <a:lnTo>
                  <a:pt x="573404" y="270382"/>
                </a:lnTo>
                <a:lnTo>
                  <a:pt x="568198" y="265175"/>
                </a:lnTo>
                <a:lnTo>
                  <a:pt x="566927" y="261112"/>
                </a:lnTo>
                <a:lnTo>
                  <a:pt x="566934" y="250332"/>
                </a:lnTo>
                <a:lnTo>
                  <a:pt x="567182" y="246379"/>
                </a:lnTo>
                <a:lnTo>
                  <a:pt x="567943" y="240156"/>
                </a:lnTo>
                <a:lnTo>
                  <a:pt x="568578" y="236346"/>
                </a:lnTo>
                <a:lnTo>
                  <a:pt x="569595" y="232155"/>
                </a:lnTo>
                <a:lnTo>
                  <a:pt x="605916" y="67182"/>
                </a:lnTo>
                <a:lnTo>
                  <a:pt x="606611" y="64388"/>
                </a:lnTo>
                <a:close/>
              </a:path>
              <a:path w="636270" h="372744">
                <a:moveTo>
                  <a:pt x="436908" y="62356"/>
                </a:moveTo>
                <a:lnTo>
                  <a:pt x="384175" y="62356"/>
                </a:lnTo>
                <a:lnTo>
                  <a:pt x="385054" y="78434"/>
                </a:lnTo>
                <a:lnTo>
                  <a:pt x="386349" y="96011"/>
                </a:lnTo>
                <a:lnTo>
                  <a:pt x="388050" y="115113"/>
                </a:lnTo>
                <a:lnTo>
                  <a:pt x="390143" y="135762"/>
                </a:lnTo>
                <a:lnTo>
                  <a:pt x="403351" y="255904"/>
                </a:lnTo>
                <a:lnTo>
                  <a:pt x="435737" y="255904"/>
                </a:lnTo>
                <a:lnTo>
                  <a:pt x="479579" y="180086"/>
                </a:lnTo>
                <a:lnTo>
                  <a:pt x="447928" y="180086"/>
                </a:lnTo>
                <a:lnTo>
                  <a:pt x="436908" y="62356"/>
                </a:lnTo>
                <a:close/>
              </a:path>
              <a:path w="636270" h="372744">
                <a:moveTo>
                  <a:pt x="635762" y="13207"/>
                </a:moveTo>
                <a:lnTo>
                  <a:pt x="542798" y="13207"/>
                </a:lnTo>
                <a:lnTo>
                  <a:pt x="447928" y="180086"/>
                </a:lnTo>
                <a:lnTo>
                  <a:pt x="479579" y="180086"/>
                </a:lnTo>
                <a:lnTo>
                  <a:pt x="531113" y="90963"/>
                </a:lnTo>
                <a:lnTo>
                  <a:pt x="536257" y="81914"/>
                </a:lnTo>
                <a:lnTo>
                  <a:pt x="541210" y="73056"/>
                </a:lnTo>
                <a:lnTo>
                  <a:pt x="545973" y="64388"/>
                </a:lnTo>
                <a:lnTo>
                  <a:pt x="606611" y="64388"/>
                </a:lnTo>
                <a:lnTo>
                  <a:pt x="625348" y="28448"/>
                </a:lnTo>
                <a:lnTo>
                  <a:pt x="632967" y="26288"/>
                </a:lnTo>
                <a:lnTo>
                  <a:pt x="635762" y="132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42283" y="2369439"/>
            <a:ext cx="46990" cy="48895"/>
          </a:xfrm>
          <a:custGeom>
            <a:avLst/>
            <a:gdLst/>
            <a:ahLst/>
            <a:cxnLst/>
            <a:rect l="l" t="t" r="r" b="b"/>
            <a:pathLst>
              <a:path w="46989" h="48894">
                <a:moveTo>
                  <a:pt x="30099" y="0"/>
                </a:moveTo>
                <a:lnTo>
                  <a:pt x="23240" y="0"/>
                </a:lnTo>
                <a:lnTo>
                  <a:pt x="16509" y="0"/>
                </a:lnTo>
                <a:lnTo>
                  <a:pt x="10921" y="2286"/>
                </a:lnTo>
                <a:lnTo>
                  <a:pt x="2158" y="11302"/>
                </a:lnTo>
                <a:lnTo>
                  <a:pt x="0" y="17145"/>
                </a:lnTo>
                <a:lnTo>
                  <a:pt x="0" y="31496"/>
                </a:lnTo>
                <a:lnTo>
                  <a:pt x="2158" y="37464"/>
                </a:lnTo>
                <a:lnTo>
                  <a:pt x="6603" y="41910"/>
                </a:lnTo>
                <a:lnTo>
                  <a:pt x="10921" y="46482"/>
                </a:lnTo>
                <a:lnTo>
                  <a:pt x="16509" y="48768"/>
                </a:lnTo>
                <a:lnTo>
                  <a:pt x="30099" y="48768"/>
                </a:lnTo>
                <a:lnTo>
                  <a:pt x="35559" y="46482"/>
                </a:lnTo>
                <a:lnTo>
                  <a:pt x="44322" y="37464"/>
                </a:lnTo>
                <a:lnTo>
                  <a:pt x="46481" y="31496"/>
                </a:lnTo>
                <a:lnTo>
                  <a:pt x="46481" y="17145"/>
                </a:lnTo>
                <a:lnTo>
                  <a:pt x="44322" y="11302"/>
                </a:lnTo>
                <a:lnTo>
                  <a:pt x="40004" y="6731"/>
                </a:lnTo>
                <a:lnTo>
                  <a:pt x="35559" y="2286"/>
                </a:lnTo>
                <a:lnTo>
                  <a:pt x="30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2335" y="2309241"/>
            <a:ext cx="208025" cy="201549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4542409" y="2265679"/>
            <a:ext cx="246379" cy="256540"/>
          </a:xfrm>
          <a:custGeom>
            <a:avLst/>
            <a:gdLst/>
            <a:ahLst/>
            <a:cxnLst/>
            <a:rect l="l" t="t" r="r" b="b"/>
            <a:pathLst>
              <a:path w="246379" h="256539">
                <a:moveTo>
                  <a:pt x="246380" y="114300"/>
                </a:moveTo>
                <a:lnTo>
                  <a:pt x="137287" y="114300"/>
                </a:lnTo>
                <a:lnTo>
                  <a:pt x="137287" y="0"/>
                </a:lnTo>
                <a:lnTo>
                  <a:pt x="108966" y="0"/>
                </a:lnTo>
                <a:lnTo>
                  <a:pt x="108966" y="114300"/>
                </a:lnTo>
                <a:lnTo>
                  <a:pt x="0" y="114300"/>
                </a:lnTo>
                <a:lnTo>
                  <a:pt x="0" y="140970"/>
                </a:lnTo>
                <a:lnTo>
                  <a:pt x="108966" y="140970"/>
                </a:lnTo>
                <a:lnTo>
                  <a:pt x="108966" y="256540"/>
                </a:lnTo>
                <a:lnTo>
                  <a:pt x="137287" y="256540"/>
                </a:lnTo>
                <a:lnTo>
                  <a:pt x="137287" y="140970"/>
                </a:lnTo>
                <a:lnTo>
                  <a:pt x="246380" y="140970"/>
                </a:lnTo>
                <a:lnTo>
                  <a:pt x="24638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57953" y="1877059"/>
            <a:ext cx="1228725" cy="1033780"/>
          </a:xfrm>
          <a:custGeom>
            <a:avLst/>
            <a:gdLst/>
            <a:ahLst/>
            <a:cxnLst/>
            <a:rect l="l" t="t" r="r" b="b"/>
            <a:pathLst>
              <a:path w="1228725" h="1033780">
                <a:moveTo>
                  <a:pt x="102870" y="0"/>
                </a:moveTo>
                <a:lnTo>
                  <a:pt x="0" y="0"/>
                </a:lnTo>
                <a:lnTo>
                  <a:pt x="0" y="19050"/>
                </a:lnTo>
                <a:lnTo>
                  <a:pt x="0" y="1014730"/>
                </a:lnTo>
                <a:lnTo>
                  <a:pt x="0" y="1033780"/>
                </a:lnTo>
                <a:lnTo>
                  <a:pt x="102870" y="1033780"/>
                </a:lnTo>
                <a:lnTo>
                  <a:pt x="102870" y="1014730"/>
                </a:lnTo>
                <a:lnTo>
                  <a:pt x="39116" y="1014730"/>
                </a:lnTo>
                <a:lnTo>
                  <a:pt x="39116" y="19050"/>
                </a:lnTo>
                <a:lnTo>
                  <a:pt x="102870" y="19050"/>
                </a:lnTo>
                <a:lnTo>
                  <a:pt x="102870" y="0"/>
                </a:lnTo>
                <a:close/>
              </a:path>
              <a:path w="1228725" h="1033780">
                <a:moveTo>
                  <a:pt x="334010" y="301244"/>
                </a:moveTo>
                <a:lnTo>
                  <a:pt x="289433" y="295148"/>
                </a:lnTo>
                <a:lnTo>
                  <a:pt x="278130" y="271399"/>
                </a:lnTo>
                <a:lnTo>
                  <a:pt x="278130" y="96393"/>
                </a:lnTo>
                <a:lnTo>
                  <a:pt x="278472" y="66128"/>
                </a:lnTo>
                <a:lnTo>
                  <a:pt x="279400" y="43180"/>
                </a:lnTo>
                <a:lnTo>
                  <a:pt x="253746" y="43180"/>
                </a:lnTo>
                <a:lnTo>
                  <a:pt x="149352" y="105791"/>
                </a:lnTo>
                <a:lnTo>
                  <a:pt x="161544" y="127000"/>
                </a:lnTo>
                <a:lnTo>
                  <a:pt x="171208" y="120535"/>
                </a:lnTo>
                <a:lnTo>
                  <a:pt x="186207" y="111112"/>
                </a:lnTo>
                <a:lnTo>
                  <a:pt x="197485" y="105156"/>
                </a:lnTo>
                <a:lnTo>
                  <a:pt x="202311" y="103632"/>
                </a:lnTo>
                <a:lnTo>
                  <a:pt x="209169" y="103632"/>
                </a:lnTo>
                <a:lnTo>
                  <a:pt x="211963" y="104775"/>
                </a:lnTo>
                <a:lnTo>
                  <a:pt x="216154" y="109601"/>
                </a:lnTo>
                <a:lnTo>
                  <a:pt x="217170" y="113538"/>
                </a:lnTo>
                <a:lnTo>
                  <a:pt x="217170" y="272923"/>
                </a:lnTo>
                <a:lnTo>
                  <a:pt x="187490" y="299262"/>
                </a:lnTo>
                <a:lnTo>
                  <a:pt x="161417" y="301244"/>
                </a:lnTo>
                <a:lnTo>
                  <a:pt x="161417" y="319405"/>
                </a:lnTo>
                <a:lnTo>
                  <a:pt x="334010" y="319405"/>
                </a:lnTo>
                <a:lnTo>
                  <a:pt x="334010" y="301244"/>
                </a:lnTo>
                <a:close/>
              </a:path>
              <a:path w="1228725" h="1033780">
                <a:moveTo>
                  <a:pt x="716661" y="189052"/>
                </a:moveTo>
                <a:lnTo>
                  <a:pt x="470281" y="189052"/>
                </a:lnTo>
                <a:lnTo>
                  <a:pt x="470281" y="215646"/>
                </a:lnTo>
                <a:lnTo>
                  <a:pt x="716661" y="215646"/>
                </a:lnTo>
                <a:lnTo>
                  <a:pt x="716661" y="189052"/>
                </a:lnTo>
                <a:close/>
              </a:path>
              <a:path w="1228725" h="1033780">
                <a:moveTo>
                  <a:pt x="759206" y="637032"/>
                </a:moveTo>
                <a:lnTo>
                  <a:pt x="685673" y="637032"/>
                </a:lnTo>
                <a:lnTo>
                  <a:pt x="682879" y="650113"/>
                </a:lnTo>
                <a:lnTo>
                  <a:pt x="688721" y="651002"/>
                </a:lnTo>
                <a:lnTo>
                  <a:pt x="692912" y="652653"/>
                </a:lnTo>
                <a:lnTo>
                  <a:pt x="698119" y="657860"/>
                </a:lnTo>
                <a:lnTo>
                  <a:pt x="699516" y="661924"/>
                </a:lnTo>
                <a:lnTo>
                  <a:pt x="699516" y="675132"/>
                </a:lnTo>
                <a:lnTo>
                  <a:pt x="698627" y="683006"/>
                </a:lnTo>
                <a:lnTo>
                  <a:pt x="682879" y="755142"/>
                </a:lnTo>
                <a:lnTo>
                  <a:pt x="674395" y="795337"/>
                </a:lnTo>
                <a:lnTo>
                  <a:pt x="667639" y="831723"/>
                </a:lnTo>
                <a:lnTo>
                  <a:pt x="665099" y="831723"/>
                </a:lnTo>
                <a:lnTo>
                  <a:pt x="660095" y="813346"/>
                </a:lnTo>
                <a:lnTo>
                  <a:pt x="654253" y="793623"/>
                </a:lnTo>
                <a:lnTo>
                  <a:pt x="647573" y="772579"/>
                </a:lnTo>
                <a:lnTo>
                  <a:pt x="601472" y="637032"/>
                </a:lnTo>
                <a:lnTo>
                  <a:pt x="525526" y="637032"/>
                </a:lnTo>
                <a:lnTo>
                  <a:pt x="522732" y="650113"/>
                </a:lnTo>
                <a:lnTo>
                  <a:pt x="528574" y="651002"/>
                </a:lnTo>
                <a:lnTo>
                  <a:pt x="532765" y="652653"/>
                </a:lnTo>
                <a:lnTo>
                  <a:pt x="537972" y="657860"/>
                </a:lnTo>
                <a:lnTo>
                  <a:pt x="539242" y="661924"/>
                </a:lnTo>
                <a:lnTo>
                  <a:pt x="539242" y="675259"/>
                </a:lnTo>
                <a:lnTo>
                  <a:pt x="500253" y="855980"/>
                </a:lnTo>
                <a:lnTo>
                  <a:pt x="480822" y="894588"/>
                </a:lnTo>
                <a:lnTo>
                  <a:pt x="473329" y="896747"/>
                </a:lnTo>
                <a:lnTo>
                  <a:pt x="470535" y="909955"/>
                </a:lnTo>
                <a:lnTo>
                  <a:pt x="544068" y="909955"/>
                </a:lnTo>
                <a:lnTo>
                  <a:pt x="546862" y="896747"/>
                </a:lnTo>
                <a:lnTo>
                  <a:pt x="541020" y="895985"/>
                </a:lnTo>
                <a:lnTo>
                  <a:pt x="536829" y="894207"/>
                </a:lnTo>
                <a:lnTo>
                  <a:pt x="531622" y="889000"/>
                </a:lnTo>
                <a:lnTo>
                  <a:pt x="530225" y="884936"/>
                </a:lnTo>
                <a:lnTo>
                  <a:pt x="530225" y="874268"/>
                </a:lnTo>
                <a:lnTo>
                  <a:pt x="530479" y="870204"/>
                </a:lnTo>
                <a:lnTo>
                  <a:pt x="531241" y="863981"/>
                </a:lnTo>
                <a:lnTo>
                  <a:pt x="553288" y="763143"/>
                </a:lnTo>
                <a:lnTo>
                  <a:pt x="558114" y="739305"/>
                </a:lnTo>
                <a:lnTo>
                  <a:pt x="561721" y="719239"/>
                </a:lnTo>
                <a:lnTo>
                  <a:pt x="564134" y="702945"/>
                </a:lnTo>
                <a:lnTo>
                  <a:pt x="567055" y="703199"/>
                </a:lnTo>
                <a:lnTo>
                  <a:pt x="582383" y="754303"/>
                </a:lnTo>
                <a:lnTo>
                  <a:pt x="635635" y="909955"/>
                </a:lnTo>
                <a:lnTo>
                  <a:pt x="681228" y="909955"/>
                </a:lnTo>
                <a:lnTo>
                  <a:pt x="729488" y="691007"/>
                </a:lnTo>
                <a:lnTo>
                  <a:pt x="731913" y="681037"/>
                </a:lnTo>
                <a:lnTo>
                  <a:pt x="756412" y="650113"/>
                </a:lnTo>
                <a:lnTo>
                  <a:pt x="759206" y="637032"/>
                </a:lnTo>
                <a:close/>
              </a:path>
              <a:path w="1228725" h="1033780">
                <a:moveTo>
                  <a:pt x="1090295" y="86233"/>
                </a:moveTo>
                <a:lnTo>
                  <a:pt x="1070610" y="46863"/>
                </a:lnTo>
                <a:lnTo>
                  <a:pt x="1032764" y="34417"/>
                </a:lnTo>
                <a:lnTo>
                  <a:pt x="1032764" y="74041"/>
                </a:lnTo>
                <a:lnTo>
                  <a:pt x="1032764" y="84074"/>
                </a:lnTo>
                <a:lnTo>
                  <a:pt x="1023061" y="123888"/>
                </a:lnTo>
                <a:lnTo>
                  <a:pt x="995311" y="150812"/>
                </a:lnTo>
                <a:lnTo>
                  <a:pt x="969137" y="159004"/>
                </a:lnTo>
                <a:lnTo>
                  <a:pt x="964565" y="179451"/>
                </a:lnTo>
                <a:lnTo>
                  <a:pt x="997331" y="200202"/>
                </a:lnTo>
                <a:lnTo>
                  <a:pt x="1002538" y="226187"/>
                </a:lnTo>
                <a:lnTo>
                  <a:pt x="1002131" y="236296"/>
                </a:lnTo>
                <a:lnTo>
                  <a:pt x="988466" y="279933"/>
                </a:lnTo>
                <a:lnTo>
                  <a:pt x="952754" y="301752"/>
                </a:lnTo>
                <a:lnTo>
                  <a:pt x="943610" y="301752"/>
                </a:lnTo>
                <a:lnTo>
                  <a:pt x="935863" y="299593"/>
                </a:lnTo>
                <a:lnTo>
                  <a:pt x="929894" y="295021"/>
                </a:lnTo>
                <a:lnTo>
                  <a:pt x="923798" y="290449"/>
                </a:lnTo>
                <a:lnTo>
                  <a:pt x="920750" y="284480"/>
                </a:lnTo>
                <a:lnTo>
                  <a:pt x="920750" y="272034"/>
                </a:lnTo>
                <a:lnTo>
                  <a:pt x="949198" y="141478"/>
                </a:lnTo>
                <a:lnTo>
                  <a:pt x="960399" y="102908"/>
                </a:lnTo>
                <a:lnTo>
                  <a:pt x="981938" y="66141"/>
                </a:lnTo>
                <a:lnTo>
                  <a:pt x="1009396" y="53975"/>
                </a:lnTo>
                <a:lnTo>
                  <a:pt x="1016508" y="53975"/>
                </a:lnTo>
                <a:lnTo>
                  <a:pt x="1022223" y="56515"/>
                </a:lnTo>
                <a:lnTo>
                  <a:pt x="1026414" y="61468"/>
                </a:lnTo>
                <a:lnTo>
                  <a:pt x="1030605" y="66548"/>
                </a:lnTo>
                <a:lnTo>
                  <a:pt x="1032764" y="74041"/>
                </a:lnTo>
                <a:lnTo>
                  <a:pt x="1032764" y="34417"/>
                </a:lnTo>
                <a:lnTo>
                  <a:pt x="1030922" y="34112"/>
                </a:lnTo>
                <a:lnTo>
                  <a:pt x="1013333" y="33274"/>
                </a:lnTo>
                <a:lnTo>
                  <a:pt x="995870" y="34188"/>
                </a:lnTo>
                <a:lnTo>
                  <a:pt x="952246" y="47879"/>
                </a:lnTo>
                <a:lnTo>
                  <a:pt x="920661" y="76454"/>
                </a:lnTo>
                <a:lnTo>
                  <a:pt x="899287" y="118960"/>
                </a:lnTo>
                <a:lnTo>
                  <a:pt x="834009" y="405765"/>
                </a:lnTo>
                <a:lnTo>
                  <a:pt x="890778" y="405765"/>
                </a:lnTo>
                <a:lnTo>
                  <a:pt x="910971" y="313055"/>
                </a:lnTo>
                <a:lnTo>
                  <a:pt x="916305" y="315849"/>
                </a:lnTo>
                <a:lnTo>
                  <a:pt x="959612" y="322580"/>
                </a:lnTo>
                <a:lnTo>
                  <a:pt x="974648" y="321894"/>
                </a:lnTo>
                <a:lnTo>
                  <a:pt x="988745" y="319786"/>
                </a:lnTo>
                <a:lnTo>
                  <a:pt x="1001903" y="316268"/>
                </a:lnTo>
                <a:lnTo>
                  <a:pt x="1009738" y="313055"/>
                </a:lnTo>
                <a:lnTo>
                  <a:pt x="1014095" y="311277"/>
                </a:lnTo>
                <a:lnTo>
                  <a:pt x="1025017" y="305117"/>
                </a:lnTo>
                <a:lnTo>
                  <a:pt x="1029411" y="301752"/>
                </a:lnTo>
                <a:lnTo>
                  <a:pt x="1034554" y="297840"/>
                </a:lnTo>
                <a:lnTo>
                  <a:pt x="1058545" y="258368"/>
                </a:lnTo>
                <a:lnTo>
                  <a:pt x="1061593" y="234061"/>
                </a:lnTo>
                <a:lnTo>
                  <a:pt x="1060831" y="223164"/>
                </a:lnTo>
                <a:lnTo>
                  <a:pt x="1042543" y="188175"/>
                </a:lnTo>
                <a:lnTo>
                  <a:pt x="1012952" y="171831"/>
                </a:lnTo>
                <a:lnTo>
                  <a:pt x="1013333" y="169037"/>
                </a:lnTo>
                <a:lnTo>
                  <a:pt x="1059980" y="146126"/>
                </a:lnTo>
                <a:lnTo>
                  <a:pt x="1085430" y="113106"/>
                </a:lnTo>
                <a:lnTo>
                  <a:pt x="1089075" y="100139"/>
                </a:lnTo>
                <a:lnTo>
                  <a:pt x="1090295" y="86233"/>
                </a:lnTo>
                <a:close/>
              </a:path>
              <a:path w="1228725" h="1033780">
                <a:moveTo>
                  <a:pt x="1116711" y="500380"/>
                </a:moveTo>
                <a:lnTo>
                  <a:pt x="116586" y="500380"/>
                </a:lnTo>
                <a:lnTo>
                  <a:pt x="116586" y="528955"/>
                </a:lnTo>
                <a:lnTo>
                  <a:pt x="1116711" y="528955"/>
                </a:lnTo>
                <a:lnTo>
                  <a:pt x="1116711" y="500380"/>
                </a:lnTo>
                <a:close/>
              </a:path>
              <a:path w="1228725" h="1033780">
                <a:moveTo>
                  <a:pt x="1228471" y="0"/>
                </a:moveTo>
                <a:lnTo>
                  <a:pt x="1125728" y="0"/>
                </a:lnTo>
                <a:lnTo>
                  <a:pt x="1125728" y="19050"/>
                </a:lnTo>
                <a:lnTo>
                  <a:pt x="1189482" y="19050"/>
                </a:lnTo>
                <a:lnTo>
                  <a:pt x="1189482" y="1014730"/>
                </a:lnTo>
                <a:lnTo>
                  <a:pt x="1125728" y="1014730"/>
                </a:lnTo>
                <a:lnTo>
                  <a:pt x="1125728" y="1033780"/>
                </a:lnTo>
                <a:lnTo>
                  <a:pt x="1228471" y="1033780"/>
                </a:lnTo>
                <a:lnTo>
                  <a:pt x="1228471" y="1014730"/>
                </a:lnTo>
                <a:lnTo>
                  <a:pt x="1228471" y="19050"/>
                </a:lnTo>
                <a:lnTo>
                  <a:pt x="12284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4463" y="2780664"/>
            <a:ext cx="208279" cy="1968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706114"/>
            <a:ext cx="323850" cy="40068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621910"/>
            <a:ext cx="323850" cy="40068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13130" y="2813113"/>
            <a:ext cx="7521575" cy="3151505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600710" indent="-229235">
              <a:lnSpc>
                <a:spcPct val="100000"/>
              </a:lnSpc>
              <a:spcBef>
                <a:spcPts val="1480"/>
              </a:spcBef>
              <a:buClr>
                <a:srgbClr val="E66C7C"/>
              </a:buClr>
              <a:buFont typeface="Wingdings"/>
              <a:buChar char=""/>
              <a:tabLst>
                <a:tab pos="600710" algn="l"/>
              </a:tabLst>
            </a:pPr>
            <a:r>
              <a:rPr sz="2400" dirty="0">
                <a:latin typeface="Calibri"/>
                <a:cs typeface="Calibri"/>
              </a:rPr>
              <a:t>where </a:t>
            </a:r>
            <a:r>
              <a:rPr sz="2400" b="1" spc="5" dirty="0">
                <a:latin typeface="Calibri"/>
                <a:cs typeface="Calibri"/>
              </a:rPr>
              <a:t>[(1-</a:t>
            </a:r>
            <a:r>
              <a:rPr sz="2400" b="1" spc="5" dirty="0">
                <a:latin typeface="Symbol"/>
                <a:cs typeface="Symbol"/>
              </a:rPr>
              <a:t></a:t>
            </a:r>
            <a:r>
              <a:rPr sz="2400" b="1" spc="5" dirty="0">
                <a:latin typeface="Calibri"/>
                <a:cs typeface="Calibri"/>
              </a:rPr>
              <a:t>)/N]</a:t>
            </a:r>
            <a:r>
              <a:rPr sz="2325" b="1" spc="7" baseline="-19713" dirty="0">
                <a:latin typeface="Calibri"/>
                <a:cs typeface="Calibri"/>
              </a:rPr>
              <a:t>N </a:t>
            </a:r>
            <a:r>
              <a:rPr sz="2400" spc="-1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a vector </a:t>
            </a:r>
            <a:r>
              <a:rPr sz="2400" spc="-5" dirty="0">
                <a:latin typeface="Calibri"/>
                <a:cs typeface="Calibri"/>
              </a:rPr>
              <a:t>with </a:t>
            </a:r>
            <a:r>
              <a:rPr sz="2400" spc="-20" dirty="0">
                <a:latin typeface="Calibri"/>
                <a:cs typeface="Calibri"/>
              </a:rPr>
              <a:t>all </a:t>
            </a:r>
            <a:r>
              <a:rPr sz="2400" b="1" i="1" dirty="0">
                <a:latin typeface="Calibri"/>
                <a:cs typeface="Calibri"/>
              </a:rPr>
              <a:t>N </a:t>
            </a:r>
            <a:r>
              <a:rPr sz="2400" spc="-5" dirty="0">
                <a:latin typeface="Calibri"/>
                <a:cs typeface="Calibri"/>
              </a:rPr>
              <a:t>entries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b="1" spc="15" dirty="0">
                <a:latin typeface="Calibri"/>
                <a:cs typeface="Calibri"/>
              </a:rPr>
              <a:t>(1-</a:t>
            </a:r>
            <a:r>
              <a:rPr sz="2400" b="1" spc="15" dirty="0">
                <a:latin typeface="Symbol"/>
                <a:cs typeface="Symbol"/>
              </a:rPr>
              <a:t></a:t>
            </a:r>
            <a:r>
              <a:rPr sz="2400" b="1" spc="15" dirty="0">
                <a:latin typeface="Calibri"/>
                <a:cs typeface="Calibri"/>
              </a:rPr>
              <a:t>)/N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875"/>
              </a:spcBef>
            </a:pPr>
            <a:r>
              <a:rPr sz="3200" b="1" i="1" spc="25" dirty="0">
                <a:latin typeface="Calibri"/>
                <a:cs typeface="Calibri"/>
              </a:rPr>
              <a:t>M </a:t>
            </a:r>
            <a:r>
              <a:rPr sz="3200" spc="5" dirty="0">
                <a:latin typeface="Calibri"/>
                <a:cs typeface="Calibri"/>
              </a:rPr>
              <a:t>is </a:t>
            </a:r>
            <a:r>
              <a:rPr sz="3200" spc="10" dirty="0">
                <a:latin typeface="Calibri"/>
                <a:cs typeface="Calibri"/>
              </a:rPr>
              <a:t>a </a:t>
            </a:r>
            <a:r>
              <a:rPr sz="3200" b="1" spc="-15" dirty="0">
                <a:solidFill>
                  <a:srgbClr val="D50092"/>
                </a:solidFill>
                <a:latin typeface="Calibri"/>
                <a:cs typeface="Calibri"/>
              </a:rPr>
              <a:t>sparse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matrix! </a:t>
            </a:r>
            <a:r>
              <a:rPr sz="2400" dirty="0">
                <a:latin typeface="Calibri"/>
                <a:cs typeface="Calibri"/>
              </a:rPr>
              <a:t>(with </a:t>
            </a:r>
            <a:r>
              <a:rPr sz="2400" spc="5" dirty="0">
                <a:latin typeface="Calibri"/>
                <a:cs typeface="Calibri"/>
              </a:rPr>
              <a:t>no</a:t>
            </a:r>
            <a:r>
              <a:rPr sz="2400" spc="-29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dead-ends)</a:t>
            </a:r>
            <a:endParaRPr sz="2400">
              <a:latin typeface="Calibri"/>
              <a:cs typeface="Calibri"/>
            </a:endParaRPr>
          </a:p>
          <a:p>
            <a:pPr marL="333375" indent="-276860">
              <a:lnSpc>
                <a:spcPts val="3115"/>
              </a:lnSpc>
              <a:spcBef>
                <a:spcPts val="445"/>
              </a:spcBef>
              <a:buClr>
                <a:srgbClr val="5FB5CC"/>
              </a:buClr>
              <a:buFont typeface="Wingdings"/>
              <a:buChar char=""/>
              <a:tabLst>
                <a:tab pos="334010" algn="l"/>
              </a:tabLst>
            </a:pPr>
            <a:r>
              <a:rPr sz="2750" spc="15" dirty="0">
                <a:latin typeface="Calibri"/>
                <a:cs typeface="Calibri"/>
              </a:rPr>
              <a:t>10 </a:t>
            </a:r>
            <a:r>
              <a:rPr sz="2750" spc="-15" dirty="0">
                <a:latin typeface="Calibri"/>
                <a:cs typeface="Calibri"/>
              </a:rPr>
              <a:t>links per </a:t>
            </a:r>
            <a:r>
              <a:rPr sz="2750" spc="-5" dirty="0">
                <a:latin typeface="Calibri"/>
                <a:cs typeface="Calibri"/>
              </a:rPr>
              <a:t>node, </a:t>
            </a:r>
            <a:r>
              <a:rPr sz="2750" spc="-15" dirty="0">
                <a:latin typeface="Calibri"/>
                <a:cs typeface="Calibri"/>
              </a:rPr>
              <a:t>approx </a:t>
            </a:r>
            <a:r>
              <a:rPr sz="2750" spc="40" dirty="0">
                <a:latin typeface="Calibri"/>
                <a:cs typeface="Calibri"/>
              </a:rPr>
              <a:t>10</a:t>
            </a:r>
            <a:r>
              <a:rPr sz="2750" spc="40" dirty="0">
                <a:latin typeface="Cambria Math"/>
                <a:cs typeface="Cambria Math"/>
              </a:rPr>
              <a:t>𝑁</a:t>
            </a:r>
            <a:r>
              <a:rPr sz="2750" spc="670" dirty="0">
                <a:latin typeface="Cambria Math"/>
                <a:cs typeface="Cambria Math"/>
              </a:rPr>
              <a:t> </a:t>
            </a:r>
            <a:r>
              <a:rPr sz="2750" spc="-15" dirty="0">
                <a:latin typeface="Calibri"/>
                <a:cs typeface="Calibri"/>
              </a:rPr>
              <a:t>entries</a:t>
            </a:r>
            <a:endParaRPr sz="2750">
              <a:latin typeface="Calibri"/>
              <a:cs typeface="Calibri"/>
            </a:endParaRPr>
          </a:p>
          <a:p>
            <a:pPr marL="38100">
              <a:lnSpc>
                <a:spcPts val="3654"/>
              </a:lnSpc>
            </a:pPr>
            <a:r>
              <a:rPr sz="3200" spc="15" dirty="0">
                <a:latin typeface="Calibri"/>
                <a:cs typeface="Calibri"/>
              </a:rPr>
              <a:t>So </a:t>
            </a:r>
            <a:r>
              <a:rPr sz="3200" spc="10" dirty="0">
                <a:latin typeface="Calibri"/>
                <a:cs typeface="Calibri"/>
              </a:rPr>
              <a:t>in </a:t>
            </a:r>
            <a:r>
              <a:rPr sz="3200" spc="5" dirty="0">
                <a:latin typeface="Calibri"/>
                <a:cs typeface="Calibri"/>
              </a:rPr>
              <a:t>each </a:t>
            </a:r>
            <a:r>
              <a:rPr sz="3200" dirty="0">
                <a:latin typeface="Calibri"/>
                <a:cs typeface="Calibri"/>
              </a:rPr>
              <a:t>iteration, </a:t>
            </a:r>
            <a:r>
              <a:rPr sz="3200" spc="25" dirty="0">
                <a:latin typeface="Calibri"/>
                <a:cs typeface="Calibri"/>
              </a:rPr>
              <a:t>we </a:t>
            </a:r>
            <a:r>
              <a:rPr sz="3200" dirty="0">
                <a:latin typeface="Calibri"/>
                <a:cs typeface="Calibri"/>
              </a:rPr>
              <a:t>need</a:t>
            </a:r>
            <a:r>
              <a:rPr sz="3200" spc="-42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to:</a:t>
            </a:r>
            <a:endParaRPr sz="3200">
              <a:latin typeface="Calibri"/>
              <a:cs typeface="Calibri"/>
            </a:endParaRPr>
          </a:p>
          <a:p>
            <a:pPr marL="333375" indent="-276860">
              <a:lnSpc>
                <a:spcPct val="100000"/>
              </a:lnSpc>
              <a:spcBef>
                <a:spcPts val="290"/>
              </a:spcBef>
              <a:buClr>
                <a:srgbClr val="5FB5CC"/>
              </a:buClr>
              <a:buFont typeface="Wingdings"/>
              <a:buChar char=""/>
              <a:tabLst>
                <a:tab pos="334010" algn="l"/>
              </a:tabLst>
            </a:pPr>
            <a:r>
              <a:rPr sz="2750" spc="10" dirty="0">
                <a:solidFill>
                  <a:srgbClr val="0000FF"/>
                </a:solidFill>
                <a:latin typeface="Calibri"/>
                <a:cs typeface="Calibri"/>
              </a:rPr>
              <a:t>Compute </a:t>
            </a:r>
            <a:r>
              <a:rPr sz="2750" b="1" i="1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2775" baseline="25525" dirty="0">
                <a:solidFill>
                  <a:srgbClr val="0000FF"/>
                </a:solidFill>
                <a:latin typeface="Calibri"/>
                <a:cs typeface="Calibri"/>
              </a:rPr>
              <a:t>new </a:t>
            </a:r>
            <a:r>
              <a:rPr sz="2750" spc="10" dirty="0">
                <a:solidFill>
                  <a:srgbClr val="0000FF"/>
                </a:solidFill>
                <a:latin typeface="Calibri"/>
                <a:cs typeface="Calibri"/>
              </a:rPr>
              <a:t>= </a:t>
            </a:r>
            <a:r>
              <a:rPr sz="2900" i="1" spc="-70" dirty="0">
                <a:solidFill>
                  <a:srgbClr val="0000FF"/>
                </a:solidFill>
                <a:latin typeface="Symbol"/>
                <a:cs typeface="Symbol"/>
              </a:rPr>
              <a:t></a:t>
            </a:r>
            <a:r>
              <a:rPr sz="2900" i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750" b="1" i="1" spc="20" dirty="0">
                <a:solidFill>
                  <a:srgbClr val="0000FF"/>
                </a:solidFill>
                <a:latin typeface="Calibri"/>
                <a:cs typeface="Calibri"/>
              </a:rPr>
              <a:t>M </a:t>
            </a:r>
            <a:r>
              <a:rPr sz="2750" spc="5" dirty="0">
                <a:solidFill>
                  <a:srgbClr val="0000FF"/>
                </a:solidFill>
                <a:latin typeface="Calibri"/>
                <a:cs typeface="Calibri"/>
              </a:rPr>
              <a:t>∙</a:t>
            </a:r>
            <a:r>
              <a:rPr sz="275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50" b="1" i="1" spc="10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2775" spc="15" baseline="25525" dirty="0">
                <a:solidFill>
                  <a:srgbClr val="0000FF"/>
                </a:solidFill>
                <a:latin typeface="Calibri"/>
                <a:cs typeface="Calibri"/>
              </a:rPr>
              <a:t>old</a:t>
            </a:r>
            <a:endParaRPr sz="2775" baseline="25525">
              <a:latin typeface="Calibri"/>
              <a:cs typeface="Calibri"/>
            </a:endParaRPr>
          </a:p>
          <a:p>
            <a:pPr marL="333375" indent="-276860">
              <a:lnSpc>
                <a:spcPct val="100000"/>
              </a:lnSpc>
              <a:spcBef>
                <a:spcPts val="350"/>
              </a:spcBef>
              <a:buClr>
                <a:srgbClr val="5FB5CC"/>
              </a:buClr>
              <a:buFont typeface="Wingdings"/>
              <a:buChar char=""/>
              <a:tabLst>
                <a:tab pos="334010" algn="l"/>
              </a:tabLst>
            </a:pPr>
            <a:r>
              <a:rPr sz="2750" spc="-10" dirty="0">
                <a:latin typeface="Calibri"/>
                <a:cs typeface="Calibri"/>
              </a:rPr>
              <a:t>Add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dirty="0">
                <a:latin typeface="Calibri"/>
                <a:cs typeface="Calibri"/>
              </a:rPr>
              <a:t>constant </a:t>
            </a:r>
            <a:r>
              <a:rPr sz="2750" spc="-15" dirty="0">
                <a:latin typeface="Calibri"/>
                <a:cs typeface="Calibri"/>
              </a:rPr>
              <a:t>value </a:t>
            </a:r>
            <a:r>
              <a:rPr sz="2750" b="1" spc="45" dirty="0">
                <a:latin typeface="Calibri"/>
                <a:cs typeface="Calibri"/>
              </a:rPr>
              <a:t>(1-</a:t>
            </a:r>
            <a:r>
              <a:rPr sz="2750" b="1" spc="45" dirty="0">
                <a:latin typeface="Symbol"/>
                <a:cs typeface="Symbol"/>
              </a:rPr>
              <a:t></a:t>
            </a:r>
            <a:r>
              <a:rPr sz="2750" b="1" spc="45" dirty="0">
                <a:latin typeface="Calibri"/>
                <a:cs typeface="Calibri"/>
              </a:rPr>
              <a:t>)/N </a:t>
            </a:r>
            <a:r>
              <a:rPr sz="2750" spc="-10" dirty="0">
                <a:latin typeface="Calibri"/>
                <a:cs typeface="Calibri"/>
              </a:rPr>
              <a:t>to </a:t>
            </a:r>
            <a:r>
              <a:rPr sz="2750" spc="10" dirty="0">
                <a:latin typeface="Calibri"/>
                <a:cs typeface="Calibri"/>
              </a:rPr>
              <a:t>each </a:t>
            </a:r>
            <a:r>
              <a:rPr sz="2750" spc="-10" dirty="0">
                <a:latin typeface="Calibri"/>
                <a:cs typeface="Calibri"/>
              </a:rPr>
              <a:t>entry in</a:t>
            </a:r>
            <a:r>
              <a:rPr sz="2750" spc="475" dirty="0">
                <a:latin typeface="Calibri"/>
                <a:cs typeface="Calibri"/>
              </a:rPr>
              <a:t> </a:t>
            </a:r>
            <a:r>
              <a:rPr sz="2750" b="1" i="1" dirty="0">
                <a:latin typeface="Calibri"/>
                <a:cs typeface="Calibri"/>
              </a:rPr>
              <a:t>r</a:t>
            </a:r>
            <a:r>
              <a:rPr sz="2775" baseline="25525" dirty="0">
                <a:latin typeface="Calibri"/>
                <a:cs typeface="Calibri"/>
              </a:rPr>
              <a:t>new</a:t>
            </a:r>
            <a:endParaRPr sz="2775" baseline="25525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46886" y="5992177"/>
            <a:ext cx="685673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29235">
              <a:lnSpc>
                <a:spcPct val="100000"/>
              </a:lnSpc>
              <a:spcBef>
                <a:spcPts val="105"/>
              </a:spcBef>
              <a:buClr>
                <a:srgbClr val="E66C7C"/>
              </a:buClr>
              <a:buFont typeface="Wingdings"/>
              <a:buChar char=""/>
              <a:tabLst>
                <a:tab pos="267335" algn="l"/>
              </a:tabLst>
            </a:pP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Note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if M </a:t>
            </a: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contains </a:t>
            </a:r>
            <a:r>
              <a:rPr sz="2400" b="1" spc="-5" dirty="0">
                <a:solidFill>
                  <a:srgbClr val="008000"/>
                </a:solidFill>
                <a:latin typeface="Calibri"/>
                <a:cs typeface="Calibri"/>
              </a:rPr>
              <a:t>dead-ends </a:t>
            </a:r>
            <a:r>
              <a:rPr sz="2400" b="1" spc="-10" dirty="0">
                <a:solidFill>
                  <a:srgbClr val="008000"/>
                </a:solidFill>
                <a:latin typeface="Calibri"/>
                <a:cs typeface="Calibri"/>
              </a:rPr>
              <a:t>then </a:t>
            </a:r>
            <a:r>
              <a:rPr sz="3600" spc="494" baseline="1157" dirty="0">
                <a:solidFill>
                  <a:srgbClr val="008000"/>
                </a:solidFill>
                <a:latin typeface="Cambria Math"/>
                <a:cs typeface="Cambria Math"/>
              </a:rPr>
              <a:t>σ </a:t>
            </a:r>
            <a:r>
              <a:rPr sz="2400" spc="15" dirty="0">
                <a:solidFill>
                  <a:srgbClr val="008000"/>
                </a:solidFill>
                <a:latin typeface="Cambria Math"/>
                <a:cs typeface="Cambria Math"/>
              </a:rPr>
              <a:t>𝒓</a:t>
            </a:r>
            <a:r>
              <a:rPr sz="2550" spc="22" baseline="31045" dirty="0">
                <a:solidFill>
                  <a:srgbClr val="008000"/>
                </a:solidFill>
                <a:latin typeface="Cambria Math"/>
                <a:cs typeface="Cambria Math"/>
              </a:rPr>
              <a:t>𝒏𝒆𝒘 </a:t>
            </a:r>
            <a:r>
              <a:rPr sz="2400" dirty="0">
                <a:solidFill>
                  <a:srgbClr val="008000"/>
                </a:solidFill>
                <a:latin typeface="Cambria Math"/>
                <a:cs typeface="Cambria Math"/>
              </a:rPr>
              <a:t>&lt; 𝟏</a:t>
            </a:r>
            <a:r>
              <a:rPr sz="2400" spc="430" dirty="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sz="2400" b="1" spc="-5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75739" y="6154737"/>
            <a:ext cx="6649084" cy="592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1550035" algn="r">
              <a:lnSpc>
                <a:spcPts val="1795"/>
              </a:lnSpc>
              <a:spcBef>
                <a:spcPts val="125"/>
              </a:spcBef>
              <a:tabLst>
                <a:tab pos="295275" algn="l"/>
              </a:tabLst>
            </a:pPr>
            <a:r>
              <a:rPr sz="1700" spc="10" dirty="0">
                <a:solidFill>
                  <a:srgbClr val="008000"/>
                </a:solidFill>
                <a:latin typeface="Cambria Math"/>
                <a:cs typeface="Cambria Math"/>
              </a:rPr>
              <a:t>𝒋	𝒋</a:t>
            </a:r>
            <a:endParaRPr sz="1700">
              <a:latin typeface="Cambria Math"/>
              <a:cs typeface="Cambria Math"/>
            </a:endParaRPr>
          </a:p>
          <a:p>
            <a:pPr marL="38100">
              <a:lnSpc>
                <a:spcPts val="2635"/>
              </a:lnSpc>
            </a:pP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we </a:t>
            </a:r>
            <a:r>
              <a:rPr sz="2400" b="1" spc="5" dirty="0">
                <a:solidFill>
                  <a:srgbClr val="008000"/>
                </a:solidFill>
                <a:latin typeface="Calibri"/>
                <a:cs typeface="Calibri"/>
              </a:rPr>
              <a:t>also </a:t>
            </a:r>
            <a:r>
              <a:rPr sz="2400" b="1" spc="-5" dirty="0">
                <a:solidFill>
                  <a:srgbClr val="008000"/>
                </a:solidFill>
                <a:latin typeface="Calibri"/>
                <a:cs typeface="Calibri"/>
              </a:rPr>
              <a:t>have to </a:t>
            </a:r>
            <a:r>
              <a:rPr sz="2400" b="1" spc="-15" dirty="0">
                <a:solidFill>
                  <a:srgbClr val="008000"/>
                </a:solidFill>
                <a:latin typeface="Calibri"/>
                <a:cs typeface="Calibri"/>
              </a:rPr>
              <a:t>renormalize </a:t>
            </a:r>
            <a:r>
              <a:rPr sz="2400" b="1" i="1" spc="5" dirty="0">
                <a:solidFill>
                  <a:srgbClr val="008000"/>
                </a:solidFill>
                <a:latin typeface="Calibri"/>
                <a:cs typeface="Calibri"/>
              </a:rPr>
              <a:t>r</a:t>
            </a:r>
            <a:r>
              <a:rPr sz="2325" b="1" spc="7" baseline="26881" dirty="0">
                <a:solidFill>
                  <a:srgbClr val="008000"/>
                </a:solidFill>
                <a:latin typeface="Calibri"/>
                <a:cs typeface="Calibri"/>
              </a:rPr>
              <a:t>new </a:t>
            </a:r>
            <a:r>
              <a:rPr sz="2400" b="1" spc="5" dirty="0">
                <a:solidFill>
                  <a:srgbClr val="008000"/>
                </a:solidFill>
                <a:latin typeface="Calibri"/>
                <a:cs typeface="Calibri"/>
              </a:rPr>
              <a:t>so </a:t>
            </a:r>
            <a:r>
              <a:rPr sz="2400" b="1" spc="-5" dirty="0">
                <a:solidFill>
                  <a:srgbClr val="008000"/>
                </a:solidFill>
                <a:latin typeface="Calibri"/>
                <a:cs typeface="Calibri"/>
              </a:rPr>
              <a:t>that </a:t>
            </a:r>
            <a:r>
              <a:rPr sz="2400" b="1" spc="5" dirty="0">
                <a:solidFill>
                  <a:srgbClr val="008000"/>
                </a:solidFill>
                <a:latin typeface="Calibri"/>
                <a:cs typeface="Calibri"/>
              </a:rPr>
              <a:t>it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sums to</a:t>
            </a:r>
            <a:r>
              <a:rPr sz="2400" b="1" spc="-2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4350" y="2876550"/>
            <a:ext cx="7277100" cy="3390900"/>
            <a:chOff x="514350" y="2876550"/>
            <a:chExt cx="7277100" cy="3390900"/>
          </a:xfrm>
        </p:grpSpPr>
        <p:sp>
          <p:nvSpPr>
            <p:cNvPr id="3" name="object 3"/>
            <p:cNvSpPr/>
            <p:nvPr/>
          </p:nvSpPr>
          <p:spPr>
            <a:xfrm>
              <a:off x="533400" y="2895600"/>
              <a:ext cx="7239000" cy="3352800"/>
            </a:xfrm>
            <a:custGeom>
              <a:avLst/>
              <a:gdLst/>
              <a:ahLst/>
              <a:cxnLst/>
              <a:rect l="l" t="t" r="r" b="b"/>
              <a:pathLst>
                <a:path w="7239000" h="3352800">
                  <a:moveTo>
                    <a:pt x="7239000" y="0"/>
                  </a:moveTo>
                  <a:lnTo>
                    <a:pt x="0" y="0"/>
                  </a:lnTo>
                  <a:lnTo>
                    <a:pt x="0" y="3352800"/>
                  </a:lnTo>
                  <a:lnTo>
                    <a:pt x="7239000" y="3352800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FFEF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3400" y="2895600"/>
              <a:ext cx="7239000" cy="3352800"/>
            </a:xfrm>
            <a:custGeom>
              <a:avLst/>
              <a:gdLst/>
              <a:ahLst/>
              <a:cxnLst/>
              <a:rect l="l" t="t" r="r" b="b"/>
              <a:pathLst>
                <a:path w="7239000" h="3352800">
                  <a:moveTo>
                    <a:pt x="0" y="3352800"/>
                  </a:moveTo>
                  <a:lnTo>
                    <a:pt x="7239000" y="3352800"/>
                  </a:lnTo>
                  <a:lnTo>
                    <a:pt x="7239000" y="0"/>
                  </a:lnTo>
                  <a:lnTo>
                    <a:pt x="0" y="0"/>
                  </a:lnTo>
                  <a:lnTo>
                    <a:pt x="0" y="3352800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352361"/>
            <a:ext cx="7996301" cy="5381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378838"/>
            <a:ext cx="304800" cy="37211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38530" y="1270888"/>
            <a:ext cx="514731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1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Input:</a:t>
            </a: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30" dirty="0">
                <a:solidFill>
                  <a:srgbClr val="0000FF"/>
                </a:solidFill>
                <a:latin typeface="Calibri"/>
                <a:cs typeface="Calibri"/>
              </a:rPr>
              <a:t>Graph </a:t>
            </a:r>
            <a:r>
              <a:rPr sz="3000" dirty="0">
                <a:solidFill>
                  <a:srgbClr val="0000FF"/>
                </a:solidFill>
                <a:latin typeface="Cambria Math"/>
                <a:cs typeface="Cambria Math"/>
              </a:rPr>
              <a:t>𝑮 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and parameter</a:t>
            </a:r>
            <a:r>
              <a:rPr sz="3000" b="1" spc="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FF"/>
                </a:solidFill>
                <a:latin typeface="Cambria Math"/>
                <a:cs typeface="Cambria Math"/>
              </a:rPr>
              <a:t>𝜷</a:t>
            </a:r>
            <a:endParaRPr sz="3000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533014"/>
            <a:ext cx="304800" cy="37211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00430" y="1729041"/>
            <a:ext cx="7891145" cy="1179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6075" indent="-276860">
              <a:lnSpc>
                <a:spcPts val="3100"/>
              </a:lnSpc>
              <a:spcBef>
                <a:spcPts val="125"/>
              </a:spcBef>
              <a:buClr>
                <a:srgbClr val="5FB5CC"/>
              </a:buClr>
              <a:buFont typeface="Wingdings"/>
              <a:buChar char=""/>
              <a:tabLst>
                <a:tab pos="346710" algn="l"/>
              </a:tabLst>
            </a:pPr>
            <a:r>
              <a:rPr sz="2600" spc="5" dirty="0">
                <a:latin typeface="Calibri"/>
                <a:cs typeface="Calibri"/>
              </a:rPr>
              <a:t>Directed </a:t>
            </a:r>
            <a:r>
              <a:rPr sz="2600" spc="-20" dirty="0">
                <a:latin typeface="Calibri"/>
                <a:cs typeface="Calibri"/>
              </a:rPr>
              <a:t>graph </a:t>
            </a:r>
            <a:r>
              <a:rPr sz="2600" spc="15" dirty="0">
                <a:latin typeface="Cambria Math"/>
                <a:cs typeface="Cambria Math"/>
              </a:rPr>
              <a:t>𝑮 </a:t>
            </a:r>
            <a:r>
              <a:rPr sz="2600" spc="20" dirty="0">
                <a:latin typeface="Calibri"/>
                <a:cs typeface="Calibri"/>
              </a:rPr>
              <a:t>(can </a:t>
            </a:r>
            <a:r>
              <a:rPr sz="2600" spc="-10" dirty="0">
                <a:latin typeface="Calibri"/>
                <a:cs typeface="Calibri"/>
              </a:rPr>
              <a:t>have </a:t>
            </a:r>
            <a:r>
              <a:rPr sz="2600" b="1" spc="20" dirty="0">
                <a:latin typeface="Calibri"/>
                <a:cs typeface="Calibri"/>
              </a:rPr>
              <a:t>spider</a:t>
            </a:r>
            <a:r>
              <a:rPr sz="2600" b="1" spc="-46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traps </a:t>
            </a:r>
            <a:r>
              <a:rPr sz="2600" spc="5" dirty="0">
                <a:latin typeface="Calibri"/>
                <a:cs typeface="Calibri"/>
              </a:rPr>
              <a:t>and </a:t>
            </a:r>
            <a:r>
              <a:rPr sz="2600" b="1" spc="15" dirty="0">
                <a:latin typeface="Calibri"/>
                <a:cs typeface="Calibri"/>
              </a:rPr>
              <a:t>dead </a:t>
            </a:r>
            <a:r>
              <a:rPr sz="2600" b="1" spc="20" dirty="0">
                <a:latin typeface="Calibri"/>
                <a:cs typeface="Calibri"/>
              </a:rPr>
              <a:t>ends</a:t>
            </a:r>
            <a:r>
              <a:rPr sz="2600" spc="2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marL="346075" indent="-276860">
              <a:lnSpc>
                <a:spcPts val="2730"/>
              </a:lnSpc>
              <a:buClr>
                <a:srgbClr val="5FB5CC"/>
              </a:buClr>
              <a:buFont typeface="Wingdings"/>
              <a:buChar char=""/>
              <a:tabLst>
                <a:tab pos="346710" algn="l"/>
              </a:tabLst>
            </a:pPr>
            <a:r>
              <a:rPr sz="2600" spc="-15" dirty="0">
                <a:latin typeface="Calibri"/>
                <a:cs typeface="Calibri"/>
              </a:rPr>
              <a:t>Parameter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15" dirty="0">
                <a:latin typeface="Cambria Math"/>
                <a:cs typeface="Cambria Math"/>
              </a:rPr>
              <a:t>𝜷</a:t>
            </a:r>
            <a:endParaRPr sz="2600">
              <a:latin typeface="Cambria Math"/>
              <a:cs typeface="Cambria Math"/>
            </a:endParaRPr>
          </a:p>
          <a:p>
            <a:pPr marL="50800">
              <a:lnSpc>
                <a:spcPts val="3229"/>
              </a:lnSpc>
            </a:pPr>
            <a:r>
              <a:rPr sz="3000" b="1" u="heavy" spc="-15" dirty="0">
                <a:solidFill>
                  <a:srgbClr val="D50092"/>
                </a:solidFill>
                <a:uFill>
                  <a:solidFill>
                    <a:srgbClr val="D50092"/>
                  </a:solidFill>
                </a:uFill>
                <a:latin typeface="Calibri"/>
                <a:cs typeface="Calibri"/>
              </a:rPr>
              <a:t>Output:</a:t>
            </a:r>
            <a:r>
              <a:rPr sz="3000" b="1" spc="-1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D50092"/>
                </a:solidFill>
                <a:latin typeface="Calibri"/>
                <a:cs typeface="Calibri"/>
              </a:rPr>
              <a:t>PageRank </a:t>
            </a:r>
            <a:r>
              <a:rPr sz="3000" b="1" spc="5" dirty="0">
                <a:solidFill>
                  <a:srgbClr val="D50092"/>
                </a:solidFill>
                <a:latin typeface="Calibri"/>
                <a:cs typeface="Calibri"/>
              </a:rPr>
              <a:t>vector</a:t>
            </a:r>
            <a:r>
              <a:rPr sz="3000" b="1" spc="-1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000" spc="5" dirty="0">
                <a:solidFill>
                  <a:srgbClr val="D50092"/>
                </a:solidFill>
                <a:latin typeface="Cambria Math"/>
                <a:cs typeface="Cambria Math"/>
              </a:rPr>
              <a:t>𝒓</a:t>
            </a:r>
            <a:r>
              <a:rPr sz="3225" spc="7" baseline="28423" dirty="0">
                <a:solidFill>
                  <a:srgbClr val="D50092"/>
                </a:solidFill>
                <a:latin typeface="Cambria Math"/>
                <a:cs typeface="Cambria Math"/>
              </a:rPr>
              <a:t>𝒏𝒆𝒘</a:t>
            </a:r>
            <a:endParaRPr sz="3225" baseline="28423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42845" y="3150298"/>
            <a:ext cx="129539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50" spc="595" dirty="0">
                <a:latin typeface="Cambria Math"/>
                <a:cs typeface="Cambria Math"/>
              </a:rPr>
              <a:t>𝑗</a:t>
            </a:r>
            <a:endParaRPr sz="19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4880" y="2988246"/>
            <a:ext cx="151003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01625" indent="-276860">
              <a:lnSpc>
                <a:spcPct val="100000"/>
              </a:lnSpc>
              <a:spcBef>
                <a:spcPts val="125"/>
              </a:spcBef>
              <a:buClr>
                <a:srgbClr val="5FB5CC"/>
              </a:buClr>
              <a:buFont typeface="Wingdings"/>
              <a:buChar char=""/>
              <a:tabLst>
                <a:tab pos="302260" algn="l"/>
              </a:tabLst>
            </a:pPr>
            <a:r>
              <a:rPr sz="2600" b="1" spc="20" dirty="0">
                <a:latin typeface="Calibri"/>
                <a:cs typeface="Calibri"/>
              </a:rPr>
              <a:t>Set:</a:t>
            </a:r>
            <a:r>
              <a:rPr sz="2600" b="1" spc="-160" dirty="0">
                <a:latin typeface="Calibri"/>
                <a:cs typeface="Calibri"/>
              </a:rPr>
              <a:t> </a:t>
            </a:r>
            <a:r>
              <a:rPr sz="2600" spc="110" dirty="0">
                <a:latin typeface="Cambria Math"/>
                <a:cs typeface="Cambria Math"/>
              </a:rPr>
              <a:t>𝑟</a:t>
            </a:r>
            <a:r>
              <a:rPr sz="2925" spc="165" baseline="29914" dirty="0">
                <a:latin typeface="Cambria Math"/>
                <a:cs typeface="Cambria Math"/>
              </a:rPr>
              <a:t>𝑜𝑙𝑑</a:t>
            </a:r>
            <a:endParaRPr sz="2925" baseline="29914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21889" y="3225164"/>
            <a:ext cx="190500" cy="19050"/>
          </a:xfrm>
          <a:custGeom>
            <a:avLst/>
            <a:gdLst/>
            <a:ahLst/>
            <a:cxnLst/>
            <a:rect l="l" t="t" r="r" b="b"/>
            <a:pathLst>
              <a:path w="190500" h="19050">
                <a:moveTo>
                  <a:pt x="190500" y="0"/>
                </a:moveTo>
                <a:lnTo>
                  <a:pt x="0" y="0"/>
                </a:lnTo>
                <a:lnTo>
                  <a:pt x="0" y="19050"/>
                </a:lnTo>
                <a:lnTo>
                  <a:pt x="190500" y="19050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56129" y="2787967"/>
            <a:ext cx="56959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3900" spc="30" baseline="-34188" dirty="0">
                <a:latin typeface="Cambria Math"/>
                <a:cs typeface="Cambria Math"/>
              </a:rPr>
              <a:t>=</a:t>
            </a:r>
            <a:r>
              <a:rPr sz="3900" spc="359" baseline="-34188" dirty="0">
                <a:latin typeface="Cambria Math"/>
                <a:cs typeface="Cambria Math"/>
              </a:rPr>
              <a:t> </a:t>
            </a:r>
            <a:r>
              <a:rPr sz="1950" spc="50" dirty="0">
                <a:latin typeface="Cambria Math"/>
                <a:cs typeface="Cambria Math"/>
              </a:rPr>
              <a:t>1</a:t>
            </a:r>
            <a:endParaRPr sz="19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4810" y="3245421"/>
            <a:ext cx="20066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50" spc="65" dirty="0">
                <a:latin typeface="Cambria Math"/>
                <a:cs typeface="Cambria Math"/>
              </a:rPr>
              <a:t>𝑁</a:t>
            </a:r>
            <a:endParaRPr sz="195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72172" y="3538220"/>
            <a:ext cx="25400" cy="403225"/>
          </a:xfrm>
          <a:custGeom>
            <a:avLst/>
            <a:gdLst/>
            <a:ahLst/>
            <a:cxnLst/>
            <a:rect l="l" t="t" r="r" b="b"/>
            <a:pathLst>
              <a:path w="25400" h="403225">
                <a:moveTo>
                  <a:pt x="25019" y="0"/>
                </a:moveTo>
                <a:lnTo>
                  <a:pt x="0" y="0"/>
                </a:lnTo>
                <a:lnTo>
                  <a:pt x="0" y="402716"/>
                </a:lnTo>
                <a:lnTo>
                  <a:pt x="25019" y="402716"/>
                </a:lnTo>
                <a:lnTo>
                  <a:pt x="250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10047" y="3538220"/>
            <a:ext cx="25400" cy="403225"/>
          </a:xfrm>
          <a:custGeom>
            <a:avLst/>
            <a:gdLst/>
            <a:ahLst/>
            <a:cxnLst/>
            <a:rect l="l" t="t" r="r" b="b"/>
            <a:pathLst>
              <a:path w="25400" h="403225">
                <a:moveTo>
                  <a:pt x="25018" y="0"/>
                </a:moveTo>
                <a:lnTo>
                  <a:pt x="0" y="0"/>
                </a:lnTo>
                <a:lnTo>
                  <a:pt x="0" y="402716"/>
                </a:lnTo>
                <a:lnTo>
                  <a:pt x="25018" y="402716"/>
                </a:lnTo>
                <a:lnTo>
                  <a:pt x="250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375275" y="3655631"/>
            <a:ext cx="1207135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76960" algn="l"/>
              </a:tabLst>
            </a:pPr>
            <a:r>
              <a:rPr sz="1950" spc="595" dirty="0">
                <a:latin typeface="Cambria Math"/>
                <a:cs typeface="Cambria Math"/>
              </a:rPr>
              <a:t>𝑗	𝑗</a:t>
            </a:r>
            <a:endParaRPr sz="19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4880" y="3493706"/>
            <a:ext cx="601980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01625" indent="-276860">
              <a:lnSpc>
                <a:spcPct val="100000"/>
              </a:lnSpc>
              <a:spcBef>
                <a:spcPts val="125"/>
              </a:spcBef>
              <a:buClr>
                <a:srgbClr val="5FB5CC"/>
              </a:buClr>
              <a:buFont typeface="Wingdings"/>
              <a:buChar char=""/>
              <a:tabLst>
                <a:tab pos="302260" algn="l"/>
              </a:tabLst>
            </a:pPr>
            <a:r>
              <a:rPr sz="2600" b="1" spc="10" dirty="0">
                <a:solidFill>
                  <a:srgbClr val="008000"/>
                </a:solidFill>
                <a:latin typeface="Calibri"/>
                <a:cs typeface="Calibri"/>
              </a:rPr>
              <a:t>repeat </a:t>
            </a:r>
            <a:r>
              <a:rPr sz="2600" b="1" spc="15" dirty="0">
                <a:solidFill>
                  <a:srgbClr val="008000"/>
                </a:solidFill>
                <a:latin typeface="Calibri"/>
                <a:cs typeface="Calibri"/>
              </a:rPr>
              <a:t>until </a:t>
            </a:r>
            <a:r>
              <a:rPr sz="2600" b="1" spc="5" dirty="0">
                <a:solidFill>
                  <a:srgbClr val="008000"/>
                </a:solidFill>
                <a:latin typeface="Calibri"/>
                <a:cs typeface="Calibri"/>
              </a:rPr>
              <a:t>convergence: </a:t>
            </a:r>
            <a:r>
              <a:rPr sz="3900" spc="450" baseline="1068" dirty="0">
                <a:latin typeface="Cambria Math"/>
                <a:cs typeface="Cambria Math"/>
              </a:rPr>
              <a:t>σ</a:t>
            </a:r>
            <a:r>
              <a:rPr sz="2925" spc="450" baseline="-17094" dirty="0">
                <a:latin typeface="Cambria Math"/>
                <a:cs typeface="Cambria Math"/>
              </a:rPr>
              <a:t>𝑗 </a:t>
            </a:r>
            <a:r>
              <a:rPr sz="2600" spc="145" dirty="0">
                <a:latin typeface="Cambria Math"/>
                <a:cs typeface="Cambria Math"/>
              </a:rPr>
              <a:t>𝑟</a:t>
            </a:r>
            <a:r>
              <a:rPr sz="2925" spc="217" baseline="29914" dirty="0">
                <a:latin typeface="Cambria Math"/>
                <a:cs typeface="Cambria Math"/>
              </a:rPr>
              <a:t>𝑛𝑒𝑤 </a:t>
            </a:r>
            <a:r>
              <a:rPr sz="2600" spc="20" dirty="0">
                <a:latin typeface="Cambria Math"/>
                <a:cs typeface="Cambria Math"/>
              </a:rPr>
              <a:t>−</a:t>
            </a:r>
            <a:r>
              <a:rPr sz="2600" spc="-350" dirty="0">
                <a:latin typeface="Cambria Math"/>
                <a:cs typeface="Cambria Math"/>
              </a:rPr>
              <a:t> </a:t>
            </a:r>
            <a:r>
              <a:rPr sz="2600" spc="110" dirty="0">
                <a:latin typeface="Cambria Math"/>
                <a:cs typeface="Cambria Math"/>
              </a:rPr>
              <a:t>𝑟</a:t>
            </a:r>
            <a:r>
              <a:rPr sz="2925" spc="165" baseline="29914" dirty="0">
                <a:latin typeface="Cambria Math"/>
                <a:cs typeface="Cambria Math"/>
              </a:rPr>
              <a:t>𝑜𝑙𝑑</a:t>
            </a:r>
            <a:endParaRPr sz="2925" baseline="29914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9780" y="3493706"/>
            <a:ext cx="49847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600" spc="20" dirty="0">
                <a:latin typeface="Cambria Math"/>
                <a:cs typeface="Cambria Math"/>
              </a:rPr>
              <a:t>&lt;</a:t>
            </a:r>
            <a:r>
              <a:rPr sz="2600" dirty="0">
                <a:latin typeface="Cambria Math"/>
                <a:cs typeface="Cambria Math"/>
              </a:rPr>
              <a:t> </a:t>
            </a:r>
            <a:r>
              <a:rPr sz="2600" spc="10" dirty="0">
                <a:latin typeface="Cambria Math"/>
                <a:cs typeface="Cambria Math"/>
              </a:rPr>
              <a:t>𝜀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90750" y="4066158"/>
            <a:ext cx="41783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55" dirty="0">
                <a:latin typeface="Cambria Math"/>
                <a:cs typeface="Cambria Math"/>
              </a:rPr>
              <a:t>𝒏𝒆</a:t>
            </a:r>
            <a:r>
              <a:rPr sz="1550" spc="25" dirty="0">
                <a:latin typeface="Cambria Math"/>
                <a:cs typeface="Cambria Math"/>
              </a:rPr>
              <a:t>𝒘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6886" y="4103941"/>
            <a:ext cx="196024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6700" indent="-229235">
              <a:lnSpc>
                <a:spcPct val="100000"/>
              </a:lnSpc>
              <a:spcBef>
                <a:spcPts val="125"/>
              </a:spcBef>
              <a:buClr>
                <a:srgbClr val="E66C7C"/>
              </a:buClr>
              <a:buFont typeface="Wingdings"/>
              <a:buChar char=""/>
              <a:tabLst>
                <a:tab pos="267335" algn="l"/>
                <a:tab pos="1439545" algn="l"/>
              </a:tabLst>
            </a:pPr>
            <a:r>
              <a:rPr sz="2150" spc="15" dirty="0">
                <a:latin typeface="Cambria Math"/>
                <a:cs typeface="Cambria Math"/>
              </a:rPr>
              <a:t>∀𝑗:</a:t>
            </a:r>
            <a:r>
              <a:rPr sz="2150" spc="385" dirty="0">
                <a:latin typeface="Cambria Math"/>
                <a:cs typeface="Cambria Math"/>
              </a:rPr>
              <a:t> </a:t>
            </a:r>
            <a:r>
              <a:rPr sz="2150" spc="5" dirty="0">
                <a:latin typeface="Cambria Math"/>
                <a:cs typeface="Cambria Math"/>
              </a:rPr>
              <a:t>𝒓′</a:t>
            </a:r>
            <a:r>
              <a:rPr sz="2325" spc="7" baseline="-21505" dirty="0">
                <a:latin typeface="Cambria Math"/>
                <a:cs typeface="Cambria Math"/>
              </a:rPr>
              <a:t>𝒋	</a:t>
            </a:r>
            <a:r>
              <a:rPr sz="2150" spc="20" dirty="0">
                <a:latin typeface="Cambria Math"/>
                <a:cs typeface="Cambria Math"/>
              </a:rPr>
              <a:t>=</a:t>
            </a:r>
            <a:r>
              <a:rPr sz="2150" spc="85" dirty="0">
                <a:latin typeface="Cambria Math"/>
                <a:cs typeface="Cambria Math"/>
              </a:rPr>
              <a:t> </a:t>
            </a:r>
            <a:r>
              <a:rPr sz="3225" spc="465" baseline="1291" dirty="0">
                <a:latin typeface="Cambria Math"/>
                <a:cs typeface="Cambria Math"/>
              </a:rPr>
              <a:t>σ</a:t>
            </a:r>
            <a:endParaRPr sz="3225" baseline="1291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47441" y="4180268"/>
            <a:ext cx="62293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spc="25" dirty="0">
                <a:latin typeface="Cambria Math"/>
                <a:cs typeface="Cambria Math"/>
              </a:rPr>
              <a:t>𝒊→𝒋</a:t>
            </a:r>
            <a:r>
              <a:rPr sz="1550" spc="-35" dirty="0">
                <a:latin typeface="Cambria Math"/>
                <a:cs typeface="Cambria Math"/>
              </a:rPr>
              <a:t> </a:t>
            </a:r>
            <a:r>
              <a:rPr sz="3225" spc="22" baseline="15503" dirty="0">
                <a:latin typeface="Cambria Math"/>
                <a:cs typeface="Cambria Math"/>
              </a:rPr>
              <a:t>𝜷</a:t>
            </a:r>
            <a:endParaRPr sz="3225" baseline="15503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45254" y="4113783"/>
            <a:ext cx="28511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271780" algn="l"/>
              </a:tabLst>
            </a:pPr>
            <a:r>
              <a:rPr sz="1250" u="heavy" spc="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𝒊	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10889" y="3922712"/>
            <a:ext cx="43878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875" u="heavy" spc="-427" baseline="-5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25" spc="30" baseline="-26881" dirty="0">
                <a:latin typeface="Cambria Math"/>
                <a:cs typeface="Cambria Math"/>
              </a:rPr>
              <a:t>𝒓</a:t>
            </a:r>
            <a:r>
              <a:rPr sz="1250" spc="20" dirty="0">
                <a:latin typeface="Cambria Math"/>
                <a:cs typeface="Cambria Math"/>
              </a:rPr>
              <a:t>𝒐𝒍𝒅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10329" y="4323397"/>
            <a:ext cx="2571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spc="25" dirty="0">
                <a:latin typeface="Cambria Math"/>
                <a:cs typeface="Cambria Math"/>
              </a:rPr>
              <a:t>𝒅</a:t>
            </a:r>
            <a:r>
              <a:rPr sz="1875" spc="37" baseline="-13333" dirty="0">
                <a:latin typeface="Cambria Math"/>
                <a:cs typeface="Cambria Math"/>
              </a:rPr>
              <a:t>𝒊</a:t>
            </a:r>
            <a:endParaRPr sz="1875" baseline="-13333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55419" y="4542853"/>
            <a:ext cx="356997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2150" spc="20" dirty="0">
                <a:latin typeface="Cambria Math"/>
                <a:cs typeface="Cambria Math"/>
              </a:rPr>
              <a:t>𝒓′</a:t>
            </a:r>
            <a:r>
              <a:rPr sz="2325" spc="30" baseline="32258" dirty="0">
                <a:latin typeface="Cambria Math"/>
                <a:cs typeface="Cambria Math"/>
              </a:rPr>
              <a:t>𝒏𝒆𝒘 </a:t>
            </a:r>
            <a:r>
              <a:rPr sz="2150" spc="20" dirty="0">
                <a:latin typeface="Cambria Math"/>
                <a:cs typeface="Cambria Math"/>
              </a:rPr>
              <a:t>= </a:t>
            </a:r>
            <a:r>
              <a:rPr sz="2150" spc="15" dirty="0">
                <a:latin typeface="Cambria Math"/>
                <a:cs typeface="Cambria Math"/>
              </a:rPr>
              <a:t>𝟎 </a:t>
            </a:r>
            <a:r>
              <a:rPr sz="2150" spc="15" dirty="0">
                <a:latin typeface="Calibri"/>
                <a:cs typeface="Calibri"/>
              </a:rPr>
              <a:t>if </a:t>
            </a:r>
            <a:r>
              <a:rPr sz="2150" dirty="0">
                <a:latin typeface="Calibri"/>
                <a:cs typeface="Calibri"/>
              </a:rPr>
              <a:t>in-degree </a:t>
            </a:r>
            <a:r>
              <a:rPr sz="2150" spc="-5" dirty="0">
                <a:latin typeface="Calibri"/>
                <a:cs typeface="Calibri"/>
              </a:rPr>
              <a:t>of </a:t>
            </a:r>
            <a:r>
              <a:rPr sz="2150" spc="10" dirty="0">
                <a:latin typeface="Cambria Math"/>
                <a:cs typeface="Cambria Math"/>
              </a:rPr>
              <a:t>𝒋 </a:t>
            </a:r>
            <a:r>
              <a:rPr sz="2150" spc="20" dirty="0">
                <a:latin typeface="Calibri"/>
                <a:cs typeface="Calibri"/>
              </a:rPr>
              <a:t>is</a:t>
            </a:r>
            <a:r>
              <a:rPr sz="2150" spc="340" dirty="0">
                <a:latin typeface="Calibri"/>
                <a:cs typeface="Calibri"/>
              </a:rPr>
              <a:t> </a:t>
            </a:r>
            <a:r>
              <a:rPr sz="2150" b="1" spc="10" dirty="0">
                <a:latin typeface="Calibri"/>
                <a:cs typeface="Calibri"/>
              </a:rPr>
              <a:t>0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84986" y="4695126"/>
            <a:ext cx="4363720" cy="567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15035">
              <a:lnSpc>
                <a:spcPts val="1760"/>
              </a:lnSpc>
              <a:spcBef>
                <a:spcPts val="125"/>
              </a:spcBef>
            </a:pPr>
            <a:r>
              <a:rPr sz="1550" spc="10" dirty="0">
                <a:latin typeface="Cambria Math"/>
                <a:cs typeface="Cambria Math"/>
              </a:rPr>
              <a:t>𝒋</a:t>
            </a:r>
            <a:endParaRPr sz="1550">
              <a:latin typeface="Cambria Math"/>
              <a:cs typeface="Cambria Math"/>
            </a:endParaRPr>
          </a:p>
          <a:p>
            <a:pPr marL="228600" indent="-229235">
              <a:lnSpc>
                <a:spcPts val="2480"/>
              </a:lnSpc>
              <a:buClr>
                <a:srgbClr val="E66C7C"/>
              </a:buClr>
              <a:buFont typeface="Wingdings"/>
              <a:buChar char=""/>
              <a:tabLst>
                <a:tab pos="229235" algn="l"/>
              </a:tabLst>
            </a:pPr>
            <a:r>
              <a:rPr sz="2150" b="1" spc="20" dirty="0">
                <a:solidFill>
                  <a:srgbClr val="008000"/>
                </a:solidFill>
                <a:latin typeface="Calibri"/>
                <a:cs typeface="Calibri"/>
              </a:rPr>
              <a:t>Now </a:t>
            </a:r>
            <a:r>
              <a:rPr sz="2150" b="1" spc="15" dirty="0">
                <a:solidFill>
                  <a:srgbClr val="008000"/>
                </a:solidFill>
                <a:latin typeface="Calibri"/>
                <a:cs typeface="Calibri"/>
              </a:rPr>
              <a:t>re-insert the </a:t>
            </a:r>
            <a:r>
              <a:rPr sz="2150" b="1" dirty="0">
                <a:solidFill>
                  <a:srgbClr val="008000"/>
                </a:solidFill>
                <a:latin typeface="Calibri"/>
                <a:cs typeface="Calibri"/>
              </a:rPr>
              <a:t>leaked</a:t>
            </a:r>
            <a:r>
              <a:rPr sz="2150" b="1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008000"/>
                </a:solidFill>
                <a:latin typeface="Calibri"/>
                <a:cs typeface="Calibri"/>
              </a:rPr>
              <a:t>PageRank: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72841" y="5467984"/>
            <a:ext cx="908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25" dirty="0">
                <a:latin typeface="Cambria Math"/>
                <a:cs typeface="Cambria Math"/>
              </a:rPr>
              <a:t>𝒋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922014" y="5530215"/>
            <a:ext cx="390525" cy="19050"/>
          </a:xfrm>
          <a:custGeom>
            <a:avLst/>
            <a:gdLst/>
            <a:ahLst/>
            <a:cxnLst/>
            <a:rect l="l" t="t" r="r" b="b"/>
            <a:pathLst>
              <a:path w="390525" h="19050">
                <a:moveTo>
                  <a:pt x="390525" y="0"/>
                </a:moveTo>
                <a:lnTo>
                  <a:pt x="0" y="0"/>
                </a:lnTo>
                <a:lnTo>
                  <a:pt x="0" y="19050"/>
                </a:lnTo>
                <a:lnTo>
                  <a:pt x="390525" y="19050"/>
                </a:lnTo>
                <a:lnTo>
                  <a:pt x="390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517014" y="5334000"/>
            <a:ext cx="28276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2150" spc="20" dirty="0">
                <a:latin typeface="Cambria Math"/>
                <a:cs typeface="Cambria Math"/>
              </a:rPr>
              <a:t>∀𝒋: </a:t>
            </a:r>
            <a:r>
              <a:rPr sz="2150" spc="35" dirty="0">
                <a:latin typeface="Cambria Math"/>
                <a:cs typeface="Cambria Math"/>
              </a:rPr>
              <a:t>𝒓</a:t>
            </a:r>
            <a:r>
              <a:rPr sz="2325" spc="52" baseline="32258" dirty="0">
                <a:latin typeface="Cambria Math"/>
                <a:cs typeface="Cambria Math"/>
              </a:rPr>
              <a:t>𝒏𝒆𝒘 </a:t>
            </a:r>
            <a:r>
              <a:rPr sz="2150" spc="20" dirty="0">
                <a:latin typeface="Cambria Math"/>
                <a:cs typeface="Cambria Math"/>
              </a:rPr>
              <a:t>= </a:t>
            </a:r>
            <a:r>
              <a:rPr sz="2150" spc="70" dirty="0">
                <a:latin typeface="Cambria Math"/>
                <a:cs typeface="Cambria Math"/>
              </a:rPr>
              <a:t>𝒓</a:t>
            </a:r>
            <a:r>
              <a:rPr sz="2325" spc="104" baseline="28673" dirty="0">
                <a:latin typeface="Cambria Math"/>
                <a:cs typeface="Cambria Math"/>
              </a:rPr>
              <a:t>′</a:t>
            </a:r>
            <a:r>
              <a:rPr sz="2325" spc="104" baseline="39426" dirty="0">
                <a:latin typeface="Cambria Math"/>
                <a:cs typeface="Cambria Math"/>
              </a:rPr>
              <a:t>𝒏𝒆𝒘 </a:t>
            </a:r>
            <a:r>
              <a:rPr sz="2150" spc="20" dirty="0">
                <a:latin typeface="Cambria Math"/>
                <a:cs typeface="Cambria Math"/>
              </a:rPr>
              <a:t>+</a:t>
            </a:r>
            <a:r>
              <a:rPr sz="2150" spc="-300" dirty="0">
                <a:latin typeface="Cambria Math"/>
                <a:cs typeface="Cambria Math"/>
              </a:rPr>
              <a:t> </a:t>
            </a:r>
            <a:r>
              <a:rPr sz="2325" spc="7" baseline="44802" dirty="0">
                <a:latin typeface="Cambria Math"/>
                <a:cs typeface="Cambria Math"/>
              </a:rPr>
              <a:t>𝟏−𝑺</a:t>
            </a:r>
            <a:endParaRPr sz="2325" baseline="44802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40504" y="5553709"/>
            <a:ext cx="1651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25" dirty="0">
                <a:latin typeface="Cambria Math"/>
                <a:cs typeface="Cambria Math"/>
              </a:rPr>
              <a:t>𝑵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59586" y="5487034"/>
            <a:ext cx="1699260" cy="567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4150" algn="ctr">
              <a:lnSpc>
                <a:spcPts val="1755"/>
              </a:lnSpc>
              <a:spcBef>
                <a:spcPts val="125"/>
              </a:spcBef>
            </a:pPr>
            <a:r>
              <a:rPr sz="1550" spc="10" dirty="0">
                <a:latin typeface="Cambria Math"/>
                <a:cs typeface="Cambria Math"/>
              </a:rPr>
              <a:t>𝒋</a:t>
            </a:r>
            <a:endParaRPr sz="1550">
              <a:latin typeface="Cambria Math"/>
              <a:cs typeface="Cambria Math"/>
            </a:endParaRPr>
          </a:p>
          <a:p>
            <a:pPr marL="254000" indent="-229235">
              <a:lnSpc>
                <a:spcPts val="2475"/>
              </a:lnSpc>
              <a:buClr>
                <a:srgbClr val="E66C7C"/>
              </a:buClr>
              <a:buFont typeface="Wingdings"/>
              <a:buChar char=""/>
              <a:tabLst>
                <a:tab pos="254635" algn="l"/>
              </a:tabLst>
            </a:pPr>
            <a:r>
              <a:rPr sz="3225" spc="30" baseline="-21963" dirty="0">
                <a:latin typeface="Cambria Math"/>
                <a:cs typeface="Cambria Math"/>
              </a:rPr>
              <a:t>𝒓</a:t>
            </a:r>
            <a:r>
              <a:rPr sz="1550" spc="20" dirty="0">
                <a:latin typeface="Cambria Math"/>
                <a:cs typeface="Cambria Math"/>
              </a:rPr>
              <a:t>𝒐𝒍𝒅 </a:t>
            </a:r>
            <a:r>
              <a:rPr sz="3225" spc="30" baseline="-21963" dirty="0">
                <a:latin typeface="Cambria Math"/>
                <a:cs typeface="Cambria Math"/>
              </a:rPr>
              <a:t>=</a:t>
            </a:r>
            <a:r>
              <a:rPr sz="3225" spc="112" baseline="-21963" dirty="0">
                <a:latin typeface="Cambria Math"/>
                <a:cs typeface="Cambria Math"/>
              </a:rPr>
              <a:t> </a:t>
            </a:r>
            <a:r>
              <a:rPr sz="3225" spc="52" baseline="-21963" dirty="0">
                <a:latin typeface="Cambria Math"/>
                <a:cs typeface="Cambria Math"/>
              </a:rPr>
              <a:t>𝒓</a:t>
            </a:r>
            <a:r>
              <a:rPr sz="1550" spc="35" dirty="0">
                <a:latin typeface="Cambria Math"/>
                <a:cs typeface="Cambria Math"/>
              </a:rPr>
              <a:t>𝒏𝒆𝒘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84240" y="5488940"/>
            <a:ext cx="407034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04165" algn="l"/>
              </a:tabLst>
            </a:pPr>
            <a:r>
              <a:rPr sz="1500" spc="459" dirty="0">
                <a:latin typeface="Cambria Math"/>
                <a:cs typeface="Cambria Math"/>
              </a:rPr>
              <a:t>𝑗	𝑗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90465" y="5354954"/>
            <a:ext cx="223139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solidFill>
                  <a:srgbClr val="008000"/>
                </a:solidFill>
                <a:latin typeface="Corbel"/>
                <a:cs typeface="Corbel"/>
              </a:rPr>
              <a:t>where: </a:t>
            </a:r>
            <a:r>
              <a:rPr sz="2000" spc="15" dirty="0">
                <a:latin typeface="Cambria Math"/>
                <a:cs typeface="Cambria Math"/>
              </a:rPr>
              <a:t>𝑆 </a:t>
            </a:r>
            <a:r>
              <a:rPr sz="2000" spc="20" dirty="0">
                <a:latin typeface="Cambria Math"/>
                <a:cs typeface="Cambria Math"/>
              </a:rPr>
              <a:t>= </a:t>
            </a:r>
            <a:r>
              <a:rPr sz="3000" spc="434" baseline="1388" dirty="0">
                <a:latin typeface="Cambria Math"/>
                <a:cs typeface="Cambria Math"/>
              </a:rPr>
              <a:t>σ</a:t>
            </a:r>
            <a:r>
              <a:rPr sz="3000" spc="1132" baseline="1388" dirty="0">
                <a:latin typeface="Cambria Math"/>
                <a:cs typeface="Cambria Math"/>
              </a:rPr>
              <a:t> </a:t>
            </a:r>
            <a:r>
              <a:rPr sz="2000" spc="50" dirty="0">
                <a:latin typeface="Cambria Math"/>
                <a:cs typeface="Cambria Math"/>
              </a:rPr>
              <a:t>𝑟′</a:t>
            </a:r>
            <a:r>
              <a:rPr sz="2250" spc="75" baseline="29629" dirty="0">
                <a:latin typeface="Cambria Math"/>
                <a:cs typeface="Cambria Math"/>
              </a:rPr>
              <a:t>𝑛𝑒𝑤</a:t>
            </a:r>
            <a:endParaRPr sz="2250" baseline="29629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2775" y="6280467"/>
            <a:ext cx="8315959" cy="4629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spc="30" dirty="0">
                <a:solidFill>
                  <a:srgbClr val="008000"/>
                </a:solidFill>
                <a:latin typeface="Arial"/>
                <a:cs typeface="Arial"/>
              </a:rPr>
              <a:t>If</a:t>
            </a:r>
            <a:r>
              <a:rPr sz="1400" spc="-114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the</a:t>
            </a:r>
            <a:r>
              <a:rPr sz="1400" spc="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graph</a:t>
            </a:r>
            <a:r>
              <a:rPr sz="1400" spc="-5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08000"/>
                </a:solidFill>
                <a:latin typeface="Arial"/>
                <a:cs typeface="Arial"/>
              </a:rPr>
              <a:t>has</a:t>
            </a:r>
            <a:r>
              <a:rPr sz="1400" spc="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8000"/>
                </a:solidFill>
                <a:latin typeface="Arial"/>
                <a:cs typeface="Arial"/>
              </a:rPr>
              <a:t>no</a:t>
            </a:r>
            <a:r>
              <a:rPr sz="1400" spc="20" dirty="0">
                <a:solidFill>
                  <a:srgbClr val="008000"/>
                </a:solidFill>
                <a:latin typeface="Arial"/>
                <a:cs typeface="Arial"/>
              </a:rPr>
              <a:t> dead-ends</a:t>
            </a:r>
            <a:r>
              <a:rPr sz="1400" spc="-1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8000"/>
                </a:solidFill>
                <a:latin typeface="Arial"/>
                <a:cs typeface="Arial"/>
              </a:rPr>
              <a:t>then</a:t>
            </a:r>
            <a:r>
              <a:rPr sz="1400" spc="-13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the</a:t>
            </a:r>
            <a:r>
              <a:rPr sz="1400" spc="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8000"/>
                </a:solidFill>
                <a:latin typeface="Arial"/>
                <a:cs typeface="Arial"/>
              </a:rPr>
              <a:t>amount</a:t>
            </a:r>
            <a:r>
              <a:rPr sz="1400" spc="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008000"/>
                </a:solidFill>
                <a:latin typeface="Arial"/>
                <a:cs typeface="Arial"/>
              </a:rPr>
              <a:t>of</a:t>
            </a:r>
            <a:r>
              <a:rPr sz="1400" spc="-11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leaked</a:t>
            </a:r>
            <a:r>
              <a:rPr sz="1400" spc="-5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PageRank</a:t>
            </a:r>
            <a:r>
              <a:rPr sz="1400" spc="-13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8000"/>
                </a:solidFill>
                <a:latin typeface="Arial"/>
                <a:cs typeface="Arial"/>
              </a:rPr>
              <a:t>is</a:t>
            </a:r>
            <a:r>
              <a:rPr sz="1400" spc="8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008000"/>
                </a:solidFill>
                <a:latin typeface="Arial"/>
                <a:cs typeface="Arial"/>
              </a:rPr>
              <a:t>1-β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.</a:t>
            </a:r>
            <a:r>
              <a:rPr sz="1400" spc="-11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But</a:t>
            </a:r>
            <a:r>
              <a:rPr sz="1400" spc="-3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since</a:t>
            </a:r>
            <a:r>
              <a:rPr sz="1400" spc="-5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we</a:t>
            </a:r>
            <a:r>
              <a:rPr sz="1400" spc="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08000"/>
                </a:solidFill>
                <a:latin typeface="Arial"/>
                <a:cs typeface="Arial"/>
              </a:rPr>
              <a:t>have</a:t>
            </a:r>
            <a:r>
              <a:rPr sz="1400" spc="9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008000"/>
                </a:solidFill>
                <a:latin typeface="Arial"/>
                <a:cs typeface="Arial"/>
              </a:rPr>
              <a:t>dead-ends  </a:t>
            </a:r>
            <a:r>
              <a:rPr sz="1400" spc="-15" dirty="0">
                <a:solidFill>
                  <a:srgbClr val="008000"/>
                </a:solidFill>
                <a:latin typeface="Arial"/>
                <a:cs typeface="Arial"/>
              </a:rPr>
              <a:t>the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8000"/>
                </a:solidFill>
                <a:latin typeface="Arial"/>
                <a:cs typeface="Arial"/>
              </a:rPr>
              <a:t>amount</a:t>
            </a:r>
            <a:r>
              <a:rPr sz="1400" spc="-3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008000"/>
                </a:solidFill>
                <a:latin typeface="Arial"/>
                <a:cs typeface="Arial"/>
              </a:rPr>
              <a:t>of</a:t>
            </a:r>
            <a:r>
              <a:rPr sz="1400" spc="-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leaked</a:t>
            </a:r>
            <a:r>
              <a:rPr sz="1400" spc="-5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PageRank</a:t>
            </a:r>
            <a:r>
              <a:rPr sz="1400" spc="-13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may</a:t>
            </a:r>
            <a:r>
              <a:rPr sz="1400" spc="-5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008000"/>
                </a:solidFill>
                <a:latin typeface="Arial"/>
                <a:cs typeface="Arial"/>
              </a:rPr>
              <a:t>be</a:t>
            </a:r>
            <a:r>
              <a:rPr sz="1400" spc="-5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8000"/>
                </a:solidFill>
                <a:latin typeface="Arial"/>
                <a:cs typeface="Arial"/>
              </a:rPr>
              <a:t>larger.</a:t>
            </a:r>
            <a:r>
              <a:rPr sz="1400" spc="-3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008000"/>
                </a:solidFill>
                <a:latin typeface="Arial"/>
                <a:cs typeface="Arial"/>
              </a:rPr>
              <a:t>We</a:t>
            </a:r>
            <a:r>
              <a:rPr sz="1400" spc="-13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08000"/>
                </a:solidFill>
                <a:latin typeface="Arial"/>
                <a:cs typeface="Arial"/>
              </a:rPr>
              <a:t>have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8000"/>
                </a:solidFill>
                <a:latin typeface="Arial"/>
                <a:cs typeface="Arial"/>
              </a:rPr>
              <a:t>to</a:t>
            </a:r>
            <a:r>
              <a:rPr sz="1400" spc="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8000"/>
                </a:solidFill>
                <a:latin typeface="Arial"/>
                <a:cs typeface="Arial"/>
              </a:rPr>
              <a:t>explicitly</a:t>
            </a:r>
            <a:r>
              <a:rPr sz="1400" spc="-5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08000"/>
                </a:solidFill>
                <a:latin typeface="Arial"/>
                <a:cs typeface="Arial"/>
              </a:rPr>
              <a:t>account</a:t>
            </a:r>
            <a:r>
              <a:rPr sz="1400" spc="-114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008000"/>
                </a:solidFill>
                <a:latin typeface="Arial"/>
                <a:cs typeface="Arial"/>
              </a:rPr>
              <a:t>for</a:t>
            </a:r>
            <a:r>
              <a:rPr sz="1400" spc="-11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8000"/>
                </a:solidFill>
                <a:latin typeface="Arial"/>
                <a:cs typeface="Arial"/>
              </a:rPr>
              <a:t>it</a:t>
            </a:r>
            <a:r>
              <a:rPr sz="1400" spc="-3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008000"/>
                </a:solidFill>
                <a:latin typeface="Arial"/>
                <a:cs typeface="Arial"/>
              </a:rPr>
              <a:t>by</a:t>
            </a:r>
            <a:r>
              <a:rPr sz="1400" spc="-5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computing</a:t>
            </a:r>
            <a:r>
              <a:rPr sz="1400" spc="-3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008000"/>
                </a:solidFill>
                <a:latin typeface="Arial"/>
                <a:cs typeface="Arial"/>
              </a:rPr>
              <a:t>S</a:t>
            </a:r>
            <a:r>
              <a:rPr sz="1400" spc="20" dirty="0">
                <a:solidFill>
                  <a:srgbClr val="008000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333311"/>
            <a:ext cx="5786501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Encode </a:t>
            </a:r>
            <a:r>
              <a:rPr b="1" spc="-15" dirty="0">
                <a:solidFill>
                  <a:srgbClr val="D50092"/>
                </a:solidFill>
                <a:latin typeface="Calibri"/>
                <a:cs typeface="Calibri"/>
              </a:rPr>
              <a:t>sparse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matrix using </a:t>
            </a:r>
            <a:r>
              <a:rPr b="1" spc="15" dirty="0">
                <a:solidFill>
                  <a:srgbClr val="D50092"/>
                </a:solidFill>
                <a:latin typeface="Calibri"/>
                <a:cs typeface="Calibri"/>
              </a:rPr>
              <a:t>only</a:t>
            </a:r>
            <a:r>
              <a:rPr b="1" spc="-37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b="1" spc="-15" dirty="0">
                <a:solidFill>
                  <a:srgbClr val="D50092"/>
                </a:solidFill>
                <a:latin typeface="Calibri"/>
                <a:cs typeface="Calibri"/>
              </a:rPr>
              <a:t>nonzero  </a:t>
            </a:r>
            <a:r>
              <a:rPr b="1" spc="15" dirty="0">
                <a:solidFill>
                  <a:srgbClr val="D50092"/>
                </a:solidFill>
                <a:latin typeface="Calibri"/>
                <a:cs typeface="Calibri"/>
              </a:rPr>
              <a:t>entries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1050" y="4641850"/>
          <a:ext cx="5410200" cy="1447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37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1, 5,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061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17, 64, 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113, 117,</a:t>
                      </a:r>
                      <a:r>
                        <a:rPr sz="2400" spc="-25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245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2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13,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23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57580" y="2324227"/>
            <a:ext cx="6915784" cy="2025014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844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spc="10" dirty="0">
                <a:latin typeface="Calibri"/>
                <a:cs typeface="Calibri"/>
              </a:rPr>
              <a:t>Space </a:t>
            </a:r>
            <a:r>
              <a:rPr sz="2750" dirty="0">
                <a:latin typeface="Calibri"/>
                <a:cs typeface="Calibri"/>
              </a:rPr>
              <a:t>proportional </a:t>
            </a:r>
            <a:r>
              <a:rPr sz="2750" spc="-15" dirty="0">
                <a:latin typeface="Calibri"/>
                <a:cs typeface="Calibri"/>
              </a:rPr>
              <a:t>roughly </a:t>
            </a:r>
            <a:r>
              <a:rPr sz="2750" spc="-5" dirty="0">
                <a:latin typeface="Calibri"/>
                <a:cs typeface="Calibri"/>
              </a:rPr>
              <a:t>to number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links</a:t>
            </a:r>
            <a:endParaRPr sz="2750">
              <a:latin typeface="Calibri"/>
              <a:cs typeface="Calibri"/>
            </a:endParaRPr>
          </a:p>
          <a:p>
            <a:pPr marL="28892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spc="-10" dirty="0">
                <a:latin typeface="Calibri"/>
                <a:cs typeface="Calibri"/>
              </a:rPr>
              <a:t>Say </a:t>
            </a:r>
            <a:r>
              <a:rPr sz="2750" spc="15" dirty="0">
                <a:latin typeface="Calibri"/>
                <a:cs typeface="Calibri"/>
              </a:rPr>
              <a:t>10N, </a:t>
            </a:r>
            <a:r>
              <a:rPr sz="2750" spc="25" dirty="0">
                <a:latin typeface="Calibri"/>
                <a:cs typeface="Calibri"/>
              </a:rPr>
              <a:t>or </a:t>
            </a:r>
            <a:r>
              <a:rPr sz="2750" spc="5" dirty="0">
                <a:latin typeface="Calibri"/>
                <a:cs typeface="Calibri"/>
              </a:rPr>
              <a:t>4*10*1 </a:t>
            </a:r>
            <a:r>
              <a:rPr sz="2750" spc="-15" dirty="0">
                <a:latin typeface="Calibri"/>
                <a:cs typeface="Calibri"/>
              </a:rPr>
              <a:t>billion </a:t>
            </a:r>
            <a:r>
              <a:rPr sz="2750" spc="10" dirty="0">
                <a:latin typeface="Calibri"/>
                <a:cs typeface="Calibri"/>
              </a:rPr>
              <a:t>=</a:t>
            </a:r>
            <a:r>
              <a:rPr sz="2750" spc="38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40GB</a:t>
            </a:r>
            <a:endParaRPr sz="2750">
              <a:latin typeface="Calibri"/>
              <a:cs typeface="Calibri"/>
            </a:endParaRPr>
          </a:p>
          <a:p>
            <a:pPr marL="288925" indent="-276860">
              <a:lnSpc>
                <a:spcPct val="100000"/>
              </a:lnSpc>
              <a:spcBef>
                <a:spcPts val="760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b="1" spc="-5" dirty="0">
                <a:latin typeface="Calibri"/>
                <a:cs typeface="Calibri"/>
              </a:rPr>
              <a:t>Still </a:t>
            </a:r>
            <a:r>
              <a:rPr sz="2750" b="1" spc="25" dirty="0">
                <a:latin typeface="Calibri"/>
                <a:cs typeface="Calibri"/>
              </a:rPr>
              <a:t>won’t </a:t>
            </a:r>
            <a:r>
              <a:rPr sz="2750" b="1" spc="10" dirty="0">
                <a:latin typeface="Calibri"/>
                <a:cs typeface="Calibri"/>
              </a:rPr>
              <a:t>fit in </a:t>
            </a:r>
            <a:r>
              <a:rPr sz="2750" b="1" spc="-5" dirty="0">
                <a:latin typeface="Calibri"/>
                <a:cs typeface="Calibri"/>
              </a:rPr>
              <a:t>memory, </a:t>
            </a:r>
            <a:r>
              <a:rPr sz="2750" b="1" spc="15" dirty="0">
                <a:latin typeface="Calibri"/>
                <a:cs typeface="Calibri"/>
              </a:rPr>
              <a:t>but </a:t>
            </a:r>
            <a:r>
              <a:rPr sz="2750" b="1" spc="10" dirty="0">
                <a:latin typeface="Calibri"/>
                <a:cs typeface="Calibri"/>
              </a:rPr>
              <a:t>will fit on</a:t>
            </a:r>
            <a:r>
              <a:rPr sz="2750" b="1" spc="140" dirty="0">
                <a:latin typeface="Calibri"/>
                <a:cs typeface="Calibri"/>
              </a:rPr>
              <a:t> </a:t>
            </a:r>
            <a:r>
              <a:rPr sz="2750" b="1" spc="10" dirty="0">
                <a:latin typeface="Calibri"/>
                <a:cs typeface="Calibri"/>
              </a:rPr>
              <a:t>disk</a:t>
            </a:r>
            <a:endParaRPr sz="2750">
              <a:latin typeface="Calibri"/>
              <a:cs typeface="Calibri"/>
            </a:endParaRPr>
          </a:p>
          <a:p>
            <a:pPr marL="1237615">
              <a:lnSpc>
                <a:spcPct val="100000"/>
              </a:lnSpc>
              <a:spcBef>
                <a:spcPts val="1175"/>
              </a:spcBef>
            </a:pPr>
            <a:r>
              <a:rPr sz="2000" b="1" spc="30" dirty="0">
                <a:solidFill>
                  <a:srgbClr val="008000"/>
                </a:solidFill>
                <a:latin typeface="Arial"/>
                <a:cs typeface="Arial"/>
              </a:rPr>
              <a:t>source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2876" y="4320222"/>
            <a:ext cx="6604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50" dirty="0">
                <a:solidFill>
                  <a:srgbClr val="008000"/>
                </a:solidFill>
                <a:latin typeface="Arial"/>
                <a:cs typeface="Arial"/>
              </a:rPr>
              <a:t>node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1514" y="4238942"/>
            <a:ext cx="342455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207135" algn="l"/>
              </a:tabLst>
            </a:pPr>
            <a:r>
              <a:rPr sz="3000" b="1" spc="37" baseline="1388" dirty="0">
                <a:solidFill>
                  <a:srgbClr val="008000"/>
                </a:solidFill>
                <a:latin typeface="Arial"/>
                <a:cs typeface="Arial"/>
              </a:rPr>
              <a:t>degree	</a:t>
            </a:r>
            <a:r>
              <a:rPr sz="2000" b="1" spc="20" dirty="0">
                <a:solidFill>
                  <a:srgbClr val="008000"/>
                </a:solidFill>
                <a:latin typeface="Arial"/>
                <a:cs typeface="Arial"/>
              </a:rPr>
              <a:t>destination</a:t>
            </a:r>
            <a:r>
              <a:rPr sz="2000" b="1" spc="-254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b="1" spc="35" dirty="0">
                <a:solidFill>
                  <a:srgbClr val="008000"/>
                </a:solidFill>
                <a:latin typeface="Arial"/>
                <a:cs typeface="Arial"/>
              </a:rPr>
              <a:t>nodes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243826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16938"/>
            <a:ext cx="304800" cy="37211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25830" y="1308988"/>
            <a:ext cx="709485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3000" b="1" spc="-5" dirty="0">
                <a:solidFill>
                  <a:srgbClr val="D50092"/>
                </a:solidFill>
                <a:latin typeface="Calibri"/>
                <a:cs typeface="Calibri"/>
              </a:rPr>
              <a:t>Assume </a:t>
            </a:r>
            <a:r>
              <a:rPr sz="3000" b="1" spc="-10" dirty="0">
                <a:solidFill>
                  <a:srgbClr val="D50092"/>
                </a:solidFill>
                <a:latin typeface="Calibri"/>
                <a:cs typeface="Calibri"/>
              </a:rPr>
              <a:t>enough </a:t>
            </a:r>
            <a:r>
              <a:rPr sz="3000" b="1" spc="5" dirty="0">
                <a:solidFill>
                  <a:srgbClr val="D50092"/>
                </a:solidFill>
                <a:latin typeface="Calibri"/>
                <a:cs typeface="Calibri"/>
              </a:rPr>
              <a:t>RAM </a:t>
            </a:r>
            <a:r>
              <a:rPr sz="3000" b="1" dirty="0">
                <a:solidFill>
                  <a:srgbClr val="D50092"/>
                </a:solidFill>
                <a:latin typeface="Calibri"/>
                <a:cs typeface="Calibri"/>
              </a:rPr>
              <a:t>to </a:t>
            </a:r>
            <a:r>
              <a:rPr sz="3000" b="1" spc="5" dirty="0">
                <a:solidFill>
                  <a:srgbClr val="D50092"/>
                </a:solidFill>
                <a:latin typeface="Calibri"/>
                <a:cs typeface="Calibri"/>
              </a:rPr>
              <a:t>fit </a:t>
            </a:r>
            <a:r>
              <a:rPr sz="3000" b="1" i="1" dirty="0">
                <a:solidFill>
                  <a:srgbClr val="D50092"/>
                </a:solidFill>
                <a:latin typeface="Calibri"/>
                <a:cs typeface="Calibri"/>
              </a:rPr>
              <a:t>r</a:t>
            </a:r>
            <a:r>
              <a:rPr sz="3000" b="1" i="1" baseline="25000" dirty="0">
                <a:solidFill>
                  <a:srgbClr val="D50092"/>
                </a:solidFill>
                <a:latin typeface="Calibri"/>
                <a:cs typeface="Calibri"/>
              </a:rPr>
              <a:t>new </a:t>
            </a:r>
            <a:r>
              <a:rPr sz="3000" b="1" spc="-5" dirty="0">
                <a:solidFill>
                  <a:srgbClr val="D50092"/>
                </a:solidFill>
                <a:latin typeface="Calibri"/>
                <a:cs typeface="Calibri"/>
              </a:rPr>
              <a:t>into</a:t>
            </a:r>
            <a:r>
              <a:rPr sz="3000" b="1" spc="-39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000" b="1" spc="10" dirty="0">
                <a:solidFill>
                  <a:srgbClr val="D50092"/>
                </a:solidFill>
                <a:latin typeface="Calibri"/>
                <a:cs typeface="Calibri"/>
              </a:rPr>
              <a:t>memory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266314"/>
            <a:ext cx="304800" cy="37211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25830" y="1804924"/>
            <a:ext cx="4448810" cy="8369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0675" indent="-276860">
              <a:lnSpc>
                <a:spcPts val="2935"/>
              </a:lnSpc>
              <a:spcBef>
                <a:spcPts val="130"/>
              </a:spcBef>
              <a:buClr>
                <a:srgbClr val="5FB5CC"/>
              </a:buClr>
              <a:buFont typeface="Wingdings"/>
              <a:buChar char=""/>
              <a:tabLst>
                <a:tab pos="321310" algn="l"/>
              </a:tabLst>
            </a:pPr>
            <a:r>
              <a:rPr sz="2600" dirty="0">
                <a:latin typeface="Calibri"/>
                <a:cs typeface="Calibri"/>
              </a:rPr>
              <a:t>Store </a:t>
            </a:r>
            <a:r>
              <a:rPr sz="2600" b="1" i="1" dirty="0">
                <a:latin typeface="Calibri"/>
                <a:cs typeface="Calibri"/>
              </a:rPr>
              <a:t>r</a:t>
            </a:r>
            <a:r>
              <a:rPr sz="2550" i="1" baseline="24509" dirty="0">
                <a:latin typeface="Calibri"/>
                <a:cs typeface="Calibri"/>
              </a:rPr>
              <a:t>old </a:t>
            </a:r>
            <a:r>
              <a:rPr sz="2600" spc="5" dirty="0">
                <a:latin typeface="Calibri"/>
                <a:cs typeface="Calibri"/>
              </a:rPr>
              <a:t>and </a:t>
            </a:r>
            <a:r>
              <a:rPr sz="2600" spc="10" dirty="0">
                <a:latin typeface="Calibri"/>
                <a:cs typeface="Calibri"/>
              </a:rPr>
              <a:t>matrix </a:t>
            </a:r>
            <a:r>
              <a:rPr sz="2600" b="1" spc="25" dirty="0">
                <a:latin typeface="Calibri"/>
                <a:cs typeface="Calibri"/>
              </a:rPr>
              <a:t>M </a:t>
            </a:r>
            <a:r>
              <a:rPr sz="2600" spc="-5" dirty="0">
                <a:latin typeface="Calibri"/>
                <a:cs typeface="Calibri"/>
              </a:rPr>
              <a:t>on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disk</a:t>
            </a:r>
            <a:endParaRPr sz="2600">
              <a:latin typeface="Calibri"/>
              <a:cs typeface="Calibri"/>
            </a:endParaRPr>
          </a:p>
          <a:p>
            <a:pPr marL="25400">
              <a:lnSpc>
                <a:spcPts val="3415"/>
              </a:lnSpc>
            </a:pP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1 step </a:t>
            </a:r>
            <a:r>
              <a:rPr sz="3000" b="1" spc="15" dirty="0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power-iteration</a:t>
            </a:r>
            <a:r>
              <a:rPr sz="3000" b="1" spc="-2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is: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672" y="4641278"/>
            <a:ext cx="750570" cy="2229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715" algn="r">
              <a:lnSpc>
                <a:spcPts val="2340"/>
              </a:lnSpc>
              <a:spcBef>
                <a:spcPts val="125"/>
              </a:spcBef>
            </a:pPr>
            <a:r>
              <a:rPr sz="2000" spc="10" dirty="0">
                <a:latin typeface="Corbel"/>
                <a:cs typeface="Corbel"/>
              </a:rPr>
              <a:t>0</a:t>
            </a:r>
            <a:endParaRPr sz="2000">
              <a:latin typeface="Corbel"/>
              <a:cs typeface="Corbel"/>
            </a:endParaRPr>
          </a:p>
          <a:p>
            <a:pPr marR="22225" algn="r">
              <a:lnSpc>
                <a:spcPts val="2340"/>
              </a:lnSpc>
            </a:pPr>
            <a:r>
              <a:rPr sz="2000" spc="10" dirty="0">
                <a:latin typeface="Corbel"/>
                <a:cs typeface="Corbel"/>
              </a:rPr>
              <a:t>1</a:t>
            </a:r>
            <a:endParaRPr sz="2000">
              <a:latin typeface="Corbel"/>
              <a:cs typeface="Corbel"/>
            </a:endParaRPr>
          </a:p>
          <a:p>
            <a:pPr marR="6350" algn="r">
              <a:lnSpc>
                <a:spcPct val="100000"/>
              </a:lnSpc>
              <a:spcBef>
                <a:spcPts val="5"/>
              </a:spcBef>
            </a:pPr>
            <a:r>
              <a:rPr sz="2000" spc="10" dirty="0">
                <a:latin typeface="Corbel"/>
                <a:cs typeface="Corbel"/>
              </a:rPr>
              <a:t>2</a:t>
            </a:r>
            <a:endParaRPr sz="2000">
              <a:latin typeface="Corbel"/>
              <a:cs typeface="Corbel"/>
            </a:endParaRPr>
          </a:p>
          <a:p>
            <a:pPr marR="20955" algn="r">
              <a:lnSpc>
                <a:spcPts val="2340"/>
              </a:lnSpc>
              <a:spcBef>
                <a:spcPts val="130"/>
              </a:spcBef>
            </a:pPr>
            <a:r>
              <a:rPr sz="2000" spc="10" dirty="0">
                <a:latin typeface="Corbel"/>
                <a:cs typeface="Corbel"/>
              </a:rPr>
              <a:t>3</a:t>
            </a:r>
            <a:endParaRPr sz="2000">
              <a:latin typeface="Corbel"/>
              <a:cs typeface="Corbel"/>
            </a:endParaRPr>
          </a:p>
          <a:p>
            <a:pPr marR="5080" algn="r">
              <a:lnSpc>
                <a:spcPts val="2340"/>
              </a:lnSpc>
            </a:pPr>
            <a:r>
              <a:rPr sz="2000" spc="10" dirty="0">
                <a:latin typeface="Corbel"/>
                <a:cs typeface="Corbel"/>
              </a:rPr>
              <a:t>4</a:t>
            </a:r>
            <a:endParaRPr sz="2000">
              <a:latin typeface="Corbel"/>
              <a:cs typeface="Corbel"/>
            </a:endParaRPr>
          </a:p>
          <a:p>
            <a:pPr marR="13970" algn="r">
              <a:lnSpc>
                <a:spcPct val="100000"/>
              </a:lnSpc>
            </a:pPr>
            <a:r>
              <a:rPr sz="2000" spc="10" dirty="0">
                <a:latin typeface="Corbel"/>
                <a:cs typeface="Corbel"/>
              </a:rPr>
              <a:t>5</a:t>
            </a:r>
            <a:endParaRPr sz="2000">
              <a:latin typeface="Corbel"/>
              <a:cs typeface="Corbel"/>
            </a:endParaRPr>
          </a:p>
          <a:p>
            <a:pPr marR="23495" algn="r">
              <a:lnSpc>
                <a:spcPts val="2175"/>
              </a:lnSpc>
              <a:spcBef>
                <a:spcPts val="5"/>
              </a:spcBef>
            </a:pPr>
            <a:r>
              <a:rPr sz="2000" spc="10" dirty="0">
                <a:latin typeface="Corbel"/>
                <a:cs typeface="Corbel"/>
              </a:rPr>
              <a:t>6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ts val="855"/>
              </a:lnSpc>
            </a:pPr>
            <a:r>
              <a:rPr sz="900" dirty="0">
                <a:solidFill>
                  <a:srgbClr val="3E3E3E"/>
                </a:solidFill>
                <a:latin typeface="Calibri"/>
                <a:cs typeface="Calibri"/>
              </a:rPr>
              <a:t>4/27/2021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6525" y="6708140"/>
            <a:ext cx="26111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3E3E3E"/>
                </a:solidFill>
                <a:latin typeface="Calibri"/>
                <a:cs typeface="Calibri"/>
              </a:rPr>
              <a:t>Jure</a:t>
            </a:r>
            <a:r>
              <a:rPr sz="900" spc="15" dirty="0">
                <a:solidFill>
                  <a:srgbClr val="3E3E3E"/>
                </a:solidFill>
                <a:latin typeface="Calibri"/>
                <a:cs typeface="Calibri"/>
              </a:rPr>
              <a:t> Leskovec,</a:t>
            </a:r>
            <a:r>
              <a:rPr sz="9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E3E3E"/>
                </a:solidFill>
                <a:latin typeface="Calibri"/>
                <a:cs typeface="Calibri"/>
              </a:rPr>
              <a:t>Stanford</a:t>
            </a:r>
            <a:r>
              <a:rPr sz="900" spc="-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spc="-15" dirty="0">
                <a:solidFill>
                  <a:srgbClr val="3E3E3E"/>
                </a:solidFill>
                <a:latin typeface="Calibri"/>
                <a:cs typeface="Calibri"/>
              </a:rPr>
              <a:t>C246:</a:t>
            </a:r>
            <a:r>
              <a:rPr sz="9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spc="15" dirty="0">
                <a:solidFill>
                  <a:srgbClr val="3E3E3E"/>
                </a:solidFill>
                <a:latin typeface="Calibri"/>
                <a:cs typeface="Calibri"/>
              </a:rPr>
              <a:t>Mining</a:t>
            </a:r>
            <a:r>
              <a:rPr sz="9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E3E3E"/>
                </a:solidFill>
                <a:latin typeface="Calibri"/>
                <a:cs typeface="Calibri"/>
              </a:rPr>
              <a:t>Massive</a:t>
            </a:r>
            <a:r>
              <a:rPr sz="9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E3E3E"/>
                </a:solidFill>
                <a:latin typeface="Calibri"/>
                <a:cs typeface="Calibri"/>
              </a:rPr>
              <a:t>Datasets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30360" y="6708140"/>
            <a:ext cx="139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3E3E3E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582830" y="4967319"/>
          <a:ext cx="4344033" cy="1350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4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87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1, 5,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43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17, 64, 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113,</a:t>
                      </a:r>
                      <a:r>
                        <a:rPr sz="2400" spc="-2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45" dirty="0">
                          <a:latin typeface="Arial"/>
                          <a:cs typeface="Arial"/>
                        </a:rPr>
                        <a:t>117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13,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23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371663" y="4648263"/>
          <a:ext cx="457200" cy="21335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543863" y="4648263"/>
          <a:ext cx="457200" cy="21335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8011794" y="4592256"/>
            <a:ext cx="179070" cy="2150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020">
              <a:lnSpc>
                <a:spcPts val="2340"/>
              </a:lnSpc>
              <a:spcBef>
                <a:spcPts val="125"/>
              </a:spcBef>
            </a:pPr>
            <a:r>
              <a:rPr sz="2000" spc="10" dirty="0">
                <a:latin typeface="Corbel"/>
                <a:cs typeface="Corbel"/>
              </a:rPr>
              <a:t>0</a:t>
            </a:r>
            <a:endParaRPr sz="2000">
              <a:latin typeface="Corbel"/>
              <a:cs typeface="Corbel"/>
            </a:endParaRPr>
          </a:p>
          <a:p>
            <a:pPr marL="33020">
              <a:lnSpc>
                <a:spcPts val="2340"/>
              </a:lnSpc>
            </a:pPr>
            <a:r>
              <a:rPr sz="2000" spc="10" dirty="0">
                <a:latin typeface="Corbel"/>
                <a:cs typeface="Corbel"/>
              </a:rPr>
              <a:t>1</a:t>
            </a:r>
            <a:endParaRPr sz="2000">
              <a:latin typeface="Corbel"/>
              <a:cs typeface="Corbel"/>
            </a:endParaRPr>
          </a:p>
          <a:p>
            <a:pPr marL="33020">
              <a:lnSpc>
                <a:spcPct val="100000"/>
              </a:lnSpc>
              <a:spcBef>
                <a:spcPts val="5"/>
              </a:spcBef>
            </a:pPr>
            <a:r>
              <a:rPr sz="2000" spc="10" dirty="0">
                <a:latin typeface="Corbel"/>
                <a:cs typeface="Corbel"/>
              </a:rPr>
              <a:t>2</a:t>
            </a:r>
            <a:endParaRPr sz="2000">
              <a:latin typeface="Corbel"/>
              <a:cs typeface="Corbel"/>
            </a:endParaRPr>
          </a:p>
          <a:p>
            <a:pPr marL="33020">
              <a:lnSpc>
                <a:spcPts val="2340"/>
              </a:lnSpc>
              <a:spcBef>
                <a:spcPts val="130"/>
              </a:spcBef>
            </a:pPr>
            <a:r>
              <a:rPr sz="2000" spc="10" dirty="0">
                <a:latin typeface="Corbel"/>
                <a:cs typeface="Corbel"/>
              </a:rPr>
              <a:t>3</a:t>
            </a:r>
            <a:endParaRPr sz="2000">
              <a:latin typeface="Corbel"/>
              <a:cs typeface="Corbel"/>
            </a:endParaRPr>
          </a:p>
          <a:p>
            <a:pPr marL="33020">
              <a:lnSpc>
                <a:spcPts val="2340"/>
              </a:lnSpc>
            </a:pPr>
            <a:r>
              <a:rPr sz="2000" spc="10" dirty="0">
                <a:latin typeface="Corbel"/>
                <a:cs typeface="Corbel"/>
              </a:rPr>
              <a:t>4</a:t>
            </a:r>
            <a:endParaRPr sz="2000">
              <a:latin typeface="Corbel"/>
              <a:cs typeface="Corbel"/>
            </a:endParaRPr>
          </a:p>
          <a:p>
            <a:pPr marL="33020">
              <a:lnSpc>
                <a:spcPct val="100000"/>
              </a:lnSpc>
              <a:spcBef>
                <a:spcPts val="5"/>
              </a:spcBef>
            </a:pPr>
            <a:r>
              <a:rPr sz="2000" spc="10" dirty="0">
                <a:latin typeface="Corbel"/>
                <a:cs typeface="Corbel"/>
              </a:rPr>
              <a:t>5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sz="2000" spc="10" dirty="0">
                <a:latin typeface="Corbel"/>
                <a:cs typeface="Corbel"/>
              </a:rPr>
              <a:t>6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58645" y="4628832"/>
            <a:ext cx="57334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02335" algn="l"/>
                <a:tab pos="2933700" algn="l"/>
                <a:tab pos="5306695" algn="l"/>
              </a:tabLst>
            </a:pPr>
            <a:r>
              <a:rPr sz="3000" b="1" spc="37" baseline="4166" dirty="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sz="2025" b="1" spc="37" baseline="30864" dirty="0">
                <a:solidFill>
                  <a:srgbClr val="008000"/>
                </a:solidFill>
                <a:latin typeface="Arial"/>
                <a:cs typeface="Arial"/>
              </a:rPr>
              <a:t>new	</a:t>
            </a:r>
            <a:r>
              <a:rPr sz="2000" b="1" spc="30" dirty="0">
                <a:solidFill>
                  <a:srgbClr val="008000"/>
                </a:solidFill>
                <a:latin typeface="Arial"/>
                <a:cs typeface="Arial"/>
              </a:rPr>
              <a:t>source</a:t>
            </a:r>
            <a:r>
              <a:rPr sz="2000" b="1" spc="2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008000"/>
                </a:solidFill>
                <a:latin typeface="Arial"/>
                <a:cs typeface="Arial"/>
              </a:rPr>
              <a:t>degree	</a:t>
            </a:r>
            <a:r>
              <a:rPr sz="2000" b="1" spc="20" dirty="0">
                <a:solidFill>
                  <a:srgbClr val="008000"/>
                </a:solidFill>
                <a:latin typeface="Arial"/>
                <a:cs typeface="Arial"/>
              </a:rPr>
              <a:t>destination	</a:t>
            </a:r>
            <a:r>
              <a:rPr sz="3000" b="1" spc="7" baseline="5555" dirty="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sz="2025" b="1" spc="7" baseline="32921" dirty="0">
                <a:solidFill>
                  <a:srgbClr val="008000"/>
                </a:solidFill>
                <a:latin typeface="Arial"/>
                <a:cs typeface="Arial"/>
              </a:rPr>
              <a:t>old</a:t>
            </a:r>
            <a:endParaRPr sz="2025" baseline="32921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8675" y="2638425"/>
            <a:ext cx="6943725" cy="1905000"/>
          </a:xfrm>
          <a:prstGeom prst="rect">
            <a:avLst/>
          </a:prstGeom>
          <a:solidFill>
            <a:srgbClr val="FFEFC8"/>
          </a:solidFill>
          <a:ln w="38100">
            <a:solidFill>
              <a:srgbClr val="FFC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2820"/>
              </a:lnSpc>
            </a:pPr>
            <a:r>
              <a:rPr sz="2400" b="1" spc="15" dirty="0">
                <a:solidFill>
                  <a:srgbClr val="008000"/>
                </a:solidFill>
                <a:latin typeface="Arial"/>
                <a:cs typeface="Arial"/>
              </a:rPr>
              <a:t>Initialize </a:t>
            </a:r>
            <a:r>
              <a:rPr sz="2400" spc="-25" dirty="0">
                <a:solidFill>
                  <a:srgbClr val="008000"/>
                </a:solidFill>
                <a:latin typeface="Arial"/>
                <a:cs typeface="Arial"/>
              </a:rPr>
              <a:t>all </a:t>
            </a:r>
            <a:r>
              <a:rPr sz="2400" spc="-15" dirty="0">
                <a:solidFill>
                  <a:srgbClr val="008000"/>
                </a:solidFill>
                <a:latin typeface="Arial"/>
                <a:cs typeface="Arial"/>
              </a:rPr>
              <a:t>entries </a:t>
            </a:r>
            <a:r>
              <a:rPr sz="2400" spc="-30" dirty="0">
                <a:solidFill>
                  <a:srgbClr val="008000"/>
                </a:solidFill>
                <a:latin typeface="Arial"/>
                <a:cs typeface="Arial"/>
              </a:rPr>
              <a:t>of </a:t>
            </a:r>
            <a:r>
              <a:rPr sz="2400" b="1" spc="30" dirty="0">
                <a:latin typeface="Arial"/>
                <a:cs typeface="Arial"/>
              </a:rPr>
              <a:t>r</a:t>
            </a:r>
            <a:r>
              <a:rPr sz="2325" b="1" spc="44" baseline="26881" dirty="0">
                <a:latin typeface="Arial"/>
                <a:cs typeface="Arial"/>
              </a:rPr>
              <a:t>new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b="1" spc="30" dirty="0">
                <a:latin typeface="Arial"/>
                <a:cs typeface="Arial"/>
              </a:rPr>
              <a:t>(1-</a:t>
            </a:r>
            <a:r>
              <a:rPr sz="2400" b="1" spc="30" dirty="0">
                <a:latin typeface="Symbol"/>
                <a:cs typeface="Symbol"/>
              </a:rPr>
              <a:t></a:t>
            </a:r>
            <a:r>
              <a:rPr sz="2400" b="1" spc="30" dirty="0">
                <a:latin typeface="Arial"/>
                <a:cs typeface="Arial"/>
              </a:rPr>
              <a:t>) </a:t>
            </a:r>
            <a:r>
              <a:rPr sz="2400" b="1" dirty="0">
                <a:latin typeface="Arial"/>
                <a:cs typeface="Arial"/>
              </a:rPr>
              <a:t>/</a:t>
            </a:r>
            <a:r>
              <a:rPr sz="2400" b="1" spc="-1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  <a:p>
            <a:pPr marL="101600">
              <a:lnSpc>
                <a:spcPts val="2865"/>
              </a:lnSpc>
              <a:spcBef>
                <a:spcPts val="45"/>
              </a:spcBef>
            </a:pP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For </a:t>
            </a:r>
            <a:r>
              <a:rPr sz="2400" spc="-30" dirty="0">
                <a:solidFill>
                  <a:srgbClr val="008000"/>
                </a:solidFill>
                <a:latin typeface="Arial"/>
                <a:cs typeface="Arial"/>
              </a:rPr>
              <a:t>each </a:t>
            </a:r>
            <a:r>
              <a:rPr sz="2400" spc="-50" dirty="0">
                <a:solidFill>
                  <a:srgbClr val="008000"/>
                </a:solidFill>
                <a:latin typeface="Arial"/>
                <a:cs typeface="Arial"/>
              </a:rPr>
              <a:t>page </a:t>
            </a:r>
            <a:r>
              <a:rPr sz="2400" b="1" i="1" dirty="0">
                <a:latin typeface="Arial"/>
                <a:cs typeface="Arial"/>
              </a:rPr>
              <a:t>i </a:t>
            </a:r>
            <a:r>
              <a:rPr sz="2400" spc="-15" dirty="0">
                <a:latin typeface="Arial"/>
                <a:cs typeface="Arial"/>
              </a:rPr>
              <a:t>(of </a:t>
            </a:r>
            <a:r>
              <a:rPr sz="2400" spc="-25" dirty="0">
                <a:latin typeface="Arial"/>
                <a:cs typeface="Arial"/>
              </a:rPr>
              <a:t>out-degree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b="1" i="1" spc="20" dirty="0">
                <a:latin typeface="Arial"/>
                <a:cs typeface="Arial"/>
              </a:rPr>
              <a:t>d</a:t>
            </a:r>
            <a:r>
              <a:rPr sz="2325" b="1" i="1" spc="30" baseline="-19713" dirty="0">
                <a:latin typeface="Arial"/>
                <a:cs typeface="Arial"/>
              </a:rPr>
              <a:t>i</a:t>
            </a:r>
            <a:r>
              <a:rPr sz="2400" spc="20" dirty="0">
                <a:latin typeface="Arial"/>
                <a:cs typeface="Arial"/>
              </a:rPr>
              <a:t>):</a:t>
            </a:r>
            <a:endParaRPr sz="2400">
              <a:latin typeface="Arial"/>
              <a:cs typeface="Arial"/>
            </a:endParaRPr>
          </a:p>
          <a:p>
            <a:pPr marL="273050">
              <a:lnSpc>
                <a:spcPts val="2855"/>
              </a:lnSpc>
            </a:pP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sz="2400" spc="-65" dirty="0">
                <a:solidFill>
                  <a:srgbClr val="008000"/>
                </a:solidFill>
                <a:latin typeface="Arial"/>
                <a:cs typeface="Arial"/>
              </a:rPr>
              <a:t>ea</a:t>
            </a:r>
            <a:r>
              <a:rPr sz="2400" dirty="0">
                <a:solidFill>
                  <a:srgbClr val="008000"/>
                </a:solidFill>
                <a:latin typeface="Arial"/>
                <a:cs typeface="Arial"/>
              </a:rPr>
              <a:t>d</a:t>
            </a:r>
            <a:r>
              <a:rPr sz="2400" spc="9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srgbClr val="008000"/>
                </a:solidFill>
                <a:latin typeface="Arial"/>
                <a:cs typeface="Arial"/>
              </a:rPr>
              <a:t>to</a:t>
            </a:r>
            <a:r>
              <a:rPr sz="2400" spc="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srgbClr val="008000"/>
                </a:solidFill>
                <a:latin typeface="Arial"/>
                <a:cs typeface="Arial"/>
              </a:rPr>
              <a:t>m</a:t>
            </a:r>
            <a:r>
              <a:rPr sz="2400" spc="-65" dirty="0">
                <a:solidFill>
                  <a:srgbClr val="008000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srgbClr val="008000"/>
                </a:solidFill>
                <a:latin typeface="Arial"/>
                <a:cs typeface="Arial"/>
              </a:rPr>
              <a:t>m</a:t>
            </a:r>
            <a:r>
              <a:rPr sz="2400" spc="-65" dirty="0">
                <a:solidFill>
                  <a:srgbClr val="008000"/>
                </a:solidFill>
                <a:latin typeface="Arial"/>
                <a:cs typeface="Arial"/>
              </a:rPr>
              <a:t>o</a:t>
            </a:r>
            <a:r>
              <a:rPr sz="2400" spc="20" dirty="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sz="2400" spc="-80" dirty="0">
                <a:solidFill>
                  <a:srgbClr val="008000"/>
                </a:solidFill>
                <a:latin typeface="Arial"/>
                <a:cs typeface="Arial"/>
              </a:rPr>
              <a:t>y</a:t>
            </a:r>
            <a:r>
              <a:rPr sz="2400" dirty="0">
                <a:solidFill>
                  <a:srgbClr val="008000"/>
                </a:solidFill>
                <a:latin typeface="Arial"/>
                <a:cs typeface="Arial"/>
              </a:rPr>
              <a:t>:</a:t>
            </a:r>
            <a:r>
              <a:rPr sz="2400" spc="12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b="1" i="1" spc="5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b="1" i="1" spc="30" dirty="0">
                <a:latin typeface="Arial"/>
                <a:cs typeface="Arial"/>
              </a:rPr>
              <a:t>d</a:t>
            </a:r>
            <a:r>
              <a:rPr sz="2325" b="1" i="1" spc="22" baseline="-19713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b="1" i="1" spc="30" dirty="0">
                <a:latin typeface="Arial"/>
                <a:cs typeface="Arial"/>
              </a:rPr>
              <a:t>d</a:t>
            </a:r>
            <a:r>
              <a:rPr sz="2400" b="1" i="1" spc="10" dirty="0">
                <a:latin typeface="Arial"/>
                <a:cs typeface="Arial"/>
              </a:rPr>
              <a:t>es</a:t>
            </a:r>
            <a:r>
              <a:rPr sz="2400" b="1" i="1" spc="30" dirty="0">
                <a:latin typeface="Arial"/>
                <a:cs typeface="Arial"/>
              </a:rPr>
              <a:t>t</a:t>
            </a:r>
            <a:r>
              <a:rPr sz="2325" b="1" i="1" spc="52" baseline="-19713" dirty="0">
                <a:latin typeface="Arial"/>
                <a:cs typeface="Arial"/>
              </a:rPr>
              <a:t>1</a:t>
            </a:r>
            <a:r>
              <a:rPr sz="2400" b="1" i="1" dirty="0">
                <a:latin typeface="Arial"/>
                <a:cs typeface="Arial"/>
              </a:rPr>
              <a:t>,</a:t>
            </a:r>
            <a:r>
              <a:rPr sz="2400" b="1" i="1" spc="-13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…,</a:t>
            </a:r>
            <a:r>
              <a:rPr sz="2400" b="1" i="1" spc="15" dirty="0">
                <a:latin typeface="Arial"/>
                <a:cs typeface="Arial"/>
              </a:rPr>
              <a:t> </a:t>
            </a:r>
            <a:r>
              <a:rPr sz="2400" b="1" i="1" spc="30" dirty="0">
                <a:latin typeface="Arial"/>
                <a:cs typeface="Arial"/>
              </a:rPr>
              <a:t>d</a:t>
            </a:r>
            <a:r>
              <a:rPr sz="2400" b="1" i="1" spc="10" dirty="0">
                <a:latin typeface="Arial"/>
                <a:cs typeface="Arial"/>
              </a:rPr>
              <a:t>es</a:t>
            </a:r>
            <a:r>
              <a:rPr sz="2400" b="1" i="1" spc="25" dirty="0">
                <a:latin typeface="Arial"/>
                <a:cs typeface="Arial"/>
              </a:rPr>
              <a:t>t</a:t>
            </a:r>
            <a:r>
              <a:rPr sz="2325" b="1" i="1" spc="37" baseline="-19713" dirty="0">
                <a:latin typeface="Arial"/>
                <a:cs typeface="Arial"/>
              </a:rPr>
              <a:t>d</a:t>
            </a:r>
            <a:r>
              <a:rPr sz="1575" b="1" i="1" spc="7" baseline="-15873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b="1" i="1" spc="-35" dirty="0">
                <a:latin typeface="Arial"/>
                <a:cs typeface="Arial"/>
              </a:rPr>
              <a:t>r</a:t>
            </a:r>
            <a:r>
              <a:rPr sz="2325" b="1" i="1" spc="37" baseline="26881" dirty="0">
                <a:latin typeface="Arial"/>
                <a:cs typeface="Arial"/>
              </a:rPr>
              <a:t>ol</a:t>
            </a:r>
            <a:r>
              <a:rPr sz="2325" b="1" i="1" spc="30" baseline="26881" dirty="0">
                <a:latin typeface="Arial"/>
                <a:cs typeface="Arial"/>
              </a:rPr>
              <a:t>d</a:t>
            </a:r>
            <a:r>
              <a:rPr sz="2400" b="1" i="1" spc="25" dirty="0">
                <a:latin typeface="Arial"/>
                <a:cs typeface="Arial"/>
              </a:rPr>
              <a:t>(</a:t>
            </a:r>
            <a:r>
              <a:rPr sz="2400" b="1" i="1" spc="5" dirty="0">
                <a:latin typeface="Arial"/>
                <a:cs typeface="Arial"/>
              </a:rPr>
              <a:t>i</a:t>
            </a:r>
            <a:r>
              <a:rPr sz="2400" b="1" i="1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273050">
              <a:lnSpc>
                <a:spcPts val="2870"/>
              </a:lnSpc>
            </a:pPr>
            <a:r>
              <a:rPr sz="2400" spc="-15" dirty="0">
                <a:solidFill>
                  <a:srgbClr val="008000"/>
                </a:solidFill>
                <a:latin typeface="Arial"/>
                <a:cs typeface="Arial"/>
              </a:rPr>
              <a:t>For </a:t>
            </a:r>
            <a:r>
              <a:rPr sz="2400" b="1" dirty="0">
                <a:latin typeface="Arial"/>
                <a:cs typeface="Arial"/>
              </a:rPr>
              <a:t>j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1…d</a:t>
            </a:r>
            <a:r>
              <a:rPr sz="2325" b="1" spc="-7" baseline="-19713" dirty="0">
                <a:latin typeface="Arial"/>
                <a:cs typeface="Arial"/>
              </a:rPr>
              <a:t>i</a:t>
            </a:r>
            <a:endParaRPr sz="2325" baseline="-19713">
              <a:latin typeface="Arial"/>
              <a:cs typeface="Arial"/>
            </a:endParaRPr>
          </a:p>
          <a:p>
            <a:pPr marL="607060">
              <a:lnSpc>
                <a:spcPct val="100000"/>
              </a:lnSpc>
              <a:spcBef>
                <a:spcPts val="50"/>
              </a:spcBef>
            </a:pPr>
            <a:r>
              <a:rPr sz="2400" b="1" spc="-5" dirty="0">
                <a:latin typeface="Arial"/>
                <a:cs typeface="Arial"/>
              </a:rPr>
              <a:t>r</a:t>
            </a:r>
            <a:r>
              <a:rPr sz="2325" b="1" spc="-7" baseline="26881" dirty="0">
                <a:latin typeface="Arial"/>
                <a:cs typeface="Arial"/>
              </a:rPr>
              <a:t>new</a:t>
            </a:r>
            <a:r>
              <a:rPr sz="2400" b="1" spc="-5" dirty="0">
                <a:latin typeface="Arial"/>
                <a:cs typeface="Arial"/>
              </a:rPr>
              <a:t>(dest</a:t>
            </a:r>
            <a:r>
              <a:rPr sz="2325" b="1" spc="-7" baseline="-19713" dirty="0">
                <a:latin typeface="Arial"/>
                <a:cs typeface="Arial"/>
              </a:rPr>
              <a:t>j</a:t>
            </a:r>
            <a:r>
              <a:rPr sz="2400" b="1" spc="-5" dirty="0">
                <a:latin typeface="Arial"/>
                <a:cs typeface="Arial"/>
              </a:rPr>
              <a:t>) </a:t>
            </a:r>
            <a:r>
              <a:rPr sz="2400" b="1" spc="5" dirty="0">
                <a:latin typeface="Arial"/>
                <a:cs typeface="Arial"/>
              </a:rPr>
              <a:t>+= </a:t>
            </a:r>
            <a:r>
              <a:rPr sz="2400" b="1" dirty="0">
                <a:latin typeface="Symbol"/>
                <a:cs typeface="Symbol"/>
              </a:rPr>
              <a:t>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20" dirty="0">
                <a:latin typeface="Arial"/>
                <a:cs typeface="Arial"/>
              </a:rPr>
              <a:t>r</a:t>
            </a:r>
            <a:r>
              <a:rPr sz="2325" b="1" spc="30" baseline="26881" dirty="0">
                <a:latin typeface="Arial"/>
                <a:cs typeface="Arial"/>
              </a:rPr>
              <a:t>old</a:t>
            </a:r>
            <a:r>
              <a:rPr sz="2400" b="1" spc="20" dirty="0">
                <a:latin typeface="Arial"/>
                <a:cs typeface="Arial"/>
              </a:rPr>
              <a:t>(i) </a:t>
            </a:r>
            <a:r>
              <a:rPr sz="2400" b="1" dirty="0">
                <a:latin typeface="Arial"/>
                <a:cs typeface="Arial"/>
              </a:rPr>
              <a:t>/</a:t>
            </a:r>
            <a:r>
              <a:rPr sz="2400" b="1" spc="45" dirty="0">
                <a:latin typeface="Arial"/>
                <a:cs typeface="Arial"/>
              </a:rPr>
              <a:t> </a:t>
            </a:r>
            <a:r>
              <a:rPr sz="2400" b="1" i="1" spc="15" dirty="0">
                <a:latin typeface="Arial"/>
                <a:cs typeface="Arial"/>
              </a:rPr>
              <a:t>d</a:t>
            </a:r>
            <a:r>
              <a:rPr sz="2325" b="1" i="1" spc="22" baseline="-19713" dirty="0">
                <a:latin typeface="Arial"/>
                <a:cs typeface="Arial"/>
              </a:rPr>
              <a:t>i</a:t>
            </a:r>
            <a:endParaRPr sz="2325" baseline="-19713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98206" y="2627947"/>
            <a:ext cx="105219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spc="10" dirty="0">
                <a:solidFill>
                  <a:srgbClr val="008000"/>
                </a:solidFill>
                <a:latin typeface="Arial"/>
                <a:cs typeface="Arial"/>
              </a:rPr>
              <a:t>Assuming</a:t>
            </a:r>
            <a:r>
              <a:rPr sz="1400" spc="-19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8000"/>
                </a:solidFill>
                <a:latin typeface="Arial"/>
                <a:cs typeface="Arial"/>
              </a:rPr>
              <a:t>no  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dead</a:t>
            </a:r>
            <a:r>
              <a:rPr sz="1400" spc="-14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008000"/>
                </a:solidFill>
                <a:latin typeface="Arial"/>
                <a:cs typeface="Arial"/>
              </a:rPr>
              <a:t>ends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33311"/>
            <a:ext cx="2052701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25830" y="1347787"/>
            <a:ext cx="756793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b="1" spc="5" dirty="0">
                <a:solidFill>
                  <a:srgbClr val="D50092"/>
                </a:solidFill>
                <a:latin typeface="Calibri"/>
                <a:cs typeface="Calibri"/>
              </a:rPr>
              <a:t>Assume enough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RAM to </a:t>
            </a:r>
            <a:r>
              <a:rPr b="1" spc="25" dirty="0">
                <a:solidFill>
                  <a:srgbClr val="D50092"/>
                </a:solidFill>
                <a:latin typeface="Calibri"/>
                <a:cs typeface="Calibri"/>
              </a:rPr>
              <a:t>fit </a:t>
            </a:r>
            <a:r>
              <a:rPr b="1" i="1" spc="5" dirty="0">
                <a:solidFill>
                  <a:srgbClr val="D50092"/>
                </a:solidFill>
                <a:latin typeface="Calibri"/>
                <a:cs typeface="Calibri"/>
              </a:rPr>
              <a:t>r</a:t>
            </a:r>
            <a:r>
              <a:rPr sz="3150" b="1" i="1" spc="7" baseline="26455" dirty="0">
                <a:solidFill>
                  <a:srgbClr val="D50092"/>
                </a:solidFill>
                <a:latin typeface="Calibri"/>
                <a:cs typeface="Calibri"/>
              </a:rPr>
              <a:t>new </a:t>
            </a:r>
            <a:r>
              <a:rPr sz="3200" b="1" spc="15" dirty="0">
                <a:solidFill>
                  <a:srgbClr val="D50092"/>
                </a:solidFill>
                <a:latin typeface="Calibri"/>
                <a:cs typeface="Calibri"/>
              </a:rPr>
              <a:t>into</a:t>
            </a:r>
            <a:r>
              <a:rPr sz="3200" b="1" spc="-24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memory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466594"/>
            <a:ext cx="323850" cy="4006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5251767"/>
            <a:ext cx="323850" cy="40068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0430" y="1929130"/>
            <a:ext cx="7004050" cy="42360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6075" indent="-276860">
              <a:lnSpc>
                <a:spcPct val="100000"/>
              </a:lnSpc>
              <a:spcBef>
                <a:spcPts val="130"/>
              </a:spcBef>
              <a:buClr>
                <a:srgbClr val="5FB5CC"/>
              </a:buClr>
              <a:buFont typeface="Wingdings"/>
              <a:buChar char=""/>
              <a:tabLst>
                <a:tab pos="346710" algn="l"/>
              </a:tabLst>
            </a:pPr>
            <a:r>
              <a:rPr sz="2750" spc="10" dirty="0">
                <a:latin typeface="Calibri"/>
                <a:cs typeface="Calibri"/>
              </a:rPr>
              <a:t>Store </a:t>
            </a:r>
            <a:r>
              <a:rPr sz="2750" b="1" i="1" spc="15" dirty="0">
                <a:latin typeface="Calibri"/>
                <a:cs typeface="Calibri"/>
              </a:rPr>
              <a:t>r</a:t>
            </a:r>
            <a:r>
              <a:rPr sz="2775" i="1" spc="22" baseline="24024" dirty="0">
                <a:latin typeface="Calibri"/>
                <a:cs typeface="Calibri"/>
              </a:rPr>
              <a:t>old </a:t>
            </a:r>
            <a:r>
              <a:rPr sz="2750" spc="5" dirty="0">
                <a:latin typeface="Calibri"/>
                <a:cs typeface="Calibri"/>
              </a:rPr>
              <a:t>and matrix </a:t>
            </a:r>
            <a:r>
              <a:rPr sz="2750" b="1" i="1" spc="25" dirty="0">
                <a:latin typeface="Calibri"/>
                <a:cs typeface="Calibri"/>
              </a:rPr>
              <a:t>M </a:t>
            </a:r>
            <a:r>
              <a:rPr sz="2750" spc="30" dirty="0">
                <a:latin typeface="Calibri"/>
                <a:cs typeface="Calibri"/>
              </a:rPr>
              <a:t>on</a:t>
            </a:r>
            <a:r>
              <a:rPr sz="2750" spc="-17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disk</a:t>
            </a:r>
            <a:endParaRPr sz="275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solidFill>
                  <a:srgbClr val="0000FF"/>
                </a:solidFill>
                <a:latin typeface="Calibri"/>
                <a:cs typeface="Calibri"/>
              </a:rPr>
              <a:t>In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each </a:t>
            </a:r>
            <a:r>
              <a:rPr sz="3200" b="1" spc="-5" dirty="0">
                <a:solidFill>
                  <a:srgbClr val="0000FF"/>
                </a:solidFill>
                <a:latin typeface="Calibri"/>
                <a:cs typeface="Calibri"/>
              </a:rPr>
              <a:t>iteration,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we </a:t>
            </a:r>
            <a:r>
              <a:rPr sz="3200" b="1" spc="-20" dirty="0">
                <a:solidFill>
                  <a:srgbClr val="0000FF"/>
                </a:solidFill>
                <a:latin typeface="Calibri"/>
                <a:cs typeface="Calibri"/>
              </a:rPr>
              <a:t>have</a:t>
            </a:r>
            <a:r>
              <a:rPr sz="3200" b="1" spc="-3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to:</a:t>
            </a:r>
            <a:endParaRPr sz="3200">
              <a:latin typeface="Calibri"/>
              <a:cs typeface="Calibri"/>
            </a:endParaRPr>
          </a:p>
          <a:p>
            <a:pPr marL="346075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346710" algn="l"/>
              </a:tabLst>
            </a:pPr>
            <a:r>
              <a:rPr sz="2750" spc="-15" dirty="0">
                <a:latin typeface="Calibri"/>
                <a:cs typeface="Calibri"/>
              </a:rPr>
              <a:t>Read </a:t>
            </a:r>
            <a:r>
              <a:rPr sz="2750" b="1" i="1" spc="15" dirty="0">
                <a:latin typeface="Calibri"/>
                <a:cs typeface="Calibri"/>
              </a:rPr>
              <a:t>r</a:t>
            </a:r>
            <a:r>
              <a:rPr sz="2775" i="1" spc="22" baseline="24024" dirty="0">
                <a:latin typeface="Calibri"/>
                <a:cs typeface="Calibri"/>
              </a:rPr>
              <a:t>old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b="1" i="1" spc="25" dirty="0">
                <a:latin typeface="Calibri"/>
                <a:cs typeface="Calibri"/>
              </a:rPr>
              <a:t>M</a:t>
            </a:r>
            <a:endParaRPr sz="2750">
              <a:latin typeface="Calibri"/>
              <a:cs typeface="Calibri"/>
            </a:endParaRPr>
          </a:p>
          <a:p>
            <a:pPr marL="34607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46710" algn="l"/>
              </a:tabLst>
            </a:pPr>
            <a:r>
              <a:rPr sz="2750" spc="-20" dirty="0">
                <a:latin typeface="Calibri"/>
                <a:cs typeface="Calibri"/>
              </a:rPr>
              <a:t>Write </a:t>
            </a:r>
            <a:r>
              <a:rPr sz="2750" b="1" i="1" spc="15" dirty="0">
                <a:latin typeface="Calibri"/>
                <a:cs typeface="Calibri"/>
              </a:rPr>
              <a:t>r</a:t>
            </a:r>
            <a:r>
              <a:rPr sz="2775" i="1" spc="22" baseline="25525" dirty="0">
                <a:latin typeface="Calibri"/>
                <a:cs typeface="Calibri"/>
              </a:rPr>
              <a:t>new </a:t>
            </a:r>
            <a:r>
              <a:rPr sz="2750" spc="10" dirty="0">
                <a:latin typeface="Calibri"/>
                <a:cs typeface="Calibri"/>
              </a:rPr>
              <a:t>back </a:t>
            </a:r>
            <a:r>
              <a:rPr sz="2750" spc="-10" dirty="0">
                <a:latin typeface="Calibri"/>
                <a:cs typeface="Calibri"/>
              </a:rPr>
              <a:t>to</a:t>
            </a:r>
            <a:r>
              <a:rPr sz="2750" spc="-8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disk</a:t>
            </a:r>
            <a:endParaRPr sz="2750">
              <a:latin typeface="Calibri"/>
              <a:cs typeface="Calibri"/>
            </a:endParaRPr>
          </a:p>
          <a:p>
            <a:pPr marL="34607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46710" algn="l"/>
              </a:tabLst>
            </a:pPr>
            <a:r>
              <a:rPr sz="2750" b="1" spc="20" dirty="0">
                <a:solidFill>
                  <a:srgbClr val="008000"/>
                </a:solidFill>
                <a:latin typeface="Calibri"/>
                <a:cs typeface="Calibri"/>
              </a:rPr>
              <a:t>Cost per </a:t>
            </a:r>
            <a:r>
              <a:rPr sz="2750" b="1" dirty="0">
                <a:solidFill>
                  <a:srgbClr val="008000"/>
                </a:solidFill>
                <a:latin typeface="Calibri"/>
                <a:cs typeface="Calibri"/>
              </a:rPr>
              <a:t>iteration </a:t>
            </a:r>
            <a:r>
              <a:rPr sz="2750" b="1" spc="10" dirty="0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sz="2750" b="1" spc="15" dirty="0">
                <a:solidFill>
                  <a:srgbClr val="008000"/>
                </a:solidFill>
                <a:latin typeface="Calibri"/>
                <a:cs typeface="Calibri"/>
              </a:rPr>
              <a:t>Power</a:t>
            </a:r>
            <a:r>
              <a:rPr sz="2750" b="1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750" b="1" spc="15" dirty="0">
                <a:solidFill>
                  <a:srgbClr val="008000"/>
                </a:solidFill>
                <a:latin typeface="Calibri"/>
                <a:cs typeface="Calibri"/>
              </a:rPr>
              <a:t>method:</a:t>
            </a:r>
            <a:endParaRPr sz="2750">
              <a:latin typeface="Calibri"/>
              <a:cs typeface="Calibri"/>
            </a:endParaRPr>
          </a:p>
          <a:p>
            <a:pPr marL="346075">
              <a:lnSpc>
                <a:spcPct val="100000"/>
              </a:lnSpc>
              <a:spcBef>
                <a:spcPts val="80"/>
              </a:spcBef>
            </a:pPr>
            <a:r>
              <a:rPr sz="2750" b="1" spc="10" dirty="0">
                <a:solidFill>
                  <a:srgbClr val="008000"/>
                </a:solidFill>
                <a:latin typeface="Calibri"/>
                <a:cs typeface="Calibri"/>
              </a:rPr>
              <a:t>= </a:t>
            </a:r>
            <a:r>
              <a:rPr sz="2750" spc="25" dirty="0">
                <a:solidFill>
                  <a:srgbClr val="008000"/>
                </a:solidFill>
                <a:latin typeface="Cambria Math"/>
                <a:cs typeface="Cambria Math"/>
              </a:rPr>
              <a:t>2|𝒓| </a:t>
            </a:r>
            <a:r>
              <a:rPr sz="2750" spc="20" dirty="0">
                <a:solidFill>
                  <a:srgbClr val="008000"/>
                </a:solidFill>
                <a:latin typeface="Cambria Math"/>
                <a:cs typeface="Cambria Math"/>
              </a:rPr>
              <a:t>+</a:t>
            </a:r>
            <a:r>
              <a:rPr sz="2750" spc="580" dirty="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sz="2750" spc="25" dirty="0">
                <a:solidFill>
                  <a:srgbClr val="008000"/>
                </a:solidFill>
                <a:latin typeface="Cambria Math"/>
                <a:cs typeface="Cambria Math"/>
              </a:rPr>
              <a:t>|𝑴|</a:t>
            </a:r>
            <a:endParaRPr sz="27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3200" b="1" spc="15" dirty="0">
                <a:solidFill>
                  <a:srgbClr val="D50092"/>
                </a:solidFill>
                <a:latin typeface="Calibri"/>
                <a:cs typeface="Calibri"/>
              </a:rPr>
              <a:t>Question:</a:t>
            </a:r>
            <a:endParaRPr sz="3200">
              <a:latin typeface="Calibri"/>
              <a:cs typeface="Calibri"/>
            </a:endParaRPr>
          </a:p>
          <a:p>
            <a:pPr marL="346075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346710" algn="l"/>
              </a:tabLst>
            </a:pPr>
            <a:r>
              <a:rPr sz="2750" spc="10" dirty="0">
                <a:latin typeface="Calibri"/>
                <a:cs typeface="Calibri"/>
              </a:rPr>
              <a:t>What </a:t>
            </a:r>
            <a:r>
              <a:rPr sz="2750" spc="-15" dirty="0">
                <a:latin typeface="Calibri"/>
                <a:cs typeface="Calibri"/>
              </a:rPr>
              <a:t>if </a:t>
            </a:r>
            <a:r>
              <a:rPr sz="2750" spc="-5" dirty="0">
                <a:latin typeface="Calibri"/>
                <a:cs typeface="Calibri"/>
              </a:rPr>
              <a:t>we </a:t>
            </a:r>
            <a:r>
              <a:rPr sz="2750" spc="5" dirty="0">
                <a:latin typeface="Calibri"/>
                <a:cs typeface="Calibri"/>
              </a:rPr>
              <a:t>could </a:t>
            </a:r>
            <a:r>
              <a:rPr sz="2750" spc="10" dirty="0">
                <a:latin typeface="Calibri"/>
                <a:cs typeface="Calibri"/>
              </a:rPr>
              <a:t>not </a:t>
            </a:r>
            <a:r>
              <a:rPr sz="2750" dirty="0">
                <a:latin typeface="Calibri"/>
                <a:cs typeface="Calibri"/>
              </a:rPr>
              <a:t>even </a:t>
            </a:r>
            <a:r>
              <a:rPr sz="2750" spc="-15" dirty="0">
                <a:latin typeface="Calibri"/>
                <a:cs typeface="Calibri"/>
              </a:rPr>
              <a:t>fit </a:t>
            </a:r>
            <a:r>
              <a:rPr sz="2750" b="1" i="1" spc="15" dirty="0">
                <a:latin typeface="Calibri"/>
                <a:cs typeface="Calibri"/>
              </a:rPr>
              <a:t>r</a:t>
            </a:r>
            <a:r>
              <a:rPr sz="2775" i="1" spc="22" baseline="24024" dirty="0">
                <a:latin typeface="Calibri"/>
                <a:cs typeface="Calibri"/>
              </a:rPr>
              <a:t>new 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204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memory?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529576" cy="585787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82830" y="2517044"/>
          <a:ext cx="4116070" cy="1348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7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87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0, 1, 3,</a:t>
                      </a:r>
                      <a:r>
                        <a:rPr sz="2400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693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0,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3,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371663" y="2467038"/>
            <a:ext cx="466725" cy="619125"/>
            <a:chOff x="1371663" y="2467038"/>
            <a:chExt cx="466725" cy="619125"/>
          </a:xfrm>
        </p:grpSpPr>
        <p:sp>
          <p:nvSpPr>
            <p:cNvPr id="5" name="object 5"/>
            <p:cNvSpPr/>
            <p:nvPr/>
          </p:nvSpPr>
          <p:spPr>
            <a:xfrm>
              <a:off x="1376425" y="2471801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57200" y="3048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6425" y="2471801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304800"/>
                  </a:moveTo>
                  <a:lnTo>
                    <a:pt x="457200" y="3048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76425" y="2776601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57200" y="3048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6425" y="2776601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304800"/>
                  </a:moveTo>
                  <a:lnTo>
                    <a:pt x="457200" y="3048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376425" y="3433826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0" y="304800"/>
                </a:moveTo>
                <a:lnTo>
                  <a:pt x="457200" y="304800"/>
                </a:lnTo>
                <a:lnTo>
                  <a:pt x="4572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  <a:path w="457200" h="609600">
                <a:moveTo>
                  <a:pt x="0" y="609600"/>
                </a:moveTo>
                <a:lnTo>
                  <a:pt x="457200" y="609600"/>
                </a:lnTo>
                <a:lnTo>
                  <a:pt x="457200" y="304800"/>
                </a:lnTo>
                <a:lnTo>
                  <a:pt x="0" y="304800"/>
                </a:lnTo>
                <a:lnTo>
                  <a:pt x="0" y="609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76425" y="4348226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0" y="304800"/>
                </a:moveTo>
                <a:lnTo>
                  <a:pt x="457200" y="304800"/>
                </a:lnTo>
                <a:lnTo>
                  <a:pt x="4572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  <a:path w="457200" h="609600">
                <a:moveTo>
                  <a:pt x="0" y="609600"/>
                </a:moveTo>
                <a:lnTo>
                  <a:pt x="457200" y="609600"/>
                </a:lnTo>
                <a:lnTo>
                  <a:pt x="457200" y="304800"/>
                </a:lnTo>
                <a:lnTo>
                  <a:pt x="0" y="304800"/>
                </a:lnTo>
                <a:lnTo>
                  <a:pt x="0" y="609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9480" y="4347527"/>
            <a:ext cx="6413500" cy="1941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9395">
              <a:lnSpc>
                <a:spcPct val="100000"/>
              </a:lnSpc>
              <a:spcBef>
                <a:spcPts val="125"/>
              </a:spcBef>
            </a:pPr>
            <a:r>
              <a:rPr sz="2000" spc="10" dirty="0">
                <a:latin typeface="Corbel"/>
                <a:cs typeface="Corbel"/>
              </a:rPr>
              <a:t>4</a:t>
            </a:r>
            <a:endParaRPr sz="2000">
              <a:latin typeface="Corbel"/>
              <a:cs typeface="Corbel"/>
            </a:endParaRPr>
          </a:p>
          <a:p>
            <a:pPr marL="239395">
              <a:lnSpc>
                <a:spcPct val="100000"/>
              </a:lnSpc>
              <a:spcBef>
                <a:spcPts val="5"/>
              </a:spcBef>
            </a:pPr>
            <a:r>
              <a:rPr sz="2000" spc="10" dirty="0">
                <a:latin typeface="Corbel"/>
                <a:cs typeface="Corbel"/>
              </a:rPr>
              <a:t>5</a:t>
            </a:r>
            <a:endParaRPr sz="20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Corbel"/>
              <a:cs typeface="Corbel"/>
            </a:endParaRPr>
          </a:p>
          <a:p>
            <a:pPr marL="327025" indent="-276860">
              <a:lnSpc>
                <a:spcPct val="100000"/>
              </a:lnSpc>
              <a:buClr>
                <a:srgbClr val="5FB5CC"/>
              </a:buClr>
              <a:buFont typeface="Wingdings"/>
              <a:buChar char=""/>
              <a:tabLst>
                <a:tab pos="327660" algn="l"/>
              </a:tabLst>
            </a:pPr>
            <a:r>
              <a:rPr sz="2750" spc="5" dirty="0">
                <a:latin typeface="Calibri"/>
                <a:cs typeface="Calibri"/>
              </a:rPr>
              <a:t>Break </a:t>
            </a:r>
            <a:r>
              <a:rPr sz="2750" b="1" i="1" dirty="0">
                <a:latin typeface="Calibri"/>
                <a:cs typeface="Calibri"/>
              </a:rPr>
              <a:t>r</a:t>
            </a:r>
            <a:r>
              <a:rPr sz="2775" baseline="25525" dirty="0">
                <a:latin typeface="Calibri"/>
                <a:cs typeface="Calibri"/>
              </a:rPr>
              <a:t>new </a:t>
            </a:r>
            <a:r>
              <a:rPr sz="2750" spc="-20" dirty="0">
                <a:latin typeface="Calibri"/>
                <a:cs typeface="Calibri"/>
              </a:rPr>
              <a:t>into </a:t>
            </a:r>
            <a:r>
              <a:rPr sz="2750" b="1" i="1" spc="10" dirty="0">
                <a:latin typeface="Calibri"/>
                <a:cs typeface="Calibri"/>
              </a:rPr>
              <a:t>k </a:t>
            </a:r>
            <a:r>
              <a:rPr sz="2750" spc="5" dirty="0">
                <a:latin typeface="Calibri"/>
                <a:cs typeface="Calibri"/>
              </a:rPr>
              <a:t>blocks </a:t>
            </a:r>
            <a:r>
              <a:rPr sz="2750" spc="-5" dirty="0">
                <a:latin typeface="Calibri"/>
                <a:cs typeface="Calibri"/>
              </a:rPr>
              <a:t>that </a:t>
            </a:r>
            <a:r>
              <a:rPr sz="2750" spc="-15" dirty="0">
                <a:latin typeface="Calibri"/>
                <a:cs typeface="Calibri"/>
              </a:rPr>
              <a:t>fit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31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memory</a:t>
            </a:r>
            <a:endParaRPr sz="2750">
              <a:latin typeface="Calibri"/>
              <a:cs typeface="Calibri"/>
            </a:endParaRPr>
          </a:p>
          <a:p>
            <a:pPr marL="32702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27660" algn="l"/>
              </a:tabLst>
            </a:pPr>
            <a:r>
              <a:rPr sz="2750" spc="20" dirty="0">
                <a:latin typeface="Calibri"/>
                <a:cs typeface="Calibri"/>
              </a:rPr>
              <a:t>Scan </a:t>
            </a:r>
            <a:r>
              <a:rPr sz="2750" b="1" i="1" spc="25" dirty="0">
                <a:latin typeface="Calibri"/>
                <a:cs typeface="Calibri"/>
              </a:rPr>
              <a:t>M </a:t>
            </a:r>
            <a:r>
              <a:rPr sz="2750" spc="5" dirty="0">
                <a:latin typeface="Calibri"/>
                <a:cs typeface="Calibri"/>
              </a:rPr>
              <a:t>and </a:t>
            </a:r>
            <a:r>
              <a:rPr sz="2750" b="1" i="1" spc="5" dirty="0">
                <a:latin typeface="Calibri"/>
                <a:cs typeface="Calibri"/>
              </a:rPr>
              <a:t>r</a:t>
            </a:r>
            <a:r>
              <a:rPr sz="2775" spc="7" baseline="24024" dirty="0">
                <a:latin typeface="Calibri"/>
                <a:cs typeface="Calibri"/>
              </a:rPr>
              <a:t>old </a:t>
            </a:r>
            <a:r>
              <a:rPr sz="2750" spc="15" dirty="0">
                <a:latin typeface="Calibri"/>
                <a:cs typeface="Calibri"/>
              </a:rPr>
              <a:t>once </a:t>
            </a:r>
            <a:r>
              <a:rPr sz="2750" spc="-10" dirty="0">
                <a:latin typeface="Calibri"/>
                <a:cs typeface="Calibri"/>
              </a:rPr>
              <a:t>for </a:t>
            </a:r>
            <a:r>
              <a:rPr sz="2750" spc="15" dirty="0">
                <a:latin typeface="Calibri"/>
                <a:cs typeface="Calibri"/>
              </a:rPr>
              <a:t>each</a:t>
            </a:r>
            <a:r>
              <a:rPr sz="2750" spc="-8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block</a:t>
            </a:r>
            <a:endParaRPr sz="275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543863" y="2467038"/>
          <a:ext cx="4572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2748533" y="2163381"/>
            <a:ext cx="155829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75335" algn="l"/>
              </a:tabLst>
            </a:pPr>
            <a:r>
              <a:rPr sz="2000" b="1" spc="-15" dirty="0">
                <a:solidFill>
                  <a:srgbClr val="008000"/>
                </a:solidFill>
                <a:latin typeface="Corbel"/>
                <a:cs typeface="Corbel"/>
              </a:rPr>
              <a:t>src	</a:t>
            </a:r>
            <a:r>
              <a:rPr sz="2000" b="1" spc="5" dirty="0">
                <a:solidFill>
                  <a:srgbClr val="008000"/>
                </a:solidFill>
                <a:latin typeface="Corbel"/>
                <a:cs typeface="Corbel"/>
              </a:rPr>
              <a:t>degree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9239" y="2163381"/>
            <a:ext cx="12922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5" dirty="0">
                <a:solidFill>
                  <a:srgbClr val="008000"/>
                </a:solidFill>
                <a:latin typeface="Corbel"/>
                <a:cs typeface="Corbel"/>
              </a:rPr>
              <a:t>destination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6810" y="2484437"/>
            <a:ext cx="158115" cy="623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340"/>
              </a:lnSpc>
              <a:spcBef>
                <a:spcPts val="125"/>
              </a:spcBef>
            </a:pPr>
            <a:r>
              <a:rPr sz="2000" spc="10" dirty="0">
                <a:latin typeface="Corbel"/>
                <a:cs typeface="Corbel"/>
              </a:rPr>
              <a:t>0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ts val="2340"/>
              </a:lnSpc>
            </a:pPr>
            <a:r>
              <a:rPr sz="2000" spc="10" dirty="0">
                <a:latin typeface="Corbel"/>
                <a:cs typeface="Corbel"/>
              </a:rPr>
              <a:t>1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6810" y="3431857"/>
            <a:ext cx="157480" cy="655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0" dirty="0">
                <a:latin typeface="Corbel"/>
                <a:cs typeface="Corbel"/>
              </a:rPr>
              <a:t>2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10" dirty="0">
                <a:latin typeface="Corbel"/>
                <a:cs typeface="Corbel"/>
              </a:rPr>
              <a:t>3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32368" y="2408237"/>
            <a:ext cx="158750" cy="18446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340"/>
              </a:lnSpc>
              <a:spcBef>
                <a:spcPts val="125"/>
              </a:spcBef>
            </a:pPr>
            <a:r>
              <a:rPr sz="2000" spc="10" dirty="0">
                <a:latin typeface="Corbel"/>
                <a:cs typeface="Corbel"/>
              </a:rPr>
              <a:t>0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ts val="2340"/>
              </a:lnSpc>
            </a:pPr>
            <a:r>
              <a:rPr sz="2000" spc="10" dirty="0">
                <a:latin typeface="Corbel"/>
                <a:cs typeface="Corbel"/>
              </a:rPr>
              <a:t>1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10" dirty="0">
                <a:latin typeface="Corbel"/>
                <a:cs typeface="Corbel"/>
              </a:rPr>
              <a:t>2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ts val="2340"/>
              </a:lnSpc>
              <a:spcBef>
                <a:spcPts val="130"/>
              </a:spcBef>
            </a:pPr>
            <a:r>
              <a:rPr sz="2000" spc="10" dirty="0">
                <a:latin typeface="Corbel"/>
                <a:cs typeface="Corbel"/>
              </a:rPr>
              <a:t>3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ts val="2340"/>
              </a:lnSpc>
            </a:pPr>
            <a:r>
              <a:rPr sz="2000" spc="10" dirty="0">
                <a:latin typeface="Corbel"/>
                <a:cs typeface="Corbel"/>
              </a:rPr>
              <a:t>4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sz="2000" spc="10" dirty="0">
                <a:latin typeface="Corbel"/>
                <a:cs typeface="Corbel"/>
              </a:rPr>
              <a:t>5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0391" y="2045335"/>
            <a:ext cx="4718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00" b="1" spc="-15" baseline="-16666" dirty="0">
                <a:solidFill>
                  <a:srgbClr val="008000"/>
                </a:solidFill>
                <a:latin typeface="Corbel"/>
                <a:cs typeface="Corbel"/>
              </a:rPr>
              <a:t>r</a:t>
            </a:r>
            <a:r>
              <a:rPr sz="1350" b="1" spc="-10" dirty="0">
                <a:solidFill>
                  <a:srgbClr val="008000"/>
                </a:solidFill>
                <a:latin typeface="Corbel"/>
                <a:cs typeface="Corbel"/>
              </a:rPr>
              <a:t>new</a:t>
            </a:r>
            <a:endParaRPr sz="1350">
              <a:latin typeface="Corbel"/>
              <a:cs typeface="Corbe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67041" y="2026602"/>
            <a:ext cx="4006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000" b="1" baseline="-16666" dirty="0">
                <a:solidFill>
                  <a:srgbClr val="008000"/>
                </a:solidFill>
                <a:latin typeface="Corbel"/>
                <a:cs typeface="Corbel"/>
              </a:rPr>
              <a:t>r</a:t>
            </a:r>
            <a:r>
              <a:rPr sz="1350" b="1" dirty="0">
                <a:solidFill>
                  <a:srgbClr val="008000"/>
                </a:solidFill>
                <a:latin typeface="Corbel"/>
                <a:cs typeface="Corbel"/>
              </a:rPr>
              <a:t>old</a:t>
            </a:r>
            <a:endParaRPr sz="1350">
              <a:latin typeface="Corbel"/>
              <a:cs typeface="Corbe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52570" y="3838575"/>
            <a:ext cx="32004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i="1" spc="25" dirty="0">
                <a:solidFill>
                  <a:srgbClr val="008000"/>
                </a:solidFill>
                <a:latin typeface="Arial"/>
                <a:cs typeface="Arial"/>
              </a:rPr>
              <a:t>M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23786"/>
            <a:ext cx="6100826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670560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15" dirty="0">
                <a:solidFill>
                  <a:srgbClr val="0000FF"/>
                </a:solidFill>
                <a:latin typeface="Calibri"/>
                <a:cs typeface="Calibri"/>
              </a:rPr>
              <a:t>Similar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b="1" spc="5" dirty="0">
                <a:solidFill>
                  <a:srgbClr val="0000FF"/>
                </a:solidFill>
                <a:latin typeface="Calibri"/>
                <a:cs typeface="Calibri"/>
              </a:rPr>
              <a:t>nested-loop 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join </a:t>
            </a:r>
            <a:r>
              <a:rPr b="1" spc="25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b="1" spc="-5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spc="5" dirty="0">
                <a:solidFill>
                  <a:srgbClr val="0000FF"/>
                </a:solidFill>
                <a:latin typeface="Calibri"/>
                <a:cs typeface="Calibri"/>
              </a:rPr>
              <a:t>databases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981325"/>
            <a:ext cx="323850" cy="4006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918138"/>
            <a:ext cx="323850" cy="4003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25830" y="1837817"/>
            <a:ext cx="7445375" cy="442277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20675" indent="-276860">
              <a:lnSpc>
                <a:spcPct val="100000"/>
              </a:lnSpc>
              <a:spcBef>
                <a:spcPts val="844"/>
              </a:spcBef>
              <a:buClr>
                <a:srgbClr val="5FB5CC"/>
              </a:buClr>
              <a:buFont typeface="Wingdings"/>
              <a:buChar char=""/>
              <a:tabLst>
                <a:tab pos="321310" algn="l"/>
              </a:tabLst>
            </a:pPr>
            <a:r>
              <a:rPr sz="2750" spc="5" dirty="0">
                <a:latin typeface="Calibri"/>
                <a:cs typeface="Calibri"/>
              </a:rPr>
              <a:t>Break </a:t>
            </a:r>
            <a:r>
              <a:rPr sz="2750" b="1" i="1" dirty="0">
                <a:latin typeface="Calibri"/>
                <a:cs typeface="Calibri"/>
              </a:rPr>
              <a:t>r</a:t>
            </a:r>
            <a:r>
              <a:rPr sz="2775" baseline="24024" dirty="0">
                <a:latin typeface="Calibri"/>
                <a:cs typeface="Calibri"/>
              </a:rPr>
              <a:t>new </a:t>
            </a:r>
            <a:r>
              <a:rPr sz="2750" spc="-20" dirty="0">
                <a:latin typeface="Calibri"/>
                <a:cs typeface="Calibri"/>
              </a:rPr>
              <a:t>into </a:t>
            </a:r>
            <a:r>
              <a:rPr sz="2750" b="1" i="1" spc="10" dirty="0">
                <a:latin typeface="Calibri"/>
                <a:cs typeface="Calibri"/>
              </a:rPr>
              <a:t>k </a:t>
            </a:r>
            <a:r>
              <a:rPr sz="2750" spc="5" dirty="0">
                <a:latin typeface="Calibri"/>
                <a:cs typeface="Calibri"/>
              </a:rPr>
              <a:t>blocks </a:t>
            </a:r>
            <a:r>
              <a:rPr sz="2750" spc="-5" dirty="0">
                <a:latin typeface="Calibri"/>
                <a:cs typeface="Calibri"/>
              </a:rPr>
              <a:t>that </a:t>
            </a:r>
            <a:r>
              <a:rPr sz="2750" spc="-15" dirty="0">
                <a:latin typeface="Calibri"/>
                <a:cs typeface="Calibri"/>
              </a:rPr>
              <a:t>fit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31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memory</a:t>
            </a:r>
            <a:endParaRPr sz="2750">
              <a:latin typeface="Calibri"/>
              <a:cs typeface="Calibri"/>
            </a:endParaRPr>
          </a:p>
          <a:p>
            <a:pPr marL="32067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21310" algn="l"/>
              </a:tabLst>
            </a:pPr>
            <a:r>
              <a:rPr sz="2750" spc="20" dirty="0">
                <a:latin typeface="Calibri"/>
                <a:cs typeface="Calibri"/>
              </a:rPr>
              <a:t>Scan </a:t>
            </a:r>
            <a:r>
              <a:rPr sz="2750" b="1" i="1" spc="25" dirty="0">
                <a:latin typeface="Calibri"/>
                <a:cs typeface="Calibri"/>
              </a:rPr>
              <a:t>M </a:t>
            </a:r>
            <a:r>
              <a:rPr sz="2750" spc="5" dirty="0">
                <a:latin typeface="Calibri"/>
                <a:cs typeface="Calibri"/>
              </a:rPr>
              <a:t>and </a:t>
            </a:r>
            <a:r>
              <a:rPr sz="2750" b="1" i="1" spc="5" dirty="0">
                <a:latin typeface="Calibri"/>
                <a:cs typeface="Calibri"/>
              </a:rPr>
              <a:t>r</a:t>
            </a:r>
            <a:r>
              <a:rPr sz="2775" spc="7" baseline="24024" dirty="0">
                <a:latin typeface="Calibri"/>
                <a:cs typeface="Calibri"/>
              </a:rPr>
              <a:t>old </a:t>
            </a:r>
            <a:r>
              <a:rPr sz="2750" spc="15" dirty="0">
                <a:latin typeface="Calibri"/>
                <a:cs typeface="Calibri"/>
              </a:rPr>
              <a:t>once </a:t>
            </a:r>
            <a:r>
              <a:rPr sz="2750" spc="-10" dirty="0">
                <a:latin typeface="Calibri"/>
                <a:cs typeface="Calibri"/>
              </a:rPr>
              <a:t>for </a:t>
            </a:r>
            <a:r>
              <a:rPr sz="2750" spc="15" dirty="0">
                <a:latin typeface="Calibri"/>
                <a:cs typeface="Calibri"/>
              </a:rPr>
              <a:t>each</a:t>
            </a:r>
            <a:r>
              <a:rPr sz="2750" spc="-8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block</a:t>
            </a:r>
            <a:endParaRPr sz="275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3200" b="1" spc="-60" dirty="0">
                <a:solidFill>
                  <a:srgbClr val="FF0066"/>
                </a:solidFill>
                <a:latin typeface="Calibri"/>
                <a:cs typeface="Calibri"/>
              </a:rPr>
              <a:t>Total</a:t>
            </a:r>
            <a:r>
              <a:rPr sz="3200" b="1" spc="-3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66"/>
                </a:solidFill>
                <a:latin typeface="Calibri"/>
                <a:cs typeface="Calibri"/>
              </a:rPr>
              <a:t>cost:</a:t>
            </a:r>
            <a:endParaRPr sz="3200">
              <a:latin typeface="Calibri"/>
              <a:cs typeface="Calibri"/>
            </a:endParaRPr>
          </a:p>
          <a:p>
            <a:pPr marL="320675" indent="-276860">
              <a:lnSpc>
                <a:spcPct val="100000"/>
              </a:lnSpc>
              <a:spcBef>
                <a:spcPts val="745"/>
              </a:spcBef>
              <a:buClr>
                <a:srgbClr val="5FB5CC"/>
              </a:buClr>
              <a:buFont typeface="Wingdings"/>
              <a:buChar char=""/>
              <a:tabLst>
                <a:tab pos="321310" algn="l"/>
              </a:tabLst>
            </a:pPr>
            <a:r>
              <a:rPr sz="2750" b="1" i="1" spc="10" dirty="0">
                <a:latin typeface="Calibri"/>
                <a:cs typeface="Calibri"/>
              </a:rPr>
              <a:t>k </a:t>
            </a:r>
            <a:r>
              <a:rPr sz="2750" dirty="0">
                <a:latin typeface="Calibri"/>
                <a:cs typeface="Calibri"/>
              </a:rPr>
              <a:t>scans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b="1" i="1" spc="20" dirty="0">
                <a:latin typeface="Calibri"/>
                <a:cs typeface="Calibri"/>
              </a:rPr>
              <a:t>M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185" dirty="0">
                <a:latin typeface="Calibri"/>
                <a:cs typeface="Calibri"/>
              </a:rPr>
              <a:t> </a:t>
            </a:r>
            <a:r>
              <a:rPr sz="2750" b="1" i="1" spc="10" dirty="0">
                <a:latin typeface="Calibri"/>
                <a:cs typeface="Calibri"/>
              </a:rPr>
              <a:t>r</a:t>
            </a:r>
            <a:r>
              <a:rPr sz="2775" spc="15" baseline="25525" dirty="0">
                <a:latin typeface="Calibri"/>
                <a:cs typeface="Calibri"/>
              </a:rPr>
              <a:t>old</a:t>
            </a:r>
            <a:endParaRPr sz="2775" baseline="25525">
              <a:latin typeface="Calibri"/>
              <a:cs typeface="Calibri"/>
            </a:endParaRPr>
          </a:p>
          <a:p>
            <a:pPr marL="32067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21310" algn="l"/>
              </a:tabLst>
            </a:pPr>
            <a:r>
              <a:rPr sz="2750" b="1" spc="20" dirty="0">
                <a:solidFill>
                  <a:srgbClr val="008000"/>
                </a:solidFill>
                <a:latin typeface="Calibri"/>
                <a:cs typeface="Calibri"/>
              </a:rPr>
              <a:t>Cost per </a:t>
            </a:r>
            <a:r>
              <a:rPr sz="2750" b="1" dirty="0">
                <a:solidFill>
                  <a:srgbClr val="008000"/>
                </a:solidFill>
                <a:latin typeface="Calibri"/>
                <a:cs typeface="Calibri"/>
              </a:rPr>
              <a:t>iteration </a:t>
            </a:r>
            <a:r>
              <a:rPr sz="2750" b="1" spc="10" dirty="0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sz="2750" b="1" spc="15" dirty="0">
                <a:solidFill>
                  <a:srgbClr val="008000"/>
                </a:solidFill>
                <a:latin typeface="Calibri"/>
                <a:cs typeface="Calibri"/>
              </a:rPr>
              <a:t>Power</a:t>
            </a:r>
            <a:r>
              <a:rPr sz="2750" b="1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750" b="1" spc="15" dirty="0">
                <a:solidFill>
                  <a:srgbClr val="008000"/>
                </a:solidFill>
                <a:latin typeface="Calibri"/>
                <a:cs typeface="Calibri"/>
              </a:rPr>
              <a:t>method:</a:t>
            </a:r>
            <a:endParaRPr sz="2750">
              <a:latin typeface="Calibri"/>
              <a:cs typeface="Calibri"/>
            </a:endParaRPr>
          </a:p>
          <a:p>
            <a:pPr marL="320675">
              <a:lnSpc>
                <a:spcPts val="3265"/>
              </a:lnSpc>
              <a:spcBef>
                <a:spcPts val="80"/>
              </a:spcBef>
            </a:pPr>
            <a:r>
              <a:rPr sz="2750" spc="35" dirty="0">
                <a:latin typeface="Cambria Math"/>
                <a:cs typeface="Cambria Math"/>
              </a:rPr>
              <a:t>𝑘(|𝑴| </a:t>
            </a:r>
            <a:r>
              <a:rPr sz="2750" spc="20" dirty="0">
                <a:latin typeface="Cambria Math"/>
                <a:cs typeface="Cambria Math"/>
              </a:rPr>
              <a:t>+ |𝒓|) + </a:t>
            </a:r>
            <a:r>
              <a:rPr sz="2750" spc="15" dirty="0">
                <a:latin typeface="Cambria Math"/>
                <a:cs typeface="Cambria Math"/>
              </a:rPr>
              <a:t>|𝒓| </a:t>
            </a:r>
            <a:r>
              <a:rPr sz="2750" spc="20" dirty="0">
                <a:latin typeface="Cambria Math"/>
                <a:cs typeface="Cambria Math"/>
              </a:rPr>
              <a:t>= </a:t>
            </a:r>
            <a:r>
              <a:rPr sz="2750" spc="25" dirty="0">
                <a:solidFill>
                  <a:srgbClr val="008000"/>
                </a:solidFill>
                <a:latin typeface="Cambria Math"/>
                <a:cs typeface="Cambria Math"/>
              </a:rPr>
              <a:t>𝒌|𝑴| </a:t>
            </a:r>
            <a:r>
              <a:rPr sz="2750" spc="20" dirty="0">
                <a:solidFill>
                  <a:srgbClr val="008000"/>
                </a:solidFill>
                <a:latin typeface="Cambria Math"/>
                <a:cs typeface="Cambria Math"/>
              </a:rPr>
              <a:t>+ </a:t>
            </a:r>
            <a:r>
              <a:rPr sz="2750" dirty="0">
                <a:solidFill>
                  <a:srgbClr val="008000"/>
                </a:solidFill>
                <a:latin typeface="Cambria Math"/>
                <a:cs typeface="Cambria Math"/>
              </a:rPr>
              <a:t>(𝒌 </a:t>
            </a:r>
            <a:r>
              <a:rPr sz="2750" spc="20" dirty="0">
                <a:solidFill>
                  <a:srgbClr val="008000"/>
                </a:solidFill>
                <a:latin typeface="Cambria Math"/>
                <a:cs typeface="Cambria Math"/>
              </a:rPr>
              <a:t>+</a:t>
            </a:r>
            <a:r>
              <a:rPr sz="2750" spc="240" dirty="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sz="2750" spc="25" dirty="0">
                <a:solidFill>
                  <a:srgbClr val="008000"/>
                </a:solidFill>
                <a:latin typeface="Cambria Math"/>
                <a:cs typeface="Cambria Math"/>
              </a:rPr>
              <a:t>𝟏)|𝒓|</a:t>
            </a:r>
            <a:endParaRPr sz="2750">
              <a:latin typeface="Cambria Math"/>
              <a:cs typeface="Cambria Math"/>
            </a:endParaRPr>
          </a:p>
          <a:p>
            <a:pPr marL="25400">
              <a:lnSpc>
                <a:spcPts val="3804"/>
              </a:lnSpc>
            </a:pP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Can we do</a:t>
            </a:r>
            <a:r>
              <a:rPr sz="3200" b="1" spc="-17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D50092"/>
                </a:solidFill>
                <a:latin typeface="Calibri"/>
                <a:cs typeface="Calibri"/>
              </a:rPr>
              <a:t>better?</a:t>
            </a:r>
            <a:endParaRPr sz="3200">
              <a:latin typeface="Calibri"/>
              <a:cs typeface="Calibri"/>
            </a:endParaRPr>
          </a:p>
          <a:p>
            <a:pPr marL="320675" marR="17780" indent="-276860">
              <a:lnSpc>
                <a:spcPct val="102400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321310" algn="l"/>
              </a:tabLst>
            </a:pPr>
            <a:r>
              <a:rPr sz="2750" b="1" spc="5" dirty="0">
                <a:latin typeface="Calibri"/>
                <a:cs typeface="Calibri"/>
              </a:rPr>
              <a:t>Hint: </a:t>
            </a:r>
            <a:r>
              <a:rPr sz="2750" b="1" i="1" spc="25" dirty="0">
                <a:latin typeface="Calibri"/>
                <a:cs typeface="Calibri"/>
              </a:rPr>
              <a:t>M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15" dirty="0">
                <a:latin typeface="Calibri"/>
                <a:cs typeface="Calibri"/>
              </a:rPr>
              <a:t>much </a:t>
            </a:r>
            <a:r>
              <a:rPr sz="2750" spc="-20" dirty="0">
                <a:latin typeface="Calibri"/>
                <a:cs typeface="Calibri"/>
              </a:rPr>
              <a:t>bigger </a:t>
            </a:r>
            <a:r>
              <a:rPr sz="2750" dirty="0">
                <a:latin typeface="Calibri"/>
                <a:cs typeface="Calibri"/>
              </a:rPr>
              <a:t>than </a:t>
            </a:r>
            <a:r>
              <a:rPr sz="2750" b="1" i="1" spc="10" dirty="0">
                <a:latin typeface="Calibri"/>
                <a:cs typeface="Calibri"/>
              </a:rPr>
              <a:t>r </a:t>
            </a:r>
            <a:r>
              <a:rPr sz="2750" spc="-15" dirty="0">
                <a:latin typeface="Calibri"/>
                <a:cs typeface="Calibri"/>
              </a:rPr>
              <a:t>(approx </a:t>
            </a:r>
            <a:r>
              <a:rPr sz="2750" spc="10" dirty="0">
                <a:latin typeface="Calibri"/>
                <a:cs typeface="Calibri"/>
              </a:rPr>
              <a:t>10-20x), </a:t>
            </a:r>
            <a:r>
              <a:rPr sz="2750" spc="-5" dirty="0">
                <a:latin typeface="Calibri"/>
                <a:cs typeface="Calibri"/>
              </a:rPr>
              <a:t>so  we </a:t>
            </a:r>
            <a:r>
              <a:rPr sz="2750" dirty="0">
                <a:latin typeface="Calibri"/>
                <a:cs typeface="Calibri"/>
              </a:rPr>
              <a:t>must avoid </a:t>
            </a:r>
            <a:r>
              <a:rPr sz="2750" spc="-10" dirty="0">
                <a:latin typeface="Calibri"/>
                <a:cs typeface="Calibri"/>
              </a:rPr>
              <a:t>reading </a:t>
            </a:r>
            <a:r>
              <a:rPr sz="2750" spc="-15" dirty="0">
                <a:latin typeface="Calibri"/>
                <a:cs typeface="Calibri"/>
              </a:rPr>
              <a:t>it </a:t>
            </a:r>
            <a:r>
              <a:rPr sz="2750" b="1" i="1" spc="10" dirty="0">
                <a:latin typeface="Calibri"/>
                <a:cs typeface="Calibri"/>
              </a:rPr>
              <a:t>k </a:t>
            </a:r>
            <a:r>
              <a:rPr sz="2750" spc="-5" dirty="0">
                <a:latin typeface="Calibri"/>
                <a:cs typeface="Calibri"/>
              </a:rPr>
              <a:t>times </a:t>
            </a:r>
            <a:r>
              <a:rPr sz="2750" spc="-15" dirty="0">
                <a:latin typeface="Calibri"/>
                <a:cs typeface="Calibri"/>
              </a:rPr>
              <a:t>per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iteration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558151" cy="58578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71663" y="1905063"/>
            <a:ext cx="466725" cy="619125"/>
            <a:chOff x="1371663" y="1905063"/>
            <a:chExt cx="466725" cy="619125"/>
          </a:xfrm>
        </p:grpSpPr>
        <p:sp>
          <p:nvSpPr>
            <p:cNvPr id="4" name="object 4"/>
            <p:cNvSpPr/>
            <p:nvPr/>
          </p:nvSpPr>
          <p:spPr>
            <a:xfrm>
              <a:off x="1376425" y="1909826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57200" y="3048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6425" y="1909826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304800"/>
                  </a:moveTo>
                  <a:lnTo>
                    <a:pt x="457200" y="3048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6425" y="2214626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57200" y="3048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76425" y="2214626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304800"/>
                  </a:moveTo>
                  <a:lnTo>
                    <a:pt x="457200" y="3048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376425" y="3433826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0" y="304800"/>
                </a:moveTo>
                <a:lnTo>
                  <a:pt x="457200" y="304800"/>
                </a:lnTo>
                <a:lnTo>
                  <a:pt x="4572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  <a:path w="457200" h="609600">
                <a:moveTo>
                  <a:pt x="0" y="609600"/>
                </a:moveTo>
                <a:lnTo>
                  <a:pt x="457200" y="609600"/>
                </a:lnTo>
                <a:lnTo>
                  <a:pt x="457200" y="304800"/>
                </a:lnTo>
                <a:lnTo>
                  <a:pt x="0" y="304800"/>
                </a:lnTo>
                <a:lnTo>
                  <a:pt x="0" y="609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76425" y="4957826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0" y="304800"/>
                </a:moveTo>
                <a:lnTo>
                  <a:pt x="457200" y="304800"/>
                </a:lnTo>
                <a:lnTo>
                  <a:pt x="4572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  <a:path w="457200" h="609600">
                <a:moveTo>
                  <a:pt x="0" y="609600"/>
                </a:moveTo>
                <a:lnTo>
                  <a:pt x="457200" y="609600"/>
                </a:lnTo>
                <a:lnTo>
                  <a:pt x="457200" y="304800"/>
                </a:lnTo>
                <a:lnTo>
                  <a:pt x="0" y="304800"/>
                </a:lnTo>
                <a:lnTo>
                  <a:pt x="0" y="609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543863" y="2467038"/>
          <a:ext cx="4572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587117" y="1893316"/>
          <a:ext cx="327787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0,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2748533" y="1311211"/>
            <a:ext cx="15170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75335" algn="l"/>
              </a:tabLst>
            </a:pPr>
            <a:r>
              <a:rPr sz="2000" spc="5" dirty="0">
                <a:latin typeface="Corbel"/>
                <a:cs typeface="Corbel"/>
              </a:rPr>
              <a:t>src	</a:t>
            </a:r>
            <a:r>
              <a:rPr sz="2000" spc="-15" dirty="0">
                <a:latin typeface="Corbel"/>
                <a:cs typeface="Corbel"/>
              </a:rPr>
              <a:t>degree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579239" y="1311211"/>
            <a:ext cx="12001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5" dirty="0">
                <a:latin typeface="Corbel"/>
                <a:cs typeface="Corbel"/>
              </a:rPr>
              <a:t>destination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6810" y="1921827"/>
            <a:ext cx="158115" cy="623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340"/>
              </a:lnSpc>
              <a:spcBef>
                <a:spcPts val="125"/>
              </a:spcBef>
            </a:pPr>
            <a:r>
              <a:rPr sz="2000" spc="10" dirty="0">
                <a:latin typeface="Corbel"/>
                <a:cs typeface="Corbel"/>
              </a:rPr>
              <a:t>0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ts val="2340"/>
              </a:lnSpc>
            </a:pPr>
            <a:r>
              <a:rPr sz="2000" spc="10" dirty="0">
                <a:latin typeface="Corbel"/>
                <a:cs typeface="Corbel"/>
              </a:rPr>
              <a:t>1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6810" y="3431857"/>
            <a:ext cx="157480" cy="655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0" dirty="0">
                <a:latin typeface="Corbel"/>
                <a:cs typeface="Corbel"/>
              </a:rPr>
              <a:t>2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10" dirty="0">
                <a:latin typeface="Corbel"/>
                <a:cs typeface="Corbel"/>
              </a:rPr>
              <a:t>3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32368" y="2408237"/>
            <a:ext cx="158750" cy="18446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340"/>
              </a:lnSpc>
              <a:spcBef>
                <a:spcPts val="125"/>
              </a:spcBef>
            </a:pPr>
            <a:r>
              <a:rPr sz="2000" spc="10" dirty="0">
                <a:latin typeface="Corbel"/>
                <a:cs typeface="Corbel"/>
              </a:rPr>
              <a:t>0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ts val="2340"/>
              </a:lnSpc>
            </a:pPr>
            <a:r>
              <a:rPr sz="2000" spc="10" dirty="0">
                <a:latin typeface="Corbel"/>
                <a:cs typeface="Corbel"/>
              </a:rPr>
              <a:t>1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10" dirty="0">
                <a:latin typeface="Corbel"/>
                <a:cs typeface="Corbel"/>
              </a:rPr>
              <a:t>2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ts val="2340"/>
              </a:lnSpc>
              <a:spcBef>
                <a:spcPts val="130"/>
              </a:spcBef>
            </a:pPr>
            <a:r>
              <a:rPr sz="2000" spc="10" dirty="0">
                <a:latin typeface="Corbel"/>
                <a:cs typeface="Corbel"/>
              </a:rPr>
              <a:t>3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ts val="2340"/>
              </a:lnSpc>
            </a:pPr>
            <a:r>
              <a:rPr sz="2000" spc="10" dirty="0">
                <a:latin typeface="Corbel"/>
                <a:cs typeface="Corbel"/>
              </a:rPr>
              <a:t>4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sz="2000" spc="10" dirty="0">
                <a:latin typeface="Corbel"/>
                <a:cs typeface="Corbel"/>
              </a:rPr>
              <a:t>5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0391" y="1483042"/>
            <a:ext cx="4648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000" spc="7" baseline="-16666" dirty="0">
                <a:latin typeface="Corbel"/>
                <a:cs typeface="Corbel"/>
              </a:rPr>
              <a:t>r</a:t>
            </a:r>
            <a:r>
              <a:rPr sz="1350" spc="5" dirty="0">
                <a:latin typeface="Corbel"/>
                <a:cs typeface="Corbel"/>
              </a:rPr>
              <a:t>new</a:t>
            </a:r>
            <a:endParaRPr sz="1350">
              <a:latin typeface="Corbel"/>
              <a:cs typeface="Corbe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67041" y="2026602"/>
            <a:ext cx="3873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000" baseline="-16666" dirty="0">
                <a:latin typeface="Corbel"/>
                <a:cs typeface="Corbel"/>
              </a:rPr>
              <a:t>r</a:t>
            </a:r>
            <a:r>
              <a:rPr sz="1350" dirty="0">
                <a:latin typeface="Corbel"/>
                <a:cs typeface="Corbel"/>
              </a:rPr>
              <a:t>old</a:t>
            </a:r>
            <a:endParaRPr sz="1350">
              <a:latin typeface="Corbel"/>
              <a:cs typeface="Corbel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2584450" y="4599051"/>
          <a:ext cx="3277870" cy="13715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36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1134110" y="4958016"/>
            <a:ext cx="6292850" cy="17729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2000" spc="10" dirty="0">
                <a:latin typeface="Corbel"/>
                <a:cs typeface="Corbel"/>
              </a:rPr>
              <a:t>4</a:t>
            </a:r>
            <a:endParaRPr sz="2000">
              <a:latin typeface="Corbel"/>
              <a:cs typeface="Corbel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2000" spc="10" dirty="0">
                <a:latin typeface="Corbel"/>
                <a:cs typeface="Corbel"/>
              </a:rPr>
              <a:t>5</a:t>
            </a:r>
            <a:endParaRPr sz="2000"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 sz="2000">
              <a:latin typeface="Corbel"/>
              <a:cs typeface="Corbel"/>
            </a:endParaRPr>
          </a:p>
          <a:p>
            <a:pPr marL="445134" marR="43180" indent="190500">
              <a:lnSpc>
                <a:spcPct val="100000"/>
              </a:lnSpc>
              <a:spcBef>
                <a:spcPts val="1680"/>
              </a:spcBef>
            </a:pPr>
            <a:r>
              <a:rPr sz="2000" b="1" spc="25" dirty="0">
                <a:solidFill>
                  <a:srgbClr val="D50092"/>
                </a:solidFill>
                <a:latin typeface="Arial"/>
                <a:cs typeface="Arial"/>
              </a:rPr>
              <a:t>Break </a:t>
            </a:r>
            <a:r>
              <a:rPr sz="2000" b="1" i="1" spc="20" dirty="0">
                <a:solidFill>
                  <a:srgbClr val="D50092"/>
                </a:solidFill>
                <a:latin typeface="Arial"/>
                <a:cs typeface="Arial"/>
              </a:rPr>
              <a:t>M </a:t>
            </a:r>
            <a:r>
              <a:rPr sz="2000" b="1" spc="25" dirty="0">
                <a:solidFill>
                  <a:srgbClr val="D50092"/>
                </a:solidFill>
                <a:latin typeface="Arial"/>
                <a:cs typeface="Arial"/>
              </a:rPr>
              <a:t>into </a:t>
            </a:r>
            <a:r>
              <a:rPr sz="2000" b="1" spc="20" dirty="0">
                <a:solidFill>
                  <a:srgbClr val="D50092"/>
                </a:solidFill>
                <a:latin typeface="Arial"/>
                <a:cs typeface="Arial"/>
              </a:rPr>
              <a:t>stripes! </a:t>
            </a:r>
            <a:r>
              <a:rPr sz="2000" spc="20" dirty="0">
                <a:latin typeface="Arial"/>
                <a:cs typeface="Arial"/>
              </a:rPr>
              <a:t>Each stripe contains </a:t>
            </a:r>
            <a:r>
              <a:rPr sz="2000" spc="10" dirty="0">
                <a:latin typeface="Arial"/>
                <a:cs typeface="Arial"/>
              </a:rPr>
              <a:t>only  </a:t>
            </a:r>
            <a:r>
              <a:rPr sz="2000" spc="20" dirty="0">
                <a:latin typeface="Arial"/>
                <a:cs typeface="Arial"/>
              </a:rPr>
              <a:t>destination</a:t>
            </a:r>
            <a:r>
              <a:rPr sz="2000" spc="-190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nodes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in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corresponding</a:t>
            </a:r>
            <a:r>
              <a:rPr sz="2000" spc="-19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block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b="1" i="1" spc="5" dirty="0">
                <a:latin typeface="Arial"/>
                <a:cs typeface="Arial"/>
              </a:rPr>
              <a:t>r</a:t>
            </a:r>
            <a:r>
              <a:rPr sz="2025" spc="7" baseline="24691" dirty="0">
                <a:latin typeface="Arial"/>
                <a:cs typeface="Arial"/>
              </a:rPr>
              <a:t>new</a:t>
            </a:r>
            <a:endParaRPr sz="2025" baseline="24691">
              <a:latin typeface="Arial"/>
              <a:cs typeface="Aria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584450" y="3352800"/>
          <a:ext cx="327787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5157851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3357879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" dirty="0">
                <a:solidFill>
                  <a:srgbClr val="D50092"/>
                </a:solidFill>
              </a:rPr>
              <a:t>Break </a:t>
            </a:r>
            <a:r>
              <a:rPr b="1" i="1" spc="20" dirty="0">
                <a:solidFill>
                  <a:srgbClr val="D50092"/>
                </a:solidFill>
                <a:latin typeface="Calibri"/>
                <a:cs typeface="Calibri"/>
              </a:rPr>
              <a:t>M </a:t>
            </a:r>
            <a:r>
              <a:rPr spc="10" dirty="0">
                <a:solidFill>
                  <a:srgbClr val="D50092"/>
                </a:solidFill>
              </a:rPr>
              <a:t>into</a:t>
            </a:r>
            <a:r>
              <a:rPr spc="-200" dirty="0">
                <a:solidFill>
                  <a:srgbClr val="D50092"/>
                </a:solidFill>
              </a:rPr>
              <a:t> </a:t>
            </a:r>
            <a:r>
              <a:rPr spc="5" dirty="0">
                <a:solidFill>
                  <a:srgbClr val="D50092"/>
                </a:solidFill>
              </a:rPr>
              <a:t>stripes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895980"/>
            <a:ext cx="323850" cy="4006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3896995"/>
            <a:ext cx="323850" cy="4006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25830" y="1929130"/>
            <a:ext cx="6570980" cy="285496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20675" marR="17780" indent="-276860">
              <a:lnSpc>
                <a:spcPct val="102400"/>
              </a:lnSpc>
              <a:spcBef>
                <a:spcPts val="50"/>
              </a:spcBef>
              <a:buClr>
                <a:srgbClr val="5FB5CC"/>
              </a:buClr>
              <a:buFont typeface="Wingdings"/>
              <a:buChar char=""/>
              <a:tabLst>
                <a:tab pos="321310" algn="l"/>
              </a:tabLst>
            </a:pPr>
            <a:r>
              <a:rPr sz="2750" dirty="0">
                <a:latin typeface="Calibri"/>
                <a:cs typeface="Calibri"/>
              </a:rPr>
              <a:t>Each </a:t>
            </a:r>
            <a:r>
              <a:rPr sz="2750" spc="-15" dirty="0">
                <a:latin typeface="Calibri"/>
                <a:cs typeface="Calibri"/>
              </a:rPr>
              <a:t>stripe </a:t>
            </a:r>
            <a:r>
              <a:rPr sz="2750" dirty="0">
                <a:latin typeface="Calibri"/>
                <a:cs typeface="Calibri"/>
              </a:rPr>
              <a:t>contains only </a:t>
            </a:r>
            <a:r>
              <a:rPr sz="2750" spc="-15" dirty="0">
                <a:latin typeface="Calibri"/>
                <a:cs typeface="Calibri"/>
              </a:rPr>
              <a:t>destination </a:t>
            </a:r>
            <a:r>
              <a:rPr sz="2750" spc="-5" dirty="0">
                <a:latin typeface="Calibri"/>
                <a:cs typeface="Calibri"/>
              </a:rPr>
              <a:t>nodes  </a:t>
            </a:r>
            <a:r>
              <a:rPr sz="2750" spc="-10" dirty="0">
                <a:latin typeface="Calibri"/>
                <a:cs typeface="Calibri"/>
              </a:rPr>
              <a:t>in </a:t>
            </a:r>
            <a:r>
              <a:rPr sz="2750" spc="-15" dirty="0">
                <a:latin typeface="Calibri"/>
                <a:cs typeface="Calibri"/>
              </a:rPr>
              <a:t>the </a:t>
            </a:r>
            <a:r>
              <a:rPr sz="2750" dirty="0">
                <a:latin typeface="Calibri"/>
                <a:cs typeface="Calibri"/>
              </a:rPr>
              <a:t>corresponding </a:t>
            </a:r>
            <a:r>
              <a:rPr sz="2750" spc="5" dirty="0">
                <a:latin typeface="Calibri"/>
                <a:cs typeface="Calibri"/>
              </a:rPr>
              <a:t>block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-130" dirty="0">
                <a:latin typeface="Calibri"/>
                <a:cs typeface="Calibri"/>
              </a:rPr>
              <a:t> </a:t>
            </a:r>
            <a:r>
              <a:rPr sz="2750" b="1" i="1" dirty="0">
                <a:latin typeface="Calibri"/>
                <a:cs typeface="Calibri"/>
              </a:rPr>
              <a:t>r</a:t>
            </a:r>
            <a:r>
              <a:rPr sz="2775" baseline="25525" dirty="0">
                <a:latin typeface="Calibri"/>
                <a:cs typeface="Calibri"/>
              </a:rPr>
              <a:t>new</a:t>
            </a:r>
            <a:endParaRPr sz="2775" baseline="25525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3200" spc="15" dirty="0">
                <a:latin typeface="Calibri"/>
                <a:cs typeface="Calibri"/>
              </a:rPr>
              <a:t>Some </a:t>
            </a:r>
            <a:r>
              <a:rPr sz="3200" spc="25" dirty="0">
                <a:latin typeface="Calibri"/>
                <a:cs typeface="Calibri"/>
              </a:rPr>
              <a:t>additional</a:t>
            </a:r>
            <a:r>
              <a:rPr sz="3200" spc="-555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overhead per stripe</a:t>
            </a:r>
            <a:endParaRPr sz="3200">
              <a:latin typeface="Calibri"/>
              <a:cs typeface="Calibri"/>
            </a:endParaRPr>
          </a:p>
          <a:p>
            <a:pPr marL="320675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321310" algn="l"/>
              </a:tabLst>
            </a:pPr>
            <a:r>
              <a:rPr sz="2750" spc="-5" dirty="0">
                <a:latin typeface="Calibri"/>
                <a:cs typeface="Calibri"/>
              </a:rPr>
              <a:t>But </a:t>
            </a:r>
            <a:r>
              <a:rPr sz="2750" spc="-15" dirty="0">
                <a:latin typeface="Calibri"/>
                <a:cs typeface="Calibri"/>
              </a:rPr>
              <a:t>it is usually </a:t>
            </a:r>
            <a:r>
              <a:rPr sz="2750" spc="5" dirty="0">
                <a:latin typeface="Calibri"/>
                <a:cs typeface="Calibri"/>
              </a:rPr>
              <a:t>worth</a:t>
            </a:r>
            <a:r>
              <a:rPr sz="2750" spc="-6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it</a:t>
            </a:r>
            <a:endParaRPr sz="2750">
              <a:latin typeface="Calibri"/>
              <a:cs typeface="Calibri"/>
            </a:endParaRPr>
          </a:p>
          <a:p>
            <a:pPr marL="25400">
              <a:lnSpc>
                <a:spcPts val="3835"/>
              </a:lnSpc>
              <a:spcBef>
                <a:spcPts val="5"/>
              </a:spcBef>
            </a:pPr>
            <a:r>
              <a:rPr sz="3200" b="1" spc="10" dirty="0">
                <a:solidFill>
                  <a:srgbClr val="008000"/>
                </a:solidFill>
                <a:latin typeface="Calibri"/>
                <a:cs typeface="Calibri"/>
              </a:rPr>
              <a:t>Cost </a:t>
            </a:r>
            <a:r>
              <a:rPr sz="3200" b="1" spc="15" dirty="0">
                <a:solidFill>
                  <a:srgbClr val="008000"/>
                </a:solidFill>
                <a:latin typeface="Calibri"/>
                <a:cs typeface="Calibri"/>
              </a:rPr>
              <a:t>per </a:t>
            </a:r>
            <a:r>
              <a:rPr sz="3200" b="1" spc="-5" dirty="0">
                <a:solidFill>
                  <a:srgbClr val="008000"/>
                </a:solidFill>
                <a:latin typeface="Calibri"/>
                <a:cs typeface="Calibri"/>
              </a:rPr>
              <a:t>iteration </a:t>
            </a:r>
            <a:r>
              <a:rPr sz="3200" b="1" spc="5" dirty="0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sz="3200" b="1" dirty="0">
                <a:solidFill>
                  <a:srgbClr val="008000"/>
                </a:solidFill>
                <a:latin typeface="Calibri"/>
                <a:cs typeface="Calibri"/>
              </a:rPr>
              <a:t>Power</a:t>
            </a:r>
            <a:r>
              <a:rPr sz="3200" b="1" spc="-39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200" b="1" spc="15" dirty="0">
                <a:solidFill>
                  <a:srgbClr val="008000"/>
                </a:solidFill>
                <a:latin typeface="Calibri"/>
                <a:cs typeface="Calibri"/>
              </a:rPr>
              <a:t>method:</a:t>
            </a:r>
            <a:endParaRPr sz="3200">
              <a:latin typeface="Calibri"/>
              <a:cs typeface="Calibri"/>
            </a:endParaRPr>
          </a:p>
          <a:p>
            <a:pPr marL="25400">
              <a:lnSpc>
                <a:spcPts val="3835"/>
              </a:lnSpc>
            </a:pPr>
            <a:r>
              <a:rPr sz="3200" b="1" spc="15" dirty="0">
                <a:solidFill>
                  <a:srgbClr val="008000"/>
                </a:solidFill>
                <a:latin typeface="Calibri"/>
                <a:cs typeface="Calibri"/>
              </a:rPr>
              <a:t>=</a:t>
            </a:r>
            <a:r>
              <a:rPr sz="3200" spc="15" dirty="0">
                <a:solidFill>
                  <a:srgbClr val="008000"/>
                </a:solidFill>
                <a:latin typeface="Cambria Math"/>
                <a:cs typeface="Cambria Math"/>
              </a:rPr>
              <a:t>|𝑴|(𝟏 </a:t>
            </a:r>
            <a:r>
              <a:rPr sz="3200" spc="20" dirty="0">
                <a:solidFill>
                  <a:srgbClr val="008000"/>
                </a:solidFill>
                <a:latin typeface="Cambria Math"/>
                <a:cs typeface="Cambria Math"/>
              </a:rPr>
              <a:t>+ </a:t>
            </a:r>
            <a:r>
              <a:rPr sz="3200" spc="5" dirty="0">
                <a:solidFill>
                  <a:srgbClr val="008000"/>
                </a:solidFill>
                <a:latin typeface="Cambria Math"/>
                <a:cs typeface="Cambria Math"/>
              </a:rPr>
              <a:t>ε) </a:t>
            </a:r>
            <a:r>
              <a:rPr sz="3200" spc="20" dirty="0">
                <a:solidFill>
                  <a:srgbClr val="008000"/>
                </a:solidFill>
                <a:latin typeface="Cambria Math"/>
                <a:cs typeface="Cambria Math"/>
              </a:rPr>
              <a:t>+ </a:t>
            </a:r>
            <a:r>
              <a:rPr sz="3200" spc="15" dirty="0">
                <a:solidFill>
                  <a:srgbClr val="008000"/>
                </a:solidFill>
                <a:latin typeface="Cambria Math"/>
                <a:cs typeface="Cambria Math"/>
              </a:rPr>
              <a:t>(𝒌 </a:t>
            </a:r>
            <a:r>
              <a:rPr sz="3200" spc="20" dirty="0">
                <a:solidFill>
                  <a:srgbClr val="008000"/>
                </a:solidFill>
                <a:latin typeface="Cambria Math"/>
                <a:cs typeface="Cambria Math"/>
              </a:rPr>
              <a:t>+</a:t>
            </a:r>
            <a:r>
              <a:rPr sz="3200" spc="-310" dirty="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sz="3200" spc="20" dirty="0">
                <a:solidFill>
                  <a:srgbClr val="008000"/>
                </a:solidFill>
                <a:latin typeface="Cambria Math"/>
                <a:cs typeface="Cambria Math"/>
              </a:rPr>
              <a:t>𝟏)|𝒓|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775" y="6280467"/>
            <a:ext cx="27470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8000"/>
                </a:solidFill>
                <a:latin typeface="Arial"/>
                <a:cs typeface="Arial"/>
              </a:rPr>
              <a:t>where </a:t>
            </a:r>
            <a:r>
              <a:rPr sz="1800" dirty="0">
                <a:solidFill>
                  <a:srgbClr val="008000"/>
                </a:solidFill>
                <a:latin typeface="Cambria Math"/>
                <a:cs typeface="Cambria Math"/>
              </a:rPr>
              <a:t>𝜀 </a:t>
            </a:r>
            <a:r>
              <a:rPr sz="1800" spc="-15" dirty="0">
                <a:solidFill>
                  <a:srgbClr val="008000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a small</a:t>
            </a:r>
            <a:r>
              <a:rPr sz="1800" spc="-26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number.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333311"/>
            <a:ext cx="7748651" cy="5857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530" y="1347787"/>
            <a:ext cx="647573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15" dirty="0">
                <a:solidFill>
                  <a:srgbClr val="D50092"/>
                </a:solidFill>
                <a:latin typeface="Calibri"/>
                <a:cs typeface="Calibri"/>
              </a:rPr>
              <a:t>Measures</a:t>
            </a:r>
            <a:r>
              <a:rPr b="1" spc="-15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generic</a:t>
            </a:r>
            <a:r>
              <a:rPr b="1" spc="-21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popularity</a:t>
            </a:r>
            <a:r>
              <a:rPr b="1" spc="-8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of</a:t>
            </a:r>
            <a:r>
              <a:rPr b="1" spc="-4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b="1" spc="10" dirty="0">
                <a:solidFill>
                  <a:srgbClr val="D50092"/>
                </a:solidFill>
                <a:latin typeface="Calibri"/>
                <a:cs typeface="Calibri"/>
              </a:rPr>
              <a:t>a</a:t>
            </a:r>
            <a:r>
              <a:rPr b="1" spc="-7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D50092"/>
                </a:solidFill>
                <a:latin typeface="Calibri"/>
                <a:cs typeface="Calibri"/>
              </a:rPr>
              <a:t>page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981325"/>
            <a:ext cx="323850" cy="4006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4488815"/>
            <a:ext cx="323850" cy="4006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38530" y="1837817"/>
            <a:ext cx="6878955" cy="450850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07975" indent="-276860">
              <a:lnSpc>
                <a:spcPct val="100000"/>
              </a:lnSpc>
              <a:spcBef>
                <a:spcPts val="844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10" dirty="0">
                <a:latin typeface="Calibri"/>
                <a:cs typeface="Calibri"/>
              </a:rPr>
              <a:t>Biased </a:t>
            </a:r>
            <a:r>
              <a:rPr sz="2750" spc="-20" dirty="0">
                <a:latin typeface="Calibri"/>
                <a:cs typeface="Calibri"/>
              </a:rPr>
              <a:t>against </a:t>
            </a:r>
            <a:r>
              <a:rPr sz="2750" spc="-10" dirty="0">
                <a:latin typeface="Calibri"/>
                <a:cs typeface="Calibri"/>
              </a:rPr>
              <a:t>topic-specific</a:t>
            </a:r>
            <a:r>
              <a:rPr sz="2750" spc="1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authorities</a:t>
            </a:r>
            <a:endParaRPr sz="275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spc="10" dirty="0">
                <a:solidFill>
                  <a:srgbClr val="008000"/>
                </a:solidFill>
                <a:latin typeface="Calibri"/>
                <a:cs typeface="Calibri"/>
              </a:rPr>
              <a:t>Solution: </a:t>
            </a:r>
            <a:r>
              <a:rPr sz="2750" spc="-20" dirty="0">
                <a:latin typeface="Calibri"/>
                <a:cs typeface="Calibri"/>
              </a:rPr>
              <a:t>Topic-Specific </a:t>
            </a:r>
            <a:r>
              <a:rPr sz="2750" spc="-5" dirty="0">
                <a:latin typeface="Calibri"/>
                <a:cs typeface="Calibri"/>
              </a:rPr>
              <a:t>PageRank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(</a:t>
            </a:r>
            <a:r>
              <a:rPr sz="2750" b="1" dirty="0">
                <a:latin typeface="Calibri"/>
                <a:cs typeface="Calibri"/>
              </a:rPr>
              <a:t>next</a:t>
            </a:r>
            <a:r>
              <a:rPr sz="2750" dirty="0">
                <a:latin typeface="Calibri"/>
                <a:cs typeface="Calibri"/>
              </a:rPr>
              <a:t>)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Uses a single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measure of</a:t>
            </a:r>
            <a:r>
              <a:rPr sz="3200" b="1" spc="-320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importance</a:t>
            </a:r>
            <a:endParaRPr sz="32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74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5" dirty="0">
                <a:latin typeface="Calibri"/>
                <a:cs typeface="Calibri"/>
              </a:rPr>
              <a:t>Other </a:t>
            </a:r>
            <a:r>
              <a:rPr sz="2750" spc="5" dirty="0">
                <a:latin typeface="Calibri"/>
                <a:cs typeface="Calibri"/>
              </a:rPr>
              <a:t>models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23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importance</a:t>
            </a:r>
            <a:endParaRPr sz="2750">
              <a:latin typeface="Calibri"/>
              <a:cs typeface="Calibri"/>
            </a:endParaRPr>
          </a:p>
          <a:p>
            <a:pPr marL="307975" indent="-276860">
              <a:lnSpc>
                <a:spcPts val="3265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spc="5" dirty="0">
                <a:solidFill>
                  <a:srgbClr val="008000"/>
                </a:solidFill>
                <a:latin typeface="Calibri"/>
                <a:cs typeface="Calibri"/>
              </a:rPr>
              <a:t>Solution:</a:t>
            </a:r>
            <a:r>
              <a:rPr sz="2750" b="1" spc="114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Hubs-and-Authorities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ts val="3804"/>
              </a:lnSpc>
            </a:pPr>
            <a:r>
              <a:rPr sz="3200" b="1" spc="10" dirty="0">
                <a:solidFill>
                  <a:srgbClr val="D50092"/>
                </a:solidFill>
                <a:latin typeface="Calibri"/>
                <a:cs typeface="Calibri"/>
              </a:rPr>
              <a:t>Susceptible to Link</a:t>
            </a:r>
            <a:r>
              <a:rPr sz="3200" b="1" spc="-365" dirty="0">
                <a:solidFill>
                  <a:srgbClr val="D50092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D50092"/>
                </a:solidFill>
                <a:latin typeface="Calibri"/>
                <a:cs typeface="Calibri"/>
              </a:rPr>
              <a:t>spam</a:t>
            </a:r>
            <a:endParaRPr sz="3200">
              <a:latin typeface="Calibri"/>
              <a:cs typeface="Calibri"/>
            </a:endParaRPr>
          </a:p>
          <a:p>
            <a:pPr marL="307975" marR="5080" indent="-276860">
              <a:lnSpc>
                <a:spcPct val="100000"/>
              </a:lnSpc>
              <a:spcBef>
                <a:spcPts val="815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10" dirty="0">
                <a:latin typeface="Calibri"/>
                <a:cs typeface="Calibri"/>
              </a:rPr>
              <a:t>Artificial </a:t>
            </a:r>
            <a:r>
              <a:rPr sz="2750" spc="-20" dirty="0">
                <a:latin typeface="Calibri"/>
                <a:cs typeface="Calibri"/>
              </a:rPr>
              <a:t>link </a:t>
            </a:r>
            <a:r>
              <a:rPr sz="2750" spc="-10" dirty="0">
                <a:latin typeface="Calibri"/>
                <a:cs typeface="Calibri"/>
              </a:rPr>
              <a:t>topographies </a:t>
            </a:r>
            <a:r>
              <a:rPr sz="2750" dirty="0">
                <a:latin typeface="Calibri"/>
                <a:cs typeface="Calibri"/>
              </a:rPr>
              <a:t>created </a:t>
            </a:r>
            <a:r>
              <a:rPr sz="2750" spc="-10" dirty="0">
                <a:latin typeface="Calibri"/>
                <a:cs typeface="Calibri"/>
              </a:rPr>
              <a:t>in order </a:t>
            </a:r>
            <a:r>
              <a:rPr sz="2750" spc="-5" dirty="0">
                <a:latin typeface="Calibri"/>
                <a:cs typeface="Calibri"/>
              </a:rPr>
              <a:t>to  </a:t>
            </a:r>
            <a:r>
              <a:rPr sz="2750" spc="10" dirty="0">
                <a:latin typeface="Calibri"/>
                <a:cs typeface="Calibri"/>
              </a:rPr>
              <a:t>boost </a:t>
            </a:r>
            <a:r>
              <a:rPr sz="2750" dirty="0">
                <a:latin typeface="Calibri"/>
                <a:cs typeface="Calibri"/>
              </a:rPr>
              <a:t>page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rank</a:t>
            </a:r>
            <a:endParaRPr sz="275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76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b="1" spc="10" dirty="0">
                <a:solidFill>
                  <a:srgbClr val="008000"/>
                </a:solidFill>
                <a:latin typeface="Calibri"/>
                <a:cs typeface="Calibri"/>
              </a:rPr>
              <a:t>Solution:</a:t>
            </a:r>
            <a:r>
              <a:rPr sz="2750" b="1" spc="1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TrustRank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3311"/>
            <a:ext cx="7643876" cy="5762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465262"/>
            <a:ext cx="323850" cy="400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1951608"/>
            <a:ext cx="323850" cy="40068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pc="15" dirty="0"/>
              <a:t>Classic</a:t>
            </a:r>
            <a:r>
              <a:rPr spc="-135" dirty="0"/>
              <a:t> </a:t>
            </a:r>
            <a:r>
              <a:rPr spc="25" dirty="0"/>
              <a:t>work:</a:t>
            </a:r>
            <a:r>
              <a:rPr spc="-170" dirty="0"/>
              <a:t> </a:t>
            </a:r>
            <a:r>
              <a:rPr spc="15" dirty="0"/>
              <a:t>Markov</a:t>
            </a:r>
            <a:r>
              <a:rPr spc="-235" dirty="0"/>
              <a:t> </a:t>
            </a:r>
            <a:r>
              <a:rPr spc="20" dirty="0"/>
              <a:t>chains,</a:t>
            </a:r>
            <a:r>
              <a:rPr spc="-185" dirty="0"/>
              <a:t> </a:t>
            </a:r>
            <a:r>
              <a:rPr spc="-5" dirty="0"/>
              <a:t>citation</a:t>
            </a:r>
            <a:r>
              <a:rPr spc="-30" dirty="0"/>
              <a:t> </a:t>
            </a:r>
            <a:r>
              <a:rPr spc="15" dirty="0"/>
              <a:t>analysis  </a:t>
            </a:r>
            <a:r>
              <a:rPr dirty="0"/>
              <a:t>RankDex </a:t>
            </a:r>
            <a:r>
              <a:rPr spc="10" dirty="0"/>
              <a:t>patent </a:t>
            </a:r>
            <a:r>
              <a:rPr dirty="0"/>
              <a:t>[Robin </a:t>
            </a:r>
            <a:r>
              <a:rPr spc="5" dirty="0"/>
              <a:t>Li,</a:t>
            </a:r>
            <a:r>
              <a:rPr spc="-315" dirty="0"/>
              <a:t> </a:t>
            </a:r>
            <a:r>
              <a:rPr spc="5" dirty="0"/>
              <a:t>'96]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2953130"/>
            <a:ext cx="323850" cy="4006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38530" y="2415539"/>
            <a:ext cx="6135370" cy="1450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07975" indent="-276860">
              <a:lnSpc>
                <a:spcPct val="100000"/>
              </a:lnSpc>
              <a:spcBef>
                <a:spcPts val="13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30" dirty="0">
                <a:latin typeface="Calibri"/>
                <a:cs typeface="Calibri"/>
              </a:rPr>
              <a:t>Key </a:t>
            </a:r>
            <a:r>
              <a:rPr sz="2750" spc="-10" dirty="0">
                <a:latin typeface="Calibri"/>
                <a:cs typeface="Calibri"/>
              </a:rPr>
              <a:t>idea: </a:t>
            </a:r>
            <a:r>
              <a:rPr sz="2750" spc="-15" dirty="0">
                <a:latin typeface="Calibri"/>
                <a:cs typeface="Calibri"/>
              </a:rPr>
              <a:t>use </a:t>
            </a:r>
            <a:r>
              <a:rPr sz="2750" dirty="0">
                <a:latin typeface="Calibri"/>
                <a:cs typeface="Calibri"/>
              </a:rPr>
              <a:t>backlinks </a:t>
            </a:r>
            <a:r>
              <a:rPr sz="2750" spc="-15" dirty="0">
                <a:latin typeface="Calibri"/>
                <a:cs typeface="Calibri"/>
              </a:rPr>
              <a:t>(led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 Baidu!)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15" dirty="0">
                <a:latin typeface="Calibri"/>
                <a:cs typeface="Calibri"/>
              </a:rPr>
              <a:t>HITS </a:t>
            </a:r>
            <a:r>
              <a:rPr sz="3200" spc="10" dirty="0">
                <a:latin typeface="Calibri"/>
                <a:cs typeface="Calibri"/>
              </a:rPr>
              <a:t>Algorithm </a:t>
            </a:r>
            <a:r>
              <a:rPr sz="3200" spc="-5" dirty="0">
                <a:latin typeface="Calibri"/>
                <a:cs typeface="Calibri"/>
              </a:rPr>
              <a:t>[Kleinberg, </a:t>
            </a:r>
            <a:r>
              <a:rPr sz="3200" spc="-20" dirty="0">
                <a:latin typeface="Calibri"/>
                <a:cs typeface="Calibri"/>
              </a:rPr>
              <a:t>SODA</a:t>
            </a:r>
            <a:r>
              <a:rPr sz="3200" spc="-21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'98]</a:t>
            </a:r>
            <a:endParaRPr sz="3200">
              <a:latin typeface="Calibri"/>
              <a:cs typeface="Calibri"/>
            </a:endParaRPr>
          </a:p>
          <a:p>
            <a:pPr marL="307975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308610" algn="l"/>
              </a:tabLst>
            </a:pPr>
            <a:r>
              <a:rPr sz="2750" spc="-30" dirty="0">
                <a:latin typeface="Calibri"/>
                <a:cs typeface="Calibri"/>
              </a:rPr>
              <a:t>Key </a:t>
            </a:r>
            <a:r>
              <a:rPr sz="2750" spc="-10" dirty="0">
                <a:latin typeface="Calibri"/>
                <a:cs typeface="Calibri"/>
              </a:rPr>
              <a:t>idea: </a:t>
            </a:r>
            <a:r>
              <a:rPr sz="2750" spc="-15" dirty="0">
                <a:latin typeface="Calibri"/>
                <a:cs typeface="Calibri"/>
              </a:rPr>
              <a:t>iterative</a:t>
            </a:r>
            <a:r>
              <a:rPr sz="2750" spc="3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scoring!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062" y="5909945"/>
            <a:ext cx="323850" cy="40068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17817" y="4151056"/>
            <a:ext cx="4140200" cy="1525905"/>
            <a:chOff x="517817" y="4151056"/>
            <a:chExt cx="4140200" cy="152590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7817" y="4151056"/>
              <a:ext cx="3662038" cy="4654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95675" y="4429124"/>
              <a:ext cx="1162050" cy="1247775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5205786" y="3953227"/>
            <a:ext cx="3071495" cy="2114550"/>
            <a:chOff x="5205786" y="3953227"/>
            <a:chExt cx="3071495" cy="211455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05786" y="3953227"/>
              <a:ext cx="2555435" cy="105480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4149" y="4819649"/>
              <a:ext cx="1743075" cy="124777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38530" y="5894704"/>
            <a:ext cx="5184775" cy="435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0"/>
              </a:lnSpc>
            </a:pPr>
            <a:r>
              <a:rPr sz="3200" dirty="0">
                <a:latin typeface="Calibri"/>
                <a:cs typeface="Calibri"/>
              </a:rPr>
              <a:t>PageRank </a:t>
            </a:r>
            <a:r>
              <a:rPr sz="3200" spc="20" dirty="0">
                <a:latin typeface="Calibri"/>
                <a:cs typeface="Calibri"/>
              </a:rPr>
              <a:t>work </a:t>
            </a:r>
            <a:r>
              <a:rPr sz="3200" spc="-10" dirty="0">
                <a:latin typeface="Calibri"/>
                <a:cs typeface="Calibri"/>
              </a:rPr>
              <a:t>[Page </a:t>
            </a:r>
            <a:r>
              <a:rPr sz="3200" spc="-5" dirty="0">
                <a:latin typeface="Calibri"/>
                <a:cs typeface="Calibri"/>
              </a:rPr>
              <a:t>et </a:t>
            </a:r>
            <a:r>
              <a:rPr sz="3200" spc="15" dirty="0">
                <a:latin typeface="Calibri"/>
                <a:cs typeface="Calibri"/>
              </a:rPr>
              <a:t>al,</a:t>
            </a:r>
            <a:r>
              <a:rPr sz="3200" spc="-39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'98]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3764</Words>
  <Application>Microsoft Office PowerPoint</Application>
  <PresentationFormat>On-screen Show (4:3)</PresentationFormat>
  <Paragraphs>909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Arial</vt:lpstr>
      <vt:lpstr>Calibri</vt:lpstr>
      <vt:lpstr>Cambria Math</vt:lpstr>
      <vt:lpstr>Corbel</vt:lpstr>
      <vt:lpstr>Palatino Linotype</vt:lpstr>
      <vt:lpstr>Symbol</vt:lpstr>
      <vt:lpstr>Times New Roman</vt:lpstr>
      <vt:lpstr>Wingdings</vt:lpstr>
      <vt:lpstr>Office Theme</vt:lpstr>
      <vt:lpstr>PowerPoint Presentation</vt:lpstr>
      <vt:lpstr>High dim. 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Web as a directed graph:</vt:lpstr>
      <vt:lpstr>Web as a directed graph:</vt:lpstr>
      <vt:lpstr>PowerPoint Presentation</vt:lpstr>
      <vt:lpstr>How to organize the Web?</vt:lpstr>
      <vt:lpstr>2 challenges of web search:</vt:lpstr>
      <vt:lpstr>All web pages are not equally “important” thispersondoesnotexist.com vs. www.stanford.edu</vt:lpstr>
      <vt:lpstr>We will cover the following Link Analysis  approaches for computing importance  of nodes in a graph:</vt:lpstr>
      <vt:lpstr>PowerPoint Presentation</vt:lpstr>
      <vt:lpstr>Idea: Links as votes</vt:lpstr>
      <vt:lpstr>PowerPoint Presentation</vt:lpstr>
      <vt:lpstr>Solve the recursive equation: “importance of a  page = its share of the importance of each of its  predecessor pages”</vt:lpstr>
      <vt:lpstr>A  3.3</vt:lpstr>
      <vt:lpstr>Each link’s vote is proportional to the importance of its source page</vt:lpstr>
      <vt:lpstr>PowerPoint Presentation</vt:lpstr>
      <vt:lpstr>3 equations, 3 unknowns,  no constants</vt:lpstr>
      <vt:lpstr>PowerPoint Presentation</vt:lpstr>
      <vt:lpstr>j  i j</vt:lpstr>
      <vt:lpstr>PowerPoint Presentation</vt:lpstr>
      <vt:lpstr>The flow equations can be written 𝒓 = 𝑴 ∙ 𝒓</vt:lpstr>
      <vt:lpstr>PowerPoint Presentation</vt:lpstr>
      <vt:lpstr>Power Iteration:</vt:lpstr>
      <vt:lpstr>Power Iteration:</vt:lpstr>
      <vt:lpstr>Imagine a random web surfer:</vt:lpstr>
      <vt:lpstr>Where is the surfer at time t+1?</vt:lpstr>
      <vt:lpstr>A central result from the theory of random  walks (a.k.a. Markov processes):</vt:lpstr>
      <vt:lpstr>Given an undirected graph with N  nodes, where the nodes are pages and  edges are hyperlinks Claim [Existence]: For node v,  rv = dv/2m is a solution.</vt:lpstr>
      <vt:lpstr>Which node has highest PageRank? Second highest?</vt:lpstr>
      <vt:lpstr>Node 1 has the highest PR, followed by Node 3  Degree ≠ PageRank</vt:lpstr>
      <vt:lpstr>Add edge 3 -&gt; 2. Now, which node has highest  PageRank? Second highest?</vt:lpstr>
      <vt:lpstr>Node 3 has the highest PR, followed by 2.  Small changes to graph can change PR!</vt:lpstr>
      <vt:lpstr>PowerPoint Presentation</vt:lpstr>
      <vt:lpstr></vt:lpstr>
      <vt:lpstr>r (t )</vt:lpstr>
      <vt:lpstr>r (t )</vt:lpstr>
      <vt:lpstr>Two problems:</vt:lpstr>
      <vt:lpstr>Power Iteration:</vt:lpstr>
      <vt:lpstr>The Google solution for spider traps: At each  time step, the random surfer has two options</vt:lpstr>
      <vt:lpstr>Power Iteration:</vt:lpstr>
      <vt:lpstr>Teleports: Follow random teleport links with  probability 1.0 from dead-ends</vt:lpstr>
      <vt:lpstr>Why are dead-ends and spider traps a problem  and why do teleports solve the problem? Spider-traps are not a problem, but with traps  PageRank scores are not what we want</vt:lpstr>
      <vt:lpstr>Google’s solution that does it all: At each step, random surfer has two options:</vt:lpstr>
      <vt:lpstr>The Google Matrix A:</vt:lpstr>
      <vt:lpstr>PowerPoint Presentation</vt:lpstr>
      <vt:lpstr>PowerPoint Presentation</vt:lpstr>
      <vt:lpstr>Key step is matrix-vector multiplication</vt:lpstr>
      <vt:lpstr>, where</vt:lpstr>
      <vt:lpstr>We just rearranged the PageRank equation</vt:lpstr>
      <vt:lpstr>Input: Graph 𝑮 and parameter 𝜷</vt:lpstr>
      <vt:lpstr>Encode sparse matrix using only nonzero  entries</vt:lpstr>
      <vt:lpstr>Assume enough RAM to fit rnew into memory</vt:lpstr>
      <vt:lpstr>Assume enough RAM to fit rnew into memory</vt:lpstr>
      <vt:lpstr>PowerPoint Presentation</vt:lpstr>
      <vt:lpstr>Similar to nested-loop join in databases</vt:lpstr>
      <vt:lpstr>destination</vt:lpstr>
      <vt:lpstr>Break M into stripes</vt:lpstr>
      <vt:lpstr>Measures generic popularity of a page</vt:lpstr>
      <vt:lpstr>Classic work: Markov chains, citation analysis  RankDex patent [Robin Li, '96]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Rezwan</dc:creator>
  <cp:lastModifiedBy>Dr. Mohammad Rezwanul Huq</cp:lastModifiedBy>
  <cp:revision>1</cp:revision>
  <dcterms:created xsi:type="dcterms:W3CDTF">2021-12-04T20:03:08Z</dcterms:created>
  <dcterms:modified xsi:type="dcterms:W3CDTF">2024-11-26T10:38:06Z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2021-04-27T00:00:00Z</vt:filetime>
  </property>
  <property fmtid="{D5CDD505-2E9C-101B-9397-08002B2CF9AE}" pid="3" name="LastSaved">
    <vt:filetime>2021-12-04T00:00:00Z</vt:filetime>
  </property>
</Properties>
</file>