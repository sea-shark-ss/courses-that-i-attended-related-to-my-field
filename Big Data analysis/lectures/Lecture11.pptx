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3"/>
  </p:notesMasterIdLst>
  <p:handoutMasterIdLst>
    <p:handoutMasterId r:id="rId44"/>
  </p:handoutMasterIdLst>
  <p:sldIdLst>
    <p:sldId id="388" r:id="rId2"/>
    <p:sldId id="340" r:id="rId3"/>
    <p:sldId id="341" r:id="rId4"/>
    <p:sldId id="342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85" r:id="rId13"/>
    <p:sldId id="350" r:id="rId14"/>
    <p:sldId id="351" r:id="rId15"/>
    <p:sldId id="352" r:id="rId16"/>
    <p:sldId id="353" r:id="rId17"/>
    <p:sldId id="354" r:id="rId18"/>
    <p:sldId id="355" r:id="rId19"/>
    <p:sldId id="356" r:id="rId20"/>
    <p:sldId id="382" r:id="rId21"/>
    <p:sldId id="357" r:id="rId22"/>
    <p:sldId id="358" r:id="rId23"/>
    <p:sldId id="371" r:id="rId24"/>
    <p:sldId id="359" r:id="rId25"/>
    <p:sldId id="361" r:id="rId26"/>
    <p:sldId id="375" r:id="rId27"/>
    <p:sldId id="376" r:id="rId28"/>
    <p:sldId id="377" r:id="rId29"/>
    <p:sldId id="378" r:id="rId30"/>
    <p:sldId id="379" r:id="rId31"/>
    <p:sldId id="381" r:id="rId32"/>
    <p:sldId id="362" r:id="rId33"/>
    <p:sldId id="363" r:id="rId34"/>
    <p:sldId id="364" r:id="rId35"/>
    <p:sldId id="387" r:id="rId36"/>
    <p:sldId id="365" r:id="rId37"/>
    <p:sldId id="366" r:id="rId38"/>
    <p:sldId id="367" r:id="rId39"/>
    <p:sldId id="368" r:id="rId40"/>
    <p:sldId id="386" r:id="rId41"/>
    <p:sldId id="372" r:id="rId42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D60093"/>
    <a:srgbClr val="FF0066"/>
    <a:srgbClr val="33CC33"/>
    <a:srgbClr val="FF0000"/>
    <a:srgbClr val="CC0066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19" autoAdjust="0"/>
    <p:restoredTop sz="82863" autoAdjust="0"/>
  </p:normalViewPr>
  <p:slideViewPr>
    <p:cSldViewPr>
      <p:cViewPr varScale="1">
        <p:scale>
          <a:sx n="90" d="100"/>
          <a:sy n="90" d="100"/>
        </p:scale>
        <p:origin x="217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1" d="100"/>
        <a:sy n="51" d="100"/>
      </p:scale>
      <p:origin x="0" y="3768"/>
    </p:cViewPr>
  </p:sorterViewPr>
  <p:notesViewPr>
    <p:cSldViewPr>
      <p:cViewPr varScale="1">
        <p:scale>
          <a:sx n="53" d="100"/>
          <a:sy n="53" d="100"/>
        </p:scale>
        <p:origin x="-1836" y="-84"/>
      </p:cViewPr>
      <p:guideLst>
        <p:guide orient="horz" pos="3024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1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D3E28C4F-4FE9-4D22-93D8-487A4D01D983}" type="datetimeFigureOut">
              <a:rPr lang="en-US" smtClean="0"/>
              <a:pPr/>
              <a:t>10/14/2022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189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9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BD5F390F-F66B-4732-9C46-6C80D0575F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96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/>
          <a:lstStyle>
            <a:lvl1pPr algn="r">
              <a:defRPr sz="1300"/>
            </a:lvl1pPr>
          </a:lstStyle>
          <a:p>
            <a:fld id="{EE18CB36-612C-4E4A-AC83-E89476AEC2BF}" type="datetimeFigureOut">
              <a:rPr lang="en-US" smtClean="0"/>
              <a:pPr/>
              <a:t>10/14/2022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1" tIns="48326" rIns="96651" bIns="4832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1"/>
            <a:ext cx="5852160" cy="4320540"/>
          </a:xfrm>
          <a:prstGeom prst="rect">
            <a:avLst/>
          </a:prstGeom>
        </p:spPr>
        <p:txBody>
          <a:bodyPr vert="horz" lIns="96651" tIns="48326" rIns="96651" bIns="4832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 anchor="b"/>
          <a:lstStyle>
            <a:lvl1pPr algn="r">
              <a:defRPr sz="1300"/>
            </a:lvl1pPr>
          </a:lstStyle>
          <a:p>
            <a:fld id="{EE707532-839C-41A2-9E71-D5288AEAE6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4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EBCE95-FB7C-493D-A03B-AF73ACCA9F6D}" type="slidenum">
              <a:rPr lang="en-US"/>
              <a:pPr/>
              <a:t>2</a:t>
            </a:fld>
            <a:endParaRPr 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68DB1A-B62B-4BD2-ABC6-C5CD78257C69}" type="slidenum">
              <a:rPr lang="en-US"/>
              <a:pPr/>
              <a:t>3</a:t>
            </a:fld>
            <a:endParaRPr 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1988,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British mountain climber named Joe Simpson wrote a book called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Touching the Void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harrowing account of near death in the Peruvian Andes. It got good reviews but, only a modest success, it was soon forgotten. Then, a decade later, a strange thing happened. Jon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Krakauer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wrote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Thin Air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another book about a mountain-climbing tragedy, which became a publishing sensation.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Suddenly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Touching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Void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started to sell again.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House rushed out a new edition to keep up with demand. Booksellers began to promote it next to their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 Thin Air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displays, and sales rose further. A revised paperback edition, which came out in January, spent 14 weeks 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York Times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bestseller list. That same month, IFC Films released a docudrama of the story to critical acclaim.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Touching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Void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outsells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 Thin Air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more than two to one.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happened? In short, Amazon.com recommendations. The online bookseller's software noted patterns in buying behavior and suggested that readers who liked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 Thin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Air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also like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Touching the Void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People took the suggestion, agreed wholeheartedly, wrote rhapsodic reviews. More sales, more algorithm-fueled recommendations, and the positive feedback loop kicked in.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8DF289-2648-4D55-972B-23C1DCCDAB99}" type="slidenum">
              <a:rPr lang="en-US"/>
              <a:pPr/>
              <a:t>4</a:t>
            </a:fld>
            <a:endParaRPr 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DDA97D-BC7C-42F4-AC55-3C5613A05AF2}" type="slidenum">
              <a:rPr lang="en-US"/>
              <a:pPr/>
              <a:t>6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03DE51-090F-4C98-A3F5-DA1CB983650E}" type="slidenum">
              <a:rPr lang="en-US"/>
              <a:pPr/>
              <a:t>7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E49D6C-BD6D-460B-B0FA-43F63A9C9A54}" type="slidenum">
              <a:rPr lang="en-US"/>
              <a:pPr/>
              <a:t>8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B05CB8-9981-49EA-AE55-53B0F6956BAD}" type="slidenum">
              <a:rPr lang="en-US"/>
              <a:pPr/>
              <a:t>9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8032F5-BC3D-42F6-8325-3EAAB5A0E6D6}" type="slidenum">
              <a:rPr lang="en-US"/>
              <a:pPr/>
              <a:t>10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F30B95-AD19-4E75-86E8-AF43288D2F15}" type="slidenum">
              <a:rPr lang="en-US"/>
              <a:pPr/>
              <a:t>11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40B6C4-9DF7-44AA-9F30-9485E0E087CD}" type="slidenum">
              <a:rPr lang="en-US"/>
              <a:pPr/>
              <a:t>13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5AC0D1-CC1B-4B79-B42C-2EA48882A3E3}" type="slidenum">
              <a:rPr lang="en-US"/>
              <a:pPr/>
              <a:t>14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4C6BDB-9476-45EF-B07C-F71641C038A7}" type="slidenum">
              <a:rPr lang="en-US"/>
              <a:pPr/>
              <a:t>15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C349B-6BB4-44C9-A86D-14D563EEB414}" type="slidenum">
              <a:rPr lang="en-US"/>
              <a:pPr/>
              <a:t>16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86C57F-54DC-4681-9351-AB4C073F29DF}" type="slidenum">
              <a:rPr lang="en-US"/>
              <a:pPr/>
              <a:t>17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422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5F8E04-D9EA-4AD8-AC6F-4F10469D23B8}" type="slidenum">
              <a:rPr lang="en-US"/>
              <a:pPr/>
              <a:t>19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D2BEFA-E99D-40A3-8405-5158F4F7B5BC}" type="slidenum">
              <a:rPr lang="en-US"/>
              <a:pPr/>
              <a:t>21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0EE02D-9DE4-46B7-A2BE-11D296FC136B}" type="slidenum">
              <a:rPr lang="en-US"/>
              <a:pPr/>
              <a:t>22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-- </a:t>
            </a:r>
            <a:r>
              <a:rPr lang="en-US" dirty="0" err="1"/>
              <a:t>Jaccard</a:t>
            </a:r>
            <a:r>
              <a:rPr lang="en-US" dirty="0"/>
              <a:t> is not appropriate as we want to consider weights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A741CD-12CB-4F8C-9F90-F482B321925C}" type="slidenum">
              <a:rPr lang="en-US"/>
              <a:pPr/>
              <a:t>24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6247A4-DE60-4129-839F-65A8356F1E07}" type="slidenum">
              <a:rPr lang="en-US"/>
              <a:pPr/>
              <a:t>25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E49D6C-BD6D-460B-B0FA-43F63A9C9A54}" type="slidenum">
              <a:rPr lang="en-US"/>
              <a:pPr/>
              <a:t>32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is a difference in the typical behavior of users and items, as it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pertains to similarity. Intuitively, items tend to be classifiable in simple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terms. For example, music tends to belong to a single genre. It is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impossi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</a:p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e.g., for a piece of music to be both 60’s rock and 1700’s baroque. 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other hand, there are individuals who like both 60’s rock and 1700’s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baroque, and who buy examples of both types of music. 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consequence is that it is easier to discover items that are similar because they belong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same genre, than it is to detect that two users are similar because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 prefer one genre in common, while each also likes some genres that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other doesn’t care for.</a:t>
            </a:r>
            <a:endParaRPr lang="en-US" dirty="0"/>
          </a:p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FB1CFC-CF59-4F0D-B90C-856AA38F7767}" type="slidenum">
              <a:rPr lang="en-US"/>
              <a:pPr/>
              <a:t>33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D3276C-2F9B-4BB5-919C-53661AA99EE4}" type="slidenum">
              <a:rPr lang="en-US"/>
              <a:pPr/>
              <a:t>34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501BA1-4696-45E9-9D93-8A461B9BB2A4}" type="slidenum">
              <a:rPr lang="en-US"/>
              <a:pPr/>
              <a:t>38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19BC9E-028E-4FB4-AACF-798E50183EB3}" type="slidenum">
              <a:rPr lang="en-US"/>
              <a:pPr/>
              <a:t>39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0F1B7B-C35E-4A44-A4DE-C774121CBEF0}" type="slidenum">
              <a:rPr lang="en-US"/>
              <a:pPr/>
              <a:t>40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2A8A3E-992D-4232-821C-AEEE6D7ACFB6}" type="slidenum">
              <a:rPr lang="en-US"/>
              <a:pPr/>
              <a:t>41</a:t>
            </a:fld>
            <a:endParaRPr lang="en-US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83680"/>
            <a:ext cx="2133600" cy="274320"/>
          </a:xfrm>
          <a:prstGeom prst="rect">
            <a:avLst/>
          </a:prstGeom>
        </p:spPr>
        <p:txBody>
          <a:bodyPr/>
          <a:lstStyle/>
          <a:p>
            <a:fld id="{931C4BB1-A878-4825-A4F2-F0DAA5EC3304}" type="datetime1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6" y="6583680"/>
            <a:ext cx="5507719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J. Leskovec, A. Rajaraman, J. Ullman: Mining of Massive Datasets, http://www.mmds.org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875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914400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2743200"/>
            <a:ext cx="8022336" cy="685800"/>
          </a:xfrm>
        </p:spPr>
        <p:txBody>
          <a:bodyPr lIns="146304" tIns="0" rIns="45720" bIns="0" anchor="t">
            <a:normAutofit/>
          </a:bodyPr>
          <a:lstStyle>
            <a:lvl1pPr marL="0" indent="0">
              <a:buNone/>
              <a:defRPr sz="4000" b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504688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504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23338"/>
            <a:ext cx="4040188" cy="43774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023338"/>
            <a:ext cx="4041775" cy="43774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  <a:prstGeom prst="rect">
            <a:avLst/>
          </a:prstGeom>
        </p:spPr>
        <p:txBody>
          <a:bodyPr/>
          <a:lstStyle/>
          <a:p>
            <a:fld id="{008D99DB-F600-4397-BD26-097E15769A06}" type="datetime1">
              <a:rPr lang="en-US" smtClean="0"/>
              <a:t>10/14/2022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r>
              <a:rPr lang="en-US"/>
              <a:t>J. Leskovec, A. Rajaraman, J. Ullman: Mining of Massive Datasets, http://www.mmds.org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83680"/>
            <a:ext cx="2133600" cy="274320"/>
          </a:xfrm>
          <a:prstGeom prst="rect">
            <a:avLst/>
          </a:prstGeom>
        </p:spPr>
        <p:txBody>
          <a:bodyPr/>
          <a:lstStyle/>
          <a:p>
            <a:fld id="{F4F8AE48-7D4B-4770-9D39-EB03C276211B}" type="datetime1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6" y="6583680"/>
            <a:ext cx="5507719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J. Leskovec, A. Rajaraman, J. Ullman: Mining of Massive Datasets, http://www.mmds.org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83680"/>
            <a:ext cx="2133600" cy="274320"/>
          </a:xfrm>
          <a:prstGeom prst="rect">
            <a:avLst/>
          </a:prstGeom>
        </p:spPr>
        <p:txBody>
          <a:bodyPr/>
          <a:lstStyle/>
          <a:p>
            <a:fld id="{9FB6F10D-9244-4944-8534-3612F4E08BD6}" type="datetime1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J. Leskovec, A. Rajaraman, J. Ullman: Mining of Massive Datasets, http://www.mmds.org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8226720" cy="1143480"/>
          </a:xfrm>
        </p:spPr>
        <p:txBody>
          <a:bodyPr tIns="41473" bIns="4147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920" y="1604329"/>
            <a:ext cx="4043520" cy="4524955"/>
          </a:xfrm>
        </p:spPr>
        <p:txBody>
          <a:bodyPr rIns="82945" bIns="41473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39680" y="1604329"/>
            <a:ext cx="4044960" cy="4524955"/>
          </a:xfrm>
        </p:spPr>
        <p:txBody>
          <a:bodyPr rIns="82945" bIns="41473"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457920" y="6247376"/>
            <a:ext cx="2126880" cy="472370"/>
          </a:xfrm>
          <a:prstGeom prst="rect">
            <a:avLst/>
          </a:prstGeom>
        </p:spPr>
        <p:txBody>
          <a:bodyPr tIns="41473"/>
          <a:lstStyle>
            <a:lvl1pPr>
              <a:defRPr/>
            </a:lvl1pPr>
          </a:lstStyle>
          <a:p>
            <a:fld id="{97E4D047-0FC2-4F58-A8A2-B94D26711327}" type="datetime1">
              <a:rPr lang="en-US" smtClean="0"/>
              <a:t>10/14/2022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>
          <a:xfrm>
            <a:off x="3126240" y="6247376"/>
            <a:ext cx="2897280" cy="472370"/>
          </a:xfrm>
          <a:prstGeom prst="rect">
            <a:avLst/>
          </a:prstGeom>
        </p:spPr>
        <p:txBody>
          <a:bodyPr tIns="41473"/>
          <a:lstStyle>
            <a:lvl1pPr>
              <a:defRPr/>
            </a:lvl1pPr>
          </a:lstStyle>
          <a:p>
            <a:r>
              <a:rPr lang="en-US"/>
              <a:t>J. Leskovec, A. Rajaraman, J. Ullman: Mining of Massive Datasets, http://www.mmds.org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>
          <a:xfrm>
            <a:off x="6554880" y="6247376"/>
            <a:ext cx="2128320" cy="472370"/>
          </a:xfrm>
        </p:spPr>
        <p:txBody>
          <a:bodyPr lIns="82945" tIns="41473" rIns="82945"/>
          <a:lstStyle>
            <a:lvl1pPr>
              <a:defRPr/>
            </a:lvl1pPr>
          </a:lstStyle>
          <a:p>
            <a:fld id="{10066599-523B-4641-9CCC-17D83CD935E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48AB77E-7BB7-4149-95FE-B7CDB46020AE}" type="datetime1">
              <a:rPr lang="en-US" smtClean="0"/>
              <a:t>10/14/2022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J. Leskovec, A. Rajaraman, J. Ullman: Mining of Massive Datasets, http://www.mmds.org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9826768-8FCE-4417-A22B-1D26CD2A846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7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02108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1"/>
            <a:ext cx="9143999" cy="1021079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5257801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583680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90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5" r:id="rId12"/>
    <p:sldLayoutId id="2147483677" r:id="rId13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100000"/>
        <a:buFont typeface="Wingdings" pitchFamily="2" charset="2"/>
        <a:buChar char="§"/>
        <a:defRPr kumimoji="0" sz="28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SzPct val="100000"/>
        <a:buFont typeface="Wingdings" pitchFamily="2" charset="2"/>
        <a:buChar char="§"/>
        <a:defRPr kumimoji="0"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 pitchFamily="2" charset="2"/>
        <a:buChar char="§"/>
        <a:defRPr kumimoji="0" sz="20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SzPct val="100000"/>
        <a:buFont typeface="Wingdings" pitchFamily="2" charset="2"/>
        <a:buChar char="§"/>
        <a:defRPr kumimoji="0" lang="en-US" sz="2000" kern="1200" smtClean="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4.jpeg"/><Relationship Id="rId3" Type="http://schemas.openxmlformats.org/officeDocument/2006/relationships/image" Target="../media/image4.gif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11" Type="http://schemas.openxmlformats.org/officeDocument/2006/relationships/image" Target="../media/image12.gif"/><Relationship Id="rId5" Type="http://schemas.openxmlformats.org/officeDocument/2006/relationships/image" Target="../media/image6.gif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red.com/wired/archive/12.10/tail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wired.com/wired/archive/12.10/tail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anand.typepad.com/datawocky/2008/03/more-data-usual.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2202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5133975"/>
            </a:xfrm>
            <a:custGeom>
              <a:avLst/>
              <a:gdLst/>
              <a:ahLst/>
              <a:cxnLst/>
              <a:rect l="l" t="t" r="r" b="b"/>
              <a:pathLst>
                <a:path w="9144000" h="5133975">
                  <a:moveTo>
                    <a:pt x="9144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144000" y="51339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86286"/>
              <a:ext cx="9144000" cy="138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4450"/>
              <a:ext cx="9144000" cy="47625"/>
            </a:xfrm>
            <a:custGeom>
              <a:avLst/>
              <a:gdLst/>
              <a:ahLst/>
              <a:cxnLst/>
              <a:rect l="l" t="t" r="r" b="b"/>
              <a:pathLst>
                <a:path w="9144000" h="47625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13300" y="5224398"/>
            <a:ext cx="4330700" cy="11174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Dr. Mohammad Rezwanul Huq</a:t>
            </a:r>
          </a:p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Associate Professor</a:t>
            </a:r>
          </a:p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East West University</a:t>
            </a:r>
            <a:endParaRPr sz="2000" dirty="0">
              <a:latin typeface="Corbel"/>
              <a:cs typeface="Corbe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C8D84B-8AF9-4ABB-AF8C-ED978638D2A0}"/>
              </a:ext>
            </a:extLst>
          </p:cNvPr>
          <p:cNvSpPr txBox="1"/>
          <p:nvPr/>
        </p:nvSpPr>
        <p:spPr>
          <a:xfrm>
            <a:off x="304800" y="1905000"/>
            <a:ext cx="8839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CSE488: Big Data Analytics</a:t>
            </a:r>
          </a:p>
          <a:p>
            <a:pPr algn="ctr"/>
            <a:endParaRPr lang="en-AU" sz="32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  <a:p>
            <a:pPr algn="ctr"/>
            <a:r>
              <a:rPr lang="en-AU" sz="3600" dirty="0">
                <a:solidFill>
                  <a:srgbClr val="00B0F0"/>
                </a:solidFill>
                <a:latin typeface="Palatino Linotype" panose="02040502050505030304" pitchFamily="18" charset="0"/>
              </a:rPr>
              <a:t>Lecture 11: Recommender Systems  </a:t>
            </a:r>
            <a:endParaRPr lang="en-US" sz="3600" dirty="0">
              <a:solidFill>
                <a:srgbClr val="00B0F0"/>
              </a:solidFill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2" name="Picture 22" descr="http://blog.hubspot.com/Portals/249/images/amazon_logo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1752600"/>
            <a:ext cx="1796244" cy="666750"/>
          </a:xfrm>
          <a:prstGeom prst="rect">
            <a:avLst/>
          </a:prstGeom>
          <a:noFill/>
        </p:spPr>
      </p:pic>
      <p:pic>
        <p:nvPicPr>
          <p:cNvPr id="51220" name="Picture 20" descr="http://4.bp.blogspot.com/_zmoEeqomXD4/SjftFPB6UTI/AAAAAAAACZE/gxQm5CcUp_k/s400/del.icio.us-log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10300" y="2438400"/>
            <a:ext cx="1562100" cy="1562100"/>
          </a:xfrm>
          <a:prstGeom prst="rect">
            <a:avLst/>
          </a:prstGeom>
          <a:noFill/>
        </p:spPr>
      </p:pic>
      <p:pic>
        <p:nvPicPr>
          <p:cNvPr id="51216" name="Picture 16" descr="http://upload.moldova.org/IT/logos/youtube_logo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24600" y="5029200"/>
            <a:ext cx="1219200" cy="1219201"/>
          </a:xfrm>
          <a:prstGeom prst="rect">
            <a:avLst/>
          </a:prstGeom>
          <a:noFill/>
        </p:spPr>
      </p:pic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Recommendations </a:t>
            </a:r>
          </a:p>
        </p:txBody>
      </p:sp>
      <p:sp>
        <p:nvSpPr>
          <p:cNvPr id="16387" name="AutoShape 4"/>
          <p:cNvSpPr>
            <a:spLocks noChangeArrowheads="1"/>
          </p:cNvSpPr>
          <p:nvPr/>
        </p:nvSpPr>
        <p:spPr bwMode="auto">
          <a:xfrm>
            <a:off x="1600200" y="4419600"/>
            <a:ext cx="1371600" cy="1066800"/>
          </a:xfrm>
          <a:prstGeom prst="can">
            <a:avLst>
              <a:gd name="adj" fmla="val 25000"/>
            </a:avLst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effectLst/>
                <a:latin typeface="Arial" pitchFamily="34" charset="0"/>
                <a:cs typeface="Arial" pitchFamily="34" charset="0"/>
              </a:rPr>
              <a:t>Items</a:t>
            </a:r>
          </a:p>
        </p:txBody>
      </p:sp>
      <p:pic>
        <p:nvPicPr>
          <p:cNvPr id="16388" name="Picture 5" descr="MCBS01705_0000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71600" y="1295400"/>
            <a:ext cx="1758950" cy="177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611188" y="3048000"/>
            <a:ext cx="1293812" cy="1219200"/>
            <a:chOff x="385" y="1920"/>
            <a:chExt cx="815" cy="768"/>
          </a:xfrm>
        </p:grpSpPr>
        <p:sp>
          <p:nvSpPr>
            <p:cNvPr id="11273" name="AutoShape 9"/>
            <p:cNvSpPr>
              <a:spLocks noChangeArrowheads="1"/>
            </p:cNvSpPr>
            <p:nvPr/>
          </p:nvSpPr>
          <p:spPr bwMode="auto">
            <a:xfrm>
              <a:off x="1056" y="1920"/>
              <a:ext cx="144" cy="768"/>
            </a:xfrm>
            <a:prstGeom prst="downArrow">
              <a:avLst>
                <a:gd name="adj1" fmla="val 50000"/>
                <a:gd name="adj2" fmla="val 1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395" name="Text Box 11"/>
            <p:cNvSpPr txBox="1">
              <a:spLocks noChangeArrowheads="1"/>
            </p:cNvSpPr>
            <p:nvPr/>
          </p:nvSpPr>
          <p:spPr bwMode="auto">
            <a:xfrm>
              <a:off x="385" y="2119"/>
              <a:ext cx="65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dirty="0">
                  <a:effectLst/>
                  <a:latin typeface="Arial" pitchFamily="34" charset="0"/>
                  <a:cs typeface="Arial" pitchFamily="34" charset="0"/>
                </a:rPr>
                <a:t>Search</a:t>
              </a:r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2438400" y="3048000"/>
            <a:ext cx="2768601" cy="1143000"/>
            <a:chOff x="1536" y="1920"/>
            <a:chExt cx="1744" cy="720"/>
          </a:xfrm>
        </p:grpSpPr>
        <p:sp>
          <p:nvSpPr>
            <p:cNvPr id="11274" name="AutoShape 10"/>
            <p:cNvSpPr>
              <a:spLocks noChangeArrowheads="1"/>
            </p:cNvSpPr>
            <p:nvPr/>
          </p:nvSpPr>
          <p:spPr bwMode="auto">
            <a:xfrm>
              <a:off x="1536" y="1920"/>
              <a:ext cx="144" cy="720"/>
            </a:xfrm>
            <a:prstGeom prst="upArrow">
              <a:avLst>
                <a:gd name="adj1" fmla="val 50000"/>
                <a:gd name="adj2" fmla="val 1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393" name="Text Box 12"/>
            <p:cNvSpPr txBox="1">
              <a:spLocks noChangeArrowheads="1"/>
            </p:cNvSpPr>
            <p:nvPr/>
          </p:nvSpPr>
          <p:spPr bwMode="auto">
            <a:xfrm>
              <a:off x="1718" y="2119"/>
              <a:ext cx="156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dirty="0">
                  <a:effectLst/>
                  <a:latin typeface="Arial" pitchFamily="34" charset="0"/>
                  <a:cs typeface="Arial" pitchFamily="34" charset="0"/>
                </a:rPr>
                <a:t>Recommendations</a:t>
              </a:r>
            </a:p>
          </p:txBody>
        </p:sp>
      </p:grpSp>
      <p:sp>
        <p:nvSpPr>
          <p:cNvPr id="16391" name="Text Box 13"/>
          <p:cNvSpPr txBox="1">
            <a:spLocks noChangeArrowheads="1"/>
          </p:cNvSpPr>
          <p:nvPr/>
        </p:nvSpPr>
        <p:spPr bwMode="auto">
          <a:xfrm>
            <a:off x="3048000" y="4724400"/>
            <a:ext cx="261962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effectLst/>
                <a:latin typeface="Arial" pitchFamily="34" charset="0"/>
                <a:cs typeface="Arial" pitchFamily="34" charset="0"/>
              </a:rPr>
              <a:t>Products, web sites, </a:t>
            </a:r>
            <a:br>
              <a:rPr lang="en-US" sz="2000" dirty="0">
                <a:effectLst/>
                <a:latin typeface="Arial" pitchFamily="34" charset="0"/>
                <a:cs typeface="Arial" pitchFamily="34" charset="0"/>
              </a:rPr>
            </a:br>
            <a:r>
              <a:rPr lang="en-US" sz="2000" dirty="0">
                <a:effectLst/>
                <a:latin typeface="Arial" pitchFamily="34" charset="0"/>
                <a:cs typeface="Arial" pitchFamily="34" charset="0"/>
              </a:rPr>
              <a:t>blogs, news items, …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1204" name="Picture 4" descr="Pandora Logo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845425" y="1571042"/>
            <a:ext cx="762000" cy="762001"/>
          </a:xfrm>
          <a:prstGeom prst="rect">
            <a:avLst/>
          </a:prstGeom>
          <a:noFill/>
        </p:spPr>
      </p:pic>
      <p:pic>
        <p:nvPicPr>
          <p:cNvPr id="51206" name="Picture 6" descr="http://scrapetv.com/News/News%20Pages/Business/images-5/netflix-logo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997825" y="2511425"/>
            <a:ext cx="993775" cy="993775"/>
          </a:xfrm>
          <a:prstGeom prst="rect">
            <a:avLst/>
          </a:prstGeom>
          <a:noFill/>
        </p:spPr>
      </p:pic>
      <p:pic>
        <p:nvPicPr>
          <p:cNvPr id="51208" name="Picture 8" descr="http://www.growyourwritingbusiness.com/images/stumbleupon_logo.bmp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016625" y="2438400"/>
            <a:ext cx="1852078" cy="533400"/>
          </a:xfrm>
          <a:prstGeom prst="rect">
            <a:avLst/>
          </a:prstGeom>
          <a:noFill/>
        </p:spPr>
      </p:pic>
      <p:pic>
        <p:nvPicPr>
          <p:cNvPr id="51210" name="Picture 10" descr="http://admintell.napco.com/ee/images/uploads/appletell/618px-Last.fm_logo_.svg_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857875" y="4238042"/>
            <a:ext cx="1609725" cy="867358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5334000" y="1371600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rgbClr val="0000FF"/>
                </a:solidFill>
              </a:rPr>
              <a:t>Examples:</a:t>
            </a:r>
          </a:p>
        </p:txBody>
      </p:sp>
      <p:pic>
        <p:nvPicPr>
          <p:cNvPr id="51212" name="Picture 12" descr="http://upload.wikimedia.org/wikipedia/commons/5/52/Movielens-helping.gif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629400" y="3676649"/>
            <a:ext cx="2238375" cy="438151"/>
          </a:xfrm>
          <a:prstGeom prst="rect">
            <a:avLst/>
          </a:prstGeom>
          <a:noFill/>
        </p:spPr>
      </p:pic>
      <p:pic>
        <p:nvPicPr>
          <p:cNvPr id="51214" name="Picture 14" descr="http://blog.ithenticate.com/wp-content/uploads/2010/11/google-news-logo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467600" y="4229100"/>
            <a:ext cx="1428750" cy="952500"/>
          </a:xfrm>
          <a:prstGeom prst="rect">
            <a:avLst/>
          </a:prstGeom>
          <a:noFill/>
        </p:spPr>
      </p:pic>
      <p:pic>
        <p:nvPicPr>
          <p:cNvPr id="51218" name="Picture 18" descr="http://beefjack.com/files/2010/04/xbox-live-arcade.thumbnail.jp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696200" y="4953000"/>
            <a:ext cx="1295400" cy="12954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12693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610600" cy="987552"/>
          </a:xfrm>
        </p:spPr>
        <p:txBody>
          <a:bodyPr/>
          <a:lstStyle/>
          <a:p>
            <a:pPr eaLnBrk="1" hangingPunct="1"/>
            <a:r>
              <a:rPr lang="en-US" dirty="0"/>
              <a:t>From Scarcity to Abundance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257801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rgbClr val="0000FF"/>
                </a:solidFill>
              </a:rPr>
              <a:t>Shelf space is a scarce commodity for traditional retailers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Also: TV networks, movie theaters,…</a:t>
            </a:r>
          </a:p>
          <a:p>
            <a:pPr lvl="8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rgbClr val="FF0066"/>
                </a:solidFill>
              </a:rPr>
              <a:t>Web enables near-zero-cost dissemination </a:t>
            </a:r>
            <a:br>
              <a:rPr lang="en-US" b="1" dirty="0">
                <a:solidFill>
                  <a:srgbClr val="FF0066"/>
                </a:solidFill>
              </a:rPr>
            </a:br>
            <a:r>
              <a:rPr lang="en-US" b="1" dirty="0">
                <a:solidFill>
                  <a:srgbClr val="FF0066"/>
                </a:solidFill>
              </a:rPr>
              <a:t>of information about products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From scarcity to abundance</a:t>
            </a:r>
          </a:p>
          <a:p>
            <a:pPr lvl="8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rgbClr val="008000"/>
                </a:solidFill>
              </a:rPr>
              <a:t>More choice necessitates better filters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Recommendation engines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How </a:t>
            </a:r>
            <a:r>
              <a:rPr lang="en-US" b="1" dirty="0">
                <a:solidFill>
                  <a:srgbClr val="0000FF"/>
                </a:solidFill>
              </a:rPr>
              <a:t>Into Thin Air </a:t>
            </a:r>
            <a:r>
              <a:rPr lang="en-US" dirty="0"/>
              <a:t>made </a:t>
            </a:r>
            <a:r>
              <a:rPr lang="en-US" b="1" dirty="0">
                <a:solidFill>
                  <a:srgbClr val="0000FF"/>
                </a:solidFill>
              </a:rPr>
              <a:t>Touching the Void</a:t>
            </a:r>
            <a:r>
              <a:rPr lang="en-US" dirty="0">
                <a:solidFill>
                  <a:srgbClr val="0000FF"/>
                </a:solidFill>
              </a:rPr>
              <a:t> 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/>
              <a:t>a bestseller: </a:t>
            </a:r>
            <a:r>
              <a:rPr lang="en-US" sz="2000" dirty="0">
                <a:hlinkClick r:id="rId3"/>
              </a:rPr>
              <a:t>http://www.wired.com/wired/archive/12.10/tail.html</a:t>
            </a:r>
            <a:endParaRPr lang="en-US" dirty="0"/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712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Sidenote</a:t>
            </a:r>
            <a:r>
              <a:rPr lang="en-US" dirty="0"/>
              <a:t>: The Long Tail</a:t>
            </a:r>
          </a:p>
        </p:txBody>
      </p:sp>
      <p:pic>
        <p:nvPicPr>
          <p:cNvPr id="20483" name="Picture 3" descr="Anatomy edi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102437"/>
            <a:ext cx="9144000" cy="5548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3471671" y="6361952"/>
            <a:ext cx="204575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Source: Chris Anderson (2004)</a:t>
            </a:r>
          </a:p>
        </p:txBody>
      </p:sp>
      <p:pic>
        <p:nvPicPr>
          <p:cNvPr id="7" name="Picture 2" descr="Full-size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00600" y="1106839"/>
            <a:ext cx="4343400" cy="1855817"/>
          </a:xfrm>
          <a:prstGeom prst="rect">
            <a:avLst/>
          </a:prstGeom>
          <a:noFill/>
        </p:spPr>
      </p:pic>
      <p:pic>
        <p:nvPicPr>
          <p:cNvPr id="4710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24200" y="1124712"/>
            <a:ext cx="3657600" cy="3635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497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vs. Online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4" descr="Full-size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3498" y="1104899"/>
            <a:ext cx="6477005" cy="2590803"/>
          </a:xfrm>
          <a:prstGeom prst="rect">
            <a:avLst/>
          </a:prstGeom>
          <a:noFill/>
        </p:spPr>
      </p:pic>
      <p:pic>
        <p:nvPicPr>
          <p:cNvPr id="67586" name="Picture 2" descr="Full-size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6210" y="3706853"/>
            <a:ext cx="5471581" cy="268605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152400" y="6375771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/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Read 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hlinkClick r:id="rId4"/>
              </a:rPr>
              <a:t>http://www.wired.com/wired/archive/12.10/tail.html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to learn more!</a:t>
            </a:r>
          </a:p>
        </p:txBody>
      </p:sp>
    </p:spTree>
    <p:extLst>
      <p:ext uri="{BB962C8B-B14F-4D97-AF65-F5344CB8AC3E}">
        <p14:creationId xmlns:p14="http://schemas.microsoft.com/office/powerpoint/2010/main" val="2627440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Recommendations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rgbClr val="0000FF"/>
                </a:solidFill>
              </a:rPr>
              <a:t>Editorial and hand curated</a:t>
            </a:r>
          </a:p>
          <a:p>
            <a:pPr lvl="1"/>
            <a:r>
              <a:rPr lang="en-US" dirty="0"/>
              <a:t>List of favorites</a:t>
            </a:r>
          </a:p>
          <a:p>
            <a:pPr lvl="1"/>
            <a:r>
              <a:rPr lang="en-US" dirty="0"/>
              <a:t>Lists of “essential” items</a:t>
            </a:r>
          </a:p>
          <a:p>
            <a:pPr lvl="8"/>
            <a:endParaRPr lang="en-US" dirty="0"/>
          </a:p>
          <a:p>
            <a:pPr eaLnBrk="1" hangingPunct="1"/>
            <a:r>
              <a:rPr lang="en-US" b="1" dirty="0">
                <a:solidFill>
                  <a:srgbClr val="0000FF"/>
                </a:solidFill>
              </a:rPr>
              <a:t>Simple aggregates</a:t>
            </a:r>
          </a:p>
          <a:p>
            <a:pPr lvl="1" eaLnBrk="1" hangingPunct="1"/>
            <a:r>
              <a:rPr lang="en-US" dirty="0"/>
              <a:t>Top 10, Most Popular, Recent Uploads</a:t>
            </a:r>
          </a:p>
          <a:p>
            <a:pPr lvl="8"/>
            <a:endParaRPr lang="en-US" dirty="0">
              <a:solidFill>
                <a:srgbClr val="FF0066"/>
              </a:solidFill>
            </a:endParaRPr>
          </a:p>
          <a:p>
            <a:pPr eaLnBrk="1" hangingPunct="1"/>
            <a:r>
              <a:rPr lang="en-US" b="1" dirty="0">
                <a:solidFill>
                  <a:srgbClr val="FF0066"/>
                </a:solidFill>
              </a:rPr>
              <a:t>Tailored to individual users</a:t>
            </a:r>
          </a:p>
          <a:p>
            <a:pPr lvl="1" eaLnBrk="1" hangingPunct="1"/>
            <a:r>
              <a:rPr lang="en-US" dirty="0"/>
              <a:t>Amazon, Netflix, …</a:t>
            </a:r>
          </a:p>
          <a:p>
            <a:pPr eaLnBrk="1" hangingPunct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54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Formal Model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b="1" i="1" dirty="0"/>
              <a:t>X</a:t>
            </a:r>
            <a:r>
              <a:rPr lang="en-US" sz="3600" dirty="0"/>
              <a:t> = set of </a:t>
            </a:r>
            <a:r>
              <a:rPr lang="en-US" sz="3600" b="1" dirty="0">
                <a:solidFill>
                  <a:srgbClr val="008000"/>
                </a:solidFill>
              </a:rPr>
              <a:t>Customers</a:t>
            </a:r>
          </a:p>
          <a:p>
            <a:pPr eaLnBrk="1" hangingPunct="1"/>
            <a:r>
              <a:rPr lang="en-US" sz="3600" b="1" i="1" dirty="0"/>
              <a:t>S</a:t>
            </a:r>
            <a:r>
              <a:rPr lang="en-US" sz="3600" dirty="0"/>
              <a:t> = set of </a:t>
            </a:r>
            <a:r>
              <a:rPr lang="en-US" sz="3600" b="1" dirty="0">
                <a:solidFill>
                  <a:srgbClr val="0000FF"/>
                </a:solidFill>
              </a:rPr>
              <a:t>Items</a:t>
            </a:r>
          </a:p>
          <a:p>
            <a:pPr lvl="8"/>
            <a:endParaRPr lang="en-US" sz="2000" dirty="0"/>
          </a:p>
          <a:p>
            <a:pPr eaLnBrk="1" hangingPunct="1"/>
            <a:r>
              <a:rPr lang="en-US" sz="3600" b="1" dirty="0">
                <a:solidFill>
                  <a:srgbClr val="FF0066"/>
                </a:solidFill>
              </a:rPr>
              <a:t>Utility function</a:t>
            </a:r>
            <a:r>
              <a:rPr lang="en-US" sz="3600" dirty="0"/>
              <a:t> </a:t>
            </a:r>
            <a:r>
              <a:rPr lang="en-US" sz="3600" b="1" i="1" dirty="0"/>
              <a:t>u</a:t>
            </a:r>
            <a:r>
              <a:rPr lang="en-US" sz="3600" dirty="0"/>
              <a:t>: </a:t>
            </a:r>
            <a:r>
              <a:rPr lang="en-US" sz="3600" b="1" i="1" dirty="0"/>
              <a:t>X</a:t>
            </a:r>
            <a:r>
              <a:rPr lang="en-US" sz="3600" dirty="0"/>
              <a:t> </a:t>
            </a:r>
            <a:r>
              <a:rPr lang="en-US" sz="3600" dirty="0">
                <a:latin typeface="cmsy10" pitchFamily="1" charset="0"/>
              </a:rPr>
              <a:t>× </a:t>
            </a:r>
            <a:r>
              <a:rPr lang="en-US" sz="3600" b="1" i="1" dirty="0"/>
              <a:t>S</a:t>
            </a:r>
            <a:r>
              <a:rPr lang="en-US" sz="3600" dirty="0"/>
              <a:t> </a:t>
            </a:r>
            <a:r>
              <a:rPr lang="en-US" sz="3600" dirty="0">
                <a:sym typeface="Wingdings" charset="2"/>
              </a:rPr>
              <a:t></a:t>
            </a:r>
            <a:r>
              <a:rPr lang="en-US" sz="3600" dirty="0"/>
              <a:t> </a:t>
            </a:r>
            <a:r>
              <a:rPr lang="en-US" sz="3600" b="1" i="1" dirty="0"/>
              <a:t>R</a:t>
            </a:r>
          </a:p>
          <a:p>
            <a:pPr lvl="1" eaLnBrk="1" hangingPunct="1"/>
            <a:r>
              <a:rPr lang="en-US" sz="3200" b="1" i="1" dirty="0"/>
              <a:t>R</a:t>
            </a:r>
            <a:r>
              <a:rPr lang="en-US" sz="3200" i="1" dirty="0"/>
              <a:t> </a:t>
            </a:r>
            <a:r>
              <a:rPr lang="en-US" sz="3200" dirty="0"/>
              <a:t>= set of ratings</a:t>
            </a:r>
          </a:p>
          <a:p>
            <a:pPr lvl="1" eaLnBrk="1" hangingPunct="1"/>
            <a:r>
              <a:rPr lang="en-US" sz="3200" b="1" i="1" dirty="0"/>
              <a:t>R</a:t>
            </a:r>
            <a:r>
              <a:rPr lang="en-US" sz="3200" dirty="0"/>
              <a:t> is a totally ordered set</a:t>
            </a:r>
          </a:p>
          <a:p>
            <a:pPr lvl="1" eaLnBrk="1" hangingPunct="1"/>
            <a:r>
              <a:rPr lang="en-US" sz="3200" dirty="0"/>
              <a:t>e.g., </a:t>
            </a:r>
            <a:r>
              <a:rPr lang="en-US" sz="3200" b="1" dirty="0"/>
              <a:t>0-5</a:t>
            </a:r>
            <a:r>
              <a:rPr lang="en-US" sz="3200" dirty="0"/>
              <a:t> stars, real number in </a:t>
            </a:r>
            <a:r>
              <a:rPr lang="en-US" sz="3200" b="1" dirty="0"/>
              <a:t>[0,1]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40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Utility Matrix</a:t>
            </a:r>
          </a:p>
        </p:txBody>
      </p:sp>
      <p:graphicFrame>
        <p:nvGraphicFramePr>
          <p:cNvPr id="26626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9265062"/>
              </p:ext>
            </p:extLst>
          </p:nvPr>
        </p:nvGraphicFramePr>
        <p:xfrm>
          <a:off x="2133600" y="2209800"/>
          <a:ext cx="4802187" cy="346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1560" imgH="888840" progId="Equation.3">
                  <p:embed/>
                </p:oleObj>
              </mc:Choice>
              <mc:Fallback>
                <p:oleObj name="Equation" r:id="rId3" imgW="123156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209800"/>
                        <a:ext cx="4802187" cy="346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2" name="Text Box 42"/>
          <p:cNvSpPr txBox="1">
            <a:spLocks noChangeArrowheads="1"/>
          </p:cNvSpPr>
          <p:nvPr/>
        </p:nvSpPr>
        <p:spPr bwMode="auto">
          <a:xfrm>
            <a:off x="2117725" y="1335087"/>
            <a:ext cx="9794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Avatar</a:t>
            </a:r>
          </a:p>
        </p:txBody>
      </p:sp>
      <p:sp>
        <p:nvSpPr>
          <p:cNvPr id="20524" name="Text Box 44"/>
          <p:cNvSpPr txBox="1">
            <a:spLocks noChangeArrowheads="1"/>
          </p:cNvSpPr>
          <p:nvPr/>
        </p:nvSpPr>
        <p:spPr bwMode="auto">
          <a:xfrm>
            <a:off x="3516312" y="1335087"/>
            <a:ext cx="8747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LOTR</a:t>
            </a:r>
          </a:p>
        </p:txBody>
      </p:sp>
      <p:sp>
        <p:nvSpPr>
          <p:cNvPr id="20525" name="Text Box 45"/>
          <p:cNvSpPr txBox="1">
            <a:spLocks noChangeArrowheads="1"/>
          </p:cNvSpPr>
          <p:nvPr/>
        </p:nvSpPr>
        <p:spPr bwMode="auto">
          <a:xfrm>
            <a:off x="4675187" y="1335087"/>
            <a:ext cx="931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Matrix</a:t>
            </a:r>
          </a:p>
        </p:txBody>
      </p:sp>
      <p:sp>
        <p:nvSpPr>
          <p:cNvPr id="20526" name="Text Box 46"/>
          <p:cNvSpPr txBox="1">
            <a:spLocks noChangeArrowheads="1"/>
          </p:cNvSpPr>
          <p:nvPr/>
        </p:nvSpPr>
        <p:spPr bwMode="auto">
          <a:xfrm>
            <a:off x="6122987" y="1335087"/>
            <a:ext cx="10398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Pirates</a:t>
            </a:r>
          </a:p>
        </p:txBody>
      </p:sp>
      <p:sp>
        <p:nvSpPr>
          <p:cNvPr id="20527" name="Text Box 47"/>
          <p:cNvSpPr txBox="1">
            <a:spLocks noChangeArrowheads="1"/>
          </p:cNvSpPr>
          <p:nvPr/>
        </p:nvSpPr>
        <p:spPr bwMode="auto">
          <a:xfrm>
            <a:off x="773112" y="2309812"/>
            <a:ext cx="790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Alice</a:t>
            </a:r>
          </a:p>
        </p:txBody>
      </p:sp>
      <p:sp>
        <p:nvSpPr>
          <p:cNvPr id="20528" name="Text Box 48"/>
          <p:cNvSpPr txBox="1">
            <a:spLocks noChangeArrowheads="1"/>
          </p:cNvSpPr>
          <p:nvPr/>
        </p:nvSpPr>
        <p:spPr bwMode="auto">
          <a:xfrm>
            <a:off x="773112" y="3148012"/>
            <a:ext cx="677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Bob</a:t>
            </a:r>
          </a:p>
        </p:txBody>
      </p:sp>
      <p:sp>
        <p:nvSpPr>
          <p:cNvPr id="20529" name="Text Box 49"/>
          <p:cNvSpPr txBox="1">
            <a:spLocks noChangeArrowheads="1"/>
          </p:cNvSpPr>
          <p:nvPr/>
        </p:nvSpPr>
        <p:spPr bwMode="auto">
          <a:xfrm>
            <a:off x="773112" y="4138612"/>
            <a:ext cx="833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Carol</a:t>
            </a:r>
          </a:p>
        </p:txBody>
      </p:sp>
      <p:sp>
        <p:nvSpPr>
          <p:cNvPr id="20530" name="Text Box 50"/>
          <p:cNvSpPr txBox="1">
            <a:spLocks noChangeArrowheads="1"/>
          </p:cNvSpPr>
          <p:nvPr/>
        </p:nvSpPr>
        <p:spPr bwMode="auto">
          <a:xfrm>
            <a:off x="773112" y="4976812"/>
            <a:ext cx="876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David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92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Key Problems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686800" cy="5257801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b="1" dirty="0">
                <a:solidFill>
                  <a:srgbClr val="FF0066"/>
                </a:solidFill>
              </a:rPr>
              <a:t>(1)</a:t>
            </a:r>
            <a:r>
              <a:rPr lang="en-US" b="1" dirty="0">
                <a:solidFill>
                  <a:srgbClr val="0000FF"/>
                </a:solidFill>
              </a:rPr>
              <a:t> Gathering “known” ratings for matrix</a:t>
            </a:r>
          </a:p>
          <a:p>
            <a:pPr lvl="1"/>
            <a:r>
              <a:rPr lang="en-US" dirty="0"/>
              <a:t>How to collect the data in the utility matrix</a:t>
            </a:r>
          </a:p>
          <a:p>
            <a:pPr lvl="8"/>
            <a:endParaRPr lang="en-US" dirty="0"/>
          </a:p>
          <a:p>
            <a:pPr eaLnBrk="1" hangingPunct="1"/>
            <a:r>
              <a:rPr lang="en-US" b="1" dirty="0">
                <a:solidFill>
                  <a:srgbClr val="FF0066"/>
                </a:solidFill>
              </a:rPr>
              <a:t>(2)</a:t>
            </a:r>
            <a:r>
              <a:rPr lang="en-US" b="1" dirty="0">
                <a:solidFill>
                  <a:srgbClr val="0000FF"/>
                </a:solidFill>
              </a:rPr>
              <a:t> Extrapolate unknown ratings from the </a:t>
            </a:r>
            <a:br>
              <a:rPr lang="en-US" b="1" dirty="0">
                <a:solidFill>
                  <a:srgbClr val="0000FF"/>
                </a:solidFill>
              </a:rPr>
            </a:br>
            <a:r>
              <a:rPr lang="en-US" b="1" dirty="0">
                <a:solidFill>
                  <a:srgbClr val="0000FF"/>
                </a:solidFill>
              </a:rPr>
              <a:t>known ones</a:t>
            </a:r>
          </a:p>
          <a:p>
            <a:pPr lvl="1"/>
            <a:r>
              <a:rPr lang="en-US" dirty="0"/>
              <a:t>Mainly interested in high unknown ratings</a:t>
            </a:r>
          </a:p>
          <a:p>
            <a:pPr lvl="2"/>
            <a:r>
              <a:rPr lang="en-US" dirty="0"/>
              <a:t>We are not interested in knowing what you don’t like </a:t>
            </a:r>
            <a:br>
              <a:rPr lang="en-US" dirty="0"/>
            </a:br>
            <a:r>
              <a:rPr lang="en-US" dirty="0"/>
              <a:t>but what you like</a:t>
            </a:r>
          </a:p>
          <a:p>
            <a:pPr lvl="8"/>
            <a:endParaRPr lang="en-US" dirty="0"/>
          </a:p>
          <a:p>
            <a:pPr eaLnBrk="1" hangingPunct="1"/>
            <a:r>
              <a:rPr lang="en-US" b="1" dirty="0">
                <a:solidFill>
                  <a:srgbClr val="FF0066"/>
                </a:solidFill>
              </a:rPr>
              <a:t>(3)</a:t>
            </a:r>
            <a:r>
              <a:rPr lang="en-US" b="1" dirty="0">
                <a:solidFill>
                  <a:srgbClr val="0000FF"/>
                </a:solidFill>
              </a:rPr>
              <a:t> Evaluating extrapolation methods</a:t>
            </a:r>
          </a:p>
          <a:p>
            <a:pPr lvl="1"/>
            <a:r>
              <a:rPr lang="en-US" dirty="0"/>
              <a:t>How to measure success/performance of</a:t>
            </a:r>
            <a:br>
              <a:rPr lang="en-US" dirty="0"/>
            </a:br>
            <a:r>
              <a:rPr lang="en-US" dirty="0"/>
              <a:t>recommendation methods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21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(1) Gathering Ratings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rgbClr val="0000FF"/>
                </a:solidFill>
              </a:rPr>
              <a:t>Explicit</a:t>
            </a:r>
          </a:p>
          <a:p>
            <a:pPr lvl="1" eaLnBrk="1" hangingPunct="1"/>
            <a:r>
              <a:rPr lang="en-US" dirty="0"/>
              <a:t>Ask people to rate items</a:t>
            </a:r>
          </a:p>
          <a:p>
            <a:pPr lvl="1" eaLnBrk="1" hangingPunct="1"/>
            <a:r>
              <a:rPr lang="en-US" dirty="0"/>
              <a:t>Doesn’t work well in practice – people </a:t>
            </a:r>
            <a:br>
              <a:rPr lang="en-US" dirty="0"/>
            </a:br>
            <a:r>
              <a:rPr lang="en-US" dirty="0"/>
              <a:t>can’t be bothered</a:t>
            </a:r>
          </a:p>
          <a:p>
            <a:pPr lvl="8"/>
            <a:endParaRPr lang="en-US" dirty="0"/>
          </a:p>
          <a:p>
            <a:pPr eaLnBrk="1" hangingPunct="1"/>
            <a:r>
              <a:rPr lang="en-US" b="1" dirty="0">
                <a:solidFill>
                  <a:srgbClr val="FF0066"/>
                </a:solidFill>
              </a:rPr>
              <a:t>Implicit</a:t>
            </a:r>
          </a:p>
          <a:p>
            <a:pPr lvl="1" eaLnBrk="1" hangingPunct="1"/>
            <a:r>
              <a:rPr lang="en-US" dirty="0"/>
              <a:t>Learn ratings from user actions</a:t>
            </a:r>
          </a:p>
          <a:p>
            <a:pPr lvl="2"/>
            <a:r>
              <a:rPr lang="en-US" dirty="0"/>
              <a:t>E.g., purchase implies high rating</a:t>
            </a:r>
          </a:p>
          <a:p>
            <a:pPr lvl="1" eaLnBrk="1" hangingPunct="1"/>
            <a:r>
              <a:rPr lang="en-US" dirty="0"/>
              <a:t>What about low ratings?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2590800" y="6156961"/>
            <a:ext cx="5507719" cy="27432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J. </a:t>
            </a:r>
            <a:r>
              <a:rPr lang="en-US" dirty="0" err="1"/>
              <a:t>Leskovec</a:t>
            </a:r>
            <a:r>
              <a:rPr lang="en-US" dirty="0"/>
              <a:t>, A. Rajaraman, J. Ullman: Mining of Massive Datasets, http://www.mmds.org</a:t>
            </a:r>
          </a:p>
        </p:txBody>
      </p:sp>
    </p:spTree>
    <p:extLst>
      <p:ext uri="{BB962C8B-B14F-4D97-AF65-F5344CB8AC3E}">
        <p14:creationId xmlns:p14="http://schemas.microsoft.com/office/powerpoint/2010/main" val="15147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(2) Extrapolating Utilities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rgbClr val="FF0066"/>
                </a:solidFill>
              </a:rPr>
              <a:t>Key problem:</a:t>
            </a:r>
            <a:r>
              <a:rPr lang="en-US" dirty="0">
                <a:solidFill>
                  <a:srgbClr val="FF0066"/>
                </a:solidFill>
              </a:rPr>
              <a:t> </a:t>
            </a:r>
            <a:r>
              <a:rPr lang="en-US" dirty="0"/>
              <a:t>Utility matrix </a:t>
            </a:r>
            <a:r>
              <a:rPr lang="en-US" b="1" i="1" dirty="0"/>
              <a:t>U</a:t>
            </a:r>
            <a:r>
              <a:rPr lang="en-US" dirty="0"/>
              <a:t> is </a:t>
            </a:r>
            <a:r>
              <a:rPr lang="en-US" b="1" dirty="0"/>
              <a:t>sparse</a:t>
            </a:r>
          </a:p>
          <a:p>
            <a:pPr lvl="1" eaLnBrk="1" hangingPunct="1"/>
            <a:r>
              <a:rPr lang="en-US" dirty="0"/>
              <a:t>Most people have not rated most items</a:t>
            </a:r>
          </a:p>
          <a:p>
            <a:pPr lvl="1" eaLnBrk="1" hangingPunct="1"/>
            <a:r>
              <a:rPr lang="en-US" b="1" dirty="0">
                <a:solidFill>
                  <a:srgbClr val="008000"/>
                </a:solidFill>
              </a:rPr>
              <a:t>Cold start: </a:t>
            </a:r>
          </a:p>
          <a:p>
            <a:pPr lvl="2"/>
            <a:r>
              <a:rPr lang="en-US" dirty="0"/>
              <a:t>New items have no ratings</a:t>
            </a:r>
          </a:p>
          <a:p>
            <a:pPr lvl="2"/>
            <a:r>
              <a:rPr lang="en-US" dirty="0"/>
              <a:t>New users have no history</a:t>
            </a:r>
          </a:p>
          <a:p>
            <a:pPr lvl="8"/>
            <a:endParaRPr lang="en-US" dirty="0"/>
          </a:p>
          <a:p>
            <a:pPr eaLnBrk="1" hangingPunct="1"/>
            <a:r>
              <a:rPr lang="en-US" b="1" dirty="0">
                <a:solidFill>
                  <a:srgbClr val="0000FF"/>
                </a:solidFill>
              </a:rPr>
              <a:t>Three approaches to recommender systems:</a:t>
            </a:r>
          </a:p>
          <a:p>
            <a:pPr lvl="1" eaLnBrk="1" hangingPunct="1"/>
            <a:r>
              <a:rPr lang="en-US" b="1" dirty="0"/>
              <a:t>1)</a:t>
            </a:r>
            <a:r>
              <a:rPr lang="en-US" dirty="0"/>
              <a:t> Content-based</a:t>
            </a:r>
          </a:p>
          <a:p>
            <a:pPr lvl="1" eaLnBrk="1" hangingPunct="1"/>
            <a:r>
              <a:rPr lang="en-US" b="1" dirty="0"/>
              <a:t>2)</a:t>
            </a:r>
            <a:r>
              <a:rPr lang="en-US" dirty="0"/>
              <a:t> Collaborative</a:t>
            </a:r>
          </a:p>
          <a:p>
            <a:pPr lvl="1" eaLnBrk="1" hangingPunct="1"/>
            <a:r>
              <a:rPr lang="en-US" b="1" dirty="0"/>
              <a:t>3)</a:t>
            </a:r>
            <a:r>
              <a:rPr lang="en-US" dirty="0"/>
              <a:t> Latent factor based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2286000" y="6201683"/>
            <a:ext cx="5507719" cy="27432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J. </a:t>
            </a:r>
            <a:r>
              <a:rPr lang="en-US" dirty="0" err="1"/>
              <a:t>Leskovec</a:t>
            </a:r>
            <a:r>
              <a:rPr lang="en-US" dirty="0"/>
              <a:t>, A. Rajaraman, J. Ullman: Mining of Massive Datasets, http://www.mmds.org</a:t>
            </a:r>
          </a:p>
        </p:txBody>
      </p:sp>
      <p:sp>
        <p:nvSpPr>
          <p:cNvPr id="2" name="Right Brace 1"/>
          <p:cNvSpPr/>
          <p:nvPr/>
        </p:nvSpPr>
        <p:spPr>
          <a:xfrm>
            <a:off x="3886200" y="4724400"/>
            <a:ext cx="228600" cy="914400"/>
          </a:xfrm>
          <a:prstGeom prst="rightBrace">
            <a:avLst>
              <a:gd name="adj1" fmla="val 54844"/>
              <a:gd name="adj2" fmla="val 50000"/>
            </a:avLst>
          </a:prstGeom>
          <a:ln w="76200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51339" y="4876800"/>
            <a:ext cx="1663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Today!</a:t>
            </a:r>
          </a:p>
        </p:txBody>
      </p:sp>
    </p:spTree>
    <p:extLst>
      <p:ext uri="{BB962C8B-B14F-4D97-AF65-F5344CB8AC3E}">
        <p14:creationId xmlns:p14="http://schemas.microsoft.com/office/powerpoint/2010/main" val="111832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uiExpand="1" build="p"/>
      <p:bldP spid="2" grpId="0" animBg="1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Content-based </a:t>
            </a:r>
            <a:br>
              <a:rPr lang="en-US" dirty="0"/>
            </a:br>
            <a:r>
              <a:rPr lang="en-US" dirty="0"/>
              <a:t>Recommender Systems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1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839200" cy="987552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Content-based Recommendations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rgbClr val="D60093"/>
                </a:solidFill>
              </a:rPr>
              <a:t>Main idea:</a:t>
            </a:r>
            <a:r>
              <a:rPr lang="en-US" dirty="0">
                <a:solidFill>
                  <a:srgbClr val="D60093"/>
                </a:solidFill>
              </a:rPr>
              <a:t> </a:t>
            </a:r>
            <a:r>
              <a:rPr lang="en-US" dirty="0"/>
              <a:t>Recommend items to customer </a:t>
            </a:r>
            <a:r>
              <a:rPr lang="en-US" b="1" i="1" dirty="0"/>
              <a:t>x</a:t>
            </a:r>
            <a:r>
              <a:rPr lang="en-US" dirty="0"/>
              <a:t> similar to previous items rated highly by </a:t>
            </a:r>
            <a:r>
              <a:rPr lang="en-US" b="1" i="1" dirty="0"/>
              <a:t>x</a:t>
            </a:r>
          </a:p>
          <a:p>
            <a:pPr marL="118872" indent="0" eaLnBrk="1" hangingPunct="1">
              <a:buNone/>
            </a:pPr>
            <a:endParaRPr lang="en-US" b="1" i="1" dirty="0"/>
          </a:p>
          <a:p>
            <a:pPr marL="118872" indent="0" eaLnBrk="1" hangingPunct="1">
              <a:buNone/>
            </a:pPr>
            <a:r>
              <a:rPr lang="en-US" b="1" i="1" dirty="0"/>
              <a:t>Example:</a:t>
            </a:r>
            <a:endParaRPr lang="en-US" b="1" dirty="0"/>
          </a:p>
          <a:p>
            <a:pPr eaLnBrk="1" hangingPunct="1"/>
            <a:r>
              <a:rPr lang="en-US" b="1" dirty="0">
                <a:solidFill>
                  <a:srgbClr val="0000FF"/>
                </a:solidFill>
              </a:rPr>
              <a:t>Movie recommendations</a:t>
            </a:r>
          </a:p>
          <a:p>
            <a:pPr lvl="1" eaLnBrk="1" hangingPunct="1"/>
            <a:r>
              <a:rPr lang="en-US" dirty="0"/>
              <a:t>Recommend movies with same actor(s), </a:t>
            </a:r>
            <a:br>
              <a:rPr lang="en-US" dirty="0"/>
            </a:br>
            <a:r>
              <a:rPr lang="en-US" dirty="0"/>
              <a:t>director, genre, …</a:t>
            </a:r>
          </a:p>
          <a:p>
            <a:pPr eaLnBrk="1" hangingPunct="1"/>
            <a:r>
              <a:rPr lang="en-US" b="1" dirty="0">
                <a:solidFill>
                  <a:srgbClr val="0000FF"/>
                </a:solidFill>
              </a:rPr>
              <a:t>Websites, blogs, news</a:t>
            </a:r>
          </a:p>
          <a:p>
            <a:pPr lvl="1" eaLnBrk="1" hangingPunct="1"/>
            <a:r>
              <a:rPr lang="en-US" dirty="0"/>
              <a:t>Recommend other sites with “similar” content</a:t>
            </a:r>
          </a:p>
          <a:p>
            <a:pPr lvl="1" eaLnBrk="1" hangingPunct="1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2286000" y="6148455"/>
            <a:ext cx="5507719" cy="27432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J. </a:t>
            </a:r>
            <a:r>
              <a:rPr lang="en-US" dirty="0" err="1"/>
              <a:t>Leskovec</a:t>
            </a:r>
            <a:r>
              <a:rPr lang="en-US" dirty="0"/>
              <a:t>, A. Rajaraman, J. Ullman: Mining of Massive Datasets, http://www.mmds.org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83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Plan of Action</a:t>
            </a:r>
          </a:p>
        </p:txBody>
      </p:sp>
      <p:pic>
        <p:nvPicPr>
          <p:cNvPr id="36867" name="Picture 4" descr="MCBS01705_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295400"/>
            <a:ext cx="1758950" cy="177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9" name="Oval 5"/>
          <p:cNvSpPr>
            <a:spLocks noChangeArrowheads="1"/>
          </p:cNvSpPr>
          <p:nvPr/>
        </p:nvSpPr>
        <p:spPr bwMode="auto">
          <a:xfrm>
            <a:off x="5867400" y="2133600"/>
            <a:ext cx="533400" cy="533400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31750" name="Oval 6"/>
          <p:cNvSpPr>
            <a:spLocks noChangeArrowheads="1"/>
          </p:cNvSpPr>
          <p:nvPr/>
        </p:nvSpPr>
        <p:spPr bwMode="auto">
          <a:xfrm>
            <a:off x="2362200" y="4648200"/>
            <a:ext cx="533400" cy="533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2362200" y="5410200"/>
            <a:ext cx="457200" cy="4572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31753" name="Rectangle 9"/>
          <p:cNvSpPr>
            <a:spLocks noChangeArrowheads="1"/>
          </p:cNvSpPr>
          <p:nvPr/>
        </p:nvSpPr>
        <p:spPr bwMode="auto">
          <a:xfrm>
            <a:off x="1524000" y="5410200"/>
            <a:ext cx="457200" cy="45720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31754" name="AutoShape 10"/>
          <p:cNvSpPr>
            <a:spLocks noChangeArrowheads="1"/>
          </p:cNvSpPr>
          <p:nvPr/>
        </p:nvSpPr>
        <p:spPr bwMode="auto">
          <a:xfrm>
            <a:off x="6705600" y="2133600"/>
            <a:ext cx="685800" cy="533400"/>
          </a:xfrm>
          <a:prstGeom prst="triangle">
            <a:avLst>
              <a:gd name="adj" fmla="val 50000"/>
            </a:avLst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31755" name="AutoShape 11"/>
          <p:cNvSpPr>
            <a:spLocks noChangeArrowheads="1"/>
          </p:cNvSpPr>
          <p:nvPr/>
        </p:nvSpPr>
        <p:spPr bwMode="auto">
          <a:xfrm>
            <a:off x="1447800" y="4648200"/>
            <a:ext cx="685800" cy="533400"/>
          </a:xfrm>
          <a:prstGeom prst="hexagon">
            <a:avLst>
              <a:gd name="adj" fmla="val 32143"/>
              <a:gd name="vf" fmla="val 115470"/>
            </a:avLst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31756" name="AutoShape 12"/>
          <p:cNvSpPr>
            <a:spLocks noChangeArrowheads="1"/>
          </p:cNvSpPr>
          <p:nvPr/>
        </p:nvSpPr>
        <p:spPr bwMode="auto">
          <a:xfrm>
            <a:off x="3810000" y="2286000"/>
            <a:ext cx="1219200" cy="3048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3810000" y="1876425"/>
            <a:ext cx="75373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likes</a:t>
            </a:r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5698753" y="1344359"/>
            <a:ext cx="20136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Item profiles</a:t>
            </a:r>
          </a:p>
        </p:txBody>
      </p:sp>
      <p:sp>
        <p:nvSpPr>
          <p:cNvPr id="31759" name="AutoShape 15"/>
          <p:cNvSpPr>
            <a:spLocks noChangeArrowheads="1"/>
          </p:cNvSpPr>
          <p:nvPr/>
        </p:nvSpPr>
        <p:spPr bwMode="auto">
          <a:xfrm>
            <a:off x="6553200" y="3124200"/>
            <a:ext cx="304800" cy="1295400"/>
          </a:xfrm>
          <a:prstGeom prst="downArrow">
            <a:avLst>
              <a:gd name="adj1" fmla="val 50000"/>
              <a:gd name="adj2" fmla="val 106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31760" name="Rectangle 16"/>
          <p:cNvSpPr>
            <a:spLocks noChangeArrowheads="1"/>
          </p:cNvSpPr>
          <p:nvPr/>
        </p:nvSpPr>
        <p:spPr bwMode="auto">
          <a:xfrm>
            <a:off x="5562600" y="1981200"/>
            <a:ext cx="20574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1761" name="Rectangle 17"/>
          <p:cNvSpPr>
            <a:spLocks noChangeArrowheads="1"/>
          </p:cNvSpPr>
          <p:nvPr/>
        </p:nvSpPr>
        <p:spPr bwMode="auto">
          <a:xfrm>
            <a:off x="5562600" y="4648200"/>
            <a:ext cx="22098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Red</a:t>
            </a:r>
          </a:p>
          <a:p>
            <a:pPr algn="ctr"/>
            <a:r>
              <a:rPr lang="en-US" sz="2000" b="1" dirty="0">
                <a:latin typeface="Arial" pitchFamily="34" charset="0"/>
                <a:cs typeface="Arial" pitchFamily="34" charset="0"/>
              </a:rPr>
              <a:t>Circles</a:t>
            </a:r>
          </a:p>
          <a:p>
            <a:pPr algn="ctr"/>
            <a:r>
              <a:rPr lang="en-US" sz="2000" b="1" dirty="0">
                <a:latin typeface="Arial" pitchFamily="34" charset="0"/>
                <a:cs typeface="Arial" pitchFamily="34" charset="0"/>
              </a:rPr>
              <a:t>Triangles</a:t>
            </a:r>
          </a:p>
        </p:txBody>
      </p:sp>
      <p:sp>
        <p:nvSpPr>
          <p:cNvPr id="31762" name="Text Box 18"/>
          <p:cNvSpPr txBox="1">
            <a:spLocks noChangeArrowheads="1"/>
          </p:cNvSpPr>
          <p:nvPr/>
        </p:nvSpPr>
        <p:spPr bwMode="auto">
          <a:xfrm>
            <a:off x="5791200" y="5943600"/>
            <a:ext cx="18950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User profile</a:t>
            </a:r>
          </a:p>
        </p:txBody>
      </p:sp>
      <p:sp>
        <p:nvSpPr>
          <p:cNvPr id="31764" name="AutoShape 20"/>
          <p:cNvSpPr>
            <a:spLocks noChangeArrowheads="1"/>
          </p:cNvSpPr>
          <p:nvPr/>
        </p:nvSpPr>
        <p:spPr bwMode="auto">
          <a:xfrm>
            <a:off x="3733800" y="5105400"/>
            <a:ext cx="1219200" cy="304800"/>
          </a:xfrm>
          <a:prstGeom prst="lef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31765" name="Text Box 21"/>
          <p:cNvSpPr txBox="1">
            <a:spLocks noChangeArrowheads="1"/>
          </p:cNvSpPr>
          <p:nvPr/>
        </p:nvSpPr>
        <p:spPr bwMode="auto">
          <a:xfrm>
            <a:off x="3937119" y="4724400"/>
            <a:ext cx="93968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match</a:t>
            </a:r>
          </a:p>
        </p:txBody>
      </p:sp>
      <p:sp>
        <p:nvSpPr>
          <p:cNvPr id="31766" name="AutoShape 22"/>
          <p:cNvSpPr>
            <a:spLocks noChangeArrowheads="1"/>
          </p:cNvSpPr>
          <p:nvPr/>
        </p:nvSpPr>
        <p:spPr bwMode="auto">
          <a:xfrm>
            <a:off x="2057400" y="3276600"/>
            <a:ext cx="228600" cy="1066800"/>
          </a:xfrm>
          <a:prstGeom prst="upArrow">
            <a:avLst>
              <a:gd name="adj1" fmla="val 50000"/>
              <a:gd name="adj2" fmla="val 1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31767" name="Text Box 23"/>
          <p:cNvSpPr txBox="1">
            <a:spLocks noChangeArrowheads="1"/>
          </p:cNvSpPr>
          <p:nvPr/>
        </p:nvSpPr>
        <p:spPr bwMode="auto">
          <a:xfrm>
            <a:off x="365125" y="3714690"/>
            <a:ext cx="163859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recommend</a:t>
            </a:r>
          </a:p>
        </p:txBody>
      </p:sp>
      <p:sp>
        <p:nvSpPr>
          <p:cNvPr id="31768" name="Text Box 24"/>
          <p:cNvSpPr txBox="1">
            <a:spLocks noChangeArrowheads="1"/>
          </p:cNvSpPr>
          <p:nvPr/>
        </p:nvSpPr>
        <p:spPr bwMode="auto">
          <a:xfrm>
            <a:off x="6842125" y="3476625"/>
            <a:ext cx="7970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build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8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 animBg="1"/>
      <p:bldP spid="31750" grpId="0" animBg="1"/>
      <p:bldP spid="31752" grpId="0" animBg="1"/>
      <p:bldP spid="31753" grpId="0" animBg="1"/>
      <p:bldP spid="31754" grpId="0" animBg="1"/>
      <p:bldP spid="31755" grpId="0" animBg="1"/>
      <p:bldP spid="31756" grpId="0" animBg="1"/>
      <p:bldP spid="31757" grpId="0"/>
      <p:bldP spid="31758" grpId="0"/>
      <p:bldP spid="31759" grpId="0" animBg="1"/>
      <p:bldP spid="31760" grpId="0" animBg="1"/>
      <p:bldP spid="31761" grpId="0" animBg="1"/>
      <p:bldP spid="31762" grpId="0"/>
      <p:bldP spid="31764" grpId="0" animBg="1"/>
      <p:bldP spid="31765" grpId="0"/>
      <p:bldP spid="31766" grpId="0" animBg="1"/>
      <p:bldP spid="31767" grpId="0"/>
      <p:bldP spid="3176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Item Profiles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0000FF"/>
                </a:solidFill>
              </a:rPr>
              <a:t>For each item, create an </a:t>
            </a:r>
            <a:r>
              <a:rPr lang="en-US" b="1" dirty="0">
                <a:solidFill>
                  <a:srgbClr val="0000FF"/>
                </a:solidFill>
              </a:rPr>
              <a:t>item profile</a:t>
            </a:r>
          </a:p>
          <a:p>
            <a:pPr lvl="8"/>
            <a:endParaRPr lang="en-US" dirty="0">
              <a:solidFill>
                <a:srgbClr val="0066FF"/>
              </a:solidFill>
            </a:endParaRPr>
          </a:p>
          <a:p>
            <a:pPr eaLnBrk="1" hangingPunct="1"/>
            <a:r>
              <a:rPr lang="en-US" b="1" dirty="0">
                <a:solidFill>
                  <a:srgbClr val="008000"/>
                </a:solidFill>
              </a:rPr>
              <a:t>Profile is a set (vector) of features</a:t>
            </a:r>
          </a:p>
          <a:p>
            <a:pPr lvl="1" eaLnBrk="1" hangingPunct="1"/>
            <a:r>
              <a:rPr lang="en-US" b="1" dirty="0"/>
              <a:t>Movies:</a:t>
            </a:r>
            <a:r>
              <a:rPr lang="en-US" dirty="0"/>
              <a:t> author, title, actor, director,…</a:t>
            </a:r>
          </a:p>
          <a:p>
            <a:pPr lvl="1" eaLnBrk="1" hangingPunct="1"/>
            <a:r>
              <a:rPr lang="en-US" b="1" dirty="0"/>
              <a:t>Text:</a:t>
            </a:r>
            <a:r>
              <a:rPr lang="en-US" dirty="0"/>
              <a:t> Set of “important” words in document</a:t>
            </a:r>
          </a:p>
          <a:p>
            <a:pPr lvl="8"/>
            <a:endParaRPr lang="en-US" dirty="0"/>
          </a:p>
          <a:p>
            <a:pPr eaLnBrk="1" hangingPunct="1"/>
            <a:r>
              <a:rPr lang="en-US" b="1" dirty="0">
                <a:solidFill>
                  <a:srgbClr val="D60093"/>
                </a:solidFill>
              </a:rPr>
              <a:t>How to pick important features?</a:t>
            </a:r>
          </a:p>
          <a:p>
            <a:pPr lvl="1"/>
            <a:r>
              <a:rPr lang="en-US" dirty="0"/>
              <a:t>Usual heuristic from text mining is </a:t>
            </a:r>
            <a:r>
              <a:rPr lang="en-US" b="1" dirty="0"/>
              <a:t>TF-IDF</a:t>
            </a:r>
            <a:br>
              <a:rPr lang="en-US" dirty="0"/>
            </a:br>
            <a:r>
              <a:rPr lang="en-US" dirty="0"/>
              <a:t>(Term frequency * Inverse Doc Frequency)</a:t>
            </a:r>
          </a:p>
          <a:p>
            <a:pPr lvl="2"/>
            <a:r>
              <a:rPr lang="en-US" b="1" dirty="0">
                <a:solidFill>
                  <a:srgbClr val="008000"/>
                </a:solidFill>
              </a:rPr>
              <a:t>Term</a:t>
            </a:r>
            <a:r>
              <a:rPr lang="en-US" dirty="0">
                <a:solidFill>
                  <a:srgbClr val="008000"/>
                </a:solidFill>
              </a:rPr>
              <a:t> … </a:t>
            </a:r>
            <a:r>
              <a:rPr lang="en-US" b="1" dirty="0">
                <a:solidFill>
                  <a:srgbClr val="008000"/>
                </a:solidFill>
              </a:rPr>
              <a:t>Feature</a:t>
            </a:r>
          </a:p>
          <a:p>
            <a:pPr lvl="2"/>
            <a:r>
              <a:rPr lang="en-US" b="1" dirty="0">
                <a:solidFill>
                  <a:srgbClr val="008000"/>
                </a:solidFill>
              </a:rPr>
              <a:t>Document</a:t>
            </a:r>
            <a:r>
              <a:rPr lang="en-US" dirty="0">
                <a:solidFill>
                  <a:srgbClr val="008000"/>
                </a:solidFill>
              </a:rPr>
              <a:t> … </a:t>
            </a:r>
            <a:r>
              <a:rPr lang="en-US" b="1" dirty="0">
                <a:solidFill>
                  <a:srgbClr val="008000"/>
                </a:solidFill>
              </a:rPr>
              <a:t>Item</a:t>
            </a:r>
          </a:p>
          <a:p>
            <a:pPr eaLnBrk="1" hangingPunct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58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Sidenote</a:t>
            </a:r>
            <a:r>
              <a:rPr lang="en-US" dirty="0"/>
              <a:t>: TF-IDF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b="1" i="1" dirty="0" err="1"/>
              <a:t>f</a:t>
            </a:r>
            <a:r>
              <a:rPr lang="en-US" b="1" i="1" baseline="-25000" dirty="0" err="1"/>
              <a:t>ij</a:t>
            </a:r>
            <a:r>
              <a:rPr lang="en-US" dirty="0"/>
              <a:t> = frequency of term (feature) </a:t>
            </a:r>
            <a:r>
              <a:rPr lang="en-US" b="1" i="1" dirty="0" err="1"/>
              <a:t>i</a:t>
            </a:r>
            <a:r>
              <a:rPr lang="en-US" dirty="0"/>
              <a:t> in doc (item) </a:t>
            </a:r>
            <a:r>
              <a:rPr lang="en-US" b="1" i="1" dirty="0"/>
              <a:t>j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b="1" i="1" dirty="0" err="1"/>
              <a:t>n</a:t>
            </a:r>
            <a:r>
              <a:rPr lang="en-US" b="1" i="1" baseline="-25000" dirty="0" err="1"/>
              <a:t>i</a:t>
            </a:r>
            <a:r>
              <a:rPr lang="en-US" dirty="0"/>
              <a:t> = number of docs that mention term </a:t>
            </a:r>
            <a:r>
              <a:rPr lang="en-US" b="1" i="1" dirty="0" err="1"/>
              <a:t>i</a:t>
            </a:r>
            <a:endParaRPr lang="en-US" b="1" i="1" dirty="0"/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b="1" i="1" dirty="0"/>
              <a:t>N</a:t>
            </a:r>
            <a:r>
              <a:rPr lang="en-US" dirty="0"/>
              <a:t> = total number of docs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b="1" dirty="0"/>
              <a:t>TF-IDF score:</a:t>
            </a:r>
            <a:r>
              <a:rPr lang="en-US" dirty="0"/>
              <a:t>  </a:t>
            </a:r>
            <a:r>
              <a:rPr lang="en-US" b="1" i="1" dirty="0" err="1"/>
              <a:t>w</a:t>
            </a:r>
            <a:r>
              <a:rPr lang="en-US" b="1" i="1" baseline="-25000" dirty="0" err="1"/>
              <a:t>ij</a:t>
            </a:r>
            <a:r>
              <a:rPr lang="en-US" b="1" i="1" dirty="0"/>
              <a:t> = </a:t>
            </a:r>
            <a:r>
              <a:rPr lang="en-US" b="1" i="1" dirty="0" err="1"/>
              <a:t>TF</a:t>
            </a:r>
            <a:r>
              <a:rPr lang="en-US" b="1" i="1" baseline="-25000" dirty="0" err="1"/>
              <a:t>ij</a:t>
            </a:r>
            <a:r>
              <a:rPr lang="en-US" b="1" i="1" baseline="-25000" dirty="0"/>
              <a:t> </a:t>
            </a:r>
            <a:r>
              <a:rPr lang="en-US" b="1" i="1" dirty="0"/>
              <a:t> × </a:t>
            </a:r>
            <a:r>
              <a:rPr lang="en-US" b="1" i="1" dirty="0" err="1"/>
              <a:t>IDF</a:t>
            </a:r>
            <a:r>
              <a:rPr lang="en-US" b="1" i="1" baseline="-25000" dirty="0" err="1"/>
              <a:t>i</a:t>
            </a:r>
            <a:endParaRPr lang="en-US" b="1" i="1" dirty="0"/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endParaRPr lang="en-US" sz="1800" b="1" dirty="0">
              <a:solidFill>
                <a:schemeClr val="accent3"/>
              </a:solidFill>
            </a:endParaRP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b="1" dirty="0">
                <a:solidFill>
                  <a:srgbClr val="D60093"/>
                </a:solidFill>
              </a:rPr>
              <a:t>Doc profile =</a:t>
            </a:r>
            <a:r>
              <a:rPr lang="en-US" dirty="0"/>
              <a:t> set of words with highest </a:t>
            </a:r>
            <a:r>
              <a:rPr lang="en-US" b="1" dirty="0"/>
              <a:t>TF-IDF </a:t>
            </a:r>
            <a:r>
              <a:rPr lang="en-US" dirty="0"/>
              <a:t>scores, together with their scores</a:t>
            </a:r>
          </a:p>
        </p:txBody>
      </p:sp>
      <p:pic>
        <p:nvPicPr>
          <p:cNvPr id="40964" name="Picture 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90600" y="1897558"/>
            <a:ext cx="2590800" cy="693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5" name="Picture 6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95080" y="3671887"/>
            <a:ext cx="2738720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770376" y="1896070"/>
            <a:ext cx="22974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Note:</a:t>
            </a:r>
            <a:r>
              <a:rPr lang="en-US" sz="16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we normalize TF</a:t>
            </a:r>
            <a:br>
              <a:rPr lang="en-US" sz="16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sz="16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to discount for “longer” </a:t>
            </a:r>
            <a:br>
              <a:rPr lang="en-US" sz="16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sz="16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documents</a:t>
            </a:r>
          </a:p>
        </p:txBody>
      </p:sp>
    </p:spTree>
    <p:extLst>
      <p:ext uri="{BB962C8B-B14F-4D97-AF65-F5344CB8AC3E}">
        <p14:creationId xmlns:p14="http://schemas.microsoft.com/office/powerpoint/2010/main" val="3833144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User Profiles and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295400"/>
                <a:ext cx="8229600" cy="5410200"/>
              </a:xfrm>
            </p:spPr>
            <p:txBody>
              <a:bodyPr/>
              <a:lstStyle/>
              <a:p>
                <a:pPr eaLnBrk="1" hangingPunct="1"/>
                <a:r>
                  <a:rPr lang="en-US" b="1" dirty="0">
                    <a:solidFill>
                      <a:srgbClr val="D60093"/>
                    </a:solidFill>
                  </a:rPr>
                  <a:t>User profile possibilities:</a:t>
                </a:r>
              </a:p>
              <a:p>
                <a:pPr lvl="1" eaLnBrk="1" hangingPunct="1"/>
                <a:r>
                  <a:rPr lang="en-US" dirty="0"/>
                  <a:t>Weighted average of rated item profiles</a:t>
                </a:r>
              </a:p>
              <a:p>
                <a:pPr lvl="1" eaLnBrk="1" hangingPunct="1"/>
                <a:r>
                  <a:rPr lang="en-US" b="1" dirty="0"/>
                  <a:t>Variation:</a:t>
                </a:r>
                <a:r>
                  <a:rPr lang="en-US" dirty="0"/>
                  <a:t> weight by difference from average </a:t>
                </a:r>
                <a:br>
                  <a:rPr lang="en-US" dirty="0"/>
                </a:br>
                <a:r>
                  <a:rPr lang="en-US" dirty="0"/>
                  <a:t>rating for item</a:t>
                </a:r>
              </a:p>
              <a:p>
                <a:pPr lvl="1" eaLnBrk="1" hangingPunct="1"/>
                <a:r>
                  <a:rPr lang="en-US" dirty="0"/>
                  <a:t>…</a:t>
                </a:r>
              </a:p>
              <a:p>
                <a:pPr eaLnBrk="1" hangingPunct="1"/>
                <a:r>
                  <a:rPr lang="en-US" b="1" dirty="0">
                    <a:solidFill>
                      <a:srgbClr val="0000FF"/>
                    </a:solidFill>
                  </a:rPr>
                  <a:t>Prediction heuristic:</a:t>
                </a:r>
              </a:p>
              <a:p>
                <a:pPr lvl="1"/>
                <a:r>
                  <a:rPr lang="en-US" dirty="0"/>
                  <a:t>Given user profile </a:t>
                </a:r>
                <a:r>
                  <a:rPr lang="en-US" b="1" i="1" dirty="0"/>
                  <a:t>x</a:t>
                </a:r>
                <a:r>
                  <a:rPr lang="en-US" dirty="0"/>
                  <a:t> and item profile </a:t>
                </a:r>
                <a:r>
                  <a:rPr lang="en-US" b="1" i="1" dirty="0" err="1"/>
                  <a:t>i</a:t>
                </a:r>
                <a:r>
                  <a:rPr lang="en-US" dirty="0"/>
                  <a:t>, estimate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𝑢</m:t>
                    </m:r>
                    <m:r>
                      <a:rPr lang="en-US" i="1" dirty="0" smtClean="0">
                        <a:solidFill>
                          <a:srgbClr val="008000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𝒙</m:t>
                    </m:r>
                    <m:r>
                      <a:rPr lang="en-US" i="1" dirty="0" err="1" smtClean="0">
                        <a:solidFill>
                          <a:srgbClr val="008000"/>
                        </a:solidFill>
                        <a:latin typeface="Cambria Math"/>
                      </a:rPr>
                      <m:t>,</m:t>
                    </m:r>
                    <m:r>
                      <a:rPr lang="en-US" b="1" i="1" dirty="0" err="1" smtClean="0">
                        <a:solidFill>
                          <a:srgbClr val="008000"/>
                        </a:solidFill>
                        <a:latin typeface="Cambria Math"/>
                      </a:rPr>
                      <m:t>𝒊</m:t>
                    </m:r>
                    <m:r>
                      <a:rPr lang="en-US" i="1" dirty="0" smtClean="0">
                        <a:solidFill>
                          <a:srgbClr val="008000"/>
                        </a:solidFill>
                        <a:latin typeface="Cambria Math"/>
                      </a:rPr>
                      <m:t>) = </m:t>
                    </m:r>
                    <m:r>
                      <m:rPr>
                        <m:sty m:val="p"/>
                      </m:rPr>
                      <a:rPr lang="en-US" i="1" dirty="0" err="1" smtClean="0">
                        <a:solidFill>
                          <a:srgbClr val="008000"/>
                        </a:solidFill>
                        <a:latin typeface="Cambria Math"/>
                      </a:rPr>
                      <m:t>cos</m:t>
                    </m:r>
                    <m:r>
                      <a:rPr lang="en-US" i="1" dirty="0" smtClean="0">
                        <a:solidFill>
                          <a:srgbClr val="008000"/>
                        </a:solidFill>
                        <a:latin typeface="Cambria Math"/>
                      </a:rPr>
                      <m:t>⁡(</m:t>
                    </m:r>
                    <m:r>
                      <a:rPr lang="en-US" b="1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𝒙</m:t>
                    </m:r>
                    <m:r>
                      <a:rPr lang="en-US" i="1" dirty="0" err="1" smtClean="0">
                        <a:solidFill>
                          <a:srgbClr val="008000"/>
                        </a:solidFill>
                        <a:latin typeface="Cambria Math"/>
                      </a:rPr>
                      <m:t>,</m:t>
                    </m:r>
                    <m:r>
                      <a:rPr lang="en-US" b="1" i="1" dirty="0" err="1" smtClean="0">
                        <a:solidFill>
                          <a:srgbClr val="008000"/>
                        </a:solidFill>
                        <a:latin typeface="Cambria Math"/>
                      </a:rPr>
                      <m:t>𝒊</m:t>
                    </m:r>
                    <m:r>
                      <a:rPr lang="en-US" i="1" dirty="0" smtClean="0">
                        <a:solidFill>
                          <a:srgbClr val="008000"/>
                        </a:solidFill>
                        <a:latin typeface="Cambria Math"/>
                      </a:rPr>
                      <m:t>) = 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i="1" dirty="0" err="1">
                            <a:solidFill>
                              <a:srgbClr val="008000"/>
                            </a:solidFill>
                            <a:latin typeface="Cambria Math"/>
                          </a:rPr>
                          <m:t>·</m:t>
                        </m:r>
                        <m:r>
                          <a:rPr lang="en-US" b="1" i="1" dirty="0" err="1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𝒊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dirty="0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 smtClean="0">
                                <a:solidFill>
                                  <a:srgbClr val="008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</m:d>
                        <m: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|⋅</m:t>
                        </m:r>
                        <m: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1" i="1" dirty="0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 err="1">
                                <a:solidFill>
                                  <a:srgbClr val="008000"/>
                                </a:solidFill>
                                <a:latin typeface="Cambria Math"/>
                              </a:rPr>
                              <m:t>𝒊</m:t>
                            </m:r>
                          </m:e>
                        </m:d>
                        <m: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|</m:t>
                        </m:r>
                      </m:den>
                    </m:f>
                  </m:oMath>
                </a14:m>
                <a:endParaRPr lang="en-US" dirty="0">
                  <a:solidFill>
                    <a:srgbClr val="008000"/>
                  </a:solidFill>
                </a:endParaRPr>
              </a:p>
            </p:txBody>
          </p:sp>
        </mc:Choice>
        <mc:Fallback xmlns="">
          <p:sp>
            <p:nvSpPr>
              <p:cNvPr id="307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410200"/>
              </a:xfrm>
              <a:blipFill rotWithShape="1">
                <a:blip r:embed="rId3"/>
                <a:stretch>
                  <a:fillRect t="-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Pros: Content-based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610600" cy="54102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8000"/>
                </a:solidFill>
              </a:rPr>
              <a:t>+: No need for data on other users</a:t>
            </a:r>
          </a:p>
          <a:p>
            <a:pPr lvl="1"/>
            <a:r>
              <a:rPr lang="en-US" dirty="0"/>
              <a:t>No cold-start or </a:t>
            </a:r>
            <a:r>
              <a:rPr lang="en-US" dirty="0" err="1"/>
              <a:t>sparsity</a:t>
            </a:r>
            <a:r>
              <a:rPr lang="en-US" dirty="0"/>
              <a:t> problems</a:t>
            </a:r>
          </a:p>
          <a:p>
            <a:r>
              <a:rPr lang="en-US" b="1" dirty="0">
                <a:solidFill>
                  <a:srgbClr val="008000"/>
                </a:solidFill>
              </a:rPr>
              <a:t>+: Able to recommend to users with </a:t>
            </a:r>
            <a:br>
              <a:rPr lang="en-US" b="1" dirty="0">
                <a:solidFill>
                  <a:srgbClr val="008000"/>
                </a:solidFill>
              </a:rPr>
            </a:br>
            <a:r>
              <a:rPr lang="en-US" b="1" dirty="0">
                <a:solidFill>
                  <a:srgbClr val="008000"/>
                </a:solidFill>
              </a:rPr>
              <a:t>unique tastes</a:t>
            </a:r>
          </a:p>
          <a:p>
            <a:r>
              <a:rPr lang="en-US" b="1" dirty="0">
                <a:solidFill>
                  <a:srgbClr val="008000"/>
                </a:solidFill>
              </a:rPr>
              <a:t>+: Able to recommend new &amp; unpopular items</a:t>
            </a:r>
          </a:p>
          <a:p>
            <a:pPr lvl="1"/>
            <a:r>
              <a:rPr lang="en-US" dirty="0"/>
              <a:t>No first-rater problem</a:t>
            </a:r>
          </a:p>
          <a:p>
            <a:r>
              <a:rPr lang="en-US" b="1" dirty="0">
                <a:solidFill>
                  <a:srgbClr val="008000"/>
                </a:solidFill>
              </a:rPr>
              <a:t>+: Able to provide explanations</a:t>
            </a:r>
          </a:p>
          <a:p>
            <a:pPr lvl="1"/>
            <a:r>
              <a:rPr lang="en-US" dirty="0"/>
              <a:t>Can provide explanations of recommended items by listing content-features that caused an item to be recommended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2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Cons: Content-based Approach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534400" cy="525780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66"/>
                </a:solidFill>
              </a:rPr>
              <a:t>–: Finding the appropriate features is hard</a:t>
            </a:r>
          </a:p>
          <a:p>
            <a:pPr lvl="1" eaLnBrk="1" hangingPunct="1"/>
            <a:r>
              <a:rPr lang="en-US" dirty="0"/>
              <a:t>E.g., images, movies, music</a:t>
            </a:r>
          </a:p>
          <a:p>
            <a:r>
              <a:rPr lang="en-US" b="1" dirty="0">
                <a:solidFill>
                  <a:srgbClr val="FF0066"/>
                </a:solidFill>
              </a:rPr>
              <a:t>–: Recommendations for new users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How to build a user profile?</a:t>
            </a:r>
          </a:p>
          <a:p>
            <a:r>
              <a:rPr lang="en-US" b="1" dirty="0">
                <a:solidFill>
                  <a:srgbClr val="FF0066"/>
                </a:solidFill>
              </a:rPr>
              <a:t>–: Overspecialization</a:t>
            </a:r>
          </a:p>
          <a:p>
            <a:pPr lvl="1" eaLnBrk="1" hangingPunct="1"/>
            <a:r>
              <a:rPr lang="en-US" dirty="0"/>
              <a:t>Never recommends items outside user’s </a:t>
            </a:r>
            <a:br>
              <a:rPr lang="en-US" dirty="0"/>
            </a:br>
            <a:r>
              <a:rPr lang="en-US" dirty="0"/>
              <a:t>content profile</a:t>
            </a:r>
          </a:p>
          <a:p>
            <a:pPr lvl="1" eaLnBrk="1" hangingPunct="1"/>
            <a:r>
              <a:rPr lang="en-US" dirty="0"/>
              <a:t>People might have multiple interests</a:t>
            </a:r>
          </a:p>
          <a:p>
            <a:pPr lvl="1"/>
            <a:r>
              <a:rPr lang="en-US" b="1" dirty="0"/>
              <a:t>Unable to exploit quality judgments of other users</a:t>
            </a:r>
          </a:p>
          <a:p>
            <a:pPr eaLnBrk="1" hangingPunct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609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Collaborative Filtering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228600" y="4215384"/>
            <a:ext cx="8077200" cy="1499616"/>
          </a:xfrm>
        </p:spPr>
        <p:txBody>
          <a:bodyPr>
            <a:normAutofit/>
          </a:bodyPr>
          <a:lstStyle/>
          <a:p>
            <a:pPr lvl="1" algn="l"/>
            <a:r>
              <a:rPr lang="en-US" sz="3200" b="1" dirty="0"/>
              <a:t>Harnessing quality judgments of other users</a:t>
            </a:r>
          </a:p>
        </p:txBody>
      </p:sp>
    </p:spTree>
    <p:extLst>
      <p:ext uri="{BB962C8B-B14F-4D97-AF65-F5344CB8AC3E}">
        <p14:creationId xmlns:p14="http://schemas.microsoft.com/office/powerpoint/2010/main" val="1499630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Collaborative Filtering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153400" cy="5257801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00FF"/>
                </a:solidFill>
              </a:rPr>
              <a:t>Consider user </a:t>
            </a:r>
            <a:r>
              <a:rPr lang="en-US" b="1" i="1" dirty="0">
                <a:solidFill>
                  <a:srgbClr val="0000FF"/>
                </a:solidFill>
              </a:rPr>
              <a:t>x</a:t>
            </a:r>
          </a:p>
          <a:p>
            <a:pPr lvl="8"/>
            <a:endParaRPr lang="en-US" dirty="0"/>
          </a:p>
          <a:p>
            <a:pPr eaLnBrk="1" hangingPunct="1"/>
            <a:r>
              <a:rPr lang="en-US" dirty="0"/>
              <a:t>Find set </a:t>
            </a:r>
            <a:r>
              <a:rPr lang="en-US" b="1" i="1" dirty="0"/>
              <a:t>N</a:t>
            </a:r>
            <a:r>
              <a:rPr lang="en-US" dirty="0"/>
              <a:t> of other </a:t>
            </a:r>
            <a:br>
              <a:rPr lang="en-US" dirty="0"/>
            </a:br>
            <a:r>
              <a:rPr lang="en-US" dirty="0"/>
              <a:t>users whose ratings </a:t>
            </a:r>
            <a:br>
              <a:rPr lang="en-US" dirty="0"/>
            </a:br>
            <a:r>
              <a:rPr lang="en-US" dirty="0"/>
              <a:t>are “</a:t>
            </a:r>
            <a:r>
              <a:rPr lang="en-US" b="1" dirty="0">
                <a:solidFill>
                  <a:srgbClr val="FF0066"/>
                </a:solidFill>
              </a:rPr>
              <a:t>similar</a:t>
            </a:r>
            <a:r>
              <a:rPr lang="en-US" dirty="0"/>
              <a:t>” to </a:t>
            </a:r>
            <a:br>
              <a:rPr lang="en-US" dirty="0"/>
            </a:br>
            <a:r>
              <a:rPr lang="en-US" b="1" i="1" dirty="0"/>
              <a:t>x</a:t>
            </a:r>
            <a:r>
              <a:rPr lang="en-US" dirty="0"/>
              <a:t>’s ratings</a:t>
            </a:r>
          </a:p>
          <a:p>
            <a:pPr lvl="8"/>
            <a:endParaRPr lang="en-US" dirty="0"/>
          </a:p>
          <a:p>
            <a:pPr eaLnBrk="1" hangingPunct="1"/>
            <a:r>
              <a:rPr lang="en-US" dirty="0"/>
              <a:t>Estimate </a:t>
            </a:r>
            <a:r>
              <a:rPr lang="en-US" b="1" i="1" dirty="0"/>
              <a:t>x</a:t>
            </a:r>
            <a:r>
              <a:rPr lang="en-US" dirty="0"/>
              <a:t>’s ratings </a:t>
            </a:r>
            <a:br>
              <a:rPr lang="en-US" dirty="0"/>
            </a:br>
            <a:r>
              <a:rPr lang="en-US" dirty="0"/>
              <a:t>based on ratings </a:t>
            </a:r>
            <a:br>
              <a:rPr lang="en-US" dirty="0"/>
            </a:br>
            <a:r>
              <a:rPr lang="en-US" dirty="0"/>
              <a:t>of users in </a:t>
            </a:r>
            <a:r>
              <a:rPr lang="en-US" b="1" i="1" dirty="0"/>
              <a:t>N</a:t>
            </a:r>
          </a:p>
          <a:p>
            <a:pPr eaLnBrk="1" hangingPunct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32772" name="Picture 4" descr="Fig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960" y="1209674"/>
            <a:ext cx="4603840" cy="427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648200" y="2492298"/>
            <a:ext cx="762000" cy="3048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rgbClr val="008000"/>
                </a:solidFill>
              </a:rPr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1382751"/>
            <a:ext cx="3200400" cy="40330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391400" y="3776547"/>
            <a:ext cx="1600200" cy="40330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rgbClr val="008000"/>
                </a:solidFill>
              </a:rPr>
              <a:t>N</a:t>
            </a:r>
            <a:endParaRPr lang="en-US" b="1" i="1" dirty="0">
              <a:solidFill>
                <a:srgbClr val="008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53000" y="4995747"/>
            <a:ext cx="1828800" cy="40330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5638800" y="5715000"/>
            <a:ext cx="1828800" cy="40330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419600" y="3149292"/>
            <a:ext cx="457200" cy="40330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245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Finding “Similar” Users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eaLnBrk="1" hangingPunct="1"/>
                <a:r>
                  <a:rPr lang="en-US" dirty="0"/>
                  <a:t>Let </a:t>
                </a:r>
                <a:r>
                  <a:rPr lang="en-US" b="1" i="1" dirty="0" err="1"/>
                  <a:t>r</a:t>
                </a:r>
                <a:r>
                  <a:rPr lang="en-US" b="1" i="1" baseline="-25000" dirty="0" err="1"/>
                  <a:t>x</a:t>
                </a:r>
                <a:r>
                  <a:rPr lang="en-US" dirty="0"/>
                  <a:t> be the vector of user </a:t>
                </a:r>
                <a:r>
                  <a:rPr lang="en-US" b="1" i="1" dirty="0"/>
                  <a:t>x</a:t>
                </a:r>
                <a:r>
                  <a:rPr lang="en-US" dirty="0"/>
                  <a:t>’s ratings</a:t>
                </a:r>
              </a:p>
              <a:p>
                <a:r>
                  <a:rPr lang="en-US" b="1" dirty="0" err="1">
                    <a:solidFill>
                      <a:srgbClr val="0000FF"/>
                    </a:solidFill>
                  </a:rPr>
                  <a:t>Jaccard</a:t>
                </a:r>
                <a:r>
                  <a:rPr lang="en-US" b="1" dirty="0">
                    <a:solidFill>
                      <a:srgbClr val="0000FF"/>
                    </a:solidFill>
                  </a:rPr>
                  <a:t> similarity measure</a:t>
                </a:r>
              </a:p>
              <a:p>
                <a:pPr lvl="1"/>
                <a:r>
                  <a:rPr lang="en-US" b="1" dirty="0"/>
                  <a:t>Problem:</a:t>
                </a:r>
                <a:r>
                  <a:rPr lang="en-US" dirty="0"/>
                  <a:t> Ignores the value of the rating </a:t>
                </a:r>
              </a:p>
              <a:p>
                <a:pPr eaLnBrk="1" hangingPunct="1"/>
                <a:r>
                  <a:rPr lang="en-US" b="1" dirty="0">
                    <a:solidFill>
                      <a:srgbClr val="FF0066"/>
                    </a:solidFill>
                  </a:rPr>
                  <a:t>Cosine similarity measure</a:t>
                </a:r>
              </a:p>
              <a:p>
                <a:pPr lvl="1"/>
                <a:r>
                  <a:rPr lang="en-US" dirty="0" err="1"/>
                  <a:t>sim</a:t>
                </a:r>
                <a:r>
                  <a:rPr lang="en-US" dirty="0"/>
                  <a:t>(</a:t>
                </a:r>
                <a:r>
                  <a:rPr lang="en-US" b="1" i="1" dirty="0"/>
                  <a:t>x</a:t>
                </a:r>
                <a:r>
                  <a:rPr lang="en-US" dirty="0"/>
                  <a:t>, </a:t>
                </a:r>
                <a:r>
                  <a:rPr lang="en-US" b="1" i="1" dirty="0"/>
                  <a:t>y</a:t>
                </a:r>
                <a:r>
                  <a:rPr lang="en-US" dirty="0"/>
                  <a:t>) = </a:t>
                </a:r>
                <a:r>
                  <a:rPr lang="en-US" dirty="0" err="1"/>
                  <a:t>cos</a:t>
                </a:r>
                <a:r>
                  <a:rPr lang="en-US" dirty="0"/>
                  <a:t>(</a:t>
                </a:r>
                <a:r>
                  <a:rPr lang="en-US" b="1" i="1" dirty="0" err="1"/>
                  <a:t>r</a:t>
                </a:r>
                <a:r>
                  <a:rPr lang="en-US" b="1" i="1" baseline="-25000" dirty="0" err="1"/>
                  <a:t>x</a:t>
                </a:r>
                <a:r>
                  <a:rPr lang="en-US" dirty="0"/>
                  <a:t>, </a:t>
                </a:r>
                <a:r>
                  <a:rPr lang="en-US" b="1" i="1" dirty="0" err="1"/>
                  <a:t>r</a:t>
                </a:r>
                <a:r>
                  <a:rPr lang="en-US" b="1" i="1" baseline="-25000" dirty="0" err="1"/>
                  <a:t>y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 dirty="0">
                                <a:latin typeface="Cambria Math"/>
                              </a:rPr>
                              <m:t>𝑥</m:t>
                            </m:r>
                          </m:sub>
                        </m:sSub>
                        <m:r>
                          <a:rPr lang="en-US" i="1" dirty="0">
                            <a:latin typeface="Cambria Math"/>
                          </a:rPr>
                          <m:t>⋅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US" b="0" i="1" dirty="0" smtClean="0">
                            <a:latin typeface="Cambria Math"/>
                          </a:rPr>
                          <m:t>||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/>
                          </a:rPr>
                          <m:t>||⋅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/>
                              </a:rPr>
                              <m:t>||</m:t>
                            </m:r>
                            <m:r>
                              <a:rPr lang="en-US" b="0" i="1" dirty="0" smtClean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/>
                          </a:rPr>
                          <m:t>||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Problem:</a:t>
                </a:r>
                <a:r>
                  <a:rPr lang="en-US" dirty="0"/>
                  <a:t> Treats missing ratings as “negative”</a:t>
                </a:r>
              </a:p>
              <a:p>
                <a:pPr eaLnBrk="1" hangingPunct="1"/>
                <a:r>
                  <a:rPr lang="en-US" b="1" dirty="0">
                    <a:solidFill>
                      <a:srgbClr val="D60093"/>
                    </a:solidFill>
                  </a:rPr>
                  <a:t>Pearson correlation coefficient</a:t>
                </a:r>
              </a:p>
              <a:p>
                <a:pPr lvl="1" eaLnBrk="1" hangingPunct="1"/>
                <a:r>
                  <a:rPr lang="en-US" b="1" i="1" dirty="0" err="1">
                    <a:solidFill>
                      <a:srgbClr val="0000FF"/>
                    </a:solidFill>
                  </a:rPr>
                  <a:t>S</a:t>
                </a:r>
                <a:r>
                  <a:rPr lang="en-US" b="1" i="1" baseline="-25000" dirty="0" err="1">
                    <a:solidFill>
                      <a:srgbClr val="0000FF"/>
                    </a:solidFill>
                  </a:rPr>
                  <a:t>xy</a:t>
                </a:r>
                <a:r>
                  <a:rPr lang="en-US" dirty="0"/>
                  <a:t> = items rated by both users </a:t>
                </a:r>
                <a:r>
                  <a:rPr lang="en-US" b="1" i="1" dirty="0"/>
                  <a:t>x</a:t>
                </a:r>
                <a:r>
                  <a:rPr lang="en-US" dirty="0"/>
                  <a:t> and </a:t>
                </a:r>
                <a:r>
                  <a:rPr lang="en-US" b="1" i="1" dirty="0"/>
                  <a:t>y</a:t>
                </a:r>
              </a:p>
              <a:p>
                <a:pPr lvl="1" eaLnBrk="1" hangingPunct="1">
                  <a:buFont typeface="Wingdings" charset="2"/>
                  <a:buNone/>
                </a:pPr>
                <a:endParaRPr lang="en-US" dirty="0"/>
              </a:p>
              <a:p>
                <a:pPr eaLnBrk="1" hangingPunct="1">
                  <a:buFont typeface="Wingdings" charset="2"/>
                  <a:buNone/>
                </a:pPr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348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4"/>
                <a:stretch>
                  <a:fillRect t="-1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505880" y="76200"/>
            <a:ext cx="2561920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2400" b="1" i="1" baseline="-25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= [*, _, _, *, ***]</a:t>
            </a:r>
          </a:p>
          <a:p>
            <a:r>
              <a:rPr lang="en-US" sz="2400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2400" b="1" i="1" baseline="-25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= [*, _, **, **, _]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896070"/>
            <a:ext cx="1433406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600" b="1" i="1" baseline="-25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sz="1600" b="1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1600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600" b="1" i="1" baseline="-25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sz="1600" b="1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as sets:</a:t>
            </a:r>
          </a:p>
          <a:p>
            <a:r>
              <a:rPr lang="en-US" sz="1600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600" b="1" i="1" baseline="-25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sz="16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= {1, 4, 5}</a:t>
            </a:r>
          </a:p>
          <a:p>
            <a:r>
              <a:rPr lang="en-US" sz="1600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600" b="1" i="1" baseline="-25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sz="16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= {1, 3, 4}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9612" y="3124200"/>
            <a:ext cx="1744388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600" b="1" i="1" baseline="-25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sz="1600" b="1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1600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600" b="1" i="1" baseline="-25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sz="1600" b="1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as points:</a:t>
            </a:r>
          </a:p>
          <a:p>
            <a:r>
              <a:rPr lang="en-US" sz="1600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600" b="1" i="1" baseline="-25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sz="16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= {1, 0, 0, 1, 3}</a:t>
            </a:r>
          </a:p>
          <a:p>
            <a:r>
              <a:rPr lang="en-US" sz="1600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600" b="1" i="1" baseline="-25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sz="16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= {1, 0, 2, 2, 0}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11232" y="6172200"/>
            <a:ext cx="1454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b="1" baseline="-25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b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b="1" baseline="-25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baseline="-250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… avg.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rating of 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y</a:t>
            </a:r>
            <a:endParaRPr lang="en-US" b="1" baseline="-250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7807542" y="6284260"/>
            <a:ext cx="145180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096334" y="6284260"/>
            <a:ext cx="145180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57451" y="5257800"/>
                <a:ext cx="7138749" cy="14304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/>
                          <a:cs typeface="Arial" pitchFamily="34" charset="0"/>
                        </a:rPr>
                        <m:t>𝒔𝒊𝒎</m:t>
                      </m:r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/>
                              <a:cs typeface="Arial" pitchFamily="34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/>
                              <a:cs typeface="Arial" pitchFamily="34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/>
                              <a:cs typeface="Arial" pitchFamily="34" charset="0"/>
                            </a:rPr>
                            <m:t>𝒚</m:t>
                          </m:r>
                        </m:e>
                      </m:d>
                      <m:r>
                        <a:rPr lang="en-US" sz="2400" b="1" i="1" smtClean="0">
                          <a:latin typeface="Cambria Math"/>
                          <a:cs typeface="Arial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naryPr>
                            <m:sub>
                              <m:r>
                                <a:rPr lang="en-US" sz="2400" b="1" i="1" smtClean="0">
                                  <a:latin typeface="Cambria Math"/>
                                  <a:cs typeface="Arial" pitchFamily="34" charset="0"/>
                                </a:rPr>
                                <m:t>𝒔</m:t>
                              </m:r>
                              <m:r>
                                <a:rPr lang="en-US" sz="2400" b="1" i="1" smtClean="0">
                                  <a:latin typeface="Cambria Math"/>
                                  <a:cs typeface="Arial" pitchFamily="34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latin typeface="Cambria Math"/>
                                      <a:cs typeface="Arial" pitchFamily="34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latin typeface="Cambria Math"/>
                                      <a:cs typeface="Arial" pitchFamily="34" charset="0"/>
                                    </a:rPr>
                                    <m:t>𝒙𝒚</m:t>
                                  </m:r>
                                </m:sub>
                              </m:sSub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/>
                                          <a:cs typeface="Arial" pitchFamily="34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latin typeface="Cambria Math"/>
                                          <a:cs typeface="Arial" pitchFamily="34" charset="0"/>
                                        </a:rPr>
                                        <m:t>𝒙𝒔</m:t>
                                      </m:r>
                                    </m:sub>
                                  </m:sSub>
                                  <m:r>
                                    <a:rPr lang="en-US" sz="2400" b="1" i="1">
                                      <a:latin typeface="Cambria Math"/>
                                      <a:cs typeface="Arial" pitchFamily="34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latin typeface="Cambria Math"/>
                                              <a:cs typeface="Arial" pitchFamily="34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1">
                                              <a:latin typeface="Cambria Math"/>
                                              <a:cs typeface="Arial" pitchFamily="34" charset="0"/>
                                            </a:rPr>
                                            <m:t>𝒙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/>
                                          <a:cs typeface="Arial" pitchFamily="34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400" b="1" i="1" smtClean="0">
                                          <a:latin typeface="Cambria Math"/>
                                          <a:cs typeface="Arial" pitchFamily="34" charset="0"/>
                                        </a:rPr>
                                        <m:t>𝒚</m:t>
                                      </m:r>
                                      <m:r>
                                        <a:rPr lang="en-US" sz="2400" b="1" i="1">
                                          <a:latin typeface="Cambria Math"/>
                                          <a:cs typeface="Arial" pitchFamily="34" charset="0"/>
                                        </a:rPr>
                                        <m:t>𝒔</m:t>
                                      </m:r>
                                    </m:sub>
                                  </m:sSub>
                                  <m:r>
                                    <a:rPr lang="en-US" sz="2400" b="1" i="1">
                                      <a:latin typeface="Cambria Math"/>
                                      <a:cs typeface="Arial" pitchFamily="34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latin typeface="Cambria Math"/>
                                              <a:cs typeface="Arial" pitchFamily="34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1" smtClean="0">
                                              <a:latin typeface="Cambria Math"/>
                                              <a:cs typeface="Arial" pitchFamily="34" charset="0"/>
                                            </a:rPr>
                                            <m:t>𝒚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1" i="1">
                                      <a:latin typeface="Cambria Math"/>
                                      <a:cs typeface="Arial" pitchFamily="34" charset="0"/>
                                    </a:rPr>
                                    <m:t>𝒔</m:t>
                                  </m:r>
                                  <m:r>
                                    <a:rPr lang="en-US" sz="2400" b="1" i="1">
                                      <a:latin typeface="Cambria Math"/>
                                      <a:cs typeface="Arial" pitchFamily="34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/>
                                          <a:cs typeface="Arial" pitchFamily="34" charset="0"/>
                                        </a:rPr>
                                        <m:t>𝑺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latin typeface="Cambria Math"/>
                                          <a:cs typeface="Arial" pitchFamily="34" charset="0"/>
                                        </a:rPr>
                                        <m:t>𝒙𝒚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b="1" i="1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1" i="1">
                                                  <a:latin typeface="Cambria Math" panose="02040503050406030204" pitchFamily="18" charset="0"/>
                                                  <a:cs typeface="Arial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1" i="1">
                                                  <a:latin typeface="Cambria Math"/>
                                                  <a:cs typeface="Arial" pitchFamily="34" charset="0"/>
                                                </a:rPr>
                                                <m:t>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1" i="1">
                                                  <a:latin typeface="Cambria Math"/>
                                                  <a:cs typeface="Arial" pitchFamily="34" charset="0"/>
                                                </a:rPr>
                                                <m:t>𝒙𝒔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400" b="1" i="1">
                                              <a:latin typeface="Cambria Math"/>
                                              <a:cs typeface="Arial" pitchFamily="34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400" b="1" i="1">
                                                  <a:latin typeface="Cambria Math" panose="02040503050406030204" pitchFamily="18" charset="0"/>
                                                  <a:cs typeface="Arial" pitchFamily="34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b="1" i="1">
                                                      <a:latin typeface="Cambria Math" panose="02040503050406030204" pitchFamily="18" charset="0"/>
                                                      <a:cs typeface="Arial" pitchFamily="34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1" i="1">
                                                      <a:latin typeface="Cambria Math"/>
                                                      <a:cs typeface="Arial" pitchFamily="34" charset="0"/>
                                                    </a:rPr>
                                                    <m:t>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1" i="1">
                                                      <a:latin typeface="Cambria Math"/>
                                                      <a:cs typeface="Arial" pitchFamily="34" charset="0"/>
                                                    </a:rPr>
                                                    <m:t>𝒙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b="1" i="1">
                                          <a:latin typeface="Cambria Math"/>
                                          <a:cs typeface="Arial" pitchFamily="34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1" i="1">
                                      <a:latin typeface="Cambria Math"/>
                                      <a:cs typeface="Arial" pitchFamily="34" charset="0"/>
                                    </a:rPr>
                                    <m:t>𝒔</m:t>
                                  </m:r>
                                  <m:r>
                                    <a:rPr lang="en-US" sz="2400" b="1" i="1">
                                      <a:latin typeface="Cambria Math"/>
                                      <a:cs typeface="Arial" pitchFamily="34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/>
                                          <a:cs typeface="Arial" pitchFamily="34" charset="0"/>
                                        </a:rPr>
                                        <m:t>𝑺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latin typeface="Cambria Math"/>
                                          <a:cs typeface="Arial" pitchFamily="34" charset="0"/>
                                        </a:rPr>
                                        <m:t>𝒙𝒚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b="1" i="1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1" i="1">
                                                  <a:latin typeface="Cambria Math" panose="02040503050406030204" pitchFamily="18" charset="0"/>
                                                  <a:cs typeface="Arial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1" i="1">
                                                  <a:latin typeface="Cambria Math"/>
                                                  <a:cs typeface="Arial" pitchFamily="34" charset="0"/>
                                                </a:rPr>
                                                <m:t>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1" i="1" smtClean="0">
                                                  <a:latin typeface="Cambria Math"/>
                                                  <a:cs typeface="Arial" pitchFamily="34" charset="0"/>
                                                </a:rPr>
                                                <m:t>𝒚</m:t>
                                              </m:r>
                                              <m:r>
                                                <a:rPr lang="en-US" sz="2400" b="1" i="1">
                                                  <a:latin typeface="Cambria Math"/>
                                                  <a:cs typeface="Arial" pitchFamily="34" charset="0"/>
                                                </a:rPr>
                                                <m:t>𝒔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400" b="1" i="1">
                                              <a:latin typeface="Cambria Math"/>
                                              <a:cs typeface="Arial" pitchFamily="34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400" b="1" i="1">
                                                  <a:latin typeface="Cambria Math" panose="02040503050406030204" pitchFamily="18" charset="0"/>
                                                  <a:cs typeface="Arial" pitchFamily="34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b="1" i="1">
                                                      <a:latin typeface="Cambria Math" panose="02040503050406030204" pitchFamily="18" charset="0"/>
                                                      <a:cs typeface="Arial" pitchFamily="34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b="1" i="1">
                                                      <a:latin typeface="Cambria Math"/>
                                                      <a:cs typeface="Arial" pitchFamily="34" charset="0"/>
                                                    </a:rPr>
                                                    <m:t>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1" i="1" smtClean="0">
                                                      <a:latin typeface="Cambria Math"/>
                                                      <a:cs typeface="Arial" pitchFamily="34" charset="0"/>
                                                    </a:rPr>
                                                    <m:t>𝒚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b="1" i="1">
                                          <a:latin typeface="Cambria Math"/>
                                          <a:cs typeface="Arial" pitchFamily="34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51" y="5257800"/>
                <a:ext cx="7138749" cy="143045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58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3200"/>
            <a:ext cx="8229600" cy="3810001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Intuitively we want:</a:t>
            </a:r>
            <a:r>
              <a:rPr lang="en-US" b="1" dirty="0"/>
              <a:t> </a:t>
            </a:r>
            <a:r>
              <a:rPr lang="en-US" b="1" dirty="0" err="1"/>
              <a:t>sim</a:t>
            </a:r>
            <a:r>
              <a:rPr lang="en-US" b="1" dirty="0"/>
              <a:t>(</a:t>
            </a:r>
            <a:r>
              <a:rPr lang="en-US" b="1" i="1" dirty="0"/>
              <a:t>A</a:t>
            </a:r>
            <a:r>
              <a:rPr lang="en-US" b="1" dirty="0"/>
              <a:t>, </a:t>
            </a:r>
            <a:r>
              <a:rPr lang="en-US" b="1" i="1" dirty="0"/>
              <a:t>B</a:t>
            </a:r>
            <a:r>
              <a:rPr lang="en-US" b="1" dirty="0"/>
              <a:t>) &gt; </a:t>
            </a:r>
            <a:r>
              <a:rPr lang="en-US" b="1" dirty="0" err="1"/>
              <a:t>sim</a:t>
            </a:r>
            <a:r>
              <a:rPr lang="en-US" b="1" dirty="0"/>
              <a:t>(</a:t>
            </a:r>
            <a:r>
              <a:rPr lang="en-US" b="1" i="1" dirty="0"/>
              <a:t>A</a:t>
            </a:r>
            <a:r>
              <a:rPr lang="en-US" b="1" dirty="0"/>
              <a:t>, </a:t>
            </a:r>
            <a:r>
              <a:rPr lang="en-US" b="1" i="1" dirty="0"/>
              <a:t>C</a:t>
            </a:r>
            <a:r>
              <a:rPr lang="en-US" b="1" dirty="0"/>
              <a:t>)</a:t>
            </a:r>
          </a:p>
          <a:p>
            <a:r>
              <a:rPr lang="en-US" b="1" dirty="0" err="1"/>
              <a:t>Jaccard</a:t>
            </a:r>
            <a:r>
              <a:rPr lang="en-US" b="1" dirty="0"/>
              <a:t> similarity:</a:t>
            </a:r>
            <a:r>
              <a:rPr lang="en-US" dirty="0"/>
              <a:t> 1/5 </a:t>
            </a:r>
            <a:r>
              <a:rPr lang="en-US" b="1" dirty="0"/>
              <a:t>&lt;</a:t>
            </a:r>
            <a:r>
              <a:rPr lang="en-US" dirty="0"/>
              <a:t> 2/4</a:t>
            </a:r>
          </a:p>
          <a:p>
            <a:r>
              <a:rPr lang="en-US" b="1" dirty="0"/>
              <a:t>Cosine similarity:</a:t>
            </a:r>
            <a:r>
              <a:rPr lang="en-US" dirty="0"/>
              <a:t> 0.379 </a:t>
            </a:r>
            <a:r>
              <a:rPr lang="en-US" b="1" dirty="0"/>
              <a:t>&gt;</a:t>
            </a:r>
            <a:r>
              <a:rPr lang="en-US" dirty="0"/>
              <a:t> 0.322</a:t>
            </a:r>
          </a:p>
          <a:p>
            <a:pPr lvl="1"/>
            <a:r>
              <a:rPr lang="en-US" dirty="0"/>
              <a:t>Considers missing ratings as “negative”</a:t>
            </a:r>
          </a:p>
          <a:p>
            <a:pPr lvl="1"/>
            <a:r>
              <a:rPr lang="en-US" b="1" dirty="0">
                <a:solidFill>
                  <a:srgbClr val="D60093"/>
                </a:solidFill>
              </a:rPr>
              <a:t>Solution: subtract the (row) mean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6277322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257800"/>
            <a:ext cx="5626356" cy="1456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681107" y="5036403"/>
            <a:ext cx="25390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sim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A,B vs. A,C:</a:t>
            </a:r>
          </a:p>
          <a:p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0.092 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-0.559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1800" y="586740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Notice cosine </a:t>
            </a:r>
            <a:r>
              <a:rPr lang="en-US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sim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. is correlation when data is centered at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785195" y="90802"/>
                <a:ext cx="3358805" cy="8997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𝒔𝒊𝒎</m:t>
                      </m:r>
                      <m:r>
                        <a:rPr lang="en-US" sz="1600" b="1" i="1" dirty="0">
                          <a:solidFill>
                            <a:schemeClr val="bg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600" b="1" i="1" dirty="0">
                          <a:solidFill>
                            <a:schemeClr val="bg1"/>
                          </a:solidFill>
                          <a:latin typeface="Cambria Math"/>
                        </a:rPr>
                        <m:t>𝒙</m:t>
                      </m:r>
                      <m:r>
                        <a:rPr lang="en-US" sz="1600" b="1" i="1" dirty="0">
                          <a:solidFill>
                            <a:schemeClr val="bg1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1600" b="1" i="1" dirty="0">
                          <a:solidFill>
                            <a:schemeClr val="bg1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sz="1600" b="1" i="1" dirty="0">
                          <a:solidFill>
                            <a:schemeClr val="bg1"/>
                          </a:solidFill>
                          <a:latin typeface="Cambria Math"/>
                        </a:rPr>
                        <m:t>) = </m:t>
                      </m:r>
                      <m:f>
                        <m:fPr>
                          <m:ctrlPr>
                            <a:rPr lang="en-US" sz="16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16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b="1" i="1" dirty="0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6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dirty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600" b="1" i="1" dirty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sz="1600" b="1" i="1" dirty="0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1600" b="1" i="1" dirty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6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dirty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1600" b="1" i="1" dirty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𝒚</m:t>
                                  </m:r>
                                  <m:r>
                                    <a:rPr lang="en-US" sz="1600" b="1" i="1" dirty="0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6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b="1" i="1" dirty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sz="1600" b="1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b="1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1600" b="1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𝒙𝒊</m:t>
                                      </m:r>
                                    </m:sub>
                                    <m:sup>
                                      <m:r>
                                        <a:rPr lang="en-US" sz="1600" b="1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𝟐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rad>
                          <m:r>
                            <a:rPr lang="en-US" sz="1600" b="1" i="1" dirty="0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⋅</m:t>
                          </m:r>
                          <m:rad>
                            <m:radPr>
                              <m:degHide m:val="on"/>
                              <m:ctrlPr>
                                <a:rPr lang="en-US" sz="16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6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b="1" i="1" dirty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sz="1600" b="1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b="1" i="1" dirty="0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1600" b="1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𝒚</m:t>
                                      </m:r>
                                      <m:r>
                                        <a:rPr lang="en-US" sz="1600" b="1" i="1" dirty="0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𝒊</m:t>
                                      </m:r>
                                    </m:sub>
                                    <m:sup>
                                      <m:r>
                                        <a:rPr lang="en-US" sz="1600" b="1" i="1" dirty="0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𝟐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195" y="90802"/>
                <a:ext cx="3358805" cy="89979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822484" y="11668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Cosine </a:t>
            </a:r>
            <a:r>
              <a:rPr lang="en-US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sim</a:t>
            </a:r>
            <a:r>
              <a:rPr lang="en-US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83623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Rating Predictions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8872" indent="0">
                  <a:buNone/>
                </a:pPr>
                <a:r>
                  <a:rPr lang="en-US" b="1" dirty="0">
                    <a:solidFill>
                      <a:srgbClr val="0000FF"/>
                    </a:solidFill>
                  </a:rPr>
                  <a:t>From similarity metric to recommendations:</a:t>
                </a:r>
              </a:p>
              <a:p>
                <a:r>
                  <a:rPr lang="en-US" dirty="0"/>
                  <a:t>Let </a:t>
                </a:r>
                <a:r>
                  <a:rPr lang="en-US" b="1" i="1" dirty="0" err="1"/>
                  <a:t>r</a:t>
                </a:r>
                <a:r>
                  <a:rPr lang="en-US" b="1" i="1" baseline="-25000" dirty="0" err="1"/>
                  <a:t>x</a:t>
                </a:r>
                <a:r>
                  <a:rPr lang="en-US" dirty="0"/>
                  <a:t> be the vector of user </a:t>
                </a:r>
                <a:r>
                  <a:rPr lang="en-US" b="1" i="1" dirty="0"/>
                  <a:t>x</a:t>
                </a:r>
                <a:r>
                  <a:rPr lang="en-US" dirty="0"/>
                  <a:t>’s ratings</a:t>
                </a:r>
              </a:p>
              <a:p>
                <a:pPr eaLnBrk="1" hangingPunct="1"/>
                <a:r>
                  <a:rPr lang="en-US" dirty="0"/>
                  <a:t>Let </a:t>
                </a:r>
                <a:r>
                  <a:rPr lang="en-US" b="1" i="1" dirty="0"/>
                  <a:t>N</a:t>
                </a:r>
                <a:r>
                  <a:rPr lang="en-US" dirty="0"/>
                  <a:t> be the set of </a:t>
                </a:r>
                <a:r>
                  <a:rPr lang="en-US" b="1" i="1" dirty="0"/>
                  <a:t>k</a:t>
                </a:r>
                <a:r>
                  <a:rPr lang="en-US" dirty="0"/>
                  <a:t> users most similar to </a:t>
                </a:r>
                <a:r>
                  <a:rPr lang="en-US" b="1" i="1" dirty="0"/>
                  <a:t>x</a:t>
                </a:r>
                <a:r>
                  <a:rPr lang="en-US" dirty="0"/>
                  <a:t> who have rated item </a:t>
                </a:r>
                <a:r>
                  <a:rPr lang="en-US" b="1" i="1" dirty="0" err="1"/>
                  <a:t>i</a:t>
                </a:r>
                <a:endParaRPr lang="en-US" b="1" i="1" dirty="0"/>
              </a:p>
              <a:p>
                <a:pPr eaLnBrk="1" hangingPunct="1"/>
                <a:r>
                  <a:rPr lang="en-US" b="1" dirty="0">
                    <a:solidFill>
                      <a:srgbClr val="D60093"/>
                    </a:solidFill>
                  </a:rPr>
                  <a:t>Prediction for item </a:t>
                </a:r>
                <a:r>
                  <a:rPr lang="en-US" b="1" i="1" dirty="0">
                    <a:solidFill>
                      <a:srgbClr val="D60093"/>
                    </a:solidFill>
                  </a:rPr>
                  <a:t>s </a:t>
                </a:r>
                <a:r>
                  <a:rPr lang="en-US" b="1" dirty="0">
                    <a:solidFill>
                      <a:srgbClr val="D60093"/>
                    </a:solidFill>
                  </a:rPr>
                  <a:t>of</a:t>
                </a:r>
                <a:r>
                  <a:rPr lang="en-US" b="1" i="1" dirty="0">
                    <a:solidFill>
                      <a:srgbClr val="D60093"/>
                    </a:solidFill>
                  </a:rPr>
                  <a:t> user x</a:t>
                </a:r>
                <a:r>
                  <a:rPr lang="en-US" b="1" dirty="0">
                    <a:solidFill>
                      <a:srgbClr val="D60093"/>
                    </a:solidFill>
                  </a:rPr>
                  <a:t>:</a:t>
                </a: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𝑥𝑖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/>
                          </a:rPr>
                          <m:t>𝑘</m:t>
                        </m:r>
                      </m:den>
                    </m:f>
                    <m:r>
                      <a:rPr lang="en-US" i="1" dirty="0" smtClean="0">
                        <a:latin typeface="Cambria Math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∈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𝑁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/>
                              </a:rPr>
                              <m:t>𝑦𝑖</m:t>
                            </m:r>
                          </m:sub>
                        </m:sSub>
                      </m:e>
                    </m:nary>
                  </m:oMath>
                </a14:m>
                <a:endParaRPr lang="en-US" baseline="-25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𝑥𝑖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 dirty="0">
                                <a:latin typeface="Cambria Math"/>
                              </a:rPr>
                              <m:t>𝑦</m:t>
                            </m:r>
                            <m:r>
                              <a:rPr lang="en-US" i="1" dirty="0">
                                <a:latin typeface="Cambria Math"/>
                              </a:rPr>
                              <m:t>∈</m:t>
                            </m:r>
                            <m:r>
                              <a:rPr lang="en-US" i="1" dirty="0">
                                <a:latin typeface="Cambria Math"/>
                              </a:rPr>
                              <m:t>𝑁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𝑥𝑦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/>
                                  </a:rPr>
                                  <m:t>𝑦𝑖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 dirty="0">
                                <a:latin typeface="Cambria Math"/>
                              </a:rPr>
                              <m:t>𝑦</m:t>
                            </m:r>
                            <m:r>
                              <a:rPr lang="en-US" i="1" dirty="0">
                                <a:latin typeface="Cambria Math"/>
                              </a:rPr>
                              <m:t>∈</m:t>
                            </m:r>
                            <m:r>
                              <a:rPr lang="en-US" i="1" dirty="0">
                                <a:latin typeface="Cambria Math"/>
                              </a:rPr>
                              <m:t>𝑁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𝑥𝑦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i="1" dirty="0"/>
              </a:p>
              <a:p>
                <a:pPr lvl="1" eaLnBrk="1" hangingPunct="1"/>
                <a:r>
                  <a:rPr lang="en-US" dirty="0"/>
                  <a:t>Other options?</a:t>
                </a:r>
              </a:p>
              <a:p>
                <a:r>
                  <a:rPr lang="en-US" b="1" dirty="0">
                    <a:solidFill>
                      <a:srgbClr val="008000"/>
                    </a:solidFill>
                  </a:rPr>
                  <a:t>Many other tricks possible…</a:t>
                </a:r>
              </a:p>
              <a:p>
                <a:pPr lvl="1" eaLnBrk="1" hangingPunct="1">
                  <a:buFont typeface="Wingdings" charset="2"/>
                  <a:buNone/>
                </a:pPr>
                <a:endParaRPr lang="en-US" dirty="0"/>
              </a:p>
              <a:p>
                <a:pPr lvl="1" eaLnBrk="1" hangingPunct="1"/>
                <a:endParaRPr lang="en-US" baseline="-25000" dirty="0"/>
              </a:p>
            </p:txBody>
          </p:sp>
        </mc:Choice>
        <mc:Fallback xmlns="">
          <p:sp>
            <p:nvSpPr>
              <p:cNvPr id="358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 l="-889" t="-696" b="-3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724400" y="4281213"/>
                <a:ext cx="1822102" cy="6717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srgbClr val="008000"/>
                    </a:solidFill>
                  </a:rPr>
                  <a:t>Shorthand:</a:t>
                </a:r>
                <a:br>
                  <a:rPr lang="en-US" b="1" dirty="0">
                    <a:solidFill>
                      <a:srgbClr val="008000"/>
                    </a:solidFill>
                  </a:rPr>
                </a:br>
                <a:r>
                  <a:rPr lang="en-US" b="1" dirty="0">
                    <a:solidFill>
                      <a:srgbClr val="008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𝒙𝒚</m:t>
                        </m:r>
                      </m:sub>
                    </m:sSub>
                    <m:r>
                      <a:rPr lang="en-US" b="1" i="1" dirty="0" smtClean="0">
                        <a:solidFill>
                          <a:srgbClr val="008000"/>
                        </a:solidFill>
                        <a:latin typeface="Cambria Math"/>
                      </a:rPr>
                      <m:t>=</m:t>
                    </m:r>
                    <m:r>
                      <a:rPr lang="en-US" b="1" i="1" dirty="0">
                        <a:solidFill>
                          <a:srgbClr val="008000"/>
                        </a:solidFill>
                        <a:latin typeface="Cambria Math"/>
                      </a:rPr>
                      <m:t>𝒔𝒊𝒎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8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b="1" i="1" dirty="0">
                            <a:solidFill>
                              <a:srgbClr val="008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800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endParaRPr lang="en-US" b="1" dirty="0">
                  <a:solidFill>
                    <a:srgbClr val="008000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281213"/>
                <a:ext cx="1822102" cy="671787"/>
              </a:xfrm>
              <a:prstGeom prst="rect">
                <a:avLst/>
              </a:prstGeom>
              <a:blipFill rotWithShape="1">
                <a:blip r:embed="rId4"/>
                <a:stretch>
                  <a:fillRect l="-2676" t="-4505" b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774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Item-Item Collaborative Filtering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334000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/>
              <a:t>So far:</a:t>
            </a:r>
            <a:r>
              <a:rPr lang="en-US" dirty="0"/>
              <a:t> </a:t>
            </a:r>
            <a:r>
              <a:rPr lang="en-US" b="1" dirty="0">
                <a:solidFill>
                  <a:srgbClr val="0000FF"/>
                </a:solidFill>
              </a:rPr>
              <a:t>User-user collaborative filtering</a:t>
            </a:r>
          </a:p>
          <a:p>
            <a:pPr eaLnBrk="1" hangingPunct="1"/>
            <a:r>
              <a:rPr lang="en-US" b="1" dirty="0">
                <a:solidFill>
                  <a:srgbClr val="D60093"/>
                </a:solidFill>
              </a:rPr>
              <a:t>Another view: </a:t>
            </a:r>
            <a:r>
              <a:rPr lang="en-US" b="1" dirty="0"/>
              <a:t>Item-item</a:t>
            </a:r>
          </a:p>
          <a:p>
            <a:pPr lvl="1" eaLnBrk="1" hangingPunct="1"/>
            <a:r>
              <a:rPr lang="en-US" dirty="0"/>
              <a:t>For item </a:t>
            </a:r>
            <a:r>
              <a:rPr lang="en-US" b="1" i="1" dirty="0" err="1"/>
              <a:t>i</a:t>
            </a:r>
            <a:r>
              <a:rPr lang="en-US" dirty="0"/>
              <a:t>, find other similar items</a:t>
            </a:r>
          </a:p>
          <a:p>
            <a:pPr lvl="1" eaLnBrk="1" hangingPunct="1"/>
            <a:r>
              <a:rPr lang="en-US" dirty="0"/>
              <a:t>Estimate rating for item </a:t>
            </a:r>
            <a:r>
              <a:rPr lang="en-US" b="1" i="1" dirty="0" err="1"/>
              <a:t>i</a:t>
            </a:r>
            <a:r>
              <a:rPr lang="en-US" dirty="0"/>
              <a:t> based </a:t>
            </a:r>
            <a:br>
              <a:rPr lang="en-US" dirty="0"/>
            </a:br>
            <a:r>
              <a:rPr lang="en-US" dirty="0"/>
              <a:t>on ratings for similar items</a:t>
            </a:r>
          </a:p>
          <a:p>
            <a:pPr lvl="1" eaLnBrk="1" hangingPunct="1"/>
            <a:r>
              <a:rPr lang="en-US" dirty="0"/>
              <a:t>Can use same similarity metrics and </a:t>
            </a:r>
            <a:br>
              <a:rPr lang="en-US" dirty="0"/>
            </a:br>
            <a:r>
              <a:rPr lang="en-US" dirty="0"/>
              <a:t>prediction functions as in user-user model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776546"/>
              </p:ext>
            </p:extLst>
          </p:nvPr>
        </p:nvGraphicFramePr>
        <p:xfrm>
          <a:off x="979488" y="4860925"/>
          <a:ext cx="3270250" cy="143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44520" imgH="545760" progId="Equation.3">
                  <p:embed/>
                </p:oleObj>
              </mc:Choice>
              <mc:Fallback>
                <p:oleObj name="Equation" r:id="rId3" imgW="1244520" imgH="545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488" y="4860925"/>
                        <a:ext cx="3270250" cy="143668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7239" y="5562600"/>
            <a:ext cx="42114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b="1" i="1" baseline="-25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ij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… similarity of items </a:t>
            </a:r>
            <a:r>
              <a:rPr lang="en-US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and </a:t>
            </a:r>
            <a:r>
              <a:rPr lang="en-US" b="1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j</a:t>
            </a:r>
          </a:p>
          <a:p>
            <a:pPr algn="just"/>
            <a:r>
              <a:rPr lang="en-US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b="1" i="1" baseline="-25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xj</a:t>
            </a:r>
            <a:r>
              <a:rPr lang="en-US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…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rating of user </a:t>
            </a:r>
            <a:r>
              <a:rPr lang="en-US" b="1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u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on item </a:t>
            </a:r>
            <a:r>
              <a:rPr lang="en-US" b="1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j</a:t>
            </a:r>
          </a:p>
          <a:p>
            <a:pPr algn="just"/>
            <a:r>
              <a:rPr lang="en-US" b="1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N(</a:t>
            </a:r>
            <a:r>
              <a:rPr lang="en-US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i;x</a:t>
            </a:r>
            <a:r>
              <a:rPr lang="en-US" b="1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n-US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… 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set items rated by </a:t>
            </a:r>
            <a:r>
              <a:rPr lang="en-US" b="1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similar to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i</a:t>
            </a:r>
            <a:endParaRPr lang="en-US" b="1" i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419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Item-Item CF (|N|=2)</a:t>
            </a:r>
          </a:p>
        </p:txBody>
      </p:sp>
      <p:graphicFrame>
        <p:nvGraphicFramePr>
          <p:cNvPr id="12680" name="Group 3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254517"/>
              </p:ext>
            </p:extLst>
          </p:nvPr>
        </p:nvGraphicFramePr>
        <p:xfrm>
          <a:off x="1158875" y="1608138"/>
          <a:ext cx="6604000" cy="4056066"/>
        </p:xfrm>
        <a:graphic>
          <a:graphicData uri="http://schemas.openxmlformats.org/drawingml/2006/table">
            <a:tbl>
              <a:tblPr rtl="1"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671" name="Text Box 383"/>
          <p:cNvSpPr txBox="1">
            <a:spLocks noChangeArrowheads="1"/>
          </p:cNvSpPr>
          <p:nvPr/>
        </p:nvSpPr>
        <p:spPr bwMode="auto">
          <a:xfrm>
            <a:off x="4130675" y="1143000"/>
            <a:ext cx="7633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 dirty="0">
                <a:solidFill>
                  <a:srgbClr val="008000"/>
                </a:solidFill>
              </a:rPr>
              <a:t>users</a:t>
            </a:r>
          </a:p>
        </p:txBody>
      </p:sp>
      <p:sp>
        <p:nvSpPr>
          <p:cNvPr id="12672" name="Text Box 384"/>
          <p:cNvSpPr txBox="1">
            <a:spLocks noChangeArrowheads="1"/>
          </p:cNvSpPr>
          <p:nvPr/>
        </p:nvSpPr>
        <p:spPr bwMode="auto">
          <a:xfrm rot="16200000">
            <a:off x="313531" y="3521869"/>
            <a:ext cx="989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 dirty="0">
                <a:solidFill>
                  <a:srgbClr val="008000"/>
                </a:solidFill>
              </a:rPr>
              <a:t>movies</a:t>
            </a:r>
          </a:p>
        </p:txBody>
      </p:sp>
      <p:grpSp>
        <p:nvGrpSpPr>
          <p:cNvPr id="2" name="Group 393"/>
          <p:cNvGrpSpPr>
            <a:grpSpLocks/>
          </p:cNvGrpSpPr>
          <p:nvPr/>
        </p:nvGrpSpPr>
        <p:grpSpPr bwMode="auto">
          <a:xfrm>
            <a:off x="1828800" y="5892804"/>
            <a:ext cx="5867400" cy="533400"/>
            <a:chOff x="1392" y="3744"/>
            <a:chExt cx="3696" cy="336"/>
          </a:xfrm>
        </p:grpSpPr>
        <p:sp>
          <p:nvSpPr>
            <p:cNvPr id="12673" name="Rectangle 385"/>
            <p:cNvSpPr>
              <a:spLocks noChangeArrowheads="1"/>
            </p:cNvSpPr>
            <p:nvPr/>
          </p:nvSpPr>
          <p:spPr bwMode="auto">
            <a:xfrm>
              <a:off x="1392" y="3744"/>
              <a:ext cx="336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74" name="Rectangle 386"/>
            <p:cNvSpPr>
              <a:spLocks noChangeArrowheads="1"/>
            </p:cNvSpPr>
            <p:nvPr/>
          </p:nvSpPr>
          <p:spPr bwMode="auto">
            <a:xfrm>
              <a:off x="3072" y="3744"/>
              <a:ext cx="336" cy="336"/>
            </a:xfrm>
            <a:prstGeom prst="rect">
              <a:avLst/>
            </a:prstGeom>
            <a:solidFill>
              <a:srgbClr val="FFF90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75" name="Text Box 387"/>
            <p:cNvSpPr txBox="1">
              <a:spLocks noChangeArrowheads="1"/>
            </p:cNvSpPr>
            <p:nvPr/>
          </p:nvSpPr>
          <p:spPr bwMode="auto">
            <a:xfrm>
              <a:off x="1728" y="3792"/>
              <a:ext cx="12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dirty="0">
                  <a:latin typeface="Arial" pitchFamily="34" charset="0"/>
                  <a:cs typeface="Arial" pitchFamily="34" charset="0"/>
                </a:rPr>
                <a:t>- unknown rating</a:t>
              </a:r>
            </a:p>
          </p:txBody>
        </p:sp>
        <p:sp>
          <p:nvSpPr>
            <p:cNvPr id="12676" name="Text Box 388"/>
            <p:cNvSpPr txBox="1">
              <a:spLocks noChangeArrowheads="1"/>
            </p:cNvSpPr>
            <p:nvPr/>
          </p:nvSpPr>
          <p:spPr bwMode="auto">
            <a:xfrm>
              <a:off x="3408" y="3792"/>
              <a:ext cx="16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>
                  <a:latin typeface="Arial" pitchFamily="34" charset="0"/>
                  <a:cs typeface="Arial" pitchFamily="34" charset="0"/>
                </a:rPr>
                <a:t>- rating between 1 to 5</a:t>
              </a:r>
            </a:p>
          </p:txBody>
        </p:sp>
      </p:grp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63830"/>
      </p:ext>
    </p:extLst>
  </p:cSld>
  <p:clrMapOvr>
    <a:masterClrMapping/>
  </p:clrMapOvr>
  <p:transition advTm="1675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Item-Item CF (|N|=2)</a:t>
            </a:r>
          </a:p>
        </p:txBody>
      </p:sp>
      <p:graphicFrame>
        <p:nvGraphicFramePr>
          <p:cNvPr id="13442" name="Group 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55220"/>
              </p:ext>
            </p:extLst>
          </p:nvPr>
        </p:nvGraphicFramePr>
        <p:xfrm>
          <a:off x="1158875" y="1608138"/>
          <a:ext cx="6604000" cy="4056066"/>
        </p:xfrm>
        <a:graphic>
          <a:graphicData uri="http://schemas.openxmlformats.org/drawingml/2006/table">
            <a:tbl>
              <a:tblPr rtl="1"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?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434" name="Text Box 122"/>
          <p:cNvSpPr txBox="1">
            <a:spLocks noChangeArrowheads="1"/>
          </p:cNvSpPr>
          <p:nvPr/>
        </p:nvSpPr>
        <p:spPr bwMode="auto">
          <a:xfrm>
            <a:off x="4130675" y="1143000"/>
            <a:ext cx="7633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 dirty="0">
                <a:solidFill>
                  <a:srgbClr val="008000"/>
                </a:solidFill>
              </a:rPr>
              <a:t>users</a:t>
            </a:r>
          </a:p>
        </p:txBody>
      </p:sp>
      <p:sp>
        <p:nvSpPr>
          <p:cNvPr id="13438" name="Rectangle 126"/>
          <p:cNvSpPr>
            <a:spLocks noChangeArrowheads="1"/>
          </p:cNvSpPr>
          <p:nvPr/>
        </p:nvSpPr>
        <p:spPr bwMode="auto">
          <a:xfrm>
            <a:off x="1997075" y="5892804"/>
            <a:ext cx="533400" cy="5334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40" name="Text Box 128"/>
          <p:cNvSpPr txBox="1">
            <a:spLocks noChangeArrowheads="1"/>
          </p:cNvSpPr>
          <p:nvPr/>
        </p:nvSpPr>
        <p:spPr bwMode="auto">
          <a:xfrm>
            <a:off x="2530475" y="5969004"/>
            <a:ext cx="403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- estimate rating of movie </a:t>
            </a:r>
            <a:r>
              <a:rPr lang="en-US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dirty="0">
                <a:latin typeface="Arial" pitchFamily="34" charset="0"/>
                <a:cs typeface="Arial" pitchFamily="34" charset="0"/>
              </a:rPr>
              <a:t> by user </a:t>
            </a:r>
            <a:r>
              <a:rPr lang="en-US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3" name="Text Box 384"/>
          <p:cNvSpPr txBox="1">
            <a:spLocks noChangeArrowheads="1"/>
          </p:cNvSpPr>
          <p:nvPr/>
        </p:nvSpPr>
        <p:spPr bwMode="auto">
          <a:xfrm rot="16200000">
            <a:off x="313531" y="3521869"/>
            <a:ext cx="989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 dirty="0">
                <a:solidFill>
                  <a:srgbClr val="008000"/>
                </a:solidFill>
              </a:rPr>
              <a:t>movies</a:t>
            </a:r>
          </a:p>
        </p:txBody>
      </p:sp>
    </p:spTree>
    <p:extLst>
      <p:ext uri="{BB962C8B-B14F-4D97-AF65-F5344CB8AC3E}">
        <p14:creationId xmlns:p14="http://schemas.microsoft.com/office/powerpoint/2010/main" val="2594468951"/>
      </p:ext>
    </p:extLst>
  </p:cSld>
  <p:clrMapOvr>
    <a:masterClrMapping/>
  </p:clrMapOvr>
  <p:transition advTm="24953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Item-Item CF (|N|=2)</a:t>
            </a:r>
          </a:p>
        </p:txBody>
      </p:sp>
      <p:graphicFrame>
        <p:nvGraphicFramePr>
          <p:cNvPr id="14483" name="Group 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393260"/>
              </p:ext>
            </p:extLst>
          </p:nvPr>
        </p:nvGraphicFramePr>
        <p:xfrm>
          <a:off x="1158875" y="1608138"/>
          <a:ext cx="6604000" cy="4056066"/>
        </p:xfrm>
        <a:graphic>
          <a:graphicData uri="http://schemas.openxmlformats.org/drawingml/2006/table">
            <a:tbl>
              <a:tblPr rtl="1"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?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sng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2000" b="1" i="0" u="sng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458" name="Text Box 122"/>
          <p:cNvSpPr txBox="1">
            <a:spLocks noChangeArrowheads="1"/>
          </p:cNvSpPr>
          <p:nvPr/>
        </p:nvSpPr>
        <p:spPr bwMode="auto">
          <a:xfrm>
            <a:off x="4130675" y="1143000"/>
            <a:ext cx="7633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 dirty="0">
                <a:solidFill>
                  <a:srgbClr val="008000"/>
                </a:solidFill>
              </a:rPr>
              <a:t>users</a:t>
            </a:r>
          </a:p>
        </p:txBody>
      </p:sp>
      <p:sp>
        <p:nvSpPr>
          <p:cNvPr id="14462" name="Text Box 126"/>
          <p:cNvSpPr txBox="1">
            <a:spLocks noChangeArrowheads="1"/>
          </p:cNvSpPr>
          <p:nvPr/>
        </p:nvSpPr>
        <p:spPr bwMode="auto">
          <a:xfrm>
            <a:off x="1920875" y="5782270"/>
            <a:ext cx="326072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Neighbor selection:</a:t>
            </a:r>
            <a:b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>
                <a:latin typeface="Arial" pitchFamily="34" charset="0"/>
                <a:cs typeface="Arial" pitchFamily="34" charset="0"/>
              </a:rPr>
              <a:t>Identify movies similar to 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dirty="0">
                <a:latin typeface="Arial" pitchFamily="34" charset="0"/>
                <a:cs typeface="Arial" pitchFamily="34" charset="0"/>
              </a:rPr>
              <a:t>movie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1</a:t>
            </a:r>
            <a:r>
              <a:rPr lang="en-US" dirty="0">
                <a:latin typeface="Arial" pitchFamily="34" charset="0"/>
                <a:cs typeface="Arial" pitchFamily="34" charset="0"/>
              </a:rPr>
              <a:t>,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rated by user 5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2" name="Text Box 384"/>
          <p:cNvSpPr txBox="1">
            <a:spLocks noChangeArrowheads="1"/>
          </p:cNvSpPr>
          <p:nvPr/>
        </p:nvSpPr>
        <p:spPr bwMode="auto">
          <a:xfrm rot="16200000">
            <a:off x="313531" y="3521869"/>
            <a:ext cx="989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 dirty="0">
                <a:solidFill>
                  <a:srgbClr val="008000"/>
                </a:solidFill>
              </a:rPr>
              <a:t>movies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788275" y="2286000"/>
            <a:ext cx="8985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1.00</a:t>
            </a:r>
          </a:p>
          <a:p>
            <a:pPr algn="r"/>
            <a:endParaRPr lang="en-US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-0.18</a:t>
            </a:r>
          </a:p>
          <a:p>
            <a:pPr algn="r"/>
            <a:endParaRPr lang="en-US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sz="2000" b="1" u="sng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0.41</a:t>
            </a:r>
          </a:p>
          <a:p>
            <a:pPr algn="r"/>
            <a:endParaRPr lang="en-US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-0.10</a:t>
            </a:r>
          </a:p>
          <a:p>
            <a:pPr algn="r"/>
            <a:endParaRPr lang="en-US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-0.31</a:t>
            </a:r>
          </a:p>
          <a:p>
            <a:pPr algn="r"/>
            <a:endParaRPr lang="en-US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sz="2000" b="1" u="sng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0.59</a:t>
            </a:r>
          </a:p>
        </p:txBody>
      </p:sp>
      <p:sp>
        <p:nvSpPr>
          <p:cNvPr id="5" name="Rectangle 4"/>
          <p:cNvSpPr/>
          <p:nvPr/>
        </p:nvSpPr>
        <p:spPr>
          <a:xfrm>
            <a:off x="7858325" y="1828800"/>
            <a:ext cx="1236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000" b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sim</a:t>
            </a:r>
            <a:r>
              <a:rPr lang="en-US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(1,m)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600" y="5715000"/>
            <a:ext cx="39624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Here we use Pearson correlation as similarity:</a:t>
            </a:r>
          </a:p>
          <a:p>
            <a:r>
              <a:rPr lang="en-US" sz="13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1)</a:t>
            </a:r>
            <a:r>
              <a:rPr lang="en-US" sz="13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Subtract mean rating </a:t>
            </a:r>
            <a:r>
              <a:rPr lang="en-US" sz="1300" b="1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1300" b="1" i="1" baseline="-250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sz="13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from each movie </a:t>
            </a:r>
            <a:r>
              <a:rPr lang="en-US" sz="1300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i</a:t>
            </a:r>
            <a:br>
              <a:rPr lang="en-US" sz="1300" b="1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sz="1300" b="1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   m</a:t>
            </a:r>
            <a:r>
              <a:rPr lang="en-US" sz="1300" b="1" i="1" baseline="-250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1300" i="1" baseline="-250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300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= (1+3+5+5+4)/5 = </a:t>
            </a:r>
            <a:r>
              <a:rPr lang="en-US" sz="1300" b="1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3.6</a:t>
            </a:r>
            <a:br>
              <a:rPr lang="en-US" sz="1300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sz="1300" b="1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   row 1:</a:t>
            </a:r>
            <a:r>
              <a:rPr lang="en-US" sz="1300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[-2.6, 0, -0.6, 0, 0, 1.4, 0, 0, 1.4, 0, 0.4, 0]</a:t>
            </a:r>
          </a:p>
          <a:p>
            <a:r>
              <a:rPr lang="en-US" sz="13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2)</a:t>
            </a:r>
            <a:r>
              <a:rPr lang="en-US" sz="13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Compute cosine similarities between rows</a:t>
            </a:r>
          </a:p>
        </p:txBody>
      </p:sp>
    </p:spTree>
    <p:extLst>
      <p:ext uri="{BB962C8B-B14F-4D97-AF65-F5344CB8AC3E}">
        <p14:creationId xmlns:p14="http://schemas.microsoft.com/office/powerpoint/2010/main" val="1587854665"/>
      </p:ext>
    </p:extLst>
  </p:cSld>
  <p:clrMapOvr>
    <a:masterClrMapping/>
  </p:clrMapOvr>
  <p:transition advTm="31719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Item-Item CF (|N|=2)</a:t>
            </a:r>
          </a:p>
        </p:txBody>
      </p:sp>
      <p:graphicFrame>
        <p:nvGraphicFramePr>
          <p:cNvPr id="1536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742163"/>
              </p:ext>
            </p:extLst>
          </p:nvPr>
        </p:nvGraphicFramePr>
        <p:xfrm>
          <a:off x="1158875" y="1608138"/>
          <a:ext cx="6604000" cy="4056066"/>
        </p:xfrm>
        <a:graphic>
          <a:graphicData uri="http://schemas.openxmlformats.org/drawingml/2006/table">
            <a:tbl>
              <a:tblPr rtl="1"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?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sng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1" i="0" u="sng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2000" b="1" i="0" u="sng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482" name="Text Box 122"/>
          <p:cNvSpPr txBox="1">
            <a:spLocks noChangeArrowheads="1"/>
          </p:cNvSpPr>
          <p:nvPr/>
        </p:nvSpPr>
        <p:spPr bwMode="auto">
          <a:xfrm>
            <a:off x="4130675" y="1143000"/>
            <a:ext cx="7633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>
                <a:solidFill>
                  <a:srgbClr val="008000"/>
                </a:solidFill>
              </a:rPr>
              <a:t>users</a:t>
            </a:r>
          </a:p>
        </p:txBody>
      </p:sp>
      <p:sp>
        <p:nvSpPr>
          <p:cNvPr id="15484" name="Text Box 124"/>
          <p:cNvSpPr txBox="1">
            <a:spLocks noChangeArrowheads="1"/>
          </p:cNvSpPr>
          <p:nvPr/>
        </p:nvSpPr>
        <p:spPr bwMode="auto">
          <a:xfrm>
            <a:off x="1676400" y="5791200"/>
            <a:ext cx="3276600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latin typeface="Arial" pitchFamily="34" charset="0"/>
                <a:cs typeface="Arial" pitchFamily="34" charset="0"/>
              </a:rPr>
              <a:t>Compute similarity weights: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2000" b="1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1,3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=0.41, s</a:t>
            </a:r>
            <a:r>
              <a:rPr lang="en-US" sz="2000" b="1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1,6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=0.59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2" name="Text Box 384"/>
          <p:cNvSpPr txBox="1">
            <a:spLocks noChangeArrowheads="1"/>
          </p:cNvSpPr>
          <p:nvPr/>
        </p:nvSpPr>
        <p:spPr bwMode="auto">
          <a:xfrm rot="16200000">
            <a:off x="319763" y="3520252"/>
            <a:ext cx="97654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 dirty="0">
                <a:solidFill>
                  <a:srgbClr val="008000"/>
                </a:solidFill>
              </a:rPr>
              <a:t>movies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8275" y="2286000"/>
            <a:ext cx="8985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1.00</a:t>
            </a:r>
          </a:p>
          <a:p>
            <a:pPr algn="r"/>
            <a:endParaRPr lang="en-US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-0.18</a:t>
            </a:r>
          </a:p>
          <a:p>
            <a:pPr algn="r"/>
            <a:endParaRPr lang="en-US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sz="2000" b="1" u="sng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0.41</a:t>
            </a:r>
          </a:p>
          <a:p>
            <a:pPr algn="r"/>
            <a:endParaRPr lang="en-US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-0.10</a:t>
            </a:r>
          </a:p>
          <a:p>
            <a:pPr algn="r"/>
            <a:endParaRPr lang="en-US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-0.31</a:t>
            </a:r>
          </a:p>
          <a:p>
            <a:pPr algn="r"/>
            <a:endParaRPr lang="en-US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sz="2000" b="1" u="sng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0.59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58325" y="1828800"/>
            <a:ext cx="1236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000" b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sim</a:t>
            </a:r>
            <a:r>
              <a:rPr lang="en-US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(1,m)</a:t>
            </a:r>
          </a:p>
        </p:txBody>
      </p:sp>
    </p:spTree>
    <p:extLst>
      <p:ext uri="{BB962C8B-B14F-4D97-AF65-F5344CB8AC3E}">
        <p14:creationId xmlns:p14="http://schemas.microsoft.com/office/powerpoint/2010/main" val="1345459809"/>
      </p:ext>
    </p:extLst>
  </p:cSld>
  <p:clrMapOvr>
    <a:masterClrMapping/>
  </p:clrMapOvr>
  <p:transition advTm="14828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Item-Item CF (|N|=2)</a:t>
            </a:r>
          </a:p>
        </p:txBody>
      </p:sp>
      <p:graphicFrame>
        <p:nvGraphicFramePr>
          <p:cNvPr id="16516" name="Group 1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616229"/>
              </p:ext>
            </p:extLst>
          </p:nvPr>
        </p:nvGraphicFramePr>
        <p:xfrm>
          <a:off x="1143000" y="1608138"/>
          <a:ext cx="6604000" cy="4056066"/>
        </p:xfrm>
        <a:graphic>
          <a:graphicData uri="http://schemas.openxmlformats.org/drawingml/2006/table">
            <a:tbl>
              <a:tblPr rtl="1"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sng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2000" b="1" i="0" u="sng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2000" b="1" i="0" u="sng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506" name="Text Box 122"/>
          <p:cNvSpPr txBox="1">
            <a:spLocks noChangeArrowheads="1"/>
          </p:cNvSpPr>
          <p:nvPr/>
        </p:nvSpPr>
        <p:spPr bwMode="auto">
          <a:xfrm>
            <a:off x="4114800" y="1143000"/>
            <a:ext cx="7633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>
                <a:solidFill>
                  <a:srgbClr val="008000"/>
                </a:solidFill>
              </a:rPr>
              <a:t>users</a:t>
            </a:r>
          </a:p>
        </p:txBody>
      </p:sp>
      <p:sp>
        <p:nvSpPr>
          <p:cNvPr id="16508" name="Text Box 124"/>
          <p:cNvSpPr txBox="1">
            <a:spLocks noChangeArrowheads="1"/>
          </p:cNvSpPr>
          <p:nvPr/>
        </p:nvSpPr>
        <p:spPr bwMode="auto">
          <a:xfrm>
            <a:off x="1600200" y="5715000"/>
            <a:ext cx="4953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latin typeface="Arial" pitchFamily="34" charset="0"/>
                <a:cs typeface="Arial" pitchFamily="34" charset="0"/>
              </a:rPr>
              <a:t>Predict by taking weighted average:</a:t>
            </a:r>
          </a:p>
          <a:p>
            <a:pPr>
              <a:spcBef>
                <a:spcPct val="50000"/>
              </a:spcBef>
            </a:pPr>
            <a:r>
              <a:rPr lang="en-US" b="1" dirty="0">
                <a:latin typeface="Arial" pitchFamily="34" charset="0"/>
                <a:cs typeface="Arial" pitchFamily="34" charset="0"/>
              </a:rPr>
              <a:t>r</a:t>
            </a:r>
            <a:r>
              <a:rPr lang="en-US" b="1" baseline="-25000" dirty="0">
                <a:latin typeface="Arial" pitchFamily="34" charset="0"/>
                <a:cs typeface="Arial" pitchFamily="34" charset="0"/>
              </a:rPr>
              <a:t>1.5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= 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(0.41*2 + 0.59*3) / (0.41+0.59) = 2.6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2" name="Text Box 384"/>
          <p:cNvSpPr txBox="1">
            <a:spLocks noChangeArrowheads="1"/>
          </p:cNvSpPr>
          <p:nvPr/>
        </p:nvSpPr>
        <p:spPr bwMode="auto">
          <a:xfrm rot="16200000">
            <a:off x="319763" y="3520252"/>
            <a:ext cx="97654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 dirty="0">
                <a:solidFill>
                  <a:srgbClr val="008000"/>
                </a:solidFill>
              </a:rPr>
              <a:t>movies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498789" y="5767337"/>
                <a:ext cx="2645211" cy="8041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  <a:cs typeface="Arial" pitchFamily="34" charset="0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  <a:cs typeface="Arial" pitchFamily="34" charset="0"/>
                            </a:rPr>
                            <m:t>𝒊𝒙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  <a:cs typeface="Arial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naryPr>
                            <m:sub>
                              <m:r>
                                <a:rPr lang="en-US" sz="2000" b="1" i="1" smtClean="0">
                                  <a:latin typeface="Cambria Math"/>
                                  <a:cs typeface="Arial" pitchFamily="34" charset="0"/>
                                </a:rPr>
                                <m:t>𝒋</m:t>
                              </m:r>
                              <m:r>
                                <a:rPr lang="en-US" sz="2000" b="1" i="1" smtClean="0">
                                  <a:latin typeface="Cambria Math"/>
                                  <a:cs typeface="Arial" pitchFamily="34" charset="0"/>
                                </a:rPr>
                                <m:t>∈</m:t>
                              </m:r>
                              <m:r>
                                <a:rPr lang="en-US" sz="2000" b="1" i="1" smtClean="0">
                                  <a:latin typeface="Cambria Math"/>
                                  <a:cs typeface="Arial" pitchFamily="34" charset="0"/>
                                </a:rPr>
                                <m:t>𝑵</m:t>
                              </m:r>
                              <m:r>
                                <a:rPr lang="en-US" sz="2000" b="1" i="1" smtClean="0">
                                  <a:latin typeface="Cambria Math"/>
                                  <a:cs typeface="Arial" pitchFamily="34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latin typeface="Cambria Math"/>
                                  <a:cs typeface="Arial" pitchFamily="34" charset="0"/>
                                </a:rPr>
                                <m:t>𝒊</m:t>
                              </m:r>
                              <m:r>
                                <a:rPr lang="en-US" sz="2000" b="1" i="1" smtClean="0">
                                  <a:latin typeface="Cambria Math"/>
                                  <a:cs typeface="Arial" pitchFamily="34" charset="0"/>
                                </a:rPr>
                                <m:t>;</m:t>
                              </m:r>
                              <m:r>
                                <a:rPr lang="en-US" sz="2000" b="1" i="1" smtClean="0">
                                  <a:latin typeface="Cambria Math"/>
                                  <a:cs typeface="Arial" pitchFamily="34" charset="0"/>
                                </a:rPr>
                                <m:t>𝒙</m:t>
                              </m:r>
                              <m:r>
                                <a:rPr lang="en-US" sz="2000" b="1" i="1" smtClean="0">
                                  <a:latin typeface="Cambria Math"/>
                                  <a:cs typeface="Arial" pitchFamily="34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/>
                                      <a:cs typeface="Arial" pitchFamily="34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/>
                                      <a:cs typeface="Arial" pitchFamily="34" charset="0"/>
                                    </a:rPr>
                                    <m:t>𝒊𝒋</m:t>
                                  </m:r>
                                </m:sub>
                              </m:sSub>
                              <m:r>
                                <a:rPr lang="en-US" sz="2000" b="1" i="1">
                                  <a:latin typeface="Cambria Math"/>
                                  <a:cs typeface="Arial" pitchFamily="34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/>
                                      <a:cs typeface="Arial" pitchFamily="34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/>
                                      <a:cs typeface="Arial" pitchFamily="34" charset="0"/>
                                    </a:rPr>
                                    <m:t>𝒋𝒙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sz="2000" b="1" i="1" smtClean="0">
                              <a:latin typeface="Cambria Math"/>
                              <a:cs typeface="Arial" pitchFamily="34" charset="0"/>
                            </a:rPr>
                            <m:t>∑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/>
                                  <a:cs typeface="Arial" pitchFamily="34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  <a:cs typeface="Arial" pitchFamily="34" charset="0"/>
                                </a:rPr>
                                <m:t>𝒊𝒋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b="1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789" y="5767337"/>
                <a:ext cx="2645211" cy="80413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5331313"/>
      </p:ext>
    </p:extLst>
  </p:cSld>
  <p:clrMapOvr>
    <a:masterClrMapping/>
  </p:clrMapOvr>
  <p:transition advTm="13656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409331" y="8965"/>
            <a:ext cx="1734670" cy="100853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CF: </a:t>
            </a:r>
            <a:r>
              <a:rPr lang="en-US" dirty="0"/>
              <a:t>Common Practice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1"/>
            <a:ext cx="8610600" cy="3581400"/>
          </a:xfrm>
        </p:spPr>
        <p:txBody>
          <a:bodyPr/>
          <a:lstStyle/>
          <a:p>
            <a:r>
              <a:rPr lang="en-US" dirty="0"/>
              <a:t>Define </a:t>
            </a:r>
            <a:r>
              <a:rPr lang="en-US" b="1" dirty="0">
                <a:solidFill>
                  <a:srgbClr val="FF0066"/>
                </a:solidFill>
              </a:rPr>
              <a:t>similarity </a:t>
            </a:r>
            <a:r>
              <a:rPr lang="en-US" b="1" i="1" dirty="0" err="1">
                <a:solidFill>
                  <a:srgbClr val="0000FF"/>
                </a:solidFill>
              </a:rPr>
              <a:t>s</a:t>
            </a:r>
            <a:r>
              <a:rPr lang="en-US" b="1" i="1" baseline="-25000" dirty="0" err="1">
                <a:solidFill>
                  <a:srgbClr val="0000FF"/>
                </a:solidFill>
              </a:rPr>
              <a:t>ij</a:t>
            </a:r>
            <a:r>
              <a:rPr lang="en-US" dirty="0"/>
              <a:t> of items </a:t>
            </a:r>
            <a:r>
              <a:rPr lang="en-US" b="1" i="1" dirty="0" err="1"/>
              <a:t>i</a:t>
            </a:r>
            <a:r>
              <a:rPr lang="en-US" dirty="0"/>
              <a:t> and </a:t>
            </a:r>
            <a:r>
              <a:rPr lang="en-US" b="1" i="1" dirty="0"/>
              <a:t>j</a:t>
            </a:r>
          </a:p>
          <a:p>
            <a:r>
              <a:rPr lang="en-US" dirty="0"/>
              <a:t>Select </a:t>
            </a:r>
            <a:r>
              <a:rPr lang="en-US" b="1" i="1" dirty="0"/>
              <a:t>k</a:t>
            </a:r>
            <a:r>
              <a:rPr lang="en-US" dirty="0"/>
              <a:t> nearest neighbors </a:t>
            </a:r>
            <a:r>
              <a:rPr lang="en-US" b="1" i="1" dirty="0">
                <a:solidFill>
                  <a:srgbClr val="0000FF"/>
                </a:solidFill>
              </a:rPr>
              <a:t>N(</a:t>
            </a:r>
            <a:r>
              <a:rPr lang="en-US" b="1" i="1" dirty="0" err="1">
                <a:solidFill>
                  <a:srgbClr val="0000FF"/>
                </a:solidFill>
              </a:rPr>
              <a:t>i</a:t>
            </a:r>
            <a:r>
              <a:rPr lang="en-US" b="1" i="1" dirty="0">
                <a:solidFill>
                  <a:srgbClr val="0000FF"/>
                </a:solidFill>
              </a:rPr>
              <a:t>; x)</a:t>
            </a:r>
          </a:p>
          <a:p>
            <a:pPr lvl="1"/>
            <a:r>
              <a:rPr lang="en-US" dirty="0"/>
              <a:t>Items most similar to </a:t>
            </a:r>
            <a:r>
              <a:rPr lang="en-US" b="1" i="1" dirty="0" err="1"/>
              <a:t>i</a:t>
            </a:r>
            <a:r>
              <a:rPr lang="en-US" dirty="0"/>
              <a:t>, that were rated by </a:t>
            </a:r>
            <a:r>
              <a:rPr lang="en-US" b="1" i="1" dirty="0"/>
              <a:t>x</a:t>
            </a:r>
          </a:p>
          <a:p>
            <a:r>
              <a:rPr lang="en-US" dirty="0"/>
              <a:t>Estimate rating </a:t>
            </a:r>
            <a:r>
              <a:rPr lang="en-US" b="1" i="1" dirty="0" err="1">
                <a:solidFill>
                  <a:srgbClr val="0000FF"/>
                </a:solidFill>
              </a:rPr>
              <a:t>r</a:t>
            </a:r>
            <a:r>
              <a:rPr lang="en-US" b="1" i="1" baseline="-25000" dirty="0" err="1">
                <a:solidFill>
                  <a:srgbClr val="0000FF"/>
                </a:solidFill>
              </a:rPr>
              <a:t>xi</a:t>
            </a:r>
            <a:r>
              <a:rPr lang="en-US" dirty="0"/>
              <a:t> as the weighted average: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124932" name="Object 4"/>
          <p:cNvGraphicFramePr>
            <a:graphicFrameLocks noChangeAspect="1"/>
          </p:cNvGraphicFramePr>
          <p:nvPr/>
        </p:nvGraphicFramePr>
        <p:xfrm>
          <a:off x="4514850" y="33401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177480" progId="">
                  <p:embed/>
                </p:oleObj>
              </mc:Choice>
              <mc:Fallback>
                <p:oleObj name="Equation" r:id="rId2" imgW="114120" imgH="1774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40100"/>
                        <a:ext cx="1143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42" name="Text Box 14"/>
          <p:cNvSpPr txBox="1">
            <a:spLocks noChangeArrowheads="1"/>
          </p:cNvSpPr>
          <p:nvPr/>
        </p:nvSpPr>
        <p:spPr bwMode="auto">
          <a:xfrm>
            <a:off x="436562" y="5410200"/>
            <a:ext cx="2840037" cy="400110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baseline estimate for </a:t>
            </a:r>
            <a:r>
              <a:rPr lang="en-US" sz="2000" b="1" i="1" dirty="0" err="1"/>
              <a:t>r</a:t>
            </a:r>
            <a:r>
              <a:rPr lang="en-US" sz="2000" b="1" i="1" baseline="-25000" dirty="0" err="1"/>
              <a:t>xi</a:t>
            </a:r>
            <a:endParaRPr lang="en-US" sz="2000" b="1" i="1" dirty="0"/>
          </a:p>
        </p:txBody>
      </p:sp>
      <p:sp>
        <p:nvSpPr>
          <p:cNvPr id="124943" name="Line 15"/>
          <p:cNvSpPr>
            <a:spLocks noChangeShapeType="1"/>
          </p:cNvSpPr>
          <p:nvPr/>
        </p:nvSpPr>
        <p:spPr bwMode="auto">
          <a:xfrm flipV="1">
            <a:off x="1781175" y="4659351"/>
            <a:ext cx="0" cy="750849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Content Placeholder 3"/>
          <p:cNvSpPr txBox="1">
            <a:spLocks/>
          </p:cNvSpPr>
          <p:nvPr/>
        </p:nvSpPr>
        <p:spPr>
          <a:xfrm>
            <a:off x="4267200" y="5399049"/>
            <a:ext cx="4114800" cy="1306551"/>
          </a:xfrm>
          <a:prstGeom prst="rect">
            <a:avLst/>
          </a:prstGeom>
        </p:spPr>
        <p:txBody>
          <a:bodyPr vert="horz" lIns="54864" tIns="91440" rtlCol="0">
            <a:noAutofit/>
          </a:bodyPr>
          <a:lstStyle/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kumimoji="0" lang="el-GR" sz="2000" b="1" i="1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 =  overall mean movie rating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kumimoji="0" lang="en-CA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b</a:t>
            </a:r>
            <a:r>
              <a:rPr kumimoji="0" lang="en-CA" sz="20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x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 =  rating deviation of user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x</a:t>
            </a:r>
          </a:p>
          <a:p>
            <a:pPr marL="118872" lvl="0">
              <a:buClr>
                <a:schemeClr val="accent1"/>
              </a:buClr>
              <a:buSzPct val="80000"/>
              <a:defRPr/>
            </a:pPr>
            <a:r>
              <a:rPr lang="en-CA" sz="2000" i="1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            </a:t>
            </a:r>
            <a:r>
              <a:rPr lang="en-US" sz="2000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= (</a:t>
            </a:r>
            <a:r>
              <a:rPr lang="en-US" sz="2000" i="1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avg. rating of user </a:t>
            </a:r>
            <a:r>
              <a:rPr lang="en-US" sz="2000" b="1" i="1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x</a:t>
            </a:r>
            <a:r>
              <a:rPr lang="en-US" sz="2000" i="1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)</a:t>
            </a:r>
            <a:r>
              <a:rPr lang="en-US" sz="2000" b="1" i="1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 – </a:t>
            </a:r>
            <a:r>
              <a:rPr lang="el-GR" sz="2000" b="1" i="1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μ</a:t>
            </a:r>
            <a:r>
              <a:rPr lang="en-US" sz="2000" i="1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 </a:t>
            </a:r>
            <a:endParaRPr kumimoji="0" lang="en-CA" sz="2000" b="0" i="1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b</a:t>
            </a:r>
            <a:r>
              <a:rPr kumimoji="0" lang="en-CA" sz="2000" b="1" i="1" u="none" strike="noStrike" kern="120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i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  =  rating deviation of movie </a:t>
            </a:r>
            <a:r>
              <a:rPr kumimoji="0" lang="en-CA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i</a:t>
            </a:r>
            <a:r>
              <a:rPr kumimoji="0" lang="en-CA" sz="2000" b="0" i="0" u="none" strike="noStrike" kern="1200" cap="none" spc="0" normalizeH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942776"/>
              </p:ext>
            </p:extLst>
          </p:nvPr>
        </p:nvGraphicFramePr>
        <p:xfrm>
          <a:off x="7461250" y="219075"/>
          <a:ext cx="163671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5600" imgH="545760" progId="Equation.3">
                  <p:embed/>
                </p:oleObj>
              </mc:Choice>
              <mc:Fallback>
                <p:oleObj name="Equation" r:id="rId4" imgW="1155600" imgH="5457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219075"/>
                        <a:ext cx="1636713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409330" y="-626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Before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389921"/>
              </p:ext>
            </p:extLst>
          </p:nvPr>
        </p:nvGraphicFramePr>
        <p:xfrm>
          <a:off x="595383" y="3505200"/>
          <a:ext cx="5881617" cy="178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30320" imgH="545760" progId="Equation.3">
                  <p:embed/>
                </p:oleObj>
              </mc:Choice>
              <mc:Fallback>
                <p:oleObj name="Equation" r:id="rId6" imgW="1930320" imgH="54576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83" y="3505200"/>
                        <a:ext cx="5881617" cy="1789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7200" y="5832081"/>
                <a:ext cx="26248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/>
                              <a:cs typeface="Arial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/>
                              <a:cs typeface="Arial" pitchFamily="34" charset="0"/>
                            </a:rPr>
                            <m:t>𝒙𝒊</m:t>
                          </m:r>
                        </m:sub>
                      </m:sSub>
                      <m:r>
                        <a:rPr lang="en-US" sz="2400" b="1" i="1" smtClean="0">
                          <a:latin typeface="Cambria Math"/>
                          <a:cs typeface="Arial" pitchFamily="34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/>
                          <a:cs typeface="Arial" pitchFamily="34" charset="0"/>
                        </a:rPr>
                        <m:t>𝝁</m:t>
                      </m:r>
                      <m:r>
                        <a:rPr lang="en-US" sz="2400" b="1" i="1" smtClean="0">
                          <a:latin typeface="Cambria Math"/>
                          <a:cs typeface="Arial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/>
                              <a:cs typeface="Arial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/>
                              <a:cs typeface="Arial" pitchFamily="34" charset="0"/>
                            </a:rPr>
                            <m:t>𝒙</m:t>
                          </m:r>
                        </m:sub>
                      </m:sSub>
                      <m:r>
                        <a:rPr lang="en-US" sz="2400" b="1" i="1" smtClean="0">
                          <a:latin typeface="Cambria Math"/>
                          <a:cs typeface="Arial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/>
                              <a:cs typeface="Arial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/>
                              <a:cs typeface="Arial" pitchFamily="34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832081"/>
                <a:ext cx="2624821" cy="461665"/>
              </a:xfrm>
              <a:prstGeom prst="rect">
                <a:avLst/>
              </a:prstGeom>
              <a:blipFill rotWithShape="1">
                <a:blip r:embed="rId9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803061"/>
      </p:ext>
    </p:extLst>
  </p:cSld>
  <p:clrMapOvr>
    <a:masterClrMapping/>
  </p:clrMapOvr>
  <p:transition advTm="96906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Item-Item vs. User-User</a:t>
            </a:r>
          </a:p>
        </p:txBody>
      </p:sp>
      <p:graphicFrame>
        <p:nvGraphicFramePr>
          <p:cNvPr id="26626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5395829"/>
              </p:ext>
            </p:extLst>
          </p:nvPr>
        </p:nvGraphicFramePr>
        <p:xfrm>
          <a:off x="2005013" y="1752600"/>
          <a:ext cx="4752975" cy="346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18960" imgH="888840" progId="Equation.3">
                  <p:embed/>
                </p:oleObj>
              </mc:Choice>
              <mc:Fallback>
                <p:oleObj name="Equation" r:id="rId3" imgW="121896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013" y="1752600"/>
                        <a:ext cx="4752975" cy="346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2" name="Text Box 42"/>
          <p:cNvSpPr txBox="1">
            <a:spLocks noChangeArrowheads="1"/>
          </p:cNvSpPr>
          <p:nvPr/>
        </p:nvSpPr>
        <p:spPr bwMode="auto">
          <a:xfrm>
            <a:off x="1839913" y="1219200"/>
            <a:ext cx="9794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Avatar</a:t>
            </a:r>
          </a:p>
        </p:txBody>
      </p:sp>
      <p:sp>
        <p:nvSpPr>
          <p:cNvPr id="20524" name="Text Box 44"/>
          <p:cNvSpPr txBox="1">
            <a:spLocks noChangeArrowheads="1"/>
          </p:cNvSpPr>
          <p:nvPr/>
        </p:nvSpPr>
        <p:spPr bwMode="auto">
          <a:xfrm>
            <a:off x="3238500" y="1219200"/>
            <a:ext cx="8747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LOTR</a:t>
            </a:r>
          </a:p>
        </p:txBody>
      </p:sp>
      <p:sp>
        <p:nvSpPr>
          <p:cNvPr id="20525" name="Text Box 45"/>
          <p:cNvSpPr txBox="1">
            <a:spLocks noChangeArrowheads="1"/>
          </p:cNvSpPr>
          <p:nvPr/>
        </p:nvSpPr>
        <p:spPr bwMode="auto">
          <a:xfrm>
            <a:off x="4397375" y="1219200"/>
            <a:ext cx="931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Matrix</a:t>
            </a:r>
          </a:p>
        </p:txBody>
      </p:sp>
      <p:sp>
        <p:nvSpPr>
          <p:cNvPr id="20526" name="Text Box 46"/>
          <p:cNvSpPr txBox="1">
            <a:spLocks noChangeArrowheads="1"/>
          </p:cNvSpPr>
          <p:nvPr/>
        </p:nvSpPr>
        <p:spPr bwMode="auto">
          <a:xfrm>
            <a:off x="5845175" y="1219200"/>
            <a:ext cx="10398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Pirates</a:t>
            </a:r>
          </a:p>
        </p:txBody>
      </p:sp>
      <p:sp>
        <p:nvSpPr>
          <p:cNvPr id="20527" name="Text Box 47"/>
          <p:cNvSpPr txBox="1">
            <a:spLocks noChangeArrowheads="1"/>
          </p:cNvSpPr>
          <p:nvPr/>
        </p:nvSpPr>
        <p:spPr bwMode="auto">
          <a:xfrm>
            <a:off x="495300" y="1905000"/>
            <a:ext cx="790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Alice</a:t>
            </a:r>
          </a:p>
        </p:txBody>
      </p:sp>
      <p:sp>
        <p:nvSpPr>
          <p:cNvPr id="20528" name="Text Box 48"/>
          <p:cNvSpPr txBox="1">
            <a:spLocks noChangeArrowheads="1"/>
          </p:cNvSpPr>
          <p:nvPr/>
        </p:nvSpPr>
        <p:spPr bwMode="auto">
          <a:xfrm>
            <a:off x="495300" y="2743200"/>
            <a:ext cx="677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Bob</a:t>
            </a:r>
          </a:p>
        </p:txBody>
      </p:sp>
      <p:sp>
        <p:nvSpPr>
          <p:cNvPr id="20529" name="Text Box 49"/>
          <p:cNvSpPr txBox="1">
            <a:spLocks noChangeArrowheads="1"/>
          </p:cNvSpPr>
          <p:nvPr/>
        </p:nvSpPr>
        <p:spPr bwMode="auto">
          <a:xfrm>
            <a:off x="495300" y="3733800"/>
            <a:ext cx="833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Carol</a:t>
            </a:r>
          </a:p>
        </p:txBody>
      </p:sp>
      <p:sp>
        <p:nvSpPr>
          <p:cNvPr id="20530" name="Text Box 50"/>
          <p:cNvSpPr txBox="1">
            <a:spLocks noChangeArrowheads="1"/>
          </p:cNvSpPr>
          <p:nvPr/>
        </p:nvSpPr>
        <p:spPr bwMode="auto">
          <a:xfrm>
            <a:off x="495300" y="4572000"/>
            <a:ext cx="876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David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457200" y="5029200"/>
            <a:ext cx="8382000" cy="1676400"/>
          </a:xfrm>
          <a:prstGeom prst="rect">
            <a:avLst/>
          </a:prstGeom>
        </p:spPr>
        <p:txBody>
          <a:bodyPr vert="horz" lIns="54864" tIns="91440" rtlCol="0">
            <a:normAutofit fontScale="92500"/>
          </a:bodyPr>
          <a:lstStyle/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3200" b="1" dirty="0">
                <a:solidFill>
                  <a:srgbClr val="FF0066"/>
                </a:solidFill>
                <a:latin typeface="Calibri" pitchFamily="34" charset="0"/>
                <a:cs typeface="Calibri" pitchFamily="34" charset="0"/>
              </a:rPr>
              <a:t>In practice, it has been observed that </a:t>
            </a:r>
            <a:r>
              <a:rPr lang="en-US" sz="3200" b="1" u="sng" dirty="0">
                <a:solidFill>
                  <a:srgbClr val="FF0066"/>
                </a:solidFill>
                <a:latin typeface="Calibri" pitchFamily="34" charset="0"/>
                <a:cs typeface="Calibri" pitchFamily="34" charset="0"/>
              </a:rPr>
              <a:t>item-item</a:t>
            </a:r>
            <a:r>
              <a:rPr lang="en-US" sz="3200" b="1" dirty="0">
                <a:solidFill>
                  <a:srgbClr val="FF0066"/>
                </a:solidFill>
                <a:latin typeface="Calibri" pitchFamily="34" charset="0"/>
                <a:cs typeface="Calibri" pitchFamily="34" charset="0"/>
              </a:rPr>
              <a:t> often works better than user-user</a:t>
            </a:r>
          </a:p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3200" b="1" dirty="0">
                <a:latin typeface="Calibri" pitchFamily="34" charset="0"/>
                <a:cs typeface="Calibri" pitchFamily="34" charset="0"/>
              </a:rPr>
              <a:t>Why? </a:t>
            </a:r>
            <a:r>
              <a:rPr lang="en-US" sz="3000" dirty="0">
                <a:latin typeface="Calibri" pitchFamily="34" charset="0"/>
                <a:cs typeface="Calibri" pitchFamily="34" charset="0"/>
              </a:rPr>
              <a:t>Items are simpler, users have multiple tastes</a:t>
            </a:r>
            <a:endParaRPr lang="en-US" sz="3200" dirty="0">
              <a:latin typeface="Calibri" pitchFamily="34" charset="0"/>
              <a:cs typeface="Calibri" pitchFamily="34" charset="0"/>
            </a:endParaRP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endParaRPr kumimoji="0" lang="en-US" sz="3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926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Pros/Cons of Collaborative Filtering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534400" cy="55626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b="1" dirty="0">
                <a:solidFill>
                  <a:srgbClr val="008000"/>
                </a:solidFill>
              </a:rPr>
              <a:t>+ Works for any kind of item</a:t>
            </a:r>
          </a:p>
          <a:p>
            <a:pPr lvl="1" eaLnBrk="1" hangingPunct="1"/>
            <a:r>
              <a:rPr lang="en-US" dirty="0"/>
              <a:t>No feature selection needed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D60093"/>
                </a:solidFill>
              </a:rPr>
              <a:t>- Cold Start: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Need enough users in the system to find a match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D60093"/>
                </a:solidFill>
              </a:rPr>
              <a:t>- </a:t>
            </a:r>
            <a:r>
              <a:rPr lang="en-US" b="1" dirty="0" err="1">
                <a:solidFill>
                  <a:srgbClr val="D60093"/>
                </a:solidFill>
              </a:rPr>
              <a:t>Sparsity</a:t>
            </a:r>
            <a:r>
              <a:rPr lang="en-US" b="1" dirty="0">
                <a:solidFill>
                  <a:srgbClr val="D60093"/>
                </a:solidFill>
              </a:rPr>
              <a:t>: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user/ratings matrix is sparse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Hard to find users that have rated the same items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D60093"/>
                </a:solidFill>
              </a:rPr>
              <a:t>- First rater: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Cannot recommend an item that has not been </a:t>
            </a:r>
            <a:br>
              <a:rPr lang="en-US" dirty="0"/>
            </a:br>
            <a:r>
              <a:rPr lang="en-US" dirty="0"/>
              <a:t>previously rated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New items, Esoteric items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D60093"/>
                </a:solidFill>
              </a:rPr>
              <a:t>- Popularity bias: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Cannot recommend items to someone with </a:t>
            </a:r>
            <a:br>
              <a:rPr lang="en-US" dirty="0"/>
            </a:br>
            <a:r>
              <a:rPr lang="en-US" dirty="0"/>
              <a:t>unique taste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Tends to recommend popular items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802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Hybrid Methods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rgbClr val="0000FF"/>
                </a:solidFill>
              </a:rPr>
              <a:t>Implement two or more different recommenders and combine predictions</a:t>
            </a:r>
          </a:p>
          <a:p>
            <a:pPr lvl="1" eaLnBrk="1" hangingPunct="1"/>
            <a:r>
              <a:rPr lang="en-US" dirty="0"/>
              <a:t>Perhaps using a linear model</a:t>
            </a:r>
          </a:p>
          <a:p>
            <a:pPr lvl="8"/>
            <a:endParaRPr lang="en-US" dirty="0"/>
          </a:p>
          <a:p>
            <a:pPr eaLnBrk="1" hangingPunct="1"/>
            <a:r>
              <a:rPr lang="en-US" b="1" dirty="0">
                <a:solidFill>
                  <a:srgbClr val="FF0066"/>
                </a:solidFill>
              </a:rPr>
              <a:t>Add content-based methods to </a:t>
            </a:r>
            <a:br>
              <a:rPr lang="en-US" b="1" dirty="0">
                <a:solidFill>
                  <a:srgbClr val="FF0066"/>
                </a:solidFill>
              </a:rPr>
            </a:br>
            <a:r>
              <a:rPr lang="en-US" b="1" dirty="0">
                <a:solidFill>
                  <a:srgbClr val="FF0066"/>
                </a:solidFill>
              </a:rPr>
              <a:t>collaborative filtering</a:t>
            </a:r>
          </a:p>
          <a:p>
            <a:pPr lvl="1" eaLnBrk="1" hangingPunct="1"/>
            <a:r>
              <a:rPr lang="en-US" dirty="0"/>
              <a:t>Item profiles for new item problem</a:t>
            </a:r>
          </a:p>
          <a:p>
            <a:pPr lvl="1" eaLnBrk="1" hangingPunct="1"/>
            <a:r>
              <a:rPr lang="en-US" dirty="0"/>
              <a:t>Demographics to deal with new user problem</a:t>
            </a:r>
          </a:p>
          <a:p>
            <a:pPr lvl="1" eaLnBrk="1" hangingPunct="1">
              <a:buFont typeface="Wingdings" charset="2"/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424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 &amp; Practical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40664" y="2743200"/>
            <a:ext cx="8022336" cy="3810000"/>
          </a:xfrm>
        </p:spPr>
        <p:txBody>
          <a:bodyPr>
            <a:normAutofit/>
          </a:bodyPr>
          <a:lstStyle/>
          <a:p>
            <a:pPr marL="621792" indent="-457200"/>
            <a:r>
              <a:rPr lang="en-US" b="1" dirty="0"/>
              <a:t>- Evaluation</a:t>
            </a:r>
          </a:p>
          <a:p>
            <a:pPr marL="621792" indent="-457200"/>
            <a:r>
              <a:rPr lang="en-US" b="1" dirty="0"/>
              <a:t>- Error metrics</a:t>
            </a:r>
          </a:p>
          <a:p>
            <a:pPr marL="621792" indent="-457200"/>
            <a:r>
              <a:rPr lang="en-US" b="1" dirty="0"/>
              <a:t>- Complexity / Speed</a:t>
            </a:r>
          </a:p>
          <a:p>
            <a:pPr marL="621792" indent="-457200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292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ea typeface="굴림" charset="-127"/>
              </a:rPr>
              <a:t>Evaluation</a:t>
            </a:r>
          </a:p>
        </p:txBody>
      </p:sp>
      <p:graphicFrame>
        <p:nvGraphicFramePr>
          <p:cNvPr id="239805" name="Group 189"/>
          <p:cNvGraphicFramePr>
            <a:graphicFrameLocks noGrp="1"/>
          </p:cNvGraphicFramePr>
          <p:nvPr>
            <p:ph type="tbl" idx="4294967295"/>
          </p:nvPr>
        </p:nvGraphicFramePr>
        <p:xfrm>
          <a:off x="2705100" y="1828800"/>
          <a:ext cx="3390900" cy="4025900"/>
        </p:xfrm>
        <a:graphic>
          <a:graphicData uri="http://schemas.openxmlformats.org/drawingml/2006/table">
            <a:tbl>
              <a:tblPr/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298" name="Text Box 153"/>
          <p:cNvSpPr txBox="1">
            <a:spLocks noChangeArrowheads="1"/>
          </p:cNvSpPr>
          <p:nvPr/>
        </p:nvSpPr>
        <p:spPr bwMode="auto">
          <a:xfrm>
            <a:off x="3540125" y="1289050"/>
            <a:ext cx="11063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r>
              <a:rPr lang="en-US" altLang="ko-KR" sz="1800" b="1" dirty="0">
                <a:solidFill>
                  <a:srgbClr val="008000"/>
                </a:solidFill>
                <a:latin typeface="Verdana" pitchFamily="34" charset="0"/>
                <a:ea typeface="굴림" charset="-127"/>
              </a:rPr>
              <a:t>movies</a:t>
            </a:r>
          </a:p>
        </p:txBody>
      </p:sp>
      <p:sp>
        <p:nvSpPr>
          <p:cNvPr id="9299" name="Text Box 154"/>
          <p:cNvSpPr txBox="1">
            <a:spLocks noChangeArrowheads="1"/>
          </p:cNvSpPr>
          <p:nvPr/>
        </p:nvSpPr>
        <p:spPr bwMode="auto">
          <a:xfrm>
            <a:off x="1004888" y="3168650"/>
            <a:ext cx="1784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algn="ctr"/>
            <a:r>
              <a:rPr lang="en-US" altLang="ko-KR" sz="1800" b="1" dirty="0">
                <a:solidFill>
                  <a:srgbClr val="008000"/>
                </a:solidFill>
                <a:latin typeface="Verdana" pitchFamily="34" charset="0"/>
                <a:ea typeface="굴림" charset="-127"/>
              </a:rPr>
              <a:t>users</a:t>
            </a:r>
          </a:p>
        </p:txBody>
      </p:sp>
      <p:sp>
        <p:nvSpPr>
          <p:cNvPr id="9300" name="Line 155"/>
          <p:cNvSpPr>
            <a:spLocks noChangeShapeType="1"/>
          </p:cNvSpPr>
          <p:nvPr/>
        </p:nvSpPr>
        <p:spPr bwMode="auto">
          <a:xfrm>
            <a:off x="2413000" y="1866900"/>
            <a:ext cx="12700" cy="4000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301" name="Line 156"/>
          <p:cNvSpPr>
            <a:spLocks noChangeShapeType="1"/>
          </p:cNvSpPr>
          <p:nvPr/>
        </p:nvSpPr>
        <p:spPr bwMode="auto">
          <a:xfrm>
            <a:off x="2628900" y="1701800"/>
            <a:ext cx="3390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736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ea typeface="굴림" charset="-127"/>
              </a:rPr>
              <a:t>Evaluation</a:t>
            </a:r>
          </a:p>
        </p:txBody>
      </p:sp>
      <p:graphicFrame>
        <p:nvGraphicFramePr>
          <p:cNvPr id="243800" name="Group 88"/>
          <p:cNvGraphicFramePr>
            <a:graphicFrameLocks noGrp="1"/>
          </p:cNvGraphicFramePr>
          <p:nvPr>
            <p:ph type="tbl" idx="4294967295"/>
          </p:nvPr>
        </p:nvGraphicFramePr>
        <p:xfrm>
          <a:off x="2667000" y="1828800"/>
          <a:ext cx="3390900" cy="4025900"/>
        </p:xfrm>
        <a:graphic>
          <a:graphicData uri="http://schemas.openxmlformats.org/drawingml/2006/table">
            <a:tbl>
              <a:tblPr/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굴림" charset="-127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346" name="Text Box 82"/>
          <p:cNvSpPr txBox="1">
            <a:spLocks noChangeArrowheads="1"/>
          </p:cNvSpPr>
          <p:nvPr/>
        </p:nvSpPr>
        <p:spPr bwMode="auto">
          <a:xfrm>
            <a:off x="6483350" y="4126468"/>
            <a:ext cx="19239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r>
              <a:rPr lang="en-US" altLang="ko-KR" sz="1800" b="1" dirty="0">
                <a:solidFill>
                  <a:srgbClr val="0000FF"/>
                </a:solidFill>
                <a:latin typeface="Verdana" pitchFamily="34" charset="0"/>
                <a:ea typeface="굴림" charset="-127"/>
              </a:rPr>
              <a:t>Test Data Set</a:t>
            </a:r>
          </a:p>
        </p:txBody>
      </p:sp>
      <p:sp>
        <p:nvSpPr>
          <p:cNvPr id="11347" name="Text Box 83"/>
          <p:cNvSpPr txBox="1">
            <a:spLocks noChangeArrowheads="1"/>
          </p:cNvSpPr>
          <p:nvPr/>
        </p:nvSpPr>
        <p:spPr bwMode="auto">
          <a:xfrm>
            <a:off x="1004888" y="3168650"/>
            <a:ext cx="1784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algn="ctr"/>
            <a:r>
              <a:rPr lang="en-US" altLang="ko-KR" sz="1800" b="1" dirty="0">
                <a:solidFill>
                  <a:srgbClr val="008000"/>
                </a:solidFill>
                <a:latin typeface="Verdana" pitchFamily="34" charset="0"/>
                <a:ea typeface="굴림" charset="-127"/>
              </a:rPr>
              <a:t>users</a:t>
            </a:r>
          </a:p>
        </p:txBody>
      </p:sp>
      <p:sp>
        <p:nvSpPr>
          <p:cNvPr id="11348" name="Line 84"/>
          <p:cNvSpPr>
            <a:spLocks noChangeShapeType="1"/>
          </p:cNvSpPr>
          <p:nvPr/>
        </p:nvSpPr>
        <p:spPr bwMode="auto">
          <a:xfrm>
            <a:off x="2413000" y="1866900"/>
            <a:ext cx="12700" cy="4000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349" name="Line 85"/>
          <p:cNvSpPr>
            <a:spLocks noChangeShapeType="1"/>
          </p:cNvSpPr>
          <p:nvPr/>
        </p:nvSpPr>
        <p:spPr bwMode="auto">
          <a:xfrm>
            <a:off x="2628900" y="1701800"/>
            <a:ext cx="3390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350" name="Line 89"/>
          <p:cNvSpPr>
            <a:spLocks noChangeShapeType="1"/>
          </p:cNvSpPr>
          <p:nvPr/>
        </p:nvSpPr>
        <p:spPr bwMode="auto">
          <a:xfrm flipH="1">
            <a:off x="6121400" y="4457700"/>
            <a:ext cx="901700" cy="29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351" name="Text Box 90"/>
          <p:cNvSpPr txBox="1">
            <a:spLocks noChangeArrowheads="1"/>
          </p:cNvSpPr>
          <p:nvPr/>
        </p:nvSpPr>
        <p:spPr bwMode="auto">
          <a:xfrm>
            <a:off x="3552825" y="1289050"/>
            <a:ext cx="11063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r>
              <a:rPr lang="en-US" altLang="ko-KR" sz="1800" b="1" dirty="0">
                <a:solidFill>
                  <a:srgbClr val="008000"/>
                </a:solidFill>
                <a:latin typeface="Verdana" pitchFamily="34" charset="0"/>
                <a:ea typeface="굴림" charset="-127"/>
              </a:rPr>
              <a:t>movies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722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Evaluating Predictions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295400"/>
                <a:ext cx="8534400" cy="5410200"/>
              </a:xfrm>
            </p:spPr>
            <p:txBody>
              <a:bodyPr>
                <a:normAutofit fontScale="85000" lnSpcReduction="20000"/>
              </a:bodyPr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b="1" dirty="0">
                    <a:solidFill>
                      <a:srgbClr val="0000FF"/>
                    </a:solidFill>
                  </a:rPr>
                  <a:t>Compare predictions with known ratings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b="1" dirty="0"/>
                  <a:t>Root-mean-square error</a:t>
                </a:r>
                <a:r>
                  <a:rPr lang="en-US" dirty="0"/>
                  <a:t> (RMSE)</a:t>
                </a:r>
              </a:p>
              <a:p>
                <a:pPr lvl="2">
                  <a:lnSpc>
                    <a:spcPct val="90000"/>
                  </a:lnSpc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𝑥𝑖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/>
                                          </a:rPr>
                                          <m:t>𝑥𝑖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𝑥𝑖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𝒓</m:t>
                    </m:r>
                    <m:r>
                      <a:rPr lang="en-US" b="1" i="1" baseline="-25000" dirty="0" err="1" smtClean="0">
                        <a:latin typeface="Cambria Math"/>
                      </a:rPr>
                      <m:t>𝒙𝒊</m:t>
                    </m:r>
                  </m:oMath>
                </a14:m>
                <a:r>
                  <a:rPr lang="en-US" dirty="0"/>
                  <a:t> is predicted,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/>
                          </a:rPr>
                          <m:t>𝒓</m:t>
                        </m:r>
                      </m:e>
                      <m:sub>
                        <m:r>
                          <a:rPr lang="en-US" b="1" i="1" smtClean="0">
                            <a:latin typeface="Cambria Math"/>
                          </a:rPr>
                          <m:t>𝒙𝒊</m:t>
                        </m:r>
                      </m:sub>
                      <m:sup>
                        <m:r>
                          <a:rPr lang="en-US" b="1" i="1" smtClean="0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is the true rating of </a:t>
                </a:r>
                <a:r>
                  <a:rPr lang="en-US" b="1" i="1" dirty="0"/>
                  <a:t>x</a:t>
                </a:r>
                <a:r>
                  <a:rPr lang="en-US" dirty="0"/>
                  <a:t> on </a:t>
                </a:r>
                <a:r>
                  <a:rPr lang="en-US" b="1" i="1" dirty="0" err="1"/>
                  <a:t>i</a:t>
                </a:r>
                <a:endParaRPr lang="en-US" b="1" i="1" dirty="0"/>
              </a:p>
              <a:p>
                <a:pPr lvl="1"/>
                <a:r>
                  <a:rPr lang="en-US" b="1" dirty="0"/>
                  <a:t>Precision at top 10</a:t>
                </a:r>
                <a:r>
                  <a:rPr lang="en-US" dirty="0"/>
                  <a:t>: </a:t>
                </a:r>
              </a:p>
              <a:p>
                <a:pPr lvl="2"/>
                <a:r>
                  <a:rPr lang="en-US" dirty="0"/>
                  <a:t>% of those in top 10</a:t>
                </a:r>
              </a:p>
              <a:p>
                <a:pPr lvl="1"/>
                <a:r>
                  <a:rPr lang="en-US" b="1" dirty="0"/>
                  <a:t>Rank Correlation</a:t>
                </a:r>
                <a:r>
                  <a:rPr lang="en-US" dirty="0"/>
                  <a:t>: </a:t>
                </a:r>
              </a:p>
              <a:p>
                <a:pPr lvl="2"/>
                <a:r>
                  <a:rPr lang="en-US" dirty="0"/>
                  <a:t>Spearman’s </a:t>
                </a:r>
                <a:r>
                  <a:rPr lang="en-US" i="1" dirty="0"/>
                  <a:t>correlation</a:t>
                </a:r>
                <a:r>
                  <a:rPr lang="en-US" dirty="0"/>
                  <a:t> between system’s and user’s complete rankings</a:t>
                </a:r>
              </a:p>
              <a:p>
                <a:pPr lvl="8"/>
                <a:endParaRPr lang="en-US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b="1" dirty="0">
                    <a:solidFill>
                      <a:srgbClr val="FF0066"/>
                    </a:solidFill>
                  </a:rPr>
                  <a:t>Another approach: 0/1 model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b="1" dirty="0"/>
                  <a:t>Coverage:</a:t>
                </a:r>
              </a:p>
              <a:p>
                <a:pPr lvl="2" eaLnBrk="1" hangingPunct="1">
                  <a:lnSpc>
                    <a:spcPct val="90000"/>
                  </a:lnSpc>
                </a:pPr>
                <a:r>
                  <a:rPr lang="en-US" dirty="0"/>
                  <a:t>Number of items/users for which system can make predictions 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b="1" dirty="0"/>
                  <a:t>Precision:</a:t>
                </a:r>
              </a:p>
              <a:p>
                <a:pPr lvl="2" eaLnBrk="1" hangingPunct="1">
                  <a:lnSpc>
                    <a:spcPct val="90000"/>
                  </a:lnSpc>
                </a:pPr>
                <a:r>
                  <a:rPr lang="en-US" dirty="0"/>
                  <a:t>Accuracy of predictions 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b="1" dirty="0"/>
                  <a:t>Receiver operating characteristic</a:t>
                </a:r>
                <a:r>
                  <a:rPr lang="en-US" dirty="0"/>
                  <a:t> (ROC)</a:t>
                </a:r>
              </a:p>
              <a:p>
                <a:pPr lvl="2" eaLnBrk="1" hangingPunct="1">
                  <a:lnSpc>
                    <a:spcPct val="90000"/>
                  </a:lnSpc>
                </a:pPr>
                <a:r>
                  <a:rPr lang="en-US" dirty="0"/>
                  <a:t>Tradeoff curve between false positives and false negatives</a:t>
                </a:r>
              </a:p>
            </p:txBody>
          </p:sp>
        </mc:Choice>
        <mc:Fallback xmlns="">
          <p:sp>
            <p:nvSpPr>
              <p:cNvPr id="430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534400" cy="5410200"/>
              </a:xfrm>
              <a:blipFill rotWithShape="1">
                <a:blip r:embed="rId3"/>
                <a:stretch>
                  <a:fillRect t="-2142" r="-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40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Problems with Error Measures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rgbClr val="0000FF"/>
                </a:solidFill>
              </a:rPr>
              <a:t>Narrow focus on accuracy sometimes </a:t>
            </a:r>
            <a:br>
              <a:rPr lang="en-US" b="1" dirty="0">
                <a:solidFill>
                  <a:srgbClr val="0000FF"/>
                </a:solidFill>
              </a:rPr>
            </a:br>
            <a:r>
              <a:rPr lang="en-US" b="1" dirty="0">
                <a:solidFill>
                  <a:srgbClr val="0000FF"/>
                </a:solidFill>
              </a:rPr>
              <a:t>misses the point</a:t>
            </a:r>
          </a:p>
          <a:p>
            <a:pPr lvl="1" eaLnBrk="1" hangingPunct="1"/>
            <a:r>
              <a:rPr lang="en-US" dirty="0"/>
              <a:t>Prediction Diversity</a:t>
            </a:r>
          </a:p>
          <a:p>
            <a:pPr lvl="1" eaLnBrk="1" hangingPunct="1"/>
            <a:r>
              <a:rPr lang="en-US" dirty="0"/>
              <a:t>Prediction Context</a:t>
            </a:r>
          </a:p>
          <a:p>
            <a:pPr lvl="1" eaLnBrk="1" hangingPunct="1"/>
            <a:r>
              <a:rPr lang="en-US" dirty="0"/>
              <a:t>Order of predictions</a:t>
            </a:r>
          </a:p>
          <a:p>
            <a:pPr eaLnBrk="1" hangingPunct="1"/>
            <a:r>
              <a:rPr lang="en-US" b="1" dirty="0">
                <a:solidFill>
                  <a:srgbClr val="D60093"/>
                </a:solidFill>
              </a:rPr>
              <a:t>In practice, we care only to predict high ratings:</a:t>
            </a:r>
          </a:p>
          <a:p>
            <a:pPr lvl="1" eaLnBrk="1" hangingPunct="1"/>
            <a:r>
              <a:rPr lang="en-US" dirty="0"/>
              <a:t>RMSE might penalize a method that does well </a:t>
            </a:r>
            <a:br>
              <a:rPr lang="en-US" dirty="0"/>
            </a:br>
            <a:r>
              <a:rPr lang="en-US" dirty="0"/>
              <a:t>for high ratings and badly for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975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839200" cy="987552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Collaborative Filtering: Complexity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Expensive step is finding </a:t>
            </a:r>
            <a:r>
              <a:rPr lang="en-US" b="1" i="1" dirty="0"/>
              <a:t>k</a:t>
            </a:r>
            <a:r>
              <a:rPr lang="en-US" dirty="0"/>
              <a:t> most similar customers: </a:t>
            </a:r>
            <a:r>
              <a:rPr lang="en-US" b="1" dirty="0">
                <a:solidFill>
                  <a:srgbClr val="FF0066"/>
                </a:solidFill>
              </a:rPr>
              <a:t>O(|X|) </a:t>
            </a:r>
          </a:p>
          <a:p>
            <a:pPr eaLnBrk="1" hangingPunct="1"/>
            <a:r>
              <a:rPr lang="en-US" b="1" dirty="0">
                <a:solidFill>
                  <a:srgbClr val="0000FF"/>
                </a:solidFill>
              </a:rPr>
              <a:t>Too expensive to do at runtime</a:t>
            </a:r>
          </a:p>
          <a:p>
            <a:pPr lvl="1" eaLnBrk="1" hangingPunct="1"/>
            <a:r>
              <a:rPr lang="en-US" dirty="0"/>
              <a:t>Could pre-compute</a:t>
            </a:r>
          </a:p>
          <a:p>
            <a:pPr eaLnBrk="1" hangingPunct="1"/>
            <a:r>
              <a:rPr lang="en-US" dirty="0"/>
              <a:t>Naïve pre-computation takes time </a:t>
            </a:r>
            <a:r>
              <a:rPr lang="en-US" b="1" dirty="0"/>
              <a:t>O(k ·|X|)</a:t>
            </a:r>
          </a:p>
          <a:p>
            <a:pPr lvl="3"/>
            <a:r>
              <a:rPr lang="en-US"/>
              <a:t>X </a:t>
            </a:r>
            <a:r>
              <a:rPr lang="en-US" dirty="0"/>
              <a:t>… set of customers</a:t>
            </a:r>
          </a:p>
          <a:p>
            <a:r>
              <a:rPr lang="en-US" b="1" dirty="0">
                <a:solidFill>
                  <a:srgbClr val="008000"/>
                </a:solidFill>
              </a:rPr>
              <a:t>We already know how to do this!</a:t>
            </a:r>
          </a:p>
          <a:p>
            <a:pPr lvl="1"/>
            <a:r>
              <a:rPr lang="en-US" dirty="0"/>
              <a:t>Near-neighbor search in high dimensions (</a:t>
            </a:r>
            <a:r>
              <a:rPr lang="en-US" b="1" dirty="0"/>
              <a:t>LSH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Clustering</a:t>
            </a:r>
          </a:p>
          <a:p>
            <a:pPr lvl="1"/>
            <a:r>
              <a:rPr lang="en-US" dirty="0"/>
              <a:t>Dimensionality reduction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631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Tip: Add Data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66"/>
                </a:solidFill>
              </a:rPr>
              <a:t>Leverage all the data</a:t>
            </a:r>
          </a:p>
          <a:p>
            <a:pPr lvl="1"/>
            <a:r>
              <a:rPr lang="en-US" dirty="0"/>
              <a:t>Don’t try to reduce data size in an </a:t>
            </a:r>
            <a:br>
              <a:rPr lang="en-US" dirty="0"/>
            </a:br>
            <a:r>
              <a:rPr lang="en-US" dirty="0"/>
              <a:t>effort to make fancy algorithms work</a:t>
            </a:r>
          </a:p>
          <a:p>
            <a:pPr lvl="1"/>
            <a:r>
              <a:rPr lang="en-US" dirty="0"/>
              <a:t>Simple methods on large data do best</a:t>
            </a:r>
          </a:p>
          <a:p>
            <a:pPr lvl="8"/>
            <a:endParaRPr lang="en-US" dirty="0"/>
          </a:p>
          <a:p>
            <a:r>
              <a:rPr lang="en-US" b="1" dirty="0">
                <a:solidFill>
                  <a:srgbClr val="0000FF"/>
                </a:solidFill>
              </a:rPr>
              <a:t>Add more data</a:t>
            </a:r>
          </a:p>
          <a:p>
            <a:pPr lvl="1"/>
            <a:r>
              <a:rPr lang="en-US" dirty="0"/>
              <a:t>e.g., add IMDB data on genres</a:t>
            </a:r>
          </a:p>
          <a:p>
            <a:pPr lvl="8"/>
            <a:endParaRPr lang="en-US" dirty="0"/>
          </a:p>
          <a:p>
            <a:r>
              <a:rPr lang="en-US" b="1" dirty="0">
                <a:solidFill>
                  <a:srgbClr val="D60093"/>
                </a:solidFill>
              </a:rPr>
              <a:t>More data beats better algorithms</a:t>
            </a:r>
          </a:p>
          <a:p>
            <a:pPr>
              <a:buFont typeface="Wingdings" pitchFamily="1" charset="2"/>
              <a:buNone/>
            </a:pPr>
            <a:r>
              <a:rPr lang="en-US" sz="1600" b="1" dirty="0">
                <a:latin typeface="Courier New" pitchFamily="1" charset="0"/>
                <a:hlinkClick r:id="rId3"/>
              </a:rPr>
              <a:t>http://anand.typepad.com/datawocky/2008/03/more-data-usual.html</a:t>
            </a:r>
            <a:r>
              <a:rPr lang="en-US" sz="1600" b="1" dirty="0">
                <a:latin typeface="Courier New" pitchFamily="1" charset="0"/>
              </a:rPr>
              <a:t> 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482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TF_{ij} = \frac{f_{ij}}{\max_k f_{kj}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6"/>
  <p:tag name="PICTUREFILESIZE" val="96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IDF_i = \log\frac{N}{n_i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30"/>
  <p:tag name="PICTUREFILESIZE" val="7357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>
        <a:ln w="38100">
          <a:solidFill>
            <a:srgbClr val="008000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spDef>
    <a:lnDef>
      <a:spPr>
        <a:ln w="2857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29207</TotalTime>
  <Words>2757</Words>
  <Application>Microsoft Office PowerPoint</Application>
  <PresentationFormat>On-screen Show (4:3)</PresentationFormat>
  <Paragraphs>759</Paragraphs>
  <Slides>41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3" baseType="lpstr">
      <vt:lpstr>Arial</vt:lpstr>
      <vt:lpstr>Calibri</vt:lpstr>
      <vt:lpstr>Cambria Math</vt:lpstr>
      <vt:lpstr>cmsy10</vt:lpstr>
      <vt:lpstr>Corbel</vt:lpstr>
      <vt:lpstr>Courier New</vt:lpstr>
      <vt:lpstr>Palatino Linotype</vt:lpstr>
      <vt:lpstr>Verdana</vt:lpstr>
      <vt:lpstr>Wingdings</vt:lpstr>
      <vt:lpstr>Wingdings 2</vt:lpstr>
      <vt:lpstr>Module</vt:lpstr>
      <vt:lpstr>Equation</vt:lpstr>
      <vt:lpstr>PowerPoint Presentation</vt:lpstr>
      <vt:lpstr>Recommendations </vt:lpstr>
      <vt:lpstr>From Scarcity to Abundance</vt:lpstr>
      <vt:lpstr>Sidenote: The Long Tail</vt:lpstr>
      <vt:lpstr>Physical vs. Online</vt:lpstr>
      <vt:lpstr>Types of Recommendations</vt:lpstr>
      <vt:lpstr>Formal Model</vt:lpstr>
      <vt:lpstr>Utility Matrix</vt:lpstr>
      <vt:lpstr>Key Problems</vt:lpstr>
      <vt:lpstr>(1) Gathering Ratings</vt:lpstr>
      <vt:lpstr>(2) Extrapolating Utilities</vt:lpstr>
      <vt:lpstr>Content-based  Recommender Systems</vt:lpstr>
      <vt:lpstr>Content-based Recommendations</vt:lpstr>
      <vt:lpstr>Plan of Action</vt:lpstr>
      <vt:lpstr>Item Profiles</vt:lpstr>
      <vt:lpstr>Sidenote: TF-IDF</vt:lpstr>
      <vt:lpstr>User Profiles and Prediction</vt:lpstr>
      <vt:lpstr>Pros: Content-based Approach</vt:lpstr>
      <vt:lpstr>Cons: Content-based Approach</vt:lpstr>
      <vt:lpstr> Collaborative Filtering</vt:lpstr>
      <vt:lpstr>Collaborative Filtering</vt:lpstr>
      <vt:lpstr>Finding “Similar” Users</vt:lpstr>
      <vt:lpstr>Similarity Metric</vt:lpstr>
      <vt:lpstr>Rating Predictions</vt:lpstr>
      <vt:lpstr>Item-Item Collaborative Filtering</vt:lpstr>
      <vt:lpstr>Item-Item CF (|N|=2)</vt:lpstr>
      <vt:lpstr>Item-Item CF (|N|=2)</vt:lpstr>
      <vt:lpstr>Item-Item CF (|N|=2)</vt:lpstr>
      <vt:lpstr>Item-Item CF (|N|=2)</vt:lpstr>
      <vt:lpstr>Item-Item CF (|N|=2)</vt:lpstr>
      <vt:lpstr>CF: Common Practice</vt:lpstr>
      <vt:lpstr>Item-Item vs. User-User</vt:lpstr>
      <vt:lpstr>Pros/Cons of Collaborative Filtering</vt:lpstr>
      <vt:lpstr>Hybrid Methods</vt:lpstr>
      <vt:lpstr>Remarks &amp; Practical Tips</vt:lpstr>
      <vt:lpstr>Evaluation</vt:lpstr>
      <vt:lpstr>Evaluation</vt:lpstr>
      <vt:lpstr>Evaluating Predictions</vt:lpstr>
      <vt:lpstr>Problems with Error Measures</vt:lpstr>
      <vt:lpstr>Collaborative Filtering: Complexity</vt:lpstr>
      <vt:lpstr>Tip: Add Data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jure</dc:creator>
  <cp:lastModifiedBy>Dr. Mohammad Rezwanul Huq</cp:lastModifiedBy>
  <cp:revision>1523</cp:revision>
  <cp:lastPrinted>2012-01-25T16:54:23Z</cp:lastPrinted>
  <dcterms:created xsi:type="dcterms:W3CDTF">2009-06-12T17:14:38Z</dcterms:created>
  <dcterms:modified xsi:type="dcterms:W3CDTF">2022-10-14T02:30:04Z</dcterms:modified>
</cp:coreProperties>
</file>