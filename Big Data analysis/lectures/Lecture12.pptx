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3"/>
  </p:notesMasterIdLst>
  <p:handoutMasterIdLst>
    <p:handoutMasterId r:id="rId34"/>
  </p:handoutMasterIdLst>
  <p:sldIdLst>
    <p:sldId id="388" r:id="rId2"/>
    <p:sldId id="258" r:id="rId3"/>
    <p:sldId id="259" r:id="rId4"/>
    <p:sldId id="286" r:id="rId5"/>
    <p:sldId id="260" r:id="rId6"/>
    <p:sldId id="261" r:id="rId7"/>
    <p:sldId id="389" r:id="rId8"/>
    <p:sldId id="264" r:id="rId9"/>
    <p:sldId id="265" r:id="rId10"/>
    <p:sldId id="284" r:id="rId11"/>
    <p:sldId id="390" r:id="rId12"/>
    <p:sldId id="324" r:id="rId13"/>
    <p:sldId id="326" r:id="rId14"/>
    <p:sldId id="297" r:id="rId15"/>
    <p:sldId id="298" r:id="rId16"/>
    <p:sldId id="299" r:id="rId17"/>
    <p:sldId id="300" r:id="rId18"/>
    <p:sldId id="301" r:id="rId19"/>
    <p:sldId id="302" r:id="rId20"/>
    <p:sldId id="303" r:id="rId21"/>
    <p:sldId id="304" r:id="rId22"/>
    <p:sldId id="391" r:id="rId23"/>
    <p:sldId id="327" r:id="rId24"/>
    <p:sldId id="307" r:id="rId25"/>
    <p:sldId id="308" r:id="rId26"/>
    <p:sldId id="309" r:id="rId27"/>
    <p:sldId id="310" r:id="rId28"/>
    <p:sldId id="311" r:id="rId29"/>
    <p:sldId id="312" r:id="rId30"/>
    <p:sldId id="313" r:id="rId31"/>
    <p:sldId id="328" r:id="rId3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0093"/>
    <a:srgbClr val="008000"/>
    <a:srgbClr val="0000FF"/>
    <a:srgbClr val="FF000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89" autoAdjust="0"/>
    <p:restoredTop sz="69094" autoAdjust="0"/>
  </p:normalViewPr>
  <p:slideViewPr>
    <p:cSldViewPr>
      <p:cViewPr varScale="1">
        <p:scale>
          <a:sx n="67" d="100"/>
          <a:sy n="67" d="100"/>
        </p:scale>
        <p:origin x="1464" y="72"/>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D3E28C4F-4FE9-4D22-93D8-487A4D01D983}" type="datetimeFigureOut">
              <a:rPr lang="en-US" smtClean="0"/>
              <a:pPr/>
              <a:t>1/5/2022</a:t>
            </a:fld>
            <a:endParaRPr lang="en-US"/>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E18CB36-612C-4E4A-AC83-E89476AEC2BF}" type="datetimeFigureOut">
              <a:rPr lang="en-US" smtClean="0"/>
              <a:pPr/>
              <a:t>1/5/2022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fundamental difference between a data stream</a:t>
            </a:r>
            <a:r>
              <a:rPr lang="en-US" baseline="0" dirty="0"/>
              <a:t> and a database is who controls how data enters the system.</a:t>
            </a:r>
          </a:p>
          <a:p>
            <a:endParaRPr lang="en-US" baseline="0" dirty="0"/>
          </a:p>
          <a:p>
            <a:r>
              <a:rPr lang="en-US" baseline="0" dirty="0"/>
              <a:t>Click 1</a:t>
            </a:r>
          </a:p>
          <a:p>
            <a:r>
              <a:rPr lang="en-US" baseline="0" dirty="0"/>
              <a:t>In a database system, the staff associated with management of the database generally insert data into the system, using a bulk loader, or even explicit SQL INSERT commands.  The staff can decide how much data to load into the system, when, and how fast.</a:t>
            </a:r>
          </a:p>
          <a:p>
            <a:endParaRPr lang="en-US" baseline="0" dirty="0"/>
          </a:p>
          <a:p>
            <a:r>
              <a:rPr lang="en-US" baseline="0" dirty="0"/>
              <a:t>Click 2</a:t>
            </a:r>
          </a:p>
          <a:p>
            <a:r>
              <a:rPr lang="en-US" baseline="0" dirty="0"/>
              <a:t>In a streaming environment, the management cannot control the rate of input.  For example, the search queries that arrive at Google are generated by random people around the world, at their pace.  Google staff have no control over the arrival of queries; they have to architect their system to deal with whatever data rate there is.</a:t>
            </a:r>
          </a:p>
          <a:p>
            <a:endParaRPr lang="en-US" baseline="0" dirty="0"/>
          </a:p>
          <a:p>
            <a:r>
              <a:rPr lang="en-US" baseline="0" dirty="0"/>
              <a:t>You might think a transaction-processing system, like </a:t>
            </a:r>
            <a:r>
              <a:rPr lang="en-US" baseline="0" dirty="0" err="1"/>
              <a:t>Walmart</a:t>
            </a:r>
            <a:r>
              <a:rPr lang="en-US" baseline="0" dirty="0"/>
              <a:t> recording all the purchases at all its cash registers everywhere as a stream, and in a sense it is.  But </a:t>
            </a:r>
            <a:r>
              <a:rPr lang="en-US" baseline="0" dirty="0" err="1"/>
              <a:t>Walmart</a:t>
            </a:r>
            <a:r>
              <a:rPr lang="en-US" baseline="0" dirty="0"/>
              <a:t> has a large but fixed number of registers, and checkout clerks can press the keys just so fast.  So there is actually a pretty well defined limit on how fast data arrives in such a system.</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a:t>
            </a:fld>
            <a:endParaRPr lang="en-US"/>
          </a:p>
        </p:txBody>
      </p:sp>
    </p:spTree>
    <p:extLst>
      <p:ext uri="{BB962C8B-B14F-4D97-AF65-F5344CB8AC3E}">
        <p14:creationId xmlns:p14="http://schemas.microsoft.com/office/powerpoint/2010/main" val="2699824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the elements of the data-stream model of computation.</a:t>
            </a:r>
          </a:p>
          <a:p>
            <a:endParaRPr lang="en-US" dirty="0"/>
          </a:p>
          <a:p>
            <a:r>
              <a:rPr lang="en-US" dirty="0"/>
              <a:t>Click 1</a:t>
            </a:r>
          </a:p>
          <a:p>
            <a:r>
              <a:rPr lang="en-US" dirty="0"/>
              <a:t>First, we assume inputs are tuples, just as in</a:t>
            </a:r>
            <a:r>
              <a:rPr lang="en-US" baseline="0" dirty="0"/>
              <a:t> a database system, although in many algorithms we shall assume input elements are tuples of a very simple kind, like bits or integers.  We assume there are one or more input ports at which data arrives.  Generally, we assume the arrival rate is “high,” although we’ll be a little vague about how high is high.</a:t>
            </a:r>
          </a:p>
          <a:p>
            <a:endParaRPr lang="en-US" baseline="0" dirty="0"/>
          </a:p>
          <a:p>
            <a:r>
              <a:rPr lang="en-US" baseline="0" dirty="0"/>
              <a:t>Click 2</a:t>
            </a:r>
          </a:p>
          <a:p>
            <a:r>
              <a:rPr lang="en-US" baseline="0" dirty="0"/>
              <a:t>The important property of the arrival rate is that it is fast enough that it is not feasible for the system to store all the arriving data and make it instantaneously available for any query we might want to perform on the data.</a:t>
            </a:r>
          </a:p>
          <a:p>
            <a:endParaRPr lang="en-US" baseline="0" dirty="0"/>
          </a:p>
          <a:p>
            <a:r>
              <a:rPr lang="en-US" baseline="0" dirty="0"/>
              <a:t>Click 3</a:t>
            </a:r>
          </a:p>
          <a:p>
            <a:r>
              <a:rPr lang="en-US" baseline="0" dirty="0"/>
              <a:t>As a result, the interesting algorithms for data streams are generally methods that use a limited amount of storage – perhaps only main memory – and still enable us to answer important queries about the content of the stream.</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a:t>
            </a:fld>
            <a:endParaRPr lang="en-US"/>
          </a:p>
        </p:txBody>
      </p:sp>
    </p:spTree>
    <p:extLst>
      <p:ext uri="{BB962C8B-B14F-4D97-AF65-F5344CB8AC3E}">
        <p14:creationId xmlns:p14="http://schemas.microsoft.com/office/powerpoint/2010/main" val="12114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Streams</a:t>
            </a:r>
            <a:r>
              <a:rPr lang="en-US" baseline="0" dirty="0"/>
              <a:t> can be queried in two modes.</a:t>
            </a:r>
          </a:p>
          <a:p>
            <a:endParaRPr lang="en-US" baseline="0" dirty="0"/>
          </a:p>
          <a:p>
            <a:r>
              <a:rPr lang="en-US" baseline="0" dirty="0"/>
              <a:t>Click 1</a:t>
            </a:r>
          </a:p>
          <a:p>
            <a:r>
              <a:rPr lang="en-US" baseline="0" dirty="0"/>
              <a:t>The first is similar to the way we query a database system.  You ask a query once and expect an answer about the state of the system at the time you asked the query.</a:t>
            </a:r>
          </a:p>
          <a:p>
            <a:endParaRPr lang="en-US" baseline="0" dirty="0"/>
          </a:p>
          <a:p>
            <a:r>
              <a:rPr lang="en-US" baseline="0" dirty="0"/>
              <a:t>Click 2</a:t>
            </a:r>
          </a:p>
          <a:p>
            <a:r>
              <a:rPr lang="en-US" baseline="0" dirty="0"/>
              <a:t>For example, what is the maximum value seen in the stream from its beginning to the exact time the query is asked.  This question can be answered by keeping a single value, the maximum, and updating it if necessary, each time a new stream element arrives.</a:t>
            </a:r>
          </a:p>
          <a:p>
            <a:endParaRPr lang="en-US" baseline="0" dirty="0"/>
          </a:p>
          <a:p>
            <a:r>
              <a:rPr lang="en-US" baseline="0" dirty="0"/>
              <a:t>Click 3</a:t>
            </a:r>
          </a:p>
          <a:p>
            <a:r>
              <a:rPr lang="en-US" baseline="0" dirty="0"/>
              <a:t>The other kind of query is called a standing query.  You write the query once, and you expect the system to make the answer available at all times, perhaps outputting a new value each time the answer changes.</a:t>
            </a:r>
          </a:p>
          <a:p>
            <a:endParaRPr lang="en-US" baseline="0" dirty="0"/>
          </a:p>
          <a:p>
            <a:r>
              <a:rPr lang="en-US" baseline="0" dirty="0"/>
              <a:t>Click 4</a:t>
            </a:r>
          </a:p>
          <a:p>
            <a:r>
              <a:rPr lang="en-US" baseline="0" dirty="0"/>
              <a:t>For instance, a standing query might ask for a report of each stream element that is larger than any element seen so far on the stream.  We can answer this one by keeping one value – the maximum.  Each new element is compared with the max, and if it is larger, we do two things: output the value and update the max to be that value.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4</a:t>
            </a:fld>
            <a:endParaRPr lang="en-US"/>
          </a:p>
        </p:txBody>
      </p:sp>
    </p:spTree>
    <p:extLst>
      <p:ext uri="{BB962C8B-B14F-4D97-AF65-F5344CB8AC3E}">
        <p14:creationId xmlns:p14="http://schemas.microsoft.com/office/powerpoint/2010/main" val="2043453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Here’s a very simple outline of what a stream-management</a:t>
            </a:r>
            <a:r>
              <a:rPr lang="en-US" baseline="0" dirty="0"/>
              <a:t> system looks like.  First, there is a processor, which is the software that executes the queries (POINT).   The “processor” could, of course, be a large number of processors working in concert.  The processor may store some “standing queries” (POINT) and also allow ad-hoc queries to be issued by a user (POINT).</a:t>
            </a:r>
          </a:p>
          <a:p>
            <a:endParaRPr lang="en-US" baseline="0" dirty="0"/>
          </a:p>
          <a:p>
            <a:r>
              <a:rPr lang="en-US" baseline="0" dirty="0"/>
              <a:t>Click 1</a:t>
            </a:r>
          </a:p>
          <a:p>
            <a:r>
              <a:rPr lang="en-US" baseline="0" dirty="0"/>
              <a:t>We see several streams entering the system (POINT).  Conventionally, we’ll assume that the element at the right end of the stream has arrived most recently, and time goes backward to the left.  That is, the further left, the earlier the element entered the system.</a:t>
            </a:r>
          </a:p>
          <a:p>
            <a:endParaRPr lang="en-US" baseline="0" dirty="0"/>
          </a:p>
          <a:p>
            <a:r>
              <a:rPr lang="en-US" baseline="0" dirty="0"/>
              <a:t>Click 2</a:t>
            </a:r>
          </a:p>
          <a:p>
            <a:r>
              <a:rPr lang="en-US" baseline="0" dirty="0"/>
              <a:t>The system makes outputs in response to the standing queries and the ad-hoc queries.</a:t>
            </a:r>
          </a:p>
          <a:p>
            <a:endParaRPr lang="en-US" baseline="0" dirty="0"/>
          </a:p>
          <a:p>
            <a:r>
              <a:rPr lang="en-US" baseline="0" dirty="0"/>
              <a:t>Click 3</a:t>
            </a:r>
          </a:p>
          <a:p>
            <a:r>
              <a:rPr lang="en-US" baseline="0" dirty="0"/>
              <a:t>There is usually archival storage.  This storage is so massive that it is not possible to do more than store the input streams.  We cannot assume the archival storage is architected like a database system, where by using appropriate indexes or other tools, one can answer queries efficiently from that data.  We only know that if we had to reconstruct the history of the streams we could, perhaps taking a long time to do so.</a:t>
            </a:r>
          </a:p>
          <a:p>
            <a:endParaRPr lang="en-US" baseline="0" dirty="0"/>
          </a:p>
          <a:p>
            <a:r>
              <a:rPr lang="en-US" baseline="0" dirty="0"/>
              <a:t>Click 4</a:t>
            </a:r>
          </a:p>
          <a:p>
            <a:r>
              <a:rPr lang="en-US" baseline="0" dirty="0"/>
              <a:t>There is a limited working storage, which might be main memory, flash storage, or even disk.  But we assume it holds essential parts of the input streams in a way that supports fast querying.</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5</a:t>
            </a:fld>
            <a:endParaRPr lang="en-US"/>
          </a:p>
        </p:txBody>
      </p:sp>
    </p:spTree>
    <p:extLst>
      <p:ext uri="{BB962C8B-B14F-4D97-AF65-F5344CB8AC3E}">
        <p14:creationId xmlns:p14="http://schemas.microsoft.com/office/powerpoint/2010/main" val="1531513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We’re going to list some examples of the sorts</a:t>
            </a:r>
            <a:r>
              <a:rPr lang="en-US" baseline="0" dirty="0"/>
              <a:t> of streams that it could be useful to mine.</a:t>
            </a:r>
          </a:p>
          <a:p>
            <a:endParaRPr lang="en-US" baseline="0" dirty="0"/>
          </a:p>
          <a:p>
            <a:r>
              <a:rPr lang="en-US" baseline="0" dirty="0"/>
              <a:t>Click 1</a:t>
            </a:r>
          </a:p>
          <a:p>
            <a:r>
              <a:rPr lang="en-US" baseline="0" dirty="0"/>
              <a:t>One example is the query stream at a search engine like Google.  For example, Google Trends wants to find out which search queries are much more frequent today than yesterday.  These queries represent issues of rising public interest.  Answering such a standing query requires looking back at most 2 days in the query stream.  That’s quite a lot, perhaps billions of queries, but it’s tiny compared with the stream of all Google queries ever issued.</a:t>
            </a:r>
          </a:p>
          <a:p>
            <a:endParaRPr lang="en-US" baseline="0" dirty="0"/>
          </a:p>
          <a:p>
            <a:r>
              <a:rPr lang="en-US" baseline="0" dirty="0"/>
              <a:t>Click 2</a:t>
            </a:r>
          </a:p>
          <a:p>
            <a:r>
              <a:rPr lang="en-US" baseline="0" dirty="0"/>
              <a:t>Click streams are another source of very rapid input.  A site like Yahoo! has many millions of users each day, and the average user probably clicks a dozen times or more.  A question worth answering is which URL’s are getting clicked on a lot more this past hour than normally.    Interestingly, while some of these events reflect breaking news stories, many also represent a broken link.  When people can’t get the page they want, they often click on it several times before giving up.  So sites mine their click streams to detect broken links.</a:t>
            </a:r>
          </a:p>
          <a:p>
            <a:endParaRPr lang="en-US" baseline="0" dirty="0"/>
          </a:p>
          <a:p>
            <a:r>
              <a:rPr lang="en-US" baseline="0" dirty="0"/>
              <a:t>Click 3</a:t>
            </a:r>
          </a:p>
          <a:p>
            <a:r>
              <a:rPr lang="en-US" baseline="0" dirty="0"/>
              <a:t>We can view a switch in the middle of the Internet as processing streams – one stream for each port.  The elements of the stream are IP packets, typically.   The switch can store a lot of information about packets, including the response speed of different network links and the points of origin and destination of the packets.  This information could be used to advise the switch on the best routing for a packet, or to detect a denial-of-service attack.</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6</a:t>
            </a:fld>
            <a:endParaRPr lang="en-US"/>
          </a:p>
        </p:txBody>
      </p:sp>
    </p:spTree>
    <p:extLst>
      <p:ext uri="{BB962C8B-B14F-4D97-AF65-F5344CB8AC3E}">
        <p14:creationId xmlns:p14="http://schemas.microsoft.com/office/powerpoint/2010/main" val="9141073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The concept of the sliding window is essential for many of the algorithms we are</a:t>
            </a:r>
            <a:r>
              <a:rPr lang="en-US" baseline="0" dirty="0"/>
              <a:t> going to discuss.</a:t>
            </a:r>
          </a:p>
          <a:p>
            <a:endParaRPr lang="en-US" baseline="0" dirty="0"/>
          </a:p>
          <a:p>
            <a:r>
              <a:rPr lang="en-US" baseline="0" dirty="0"/>
              <a:t>Click 1</a:t>
            </a:r>
          </a:p>
          <a:p>
            <a:r>
              <a:rPr lang="en-US" baseline="0" dirty="0"/>
              <a:t>The simplest form of window is defined by a fixed length N and consists of the most recent N elements received on a stream.  Notice that each time a new element is received, the oldest element falls out of the window.</a:t>
            </a:r>
          </a:p>
          <a:p>
            <a:endParaRPr lang="en-US" baseline="0" dirty="0"/>
          </a:p>
          <a:p>
            <a:r>
              <a:rPr lang="en-US" baseline="0" dirty="0"/>
              <a:t>Click 2</a:t>
            </a:r>
          </a:p>
          <a:p>
            <a:r>
              <a:rPr lang="en-US" baseline="0" dirty="0"/>
              <a:t>A variation is to define the window as all the elements that have arrived within some time interval T extending into the past – say the last hour.  This sort of window has a storage requirement that is not fixed, since the number of arrivals within a time T can vary.  In comparison, defining the window to hold a fixed number of elements lets us rely on needing storage space only up to a certain limit.</a:t>
            </a:r>
          </a:p>
          <a:p>
            <a:endParaRPr lang="en-US" baseline="0" dirty="0"/>
          </a:p>
          <a:p>
            <a:r>
              <a:rPr lang="en-US" baseline="0" dirty="0"/>
              <a:t>Click 3</a:t>
            </a:r>
          </a:p>
          <a:p>
            <a:r>
              <a:rPr lang="en-US" baseline="0" dirty="0"/>
              <a:t>The interesting case is when we are using a window consisting of the last N stream elements, but N is so large, we cannot store N elements in main memory.</a:t>
            </a:r>
          </a:p>
          <a:p>
            <a:endParaRPr lang="en-US" baseline="0" dirty="0"/>
          </a:p>
          <a:p>
            <a:r>
              <a:rPr lang="en-US" baseline="0" dirty="0"/>
              <a:t>Click 4</a:t>
            </a:r>
          </a:p>
          <a:p>
            <a:r>
              <a:rPr lang="en-US" baseline="0" dirty="0"/>
              <a:t>While we have options to increase the size of main memory, use many compute nodes to handle one window, or use disk in some cases, we also need to consider the case where there are many streams, perhaps millions, arriving at the same stream processor.  In that case, N does not have to be too large before we cannot store all the windows in a way that allows us to get exact answers to queries about the contents of the windows.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8</a:t>
            </a:fld>
            <a:endParaRPr lang="en-US"/>
          </a:p>
        </p:txBody>
      </p:sp>
    </p:spTree>
    <p:extLst>
      <p:ext uri="{BB962C8B-B14F-4D97-AF65-F5344CB8AC3E}">
        <p14:creationId xmlns:p14="http://schemas.microsoft.com/office/powerpoint/2010/main" val="3611618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little picture</a:t>
            </a:r>
            <a:r>
              <a:rPr lang="en-US" baseline="0" dirty="0"/>
              <a:t> of a stream and a window of length 6.  Initially, the stream has arrived up to this point j (POINT).  The elements k, l, and so on, will arrive in the future.</a:t>
            </a:r>
          </a:p>
          <a:p>
            <a:endParaRPr lang="en-US" baseline="0" dirty="0"/>
          </a:p>
          <a:p>
            <a:r>
              <a:rPr lang="en-US" baseline="0" dirty="0"/>
              <a:t>Click 1</a:t>
            </a:r>
          </a:p>
          <a:p>
            <a:r>
              <a:rPr lang="en-US" baseline="0" dirty="0"/>
              <a:t>Now, k arrives.  The oldest element, s, is no longer part of the window, which continues to hold exactly 6 elements, as it always will.</a:t>
            </a:r>
          </a:p>
          <a:p>
            <a:endParaRPr lang="en-US" baseline="0" dirty="0"/>
          </a:p>
          <a:p>
            <a:r>
              <a:rPr lang="en-US" baseline="0" dirty="0"/>
              <a:t>Click 2</a:t>
            </a:r>
          </a:p>
          <a:p>
            <a:r>
              <a:rPr lang="en-US" baseline="0" dirty="0"/>
              <a:t>Now, “ell” arrives, and d falls out of the window.</a:t>
            </a:r>
          </a:p>
          <a:p>
            <a:endParaRPr lang="en-US" baseline="0" dirty="0"/>
          </a:p>
          <a:p>
            <a:r>
              <a:rPr lang="en-US" baseline="0" dirty="0"/>
              <a:t>Click 3</a:t>
            </a:r>
          </a:p>
          <a:p>
            <a:r>
              <a:rPr lang="en-US" baseline="0" dirty="0"/>
              <a:t>And z arrives, causing f to be dropped from the window.</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9</a:t>
            </a:fld>
            <a:endParaRPr lang="en-US"/>
          </a:p>
        </p:txBody>
      </p:sp>
    </p:spTree>
    <p:extLst>
      <p:ext uri="{BB962C8B-B14F-4D97-AF65-F5344CB8AC3E}">
        <p14:creationId xmlns:p14="http://schemas.microsoft.com/office/powerpoint/2010/main" val="3962933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Let’s take a really simple example.</a:t>
            </a:r>
          </a:p>
          <a:p>
            <a:endParaRPr lang="en-US" dirty="0"/>
          </a:p>
          <a:p>
            <a:r>
              <a:rPr lang="en-US" dirty="0"/>
              <a:t>Click 1</a:t>
            </a:r>
          </a:p>
          <a:p>
            <a:r>
              <a:rPr lang="en-US" dirty="0"/>
              <a:t>We have a stream of integers.</a:t>
            </a:r>
          </a:p>
          <a:p>
            <a:endParaRPr lang="en-US" dirty="0"/>
          </a:p>
          <a:p>
            <a:r>
              <a:rPr lang="en-US" dirty="0"/>
              <a:t>Click 2</a:t>
            </a:r>
          </a:p>
          <a:p>
            <a:r>
              <a:rPr lang="en-US" dirty="0"/>
              <a:t>The window is of size N, that is,</a:t>
            </a:r>
            <a:r>
              <a:rPr lang="en-US" baseline="0" dirty="0"/>
              <a:t> the window will hold the N most recent integers in the stream.</a:t>
            </a:r>
          </a:p>
          <a:p>
            <a:endParaRPr lang="en-US" baseline="0" dirty="0"/>
          </a:p>
          <a:p>
            <a:r>
              <a:rPr lang="en-US" baseline="0" dirty="0"/>
              <a:t>Click 3</a:t>
            </a:r>
          </a:p>
          <a:p>
            <a:r>
              <a:rPr lang="en-US" baseline="0" dirty="0"/>
              <a:t>We want the system to be able to answer one standing query: what is the average of the elements in the window.</a:t>
            </a:r>
          </a:p>
          <a:p>
            <a:endParaRPr lang="en-US" baseline="0" dirty="0"/>
          </a:p>
          <a:p>
            <a:r>
              <a:rPr lang="en-US" baseline="0" dirty="0"/>
              <a:t>Click 4</a:t>
            </a:r>
          </a:p>
          <a:p>
            <a:r>
              <a:rPr lang="en-US" baseline="0" dirty="0"/>
              <a:t>Often, we imagine that a stream extends infinitely into the past, so we don’t worry about what happens before there have been enough arrivals to fill the window.  However, realistically, we have to get started somehow.  So let’s store the first N inputs as they arrive, and maintain the sum and count of elements seen so far, until the count reaches N.  The average is the sum divided by the count at any point.</a:t>
            </a:r>
          </a:p>
          <a:p>
            <a:endParaRPr lang="en-US" baseline="0" dirty="0"/>
          </a:p>
          <a:p>
            <a:r>
              <a:rPr lang="en-US" baseline="0" dirty="0"/>
              <a:t>Click 5</a:t>
            </a:r>
          </a:p>
          <a:p>
            <a:r>
              <a:rPr lang="en-US" baseline="0" dirty="0"/>
              <a:t>Now, suppose we have our window full, and it consists of the most recent N elements.  We also store the average of these elements; that average is in the local storage but it not part of the window.  Suppose a new element </a:t>
            </a:r>
            <a:r>
              <a:rPr lang="en-US" baseline="0" dirty="0" err="1"/>
              <a:t>i</a:t>
            </a:r>
            <a:r>
              <a:rPr lang="en-US" baseline="0" dirty="0"/>
              <a:t> arrives.  The oldest element j in the window will fall out of the window.  Thus, the change in the average is (</a:t>
            </a:r>
            <a:r>
              <a:rPr lang="en-US" baseline="0" dirty="0" err="1"/>
              <a:t>i</a:t>
            </a:r>
            <a:r>
              <a:rPr lang="en-US" baseline="0" dirty="0"/>
              <a:t>-j)/N (POINT).  </a:t>
            </a:r>
            <a:r>
              <a:rPr lang="en-US" baseline="0" dirty="0" err="1"/>
              <a:t>i</a:t>
            </a:r>
            <a:r>
              <a:rPr lang="en-US" baseline="0" dirty="0"/>
              <a:t>/N accounts for the contribution </a:t>
            </a:r>
            <a:r>
              <a:rPr lang="en-US" baseline="0" dirty="0" err="1"/>
              <a:t>i</a:t>
            </a:r>
            <a:r>
              <a:rPr lang="en-US" baseline="0" dirty="0"/>
              <a:t> makes to the average, and –j/N accounts for the fact that j no longer contributes to the average.</a:t>
            </a:r>
          </a:p>
          <a:p>
            <a:endParaRPr lang="en-US" baseline="0" dirty="0"/>
          </a:p>
          <a:p>
            <a:r>
              <a:rPr lang="en-US" baseline="0" dirty="0"/>
              <a:t>The important point is that in this manner, we can answer the query “what is the average of the elements in the window” doing only a small, fixed number of arithmetic steps with each arrival on the stream.  That is far </a:t>
            </a:r>
            <a:r>
              <a:rPr lang="en-US" baseline="0" dirty="0" err="1"/>
              <a:t>far</a:t>
            </a:r>
            <a:r>
              <a:rPr lang="en-US" baseline="0" dirty="0"/>
              <a:t> better than having to compute the sum and average of all N elements in the window each time a new element arrives.  But not every query about the current value of the window can be answered in equally convenient way.</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10</a:t>
            </a:fld>
            <a:endParaRPr lang="en-US"/>
          </a:p>
        </p:txBody>
      </p:sp>
    </p:spTree>
    <p:extLst>
      <p:ext uri="{BB962C8B-B14F-4D97-AF65-F5344CB8AC3E}">
        <p14:creationId xmlns:p14="http://schemas.microsoft.com/office/powerpoint/2010/main" val="496510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Enough</a:t>
            </a:r>
            <a:r>
              <a:rPr lang="en-US" baseline="0" dirty="0"/>
              <a:t> of a sales pitch.   Let’s look at how a Bloom filter actually works.</a:t>
            </a:r>
          </a:p>
          <a:p>
            <a:endParaRPr lang="en-US" baseline="0" dirty="0"/>
          </a:p>
          <a:p>
            <a:r>
              <a:rPr lang="en-US" baseline="0" dirty="0"/>
              <a:t>Click 1</a:t>
            </a:r>
          </a:p>
          <a:p>
            <a:r>
              <a:rPr lang="en-US" baseline="0" dirty="0"/>
              <a:t>The filter itself is a large array of bits, perhaps several times as many bits as there are possible elements in the stream.  The bit array is manipulated through a collection of hash functions.  The number of hash functions could be as little as 1, although several is better.  Even a few dozen hash functions could be a good choice in some situations.</a:t>
            </a:r>
          </a:p>
          <a:p>
            <a:endParaRPr lang="en-US" baseline="0" dirty="0"/>
          </a:p>
          <a:p>
            <a:r>
              <a:rPr lang="en-US" baseline="0" dirty="0"/>
              <a:t>Click 2</a:t>
            </a:r>
          </a:p>
          <a:p>
            <a:r>
              <a:rPr lang="en-US" baseline="0" dirty="0"/>
              <a:t>Each hash function takes a stream element and produces a value that is one of the positions in the array.  It is important that the hash functions be independent.  It should not be possible to predict the result of one hash function from the result of another.</a:t>
            </a:r>
          </a:p>
          <a:p>
            <a:endParaRPr lang="en-US" baseline="0" dirty="0"/>
          </a:p>
          <a:p>
            <a:r>
              <a:rPr lang="en-US" baseline="0" dirty="0"/>
              <a:t>Click 3</a:t>
            </a:r>
          </a:p>
          <a:p>
            <a:r>
              <a:rPr lang="en-US" baseline="0" dirty="0"/>
              <a:t>Start with all bits of the array equal to 0.</a:t>
            </a:r>
          </a:p>
          <a:p>
            <a:endParaRPr lang="en-US" baseline="0" dirty="0"/>
          </a:p>
          <a:p>
            <a:r>
              <a:rPr lang="en-US" baseline="0" dirty="0"/>
              <a:t>Click 4</a:t>
            </a:r>
          </a:p>
          <a:p>
            <a:r>
              <a:rPr lang="en-US" baseline="0" dirty="0"/>
              <a:t>Suppose element x arrives on the stream.  We compute the values of h(x) for each hash function h in our collection.  That gives us some number of bits.  Turn each of these bits to 1 if they were not already 1.</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14</a:t>
            </a:fld>
            <a:endParaRPr lang="en-US"/>
          </a:p>
        </p:txBody>
      </p:sp>
    </p:spTree>
    <p:extLst>
      <p:ext uri="{BB962C8B-B14F-4D97-AF65-F5344CB8AC3E}">
        <p14:creationId xmlns:p14="http://schemas.microsoft.com/office/powerpoint/2010/main" val="4119853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tiny</a:t>
            </a:r>
            <a:r>
              <a:rPr lang="en-US" baseline="0" dirty="0"/>
              <a:t> example of how a Bloom filter works.</a:t>
            </a:r>
          </a:p>
          <a:p>
            <a:endParaRPr lang="en-US" baseline="0" dirty="0"/>
          </a:p>
          <a:p>
            <a:r>
              <a:rPr lang="en-US" baseline="0" dirty="0"/>
              <a:t>Click 1: We’ll use an array of 11 bits.</a:t>
            </a:r>
          </a:p>
          <a:p>
            <a:endParaRPr lang="en-US" baseline="0" dirty="0"/>
          </a:p>
          <a:p>
            <a:r>
              <a:rPr lang="en-US" baseline="0" dirty="0"/>
              <a:t>Click 2: Assume the stream consists of integers.</a:t>
            </a:r>
          </a:p>
          <a:p>
            <a:endParaRPr lang="en-US" baseline="0" dirty="0"/>
          </a:p>
          <a:p>
            <a:r>
              <a:rPr lang="en-US" baseline="0" dirty="0"/>
              <a:t>Click 3: We’ll have two hash functions.  The first, h1, is computed from an integer x as follows.</a:t>
            </a:r>
          </a:p>
          <a:p>
            <a:endParaRPr lang="en-US" baseline="0" dirty="0"/>
          </a:p>
          <a:p>
            <a:r>
              <a:rPr lang="en-US" baseline="0" dirty="0"/>
              <a:t>Click 4: Write x in binary.  For h1, we use only the odd positions, counting from the right.  That is, position 1 is the low-order bit, position 3 is the 4’s place, position 5 is the 16’s place, and so on.</a:t>
            </a:r>
          </a:p>
          <a:p>
            <a:endParaRPr lang="en-US" baseline="0" dirty="0"/>
          </a:p>
          <a:p>
            <a:r>
              <a:rPr lang="en-US" baseline="0" dirty="0"/>
              <a:t>Click 5: Looking only at the odd-positioned bits, we get another binary integer.  Suppose that integer is </a:t>
            </a:r>
            <a:r>
              <a:rPr lang="en-US" baseline="0" dirty="0" err="1"/>
              <a:t>i</a:t>
            </a:r>
            <a:r>
              <a:rPr lang="en-US" baseline="0" dirty="0"/>
              <a:t>.</a:t>
            </a:r>
          </a:p>
          <a:p>
            <a:endParaRPr lang="en-US" baseline="0" dirty="0"/>
          </a:p>
          <a:p>
            <a:r>
              <a:rPr lang="en-US" baseline="0" dirty="0"/>
              <a:t>Click 6: Then compute </a:t>
            </a:r>
            <a:r>
              <a:rPr lang="en-US" baseline="0" dirty="0" err="1"/>
              <a:t>i</a:t>
            </a:r>
            <a:r>
              <a:rPr lang="en-US" baseline="0" dirty="0"/>
              <a:t> modulo 11, that is, the remainder when </a:t>
            </a:r>
            <a:r>
              <a:rPr lang="en-US" baseline="0" dirty="0" err="1"/>
              <a:t>i</a:t>
            </a:r>
            <a:r>
              <a:rPr lang="en-US" baseline="0" dirty="0"/>
              <a:t> is divided by 11.  That is the value of h1(x).</a:t>
            </a:r>
          </a:p>
          <a:p>
            <a:endParaRPr lang="en-US" baseline="0" dirty="0"/>
          </a:p>
          <a:p>
            <a:r>
              <a:rPr lang="en-US" baseline="0" dirty="0"/>
              <a:t>Click 7: h2(x) is computed in exactly the same way, but from the even positions of the binary representation of x.</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15</a:t>
            </a:fld>
            <a:endParaRPr lang="en-US"/>
          </a:p>
        </p:txBody>
      </p:sp>
    </p:spTree>
    <p:extLst>
      <p:ext uri="{BB962C8B-B14F-4D97-AF65-F5344CB8AC3E}">
        <p14:creationId xmlns:p14="http://schemas.microsoft.com/office/powerpoint/2010/main" val="484708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happens when three integers arrive at the stream</a:t>
            </a:r>
            <a:r>
              <a:rPr lang="en-US" baseline="0" dirty="0"/>
              <a:t> input.  Initially, all 11 bits of the Bloom filter are 0.</a:t>
            </a:r>
          </a:p>
          <a:p>
            <a:endParaRPr lang="en-US" baseline="0" dirty="0"/>
          </a:p>
          <a:p>
            <a:r>
              <a:rPr lang="en-US" baseline="0" dirty="0"/>
              <a:t>Click 1</a:t>
            </a:r>
          </a:p>
          <a:p>
            <a:r>
              <a:rPr lang="en-US" baseline="0" dirty="0"/>
              <a:t>The first integer is 25.  We show its value in binary, with the odd-numbered positions, counting from the right, in black, and the even positions in red.  h1 is formed from the odd positions, and we see 101 (DRAW) there.  That’s 5 in binary, and 5 modulo 11 is 5 (POINT to h1 column).   The even positions are 10 (DRAW), or 2, and modulo 11 that’s still 2 (POINT).  We thus set positions 2 and 5 of the array to 1, and you see the new values in blue.  Note that we are counting positions from the left end and starting at zero.</a:t>
            </a:r>
          </a:p>
          <a:p>
            <a:endParaRPr lang="en-US" baseline="0" dirty="0"/>
          </a:p>
          <a:p>
            <a:r>
              <a:rPr lang="en-US" baseline="0" dirty="0"/>
              <a:t>Click 2</a:t>
            </a:r>
          </a:p>
          <a:p>
            <a:r>
              <a:rPr lang="en-US" baseline="0" dirty="0"/>
              <a:t>The next integer is 159, and you see it written in binary here as well.  The odd positions, in black, form 0111 (DRAW), which is 7 (POINT).  The even positions form 1011 (DRAW), which is 11 in decimal, and 11 modulo 11 is 0 (POINT).  We thus set bits 0 and 7 of the array to 1.  You see them in blue (POINT).</a:t>
            </a:r>
          </a:p>
          <a:p>
            <a:endParaRPr lang="en-US" baseline="0" dirty="0"/>
          </a:p>
          <a:p>
            <a:r>
              <a:rPr lang="en-US" baseline="0" dirty="0"/>
              <a:t>Click 3</a:t>
            </a:r>
          </a:p>
          <a:p>
            <a:r>
              <a:rPr lang="en-US" baseline="0" dirty="0"/>
              <a:t>Third to arrive is 585.  The odd positions form 01001 (DRAW), or 9 (POINT).  The even positions form 10010 (DRAW) or 18.  Modulo 11, that’s 7.  So we set bits 7 and 9 to 1.  Bit 7 was already 1, so we make no change.  Bit 9 is set to 1, as you see here (POINT).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16</a:t>
            </a:fld>
            <a:endParaRPr lang="en-US"/>
          </a:p>
        </p:txBody>
      </p:sp>
    </p:spTree>
    <p:extLst>
      <p:ext uri="{BB962C8B-B14F-4D97-AF65-F5344CB8AC3E}">
        <p14:creationId xmlns:p14="http://schemas.microsoft.com/office/powerpoint/2010/main" val="5176007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We have</a:t>
            </a:r>
            <a:r>
              <a:rPr lang="en-US" baseline="0" dirty="0"/>
              <a:t> seen how to set bits to 1 when we add elements to the set we are representing with the Bloom filter.  Now, we need to learn how to test an element for membership in the set.</a:t>
            </a:r>
          </a:p>
          <a:p>
            <a:endParaRPr lang="en-US" baseline="0" dirty="0"/>
          </a:p>
          <a:p>
            <a:r>
              <a:rPr lang="en-US" baseline="0" dirty="0"/>
              <a:t>Click 1: Let the element we want to test be y.</a:t>
            </a:r>
          </a:p>
          <a:p>
            <a:endParaRPr lang="en-US" baseline="0" dirty="0"/>
          </a:p>
          <a:p>
            <a:r>
              <a:rPr lang="en-US" baseline="0" dirty="0"/>
              <a:t>Click 2: Apply each of the hash functions associated with the Bloom filter to y.  That gives you a set of positions.</a:t>
            </a:r>
          </a:p>
          <a:p>
            <a:endParaRPr lang="en-US" baseline="0" dirty="0"/>
          </a:p>
          <a:p>
            <a:r>
              <a:rPr lang="en-US" baseline="0" dirty="0"/>
              <a:t>Click 3: If all these positions are 1, then we say that y was seen before.  If y WAS seen before, then surely all of these positions would have been set to 1, so we will surely say “yes.”  Unfortunately, there can be false positives, since it could be that we never saw y, but some other combination of elements managed to turn on all the bits that y would turn on.</a:t>
            </a:r>
          </a:p>
          <a:p>
            <a:endParaRPr lang="en-US" baseline="0" dirty="0"/>
          </a:p>
          <a:p>
            <a:r>
              <a:rPr lang="en-US" baseline="0" dirty="0"/>
              <a:t>Click 4: If one or more of the bits are 0, then we’ll say y was never seen.  That is surely correct, since we know that each would have been set to 1 if y had been seen.  That is, there are no false negatives.</a:t>
            </a:r>
          </a:p>
          <a:p>
            <a:endParaRPr lang="en-US" baseline="0" dirty="0"/>
          </a:p>
          <a:p>
            <a:r>
              <a:rPr lang="en-US" baseline="0" dirty="0"/>
              <a:t>A point worth noting is that insert and lookup can involve a single set, as in our example of crawling the Web, or there can be two distinct sets.  If the elements that we lookup become part of the set that the Bloom filter is to represent, then when doing the lookup, if we find some bits are 0, we set them to 1. However, we can also use a Bloom filter to compare two sets.  We form the Bloom filter from one set, and then test each element of the other set for membership by doing a lookup.  In that case, the 0’s we find are left as 0.</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17</a:t>
            </a:fld>
            <a:endParaRPr lang="en-US"/>
          </a:p>
        </p:txBody>
      </p:sp>
    </p:spTree>
    <p:extLst>
      <p:ext uri="{BB962C8B-B14F-4D97-AF65-F5344CB8AC3E}">
        <p14:creationId xmlns:p14="http://schemas.microsoft.com/office/powerpoint/2010/main" val="37676703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a:t>
            </a:r>
            <a:r>
              <a:rPr lang="en-US" baseline="0" dirty="0"/>
              <a:t> up an example of how we test membership in a set.</a:t>
            </a:r>
          </a:p>
          <a:p>
            <a:endParaRPr lang="en-US" baseline="0" dirty="0"/>
          </a:p>
          <a:p>
            <a:r>
              <a:rPr lang="en-US" baseline="0" dirty="0"/>
              <a:t>Click 1: We’ll start where we left the previous example.  We had inserted three elements, 25, 159, and 585, into the set, which left the Bloom filter looking like this (POINT).</a:t>
            </a:r>
          </a:p>
          <a:p>
            <a:endParaRPr lang="en-US" baseline="0" dirty="0"/>
          </a:p>
          <a:p>
            <a:r>
              <a:rPr lang="en-US" baseline="0" dirty="0"/>
              <a:t>Click 2: Suppose we now want to look up 118, which is 1110110 (POINT) in binary.</a:t>
            </a:r>
          </a:p>
          <a:p>
            <a:endParaRPr lang="en-US" baseline="0" dirty="0"/>
          </a:p>
          <a:p>
            <a:r>
              <a:rPr lang="en-US" baseline="0" dirty="0"/>
              <a:t>Click 3: The odd positions form 1110 (DRAW), which is 14 in decimal.  Thus, h1(118) is 14 modulo 11, or 3.</a:t>
            </a:r>
          </a:p>
          <a:p>
            <a:endParaRPr lang="en-US" baseline="0" dirty="0"/>
          </a:p>
          <a:p>
            <a:r>
              <a:rPr lang="en-US" baseline="0" dirty="0"/>
              <a:t>Click 4: The even positions give us 101 (DRAW), or 5 in decimal.  That means h2(118) is 5.</a:t>
            </a:r>
          </a:p>
          <a:p>
            <a:endParaRPr lang="en-US" baseline="0" dirty="0"/>
          </a:p>
          <a:p>
            <a:r>
              <a:rPr lang="en-US" baseline="0" dirty="0"/>
              <a:t>Click 5: To test membership of y in the set represented by the Bloom filter, we thus look at bits 3 and 5.  Bit 3 is 0 and bit 5 is 1.  That means 118 could not be in the set, because both would have been 1 if so.  We say “no,” and that is the correct answer.</a:t>
            </a:r>
          </a:p>
        </p:txBody>
      </p:sp>
      <p:sp>
        <p:nvSpPr>
          <p:cNvPr id="4" name="Slide Number Placeholder 3"/>
          <p:cNvSpPr>
            <a:spLocks noGrp="1"/>
          </p:cNvSpPr>
          <p:nvPr>
            <p:ph type="sldNum" sz="quarter" idx="10"/>
          </p:nvPr>
        </p:nvSpPr>
        <p:spPr/>
        <p:txBody>
          <a:bodyPr/>
          <a:lstStyle/>
          <a:p>
            <a:fld id="{EE707532-839C-41A2-9E71-D5288AEAE66A}" type="slidenum">
              <a:rPr lang="en-US" smtClean="0"/>
              <a:pPr/>
              <a:t>18</a:t>
            </a:fld>
            <a:endParaRPr lang="en-US"/>
          </a:p>
        </p:txBody>
      </p:sp>
    </p:spTree>
    <p:extLst>
      <p:ext uri="{BB962C8B-B14F-4D97-AF65-F5344CB8AC3E}">
        <p14:creationId xmlns:p14="http://schemas.microsoft.com/office/powerpoint/2010/main" val="26131720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do</a:t>
            </a:r>
            <a:r>
              <a:rPr lang="en-US" baseline="0" dirty="0"/>
              <a:t> a little ugly math to explain how the Bloom filter performs as a function of how big the array is, how many hash functions are used, and how many elements are inserted into the set that the filter represents.</a:t>
            </a:r>
          </a:p>
          <a:p>
            <a:endParaRPr lang="en-US" baseline="0" dirty="0"/>
          </a:p>
          <a:p>
            <a:r>
              <a:rPr lang="en-US" baseline="0" dirty="0"/>
              <a:t>Click 1: First, it should be evident that the false-positive rate will be lower if there are few 1’s in the array.  When we hash an element not in the underlying set, the probability we will find a 1 at that position is the fraction of 1’s in the array.  If we have k hash functions, then the probability that an element not in the set will be reported to be in the set is the fraction of 1’s raised to the k-</a:t>
            </a:r>
            <a:r>
              <a:rPr lang="en-US" baseline="0" dirty="0" err="1"/>
              <a:t>th</a:t>
            </a:r>
            <a:r>
              <a:rPr lang="en-US" baseline="0" dirty="0"/>
              <a:t> power.</a:t>
            </a:r>
          </a:p>
          <a:p>
            <a:endParaRPr lang="en-US" baseline="0" dirty="0"/>
          </a:p>
          <a:p>
            <a:r>
              <a:rPr lang="en-US" baseline="0" dirty="0"/>
              <a:t>Click 2: So what is the fraction of 1’s?  There surely cannot be more 1’s than there are elements inserted, times the number of hash functions.  In practice, it will be almost as large as that.  But collisions, where two different </a:t>
            </a:r>
            <a:r>
              <a:rPr lang="en-US" baseline="0" dirty="0" err="1"/>
              <a:t>hashings</a:t>
            </a:r>
            <a:r>
              <a:rPr lang="en-US" baseline="0" dirty="0"/>
              <a:t> coincide and set the same bit to 1 will make the actual number slightly lower.   At first, when almost all bits are 0, collisions are rare.  But suppose 50% of the bits are now 1.  If we apply one of the hash functions to a new element, there is a 50% chance that it will lead us to a bit that is already 1, and thus the number of 1’s will not change when we apply this hash function to this element.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19</a:t>
            </a:fld>
            <a:endParaRPr lang="en-US"/>
          </a:p>
        </p:txBody>
      </p:sp>
    </p:spTree>
    <p:extLst>
      <p:ext uri="{BB962C8B-B14F-4D97-AF65-F5344CB8AC3E}">
        <p14:creationId xmlns:p14="http://schemas.microsoft.com/office/powerpoint/2010/main" val="26349457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like to think of picking random bits of a Bloom filter to set to 1 as throwing</a:t>
            </a:r>
            <a:r>
              <a:rPr lang="en-US" baseline="0" dirty="0"/>
              <a:t> darts at a collection of targets – one target for each bit of the array.  So suppose we have d darts.  In our intended application, d would be the product of the number of inserted items times the number of hash functions.   Also, let there be t targets. t would be the number of bits of the array.</a:t>
            </a:r>
          </a:p>
          <a:p>
            <a:endParaRPr lang="en-US" baseline="0" dirty="0"/>
          </a:p>
          <a:p>
            <a:r>
              <a:rPr lang="en-US" baseline="0" dirty="0"/>
              <a:t>Click 1: What we want to know is how many targets are hit by at least one dart.  These are the bits that get set to 1.</a:t>
            </a:r>
          </a:p>
          <a:p>
            <a:endParaRPr lang="en-US" baseline="0" dirty="0"/>
          </a:p>
          <a:p>
            <a:r>
              <a:rPr lang="en-US" baseline="0" dirty="0"/>
              <a:t>Click 2: To calculate this number, start with the observation that if we throw one dart, the probability that a given target is hit is 1/t.</a:t>
            </a:r>
          </a:p>
          <a:p>
            <a:endParaRPr lang="en-US" baseline="0" dirty="0"/>
          </a:p>
          <a:p>
            <a:r>
              <a:rPr lang="en-US" baseline="0" dirty="0"/>
              <a:t>Click 3: And if we throw d darts, the probability that none hit the target, that is, the bit remains 0, is (1-1/t) to the power d.  That is, 1-1/t (POINT) is the probability one dart does not hit, and when we raise this to the d-</a:t>
            </a:r>
            <a:r>
              <a:rPr lang="en-US" baseline="0" dirty="0" err="1"/>
              <a:t>th</a:t>
            </a:r>
            <a:r>
              <a:rPr lang="en-US" baseline="0" dirty="0"/>
              <a:t> power we get the probability that no dart hits.</a:t>
            </a:r>
          </a:p>
          <a:p>
            <a:endParaRPr lang="en-US" baseline="0" dirty="0"/>
          </a:p>
          <a:p>
            <a:r>
              <a:rPr lang="en-US" baseline="0" dirty="0"/>
              <a:t>Click 4: I’m going to rewrite the power d as t times d over t (POINT).  Obviously that’s just another way of writing d.  But the reason I want to do that is that this part, 1-1/t raised to the t-</a:t>
            </a:r>
            <a:r>
              <a:rPr lang="en-US" baseline="0" dirty="0" err="1"/>
              <a:t>th</a:t>
            </a:r>
            <a:r>
              <a:rPr lang="en-US" baseline="0" dirty="0"/>
              <a:t> power (POINT)  has a well known approximation, as long as t is large.  It is 1/e (DRAW), where e is the base of natural logarithms.  1/e is about 0.37.   In this case, t is certainly large, since it is the number of bits in the array.  Thus, a very good approximation to the fraction of 0’s that remain is e to the minus d/t (POINT).  I write it this way, since 1/e is the same as e to the -1.</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20</a:t>
            </a:fld>
            <a:endParaRPr lang="en-US"/>
          </a:p>
        </p:txBody>
      </p:sp>
    </p:spTree>
    <p:extLst>
      <p:ext uri="{BB962C8B-B14F-4D97-AF65-F5344CB8AC3E}">
        <p14:creationId xmlns:p14="http://schemas.microsoft.com/office/powerpoint/2010/main" val="1101346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a:t>
            </a:r>
            <a:r>
              <a:rPr lang="en-US" baseline="0" dirty="0"/>
              <a:t> let’s use a Bloom filter consisting of a billion bits, and let’s use five hash functions.  Suppose we insert a hundred million elements.</a:t>
            </a:r>
          </a:p>
          <a:p>
            <a:endParaRPr lang="en-US" baseline="0" dirty="0"/>
          </a:p>
          <a:p>
            <a:r>
              <a:rPr lang="en-US" baseline="0" dirty="0"/>
              <a:t>Click 1: Then we do half a billion hashes, so we might set to 1 as many as half the bits of the array.  In terms of darts and targets, t is a billion targets, and d is five hundred million darts, or half of t.</a:t>
            </a:r>
          </a:p>
          <a:p>
            <a:endParaRPr lang="en-US" baseline="0" dirty="0"/>
          </a:p>
          <a:p>
            <a:r>
              <a:rPr lang="en-US" baseline="0" dirty="0"/>
              <a:t>Click 2: Using the formula we derived on the previous slide, the fraction of bits that remain 0 will be e to the minus d/t, or e to the minus ½.  This value is .607.</a:t>
            </a:r>
          </a:p>
          <a:p>
            <a:endParaRPr lang="en-US" baseline="0" dirty="0"/>
          </a:p>
          <a:p>
            <a:r>
              <a:rPr lang="en-US" baseline="0" dirty="0"/>
              <a:t>Click 3: Or put another way, the fraction of 1’s will be .393, somewhat less than half.  The fact that it is less than half is explained by the existence of collisions as we apply all the hash functions to all the elements that are inserted.</a:t>
            </a:r>
          </a:p>
          <a:p>
            <a:endParaRPr lang="en-US" baseline="0" dirty="0"/>
          </a:p>
          <a:p>
            <a:r>
              <a:rPr lang="en-US" baseline="0" dirty="0"/>
              <a:t>Click 4: From this information, we can calculate the probability of a false positive.  For element y to be a false positive, all five hash functions must take it to bits that are 1.  The probability of one hash function doing so is .393, and the probability that all five do is that raised to the 5</a:t>
            </a:r>
            <a:r>
              <a:rPr lang="en-US" baseline="30000" dirty="0"/>
              <a:t>th</a:t>
            </a:r>
            <a:r>
              <a:rPr lang="en-US" baseline="0" dirty="0"/>
              <a:t> power, or .00937.  That’s a little less than one percent.</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21</a:t>
            </a:fld>
            <a:endParaRPr lang="en-US"/>
          </a:p>
        </p:txBody>
      </p:sp>
    </p:spTree>
    <p:extLst>
      <p:ext uri="{BB962C8B-B14F-4D97-AF65-F5344CB8AC3E}">
        <p14:creationId xmlns:p14="http://schemas.microsoft.com/office/powerpoint/2010/main" val="17906940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up an example.  Google</a:t>
            </a:r>
            <a:r>
              <a:rPr lang="en-US" baseline="0" dirty="0"/>
              <a:t> has a stream of search queries coming in at all times.  We might want to know what fraction of search queries received over a period such as a month are unique.  That is, there is only one occurrence of that search query in the entire month.</a:t>
            </a:r>
          </a:p>
          <a:p>
            <a:endParaRPr lang="en-US" baseline="0" dirty="0"/>
          </a:p>
          <a:p>
            <a:r>
              <a:rPr lang="en-US" baseline="0" dirty="0"/>
              <a:t>Click 1: Many questions about the stream can be answered by sampling the stream. Suppose, to be concrete, that we randomly select 1/10 of the queries to be examined.  For example, if we wanted to know what fraction of the search queries were single-word queries, we could compute that fraction for the sample and be pretty sure that it was very close to the fraction for the stream as a whole.  That is, over a month, a 1/10-th sample would be a billion queries or more.  Statistically, if these queries are selected at random, the deviation from the true answer will be miniscule.</a:t>
            </a:r>
          </a:p>
          <a:p>
            <a:endParaRPr lang="en-US" baseline="0" dirty="0"/>
          </a:p>
          <a:p>
            <a:r>
              <a:rPr lang="en-US" baseline="0" dirty="0"/>
              <a:t>Click 2</a:t>
            </a:r>
          </a:p>
          <a:p>
            <a:r>
              <a:rPr lang="en-US" baseline="0" dirty="0"/>
              <a:t>However, we want the fraction of unique queries, and this query cannot be answered correctly from a random sample of the stream.  In fact, as we shall see on the next slide, there is not enough information to deduce the fraction for the entire stream from the fraction for the sample.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24</a:t>
            </a:fld>
            <a:endParaRPr lang="en-US"/>
          </a:p>
        </p:txBody>
      </p:sp>
    </p:spTree>
    <p:extLst>
      <p:ext uri="{BB962C8B-B14F-4D97-AF65-F5344CB8AC3E}">
        <p14:creationId xmlns:p14="http://schemas.microsoft.com/office/powerpoint/2010/main" val="19456746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Let’s do the math for the matter of unique queries.</a:t>
            </a:r>
          </a:p>
          <a:p>
            <a:endParaRPr lang="en-US" dirty="0"/>
          </a:p>
          <a:p>
            <a:r>
              <a:rPr lang="en-US" dirty="0"/>
              <a:t>Click 1: First, we know that there will be, in the sample,</a:t>
            </a:r>
            <a:r>
              <a:rPr lang="en-US" baseline="0" dirty="0"/>
              <a:t> very close to 10% of the query occurrences of the original stream.  The problem is that the probability of a given query appearing to be unique in the sample gets distorted because of the sampling.</a:t>
            </a:r>
          </a:p>
          <a:p>
            <a:endParaRPr lang="en-US" baseline="0" dirty="0"/>
          </a:p>
          <a:p>
            <a:r>
              <a:rPr lang="en-US" baseline="0" dirty="0"/>
              <a:t>Click 2: First, suppose the query is unique in the stream as a whole.  It has a 10% chance of being selected for the sample.  That’s fine.  It says that the fraction of truly unique queries that make it into the sample is the same as for the whole stream.  If we could only count the truly unique queries in the sample, we would get the right answer.</a:t>
            </a:r>
          </a:p>
          <a:p>
            <a:endParaRPr lang="en-US" baseline="0" dirty="0"/>
          </a:p>
          <a:p>
            <a:r>
              <a:rPr lang="en-US" baseline="0" dirty="0"/>
              <a:t>Click 3: However, suppose a search query appears exactly twice in the whole stream.  The chance that the first occurrence will be selected for the sample is 10%, and the chance that the second </a:t>
            </a:r>
            <a:r>
              <a:rPr lang="en-US" baseline="0" dirty="0" err="1"/>
              <a:t>ocurrence</a:t>
            </a:r>
            <a:r>
              <a:rPr lang="en-US" baseline="0" dirty="0"/>
              <a:t> will NOT be selected is 90%.  Multiply those and we have a 9% chance of this query occurrence being unique in the sample.  Moreover, the first occurrence could not be selected but the second is selected, and that’s another 9% chance of a query that really occurs twice looking unique in the sample – that’s a total of 18%.</a:t>
            </a:r>
          </a:p>
          <a:p>
            <a:endParaRPr lang="en-US" baseline="0" dirty="0"/>
          </a:p>
          <a:p>
            <a:r>
              <a:rPr lang="en-US" baseline="0" dirty="0"/>
              <a:t>Click 4: I’ll let you do the calculation, but a query that appears in the stream three times has a 24.3% chance of looking unique in the sample.  In fact, any query, no matter how many times it appears in the original stream has at least a small chance of looking unique in the sample.  So when we count the number of unique queries in the sample, it will be an overestimate of the true fraction of unique queries, very possibly a substantial overestimate.  In fact, there could be NO unique queries in the original, yet many in the sample.  And worse, we just don’t know from the sample whether we are looking at truly unique queries or not.  We may as well toss out the data and start over again.</a:t>
            </a:r>
          </a:p>
        </p:txBody>
      </p:sp>
      <p:sp>
        <p:nvSpPr>
          <p:cNvPr id="4" name="Slide Number Placeholder 3"/>
          <p:cNvSpPr>
            <a:spLocks noGrp="1"/>
          </p:cNvSpPr>
          <p:nvPr>
            <p:ph type="sldNum" sz="quarter" idx="10"/>
          </p:nvPr>
        </p:nvSpPr>
        <p:spPr/>
        <p:txBody>
          <a:bodyPr/>
          <a:lstStyle/>
          <a:p>
            <a:fld id="{EE707532-839C-41A2-9E71-D5288AEAE66A}" type="slidenum">
              <a:rPr lang="en-US" smtClean="0"/>
              <a:pPr/>
              <a:t>25</a:t>
            </a:fld>
            <a:endParaRPr lang="en-US"/>
          </a:p>
        </p:txBody>
      </p:sp>
    </p:spTree>
    <p:extLst>
      <p:ext uri="{BB962C8B-B14F-4D97-AF65-F5344CB8AC3E}">
        <p14:creationId xmlns:p14="http://schemas.microsoft.com/office/powerpoint/2010/main" val="2882050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a:t>It you think about it, the problem was that we assumed we flipped a 10-sided coin every time a new element arrived on the stream.  The</a:t>
            </a:r>
            <a:r>
              <a:rPr lang="en-US" baseline="0" dirty="0"/>
              <a:t> consequence is that when a query occurs at several positions in the stream, we decided independently whether or not to add each one to the sample.  That isn’t what we want.  We want to pick 1/10</a:t>
            </a:r>
            <a:r>
              <a:rPr lang="en-US" baseline="30000" dirty="0"/>
              <a:t>th</a:t>
            </a:r>
            <a:r>
              <a:rPr lang="en-US" baseline="0" dirty="0"/>
              <a:t> of the search queries, not 1/10</a:t>
            </a:r>
            <a:r>
              <a:rPr lang="en-US" baseline="30000" dirty="0"/>
              <a:t>th</a:t>
            </a:r>
            <a:r>
              <a:rPr lang="en-US" baseline="0" dirty="0"/>
              <a:t> of the instances of search queries in the stream.</a:t>
            </a:r>
          </a:p>
          <a:p>
            <a:endParaRPr lang="en-US" baseline="0" dirty="0"/>
          </a:p>
          <a:p>
            <a:r>
              <a:rPr lang="en-US" baseline="0" dirty="0"/>
              <a:t>We could make the random decision the first time we see each search query.  If we kept a table of our decision for each search query we have ever seen, then each time a query appears, we could look it up in the table.  If found, we do the same thing we did with the first occurrence of that query – add it to the sample or not.  But if we don’t find the query in the table, we flip that 10 sided coin to decide what to do with it, and record the query and the outcome in the table.</a:t>
            </a:r>
          </a:p>
          <a:p>
            <a:endParaRPr lang="en-US" baseline="0" dirty="0"/>
          </a:p>
          <a:p>
            <a:r>
              <a:rPr lang="en-US" baseline="0" dirty="0"/>
              <a:t>That’s kind of unappetizing.  It will be hard to manage the table, and there is a lookup with each stream element.  Fortunately, there is a much simpler way to get the same effect without storing anything.</a:t>
            </a:r>
          </a:p>
          <a:p>
            <a:endParaRPr lang="en-US" baseline="0" dirty="0"/>
          </a:p>
          <a:p>
            <a:r>
              <a:rPr lang="en-US" baseline="0" dirty="0"/>
              <a:t>Click 1: Let’s pick a hash function from search queries to ten buckets, 0 through 9.</a:t>
            </a:r>
          </a:p>
          <a:p>
            <a:endParaRPr lang="en-US" baseline="0" dirty="0"/>
          </a:p>
          <a:p>
            <a:r>
              <a:rPr lang="en-US" baseline="0" dirty="0"/>
              <a:t>Click 2: When a search query arrives, hash it.  If it goes to bucket 0, then add it to the sample.  And if it goes to any of the nine other buckets, do not add it to the sample.</a:t>
            </a:r>
          </a:p>
          <a:p>
            <a:endParaRPr lang="en-US" baseline="0" dirty="0"/>
          </a:p>
          <a:p>
            <a:r>
              <a:rPr lang="en-US" baseline="0" dirty="0"/>
              <a:t>Click 3: The cool thing about this approach is that all occurrences of the same query hash to the same bucket, because the same hash function is always applied.  As a result, we don’t need to know whether the search query that just arrived has been seen before, and we don’t need to know what action we took.  We can be sure that if it did appear before, we’ll do the same thing now that we did then.</a:t>
            </a:r>
          </a:p>
          <a:p>
            <a:endParaRPr lang="en-US" baseline="0" dirty="0"/>
          </a:p>
          <a:p>
            <a:r>
              <a:rPr lang="en-US" baseline="0" dirty="0"/>
              <a:t>The result of sampling this way is that 1/10</a:t>
            </a:r>
            <a:r>
              <a:rPr lang="en-US" baseline="30000" dirty="0"/>
              <a:t>th</a:t>
            </a:r>
            <a:r>
              <a:rPr lang="en-US" baseline="0" dirty="0"/>
              <a:t> of the queries are selected for the sample.  If selected, then the query appears in the sample exactly as many times as it does in the stream as a whole.  Thus, the fraction of unique queries in the sample is exactly as for the whole.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26</a:t>
            </a:fld>
            <a:endParaRPr lang="en-US"/>
          </a:p>
        </p:txBody>
      </p:sp>
    </p:spTree>
    <p:extLst>
      <p:ext uri="{BB962C8B-B14F-4D97-AF65-F5344CB8AC3E}">
        <p14:creationId xmlns:p14="http://schemas.microsoft.com/office/powerpoint/2010/main" val="2216722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Suppose now that we want our</a:t>
            </a:r>
            <a:r>
              <a:rPr lang="en-US" baseline="0" dirty="0"/>
              <a:t> sample to be – not a fixed fraction of the total stream – but a fixed number of samples from the stream.</a:t>
            </a:r>
          </a:p>
          <a:p>
            <a:endParaRPr lang="en-US" baseline="0" dirty="0"/>
          </a:p>
          <a:p>
            <a:r>
              <a:rPr lang="en-US" baseline="0" dirty="0"/>
              <a:t>Click 1: What we can do is hash to a large number of buckets, and accept for the sample not just one bucket, but enough buckets that the resulting sample just stays within the size limit.</a:t>
            </a:r>
          </a:p>
          <a:p>
            <a:endParaRPr lang="en-US" baseline="0" dirty="0"/>
          </a:p>
          <a:p>
            <a:r>
              <a:rPr lang="en-US" baseline="0" dirty="0"/>
              <a:t>Click 2: If, as more stream elements come in, our sample gets too large, we pick one of the buckets we had been including in the sample.  We delete from the sample just those elements that hash to that bucket.  Organizing the sample by bucket can make this deletion process efficient – I won’t go into the details.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27</a:t>
            </a:fld>
            <a:endParaRPr lang="en-US"/>
          </a:p>
        </p:txBody>
      </p:sp>
    </p:spTree>
    <p:extLst>
      <p:ext uri="{BB962C8B-B14F-4D97-AF65-F5344CB8AC3E}">
        <p14:creationId xmlns:p14="http://schemas.microsoft.com/office/powerpoint/2010/main" val="24627499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rethink</a:t>
            </a:r>
            <a:r>
              <a:rPr lang="en-US" baseline="0" dirty="0"/>
              <a:t> the example we have been working with.  We still want a 10% sample of the search queries, but we realize that eventually, even the 10% sample will get too large, so we want the ability to throw out of the sample some fraction of its members.  And of course we want to do it consistently, so that if one occurrence of a query is tossed, then all occurrences of that same query are tossed.</a:t>
            </a:r>
          </a:p>
          <a:p>
            <a:endParaRPr lang="en-US" baseline="0" dirty="0"/>
          </a:p>
          <a:p>
            <a:r>
              <a:rPr lang="en-US" baseline="0" dirty="0"/>
              <a:t>Click 1: Hashing to 10 buckets is fine to get a 10% sample, but we need to be prepared to deal with smaller fractions, so we need to hash to many more buckets.  We’ll pick 100 buckets for our example, but it could be a million buckets, or even more.  As long as we are happy with a 10% sample, we accept for the sample those elements that hash to 10% of the buckets.  We could choose any 10, but let’s choose 0 through 9 to be specific.</a:t>
            </a:r>
          </a:p>
          <a:p>
            <a:endParaRPr lang="en-US" baseline="0" dirty="0"/>
          </a:p>
          <a:p>
            <a:r>
              <a:rPr lang="en-US" baseline="0" dirty="0"/>
              <a:t>Click 2: Now suppose we are going along, and at some point the sample size gets too big.  So we pick one of the buckets to get rid of.  Say bucket 9.  That is, we delete from the sample all those elements that hash to 9, while retaining those that hash to 0 through 8.   Implementation is simple if we stored the sample by bucket.  We just return bucket 9 to available space.   Now, our sample is 9% of the stream.  In the future, we only add to the sample new stream elements that hash to 0 through 8.</a:t>
            </a:r>
          </a:p>
          <a:p>
            <a:endParaRPr lang="en-US" baseline="0" dirty="0"/>
          </a:p>
          <a:p>
            <a:r>
              <a:rPr lang="en-US" baseline="0" dirty="0"/>
              <a:t>Click 3: Sooner or later, even the 9% sample will exceed our space bound.  So we get rid of those elements that hash to 8, then 7, and so on.  If eventually, even a 1% sample is too much, we are stuck.  But then we should have taken the opportunity to hash to more buckets than 100 – lots more.</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28</a:t>
            </a:fld>
            <a:endParaRPr lang="en-US"/>
          </a:p>
        </p:txBody>
      </p:sp>
    </p:spTree>
    <p:extLst>
      <p:ext uri="{BB962C8B-B14F-4D97-AF65-F5344CB8AC3E}">
        <p14:creationId xmlns:p14="http://schemas.microsoft.com/office/powerpoint/2010/main" val="39323556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we explained by example is</a:t>
            </a:r>
            <a:r>
              <a:rPr lang="en-US" baseline="0" dirty="0"/>
              <a:t> really an instance of a general idea.  We can see any form of data as key-value pairs.</a:t>
            </a:r>
          </a:p>
          <a:p>
            <a:endParaRPr lang="en-US" baseline="0" dirty="0"/>
          </a:p>
          <a:p>
            <a:r>
              <a:rPr lang="en-US" baseline="0" dirty="0"/>
              <a:t>Click 1: We can choose our sample by picking a random key set of the desired size and taking all key-value pairs whose key falls into the accepted set, regardless of the associated value.</a:t>
            </a:r>
          </a:p>
          <a:p>
            <a:endParaRPr lang="en-US" baseline="0" dirty="0"/>
          </a:p>
          <a:p>
            <a:r>
              <a:rPr lang="en-US" baseline="0" dirty="0"/>
              <a:t>Click 2: In our example of search queries, the search query itself was the key, and the value was null – it was not really there.</a:t>
            </a:r>
          </a:p>
          <a:p>
            <a:endParaRPr lang="en-US" baseline="0" dirty="0"/>
          </a:p>
          <a:p>
            <a:r>
              <a:rPr lang="en-US" baseline="0" dirty="0"/>
              <a:t>Click 3: We select our sample by hashing keys only.  The value is not part of the argument to the hash function.</a:t>
            </a:r>
          </a:p>
          <a:p>
            <a:endParaRPr lang="en-US" baseline="0" dirty="0"/>
          </a:p>
          <a:p>
            <a:r>
              <a:rPr lang="en-US" baseline="0" dirty="0"/>
              <a:t>Click 4: We pick an appropriate number of buckets for acceptance, and we add to our sample each key-value pair whose key hashes to one of the accepting buckets.</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29</a:t>
            </a:fld>
            <a:endParaRPr lang="en-US"/>
          </a:p>
        </p:txBody>
      </p:sp>
    </p:spTree>
    <p:extLst>
      <p:ext uri="{BB962C8B-B14F-4D97-AF65-F5344CB8AC3E}">
        <p14:creationId xmlns:p14="http://schemas.microsoft.com/office/powerpoint/2010/main" val="531481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Let’s look at a simple example where</a:t>
            </a:r>
            <a:r>
              <a:rPr lang="en-US" baseline="0" dirty="0"/>
              <a:t> picking the right key makes all the difference.</a:t>
            </a:r>
          </a:p>
          <a:p>
            <a:endParaRPr lang="en-US" baseline="0" dirty="0"/>
          </a:p>
          <a:p>
            <a:r>
              <a:rPr lang="en-US" baseline="0" dirty="0"/>
              <a:t>Click 1: Imagine that our data elements are tuples with three components: an ID for some employee, the department that employee works for, and the salary of that employee.</a:t>
            </a:r>
          </a:p>
          <a:p>
            <a:endParaRPr lang="en-US" baseline="0" dirty="0"/>
          </a:p>
          <a:p>
            <a:r>
              <a:rPr lang="en-US" baseline="0" dirty="0"/>
              <a:t>Click 2</a:t>
            </a:r>
          </a:p>
          <a:p>
            <a:r>
              <a:rPr lang="en-US" baseline="0" dirty="0"/>
              <a:t>For each department there is a salary range: the difference between the maximum and minimum salaries, taken over all the employees of that department.  Again, let’s suppose we want to use a 10% sample of these tuples to estimate the average salary range.  Picking 10% of the tuples at random won’t work.  For a given department, we are likely to be missing one or both of the employees with the minimum or maximum salary in that department.  Thus, the differences between max and min salaries in the sample for a department is likely to be too low.  That is, we have introduced a bias toward the low side by our poor sampling strategy.</a:t>
            </a:r>
          </a:p>
          <a:p>
            <a:endParaRPr lang="en-US" baseline="0" dirty="0"/>
          </a:p>
          <a:p>
            <a:r>
              <a:rPr lang="en-US" baseline="0" dirty="0"/>
              <a:t>Click 3: The right way to sample is to treat only the department component of tuples as the key, and the other two components – employee ID and salary – as each part of the value. In general both the key and value parts can consist of many components.</a:t>
            </a:r>
          </a:p>
          <a:p>
            <a:endParaRPr lang="en-US" baseline="0" dirty="0"/>
          </a:p>
          <a:p>
            <a:r>
              <a:rPr lang="en-US" baseline="0" dirty="0"/>
              <a:t>Click 4: If we sample this way, what we are doing is sampling a subset of the departments.  But for each department in the sample, we get all its employee-salary data, and we can get the true salary range for that department.  When we compute the average of the ranges, we might be off a little, because we are sampling the ranges for some departments, rather than averaging the ranges for all the departments.  But that error is just random noise introduced by the sampling process, not a bias in one direction or the other.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30</a:t>
            </a:fld>
            <a:endParaRPr lang="en-US"/>
          </a:p>
        </p:txBody>
      </p:sp>
    </p:spTree>
    <p:extLst>
      <p:ext uri="{BB962C8B-B14F-4D97-AF65-F5344CB8AC3E}">
        <p14:creationId xmlns:p14="http://schemas.microsoft.com/office/powerpoint/2010/main" val="6454149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a:t>Let’s look at a simple example where</a:t>
            </a:r>
            <a:r>
              <a:rPr lang="en-US" baseline="0" dirty="0"/>
              <a:t> picking the right key makes all the difference.</a:t>
            </a:r>
          </a:p>
          <a:p>
            <a:endParaRPr lang="en-US" baseline="0" dirty="0"/>
          </a:p>
          <a:p>
            <a:r>
              <a:rPr lang="en-US" baseline="0" dirty="0"/>
              <a:t>Click 1: Imagine that our data elements are tuples with three components: an ID for some employee, the department that employee works for, and the salary of that employee.</a:t>
            </a:r>
          </a:p>
          <a:p>
            <a:endParaRPr lang="en-US" baseline="0" dirty="0"/>
          </a:p>
          <a:p>
            <a:r>
              <a:rPr lang="en-US" baseline="0" dirty="0"/>
              <a:t>Click 2</a:t>
            </a:r>
          </a:p>
          <a:p>
            <a:r>
              <a:rPr lang="en-US" baseline="0" dirty="0"/>
              <a:t>For each department there is a salary range: the difference between the maximum and minimum salaries, taken over all the employees of that department.  Again, let’s suppose we want to use a 10% sample of these tuples to estimate the average salary range.  Picking 10% of the tuples at random won’t work.  For a given department, we are likely to be missing one or both of the employees with the minimum or maximum salary in that department.  Thus, the differences between max and min salaries in the sample for a department is likely to be too low.  That is, we have introduced a bias toward the low side by our poor sampling strategy.</a:t>
            </a:r>
          </a:p>
          <a:p>
            <a:endParaRPr lang="en-US" baseline="0" dirty="0"/>
          </a:p>
          <a:p>
            <a:r>
              <a:rPr lang="en-US" baseline="0" dirty="0"/>
              <a:t>Click 3: The right way to sample is to treat only the department component of tuples as the key, and the other two components – employee ID and salary – as each part of the value. In general both the key and value parts can consist of many components.</a:t>
            </a:r>
          </a:p>
          <a:p>
            <a:endParaRPr lang="en-US" baseline="0" dirty="0"/>
          </a:p>
          <a:p>
            <a:r>
              <a:rPr lang="en-US" baseline="0" dirty="0"/>
              <a:t>Click 4: If we sample this way, what we are doing is sampling a subset of the departments.  But for each department in the sample, we get all its employee-salary data, and we can get the true salary range for that department.  When we compute the average of the ranges, we might be off a little, because we are sampling the ranges for some departments, rather than averaging the ranges for all the departments.  But that error is just random noise introduced by the sampling process, not a bias in one direction or the other.</a:t>
            </a:r>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31</a:t>
            </a:fld>
            <a:endParaRPr lang="en-US"/>
          </a:p>
        </p:txBody>
      </p:sp>
    </p:spTree>
    <p:extLst>
      <p:ext uri="{BB962C8B-B14F-4D97-AF65-F5344CB8AC3E}">
        <p14:creationId xmlns:p14="http://schemas.microsoft.com/office/powerpoint/2010/main" val="645414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5400" b="1"/>
            </a:lvl1pPr>
            <a:extLst/>
          </a:lstStyle>
          <a:p>
            <a:r>
              <a:rPr kumimoji="0" lang="en-US" dirty="0"/>
              <a:t>Click to edit Master title style</a:t>
            </a:r>
          </a:p>
        </p:txBody>
      </p:sp>
      <p:sp>
        <p:nvSpPr>
          <p:cNvPr id="3" name="Subtitle 2"/>
          <p:cNvSpPr>
            <a:spLocks noGrp="1"/>
          </p:cNvSpPr>
          <p:nvPr>
            <p:ph type="subTitle" idx="1"/>
          </p:nvPr>
        </p:nvSpPr>
        <p:spPr>
          <a:xfrm>
            <a:off x="685800" y="5257800"/>
            <a:ext cx="8077200" cy="1295400"/>
          </a:xfrm>
        </p:spPr>
        <p:txBody>
          <a:bodyPr lIns="118872" tIns="0" rIns="45720" bIns="0" anchor="t">
            <a:normAutofit/>
          </a:bodyPr>
          <a:lstStyle>
            <a:lvl1pPr marL="0" indent="0" algn="l">
              <a:buNone/>
              <a:defRPr sz="3200" b="1">
                <a:solidFill>
                  <a:srgbClr val="FFFFFF"/>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a:xfrm>
            <a:off x="457200" y="6583680"/>
            <a:ext cx="2133600" cy="274320"/>
          </a:xfrm>
          <a:prstGeom prst="rect">
            <a:avLst/>
          </a:prstGeom>
        </p:spPr>
        <p:txBody>
          <a:bodyPr/>
          <a:lstStyle/>
          <a:p>
            <a:fld id="{479C7330-4CE8-48F7-9D58-15F746E13FB9}" type="datetime1">
              <a:rPr lang="en-US" smtClean="0"/>
              <a:t>1/5/2022</a:t>
            </a:fld>
            <a:endParaRPr lang="en-US"/>
          </a:p>
        </p:txBody>
      </p:sp>
      <p:sp>
        <p:nvSpPr>
          <p:cNvPr id="5" name="Footer Placeholder 4"/>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686800" cy="987552"/>
          </a:xfrm>
        </p:spPr>
        <p:txBody>
          <a:bodyPr>
            <a:noAutofit/>
          </a:bodyPr>
          <a:lstStyle>
            <a:lvl1pPr>
              <a:defRPr lang="en-US" dirty="0"/>
            </a:lvl1pPr>
            <a:extLst/>
          </a:lstStyle>
          <a:p>
            <a:r>
              <a:rPr kumimoji="0" lang="en-US" dirty="0"/>
              <a:t>Click to edit Master title style</a:t>
            </a:r>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2000"/>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a:t>Click to edit Master title style</a:t>
            </a:r>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57200" y="6583680"/>
            <a:ext cx="2133600" cy="274320"/>
          </a:xfrm>
          <a:prstGeom prst="rect">
            <a:avLst/>
          </a:prstGeom>
        </p:spPr>
        <p:txBody>
          <a:bodyPr/>
          <a:lstStyle/>
          <a:p>
            <a:fld id="{016F2FC2-BB9B-4501-A64A-1D405DFCD284}" type="datetime1">
              <a:rPr lang="en-US" smtClean="0"/>
              <a:t>1/5/2022</a:t>
            </a:fld>
            <a:endParaRPr lang="en-US"/>
          </a:p>
        </p:txBody>
      </p:sp>
      <p:sp>
        <p:nvSpPr>
          <p:cNvPr id="5" name="Footer Placeholder 4"/>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257800"/>
          </a:xfrm>
        </p:spPr>
        <p:txBody>
          <a:bodyPr lIns="91440">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Content Placeholder 3"/>
          <p:cNvSpPr>
            <a:spLocks noGrp="1"/>
          </p:cNvSpPr>
          <p:nvPr>
            <p:ph sz="half" idx="2"/>
          </p:nvPr>
        </p:nvSpPr>
        <p:spPr>
          <a:xfrm>
            <a:off x="4648200" y="1295400"/>
            <a:ext cx="4038600" cy="5257800"/>
          </a:xfrm>
        </p:spPr>
        <p:txBody>
          <a:bodyPr>
            <a:normAutofit/>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457200" y="6583680"/>
            <a:ext cx="2133600" cy="274320"/>
          </a:xfrm>
          <a:prstGeom prst="rect">
            <a:avLst/>
          </a:prstGeom>
        </p:spPr>
        <p:txBody>
          <a:bodyPr/>
          <a:lstStyle/>
          <a:p>
            <a:fld id="{D740863B-248B-44EE-B105-5B695F0FC236}" type="datetime1">
              <a:rPr lang="en-US" smtClean="0"/>
              <a:t>1/5/2022</a:t>
            </a:fld>
            <a:endParaRPr lang="en-US"/>
          </a:p>
        </p:txBody>
      </p:sp>
      <p:sp>
        <p:nvSpPr>
          <p:cNvPr id="6" name="Footer Placeholder 5"/>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a:xfrm>
            <a:off x="457200" y="6583680"/>
            <a:ext cx="2133600" cy="274320"/>
          </a:xfrm>
          <a:prstGeom prst="rect">
            <a:avLst/>
          </a:prstGeom>
        </p:spPr>
        <p:txBody>
          <a:bodyPr/>
          <a:lstStyle/>
          <a:p>
            <a:fld id="{C0CF02E7-FC57-4F06-96DC-6D61D3B11F6E}" type="datetime1">
              <a:rPr lang="en-US" smtClean="0"/>
              <a:t>1/5/2022</a:t>
            </a:fld>
            <a:endParaRPr lang="en-US"/>
          </a:p>
        </p:txBody>
      </p:sp>
      <p:sp>
        <p:nvSpPr>
          <p:cNvPr id="8" name="Footer Placeholder 7"/>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83680"/>
            <a:ext cx="2133600" cy="274320"/>
          </a:xfrm>
          <a:prstGeom prst="rect">
            <a:avLst/>
          </a:prstGeom>
        </p:spPr>
        <p:txBody>
          <a:bodyPr/>
          <a:lstStyle/>
          <a:p>
            <a:fld id="{274CE81B-E021-4957-93E3-79B1FDE179A2}" type="datetime1">
              <a:rPr lang="en-US" smtClean="0"/>
              <a:t>1/5/2022</a:t>
            </a:fld>
            <a:endParaRPr lang="en-US"/>
          </a:p>
        </p:txBody>
      </p:sp>
      <p:sp>
        <p:nvSpPr>
          <p:cNvPr id="3" name="Footer Placeholder 2"/>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457200" y="6583680"/>
            <a:ext cx="2133600" cy="274320"/>
          </a:xfrm>
          <a:prstGeom prst="rect">
            <a:avLst/>
          </a:prstGeom>
        </p:spPr>
        <p:txBody>
          <a:bodyPr/>
          <a:lstStyle/>
          <a:p>
            <a:fld id="{0947EA96-B7F4-4F79-A79B-FBC8F44320DC}" type="datetime1">
              <a:rPr lang="en-US" smtClean="0"/>
              <a:t>1/5/2022</a:t>
            </a:fld>
            <a:endParaRPr lang="en-US"/>
          </a:p>
        </p:txBody>
      </p:sp>
      <p:sp>
        <p:nvSpPr>
          <p:cNvPr id="6" name="Footer Placeholder 5"/>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a:prstGeom prst="rect">
            <a:avLst/>
          </a:prstGeom>
        </p:spPr>
        <p:txBody>
          <a:bodyPr/>
          <a:lstStyle/>
          <a:p>
            <a:fld id="{647A801F-1A2D-4373-93F5-E8FD50FE0F8E}" type="datetime1">
              <a:rPr lang="en-US" smtClean="0"/>
              <a:t>1/5/2022</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a:prstGeom prst="rect">
            <a:avLst/>
          </a:prstGeom>
        </p:spPr>
        <p:txBody>
          <a:bodyPr/>
          <a:lstStyle>
            <a:lvl1pPr>
              <a:defRPr>
                <a:solidFill>
                  <a:schemeClr val="bg1">
                    <a:shade val="50000"/>
                  </a:schemeClr>
                </a:solidFill>
              </a:defRPr>
            </a:lvl1pPr>
          </a:lstStyle>
          <a:p>
            <a:r>
              <a:rPr lang="en-US"/>
              <a:t>Mining of Massive Datasets. Leskovec, Rajaraman and Ullman. Stanford University</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57200" y="6583680"/>
            <a:ext cx="2133600" cy="274320"/>
          </a:xfrm>
          <a:prstGeom prst="rect">
            <a:avLst/>
          </a:prstGeom>
        </p:spPr>
        <p:txBody>
          <a:bodyPr/>
          <a:lstStyle/>
          <a:p>
            <a:fld id="{B4F9DA65-BB84-49AE-865D-17FA935BCB90}" type="datetime1">
              <a:rPr lang="en-US" smtClean="0"/>
              <a:t>1/5/2022</a:t>
            </a:fld>
            <a:endParaRPr lang="en-US"/>
          </a:p>
        </p:txBody>
      </p:sp>
      <p:sp>
        <p:nvSpPr>
          <p:cNvPr id="5" name="Footer Placeholder 4"/>
          <p:cNvSpPr>
            <a:spLocks noGrp="1"/>
          </p:cNvSpPr>
          <p:nvPr>
            <p:ph type="ftr" sz="quarter" idx="11"/>
          </p:nvPr>
        </p:nvSpPr>
        <p:spPr>
          <a:xfrm>
            <a:off x="2640596" y="6583680"/>
            <a:ext cx="5507719" cy="274320"/>
          </a:xfrm>
          <a:prstGeom prst="rect">
            <a:avLst/>
          </a:prstGeom>
        </p:spPr>
        <p:txBody>
          <a:bodyPr/>
          <a:lstStyle/>
          <a:p>
            <a:r>
              <a:rPr lang="en-US"/>
              <a:t>Mining of Massive Datasets. Leskovec, Rajaraman and Ullman. Stanford University</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57200" y="6583680"/>
            <a:ext cx="2133600" cy="274320"/>
          </a:xfrm>
          <a:prstGeom prst="rect">
            <a:avLst/>
          </a:prstGeom>
        </p:spPr>
        <p:txBody>
          <a:bodyPr/>
          <a:lstStyle/>
          <a:p>
            <a:fld id="{2066E137-08FA-4CDA-8725-3545AA5F9FAC}" type="datetime1">
              <a:rPr lang="en-US" smtClean="0"/>
              <a:t>1/5/2022</a:t>
            </a:fld>
            <a:endParaRPr lang="en-US"/>
          </a:p>
        </p:txBody>
      </p:sp>
      <p:sp>
        <p:nvSpPr>
          <p:cNvPr id="5" name="Footer Placeholder 4"/>
          <p:cNvSpPr>
            <a:spLocks noGrp="1"/>
          </p:cNvSpPr>
          <p:nvPr>
            <p:ph type="ftr" sz="quarter" idx="11"/>
          </p:nvPr>
        </p:nvSpPr>
        <p:spPr>
          <a:xfrm>
            <a:off x="2640597" y="6377459"/>
            <a:ext cx="3836404" cy="365125"/>
          </a:xfrm>
          <a:prstGeom prst="rect">
            <a:avLst/>
          </a:prstGeom>
        </p:spPr>
        <p:txBody>
          <a:bodyPr/>
          <a:lstStyle/>
          <a:p>
            <a:r>
              <a:rPr lang="en-US"/>
              <a:t>Mining of Massive Datasets. Leskovec, Rajaraman and Ullman. Stanford University</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a:prstGeom prst="rect">
            <a:avLst/>
          </a:prstGeom>
        </p:spPr>
        <p:txBody>
          <a:bodyPr tIns="41473"/>
          <a:lstStyle>
            <a:lvl1pPr>
              <a:defRPr/>
            </a:lvl1pPr>
          </a:lstStyle>
          <a:p>
            <a:fld id="{B54C64C9-F705-476E-B769-508EAD066D70}" type="datetime1">
              <a:rPr lang="en-US" smtClean="0"/>
              <a:t>1/5/2022</a:t>
            </a:fld>
            <a:endParaRPr lang="en-GB"/>
          </a:p>
        </p:txBody>
      </p:sp>
      <p:sp>
        <p:nvSpPr>
          <p:cNvPr id="6" name="Footer Placeholder 5"/>
          <p:cNvSpPr>
            <a:spLocks noGrp="1"/>
          </p:cNvSpPr>
          <p:nvPr>
            <p:ph type="ftr" idx="11"/>
          </p:nvPr>
        </p:nvSpPr>
        <p:spPr>
          <a:xfrm>
            <a:off x="3126240" y="6247376"/>
            <a:ext cx="2897280" cy="472370"/>
          </a:xfrm>
          <a:prstGeom prst="rect">
            <a:avLst/>
          </a:prstGeom>
        </p:spPr>
        <p:txBody>
          <a:bodyPr tIns="41473"/>
          <a:lstStyle>
            <a:lvl1pPr>
              <a:defRPr/>
            </a:lvl1pPr>
          </a:lstStyle>
          <a:p>
            <a:r>
              <a:rPr lang="en-US"/>
              <a:t>Mining of Massive Datasets. Leskovec, Rajaraman and Ullman. Stanford University</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199" y="152400"/>
            <a:ext cx="8686799"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5344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Lst>
  <p:hf hdr="0"/>
  <p:txStyles>
    <p:titleStyle>
      <a:lvl1pPr algn="l" rtl="0" eaLnBrk="1" latinLnBrk="0" hangingPunct="1">
        <a:spcBef>
          <a:spcPct val="0"/>
        </a:spcBef>
        <a:buNone/>
        <a:defRPr kumimoji="0" sz="48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8" name="object 8"/>
          <p:cNvSpPr txBox="1"/>
          <p:nvPr/>
        </p:nvSpPr>
        <p:spPr>
          <a:xfrm>
            <a:off x="4813300" y="5224398"/>
            <a:ext cx="4330700" cy="1117422"/>
          </a:xfrm>
          <a:prstGeom prst="rect">
            <a:avLst/>
          </a:prstGeom>
        </p:spPr>
        <p:txBody>
          <a:bodyPr vert="horz" wrap="square" lIns="0" tIns="13335" rIns="0" bIns="0" rtlCol="0">
            <a:spAutoFit/>
          </a:bodyPr>
          <a:lstStyle/>
          <a:p>
            <a:pPr marL="12700">
              <a:lnSpc>
                <a:spcPts val="2870"/>
              </a:lnSpc>
            </a:pPr>
            <a:r>
              <a:rPr lang="en-AU" sz="2400" spc="10" dirty="0">
                <a:solidFill>
                  <a:srgbClr val="FFFFFF"/>
                </a:solidFill>
                <a:latin typeface="Corbel"/>
                <a:cs typeface="Corbel"/>
              </a:rPr>
              <a:t>Dr. Mohammad Rezwanul Huq</a:t>
            </a:r>
          </a:p>
          <a:p>
            <a:pPr marL="12700">
              <a:lnSpc>
                <a:spcPts val="2870"/>
              </a:lnSpc>
            </a:pPr>
            <a:r>
              <a:rPr lang="en-AU" sz="2400" spc="10" dirty="0">
                <a:solidFill>
                  <a:srgbClr val="FFFFFF"/>
                </a:solidFill>
                <a:latin typeface="Corbel"/>
                <a:cs typeface="Corbel"/>
              </a:rPr>
              <a:t>Associate Professor</a:t>
            </a:r>
          </a:p>
          <a:p>
            <a:pPr marL="12700">
              <a:lnSpc>
                <a:spcPts val="2870"/>
              </a:lnSpc>
            </a:pPr>
            <a:r>
              <a:rPr lang="en-AU" sz="2400" spc="10" dirty="0">
                <a:solidFill>
                  <a:srgbClr val="FFFFFF"/>
                </a:solidFill>
                <a:latin typeface="Corbel"/>
                <a:cs typeface="Corbel"/>
              </a:rPr>
              <a:t>East West University</a:t>
            </a:r>
            <a:endParaRPr sz="2000" dirty="0">
              <a:latin typeface="Corbel"/>
              <a:cs typeface="Corbel"/>
            </a:endParaRPr>
          </a:p>
        </p:txBody>
      </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754326"/>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CSE488: Big Data Analytics</a:t>
            </a:r>
          </a:p>
          <a:p>
            <a:pPr algn="ctr"/>
            <a:endParaRPr lang="en-AU" sz="3200" dirty="0">
              <a:solidFill>
                <a:srgbClr val="FFFF00"/>
              </a:solidFill>
              <a:latin typeface="Palatino Linotype" panose="02040502050505030304" pitchFamily="18" charset="0"/>
            </a:endParaRPr>
          </a:p>
          <a:p>
            <a:pPr algn="ctr"/>
            <a:r>
              <a:rPr lang="en-AU" sz="3600" dirty="0">
                <a:solidFill>
                  <a:srgbClr val="00B0F0"/>
                </a:solidFill>
                <a:latin typeface="Palatino Linotype" panose="02040502050505030304" pitchFamily="18" charset="0"/>
              </a:rPr>
              <a:t>Lecture 12: Data Streams  </a:t>
            </a:r>
            <a:endParaRPr lang="en-US" sz="3600" dirty="0">
              <a:solidFill>
                <a:srgbClr val="00B0F0"/>
              </a:solidFill>
              <a:latin typeface="Palatino Linotype" panose="020405020505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34AACEA-85F9-480F-92DB-3C2E73089DA7}" type="slidenum">
              <a:rPr lang="en-US"/>
              <a:pPr/>
              <a:t>2</a:t>
            </a:fld>
            <a:endParaRPr lang="en-US"/>
          </a:p>
        </p:txBody>
      </p:sp>
      <p:sp>
        <p:nvSpPr>
          <p:cNvPr id="51202" name="Rectangle 2"/>
          <p:cNvSpPr>
            <a:spLocks noGrp="1" noChangeArrowheads="1"/>
          </p:cNvSpPr>
          <p:nvPr>
            <p:ph type="title"/>
          </p:nvPr>
        </p:nvSpPr>
        <p:spPr>
          <a:xfrm>
            <a:off x="228600" y="76200"/>
            <a:ext cx="8915400" cy="987552"/>
          </a:xfrm>
        </p:spPr>
        <p:txBody>
          <a:bodyPr/>
          <a:lstStyle/>
          <a:p>
            <a:r>
              <a:rPr lang="en-US" sz="3600" dirty="0"/>
              <a:t>Data Management Vs. Stream Management</a:t>
            </a:r>
          </a:p>
        </p:txBody>
      </p:sp>
      <p:sp>
        <p:nvSpPr>
          <p:cNvPr id="51203" name="Rectangle 3"/>
          <p:cNvSpPr>
            <a:spLocks noGrp="1" noChangeArrowheads="1"/>
          </p:cNvSpPr>
          <p:nvPr>
            <p:ph type="body" idx="1"/>
          </p:nvPr>
        </p:nvSpPr>
        <p:spPr>
          <a:xfrm>
            <a:off x="381000" y="1295400"/>
            <a:ext cx="8610600" cy="5562600"/>
          </a:xfrm>
        </p:spPr>
        <p:txBody>
          <a:bodyPr/>
          <a:lstStyle/>
          <a:p>
            <a:r>
              <a:rPr lang="en-US" dirty="0"/>
              <a:t>In a DBMS, input is under the control of the owner.</a:t>
            </a:r>
          </a:p>
          <a:p>
            <a:pPr lvl="1"/>
            <a:r>
              <a:rPr lang="en-US" dirty="0"/>
              <a:t>SQL INSERT commands or bulk loaders.</a:t>
            </a:r>
          </a:p>
          <a:p>
            <a:r>
              <a:rPr lang="en-US" dirty="0"/>
              <a:t>Stream management is important when the input rate is controlled externally.</a:t>
            </a:r>
          </a:p>
          <a:p>
            <a:pPr lvl="1"/>
            <a:r>
              <a:rPr lang="en-US" dirty="0">
                <a:solidFill>
                  <a:srgbClr val="33CC33"/>
                </a:solidFill>
              </a:rPr>
              <a:t>Example</a:t>
            </a:r>
            <a:r>
              <a:rPr lang="en-US" dirty="0"/>
              <a:t>: Google search queries.</a:t>
            </a:r>
          </a:p>
          <a:p>
            <a:pPr lvl="1"/>
            <a:r>
              <a:rPr lang="en-US" dirty="0">
                <a:solidFill>
                  <a:srgbClr val="00B050"/>
                </a:solidFill>
              </a:rPr>
              <a:t>Example</a:t>
            </a:r>
            <a:r>
              <a:rPr lang="en-US" dirty="0"/>
              <a:t>: Amazon loves to get orders for products, but does not control when they come in.</a:t>
            </a:r>
          </a:p>
          <a:p>
            <a:pPr lvl="1"/>
            <a:r>
              <a:rPr lang="en-US" dirty="0">
                <a:solidFill>
                  <a:srgbClr val="00B050"/>
                </a:solidFill>
              </a:rPr>
              <a:t>Example</a:t>
            </a:r>
            <a:r>
              <a:rPr lang="en-US" dirty="0"/>
              <a:t>: Satellites send down images, often petabytes/day.</a:t>
            </a:r>
          </a:p>
          <a:p>
            <a:pPr lvl="2"/>
            <a:r>
              <a:rPr lang="en-US" dirty="0"/>
              <a:t>More predictable, but too much to deal with efficiently.</a:t>
            </a:r>
          </a:p>
        </p:txBody>
      </p:sp>
    </p:spTree>
    <p:extLst>
      <p:ext uri="{BB962C8B-B14F-4D97-AF65-F5344CB8AC3E}">
        <p14:creationId xmlns:p14="http://schemas.microsoft.com/office/powerpoint/2010/main" val="1813297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120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20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12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573B278-4A12-4A4C-92A0-BCB30D813276}" type="slidenum">
              <a:rPr lang="en-US"/>
              <a:pPr/>
              <a:t>3</a:t>
            </a:fld>
            <a:endParaRPr lang="en-US"/>
          </a:p>
        </p:txBody>
      </p:sp>
      <p:sp>
        <p:nvSpPr>
          <p:cNvPr id="8194" name="Rectangle 2"/>
          <p:cNvSpPr>
            <a:spLocks noGrp="1" noChangeArrowheads="1"/>
          </p:cNvSpPr>
          <p:nvPr>
            <p:ph type="title"/>
          </p:nvPr>
        </p:nvSpPr>
        <p:spPr/>
        <p:txBody>
          <a:bodyPr/>
          <a:lstStyle/>
          <a:p>
            <a:r>
              <a:rPr lang="en-US"/>
              <a:t>The Stream Model</a:t>
            </a:r>
          </a:p>
        </p:txBody>
      </p:sp>
      <p:sp>
        <p:nvSpPr>
          <p:cNvPr id="8195" name="Rectangle 3"/>
          <p:cNvSpPr>
            <a:spLocks noGrp="1" noChangeArrowheads="1"/>
          </p:cNvSpPr>
          <p:nvPr>
            <p:ph type="body" idx="1"/>
          </p:nvPr>
        </p:nvSpPr>
        <p:spPr/>
        <p:txBody>
          <a:bodyPr/>
          <a:lstStyle/>
          <a:p>
            <a:r>
              <a:rPr lang="en-US" dirty="0"/>
              <a:t>Input tuples enter at a rapid rate, at one or more input ports.</a:t>
            </a:r>
          </a:p>
          <a:p>
            <a:r>
              <a:rPr lang="en-US" dirty="0"/>
              <a:t>The system cannot store the entire stream </a:t>
            </a:r>
            <a:r>
              <a:rPr lang="en-US" dirty="0">
                <a:solidFill>
                  <a:srgbClr val="00B050"/>
                </a:solidFill>
              </a:rPr>
              <a:t>accessibly</a:t>
            </a:r>
            <a:r>
              <a:rPr lang="en-US" dirty="0"/>
              <a:t>.</a:t>
            </a:r>
          </a:p>
          <a:p>
            <a:r>
              <a:rPr lang="en-US" dirty="0"/>
              <a:t>How do you make critical calculations about the stream using a limited amount of (primary or even secondary) memory?</a:t>
            </a:r>
          </a:p>
        </p:txBody>
      </p:sp>
    </p:spTree>
    <p:extLst>
      <p:ext uri="{BB962C8B-B14F-4D97-AF65-F5344CB8AC3E}">
        <p14:creationId xmlns:p14="http://schemas.microsoft.com/office/powerpoint/2010/main" val="3356381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9D1E7BF9-2809-4199-AD09-A9BDCD42EE72}" type="slidenum">
              <a:rPr lang="en-US"/>
              <a:pPr/>
              <a:t>4</a:t>
            </a:fld>
            <a:endParaRPr lang="en-US"/>
          </a:p>
        </p:txBody>
      </p:sp>
      <p:sp>
        <p:nvSpPr>
          <p:cNvPr id="52226" name="Rectangle 2"/>
          <p:cNvSpPr>
            <a:spLocks noGrp="1" noChangeArrowheads="1"/>
          </p:cNvSpPr>
          <p:nvPr>
            <p:ph type="title"/>
          </p:nvPr>
        </p:nvSpPr>
        <p:spPr>
          <a:xfrm>
            <a:off x="685800" y="0"/>
            <a:ext cx="7772400" cy="1143000"/>
          </a:xfrm>
        </p:spPr>
        <p:txBody>
          <a:bodyPr/>
          <a:lstStyle/>
          <a:p>
            <a:r>
              <a:rPr lang="en-US" dirty="0"/>
              <a:t>Two Forms of Query</a:t>
            </a:r>
          </a:p>
        </p:txBody>
      </p:sp>
      <p:sp>
        <p:nvSpPr>
          <p:cNvPr id="52227" name="Rectangle 3"/>
          <p:cNvSpPr>
            <a:spLocks noGrp="1" noChangeArrowheads="1"/>
          </p:cNvSpPr>
          <p:nvPr>
            <p:ph type="body" idx="1"/>
          </p:nvPr>
        </p:nvSpPr>
        <p:spPr>
          <a:xfrm>
            <a:off x="457200" y="1295400"/>
            <a:ext cx="8153400" cy="4800600"/>
          </a:xfrm>
        </p:spPr>
        <p:txBody>
          <a:bodyPr/>
          <a:lstStyle/>
          <a:p>
            <a:pPr marL="609600" indent="-609600">
              <a:buFont typeface="Monotype Sorts" pitchFamily="2" charset="2"/>
              <a:buAutoNum type="arabicPeriod"/>
            </a:pPr>
            <a:r>
              <a:rPr lang="en-US" i="1" dirty="0">
                <a:solidFill>
                  <a:srgbClr val="FF0066"/>
                </a:solidFill>
              </a:rPr>
              <a:t>Ad-hoc queries</a:t>
            </a:r>
            <a:r>
              <a:rPr lang="en-US" dirty="0"/>
              <a:t>: Normal queries asked one time about streams.</a:t>
            </a:r>
          </a:p>
          <a:p>
            <a:pPr marL="990600" lvl="1" indent="-533400"/>
            <a:r>
              <a:rPr lang="en-US" dirty="0">
                <a:solidFill>
                  <a:srgbClr val="33CC33"/>
                </a:solidFill>
              </a:rPr>
              <a:t>Example</a:t>
            </a:r>
            <a:r>
              <a:rPr lang="en-US" dirty="0"/>
              <a:t>: What is the maximum value seen so far in stream </a:t>
            </a:r>
            <a:r>
              <a:rPr lang="en-US" i="1" dirty="0"/>
              <a:t>S</a:t>
            </a:r>
            <a:r>
              <a:rPr lang="en-US" dirty="0"/>
              <a:t>?</a:t>
            </a:r>
          </a:p>
          <a:p>
            <a:pPr marL="609600" indent="-609600">
              <a:buFont typeface="Monotype Sorts" pitchFamily="2" charset="2"/>
              <a:buAutoNum type="arabicPeriod"/>
            </a:pPr>
            <a:r>
              <a:rPr lang="en-US" i="1" dirty="0">
                <a:solidFill>
                  <a:srgbClr val="FF0066"/>
                </a:solidFill>
              </a:rPr>
              <a:t>Standing queries</a:t>
            </a:r>
            <a:r>
              <a:rPr lang="en-US" dirty="0"/>
              <a:t>: Queries that are, in principle, asked about the stream at all times.</a:t>
            </a:r>
          </a:p>
          <a:p>
            <a:pPr marL="990600" lvl="1" indent="-533400"/>
            <a:r>
              <a:rPr lang="en-US" dirty="0">
                <a:solidFill>
                  <a:srgbClr val="33CC33"/>
                </a:solidFill>
              </a:rPr>
              <a:t>Example</a:t>
            </a:r>
            <a:r>
              <a:rPr lang="en-US" dirty="0"/>
              <a:t>: Report each new maximum value ever seen in stream </a:t>
            </a:r>
            <a:r>
              <a:rPr lang="en-US" i="1" dirty="0"/>
              <a:t>S</a:t>
            </a:r>
            <a:r>
              <a:rPr lang="en-US" dirty="0"/>
              <a:t>.</a:t>
            </a:r>
          </a:p>
        </p:txBody>
      </p:sp>
    </p:spTree>
    <p:extLst>
      <p:ext uri="{BB962C8B-B14F-4D97-AF65-F5344CB8AC3E}">
        <p14:creationId xmlns:p14="http://schemas.microsoft.com/office/powerpoint/2010/main" val="1111535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2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222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2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397B3C13-9F52-4130-B008-B65D49E8A5FF}" type="slidenum">
              <a:rPr lang="en-US"/>
              <a:pPr/>
              <a:t>5</a:t>
            </a:fld>
            <a:endParaRPr lang="en-US"/>
          </a:p>
        </p:txBody>
      </p:sp>
      <p:grpSp>
        <p:nvGrpSpPr>
          <p:cNvPr id="6" name="Group 5"/>
          <p:cNvGrpSpPr/>
          <p:nvPr/>
        </p:nvGrpSpPr>
        <p:grpSpPr>
          <a:xfrm>
            <a:off x="3200400" y="3200400"/>
            <a:ext cx="1371600" cy="2438400"/>
            <a:chOff x="3200400" y="3200400"/>
            <a:chExt cx="1371600" cy="2438400"/>
          </a:xfrm>
        </p:grpSpPr>
        <p:sp>
          <p:nvSpPr>
            <p:cNvPr id="9219" name="AutoShape 3"/>
            <p:cNvSpPr>
              <a:spLocks noChangeArrowheads="1"/>
            </p:cNvSpPr>
            <p:nvPr/>
          </p:nvSpPr>
          <p:spPr bwMode="auto">
            <a:xfrm>
              <a:off x="3200400" y="3962400"/>
              <a:ext cx="1219200" cy="1676400"/>
            </a:xfrm>
            <a:prstGeom prst="can">
              <a:avLst>
                <a:gd name="adj" fmla="val 34375"/>
              </a:avLst>
            </a:prstGeom>
            <a:solidFill>
              <a:srgbClr val="FFFF0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Limited</a:t>
              </a:r>
            </a:p>
            <a:p>
              <a:pPr algn="ctr"/>
              <a:r>
                <a:rPr lang="en-US"/>
                <a:t>Working</a:t>
              </a:r>
            </a:p>
            <a:p>
              <a:pPr algn="ctr"/>
              <a:r>
                <a:rPr lang="en-US"/>
                <a:t>Storage</a:t>
              </a:r>
            </a:p>
          </p:txBody>
        </p:sp>
        <p:sp>
          <p:nvSpPr>
            <p:cNvPr id="9220" name="Line 4"/>
            <p:cNvSpPr>
              <a:spLocks noChangeShapeType="1"/>
            </p:cNvSpPr>
            <p:nvPr/>
          </p:nvSpPr>
          <p:spPr bwMode="auto">
            <a:xfrm flipH="1">
              <a:off x="3810000" y="3200400"/>
              <a:ext cx="762000" cy="914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3" name="Group 2"/>
          <p:cNvGrpSpPr/>
          <p:nvPr/>
        </p:nvGrpSpPr>
        <p:grpSpPr>
          <a:xfrm>
            <a:off x="762000" y="1524000"/>
            <a:ext cx="3048000" cy="2289175"/>
            <a:chOff x="762000" y="1524000"/>
            <a:chExt cx="3048000" cy="2289175"/>
          </a:xfrm>
        </p:grpSpPr>
        <p:sp>
          <p:nvSpPr>
            <p:cNvPr id="9221" name="Line 5"/>
            <p:cNvSpPr>
              <a:spLocks noChangeShapeType="1"/>
            </p:cNvSpPr>
            <p:nvPr/>
          </p:nvSpPr>
          <p:spPr bwMode="auto">
            <a:xfrm>
              <a:off x="3124200" y="17526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2" name="Line 6"/>
            <p:cNvSpPr>
              <a:spLocks noChangeShapeType="1"/>
            </p:cNvSpPr>
            <p:nvPr/>
          </p:nvSpPr>
          <p:spPr bwMode="auto">
            <a:xfrm>
              <a:off x="3124200" y="22860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3" name="Line 7"/>
            <p:cNvSpPr>
              <a:spLocks noChangeShapeType="1"/>
            </p:cNvSpPr>
            <p:nvPr/>
          </p:nvSpPr>
          <p:spPr bwMode="auto">
            <a:xfrm>
              <a:off x="3124200" y="28194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4" name="Text Box 8"/>
            <p:cNvSpPr txBox="1">
              <a:spLocks noChangeArrowheads="1"/>
            </p:cNvSpPr>
            <p:nvPr/>
          </p:nvSpPr>
          <p:spPr bwMode="auto">
            <a:xfrm>
              <a:off x="762000" y="1524000"/>
              <a:ext cx="2360613"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 . . 1, 5, 2, 7, 0, 9, 3</a:t>
              </a:r>
            </a:p>
            <a:p>
              <a:endParaRPr lang="en-US" dirty="0"/>
            </a:p>
            <a:p>
              <a:r>
                <a:rPr lang="en-US" dirty="0"/>
                <a:t>. . .   a, r, v, t, y, h, b</a:t>
              </a:r>
            </a:p>
            <a:p>
              <a:endParaRPr lang="en-US" dirty="0"/>
            </a:p>
            <a:p>
              <a:r>
                <a:rPr lang="en-US" dirty="0"/>
                <a:t>. . . 0, 0, 1, 0, 1, 1, 0</a:t>
              </a:r>
            </a:p>
            <a:p>
              <a:r>
                <a:rPr lang="en-US" dirty="0"/>
                <a:t>                     time</a:t>
              </a:r>
            </a:p>
            <a:p>
              <a:endParaRPr lang="en-US" dirty="0"/>
            </a:p>
            <a:p>
              <a:r>
                <a:rPr lang="en-US" dirty="0"/>
                <a:t>Streams Entering</a:t>
              </a:r>
            </a:p>
          </p:txBody>
        </p:sp>
      </p:grpSp>
      <p:sp>
        <p:nvSpPr>
          <p:cNvPr id="9225" name="Line 9"/>
          <p:cNvSpPr>
            <a:spLocks noChangeShapeType="1"/>
          </p:cNvSpPr>
          <p:nvPr/>
        </p:nvSpPr>
        <p:spPr bwMode="auto">
          <a:xfrm>
            <a:off x="1710574" y="32766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 name="Group 3"/>
          <p:cNvGrpSpPr/>
          <p:nvPr/>
        </p:nvGrpSpPr>
        <p:grpSpPr>
          <a:xfrm>
            <a:off x="5867400" y="1860550"/>
            <a:ext cx="1778000" cy="425450"/>
            <a:chOff x="5867400" y="1860550"/>
            <a:chExt cx="1778000" cy="425450"/>
          </a:xfrm>
        </p:grpSpPr>
        <p:sp>
          <p:nvSpPr>
            <p:cNvPr id="9228" name="Text Box 12"/>
            <p:cNvSpPr txBox="1">
              <a:spLocks noChangeArrowheads="1"/>
            </p:cNvSpPr>
            <p:nvPr/>
          </p:nvSpPr>
          <p:spPr bwMode="auto">
            <a:xfrm>
              <a:off x="6765925" y="1860550"/>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Output</a:t>
              </a:r>
            </a:p>
          </p:txBody>
        </p:sp>
        <p:sp>
          <p:nvSpPr>
            <p:cNvPr id="9230" name="Line 14"/>
            <p:cNvSpPr>
              <a:spLocks noChangeShapeType="1"/>
            </p:cNvSpPr>
            <p:nvPr/>
          </p:nvSpPr>
          <p:spPr bwMode="auto">
            <a:xfrm>
              <a:off x="5867400" y="2286000"/>
              <a:ext cx="914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 name="Group 4"/>
          <p:cNvGrpSpPr/>
          <p:nvPr/>
        </p:nvGrpSpPr>
        <p:grpSpPr>
          <a:xfrm>
            <a:off x="5029200" y="3200400"/>
            <a:ext cx="2133600" cy="2971800"/>
            <a:chOff x="5029200" y="3200400"/>
            <a:chExt cx="2133600" cy="2971800"/>
          </a:xfrm>
        </p:grpSpPr>
        <p:sp>
          <p:nvSpPr>
            <p:cNvPr id="9231" name="AutoShape 15"/>
            <p:cNvSpPr>
              <a:spLocks noChangeArrowheads="1"/>
            </p:cNvSpPr>
            <p:nvPr/>
          </p:nvSpPr>
          <p:spPr bwMode="auto">
            <a:xfrm>
              <a:off x="5486400" y="4267200"/>
              <a:ext cx="1676400" cy="1905000"/>
            </a:xfrm>
            <a:prstGeom prst="can">
              <a:avLst>
                <a:gd name="adj" fmla="val 28409"/>
              </a:avLst>
            </a:prstGeom>
            <a:solidFill>
              <a:srgbClr val="FFFF00">
                <a:alpha val="50000"/>
              </a:srgbClr>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Archival</a:t>
              </a:r>
            </a:p>
            <a:p>
              <a:pPr algn="ctr"/>
              <a:r>
                <a:rPr lang="en-US"/>
                <a:t>Storage</a:t>
              </a:r>
            </a:p>
          </p:txBody>
        </p:sp>
        <p:sp>
          <p:nvSpPr>
            <p:cNvPr id="9232" name="Line 16"/>
            <p:cNvSpPr>
              <a:spLocks noChangeShapeType="1"/>
            </p:cNvSpPr>
            <p:nvPr/>
          </p:nvSpPr>
          <p:spPr bwMode="auto">
            <a:xfrm>
              <a:off x="5029200" y="3200400"/>
              <a:ext cx="1295400" cy="12954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 name="Group 1"/>
          <p:cNvGrpSpPr/>
          <p:nvPr/>
        </p:nvGrpSpPr>
        <p:grpSpPr>
          <a:xfrm>
            <a:off x="3810000" y="152400"/>
            <a:ext cx="2057400" cy="3048000"/>
            <a:chOff x="3810000" y="152400"/>
            <a:chExt cx="2057400" cy="3048000"/>
          </a:xfrm>
        </p:grpSpPr>
        <p:sp>
          <p:nvSpPr>
            <p:cNvPr id="9218" name="Rectangle 2"/>
            <p:cNvSpPr>
              <a:spLocks noChangeArrowheads="1"/>
            </p:cNvSpPr>
            <p:nvPr/>
          </p:nvSpPr>
          <p:spPr bwMode="auto">
            <a:xfrm>
              <a:off x="3810000" y="1371600"/>
              <a:ext cx="2057400" cy="1828800"/>
            </a:xfrm>
            <a:prstGeom prst="rect">
              <a:avLst/>
            </a:prstGeom>
            <a:solidFill>
              <a:srgbClr val="339966">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p>
            <a:p>
              <a:pPr algn="ctr"/>
              <a:endParaRPr lang="en-US"/>
            </a:p>
            <a:p>
              <a:pPr algn="ctr"/>
              <a:r>
                <a:rPr lang="en-US"/>
                <a:t>Processor</a:t>
              </a:r>
            </a:p>
          </p:txBody>
        </p:sp>
        <p:sp>
          <p:nvSpPr>
            <p:cNvPr id="9226" name="Text Box 10"/>
            <p:cNvSpPr txBox="1">
              <a:spLocks noChangeArrowheads="1"/>
            </p:cNvSpPr>
            <p:nvPr/>
          </p:nvSpPr>
          <p:spPr bwMode="auto">
            <a:xfrm>
              <a:off x="4419600" y="152400"/>
              <a:ext cx="9509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Ad-Hoc</a:t>
              </a:r>
            </a:p>
            <a:p>
              <a:r>
                <a:rPr lang="en-US"/>
                <a:t>Queries</a:t>
              </a:r>
            </a:p>
          </p:txBody>
        </p:sp>
        <p:sp>
          <p:nvSpPr>
            <p:cNvPr id="9227" name="Line 11"/>
            <p:cNvSpPr>
              <a:spLocks noChangeShapeType="1"/>
            </p:cNvSpPr>
            <p:nvPr/>
          </p:nvSpPr>
          <p:spPr bwMode="auto">
            <a:xfrm>
              <a:off x="4876800" y="762000"/>
              <a:ext cx="0" cy="60960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4" name="Rectangle 18"/>
            <p:cNvSpPr>
              <a:spLocks noChangeArrowheads="1"/>
            </p:cNvSpPr>
            <p:nvPr/>
          </p:nvSpPr>
          <p:spPr bwMode="auto">
            <a:xfrm>
              <a:off x="4724400" y="1447800"/>
              <a:ext cx="1066800" cy="68580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Standing</a:t>
              </a:r>
            </a:p>
            <a:p>
              <a:pPr algn="ctr"/>
              <a:r>
                <a:rPr lang="en-US"/>
                <a:t>Queries</a:t>
              </a:r>
            </a:p>
          </p:txBody>
        </p:sp>
      </p:grpSp>
    </p:spTree>
    <p:extLst>
      <p:ext uri="{BB962C8B-B14F-4D97-AF65-F5344CB8AC3E}">
        <p14:creationId xmlns:p14="http://schemas.microsoft.com/office/powerpoint/2010/main" val="1122009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4BB3A7D-273D-4E6E-B655-8070774CA9DE}" type="slidenum">
              <a:rPr lang="en-US"/>
              <a:pPr/>
              <a:t>6</a:t>
            </a:fld>
            <a:endParaRPr lang="en-US"/>
          </a:p>
        </p:txBody>
      </p:sp>
      <p:sp>
        <p:nvSpPr>
          <p:cNvPr id="11266" name="Rectangle 2"/>
          <p:cNvSpPr>
            <a:spLocks noGrp="1" noChangeArrowheads="1"/>
          </p:cNvSpPr>
          <p:nvPr>
            <p:ph type="title"/>
          </p:nvPr>
        </p:nvSpPr>
        <p:spPr/>
        <p:txBody>
          <a:bodyPr/>
          <a:lstStyle/>
          <a:p>
            <a:r>
              <a:rPr lang="en-US" dirty="0"/>
              <a:t>Applications</a:t>
            </a:r>
          </a:p>
        </p:txBody>
      </p:sp>
      <p:sp>
        <p:nvSpPr>
          <p:cNvPr id="11267" name="Rectangle 3"/>
          <p:cNvSpPr>
            <a:spLocks noGrp="1" noChangeArrowheads="1"/>
          </p:cNvSpPr>
          <p:nvPr>
            <p:ph type="body" idx="1"/>
          </p:nvPr>
        </p:nvSpPr>
        <p:spPr/>
        <p:txBody>
          <a:bodyPr/>
          <a:lstStyle/>
          <a:p>
            <a:r>
              <a:rPr lang="en-US" dirty="0"/>
              <a:t>Mining query streams.</a:t>
            </a:r>
          </a:p>
          <a:p>
            <a:pPr lvl="1"/>
            <a:r>
              <a:rPr lang="en-US" dirty="0"/>
              <a:t>Google wants to know what queries are more frequent today than yesterday.</a:t>
            </a:r>
          </a:p>
          <a:p>
            <a:r>
              <a:rPr lang="en-US" dirty="0"/>
              <a:t>Mining click streams.</a:t>
            </a:r>
          </a:p>
          <a:p>
            <a:pPr lvl="1"/>
            <a:r>
              <a:rPr lang="en-US" dirty="0"/>
              <a:t>Yahoo! wants to know which of its pages are getting an unusual number of hits in the past hour.</a:t>
            </a:r>
          </a:p>
          <a:p>
            <a:pPr lvl="2"/>
            <a:r>
              <a:rPr lang="en-US" dirty="0"/>
              <a:t>Often caused by annoyed users clicking on a broken page.</a:t>
            </a:r>
          </a:p>
          <a:p>
            <a:r>
              <a:rPr lang="en-US" dirty="0"/>
              <a:t>IP packets can be monitored at a switch.</a:t>
            </a:r>
          </a:p>
          <a:p>
            <a:pPr lvl="1"/>
            <a:r>
              <a:rPr lang="en-US" dirty="0"/>
              <a:t>Gather information for optimal routing.</a:t>
            </a:r>
          </a:p>
          <a:p>
            <a:pPr lvl="1"/>
            <a:r>
              <a:rPr lang="en-US" dirty="0"/>
              <a:t>Detect denial-of-service attacks.</a:t>
            </a:r>
          </a:p>
        </p:txBody>
      </p:sp>
    </p:spTree>
    <p:extLst>
      <p:ext uri="{BB962C8B-B14F-4D97-AF65-F5344CB8AC3E}">
        <p14:creationId xmlns:p14="http://schemas.microsoft.com/office/powerpoint/2010/main" val="208300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26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26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7">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200329"/>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Sliding Windows</a:t>
            </a:r>
          </a:p>
          <a:p>
            <a:pPr algn="ctr"/>
            <a:endParaRPr lang="en-AU" sz="3200" dirty="0">
              <a:solidFill>
                <a:srgbClr val="FFFF00"/>
              </a:solidFill>
              <a:latin typeface="Palatino Linotype" panose="02040502050505030304" pitchFamily="18" charset="0"/>
            </a:endParaRPr>
          </a:p>
        </p:txBody>
      </p:sp>
    </p:spTree>
    <p:extLst>
      <p:ext uri="{BB962C8B-B14F-4D97-AF65-F5344CB8AC3E}">
        <p14:creationId xmlns:p14="http://schemas.microsoft.com/office/powerpoint/2010/main" val="1797452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8E6106D-431C-485F-A7BC-7A9A9778EF1F}" type="slidenum">
              <a:rPr lang="en-US"/>
              <a:pPr/>
              <a:t>8</a:t>
            </a:fld>
            <a:endParaRPr lang="en-US"/>
          </a:p>
        </p:txBody>
      </p:sp>
      <p:sp>
        <p:nvSpPr>
          <p:cNvPr id="13314" name="Rectangle 2"/>
          <p:cNvSpPr>
            <a:spLocks noGrp="1" noChangeArrowheads="1"/>
          </p:cNvSpPr>
          <p:nvPr>
            <p:ph type="title"/>
          </p:nvPr>
        </p:nvSpPr>
        <p:spPr/>
        <p:txBody>
          <a:bodyPr/>
          <a:lstStyle/>
          <a:p>
            <a:r>
              <a:rPr lang="en-US"/>
              <a:t>Sliding Windows</a:t>
            </a:r>
          </a:p>
        </p:txBody>
      </p:sp>
      <p:sp>
        <p:nvSpPr>
          <p:cNvPr id="13315" name="Rectangle 3"/>
          <p:cNvSpPr>
            <a:spLocks noGrp="1" noChangeArrowheads="1"/>
          </p:cNvSpPr>
          <p:nvPr>
            <p:ph type="body" idx="1"/>
          </p:nvPr>
        </p:nvSpPr>
        <p:spPr>
          <a:xfrm>
            <a:off x="457200" y="1371600"/>
            <a:ext cx="8534400" cy="5181600"/>
          </a:xfrm>
        </p:spPr>
        <p:txBody>
          <a:bodyPr>
            <a:normAutofit/>
          </a:bodyPr>
          <a:lstStyle/>
          <a:p>
            <a:r>
              <a:rPr lang="en-US" dirty="0"/>
              <a:t>A useful model of stream processing is that queries are about a </a:t>
            </a:r>
            <a:r>
              <a:rPr lang="en-US" i="1" dirty="0">
                <a:solidFill>
                  <a:srgbClr val="FF0000"/>
                </a:solidFill>
              </a:rPr>
              <a:t>window</a:t>
            </a:r>
            <a:r>
              <a:rPr lang="en-US" dirty="0"/>
              <a:t> of length </a:t>
            </a:r>
            <a:r>
              <a:rPr lang="en-US" i="1" dirty="0"/>
              <a:t>N</a:t>
            </a:r>
            <a:r>
              <a:rPr lang="en-US" dirty="0"/>
              <a:t> – the </a:t>
            </a:r>
            <a:r>
              <a:rPr lang="en-US" i="1" dirty="0"/>
              <a:t>N</a:t>
            </a:r>
            <a:r>
              <a:rPr lang="en-US" dirty="0"/>
              <a:t> most recent elements received.</a:t>
            </a:r>
          </a:p>
          <a:p>
            <a:r>
              <a:rPr lang="en-US" dirty="0">
                <a:solidFill>
                  <a:srgbClr val="0070C0"/>
                </a:solidFill>
              </a:rPr>
              <a:t>Interesting case</a:t>
            </a:r>
            <a:r>
              <a:rPr lang="en-US" dirty="0"/>
              <a:t>: </a:t>
            </a:r>
            <a:r>
              <a:rPr lang="en-US" i="1" dirty="0"/>
              <a:t>N</a:t>
            </a:r>
            <a:r>
              <a:rPr lang="en-US" dirty="0"/>
              <a:t> is so large it cannot be stored in main memory.</a:t>
            </a:r>
          </a:p>
          <a:p>
            <a:pPr lvl="1"/>
            <a:r>
              <a:rPr lang="en-US" dirty="0"/>
              <a:t>Or, there are so many streams that windows for all do not fit in main memory.</a:t>
            </a:r>
          </a:p>
        </p:txBody>
      </p:sp>
    </p:spTree>
    <p:extLst>
      <p:ext uri="{BB962C8B-B14F-4D97-AF65-F5344CB8AC3E}">
        <p14:creationId xmlns:p14="http://schemas.microsoft.com/office/powerpoint/2010/main" val="53710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p:cNvSpPr>
            <a:spLocks noGrp="1"/>
          </p:cNvSpPr>
          <p:nvPr>
            <p:ph type="sldNum" sz="quarter" idx="12"/>
          </p:nvPr>
        </p:nvSpPr>
        <p:spPr/>
        <p:txBody>
          <a:bodyPr/>
          <a:lstStyle/>
          <a:p>
            <a:fld id="{58A86A41-1F28-435B-B2D6-A9D56D266CA1}" type="slidenum">
              <a:rPr lang="en-US"/>
              <a:pPr/>
              <a:t>9</a:t>
            </a:fld>
            <a:endParaRPr lang="en-US"/>
          </a:p>
        </p:txBody>
      </p:sp>
      <p:grpSp>
        <p:nvGrpSpPr>
          <p:cNvPr id="14349" name="Group 1037"/>
          <p:cNvGrpSpPr>
            <a:grpSpLocks/>
          </p:cNvGrpSpPr>
          <p:nvPr/>
        </p:nvGrpSpPr>
        <p:grpSpPr bwMode="auto">
          <a:xfrm>
            <a:off x="1905000" y="838200"/>
            <a:ext cx="4878388" cy="381000"/>
            <a:chOff x="1200" y="528"/>
            <a:chExt cx="3073" cy="240"/>
          </a:xfrm>
        </p:grpSpPr>
        <p:sp>
          <p:nvSpPr>
            <p:cNvPr id="14338" name="Text Box 1026"/>
            <p:cNvSpPr txBox="1">
              <a:spLocks noChangeArrowheads="1"/>
            </p:cNvSpPr>
            <p:nvPr/>
          </p:nvSpPr>
          <p:spPr bwMode="auto">
            <a:xfrm>
              <a:off x="1200" y="528"/>
              <a:ext cx="30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q w e r t y u i o p a s d f g h j k l z x c v b n m</a:t>
              </a:r>
            </a:p>
          </p:txBody>
        </p:sp>
        <p:sp>
          <p:nvSpPr>
            <p:cNvPr id="14339" name="Rectangle 1027"/>
            <p:cNvSpPr>
              <a:spLocks noChangeArrowheads="1"/>
            </p:cNvSpPr>
            <p:nvPr/>
          </p:nvSpPr>
          <p:spPr bwMode="auto">
            <a:xfrm>
              <a:off x="2304" y="528"/>
              <a:ext cx="528" cy="24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4350" name="Group 1038"/>
          <p:cNvGrpSpPr>
            <a:grpSpLocks/>
          </p:cNvGrpSpPr>
          <p:nvPr/>
        </p:nvGrpSpPr>
        <p:grpSpPr bwMode="auto">
          <a:xfrm>
            <a:off x="1905000" y="1828800"/>
            <a:ext cx="4878388" cy="381000"/>
            <a:chOff x="1200" y="1152"/>
            <a:chExt cx="3073" cy="240"/>
          </a:xfrm>
        </p:grpSpPr>
        <p:sp>
          <p:nvSpPr>
            <p:cNvPr id="14340" name="Text Box 1028"/>
            <p:cNvSpPr txBox="1">
              <a:spLocks noChangeArrowheads="1"/>
            </p:cNvSpPr>
            <p:nvPr/>
          </p:nvSpPr>
          <p:spPr bwMode="auto">
            <a:xfrm>
              <a:off x="1200" y="1152"/>
              <a:ext cx="30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q w e r t y u i o p a s d f g h j k l z x c v b n m</a:t>
              </a:r>
            </a:p>
          </p:txBody>
        </p:sp>
        <p:sp>
          <p:nvSpPr>
            <p:cNvPr id="14343" name="Rectangle 1031"/>
            <p:cNvSpPr>
              <a:spLocks noChangeArrowheads="1"/>
            </p:cNvSpPr>
            <p:nvPr/>
          </p:nvSpPr>
          <p:spPr bwMode="auto">
            <a:xfrm>
              <a:off x="2400" y="1152"/>
              <a:ext cx="528" cy="24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4351" name="Group 1039"/>
          <p:cNvGrpSpPr>
            <a:grpSpLocks/>
          </p:cNvGrpSpPr>
          <p:nvPr/>
        </p:nvGrpSpPr>
        <p:grpSpPr bwMode="auto">
          <a:xfrm>
            <a:off x="1905000" y="2819400"/>
            <a:ext cx="4878388" cy="381000"/>
            <a:chOff x="1200" y="1776"/>
            <a:chExt cx="3073" cy="240"/>
          </a:xfrm>
        </p:grpSpPr>
        <p:sp>
          <p:nvSpPr>
            <p:cNvPr id="14341" name="Text Box 1029"/>
            <p:cNvSpPr txBox="1">
              <a:spLocks noChangeArrowheads="1"/>
            </p:cNvSpPr>
            <p:nvPr/>
          </p:nvSpPr>
          <p:spPr bwMode="auto">
            <a:xfrm>
              <a:off x="1200" y="1776"/>
              <a:ext cx="30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dirty="0"/>
                <a:t>q w e r t y u </a:t>
              </a:r>
              <a:r>
                <a:rPr lang="en-US" dirty="0" err="1"/>
                <a:t>i</a:t>
              </a:r>
              <a:r>
                <a:rPr lang="en-US" dirty="0"/>
                <a:t> o p a s d f g h j k l z x c v b n m</a:t>
              </a:r>
            </a:p>
          </p:txBody>
        </p:sp>
        <p:sp>
          <p:nvSpPr>
            <p:cNvPr id="14344" name="Rectangle 1032"/>
            <p:cNvSpPr>
              <a:spLocks noChangeArrowheads="1"/>
            </p:cNvSpPr>
            <p:nvPr/>
          </p:nvSpPr>
          <p:spPr bwMode="auto">
            <a:xfrm>
              <a:off x="2496" y="1776"/>
              <a:ext cx="528" cy="24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14352" name="Group 1040"/>
          <p:cNvGrpSpPr>
            <a:grpSpLocks/>
          </p:cNvGrpSpPr>
          <p:nvPr/>
        </p:nvGrpSpPr>
        <p:grpSpPr bwMode="auto">
          <a:xfrm>
            <a:off x="1905000" y="3810000"/>
            <a:ext cx="4878388" cy="381000"/>
            <a:chOff x="1200" y="2400"/>
            <a:chExt cx="3073" cy="240"/>
          </a:xfrm>
        </p:grpSpPr>
        <p:sp>
          <p:nvSpPr>
            <p:cNvPr id="14342" name="Text Box 1030"/>
            <p:cNvSpPr txBox="1">
              <a:spLocks noChangeArrowheads="1"/>
            </p:cNvSpPr>
            <p:nvPr/>
          </p:nvSpPr>
          <p:spPr bwMode="auto">
            <a:xfrm>
              <a:off x="1200" y="2400"/>
              <a:ext cx="307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q w e r t y u i o p a s d f g h j k l z x c v b n m</a:t>
              </a:r>
            </a:p>
          </p:txBody>
        </p:sp>
        <p:sp>
          <p:nvSpPr>
            <p:cNvPr id="14345" name="Rectangle 1033"/>
            <p:cNvSpPr>
              <a:spLocks noChangeArrowheads="1"/>
            </p:cNvSpPr>
            <p:nvPr/>
          </p:nvSpPr>
          <p:spPr bwMode="auto">
            <a:xfrm>
              <a:off x="2568" y="2400"/>
              <a:ext cx="552" cy="240"/>
            </a:xfrm>
            <a:prstGeom prst="rect">
              <a:avLst/>
            </a:prstGeom>
            <a:solidFill>
              <a:srgbClr val="CC99FF">
                <a:alpha val="50000"/>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4346" name="Text Box 1034"/>
          <p:cNvSpPr txBox="1">
            <a:spLocks noChangeArrowheads="1"/>
          </p:cNvSpPr>
          <p:nvPr/>
        </p:nvSpPr>
        <p:spPr bwMode="auto">
          <a:xfrm>
            <a:off x="3032125" y="4603750"/>
            <a:ext cx="30464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Past                         Future</a:t>
            </a:r>
          </a:p>
        </p:txBody>
      </p:sp>
      <p:sp>
        <p:nvSpPr>
          <p:cNvPr id="14347" name="Line 1035"/>
          <p:cNvSpPr>
            <a:spLocks noChangeShapeType="1"/>
          </p:cNvSpPr>
          <p:nvPr/>
        </p:nvSpPr>
        <p:spPr bwMode="auto">
          <a:xfrm flipH="1">
            <a:off x="2286000" y="4800600"/>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8" name="Line 1036"/>
          <p:cNvSpPr>
            <a:spLocks noChangeShapeType="1"/>
          </p:cNvSpPr>
          <p:nvPr/>
        </p:nvSpPr>
        <p:spPr bwMode="auto">
          <a:xfrm>
            <a:off x="6172200" y="4800600"/>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712037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3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435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43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Averages</a:t>
            </a:r>
          </a:p>
        </p:txBody>
      </p:sp>
      <p:sp>
        <p:nvSpPr>
          <p:cNvPr id="3" name="Content Placeholder 2"/>
          <p:cNvSpPr>
            <a:spLocks noGrp="1"/>
          </p:cNvSpPr>
          <p:nvPr>
            <p:ph idx="1"/>
          </p:nvPr>
        </p:nvSpPr>
        <p:spPr>
          <a:xfrm>
            <a:off x="228600" y="1295400"/>
            <a:ext cx="8915400" cy="5257801"/>
          </a:xfrm>
        </p:spPr>
        <p:txBody>
          <a:bodyPr>
            <a:normAutofit/>
          </a:bodyPr>
          <a:lstStyle/>
          <a:p>
            <a:r>
              <a:rPr lang="en-US" dirty="0"/>
              <a:t>Stream of integers, window of size </a:t>
            </a:r>
            <a:r>
              <a:rPr lang="en-US" i="1" dirty="0"/>
              <a:t>N</a:t>
            </a:r>
            <a:r>
              <a:rPr lang="en-US" dirty="0"/>
              <a:t>.</a:t>
            </a:r>
          </a:p>
          <a:p>
            <a:r>
              <a:rPr lang="en-US" dirty="0">
                <a:solidFill>
                  <a:srgbClr val="0070C0"/>
                </a:solidFill>
              </a:rPr>
              <a:t>Standing query</a:t>
            </a:r>
            <a:r>
              <a:rPr lang="en-US" dirty="0"/>
              <a:t>: what is the average of the integers in the window?</a:t>
            </a:r>
          </a:p>
          <a:p>
            <a:r>
              <a:rPr lang="en-US" dirty="0"/>
              <a:t>For the first </a:t>
            </a:r>
            <a:r>
              <a:rPr lang="en-US" i="1" dirty="0"/>
              <a:t>N</a:t>
            </a:r>
            <a:r>
              <a:rPr lang="en-US" dirty="0"/>
              <a:t> inputs, sum and count to get the average.</a:t>
            </a:r>
          </a:p>
          <a:p>
            <a:r>
              <a:rPr lang="en-US" dirty="0"/>
              <a:t>Afterward, when a new input </a:t>
            </a:r>
            <a:r>
              <a:rPr lang="en-US" i="1" dirty="0" err="1"/>
              <a:t>i</a:t>
            </a:r>
            <a:r>
              <a:rPr lang="en-US" dirty="0"/>
              <a:t> arrives, change the average by adding (</a:t>
            </a:r>
            <a:r>
              <a:rPr lang="en-US" i="1" dirty="0" err="1"/>
              <a:t>i</a:t>
            </a:r>
            <a:r>
              <a:rPr lang="en-US" dirty="0"/>
              <a:t> - </a:t>
            </a:r>
            <a:r>
              <a:rPr lang="en-US" i="1" dirty="0"/>
              <a:t>j</a:t>
            </a:r>
            <a:r>
              <a:rPr lang="en-US" dirty="0"/>
              <a:t>)/</a:t>
            </a:r>
            <a:r>
              <a:rPr lang="en-US" i="1" dirty="0"/>
              <a:t>N</a:t>
            </a:r>
            <a:r>
              <a:rPr lang="en-US" dirty="0"/>
              <a:t>, where </a:t>
            </a:r>
            <a:r>
              <a:rPr lang="en-US" i="1" dirty="0"/>
              <a:t>j</a:t>
            </a:r>
            <a:r>
              <a:rPr lang="en-US" dirty="0"/>
              <a:t> is the oldest integer in the window before </a:t>
            </a:r>
            <a:r>
              <a:rPr lang="en-US" i="1" dirty="0" err="1"/>
              <a:t>i</a:t>
            </a:r>
            <a:r>
              <a:rPr lang="en-US" dirty="0"/>
              <a:t> arrived.</a:t>
            </a:r>
          </a:p>
          <a:p>
            <a:r>
              <a:rPr lang="en-US" dirty="0">
                <a:solidFill>
                  <a:srgbClr val="00B050"/>
                </a:solidFill>
              </a:rPr>
              <a:t>Good</a:t>
            </a:r>
            <a:r>
              <a:rPr lang="en-US" dirty="0"/>
              <a:t>: O(1) time per input.</a:t>
            </a:r>
          </a:p>
          <a:p>
            <a:r>
              <a:rPr lang="en-US" dirty="0">
                <a:solidFill>
                  <a:srgbClr val="00B050"/>
                </a:solidFill>
              </a:rPr>
              <a:t>Bad</a:t>
            </a:r>
            <a:r>
              <a:rPr lang="en-US" dirty="0"/>
              <a:t>: Requires the entire window in main memory.</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10</a:t>
            </a:fld>
            <a:endParaRPr lang="en-US"/>
          </a:p>
        </p:txBody>
      </p:sp>
    </p:spTree>
    <p:extLst>
      <p:ext uri="{BB962C8B-B14F-4D97-AF65-F5344CB8AC3E}">
        <p14:creationId xmlns:p14="http://schemas.microsoft.com/office/powerpoint/2010/main" val="207387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200329"/>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Bloom Filters</a:t>
            </a:r>
          </a:p>
          <a:p>
            <a:pPr algn="ctr"/>
            <a:endParaRPr lang="en-AU" sz="3200" dirty="0">
              <a:solidFill>
                <a:srgbClr val="FFFF00"/>
              </a:solidFill>
              <a:latin typeface="Palatino Linotype" panose="02040502050505030304" pitchFamily="18" charset="0"/>
            </a:endParaRPr>
          </a:p>
        </p:txBody>
      </p:sp>
    </p:spTree>
    <p:extLst>
      <p:ext uri="{BB962C8B-B14F-4D97-AF65-F5344CB8AC3E}">
        <p14:creationId xmlns:p14="http://schemas.microsoft.com/office/powerpoint/2010/main" val="4270257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Filtering Chunks</a:t>
            </a:r>
          </a:p>
        </p:txBody>
      </p:sp>
      <p:sp>
        <p:nvSpPr>
          <p:cNvPr id="3" name="Content Placeholder 2"/>
          <p:cNvSpPr>
            <a:spLocks noGrp="1"/>
          </p:cNvSpPr>
          <p:nvPr>
            <p:ph idx="1"/>
          </p:nvPr>
        </p:nvSpPr>
        <p:spPr>
          <a:xfrm>
            <a:off x="457200" y="1295400"/>
            <a:ext cx="8534400" cy="5257800"/>
          </a:xfrm>
        </p:spPr>
        <p:txBody>
          <a:bodyPr>
            <a:normAutofit/>
          </a:bodyPr>
          <a:lstStyle/>
          <a:p>
            <a:r>
              <a:rPr lang="en-US" dirty="0"/>
              <a:t>Suppose we have a dataset stored in a distributed file system, spread over many chunks (e.g. blocks of 64MB).</a:t>
            </a:r>
            <a:endParaRPr lang="en-US" i="1" dirty="0"/>
          </a:p>
          <a:p>
            <a:r>
              <a:rPr lang="en-US" dirty="0"/>
              <a:t>We want to find a particular value V, looking at as few chunks as possible.</a:t>
            </a:r>
          </a:p>
          <a:p>
            <a:r>
              <a:rPr lang="en-US" dirty="0"/>
              <a:t>A Bloom filter on each chunk is a relatively short sequence of bits that provides an answer to the question “is there a value V anywhere in this chunk?”</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12</a:t>
            </a:fld>
            <a:endParaRPr lang="en-US"/>
          </a:p>
        </p:txBody>
      </p:sp>
    </p:spTree>
    <p:extLst>
      <p:ext uri="{BB962C8B-B14F-4D97-AF65-F5344CB8AC3E}">
        <p14:creationId xmlns:p14="http://schemas.microsoft.com/office/powerpoint/2010/main" val="3320201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Filtering Chunks – (2)</a:t>
            </a:r>
          </a:p>
        </p:txBody>
      </p:sp>
      <p:sp>
        <p:nvSpPr>
          <p:cNvPr id="3" name="Content Placeholder 2"/>
          <p:cNvSpPr>
            <a:spLocks noGrp="1"/>
          </p:cNvSpPr>
          <p:nvPr>
            <p:ph idx="1"/>
          </p:nvPr>
        </p:nvSpPr>
        <p:spPr/>
        <p:txBody>
          <a:bodyPr/>
          <a:lstStyle/>
          <a:p>
            <a:r>
              <a:rPr lang="en-US" dirty="0"/>
              <a:t>If the Bloom filter says “no,” then there definitely is no V there, so we do not have to retrieve this chunk.</a:t>
            </a:r>
          </a:p>
          <a:p>
            <a:r>
              <a:rPr lang="en-US" dirty="0"/>
              <a:t>Unfortunately, there can be false positives – the Bloom filter says “yes,” but there really is no instance of V there.</a:t>
            </a:r>
          </a:p>
          <a:p>
            <a:r>
              <a:rPr lang="en-US"/>
              <a:t>We can </a:t>
            </a:r>
            <a:r>
              <a:rPr lang="en-US" dirty="0"/>
              <a:t>make the probability of a false positive very low, but at the cost of a larger bit array.</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13</a:t>
            </a:fld>
            <a:endParaRPr lang="en-US"/>
          </a:p>
        </p:txBody>
      </p:sp>
    </p:spTree>
    <p:extLst>
      <p:ext uri="{BB962C8B-B14F-4D97-AF65-F5344CB8AC3E}">
        <p14:creationId xmlns:p14="http://schemas.microsoft.com/office/powerpoint/2010/main" val="223157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 Bloom Filter Works</a:t>
            </a:r>
          </a:p>
        </p:txBody>
      </p:sp>
      <p:sp>
        <p:nvSpPr>
          <p:cNvPr id="3" name="Content Placeholder 2"/>
          <p:cNvSpPr>
            <a:spLocks noGrp="1"/>
          </p:cNvSpPr>
          <p:nvPr>
            <p:ph idx="1"/>
          </p:nvPr>
        </p:nvSpPr>
        <p:spPr/>
        <p:txBody>
          <a:bodyPr/>
          <a:lstStyle/>
          <a:p>
            <a:r>
              <a:rPr lang="en-US" dirty="0"/>
              <a:t>A </a:t>
            </a:r>
            <a:r>
              <a:rPr lang="en-US" i="1" dirty="0">
                <a:solidFill>
                  <a:srgbClr val="FF0000"/>
                </a:solidFill>
              </a:rPr>
              <a:t>Bloom filter </a:t>
            </a:r>
            <a:r>
              <a:rPr lang="en-US" dirty="0"/>
              <a:t>is an array of bits, together with a number of hash functions.</a:t>
            </a:r>
          </a:p>
          <a:p>
            <a:r>
              <a:rPr lang="en-US" dirty="0"/>
              <a:t>The argument of each hash function is a stream element, and it returns a position in the array.</a:t>
            </a:r>
          </a:p>
          <a:p>
            <a:r>
              <a:rPr lang="en-US" dirty="0"/>
              <a:t>Initially, all bits are 0.</a:t>
            </a:r>
          </a:p>
          <a:p>
            <a:r>
              <a:rPr lang="en-US" dirty="0"/>
              <a:t>When input x arrives, we set to 1 the bits h(x), for each hash function h.</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14</a:t>
            </a:fld>
            <a:endParaRPr lang="en-US"/>
          </a:p>
        </p:txBody>
      </p:sp>
    </p:spTree>
    <p:extLst>
      <p:ext uri="{BB962C8B-B14F-4D97-AF65-F5344CB8AC3E}">
        <p14:creationId xmlns:p14="http://schemas.microsoft.com/office/powerpoint/2010/main" val="892542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Bloom Filter</a:t>
            </a:r>
          </a:p>
        </p:txBody>
      </p:sp>
      <p:sp>
        <p:nvSpPr>
          <p:cNvPr id="3" name="Content Placeholder 2"/>
          <p:cNvSpPr>
            <a:spLocks noGrp="1"/>
          </p:cNvSpPr>
          <p:nvPr>
            <p:ph idx="1"/>
          </p:nvPr>
        </p:nvSpPr>
        <p:spPr/>
        <p:txBody>
          <a:bodyPr/>
          <a:lstStyle/>
          <a:p>
            <a:r>
              <a:rPr lang="en-US" dirty="0"/>
              <a:t>Use N = 11 bits for our filter.</a:t>
            </a:r>
          </a:p>
          <a:p>
            <a:r>
              <a:rPr lang="en-US" dirty="0"/>
              <a:t>Stream elements = integers.</a:t>
            </a:r>
          </a:p>
          <a:p>
            <a:r>
              <a:rPr lang="en-US" dirty="0"/>
              <a:t>Use two hash functions:</a:t>
            </a:r>
          </a:p>
          <a:p>
            <a:pPr lvl="1"/>
            <a:r>
              <a:rPr lang="en-US" dirty="0"/>
              <a:t>h</a:t>
            </a:r>
            <a:r>
              <a:rPr lang="en-US" baseline="-25000" dirty="0"/>
              <a:t>1</a:t>
            </a:r>
            <a:r>
              <a:rPr lang="en-US" dirty="0"/>
              <a:t>(x) =</a:t>
            </a:r>
          </a:p>
          <a:p>
            <a:pPr lvl="2"/>
            <a:r>
              <a:rPr lang="en-US" dirty="0"/>
              <a:t>Take odd-numbered bits from the right in the binary representation of x.</a:t>
            </a:r>
          </a:p>
          <a:p>
            <a:pPr lvl="2"/>
            <a:r>
              <a:rPr lang="en-US" dirty="0"/>
              <a:t>Treat it as an integer </a:t>
            </a:r>
            <a:r>
              <a:rPr lang="en-US" dirty="0" err="1"/>
              <a:t>i</a:t>
            </a:r>
            <a:r>
              <a:rPr lang="en-US" dirty="0"/>
              <a:t>.</a:t>
            </a:r>
          </a:p>
          <a:p>
            <a:pPr lvl="2"/>
            <a:r>
              <a:rPr lang="en-US" dirty="0"/>
              <a:t>Result is </a:t>
            </a:r>
            <a:r>
              <a:rPr lang="en-US" dirty="0" err="1"/>
              <a:t>i</a:t>
            </a:r>
            <a:r>
              <a:rPr lang="en-US" dirty="0"/>
              <a:t> modulo 11.</a:t>
            </a:r>
          </a:p>
          <a:p>
            <a:pPr lvl="1"/>
            <a:r>
              <a:rPr lang="en-US" dirty="0"/>
              <a:t>h</a:t>
            </a:r>
            <a:r>
              <a:rPr lang="en-US" baseline="-25000" dirty="0"/>
              <a:t>2</a:t>
            </a:r>
            <a:r>
              <a:rPr lang="en-US" dirty="0"/>
              <a:t>(x) = same, but take even-numbered bits.</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401269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 Continued</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16</a:t>
            </a:fld>
            <a:endParaRPr lang="en-US"/>
          </a:p>
        </p:txBody>
      </p:sp>
      <p:sp>
        <p:nvSpPr>
          <p:cNvPr id="7" name="TextBox 6"/>
          <p:cNvSpPr txBox="1"/>
          <p:nvPr/>
        </p:nvSpPr>
        <p:spPr>
          <a:xfrm>
            <a:off x="533400" y="1275329"/>
            <a:ext cx="1242648" cy="830997"/>
          </a:xfrm>
          <a:prstGeom prst="rect">
            <a:avLst/>
          </a:prstGeom>
          <a:noFill/>
        </p:spPr>
        <p:txBody>
          <a:bodyPr wrap="none" rtlCol="0">
            <a:spAutoFit/>
          </a:bodyPr>
          <a:lstStyle/>
          <a:p>
            <a:r>
              <a:rPr lang="en-US" sz="2400" dirty="0"/>
              <a:t>Stream</a:t>
            </a:r>
          </a:p>
          <a:p>
            <a:r>
              <a:rPr lang="en-US" sz="2400" dirty="0"/>
              <a:t>element</a:t>
            </a:r>
          </a:p>
        </p:txBody>
      </p:sp>
      <p:sp>
        <p:nvSpPr>
          <p:cNvPr id="8" name="TextBox 7"/>
          <p:cNvSpPr txBox="1"/>
          <p:nvPr/>
        </p:nvSpPr>
        <p:spPr>
          <a:xfrm>
            <a:off x="3247939" y="1414961"/>
            <a:ext cx="439544" cy="461665"/>
          </a:xfrm>
          <a:prstGeom prst="rect">
            <a:avLst/>
          </a:prstGeom>
          <a:noFill/>
        </p:spPr>
        <p:txBody>
          <a:bodyPr wrap="none" rtlCol="0">
            <a:spAutoFit/>
          </a:bodyPr>
          <a:lstStyle/>
          <a:p>
            <a:r>
              <a:rPr lang="en-US" sz="2400" dirty="0"/>
              <a:t>h</a:t>
            </a:r>
            <a:r>
              <a:rPr lang="en-US" sz="2400" baseline="-25000" dirty="0"/>
              <a:t>1</a:t>
            </a:r>
          </a:p>
        </p:txBody>
      </p:sp>
      <p:sp>
        <p:nvSpPr>
          <p:cNvPr id="9" name="TextBox 8"/>
          <p:cNvSpPr txBox="1"/>
          <p:nvPr/>
        </p:nvSpPr>
        <p:spPr>
          <a:xfrm>
            <a:off x="4348232" y="1459754"/>
            <a:ext cx="452368" cy="461665"/>
          </a:xfrm>
          <a:prstGeom prst="rect">
            <a:avLst/>
          </a:prstGeom>
          <a:noFill/>
        </p:spPr>
        <p:txBody>
          <a:bodyPr wrap="none" rtlCol="0">
            <a:spAutoFit/>
          </a:bodyPr>
          <a:lstStyle/>
          <a:p>
            <a:r>
              <a:rPr lang="en-US" sz="2400" dirty="0"/>
              <a:t>h</a:t>
            </a:r>
            <a:r>
              <a:rPr lang="en-US" sz="2400" baseline="-25000" dirty="0"/>
              <a:t>2</a:t>
            </a:r>
          </a:p>
        </p:txBody>
      </p:sp>
      <p:sp>
        <p:nvSpPr>
          <p:cNvPr id="10" name="TextBox 9"/>
          <p:cNvSpPr txBox="1"/>
          <p:nvPr/>
        </p:nvSpPr>
        <p:spPr>
          <a:xfrm>
            <a:off x="5715000" y="1427726"/>
            <a:ext cx="2024913" cy="461665"/>
          </a:xfrm>
          <a:prstGeom prst="rect">
            <a:avLst/>
          </a:prstGeom>
          <a:noFill/>
        </p:spPr>
        <p:txBody>
          <a:bodyPr wrap="none" rtlCol="0">
            <a:spAutoFit/>
          </a:bodyPr>
          <a:lstStyle/>
          <a:p>
            <a:r>
              <a:rPr lang="en-US" sz="2400" dirty="0"/>
              <a:t>Filter contents</a:t>
            </a:r>
          </a:p>
        </p:txBody>
      </p:sp>
      <p:sp>
        <p:nvSpPr>
          <p:cNvPr id="11" name="TextBox 10"/>
          <p:cNvSpPr txBox="1"/>
          <p:nvPr/>
        </p:nvSpPr>
        <p:spPr>
          <a:xfrm>
            <a:off x="664924" y="2514600"/>
            <a:ext cx="7397153" cy="461665"/>
          </a:xfrm>
          <a:prstGeom prst="rect">
            <a:avLst/>
          </a:prstGeom>
          <a:noFill/>
        </p:spPr>
        <p:txBody>
          <a:bodyPr wrap="none" rtlCol="0">
            <a:spAutoFit/>
          </a:bodyPr>
          <a:lstStyle/>
          <a:p>
            <a:r>
              <a:rPr lang="en-US" sz="2400" dirty="0"/>
              <a:t>  25 = 1</a:t>
            </a:r>
            <a:r>
              <a:rPr lang="en-US" sz="2400" dirty="0">
                <a:solidFill>
                  <a:srgbClr val="D60093"/>
                </a:solidFill>
              </a:rPr>
              <a:t>1</a:t>
            </a:r>
            <a:r>
              <a:rPr lang="en-US" sz="2400" dirty="0"/>
              <a:t>0</a:t>
            </a:r>
            <a:r>
              <a:rPr lang="en-US" sz="2400" dirty="0">
                <a:solidFill>
                  <a:srgbClr val="D60093"/>
                </a:solidFill>
              </a:rPr>
              <a:t>0</a:t>
            </a:r>
            <a:r>
              <a:rPr lang="en-US" sz="2400" dirty="0"/>
              <a:t>1                   5                2                          00</a:t>
            </a:r>
            <a:r>
              <a:rPr lang="en-US" sz="2400" dirty="0">
                <a:solidFill>
                  <a:srgbClr val="0000FF"/>
                </a:solidFill>
              </a:rPr>
              <a:t>1</a:t>
            </a:r>
            <a:r>
              <a:rPr lang="en-US" sz="2400" dirty="0"/>
              <a:t>00</a:t>
            </a:r>
            <a:r>
              <a:rPr lang="en-US" sz="2400" dirty="0">
                <a:solidFill>
                  <a:srgbClr val="0000FF"/>
                </a:solidFill>
              </a:rPr>
              <a:t>1</a:t>
            </a:r>
            <a:r>
              <a:rPr lang="en-US" sz="2400" dirty="0"/>
              <a:t>00000</a:t>
            </a:r>
          </a:p>
        </p:txBody>
      </p:sp>
      <p:sp>
        <p:nvSpPr>
          <p:cNvPr id="12" name="TextBox 11"/>
          <p:cNvSpPr txBox="1"/>
          <p:nvPr/>
        </p:nvSpPr>
        <p:spPr>
          <a:xfrm>
            <a:off x="6053937" y="1894329"/>
            <a:ext cx="1930337" cy="461665"/>
          </a:xfrm>
          <a:prstGeom prst="rect">
            <a:avLst/>
          </a:prstGeom>
          <a:noFill/>
        </p:spPr>
        <p:txBody>
          <a:bodyPr wrap="none" rtlCol="0">
            <a:spAutoFit/>
          </a:bodyPr>
          <a:lstStyle/>
          <a:p>
            <a:r>
              <a:rPr lang="en-US" sz="2400" dirty="0"/>
              <a:t>00000000000</a:t>
            </a:r>
          </a:p>
        </p:txBody>
      </p:sp>
      <p:sp>
        <p:nvSpPr>
          <p:cNvPr id="13" name="TextBox 12"/>
          <p:cNvSpPr txBox="1"/>
          <p:nvPr/>
        </p:nvSpPr>
        <p:spPr>
          <a:xfrm>
            <a:off x="674029" y="3124200"/>
            <a:ext cx="7561685" cy="461665"/>
          </a:xfrm>
          <a:prstGeom prst="rect">
            <a:avLst/>
          </a:prstGeom>
          <a:noFill/>
        </p:spPr>
        <p:txBody>
          <a:bodyPr wrap="none" rtlCol="0">
            <a:spAutoFit/>
          </a:bodyPr>
          <a:lstStyle/>
          <a:p>
            <a:r>
              <a:rPr lang="en-US" sz="2400" dirty="0"/>
              <a:t>159 = </a:t>
            </a:r>
            <a:r>
              <a:rPr lang="en-US" sz="2400" dirty="0">
                <a:solidFill>
                  <a:srgbClr val="D60093"/>
                </a:solidFill>
              </a:rPr>
              <a:t>1</a:t>
            </a:r>
            <a:r>
              <a:rPr lang="en-US" sz="2400" dirty="0"/>
              <a:t>0</a:t>
            </a:r>
            <a:r>
              <a:rPr lang="en-US" sz="2400" dirty="0">
                <a:solidFill>
                  <a:srgbClr val="D60093"/>
                </a:solidFill>
              </a:rPr>
              <a:t>0</a:t>
            </a:r>
            <a:r>
              <a:rPr lang="en-US" sz="2400" dirty="0"/>
              <a:t>1</a:t>
            </a:r>
            <a:r>
              <a:rPr lang="en-US" sz="2400" dirty="0">
                <a:solidFill>
                  <a:srgbClr val="D60093"/>
                </a:solidFill>
              </a:rPr>
              <a:t>1</a:t>
            </a:r>
            <a:r>
              <a:rPr lang="en-US" sz="2400" dirty="0"/>
              <a:t>1</a:t>
            </a:r>
            <a:r>
              <a:rPr lang="en-US" sz="2400" dirty="0">
                <a:solidFill>
                  <a:srgbClr val="D60093"/>
                </a:solidFill>
              </a:rPr>
              <a:t>1</a:t>
            </a:r>
            <a:r>
              <a:rPr lang="en-US" sz="2400" dirty="0"/>
              <a:t>1            7                0                          </a:t>
            </a:r>
            <a:r>
              <a:rPr lang="en-US" sz="2400" dirty="0">
                <a:solidFill>
                  <a:srgbClr val="0000FF"/>
                </a:solidFill>
              </a:rPr>
              <a:t>1</a:t>
            </a:r>
            <a:r>
              <a:rPr lang="en-US" sz="2400" dirty="0"/>
              <a:t>010010</a:t>
            </a:r>
            <a:r>
              <a:rPr lang="en-US" sz="2400" dirty="0">
                <a:solidFill>
                  <a:srgbClr val="0000FF"/>
                </a:solidFill>
              </a:rPr>
              <a:t>1</a:t>
            </a:r>
            <a:r>
              <a:rPr lang="en-US" sz="2400" dirty="0"/>
              <a:t>000</a:t>
            </a:r>
          </a:p>
        </p:txBody>
      </p:sp>
      <p:sp>
        <p:nvSpPr>
          <p:cNvPr id="14" name="TextBox 13"/>
          <p:cNvSpPr txBox="1"/>
          <p:nvPr/>
        </p:nvSpPr>
        <p:spPr>
          <a:xfrm>
            <a:off x="718625" y="3733800"/>
            <a:ext cx="7358105" cy="461665"/>
          </a:xfrm>
          <a:prstGeom prst="rect">
            <a:avLst/>
          </a:prstGeom>
          <a:noFill/>
        </p:spPr>
        <p:txBody>
          <a:bodyPr wrap="none" rtlCol="0">
            <a:spAutoFit/>
          </a:bodyPr>
          <a:lstStyle/>
          <a:p>
            <a:r>
              <a:rPr lang="en-US" sz="2400" dirty="0"/>
              <a:t>585 = </a:t>
            </a:r>
            <a:r>
              <a:rPr lang="en-US" sz="2400" dirty="0">
                <a:solidFill>
                  <a:srgbClr val="D60093"/>
                </a:solidFill>
              </a:rPr>
              <a:t>1</a:t>
            </a:r>
            <a:r>
              <a:rPr lang="en-US" sz="2400" dirty="0"/>
              <a:t>0</a:t>
            </a:r>
            <a:r>
              <a:rPr lang="en-US" sz="2400" dirty="0">
                <a:solidFill>
                  <a:srgbClr val="D60093"/>
                </a:solidFill>
              </a:rPr>
              <a:t>0</a:t>
            </a:r>
            <a:r>
              <a:rPr lang="en-US" sz="2400" dirty="0"/>
              <a:t>1</a:t>
            </a:r>
            <a:r>
              <a:rPr lang="en-US" sz="2400" dirty="0">
                <a:solidFill>
                  <a:srgbClr val="D60093"/>
                </a:solidFill>
              </a:rPr>
              <a:t>0</a:t>
            </a:r>
            <a:r>
              <a:rPr lang="en-US" sz="2400" dirty="0"/>
              <a:t>0</a:t>
            </a:r>
            <a:r>
              <a:rPr lang="en-US" sz="2400" dirty="0">
                <a:solidFill>
                  <a:srgbClr val="D60093"/>
                </a:solidFill>
              </a:rPr>
              <a:t>1</a:t>
            </a:r>
            <a:r>
              <a:rPr lang="en-US" sz="2400" dirty="0"/>
              <a:t>0</a:t>
            </a:r>
            <a:r>
              <a:rPr lang="en-US" sz="2400" dirty="0">
                <a:solidFill>
                  <a:srgbClr val="D60093"/>
                </a:solidFill>
              </a:rPr>
              <a:t>0</a:t>
            </a:r>
            <a:r>
              <a:rPr lang="en-US" sz="2400" dirty="0"/>
              <a:t>1     9                7                          101001010</a:t>
            </a:r>
            <a:r>
              <a:rPr lang="en-US" sz="2400" dirty="0">
                <a:solidFill>
                  <a:srgbClr val="0000FF"/>
                </a:solidFill>
              </a:rPr>
              <a:t>1</a:t>
            </a:r>
            <a:r>
              <a:rPr lang="en-US" sz="2400" dirty="0"/>
              <a:t>0</a:t>
            </a:r>
          </a:p>
        </p:txBody>
      </p:sp>
      <p:grpSp>
        <p:nvGrpSpPr>
          <p:cNvPr id="15" name="Group 14"/>
          <p:cNvGrpSpPr/>
          <p:nvPr/>
        </p:nvGrpSpPr>
        <p:grpSpPr>
          <a:xfrm>
            <a:off x="5427164" y="4114800"/>
            <a:ext cx="2557110" cy="1099066"/>
            <a:chOff x="5427164" y="4114800"/>
            <a:chExt cx="2557110" cy="1099066"/>
          </a:xfrm>
        </p:grpSpPr>
        <p:sp>
          <p:nvSpPr>
            <p:cNvPr id="3" name="TextBox 2"/>
            <p:cNvSpPr txBox="1"/>
            <p:nvPr/>
          </p:nvSpPr>
          <p:spPr>
            <a:xfrm>
              <a:off x="5427164" y="4844534"/>
              <a:ext cx="2557110" cy="369332"/>
            </a:xfrm>
            <a:prstGeom prst="rect">
              <a:avLst/>
            </a:prstGeom>
            <a:noFill/>
          </p:spPr>
          <p:txBody>
            <a:bodyPr wrap="none" rtlCol="0">
              <a:spAutoFit/>
            </a:bodyPr>
            <a:lstStyle/>
            <a:p>
              <a:r>
                <a:rPr lang="en-US" dirty="0"/>
                <a:t>Note: bit 7 was already 1.</a:t>
              </a:r>
            </a:p>
          </p:txBody>
        </p:sp>
        <p:cxnSp>
          <p:nvCxnSpPr>
            <p:cNvPr id="5" name="Straight Arrow Connector 4"/>
            <p:cNvCxnSpPr>
              <a:stCxn id="3" idx="0"/>
            </p:cNvCxnSpPr>
            <p:nvPr/>
          </p:nvCxnSpPr>
          <p:spPr>
            <a:xfrm flipV="1">
              <a:off x="6705719" y="4114800"/>
              <a:ext cx="457081" cy="729734"/>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11607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3" grpId="0"/>
      <p:bldP spid="1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Bloom Filter Lookup</a:t>
            </a:r>
          </a:p>
        </p:txBody>
      </p:sp>
      <p:sp>
        <p:nvSpPr>
          <p:cNvPr id="3" name="Content Placeholder 2"/>
          <p:cNvSpPr>
            <a:spLocks noGrp="1"/>
          </p:cNvSpPr>
          <p:nvPr>
            <p:ph idx="1"/>
          </p:nvPr>
        </p:nvSpPr>
        <p:spPr/>
        <p:txBody>
          <a:bodyPr/>
          <a:lstStyle/>
          <a:p>
            <a:r>
              <a:rPr lang="en-US" dirty="0"/>
              <a:t>Suppose element y appears in the stream, and we want to know if we have seen y before.</a:t>
            </a:r>
          </a:p>
          <a:p>
            <a:r>
              <a:rPr lang="en-US" dirty="0"/>
              <a:t>Compute h(y) for each hash function y.</a:t>
            </a:r>
          </a:p>
          <a:p>
            <a:r>
              <a:rPr lang="en-US" dirty="0"/>
              <a:t>If all the resulting bit positions are 1, say we have seen y before.	</a:t>
            </a:r>
          </a:p>
          <a:p>
            <a:pPr lvl="1"/>
            <a:r>
              <a:rPr lang="en-US" dirty="0"/>
              <a:t>We could be wrong.</a:t>
            </a:r>
          </a:p>
          <a:p>
            <a:pPr lvl="2"/>
            <a:r>
              <a:rPr lang="en-US" dirty="0"/>
              <a:t>Different inputs could have set each of these bits.</a:t>
            </a:r>
          </a:p>
          <a:p>
            <a:r>
              <a:rPr lang="en-US" dirty="0"/>
              <a:t>If at least one of these positions is 0, say we have not seen y before.</a:t>
            </a:r>
          </a:p>
          <a:p>
            <a:pPr lvl="1"/>
            <a:r>
              <a:rPr lang="en-US" dirty="0"/>
              <a:t>We are certainly right.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17</a:t>
            </a:fld>
            <a:endParaRPr lang="en-US"/>
          </a:p>
        </p:txBody>
      </p:sp>
    </p:spTree>
    <p:extLst>
      <p:ext uri="{BB962C8B-B14F-4D97-AF65-F5344CB8AC3E}">
        <p14:creationId xmlns:p14="http://schemas.microsoft.com/office/powerpoint/2010/main" val="2960048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Lookup</a:t>
            </a:r>
          </a:p>
        </p:txBody>
      </p:sp>
      <p:sp>
        <p:nvSpPr>
          <p:cNvPr id="3" name="Content Placeholder 2"/>
          <p:cNvSpPr>
            <a:spLocks noGrp="1"/>
          </p:cNvSpPr>
          <p:nvPr>
            <p:ph idx="1"/>
          </p:nvPr>
        </p:nvSpPr>
        <p:spPr/>
        <p:txBody>
          <a:bodyPr/>
          <a:lstStyle/>
          <a:p>
            <a:r>
              <a:rPr lang="en-US" dirty="0"/>
              <a:t>Suppose we have the same Bloom filter as before, and we have set the filter to 10100101010.</a:t>
            </a:r>
          </a:p>
          <a:p>
            <a:r>
              <a:rPr lang="en-US" dirty="0"/>
              <a:t>Lookup element y = 118 = 1</a:t>
            </a:r>
            <a:r>
              <a:rPr lang="en-US" dirty="0">
                <a:solidFill>
                  <a:srgbClr val="FF0000"/>
                </a:solidFill>
              </a:rPr>
              <a:t>1</a:t>
            </a:r>
            <a:r>
              <a:rPr lang="en-US" dirty="0"/>
              <a:t>1</a:t>
            </a:r>
            <a:r>
              <a:rPr lang="en-US" dirty="0">
                <a:solidFill>
                  <a:srgbClr val="FF0000"/>
                </a:solidFill>
              </a:rPr>
              <a:t>0</a:t>
            </a:r>
            <a:r>
              <a:rPr lang="en-US" dirty="0"/>
              <a:t>1</a:t>
            </a:r>
            <a:r>
              <a:rPr lang="en-US" dirty="0">
                <a:solidFill>
                  <a:srgbClr val="FF0000"/>
                </a:solidFill>
              </a:rPr>
              <a:t>1</a:t>
            </a:r>
            <a:r>
              <a:rPr lang="en-US" dirty="0"/>
              <a:t>0 (binary).</a:t>
            </a:r>
          </a:p>
          <a:p>
            <a:r>
              <a:rPr lang="en-US" dirty="0"/>
              <a:t>h</a:t>
            </a:r>
            <a:r>
              <a:rPr lang="en-US" baseline="-25000" dirty="0"/>
              <a:t>1</a:t>
            </a:r>
            <a:r>
              <a:rPr lang="en-US" dirty="0"/>
              <a:t>(y) = 14 modulo 11 = 3.</a:t>
            </a:r>
          </a:p>
          <a:p>
            <a:r>
              <a:rPr lang="en-US" dirty="0"/>
              <a:t>h</a:t>
            </a:r>
            <a:r>
              <a:rPr lang="en-US" baseline="-25000" dirty="0"/>
              <a:t>2</a:t>
            </a:r>
            <a:r>
              <a:rPr lang="en-US" dirty="0"/>
              <a:t>(y) = 5 modulo 11 = 5.</a:t>
            </a:r>
          </a:p>
          <a:p>
            <a:r>
              <a:rPr lang="en-US" dirty="0"/>
              <a:t>Bit 5 is 1,</a:t>
            </a:r>
          </a:p>
          <a:p>
            <a:r>
              <a:rPr lang="en-US" dirty="0"/>
              <a:t>But bit 3 is 0, so we are sure y is not in the set.</a:t>
            </a:r>
          </a:p>
          <a:p>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18</a:t>
            </a:fld>
            <a:endParaRPr lang="en-US"/>
          </a:p>
        </p:txBody>
      </p:sp>
      <p:sp>
        <p:nvSpPr>
          <p:cNvPr id="4" name="Oval 3"/>
          <p:cNvSpPr/>
          <p:nvPr/>
        </p:nvSpPr>
        <p:spPr>
          <a:xfrm>
            <a:off x="1524000" y="2448838"/>
            <a:ext cx="304800" cy="381000"/>
          </a:xfrm>
          <a:prstGeom prst="ellipse">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905000" y="2438400"/>
            <a:ext cx="304800" cy="381000"/>
          </a:xfrm>
          <a:prstGeom prst="ellipse">
            <a:avLst/>
          </a:prstGeom>
          <a:noFill/>
          <a:ln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5017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of Bloom Filters</a:t>
            </a:r>
          </a:p>
        </p:txBody>
      </p:sp>
      <p:sp>
        <p:nvSpPr>
          <p:cNvPr id="3" name="Content Placeholder 2"/>
          <p:cNvSpPr>
            <a:spLocks noGrp="1"/>
          </p:cNvSpPr>
          <p:nvPr>
            <p:ph idx="1"/>
          </p:nvPr>
        </p:nvSpPr>
        <p:spPr/>
        <p:txBody>
          <a:bodyPr/>
          <a:lstStyle/>
          <a:p>
            <a:r>
              <a:rPr lang="en-US" dirty="0"/>
              <a:t>Probability of a false positive depends on the density of 1’s in the array and the number of hash functions.</a:t>
            </a:r>
          </a:p>
          <a:p>
            <a:pPr lvl="1"/>
            <a:r>
              <a:rPr lang="en-US" dirty="0"/>
              <a:t>= (fraction of 1’s)</a:t>
            </a:r>
            <a:r>
              <a:rPr lang="en-US" baseline="30000" dirty="0"/>
              <a:t># of hash functions</a:t>
            </a:r>
            <a:r>
              <a:rPr lang="en-US" dirty="0"/>
              <a:t>.</a:t>
            </a:r>
          </a:p>
          <a:p>
            <a:r>
              <a:rPr lang="en-US" dirty="0"/>
              <a:t>The number of 1’s is approximately the number of elements inserted times the number of hash functions.</a:t>
            </a:r>
          </a:p>
          <a:p>
            <a:pPr lvl="1"/>
            <a:r>
              <a:rPr lang="en-US" dirty="0"/>
              <a:t>But collisions lower that number slightly.</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19</a:t>
            </a:fld>
            <a:endParaRPr lang="en-US"/>
          </a:p>
        </p:txBody>
      </p:sp>
    </p:spTree>
    <p:extLst>
      <p:ext uri="{BB962C8B-B14F-4D97-AF65-F5344CB8AC3E}">
        <p14:creationId xmlns:p14="http://schemas.microsoft.com/office/powerpoint/2010/main" val="2642636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Throwing Darts</a:t>
            </a:r>
          </a:p>
        </p:txBody>
      </p:sp>
      <p:sp>
        <p:nvSpPr>
          <p:cNvPr id="3" name="Content Placeholder 2"/>
          <p:cNvSpPr>
            <a:spLocks noGrp="1"/>
          </p:cNvSpPr>
          <p:nvPr>
            <p:ph idx="1"/>
          </p:nvPr>
        </p:nvSpPr>
        <p:spPr/>
        <p:txBody>
          <a:bodyPr/>
          <a:lstStyle/>
          <a:p>
            <a:r>
              <a:rPr lang="en-US" dirty="0"/>
              <a:t>Turning random bits from 0 to 1 is like throwing </a:t>
            </a:r>
            <a:r>
              <a:rPr lang="en-US" i="1" dirty="0"/>
              <a:t>d</a:t>
            </a:r>
            <a:r>
              <a:rPr lang="en-US" dirty="0"/>
              <a:t> darts at </a:t>
            </a:r>
            <a:r>
              <a:rPr lang="en-US" i="1" dirty="0"/>
              <a:t>t</a:t>
            </a:r>
            <a:r>
              <a:rPr lang="en-US" dirty="0"/>
              <a:t> targets, at random.</a:t>
            </a:r>
          </a:p>
          <a:p>
            <a:r>
              <a:rPr lang="en-US" dirty="0"/>
              <a:t>How many targets are hit by at least one dart?</a:t>
            </a:r>
          </a:p>
          <a:p>
            <a:r>
              <a:rPr lang="en-US" dirty="0"/>
              <a:t>Probability a given target is hit by a given dart = 1/t.</a:t>
            </a:r>
          </a:p>
          <a:p>
            <a:r>
              <a:rPr lang="en-US" dirty="0"/>
              <a:t>Probability none of d darts hit a given target is (1-1/t)</a:t>
            </a:r>
            <a:r>
              <a:rPr lang="en-US" baseline="30000" dirty="0"/>
              <a:t>d</a:t>
            </a:r>
            <a:r>
              <a:rPr lang="en-US" dirty="0"/>
              <a:t>.</a:t>
            </a:r>
          </a:p>
          <a:p>
            <a:r>
              <a:rPr lang="en-US" dirty="0"/>
              <a:t>Rewrite as (1-1/t)</a:t>
            </a:r>
            <a:r>
              <a:rPr lang="en-US" baseline="30000" dirty="0"/>
              <a:t>t(d/t)</a:t>
            </a:r>
            <a:r>
              <a:rPr lang="en-US" dirty="0"/>
              <a:t> ~= e</a:t>
            </a:r>
            <a:r>
              <a:rPr lang="en-US" baseline="30000" dirty="0"/>
              <a:t>-d/t</a:t>
            </a:r>
            <a:r>
              <a:rPr lang="en-US" dirty="0"/>
              <a: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20</a:t>
            </a:fld>
            <a:endParaRPr lang="en-US"/>
          </a:p>
        </p:txBody>
      </p:sp>
      <p:grpSp>
        <p:nvGrpSpPr>
          <p:cNvPr id="9" name="Group 8"/>
          <p:cNvGrpSpPr/>
          <p:nvPr/>
        </p:nvGrpSpPr>
        <p:grpSpPr>
          <a:xfrm>
            <a:off x="2743200" y="4800600"/>
            <a:ext cx="1219200" cy="1680865"/>
            <a:chOff x="2743200" y="4800600"/>
            <a:chExt cx="1219200" cy="1680865"/>
          </a:xfrm>
        </p:grpSpPr>
        <p:sp>
          <p:nvSpPr>
            <p:cNvPr id="4" name="Rectangle 3"/>
            <p:cNvSpPr/>
            <p:nvPr/>
          </p:nvSpPr>
          <p:spPr>
            <a:xfrm>
              <a:off x="2895600" y="4800600"/>
              <a:ext cx="1066800" cy="533400"/>
            </a:xfrm>
            <a:prstGeom prst="rect">
              <a:avLst/>
            </a:prstGeom>
            <a:noFill/>
            <a:ln w="127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2743200" y="6019800"/>
              <a:ext cx="936475" cy="461665"/>
            </a:xfrm>
            <a:prstGeom prst="rect">
              <a:avLst/>
            </a:prstGeom>
            <a:noFill/>
          </p:spPr>
          <p:txBody>
            <a:bodyPr wrap="none" rtlCol="0">
              <a:spAutoFit/>
            </a:bodyPr>
            <a:lstStyle/>
            <a:p>
              <a:r>
                <a:rPr lang="en-US" sz="2400" dirty="0"/>
                <a:t>~= 1/e</a:t>
              </a:r>
            </a:p>
          </p:txBody>
        </p:sp>
        <p:cxnSp>
          <p:nvCxnSpPr>
            <p:cNvPr id="8" name="Straight Arrow Connector 7"/>
            <p:cNvCxnSpPr>
              <a:stCxn id="5" idx="0"/>
              <a:endCxn id="4" idx="2"/>
            </p:cNvCxnSpPr>
            <p:nvPr/>
          </p:nvCxnSpPr>
          <p:spPr>
            <a:xfrm flipV="1">
              <a:off x="3211438" y="5334000"/>
              <a:ext cx="217562" cy="685800"/>
            </a:xfrm>
            <a:prstGeom prst="straightConnector1">
              <a:avLst/>
            </a:prstGeom>
            <a:ln w="28575" cmpd="sng">
              <a:tailEnd type="arrow"/>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652530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Throwing Darts</a:t>
            </a:r>
          </a:p>
        </p:txBody>
      </p:sp>
      <p:sp>
        <p:nvSpPr>
          <p:cNvPr id="3" name="Content Placeholder 2"/>
          <p:cNvSpPr>
            <a:spLocks noGrp="1"/>
          </p:cNvSpPr>
          <p:nvPr>
            <p:ph idx="1"/>
          </p:nvPr>
        </p:nvSpPr>
        <p:spPr/>
        <p:txBody>
          <a:bodyPr/>
          <a:lstStyle/>
          <a:p>
            <a:r>
              <a:rPr lang="en-US" dirty="0"/>
              <a:t>Suppose we use an array of 1 billion bits, 5 hash functions, and we insert 100 million elements.</a:t>
            </a:r>
          </a:p>
          <a:p>
            <a:r>
              <a:rPr lang="en-US" dirty="0"/>
              <a:t>That is, t = 10</a:t>
            </a:r>
            <a:r>
              <a:rPr lang="en-US" baseline="30000" dirty="0"/>
              <a:t>9</a:t>
            </a:r>
            <a:r>
              <a:rPr lang="en-US" dirty="0"/>
              <a:t>, and d = 5*10</a:t>
            </a:r>
            <a:r>
              <a:rPr lang="en-US" baseline="30000" dirty="0"/>
              <a:t>8</a:t>
            </a:r>
            <a:r>
              <a:rPr lang="en-US" dirty="0"/>
              <a:t>.</a:t>
            </a:r>
          </a:p>
          <a:p>
            <a:r>
              <a:rPr lang="en-US" dirty="0"/>
              <a:t>The fraction of 0’s that remain will be e</a:t>
            </a:r>
            <a:r>
              <a:rPr lang="en-US" baseline="30000" dirty="0"/>
              <a:t>-1/2 </a:t>
            </a:r>
            <a:r>
              <a:rPr lang="en-US" dirty="0"/>
              <a:t>= 0.607.</a:t>
            </a:r>
          </a:p>
          <a:p>
            <a:r>
              <a:rPr lang="en-US" dirty="0"/>
              <a:t>Density of 1’s = 0.393.</a:t>
            </a:r>
          </a:p>
          <a:p>
            <a:r>
              <a:rPr lang="en-US" dirty="0"/>
              <a:t>Probability of a false positive = (0.393)</a:t>
            </a:r>
            <a:r>
              <a:rPr lang="en-US" baseline="30000" dirty="0"/>
              <a:t>5</a:t>
            </a:r>
            <a:r>
              <a:rPr lang="en-US" dirty="0"/>
              <a:t> = 0.00937.</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21</a:t>
            </a:fld>
            <a:endParaRPr lang="en-US"/>
          </a:p>
        </p:txBody>
      </p:sp>
    </p:spTree>
    <p:extLst>
      <p:ext uri="{BB962C8B-B14F-4D97-AF65-F5344CB8AC3E}">
        <p14:creationId xmlns:p14="http://schemas.microsoft.com/office/powerpoint/2010/main" val="1386714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220200" cy="6858000"/>
            <a:chOff x="0" y="0"/>
            <a:chExt cx="9144000" cy="6858000"/>
          </a:xfrm>
        </p:grpSpPr>
        <p:pic>
          <p:nvPicPr>
            <p:cNvPr id="3" name="object 3"/>
            <p:cNvPicPr/>
            <p:nvPr/>
          </p:nvPicPr>
          <p:blipFill>
            <a:blip r:embed="rId2" cstate="print"/>
            <a:stretch>
              <a:fillRect/>
            </a:stretch>
          </p:blipFill>
          <p:spPr>
            <a:xfrm>
              <a:off x="0" y="0"/>
              <a:ext cx="9144000" cy="6858000"/>
            </a:xfrm>
            <a:prstGeom prst="rect">
              <a:avLst/>
            </a:prstGeom>
          </p:spPr>
        </p:pic>
        <p:sp>
          <p:nvSpPr>
            <p:cNvPr id="4" name="object 4"/>
            <p:cNvSpPr/>
            <p:nvPr/>
          </p:nvSpPr>
          <p:spPr>
            <a:xfrm>
              <a:off x="0" y="0"/>
              <a:ext cx="9144000" cy="5133975"/>
            </a:xfrm>
            <a:custGeom>
              <a:avLst/>
              <a:gdLst/>
              <a:ahLst/>
              <a:cxnLst/>
              <a:rect l="l" t="t" r="r" b="b"/>
              <a:pathLst>
                <a:path w="9144000" h="5133975">
                  <a:moveTo>
                    <a:pt x="9144000" y="0"/>
                  </a:moveTo>
                  <a:lnTo>
                    <a:pt x="0" y="0"/>
                  </a:lnTo>
                  <a:lnTo>
                    <a:pt x="0" y="5133975"/>
                  </a:lnTo>
                  <a:lnTo>
                    <a:pt x="9144000" y="5133975"/>
                  </a:lnTo>
                  <a:lnTo>
                    <a:pt x="9144000"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0" y="5086286"/>
              <a:ext cx="9144000" cy="138112"/>
            </a:xfrm>
            <a:prstGeom prst="rect">
              <a:avLst/>
            </a:prstGeom>
          </p:spPr>
        </p:pic>
        <p:sp>
          <p:nvSpPr>
            <p:cNvPr id="6" name="object 6"/>
            <p:cNvSpPr/>
            <p:nvPr/>
          </p:nvSpPr>
          <p:spPr>
            <a:xfrm>
              <a:off x="0" y="5124450"/>
              <a:ext cx="9144000" cy="47625"/>
            </a:xfrm>
            <a:custGeom>
              <a:avLst/>
              <a:gdLst/>
              <a:ahLst/>
              <a:cxnLst/>
              <a:rect l="l" t="t" r="r" b="b"/>
              <a:pathLst>
                <a:path w="9144000" h="47625">
                  <a:moveTo>
                    <a:pt x="9144000" y="0"/>
                  </a:moveTo>
                  <a:lnTo>
                    <a:pt x="0" y="0"/>
                  </a:lnTo>
                  <a:lnTo>
                    <a:pt x="0" y="47625"/>
                  </a:lnTo>
                  <a:lnTo>
                    <a:pt x="9144000" y="47625"/>
                  </a:lnTo>
                  <a:lnTo>
                    <a:pt x="9144000" y="0"/>
                  </a:lnTo>
                  <a:close/>
                </a:path>
              </a:pathLst>
            </a:custGeom>
            <a:solidFill>
              <a:srgbClr val="FFFFFF"/>
            </a:solidFill>
          </p:spPr>
          <p:txBody>
            <a:bodyPr wrap="square" lIns="0" tIns="0" rIns="0" bIns="0" rtlCol="0"/>
            <a:lstStyle/>
            <a:p>
              <a:endParaRPr/>
            </a:p>
          </p:txBody>
        </p:sp>
      </p:grpSp>
      <p:sp>
        <p:nvSpPr>
          <p:cNvPr id="11" name="TextBox 10">
            <a:extLst>
              <a:ext uri="{FF2B5EF4-FFF2-40B4-BE49-F238E27FC236}">
                <a16:creationId xmlns:a16="http://schemas.microsoft.com/office/drawing/2014/main" id="{2FC8D84B-8AF9-4ABB-AF8C-ED978638D2A0}"/>
              </a:ext>
            </a:extLst>
          </p:cNvPr>
          <p:cNvSpPr txBox="1"/>
          <p:nvPr/>
        </p:nvSpPr>
        <p:spPr>
          <a:xfrm>
            <a:off x="304800" y="1905000"/>
            <a:ext cx="8839200" cy="1200329"/>
          </a:xfrm>
          <a:prstGeom prst="rect">
            <a:avLst/>
          </a:prstGeom>
          <a:noFill/>
        </p:spPr>
        <p:txBody>
          <a:bodyPr wrap="square" rtlCol="0">
            <a:spAutoFit/>
          </a:bodyPr>
          <a:lstStyle/>
          <a:p>
            <a:pPr algn="ctr"/>
            <a:r>
              <a:rPr lang="en-AU" sz="4000" dirty="0">
                <a:solidFill>
                  <a:srgbClr val="FFFF00"/>
                </a:solidFill>
                <a:latin typeface="Palatino Linotype" panose="02040502050505030304" pitchFamily="18" charset="0"/>
              </a:rPr>
              <a:t>Sampling a Stream</a:t>
            </a:r>
          </a:p>
          <a:p>
            <a:pPr algn="ctr"/>
            <a:endParaRPr lang="en-AU" sz="3200" dirty="0">
              <a:solidFill>
                <a:srgbClr val="FFFF00"/>
              </a:solidFill>
              <a:latin typeface="Palatino Linotype" panose="02040502050505030304" pitchFamily="18" charset="0"/>
            </a:endParaRPr>
          </a:p>
        </p:txBody>
      </p:sp>
    </p:spTree>
    <p:extLst>
      <p:ext uri="{BB962C8B-B14F-4D97-AF65-F5344CB8AC3E}">
        <p14:creationId xmlns:p14="http://schemas.microsoft.com/office/powerpoint/2010/main" val="2050140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Use of Sampling</a:t>
            </a:r>
          </a:p>
        </p:txBody>
      </p:sp>
      <p:sp>
        <p:nvSpPr>
          <p:cNvPr id="3" name="Content Placeholder 2"/>
          <p:cNvSpPr>
            <a:spLocks noGrp="1"/>
          </p:cNvSpPr>
          <p:nvPr>
            <p:ph idx="1"/>
          </p:nvPr>
        </p:nvSpPr>
        <p:spPr/>
        <p:txBody>
          <a:bodyPr/>
          <a:lstStyle/>
          <a:p>
            <a:r>
              <a:rPr lang="en-US" dirty="0"/>
              <a:t>Often, we can get a good approximate answer from a sample.</a:t>
            </a:r>
          </a:p>
          <a:p>
            <a:r>
              <a:rPr lang="en-US" dirty="0">
                <a:solidFill>
                  <a:srgbClr val="00B050"/>
                </a:solidFill>
              </a:rPr>
              <a:t>Example</a:t>
            </a:r>
            <a:r>
              <a:rPr lang="en-US" dirty="0"/>
              <a:t>: Frequent </a:t>
            </a:r>
            <a:r>
              <a:rPr lang="en-US" dirty="0" err="1"/>
              <a:t>itemsets</a:t>
            </a:r>
            <a:r>
              <a:rPr lang="en-US" dirty="0"/>
              <a:t> from a sample of baskets.</a:t>
            </a:r>
          </a:p>
          <a:p>
            <a:r>
              <a:rPr lang="en-US" dirty="0"/>
              <a:t>If we take a 10% sample of baskets and lower the support threshold by a factor of 10, there is a good chance that an </a:t>
            </a:r>
            <a:r>
              <a:rPr lang="en-US" dirty="0" err="1"/>
              <a:t>itemset</a:t>
            </a:r>
            <a:r>
              <a:rPr lang="en-US" dirty="0"/>
              <a:t> is frequent in the sample </a:t>
            </a:r>
            <a:r>
              <a:rPr lang="en-US" dirty="0" err="1"/>
              <a:t>iff</a:t>
            </a:r>
            <a:r>
              <a:rPr lang="en-US" dirty="0"/>
              <a:t> it is frequent in the whole.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23</a:t>
            </a:fld>
            <a:endParaRPr lang="en-US"/>
          </a:p>
        </p:txBody>
      </p:sp>
    </p:spTree>
    <p:extLst>
      <p:ext uri="{BB962C8B-B14F-4D97-AF65-F5344CB8AC3E}">
        <p14:creationId xmlns:p14="http://schemas.microsoft.com/office/powerpoint/2010/main" val="474929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Sampling Doesn’t Work</a:t>
            </a:r>
          </a:p>
        </p:txBody>
      </p:sp>
      <p:sp>
        <p:nvSpPr>
          <p:cNvPr id="3" name="Content Placeholder 2"/>
          <p:cNvSpPr>
            <a:spLocks noGrp="1"/>
          </p:cNvSpPr>
          <p:nvPr>
            <p:ph idx="1"/>
          </p:nvPr>
        </p:nvSpPr>
        <p:spPr>
          <a:xfrm>
            <a:off x="152400" y="1295400"/>
            <a:ext cx="8839200" cy="5486400"/>
          </a:xfrm>
        </p:spPr>
        <p:txBody>
          <a:bodyPr>
            <a:normAutofit/>
          </a:bodyPr>
          <a:lstStyle/>
          <a:p>
            <a:r>
              <a:rPr lang="en-US" dirty="0"/>
              <a:t>Suppose Google would like to examine its stream of search queries for the past month to find out what fraction of them were unique – asked only once.</a:t>
            </a:r>
          </a:p>
          <a:p>
            <a:r>
              <a:rPr lang="en-US" dirty="0"/>
              <a:t>But to save time, we are only going to sample 10% of the stream.</a:t>
            </a:r>
          </a:p>
          <a:p>
            <a:r>
              <a:rPr lang="en-US" dirty="0"/>
              <a:t>The fraction of unique queries in the sample != the fraction for the stream as a whole.</a:t>
            </a:r>
          </a:p>
          <a:p>
            <a:pPr lvl="1"/>
            <a:r>
              <a:rPr lang="en-US" dirty="0"/>
              <a:t>In fact, there is no way to adjust parameters to give the correct answer, as we could for frequent </a:t>
            </a:r>
            <a:r>
              <a:rPr lang="en-US" dirty="0" err="1"/>
              <a:t>itemsets</a:t>
            </a:r>
            <a:r>
              <a:rPr lang="en-US" dirty="0"/>
              <a: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24</a:t>
            </a:fld>
            <a:endParaRPr lang="en-US"/>
          </a:p>
        </p:txBody>
      </p:sp>
    </p:spTree>
    <p:extLst>
      <p:ext uri="{BB962C8B-B14F-4D97-AF65-F5344CB8AC3E}">
        <p14:creationId xmlns:p14="http://schemas.microsoft.com/office/powerpoint/2010/main" val="252758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Unique Search Queries</a:t>
            </a:r>
          </a:p>
        </p:txBody>
      </p:sp>
      <p:sp>
        <p:nvSpPr>
          <p:cNvPr id="3" name="Content Placeholder 2"/>
          <p:cNvSpPr>
            <a:spLocks noGrp="1"/>
          </p:cNvSpPr>
          <p:nvPr>
            <p:ph idx="1"/>
          </p:nvPr>
        </p:nvSpPr>
        <p:spPr>
          <a:xfrm>
            <a:off x="457200" y="1295400"/>
            <a:ext cx="8534400" cy="5257801"/>
          </a:xfrm>
        </p:spPr>
        <p:txBody>
          <a:bodyPr>
            <a:normAutofit/>
          </a:bodyPr>
          <a:lstStyle/>
          <a:p>
            <a:r>
              <a:rPr lang="en-US" dirty="0"/>
              <a:t>The length of the sample is 10% of the length of the whole stream.</a:t>
            </a:r>
          </a:p>
          <a:p>
            <a:r>
              <a:rPr lang="en-US" dirty="0"/>
              <a:t>Suppose a query is unique.</a:t>
            </a:r>
          </a:p>
          <a:p>
            <a:pPr lvl="1"/>
            <a:r>
              <a:rPr lang="en-US" dirty="0"/>
              <a:t>It has a 10% chance of being in the sample.</a:t>
            </a:r>
          </a:p>
          <a:p>
            <a:r>
              <a:rPr lang="en-US" dirty="0"/>
              <a:t>Suppose a query occurs exactly twice in the stream.</a:t>
            </a:r>
          </a:p>
          <a:p>
            <a:pPr lvl="1"/>
            <a:r>
              <a:rPr lang="en-US" dirty="0"/>
              <a:t>It has an 18% chance of appearing exactly once in the sample.</a:t>
            </a:r>
          </a:p>
          <a:p>
            <a:r>
              <a:rPr lang="en-US" dirty="0"/>
              <a:t>And so on …  The fraction of unique queries in the stream is unpredictably large.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25</a:t>
            </a:fld>
            <a:endParaRPr lang="en-US"/>
          </a:p>
        </p:txBody>
      </p:sp>
    </p:spTree>
    <p:extLst>
      <p:ext uri="{BB962C8B-B14F-4D97-AF65-F5344CB8AC3E}">
        <p14:creationId xmlns:p14="http://schemas.microsoft.com/office/powerpoint/2010/main" val="3222769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by Value</a:t>
            </a:r>
          </a:p>
        </p:txBody>
      </p:sp>
      <p:sp>
        <p:nvSpPr>
          <p:cNvPr id="3" name="Content Placeholder 2"/>
          <p:cNvSpPr>
            <a:spLocks noGrp="1"/>
          </p:cNvSpPr>
          <p:nvPr>
            <p:ph idx="1"/>
          </p:nvPr>
        </p:nvSpPr>
        <p:spPr>
          <a:xfrm>
            <a:off x="457200" y="1295400"/>
            <a:ext cx="8305800" cy="5257801"/>
          </a:xfrm>
        </p:spPr>
        <p:txBody>
          <a:bodyPr/>
          <a:lstStyle/>
          <a:p>
            <a:r>
              <a:rPr lang="en-US" dirty="0">
                <a:solidFill>
                  <a:srgbClr val="0070C0"/>
                </a:solidFill>
              </a:rPr>
              <a:t>My mistake</a:t>
            </a:r>
            <a:r>
              <a:rPr lang="en-US" dirty="0"/>
              <a:t>: I sampled based on the position in the stream, rather than the value of the stream element.</a:t>
            </a:r>
          </a:p>
          <a:p>
            <a:r>
              <a:rPr lang="en-US" dirty="0">
                <a:solidFill>
                  <a:srgbClr val="00B050"/>
                </a:solidFill>
              </a:rPr>
              <a:t>The right way</a:t>
            </a:r>
            <a:r>
              <a:rPr lang="en-US" dirty="0"/>
              <a:t>: hash search queries to 10 buckets 0, 1,…, 9.</a:t>
            </a:r>
          </a:p>
          <a:p>
            <a:r>
              <a:rPr lang="en-US" dirty="0"/>
              <a:t>Sample = all search queries that hash to bucket 0.</a:t>
            </a:r>
          </a:p>
          <a:p>
            <a:pPr lvl="1"/>
            <a:r>
              <a:rPr lang="en-US" dirty="0"/>
              <a:t>All or none of the instances of a query are selected.</a:t>
            </a:r>
          </a:p>
          <a:p>
            <a:pPr lvl="1"/>
            <a:r>
              <a:rPr lang="en-US" dirty="0"/>
              <a:t>Therefore the fraction of unique queries in the sample is the same as for the stream as a whole.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26</a:t>
            </a:fld>
            <a:endParaRPr lang="en-US"/>
          </a:p>
        </p:txBody>
      </p:sp>
    </p:spTree>
    <p:extLst>
      <p:ext uri="{BB962C8B-B14F-4D97-AF65-F5344CB8AC3E}">
        <p14:creationId xmlns:p14="http://schemas.microsoft.com/office/powerpoint/2010/main" val="99008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Controlling the Sample Size</a:t>
            </a:r>
          </a:p>
        </p:txBody>
      </p:sp>
      <p:sp>
        <p:nvSpPr>
          <p:cNvPr id="3" name="Content Placeholder 2"/>
          <p:cNvSpPr>
            <a:spLocks noGrp="1"/>
          </p:cNvSpPr>
          <p:nvPr>
            <p:ph idx="1"/>
          </p:nvPr>
        </p:nvSpPr>
        <p:spPr/>
        <p:txBody>
          <a:bodyPr/>
          <a:lstStyle/>
          <a:p>
            <a:r>
              <a:rPr lang="en-US" dirty="0">
                <a:solidFill>
                  <a:srgbClr val="0070C0"/>
                </a:solidFill>
              </a:rPr>
              <a:t>Problem</a:t>
            </a:r>
            <a:r>
              <a:rPr lang="en-US" dirty="0"/>
              <a:t>: What if the total sample size must be limited?</a:t>
            </a:r>
          </a:p>
          <a:p>
            <a:r>
              <a:rPr lang="en-US" dirty="0">
                <a:solidFill>
                  <a:srgbClr val="00B050"/>
                </a:solidFill>
              </a:rPr>
              <a:t>Solution</a:t>
            </a:r>
            <a:r>
              <a:rPr lang="en-US" dirty="0"/>
              <a:t>: Hash to a large number of buckets.</a:t>
            </a:r>
          </a:p>
          <a:p>
            <a:r>
              <a:rPr lang="en-US" dirty="0"/>
              <a:t>Adjust the set of buckets accepted for the sample, so your sample size stays within bounds.</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27</a:t>
            </a:fld>
            <a:endParaRPr lang="en-US"/>
          </a:p>
        </p:txBody>
      </p:sp>
    </p:spTree>
    <p:extLst>
      <p:ext uri="{BB962C8B-B14F-4D97-AF65-F5344CB8AC3E}">
        <p14:creationId xmlns:p14="http://schemas.microsoft.com/office/powerpoint/2010/main" val="166342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Fixed Sample Size</a:t>
            </a:r>
          </a:p>
        </p:txBody>
      </p:sp>
      <p:sp>
        <p:nvSpPr>
          <p:cNvPr id="3" name="Content Placeholder 2"/>
          <p:cNvSpPr>
            <a:spLocks noGrp="1"/>
          </p:cNvSpPr>
          <p:nvPr>
            <p:ph idx="1"/>
          </p:nvPr>
        </p:nvSpPr>
        <p:spPr/>
        <p:txBody>
          <a:bodyPr/>
          <a:lstStyle/>
          <a:p>
            <a:r>
              <a:rPr lang="en-US" dirty="0"/>
              <a:t>Suppose we start our search-query sample at 10%, but we want to limit the size.</a:t>
            </a:r>
          </a:p>
          <a:p>
            <a:r>
              <a:rPr lang="en-US" dirty="0"/>
              <a:t>Hash to (say) 100 buckets, 0, 1,…, 99.</a:t>
            </a:r>
          </a:p>
          <a:p>
            <a:pPr lvl="1"/>
            <a:r>
              <a:rPr lang="en-US" dirty="0"/>
              <a:t>Take for the sample those elements hashing to buckets 0 through 9.</a:t>
            </a:r>
          </a:p>
          <a:p>
            <a:r>
              <a:rPr lang="en-US" dirty="0"/>
              <a:t>If the sample gets too big, get rid of bucket 9.</a:t>
            </a:r>
          </a:p>
          <a:p>
            <a:r>
              <a:rPr lang="en-US" dirty="0"/>
              <a:t>Still too big, get rid of 8, and so on.</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28</a:t>
            </a:fld>
            <a:endParaRPr lang="en-US"/>
          </a:p>
        </p:txBody>
      </p:sp>
    </p:spTree>
    <p:extLst>
      <p:ext uri="{BB962C8B-B14F-4D97-AF65-F5344CB8AC3E}">
        <p14:creationId xmlns:p14="http://schemas.microsoft.com/office/powerpoint/2010/main" val="3426081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Sampling  Key-Value Pairs</a:t>
            </a:r>
          </a:p>
        </p:txBody>
      </p:sp>
      <p:sp>
        <p:nvSpPr>
          <p:cNvPr id="3" name="Content Placeholder 2"/>
          <p:cNvSpPr>
            <a:spLocks noGrp="1"/>
          </p:cNvSpPr>
          <p:nvPr>
            <p:ph idx="1"/>
          </p:nvPr>
        </p:nvSpPr>
        <p:spPr/>
        <p:txBody>
          <a:bodyPr/>
          <a:lstStyle/>
          <a:p>
            <a:r>
              <a:rPr lang="en-US" dirty="0"/>
              <a:t>This technique generalizes to any form of data that we can see as tuples (K, V), where K is the “key” and V is a “value.”</a:t>
            </a:r>
          </a:p>
          <a:p>
            <a:r>
              <a:rPr lang="en-US" dirty="0">
                <a:solidFill>
                  <a:srgbClr val="0070C0"/>
                </a:solidFill>
              </a:rPr>
              <a:t>Distinction</a:t>
            </a:r>
            <a:r>
              <a:rPr lang="en-US" dirty="0"/>
              <a:t>: We want our sample to be based on picking some set of keys only, not pairs.</a:t>
            </a:r>
          </a:p>
          <a:p>
            <a:pPr lvl="1"/>
            <a:r>
              <a:rPr lang="en-US" dirty="0"/>
              <a:t>In the search-query example, the data was “all key.”</a:t>
            </a:r>
          </a:p>
          <a:p>
            <a:r>
              <a:rPr lang="en-US" dirty="0"/>
              <a:t>Hash keys to some number of buckets.</a:t>
            </a:r>
          </a:p>
          <a:p>
            <a:r>
              <a:rPr lang="en-US" dirty="0"/>
              <a:t>Sample consists of all key-value pairs with a key that goes into one of the selected buckets.</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29</a:t>
            </a:fld>
            <a:endParaRPr lang="en-US"/>
          </a:p>
        </p:txBody>
      </p:sp>
    </p:spTree>
    <p:extLst>
      <p:ext uri="{BB962C8B-B14F-4D97-AF65-F5344CB8AC3E}">
        <p14:creationId xmlns:p14="http://schemas.microsoft.com/office/powerpoint/2010/main" val="1084408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92D050"/>
                </a:solidFill>
              </a:rPr>
              <a:t>Example</a:t>
            </a:r>
            <a:r>
              <a:rPr lang="en-US" dirty="0"/>
              <a:t>: Salary Ranges</a:t>
            </a:r>
          </a:p>
        </p:txBody>
      </p:sp>
      <p:sp>
        <p:nvSpPr>
          <p:cNvPr id="3" name="Content Placeholder 2"/>
          <p:cNvSpPr>
            <a:spLocks noGrp="1"/>
          </p:cNvSpPr>
          <p:nvPr>
            <p:ph idx="1"/>
          </p:nvPr>
        </p:nvSpPr>
        <p:spPr/>
        <p:txBody>
          <a:bodyPr/>
          <a:lstStyle/>
          <a:p>
            <a:r>
              <a:rPr lang="en-US" dirty="0"/>
              <a:t>Data = tuples of the form (</a:t>
            </a:r>
            <a:r>
              <a:rPr lang="en-US" dirty="0" err="1"/>
              <a:t>EmpID</a:t>
            </a:r>
            <a:r>
              <a:rPr lang="en-US" dirty="0"/>
              <a:t>, </a:t>
            </a:r>
            <a:r>
              <a:rPr lang="en-US" dirty="0" err="1"/>
              <a:t>Dept</a:t>
            </a:r>
            <a:r>
              <a:rPr lang="en-US" dirty="0"/>
              <a:t>, Salary).</a:t>
            </a:r>
          </a:p>
          <a:p>
            <a:r>
              <a:rPr lang="en-US" dirty="0">
                <a:solidFill>
                  <a:srgbClr val="0070C0"/>
                </a:solidFill>
              </a:rPr>
              <a:t>Query</a:t>
            </a:r>
            <a:r>
              <a:rPr lang="en-US" dirty="0"/>
              <a:t>: What is the average range of salaries within departments?</a:t>
            </a:r>
          </a:p>
          <a:p>
            <a:r>
              <a:rPr lang="en-US" dirty="0"/>
              <a:t>If we sample tuples, we’ll get a subset of the salaries for each department.</a:t>
            </a:r>
          </a:p>
          <a:p>
            <a:r>
              <a:rPr lang="en-US" dirty="0"/>
              <a:t>We’ll likely miss the highest and lowest salaries for a department.</a:t>
            </a:r>
          </a:p>
          <a:p>
            <a:r>
              <a:rPr lang="en-US" dirty="0"/>
              <a:t>Thus, the estimate of the range will be biased to the low side.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30</a:t>
            </a:fld>
            <a:endParaRPr lang="en-US"/>
          </a:p>
        </p:txBody>
      </p:sp>
    </p:spTree>
    <p:extLst>
      <p:ext uri="{BB962C8B-B14F-4D97-AF65-F5344CB8AC3E}">
        <p14:creationId xmlns:p14="http://schemas.microsoft.com/office/powerpoint/2010/main" val="151124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Salary Ranges – (2)</a:t>
            </a:r>
          </a:p>
        </p:txBody>
      </p:sp>
      <p:sp>
        <p:nvSpPr>
          <p:cNvPr id="3" name="Content Placeholder 2"/>
          <p:cNvSpPr>
            <a:spLocks noGrp="1"/>
          </p:cNvSpPr>
          <p:nvPr>
            <p:ph idx="1"/>
          </p:nvPr>
        </p:nvSpPr>
        <p:spPr/>
        <p:txBody>
          <a:bodyPr/>
          <a:lstStyle/>
          <a:p>
            <a:r>
              <a:rPr lang="en-US" dirty="0"/>
              <a:t>The correct way:</a:t>
            </a:r>
          </a:p>
          <a:p>
            <a:r>
              <a:rPr lang="en-US" dirty="0"/>
              <a:t>Key = Dept.</a:t>
            </a:r>
          </a:p>
          <a:p>
            <a:r>
              <a:rPr lang="en-US" dirty="0"/>
              <a:t>Value = (</a:t>
            </a:r>
            <a:r>
              <a:rPr lang="en-US" dirty="0" err="1"/>
              <a:t>EmpID</a:t>
            </a:r>
            <a:r>
              <a:rPr lang="en-US" dirty="0"/>
              <a:t>, Salary).</a:t>
            </a:r>
          </a:p>
          <a:p>
            <a:r>
              <a:rPr lang="en-US" dirty="0"/>
              <a:t>Sample picks some departments, has salaries for all employees of that department, including its min and max salaries.</a:t>
            </a:r>
          </a:p>
          <a:p>
            <a:r>
              <a:rPr lang="en-US" dirty="0"/>
              <a:t>Result will be an unbiased estimate of the average salary range.</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31</a:t>
            </a:fld>
            <a:endParaRPr lang="en-US"/>
          </a:p>
        </p:txBody>
      </p:sp>
    </p:spTree>
    <p:extLst>
      <p:ext uri="{BB962C8B-B14F-4D97-AF65-F5344CB8AC3E}">
        <p14:creationId xmlns:p14="http://schemas.microsoft.com/office/powerpoint/2010/main" val="145096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Jure Color Scheme">
      <a:dk1>
        <a:sysClr val="windowText" lastClr="000000"/>
      </a:dk1>
      <a:lt1>
        <a:sysClr val="window" lastClr="FFFFFF"/>
      </a:lt1>
      <a:dk2>
        <a:srgbClr val="5A6378"/>
      </a:dk2>
      <a:lt2>
        <a:srgbClr val="D4D4D6"/>
      </a:lt2>
      <a:accent1>
        <a:srgbClr val="F0AD00"/>
      </a:accent1>
      <a:accent2>
        <a:srgbClr val="7030A0"/>
      </a:accent2>
      <a:accent3>
        <a:srgbClr val="00B0F0"/>
      </a:accent3>
      <a:accent4>
        <a:srgbClr val="D60093"/>
      </a:accent4>
      <a:accent5>
        <a:srgbClr val="008000"/>
      </a:accent5>
      <a:accent6>
        <a:srgbClr val="FF6600"/>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cmpd="sng"/>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cmpd="sng"/>
      </a:spPr>
      <a:bodyPr/>
      <a:lstStyle/>
      <a:style>
        <a:lnRef idx="1">
          <a:schemeClr val="dk1"/>
        </a:lnRef>
        <a:fillRef idx="0">
          <a:schemeClr val="dk1"/>
        </a:fillRef>
        <a:effectRef idx="0">
          <a:schemeClr val="dk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11643</TotalTime>
  <Words>8482</Words>
  <Application>Microsoft Office PowerPoint</Application>
  <PresentationFormat>On-screen Show (4:3)</PresentationFormat>
  <Paragraphs>487</Paragraphs>
  <Slides>31</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Calibri</vt:lpstr>
      <vt:lpstr>Corbel</vt:lpstr>
      <vt:lpstr>Monotype Sorts</vt:lpstr>
      <vt:lpstr>Palatino Linotype</vt:lpstr>
      <vt:lpstr>Wingdings</vt:lpstr>
      <vt:lpstr>Wingdings 2</vt:lpstr>
      <vt:lpstr>Module</vt:lpstr>
      <vt:lpstr>PowerPoint Presentation</vt:lpstr>
      <vt:lpstr>Data Management Vs. Stream Management</vt:lpstr>
      <vt:lpstr>The Stream Model</vt:lpstr>
      <vt:lpstr>Two Forms of Query</vt:lpstr>
      <vt:lpstr>PowerPoint Presentation</vt:lpstr>
      <vt:lpstr>Applications</vt:lpstr>
      <vt:lpstr>PowerPoint Presentation</vt:lpstr>
      <vt:lpstr>Sliding Windows</vt:lpstr>
      <vt:lpstr>PowerPoint Presentation</vt:lpstr>
      <vt:lpstr>Example: Averages</vt:lpstr>
      <vt:lpstr>PowerPoint Presentation</vt:lpstr>
      <vt:lpstr>Example: Filtering Chunks</vt:lpstr>
      <vt:lpstr>Filtering Chunks – (2)</vt:lpstr>
      <vt:lpstr>How a Bloom Filter Works</vt:lpstr>
      <vt:lpstr>Example: Bloom Filter</vt:lpstr>
      <vt:lpstr>Example – Continued</vt:lpstr>
      <vt:lpstr>Bloom Filter Lookup</vt:lpstr>
      <vt:lpstr>Example: Lookup</vt:lpstr>
      <vt:lpstr>Performance of Bloom Filters</vt:lpstr>
      <vt:lpstr>Throwing Darts</vt:lpstr>
      <vt:lpstr>Example: Throwing Darts</vt:lpstr>
      <vt:lpstr>PowerPoint Presentation</vt:lpstr>
      <vt:lpstr>The Use of Sampling</vt:lpstr>
      <vt:lpstr>When Sampling Doesn’t Work</vt:lpstr>
      <vt:lpstr>Example: Unique Search Queries</vt:lpstr>
      <vt:lpstr>Sampling by Value</vt:lpstr>
      <vt:lpstr>Controlling the Sample Size</vt:lpstr>
      <vt:lpstr>Example: Fixed Sample Size</vt:lpstr>
      <vt:lpstr>Sampling  Key-Value Pairs</vt:lpstr>
      <vt:lpstr>Example: Salary Ranges</vt:lpstr>
      <vt:lpstr>Salary Ranges – (2)</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Dr. Mohammad Rezwanul Huq</cp:lastModifiedBy>
  <cp:revision>618</cp:revision>
  <dcterms:created xsi:type="dcterms:W3CDTF">2009-06-12T17:14:38Z</dcterms:created>
  <dcterms:modified xsi:type="dcterms:W3CDTF">2022-01-05T17:33:06Z</dcterms:modified>
</cp:coreProperties>
</file>