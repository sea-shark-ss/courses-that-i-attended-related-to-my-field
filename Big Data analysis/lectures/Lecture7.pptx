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28"/>
  </p:notesMasterIdLst>
  <p:handoutMasterIdLst>
    <p:handoutMasterId r:id="rId29"/>
  </p:handoutMasterIdLst>
  <p:sldIdLst>
    <p:sldId id="256" r:id="rId2"/>
    <p:sldId id="326" r:id="rId3"/>
    <p:sldId id="290" r:id="rId4"/>
    <p:sldId id="291" r:id="rId5"/>
    <p:sldId id="292" r:id="rId6"/>
    <p:sldId id="293" r:id="rId7"/>
    <p:sldId id="294" r:id="rId8"/>
    <p:sldId id="295" r:id="rId9"/>
    <p:sldId id="297" r:id="rId10"/>
    <p:sldId id="298" r:id="rId11"/>
    <p:sldId id="299" r:id="rId12"/>
    <p:sldId id="325" r:id="rId13"/>
    <p:sldId id="327" r:id="rId14"/>
    <p:sldId id="307" r:id="rId15"/>
    <p:sldId id="309" r:id="rId16"/>
    <p:sldId id="310" r:id="rId17"/>
    <p:sldId id="311" r:id="rId18"/>
    <p:sldId id="313" r:id="rId19"/>
    <p:sldId id="314" r:id="rId20"/>
    <p:sldId id="315" r:id="rId21"/>
    <p:sldId id="316" r:id="rId22"/>
    <p:sldId id="317" r:id="rId23"/>
    <p:sldId id="318" r:id="rId24"/>
    <p:sldId id="319" r:id="rId25"/>
    <p:sldId id="320" r:id="rId26"/>
    <p:sldId id="321" r:id="rId27"/>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60093"/>
    <a:srgbClr val="008000"/>
    <a:srgbClr val="0000FF"/>
    <a:srgbClr val="FF0000"/>
    <a:srgbClr val="FF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789" autoAdjust="0"/>
    <p:restoredTop sz="93281" autoAdjust="0"/>
  </p:normalViewPr>
  <p:slideViewPr>
    <p:cSldViewPr>
      <p:cViewPr varScale="1">
        <p:scale>
          <a:sx n="67" d="100"/>
          <a:sy n="67" d="100"/>
        </p:scale>
        <p:origin x="1464" y="54"/>
      </p:cViewPr>
      <p:guideLst>
        <p:guide orient="horz" pos="2160"/>
        <p:guide pos="2880"/>
      </p:guideLst>
    </p:cSldViewPr>
  </p:slideViewPr>
  <p:notesTextViewPr>
    <p:cViewPr>
      <p:scale>
        <a:sx n="100" d="100"/>
        <a:sy n="100" d="100"/>
      </p:scale>
      <p:origin x="0" y="0"/>
    </p:cViewPr>
  </p:notesTextViewPr>
  <p:sorterViewPr>
    <p:cViewPr>
      <p:scale>
        <a:sx n="51" d="100"/>
        <a:sy n="51" d="100"/>
      </p:scale>
      <p:origin x="0" y="0"/>
    </p:cViewPr>
  </p:sorterViewPr>
  <p:notesViewPr>
    <p:cSldViewPr>
      <p:cViewPr varScale="1">
        <p:scale>
          <a:sx n="53" d="100"/>
          <a:sy n="53" d="100"/>
        </p:scale>
        <p:origin x="-1836" y="-84"/>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70238" cy="4794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4143375" y="0"/>
            <a:ext cx="3170238" cy="479425"/>
          </a:xfrm>
          <a:prstGeom prst="rect">
            <a:avLst/>
          </a:prstGeom>
        </p:spPr>
        <p:txBody>
          <a:bodyPr vert="horz" lIns="91440" tIns="45720" rIns="91440" bIns="45720" rtlCol="0"/>
          <a:lstStyle>
            <a:lvl1pPr algn="r">
              <a:defRPr sz="1200"/>
            </a:lvl1pPr>
          </a:lstStyle>
          <a:p>
            <a:fld id="{D3E28C4F-4FE9-4D22-93D8-487A4D01D983}" type="datetimeFigureOut">
              <a:rPr lang="en-US" smtClean="0"/>
              <a:pPr/>
              <a:t>11/21/2021</a:t>
            </a:fld>
            <a:endParaRPr lang="en-US"/>
          </a:p>
        </p:txBody>
      </p:sp>
      <p:sp>
        <p:nvSpPr>
          <p:cNvPr id="4" name="Footer Placeholder 3"/>
          <p:cNvSpPr>
            <a:spLocks noGrp="1"/>
          </p:cNvSpPr>
          <p:nvPr>
            <p:ph type="ftr" sz="quarter" idx="2"/>
          </p:nvPr>
        </p:nvSpPr>
        <p:spPr>
          <a:xfrm>
            <a:off x="0" y="9120188"/>
            <a:ext cx="3170238" cy="479425"/>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4143375" y="9120188"/>
            <a:ext cx="3170238" cy="479425"/>
          </a:xfrm>
          <a:prstGeom prst="rect">
            <a:avLst/>
          </a:prstGeom>
        </p:spPr>
        <p:txBody>
          <a:bodyPr vert="horz" lIns="91440" tIns="45720" rIns="91440" bIns="45720" rtlCol="0" anchor="b"/>
          <a:lstStyle>
            <a:lvl1pPr algn="r">
              <a:defRPr sz="1200"/>
            </a:lvl1pPr>
          </a:lstStyle>
          <a:p>
            <a:fld id="{BD5F390F-F66B-4732-9C46-6C80D0575FA0}" type="slidenum">
              <a:rPr lang="en-US" smtClean="0"/>
              <a:pPr/>
              <a:t>‹#›</a:t>
            </a:fld>
            <a:endParaRPr lang="en-US"/>
          </a:p>
        </p:txBody>
      </p:sp>
    </p:spTree>
    <p:extLst>
      <p:ext uri="{BB962C8B-B14F-4D97-AF65-F5344CB8AC3E}">
        <p14:creationId xmlns:p14="http://schemas.microsoft.com/office/powerpoint/2010/main" val="70649601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vl1pPr>
          </a:lstStyle>
          <a:p>
            <a:fld id="{EE18CB36-612C-4E4A-AC83-E89476AEC2BF}" type="datetimeFigureOut">
              <a:rPr lang="en-US" smtClean="0"/>
              <a:pPr/>
              <a:t>11/21/2021</a:t>
            </a:fld>
            <a:endParaRPr lang="en-US"/>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vl1pPr>
          </a:lstStyle>
          <a:p>
            <a:fld id="{EE707532-839C-41A2-9E71-D5288AEAE66A}" type="slidenum">
              <a:rPr lang="en-US" smtClean="0"/>
              <a:pPr/>
              <a:t>‹#›</a:t>
            </a:fld>
            <a:endParaRPr lang="en-US"/>
          </a:p>
        </p:txBody>
      </p:sp>
    </p:spTree>
    <p:extLst>
      <p:ext uri="{BB962C8B-B14F-4D97-AF65-F5344CB8AC3E}">
        <p14:creationId xmlns:p14="http://schemas.microsoft.com/office/powerpoint/2010/main" val="27866497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a:t>
            </a:r>
            <a:r>
              <a:rPr lang="en-US" baseline="0" dirty="0"/>
              <a:t> essence of the PCY algorithm is to take advantage of the fact that if the set of items is modest in size we have lots of space during the first pass that we don’t seem to need.  We can, in fact, do some counting that will give us a smaller candidate set of pairs.  That will help us on the second pass, where main memory is often the critical resource, since we don’t have to store as many counts.</a:t>
            </a:r>
          </a:p>
          <a:p>
            <a:endParaRPr lang="en-US" baseline="0" dirty="0"/>
          </a:p>
          <a:p>
            <a:r>
              <a:rPr lang="en-US" baseline="0" dirty="0"/>
              <a:t>Click 1: What Park, Chen, and Yu suggested was that we could hash all pairs into a large number of buckets.  However, these buckets do not hold the pairs themselves, just the count of how many baskets contained pairs that hash to that bucket.  Thus, the space needed for a bucket is small.  4 bytes is surely sufficient, and we might get away with 2 bytes if the support threshold is less than 2 to the 16</a:t>
            </a:r>
            <a:r>
              <a:rPr lang="en-US" baseline="30000" dirty="0"/>
              <a:t>th</a:t>
            </a:r>
            <a:r>
              <a:rPr lang="en-US" baseline="0" dirty="0"/>
              <a:t>.  Notice that it is not possible to store, in main memory, all the pairs themselves – we’re trying to avoid having to use some space for every possible pair in main memory.</a:t>
            </a:r>
          </a:p>
          <a:p>
            <a:endParaRPr lang="en-US" baseline="0" dirty="0"/>
          </a:p>
          <a:p>
            <a:r>
              <a:rPr lang="en-US" baseline="0" dirty="0"/>
              <a:t>Click 2: So on the first pass, when we read a basket, we not only increment the count for each of its items, as we did for the first pass of a-priori.  We also hash each pair that is contained in the basket.  And for each resulting bucket, we increment its count by 1.</a:t>
            </a:r>
          </a:p>
          <a:p>
            <a:endParaRPr lang="en-US" baseline="0" dirty="0"/>
          </a:p>
          <a:p>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3</a:t>
            </a:fld>
            <a:endParaRPr lang="en-US"/>
          </a:p>
        </p:txBody>
      </p:sp>
    </p:spTree>
    <p:extLst>
      <p:ext uri="{BB962C8B-B14F-4D97-AF65-F5344CB8AC3E}">
        <p14:creationId xmlns:p14="http://schemas.microsoft.com/office/powerpoint/2010/main" val="27857920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call a bucket “frequent”</a:t>
            </a:r>
            <a:r>
              <a:rPr lang="en-US" baseline="0" dirty="0"/>
              <a:t> if, after the first pass, we find that its count is at least equal to the support threshold.  Now a bucket could become frequent simply because many pairs each contribute a little to its total count.  We can’t tell if that is the case, because we only had room to remember the total, not the count of each individual pair that contributed to the bucket.</a:t>
            </a:r>
          </a:p>
          <a:p>
            <a:endParaRPr lang="en-US" baseline="0" dirty="0"/>
          </a:p>
          <a:p>
            <a:r>
              <a:rPr lang="en-US" baseline="0" dirty="0"/>
              <a:t>Click 1: But, in the opposite case we win.  If a bucket is not frequent, then no pair that hashes to it could possibly be frequent.</a:t>
            </a:r>
          </a:p>
          <a:p>
            <a:endParaRPr lang="en-US" baseline="0" dirty="0"/>
          </a:p>
          <a:p>
            <a:r>
              <a:rPr lang="en-US" baseline="0" dirty="0"/>
              <a:t>Click 2: So on the second pass, we only need to count pairs that hash to a frequent bucket.  And of course the usual a-priori trick works too.  We only have to count a pair if both its members are frequent items.</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4</a:t>
            </a:fld>
            <a:endParaRPr lang="en-US"/>
          </a:p>
        </p:txBody>
      </p:sp>
    </p:spTree>
    <p:extLst>
      <p:ext uri="{BB962C8B-B14F-4D97-AF65-F5344CB8AC3E}">
        <p14:creationId xmlns:p14="http://schemas.microsoft.com/office/powerpoint/2010/main" val="34196902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picture of PCY I would like you</a:t>
            </a:r>
            <a:r>
              <a:rPr lang="en-US" baseline="0" dirty="0"/>
              <a:t> to have.  On the first pass, we use a little space to count items (POINT) and the rest of the space is devoted to bucket counts (POINT).   On the second pass, we keep a table of frequent items (POINT), just as we did for the a-priori algorithm.  But we also summarize the results of hashing pairs on the first pass by what we call a bitmap (POINT).  For each bucket, there is one bit that says whether the bucket is frequent or not.  If the buckets are, say, 4 bytes, then we get a 32:1 compression, and yet we have all the information we need for the second pass: is the bucket frequent or not?</a:t>
            </a:r>
          </a:p>
          <a:p>
            <a:endParaRPr lang="en-US" baseline="0" dirty="0"/>
          </a:p>
          <a:p>
            <a:r>
              <a:rPr lang="en-US" baseline="0" dirty="0"/>
              <a:t>Thus, we have almost as much space, on the second pass, to count candidate pairs, as we would for a-priori.  But we hope that because the bucket counts will eliminate most of the candidates that a-priori would have to handle, there will be many fewer pairs to count on the second pass.  If that is the case, then the PCY algorithm might be able to operate in main memory on the second pass, while a-priori would run out of space or have to use disk.</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5</a:t>
            </a:fld>
            <a:endParaRPr lang="en-US"/>
          </a:p>
        </p:txBody>
      </p:sp>
    </p:spTree>
    <p:extLst>
      <p:ext uri="{BB962C8B-B14F-4D97-AF65-F5344CB8AC3E}">
        <p14:creationId xmlns:p14="http://schemas.microsoft.com/office/powerpoint/2010/main" val="27061926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On pass 1 we use what space we need to count occurrences of each item, just as a-priori does.  Typically, 4 bytes/item will do nicely.  But the difference is that whatever space we do not need for counting items is given over to as large a hash table as we can, where each bucket is a count, typically a 4-byte integer as well.</a:t>
            </a:r>
          </a:p>
        </p:txBody>
      </p:sp>
      <p:sp>
        <p:nvSpPr>
          <p:cNvPr id="4" name="Slide Number Placeholder 3"/>
          <p:cNvSpPr>
            <a:spLocks noGrp="1"/>
          </p:cNvSpPr>
          <p:nvPr>
            <p:ph type="sldNum" sz="quarter" idx="10"/>
          </p:nvPr>
        </p:nvSpPr>
        <p:spPr/>
        <p:txBody>
          <a:bodyPr/>
          <a:lstStyle/>
          <a:p>
            <a:fld id="{EE707532-839C-41A2-9E71-D5288AEAE66A}" type="slidenum">
              <a:rPr lang="en-US" smtClean="0"/>
              <a:pPr/>
              <a:t>6</a:t>
            </a:fld>
            <a:endParaRPr lang="en-US"/>
          </a:p>
        </p:txBody>
      </p:sp>
    </p:spTree>
    <p:extLst>
      <p:ext uri="{BB962C8B-B14F-4D97-AF65-F5344CB8AC3E}">
        <p14:creationId xmlns:p14="http://schemas.microsoft.com/office/powerpoint/2010/main" val="18290667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t>
            </a:r>
            <a:r>
              <a:rPr lang="en-US" dirty="0" err="1"/>
              <a:t>pseudocode</a:t>
            </a:r>
            <a:r>
              <a:rPr lang="en-US" baseline="0" dirty="0"/>
              <a:t> for the first pass of the PCY algorithm.</a:t>
            </a:r>
          </a:p>
          <a:p>
            <a:endParaRPr lang="en-US" baseline="0" dirty="0"/>
          </a:p>
          <a:p>
            <a:r>
              <a:rPr lang="en-US" baseline="0" dirty="0"/>
              <a:t>Click 1: We read each basket once, as we would on any pass of any algorithm.</a:t>
            </a:r>
          </a:p>
          <a:p>
            <a:endParaRPr lang="en-US" baseline="0" dirty="0"/>
          </a:p>
          <a:p>
            <a:r>
              <a:rPr lang="en-US" baseline="0" dirty="0"/>
              <a:t>Click 2: We look at each item in the basket and add 1 to its count.</a:t>
            </a:r>
          </a:p>
          <a:p>
            <a:endParaRPr lang="en-US" baseline="0" dirty="0"/>
          </a:p>
          <a:p>
            <a:r>
              <a:rPr lang="en-US" baseline="0" dirty="0"/>
              <a:t>Click 3: That is just what a-priori does.  The additional work on the first pass is to look at each pair of items, hash the pair to some bucket, and increment the count for that bucket.</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7</a:t>
            </a:fld>
            <a:endParaRPr lang="en-US"/>
          </a:p>
        </p:txBody>
      </p:sp>
    </p:spTree>
    <p:extLst>
      <p:ext uri="{BB962C8B-B14F-4D97-AF65-F5344CB8AC3E}">
        <p14:creationId xmlns:p14="http://schemas.microsoft.com/office/powerpoint/2010/main" val="25965940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remind you of two observations about the buckets.</a:t>
            </a:r>
          </a:p>
          <a:p>
            <a:endParaRPr lang="en-US" dirty="0"/>
          </a:p>
          <a:p>
            <a:r>
              <a:rPr lang="en-US" dirty="0"/>
              <a:t>Click 1: First, if a pair is frequent, then the bucket it hashes to is surely frequent.  Thus, on</a:t>
            </a:r>
            <a:r>
              <a:rPr lang="en-US" baseline="0" dirty="0"/>
              <a:t> the second pass, the bit in the bitmap for that bucket will be 1, and we will surely maintain a count for this pair.  Unfortunately, there may be many infrequent pairs that hash to the same bucket.  These might be counted on the second pass as well.  We can hope that at least one member of the pair is not a frequent item, because that will inhibit us from counting the pair on the second pass.  But sometimes, you will have a pair that is not frequent, but both of its items are frequent and it hashes to a frequent bucket.  That pair will be counted on the second pass, even though it is not frequent.</a:t>
            </a:r>
          </a:p>
          <a:p>
            <a:endParaRPr lang="en-US" baseline="0" dirty="0"/>
          </a:p>
          <a:p>
            <a:r>
              <a:rPr lang="en-US" baseline="0" dirty="0"/>
              <a:t>Click 2: It is also possible that a bucket will be frequent but there is no frequent pair hashing to the bucket.  Remember each bucket’s count is the sum of the counts of ALL the pairs that hash to it.  But the only time that we have to count a pair on the second pass, and that pair turns out not to be frequent, is when the pair consists of two frequent items, and, for one of the two reasons just discussed, its bucket turns out to be frequent.</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8</a:t>
            </a:fld>
            <a:endParaRPr lang="en-US"/>
          </a:p>
        </p:txBody>
      </p:sp>
    </p:spTree>
    <p:extLst>
      <p:ext uri="{BB962C8B-B14F-4D97-AF65-F5344CB8AC3E}">
        <p14:creationId xmlns:p14="http://schemas.microsoft.com/office/powerpoint/2010/main" val="11069874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pass 1, we set up pass 2</a:t>
            </a:r>
            <a:r>
              <a:rPr lang="en-US" baseline="0" dirty="0"/>
              <a:t> by doing the following.</a:t>
            </a:r>
          </a:p>
          <a:p>
            <a:endParaRPr lang="en-US" baseline="0" dirty="0"/>
          </a:p>
          <a:p>
            <a:r>
              <a:rPr lang="en-US" baseline="0" dirty="0"/>
              <a:t>Click 1: We construct the bitmap from the buckets.  The bitmap has one bit for each bucket, in order, so we can easily look up the bit that corresponds to a given hash value.  1 means the bucket was frequent, and 0 means it was not.</a:t>
            </a:r>
          </a:p>
          <a:p>
            <a:endParaRPr lang="en-US" baseline="0" dirty="0"/>
          </a:p>
          <a:p>
            <a:r>
              <a:rPr lang="en-US" baseline="0" dirty="0"/>
              <a:t>Click 2: As discussed, if buckets are 4-byte integers, then we get 32:1 compression when we replace the buckets by the bitmap.</a:t>
            </a:r>
          </a:p>
          <a:p>
            <a:endParaRPr lang="en-US" baseline="0" dirty="0"/>
          </a:p>
          <a:p>
            <a:r>
              <a:rPr lang="en-US" baseline="0" dirty="0"/>
              <a:t>Click 3: and as in the a-priori algorithm, we need to create a list of the frequent items, to use on the second pass.</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9</a:t>
            </a:fld>
            <a:endParaRPr lang="en-US"/>
          </a:p>
        </p:txBody>
      </p:sp>
    </p:spTree>
    <p:extLst>
      <p:ext uri="{BB962C8B-B14F-4D97-AF65-F5344CB8AC3E}">
        <p14:creationId xmlns:p14="http://schemas.microsoft.com/office/powerpoint/2010/main" val="18173694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job on pass 2 is to count the candidate pairs.  In</a:t>
            </a:r>
            <a:r>
              <a:rPr lang="en-US" baseline="0" dirty="0"/>
              <a:t> the PCY algorithm, in order to be a candidate pair, {</a:t>
            </a:r>
            <a:r>
              <a:rPr lang="en-US" baseline="0" dirty="0" err="1"/>
              <a:t>i,j</a:t>
            </a:r>
            <a:r>
              <a:rPr lang="en-US" baseline="0" dirty="0"/>
              <a:t>} must satisfy two different conditions.</a:t>
            </a:r>
          </a:p>
          <a:p>
            <a:endParaRPr lang="en-US" baseline="0" dirty="0"/>
          </a:p>
          <a:p>
            <a:r>
              <a:rPr lang="en-US" baseline="0" dirty="0"/>
              <a:t>Click 1: Both </a:t>
            </a:r>
            <a:r>
              <a:rPr lang="en-US" baseline="0" dirty="0" err="1"/>
              <a:t>i</a:t>
            </a:r>
            <a:r>
              <a:rPr lang="en-US" baseline="0" dirty="0"/>
              <a:t> and j must have been found frequent on the first pass.  For a-priori, this is the only condition, and all pairs satisfying it are candidates.</a:t>
            </a:r>
          </a:p>
          <a:p>
            <a:endParaRPr lang="en-US" baseline="0" dirty="0"/>
          </a:p>
          <a:p>
            <a:r>
              <a:rPr lang="en-US" baseline="0" dirty="0"/>
              <a:t>Click 2: But the new condition is that the pair itself must hash to a bucket that was found frequent on the first pass.  It is easy to see that if the pair {</a:t>
            </a:r>
            <a:r>
              <a:rPr lang="en-US" baseline="0" dirty="0" err="1"/>
              <a:t>i,j</a:t>
            </a:r>
            <a:r>
              <a:rPr lang="en-US" baseline="0" dirty="0"/>
              <a:t>} really is frequent, then both these conditions must be satisfied, so this pair will be counted.  Condition (1) follows from monotonicity.  Condition 2 is satisfied because the count of a bucket is the sum of the counts of all the pairs that hash to it.  That count cannot be smaller than any of the individual counts.</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10</a:t>
            </a:fld>
            <a:endParaRPr lang="en-US"/>
          </a:p>
        </p:txBody>
      </p:sp>
    </p:spTree>
    <p:extLst>
      <p:ext uri="{BB962C8B-B14F-4D97-AF65-F5344CB8AC3E}">
        <p14:creationId xmlns:p14="http://schemas.microsoft.com/office/powerpoint/2010/main" val="8156246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expect that each bucket requires only a small number of bytes.</a:t>
            </a:r>
            <a:r>
              <a:rPr lang="en-US" baseline="0" dirty="0"/>
              <a:t>  4 is almost sure to be enough, and in many cases we can get by with 2 bytes per bucket.  The reason is that it is sufficient to count up to the support threshold s.  Even though we said we should always increment the count when a pair hashes to the bucket,  What we really want to do is, if the current count is less than s, then increment the count; otherwise leave the count at s.</a:t>
            </a:r>
          </a:p>
          <a:p>
            <a:endParaRPr lang="en-US" baseline="0" dirty="0"/>
          </a:p>
          <a:p>
            <a:r>
              <a:rPr lang="en-US" baseline="0" dirty="0"/>
              <a:t>The number of buckets will be some reasonable fraction of the size of main memory, typically almost a half or a quarter.  The only time that would not be true is if there were so many different items that we needed all or most of main memory just to count them.  In that case, we could not use the PCY algorithm.</a:t>
            </a:r>
          </a:p>
          <a:p>
            <a:endParaRPr lang="en-US" baseline="0" dirty="0"/>
          </a:p>
          <a:p>
            <a:r>
              <a:rPr lang="en-US" baseline="0" dirty="0"/>
              <a:t>Click 1: When we count pairs on the second pass, we have to use the tabular method. The problem is that the pairs that are eliminated because they hash to an infrequent bucket are scattered all over the place, and cannot be organized into a nice triangular array.</a:t>
            </a:r>
          </a:p>
          <a:p>
            <a:endParaRPr lang="en-US" baseline="0" dirty="0"/>
          </a:p>
          <a:p>
            <a:r>
              <a:rPr lang="en-US" baseline="0" dirty="0"/>
              <a:t>Click 2: As a result, we should not use PCY unless we can eliminate at least 2/3 of the candidate pairs, compared with a-priori.  </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11</a:t>
            </a:fld>
            <a:endParaRPr lang="en-US"/>
          </a:p>
        </p:txBody>
      </p:sp>
    </p:spTree>
    <p:extLst>
      <p:ext uri="{BB962C8B-B14F-4D97-AF65-F5344CB8AC3E}">
        <p14:creationId xmlns:p14="http://schemas.microsoft.com/office/powerpoint/2010/main" val="19619228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a:t>
            </a:r>
            <a:r>
              <a:rPr lang="en-US" baseline="0" dirty="0"/>
              <a:t> we refer to as the “simple algorithm” is nothing more than random sampling.  We choose some set of the baskets, not more than will fill perhaps half the main memory.</a:t>
            </a:r>
          </a:p>
          <a:p>
            <a:endParaRPr lang="en-US" baseline="0" dirty="0"/>
          </a:p>
          <a:p>
            <a:r>
              <a:rPr lang="en-US" baseline="0" dirty="0"/>
              <a:t>Click 1: Then we run one of the algorithms we just discussed on the sample.  But we do everything in main memory.  We can make any number of passes over the sample without using any disk I/O’s, because the sample is in main memory.  We use the available main memory to count the candidate pairs for each size of </a:t>
            </a:r>
            <a:r>
              <a:rPr lang="en-US" baseline="0" dirty="0" err="1"/>
              <a:t>itemset</a:t>
            </a:r>
            <a:r>
              <a:rPr lang="en-US" baseline="0" dirty="0"/>
              <a:t>.  The problem with this algorithm is that we may not be able to afford much main memory to hold the sample baskets, or else we will not be able to store all the counts we need in main memory as well.  And the smaller the sample, the less accurate the results will be.</a:t>
            </a:r>
          </a:p>
          <a:p>
            <a:endParaRPr lang="en-US" baseline="0" dirty="0"/>
          </a:p>
          <a:p>
            <a:r>
              <a:rPr lang="en-US" baseline="0" dirty="0"/>
              <a:t>Click 2: There needs to be an adjustment to the threshold.  If we state the threshold as a percentage, then we can use that percentage on the sample.  But if the threshold is an absolute number s, then we have to scale back s in proportion to the size of the sample.  So if the sample is 1% of the baskets, the proper threshold to use is s divided by 100.  It should be apparent that whenever we use a sample, we’ll get some </a:t>
            </a:r>
            <a:r>
              <a:rPr lang="en-US" baseline="0" dirty="0" err="1"/>
              <a:t>itemsets</a:t>
            </a:r>
            <a:r>
              <a:rPr lang="en-US" baseline="0" dirty="0"/>
              <a:t> that are frequent in the sample but not in the whole, and we’ll get some </a:t>
            </a:r>
            <a:r>
              <a:rPr lang="en-US" baseline="0" dirty="0" err="1"/>
              <a:t>itemsets</a:t>
            </a:r>
            <a:r>
              <a:rPr lang="en-US" baseline="0" dirty="0"/>
              <a:t> that are frequent in the whole but not the sample.  The larger the sample, the less likely that is.  And no matter what the sample size, the most likely errors will be for </a:t>
            </a:r>
            <a:r>
              <a:rPr lang="en-US" baseline="0" dirty="0" err="1"/>
              <a:t>itemsets</a:t>
            </a:r>
            <a:r>
              <a:rPr lang="en-US" baseline="0" dirty="0"/>
              <a:t> whose support is very close to s.  Thus the errors are less important than they would be if very frequent </a:t>
            </a:r>
            <a:r>
              <a:rPr lang="en-US" baseline="0" dirty="0" err="1"/>
              <a:t>itemsets</a:t>
            </a:r>
            <a:r>
              <a:rPr lang="en-US" baseline="0" dirty="0"/>
              <a:t> were declared infrequent, or very rare </a:t>
            </a:r>
            <a:r>
              <a:rPr lang="en-US" baseline="0" dirty="0" err="1"/>
              <a:t>itemsets</a:t>
            </a:r>
            <a:r>
              <a:rPr lang="en-US" baseline="0" dirty="0"/>
              <a:t> were declared frequent.</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14</a:t>
            </a:fld>
            <a:endParaRPr lang="en-US"/>
          </a:p>
        </p:txBody>
      </p:sp>
    </p:spTree>
    <p:extLst>
      <p:ext uri="{BB962C8B-B14F-4D97-AF65-F5344CB8AC3E}">
        <p14:creationId xmlns:p14="http://schemas.microsoft.com/office/powerpoint/2010/main" val="11528852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Notice</a:t>
            </a:r>
            <a:r>
              <a:rPr lang="en-US" baseline="0" dirty="0"/>
              <a:t> that when we sample, we don’t even have to look a the entire dataset, so in a sense, the simple algorithm is less than one pass.  However, we can eliminate false positives by making an additional full pass.  In that pass, we count all the </a:t>
            </a:r>
            <a:r>
              <a:rPr lang="en-US" baseline="0" dirty="0" err="1"/>
              <a:t>itemsets</a:t>
            </a:r>
            <a:r>
              <a:rPr lang="en-US" baseline="0" dirty="0"/>
              <a:t> that were found frequent in the sample, and we discard those that are not frequent in the whole.</a:t>
            </a:r>
          </a:p>
          <a:p>
            <a:endParaRPr lang="en-US" baseline="0" dirty="0"/>
          </a:p>
          <a:p>
            <a:r>
              <a:rPr lang="en-US" baseline="0" dirty="0"/>
              <a:t>Click 1: This pass will not catch false negatives, since we don’t know to count them.</a:t>
            </a:r>
          </a:p>
          <a:p>
            <a:endParaRPr lang="en-US" baseline="0" dirty="0"/>
          </a:p>
          <a:p>
            <a:r>
              <a:rPr lang="en-US" baseline="0" dirty="0"/>
              <a:t>Click 2: One way we can avoid most false negatives is to lower the threshold on the initial pass.  For example, if the sample is 1%, use s/125 rather than s/100, so that it is easier for </a:t>
            </a:r>
            <a:r>
              <a:rPr lang="en-US" baseline="0" dirty="0" err="1"/>
              <a:t>itemsets</a:t>
            </a:r>
            <a:r>
              <a:rPr lang="en-US" baseline="0" dirty="0"/>
              <a:t> to be regarded as frequent in the sample.  But then, on the full pass, you use the correct threshold s when counting support in the entire set.  The disadvantage of lowering the support threshold is that then you have to count more sets, and there may not be enough main memory to do so.</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15</a:t>
            </a:fld>
            <a:endParaRPr lang="en-US"/>
          </a:p>
        </p:txBody>
      </p:sp>
    </p:spTree>
    <p:extLst>
      <p:ext uri="{BB962C8B-B14F-4D97-AF65-F5344CB8AC3E}">
        <p14:creationId xmlns:p14="http://schemas.microsoft.com/office/powerpoint/2010/main" val="8455008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SON algorithm is an</a:t>
            </a:r>
            <a:r>
              <a:rPr lang="en-US" baseline="0" dirty="0"/>
              <a:t> improvement on the simple algorithm.  It uses two full passes, and doesn’t have to sample.  Rather, we divide the entire set of baskets into small groups, each group small enough to be a sample in the simple algorithm.  We read one group into main memory, and run the simple algorithm to get the </a:t>
            </a:r>
            <a:r>
              <a:rPr lang="en-US" baseline="0" dirty="0" err="1"/>
              <a:t>itemsets</a:t>
            </a:r>
            <a:r>
              <a:rPr lang="en-US" baseline="0" dirty="0"/>
              <a:t> that are frequent in this sample.  The threshold is reduced only proportionally, not below that.</a:t>
            </a:r>
          </a:p>
          <a:p>
            <a:endParaRPr lang="en-US" baseline="0" dirty="0"/>
          </a:p>
          <a:p>
            <a:r>
              <a:rPr lang="en-US" baseline="0" dirty="0"/>
              <a:t>Click 1: For each group, we generate the list of </a:t>
            </a:r>
            <a:r>
              <a:rPr lang="en-US" baseline="0" dirty="0" err="1"/>
              <a:t>itemsets</a:t>
            </a:r>
            <a:r>
              <a:rPr lang="en-US" baseline="0" dirty="0"/>
              <a:t> that are frequent in the sample, and these </a:t>
            </a:r>
            <a:r>
              <a:rPr lang="en-US" baseline="0" dirty="0" err="1"/>
              <a:t>itemsets</a:t>
            </a:r>
            <a:r>
              <a:rPr lang="en-US" baseline="0" dirty="0"/>
              <a:t> all become candidate </a:t>
            </a:r>
            <a:r>
              <a:rPr lang="en-US" baseline="0" dirty="0" err="1"/>
              <a:t>itemsets</a:t>
            </a:r>
            <a:r>
              <a:rPr lang="en-US" baseline="0" dirty="0"/>
              <a:t> for the next pass.</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16</a:t>
            </a:fld>
            <a:endParaRPr lang="en-US"/>
          </a:p>
        </p:txBody>
      </p:sp>
    </p:spTree>
    <p:extLst>
      <p:ext uri="{BB962C8B-B14F-4D97-AF65-F5344CB8AC3E}">
        <p14:creationId xmlns:p14="http://schemas.microsoft.com/office/powerpoint/2010/main" val="20629475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a:t>
            </a:r>
            <a:r>
              <a:rPr lang="en-US" baseline="0" dirty="0"/>
              <a:t> on the second pass, we count all the candidate sets, hoping that all the counts fit in main memory.</a:t>
            </a:r>
          </a:p>
          <a:p>
            <a:endParaRPr lang="en-US" baseline="0" dirty="0"/>
          </a:p>
          <a:p>
            <a:r>
              <a:rPr lang="en-US" baseline="0" dirty="0"/>
              <a:t>Click 1: This trick works because of a variant on the idea of monotonicity.  An </a:t>
            </a:r>
            <a:r>
              <a:rPr lang="en-US" baseline="0" dirty="0" err="1"/>
              <a:t>itemset</a:t>
            </a:r>
            <a:r>
              <a:rPr lang="en-US" baseline="0" dirty="0"/>
              <a:t> that is not frequent in any of the groups, surely is not frequent in the whole.  So there are no false negatives.  Phrased in the contrapositive form, any </a:t>
            </a:r>
            <a:r>
              <a:rPr lang="en-US" baseline="0" dirty="0" err="1"/>
              <a:t>itemset</a:t>
            </a:r>
            <a:r>
              <a:rPr lang="en-US" baseline="0" dirty="0"/>
              <a:t> that is frequent in the whole MUST be declared a candidate by the analysis of at least one of the groups.</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17</a:t>
            </a:fld>
            <a:endParaRPr lang="en-US"/>
          </a:p>
        </p:txBody>
      </p:sp>
    </p:spTree>
    <p:extLst>
      <p:ext uri="{BB962C8B-B14F-4D97-AF65-F5344CB8AC3E}">
        <p14:creationId xmlns:p14="http://schemas.microsoft.com/office/powerpoint/2010/main" val="27519017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we’ll discuss </a:t>
            </a:r>
            <a:r>
              <a:rPr lang="en-US" dirty="0" err="1"/>
              <a:t>Toivonen’s</a:t>
            </a:r>
            <a:r>
              <a:rPr lang="en-US" dirty="0"/>
              <a:t> algorithm, which has an entirely different approach to saving passes.</a:t>
            </a:r>
          </a:p>
          <a:p>
            <a:endParaRPr lang="en-US" dirty="0"/>
          </a:p>
          <a:p>
            <a:r>
              <a:rPr lang="en-US" dirty="0"/>
              <a:t>Click 1</a:t>
            </a:r>
          </a:p>
          <a:p>
            <a:r>
              <a:rPr lang="en-US" dirty="0"/>
              <a:t>It does, however,</a:t>
            </a:r>
            <a:r>
              <a:rPr lang="en-US" baseline="0" dirty="0"/>
              <a:t> start out just like the simple algorithm.  We take a sample and find the </a:t>
            </a:r>
            <a:r>
              <a:rPr lang="en-US" baseline="0" dirty="0" err="1"/>
              <a:t>itemsets</a:t>
            </a:r>
            <a:r>
              <a:rPr lang="en-US" baseline="0" dirty="0"/>
              <a:t> that are frequent in the sample.  It is necessary, not optional, that we lower the threshold somewhat, so that there is little chance of a false negative.  For example, we might, as we discussed earlier, use a 1% sample of the baskets, but divide the threshold by 125, and consider any </a:t>
            </a:r>
            <a:r>
              <a:rPr lang="en-US" baseline="0" dirty="0" err="1"/>
              <a:t>itemset</a:t>
            </a:r>
            <a:r>
              <a:rPr lang="en-US" baseline="0" dirty="0"/>
              <a:t> that met or exceeded that reduced support threshold to be a candidate set.</a:t>
            </a:r>
          </a:p>
          <a:p>
            <a:endParaRPr lang="en-US" baseline="0" dirty="0"/>
          </a:p>
          <a:p>
            <a:r>
              <a:rPr lang="en-US" baseline="0" dirty="0"/>
              <a:t>Click 2</a:t>
            </a:r>
          </a:p>
          <a:p>
            <a:r>
              <a:rPr lang="en-US" baseline="0" dirty="0"/>
              <a:t>It is important that the candidate </a:t>
            </a:r>
            <a:r>
              <a:rPr lang="en-US" baseline="0" dirty="0" err="1"/>
              <a:t>itemsets</a:t>
            </a:r>
            <a:r>
              <a:rPr lang="en-US" baseline="0" dirty="0"/>
              <a:t> include all those that are truly frequent in the full dataset; that is, we really hope there will be no false negatives.</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18</a:t>
            </a:fld>
            <a:endParaRPr lang="en-US"/>
          </a:p>
        </p:txBody>
      </p:sp>
    </p:spTree>
    <p:extLst>
      <p:ext uri="{BB962C8B-B14F-4D97-AF65-F5344CB8AC3E}">
        <p14:creationId xmlns:p14="http://schemas.microsoft.com/office/powerpoint/2010/main" val="27580435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computing the frequent</a:t>
            </a:r>
            <a:r>
              <a:rPr lang="en-US" baseline="0" dirty="0"/>
              <a:t> </a:t>
            </a:r>
            <a:r>
              <a:rPr lang="en-US" baseline="0" dirty="0" err="1"/>
              <a:t>itemsets</a:t>
            </a:r>
            <a:r>
              <a:rPr lang="en-US" baseline="0" dirty="0"/>
              <a:t>, which become candidates for counting on the full pass to follow, we add to the list of candidates certain other </a:t>
            </a:r>
            <a:r>
              <a:rPr lang="en-US" baseline="0" dirty="0" err="1"/>
              <a:t>itemsets</a:t>
            </a:r>
            <a:r>
              <a:rPr lang="en-US" baseline="0" dirty="0"/>
              <a:t> that were not deemed frequent in the sample.</a:t>
            </a:r>
          </a:p>
          <a:p>
            <a:endParaRPr lang="en-US" baseline="0" dirty="0"/>
          </a:p>
          <a:p>
            <a:r>
              <a:rPr lang="en-US" baseline="0" dirty="0"/>
              <a:t>Click 1: These additional </a:t>
            </a:r>
            <a:r>
              <a:rPr lang="en-US" baseline="0" dirty="0" err="1"/>
              <a:t>itemsets</a:t>
            </a:r>
            <a:r>
              <a:rPr lang="en-US" baseline="0" dirty="0"/>
              <a:t>, called the “negative border,” are the </a:t>
            </a:r>
            <a:r>
              <a:rPr lang="en-US" baseline="0" dirty="0" err="1"/>
              <a:t>itemsets</a:t>
            </a:r>
            <a:r>
              <a:rPr lang="en-US" baseline="0" dirty="0"/>
              <a:t> that are not frequent in the sample, but each subset that is formed by dropping exactly one item from the set – what we call immediate subsets – ARE frequent in the sample.  The purpose of counting the negative border is to act as “canaries.” None of them should be frequent in the whole dataset, because we picked a support threshold for the sample that is significantly below a proportional threshold.  But, if one or more turn out to be frequent in the whole, then we have to believe that the sample was not representative, and we need to repeat the entire process.  That is why we say that there is no limit on how many passes </a:t>
            </a:r>
            <a:r>
              <a:rPr lang="en-US" baseline="0" dirty="0" err="1"/>
              <a:t>Toivonen’s</a:t>
            </a:r>
            <a:r>
              <a:rPr lang="en-US" baseline="0" dirty="0"/>
              <a:t> algorithm might take in rare cases.</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19</a:t>
            </a:fld>
            <a:endParaRPr lang="en-US"/>
          </a:p>
        </p:txBody>
      </p:sp>
    </p:spTree>
    <p:extLst>
      <p:ext uri="{BB962C8B-B14F-4D97-AF65-F5344CB8AC3E}">
        <p14:creationId xmlns:p14="http://schemas.microsoft.com/office/powerpoint/2010/main" val="47175879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a:t>
            </a:r>
            <a:r>
              <a:rPr lang="en-US" baseline="0" dirty="0"/>
              <a:t> are some examples of when sets are in the negative border.</a:t>
            </a:r>
          </a:p>
          <a:p>
            <a:endParaRPr lang="en-US" baseline="0" dirty="0"/>
          </a:p>
          <a:p>
            <a:r>
              <a:rPr lang="en-US" baseline="0" dirty="0"/>
              <a:t>Click 1:  A set of four items, ABCD, is in the negative border if it satisfies two conditions.</a:t>
            </a:r>
          </a:p>
          <a:p>
            <a:endParaRPr lang="en-US" baseline="0" dirty="0"/>
          </a:p>
          <a:p>
            <a:r>
              <a:rPr lang="en-US" baseline="0" dirty="0"/>
              <a:t>Click 2: First, it must not itself be frequent.  No set that is frequent can be in the negative border.</a:t>
            </a:r>
          </a:p>
          <a:p>
            <a:endParaRPr lang="en-US" baseline="0" dirty="0"/>
          </a:p>
          <a:p>
            <a:r>
              <a:rPr lang="en-US" baseline="0" dirty="0"/>
              <a:t>Click 3: But all of the immediate subsets, the sets that we get by deleting one of A, B, C, or D (POINT), are frequent.</a:t>
            </a:r>
          </a:p>
          <a:p>
            <a:endParaRPr lang="en-US" baseline="0" dirty="0"/>
          </a:p>
          <a:p>
            <a:r>
              <a:rPr lang="en-US" baseline="0" dirty="0"/>
              <a:t>Click 4: For another example, the singleton set containing only item A is in the negative border if and only if it is not frequent.  This set has only one immediate subset: the empty set.  Now the empty set is a subset of every basket, so the only way the empty set could not be frequent is if the support threshold is higher than the number of baskets.  But that means nothing can be frequent, and why are we bothering anyway?</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20</a:t>
            </a:fld>
            <a:endParaRPr lang="en-US"/>
          </a:p>
        </p:txBody>
      </p:sp>
    </p:spTree>
    <p:extLst>
      <p:ext uri="{BB962C8B-B14F-4D97-AF65-F5344CB8AC3E}">
        <p14:creationId xmlns:p14="http://schemas.microsoft.com/office/powerpoint/2010/main" val="291317079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my pathetic</a:t>
            </a:r>
            <a:r>
              <a:rPr lang="en-US" baseline="0" dirty="0"/>
              <a:t> attempt to draw a picture of the negative border, which is pretty hard to visualize.  The vertical dimension is the size of </a:t>
            </a:r>
            <a:r>
              <a:rPr lang="en-US" baseline="0" dirty="0" err="1"/>
              <a:t>itemsets</a:t>
            </a:r>
            <a:r>
              <a:rPr lang="en-US" baseline="0" dirty="0"/>
              <a:t>, and the horizontal dimension somehow represents all the </a:t>
            </a:r>
            <a:r>
              <a:rPr lang="en-US" baseline="0" dirty="0" err="1"/>
              <a:t>itemsets</a:t>
            </a:r>
            <a:r>
              <a:rPr lang="en-US" baseline="0" dirty="0"/>
              <a:t> of a given size.  The frequent </a:t>
            </a:r>
            <a:r>
              <a:rPr lang="en-US" baseline="0" dirty="0" err="1"/>
              <a:t>itemsets</a:t>
            </a:r>
            <a:r>
              <a:rPr lang="en-US" baseline="0" dirty="0"/>
              <a:t> are the green region. This region is closed downwards, because of monotonicity: a subset of a frequent </a:t>
            </a:r>
            <a:r>
              <a:rPr lang="en-US" baseline="0" dirty="0" err="1"/>
              <a:t>itemset</a:t>
            </a:r>
            <a:r>
              <a:rPr lang="en-US" baseline="0" dirty="0"/>
              <a:t> is frequent.</a:t>
            </a:r>
          </a:p>
          <a:p>
            <a:endParaRPr lang="en-US" baseline="0" dirty="0"/>
          </a:p>
          <a:p>
            <a:r>
              <a:rPr lang="en-US" baseline="0" dirty="0"/>
              <a:t>Then the negative border is those sets above the green region that have only green below them.  The negative border may consist of sets of different sizes, since items tend to have widely varying frequencies.</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21</a:t>
            </a:fld>
            <a:endParaRPr lang="en-US"/>
          </a:p>
        </p:txBody>
      </p:sp>
    </p:spTree>
    <p:extLst>
      <p:ext uri="{BB962C8B-B14F-4D97-AF65-F5344CB8AC3E}">
        <p14:creationId xmlns:p14="http://schemas.microsoft.com/office/powerpoint/2010/main" val="110230516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pass of </a:t>
            </a:r>
            <a:r>
              <a:rPr lang="en-US" dirty="0" err="1"/>
              <a:t>Toivonen’s</a:t>
            </a:r>
            <a:r>
              <a:rPr lang="en-US" dirty="0"/>
              <a:t> algorithm – the first full pass really – has us count all the candidate </a:t>
            </a:r>
            <a:r>
              <a:rPr lang="en-US" dirty="0" err="1"/>
              <a:t>itemsets</a:t>
            </a:r>
            <a:r>
              <a:rPr lang="en-US" dirty="0"/>
              <a:t>, including the negative border.</a:t>
            </a:r>
          </a:p>
          <a:p>
            <a:endParaRPr lang="en-US" dirty="0"/>
          </a:p>
          <a:p>
            <a:r>
              <a:rPr lang="en-US" dirty="0"/>
              <a:t>Click 1:</a:t>
            </a:r>
            <a:r>
              <a:rPr lang="en-US" baseline="0" dirty="0"/>
              <a:t> We hope no </a:t>
            </a:r>
            <a:r>
              <a:rPr lang="en-US" baseline="0" dirty="0" err="1"/>
              <a:t>itemset</a:t>
            </a:r>
            <a:r>
              <a:rPr lang="en-US" baseline="0" dirty="0"/>
              <a:t> from the negative border turns out to be frequent in the whole.  As long as there are no frequent </a:t>
            </a:r>
            <a:r>
              <a:rPr lang="en-US" baseline="0" dirty="0" err="1"/>
              <a:t>itemsets</a:t>
            </a:r>
            <a:r>
              <a:rPr lang="en-US" baseline="0" dirty="0"/>
              <a:t> in the negative border, then whatever </a:t>
            </a:r>
            <a:r>
              <a:rPr lang="en-US" baseline="0" dirty="0" err="1"/>
              <a:t>itemsets</a:t>
            </a:r>
            <a:r>
              <a:rPr lang="en-US" baseline="0" dirty="0"/>
              <a:t> are found to be frequent in the whole are the true frequent </a:t>
            </a:r>
            <a:r>
              <a:rPr lang="en-US" baseline="0" dirty="0" err="1"/>
              <a:t>itemsets</a:t>
            </a:r>
            <a:r>
              <a:rPr lang="en-US" baseline="0" dirty="0"/>
              <a:t> – no false negatives; no false positives.</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22</a:t>
            </a:fld>
            <a:endParaRPr lang="en-US"/>
          </a:p>
        </p:txBody>
      </p:sp>
    </p:spTree>
    <p:extLst>
      <p:ext uri="{BB962C8B-B14F-4D97-AF65-F5344CB8AC3E}">
        <p14:creationId xmlns:p14="http://schemas.microsoft.com/office/powerpoint/2010/main" val="401358088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sucky part is what happens if there is something in the negative border that is frequent</a:t>
            </a:r>
            <a:r>
              <a:rPr lang="en-US" baseline="0" dirty="0"/>
              <a:t> in the whole.</a:t>
            </a:r>
          </a:p>
          <a:p>
            <a:endParaRPr lang="en-US" baseline="0" dirty="0"/>
          </a:p>
          <a:p>
            <a:r>
              <a:rPr lang="en-US" baseline="0" dirty="0"/>
              <a:t>Click 1: In that case, we must start over again with another sample.</a:t>
            </a:r>
          </a:p>
          <a:p>
            <a:endParaRPr lang="en-US" baseline="0" dirty="0"/>
          </a:p>
          <a:p>
            <a:r>
              <a:rPr lang="en-US" baseline="0" dirty="0"/>
              <a:t>Click 2: We really don’t want that to happen.  So we need to engage in a balancing act.  We want the support threshold for the sample to be as small as possible, so it is unlikely anything in the negative border is frequent in the whole.  But the smaller we make the threshold, the more candidate items there will be, and the larger the negative border will be.  If we make the threshold too small, we won’t be able to fit the counts for all these sets in main memory.</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23</a:t>
            </a:fld>
            <a:endParaRPr lang="en-US"/>
          </a:p>
        </p:txBody>
      </p:sp>
    </p:spTree>
    <p:extLst>
      <p:ext uri="{BB962C8B-B14F-4D97-AF65-F5344CB8AC3E}">
        <p14:creationId xmlns:p14="http://schemas.microsoft.com/office/powerpoint/2010/main" val="352699961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picture that suggests why it</a:t>
            </a:r>
            <a:r>
              <a:rPr lang="en-US" baseline="0" dirty="0"/>
              <a:t> is such a disaster if something in the negative border is frequent.  If it were just the </a:t>
            </a:r>
            <a:r>
              <a:rPr lang="en-US" baseline="0" dirty="0" err="1"/>
              <a:t>itemset</a:t>
            </a:r>
            <a:r>
              <a:rPr lang="en-US" baseline="0" dirty="0"/>
              <a:t> found frequent itself (POINT, using blue), we could just call it frequent and be done with it.  But what about all the supersets of this </a:t>
            </a:r>
            <a:r>
              <a:rPr lang="en-US" baseline="0" dirty="0" err="1"/>
              <a:t>itemset</a:t>
            </a:r>
            <a:r>
              <a:rPr lang="en-US" baseline="0" dirty="0"/>
              <a:t> (POINT).  They could also be frequent in the whole, and we didn’t count them.  So we don’t know how far up the problem goes, and we have no way to find out without starting over.</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24</a:t>
            </a:fld>
            <a:endParaRPr lang="en-US"/>
          </a:p>
        </p:txBody>
      </p:sp>
    </p:spTree>
    <p:extLst>
      <p:ext uri="{BB962C8B-B14F-4D97-AF65-F5344CB8AC3E}">
        <p14:creationId xmlns:p14="http://schemas.microsoft.com/office/powerpoint/2010/main" val="38305530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close the discussion of</a:t>
            </a:r>
            <a:r>
              <a:rPr lang="en-US" baseline="0" dirty="0"/>
              <a:t> </a:t>
            </a:r>
            <a:r>
              <a:rPr lang="en-US" baseline="0" dirty="0" err="1"/>
              <a:t>Toivenen’s</a:t>
            </a:r>
            <a:r>
              <a:rPr lang="en-US" baseline="0" dirty="0"/>
              <a:t> algorithm </a:t>
            </a:r>
            <a:r>
              <a:rPr lang="en-US" dirty="0"/>
              <a:t>by proving</a:t>
            </a:r>
            <a:r>
              <a:rPr lang="en-US" baseline="0" dirty="0"/>
              <a:t> that what I said about the negative border makes sense.  That is, we want to know that if there is any </a:t>
            </a:r>
            <a:r>
              <a:rPr lang="en-US" baseline="0" dirty="0" err="1"/>
              <a:t>itemset</a:t>
            </a:r>
            <a:r>
              <a:rPr lang="en-US" baseline="0" dirty="0"/>
              <a:t> at all that is frequent in the whole, but not frequent in the sample, then there is some member of the negative border that is frequent in the whole, but not frequent in the sample.  That means if we find no members of the negative border to be frequent in the whole, then we know there are no sets at all that are frequent in the whole, but that we did not count.</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25</a:t>
            </a:fld>
            <a:endParaRPr lang="en-US"/>
          </a:p>
        </p:txBody>
      </p:sp>
    </p:spTree>
    <p:extLst>
      <p:ext uri="{BB962C8B-B14F-4D97-AF65-F5344CB8AC3E}">
        <p14:creationId xmlns:p14="http://schemas.microsoft.com/office/powerpoint/2010/main" val="11416185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proof.  We’ll do a proof</a:t>
            </a:r>
            <a:r>
              <a:rPr lang="en-US" baseline="0" dirty="0"/>
              <a:t> by contradiction. So suppose what I claimed is false, that is,</a:t>
            </a:r>
          </a:p>
          <a:p>
            <a:endParaRPr lang="en-US" baseline="0" dirty="0"/>
          </a:p>
          <a:p>
            <a:r>
              <a:rPr lang="en-US" baseline="0" dirty="0"/>
              <a:t>Click 1: There is an </a:t>
            </a:r>
            <a:r>
              <a:rPr lang="en-US" baseline="0" dirty="0" err="1"/>
              <a:t>itemset</a:t>
            </a:r>
            <a:r>
              <a:rPr lang="en-US" baseline="0" dirty="0"/>
              <a:t> S that is frequent in the whole but not in the sample, and</a:t>
            </a:r>
          </a:p>
          <a:p>
            <a:endParaRPr lang="en-US" baseline="0" dirty="0"/>
          </a:p>
          <a:p>
            <a:r>
              <a:rPr lang="en-US" baseline="0" dirty="0"/>
              <a:t>Click 2: Nothing in the negative border was found to be frequent in the whole.</a:t>
            </a:r>
          </a:p>
          <a:p>
            <a:endParaRPr lang="en-US" baseline="0" dirty="0"/>
          </a:p>
          <a:p>
            <a:r>
              <a:rPr lang="en-US" baseline="0" dirty="0"/>
              <a:t>Click 3: Let T be one of the smallest subsets of S that is not frequent in the sample.  In principle, T could be S itself, if it has no proper subsets that are not frequent in the sample.  All we care about is that all the subsets of T are frequent in the sample.</a:t>
            </a:r>
          </a:p>
          <a:p>
            <a:endParaRPr lang="en-US" baseline="0" dirty="0"/>
          </a:p>
          <a:p>
            <a:r>
              <a:rPr lang="en-US" baseline="0" dirty="0"/>
              <a:t>Click 4: I claim that T is frequent in the whole.  The proof is that S is frequent in the whole, and therefore, by monotonicity, each of S’s subsets are frequent in the whole.  And T is one of those subsets.</a:t>
            </a:r>
          </a:p>
          <a:p>
            <a:endParaRPr lang="en-US" baseline="0" dirty="0"/>
          </a:p>
          <a:p>
            <a:r>
              <a:rPr lang="en-US" dirty="0"/>
              <a:t>Click 5: I claim</a:t>
            </a:r>
            <a:r>
              <a:rPr lang="en-US" baseline="0" dirty="0"/>
              <a:t> also that T is in the negative border.  It is not frequent in the sample, but if it had a proper subset that was not frequent in the sample, then T would not be a smallest subset of S with that property.   That’s a contradiction, because we started out assuming that nothing in the negative border was frequent in the whole, and now we see that T is both frequent in the whole and is a member of the negative border.  We conclude that if nothing in the negative border is frequent, then nothing at all that was not counted can be frequent, so the answer </a:t>
            </a:r>
            <a:r>
              <a:rPr lang="en-US" baseline="0" dirty="0" err="1"/>
              <a:t>Toivonen’s</a:t>
            </a:r>
            <a:r>
              <a:rPr lang="en-US" baseline="0" dirty="0"/>
              <a:t> algorithm gives is the truth.</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26</a:t>
            </a:fld>
            <a:endParaRPr lang="en-US"/>
          </a:p>
        </p:txBody>
      </p:sp>
    </p:spTree>
    <p:extLst>
      <p:ext uri="{BB962C8B-B14F-4D97-AF65-F5344CB8AC3E}">
        <p14:creationId xmlns:p14="http://schemas.microsoft.com/office/powerpoint/2010/main" val="34912158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2"/>
      </p:bgRef>
    </p:bg>
    <p:spTree>
      <p:nvGrpSpPr>
        <p:cNvPr id="1" name=""/>
        <p:cNvGrpSpPr/>
        <p:nvPr/>
      </p:nvGrpSpPr>
      <p:grpSpPr>
        <a:xfrm>
          <a:off x="0" y="0"/>
          <a:ext cx="0" cy="0"/>
          <a:chOff x="0" y="0"/>
          <a:chExt cx="0" cy="0"/>
        </a:xfrm>
      </p:grpSpPr>
      <p:sp>
        <p:nvSpPr>
          <p:cNvPr id="9" name="Rectangle 8"/>
          <p:cNvSpPr/>
          <p:nvPr/>
        </p:nvSpPr>
        <p:spPr bwMode="ltGray">
          <a:xfrm>
            <a:off x="0" y="0"/>
            <a:ext cx="9143999" cy="513543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ctrTitle"/>
          </p:nvPr>
        </p:nvSpPr>
        <p:spPr>
          <a:xfrm>
            <a:off x="685800" y="3355848"/>
            <a:ext cx="8077200" cy="1673352"/>
          </a:xfrm>
        </p:spPr>
        <p:txBody>
          <a:bodyPr vert="horz" lIns="91440" tIns="0" rIns="45720" bIns="0" rtlCol="0" anchor="t">
            <a:normAutofit/>
            <a:scene3d>
              <a:camera prst="orthographicFront"/>
              <a:lightRig rig="threePt" dir="t">
                <a:rot lat="0" lon="0" rev="4800000"/>
              </a:lightRig>
            </a:scene3d>
            <a:sp3d prstMaterial="matte">
              <a:bevelT w="50800" h="10160"/>
            </a:sp3d>
          </a:bodyPr>
          <a:lstStyle>
            <a:lvl1pPr algn="l">
              <a:defRPr sz="5400" b="1"/>
            </a:lvl1pPr>
            <a:extLst/>
          </a:lstStyle>
          <a:p>
            <a:r>
              <a:rPr kumimoji="0" lang="en-US" dirty="0"/>
              <a:t>Click to edit Master title style</a:t>
            </a:r>
          </a:p>
        </p:txBody>
      </p:sp>
      <p:sp>
        <p:nvSpPr>
          <p:cNvPr id="3" name="Subtitle 2"/>
          <p:cNvSpPr>
            <a:spLocks noGrp="1"/>
          </p:cNvSpPr>
          <p:nvPr>
            <p:ph type="subTitle" idx="1"/>
          </p:nvPr>
        </p:nvSpPr>
        <p:spPr>
          <a:xfrm>
            <a:off x="685800" y="5257800"/>
            <a:ext cx="8077200" cy="1295400"/>
          </a:xfrm>
        </p:spPr>
        <p:txBody>
          <a:bodyPr lIns="118872" tIns="0" rIns="45720" bIns="0" anchor="t">
            <a:normAutofit/>
          </a:bodyPr>
          <a:lstStyle>
            <a:lvl1pPr marL="0" indent="0" algn="l">
              <a:buNone/>
              <a:defRPr sz="3200" b="1">
                <a:solidFill>
                  <a:srgbClr val="FFFFFF"/>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extLst/>
          </a:lstStyle>
          <a:p>
            <a:r>
              <a:rPr kumimoji="0" lang="en-US" dirty="0"/>
              <a:t>Click to edit Master subtitle style</a:t>
            </a:r>
          </a:p>
        </p:txBody>
      </p:sp>
      <p:sp>
        <p:nvSpPr>
          <p:cNvPr id="6" name="Slide Number Placeholder 5"/>
          <p:cNvSpPr>
            <a:spLocks noGrp="1"/>
          </p:cNvSpPr>
          <p:nvPr>
            <p:ph type="sldNum" sz="quarter" idx="12"/>
          </p:nvPr>
        </p:nvSpPr>
        <p:spPr/>
        <p:txBody>
          <a:bodyPr/>
          <a:lstStyle>
            <a:lvl1pPr>
              <a:defRPr sz="1200" baseline="0"/>
            </a:lvl1pPr>
          </a:lstStyle>
          <a:p>
            <a:fld id="{19B12225-5612-419B-A8D5-4B8EEE4C217E}" type="slidenum">
              <a:rPr lang="en-US" smtClean="0"/>
              <a:pPr/>
              <a:t>‹#›</a:t>
            </a:fld>
            <a:endParaRPr lang="en-US" dirty="0"/>
          </a:p>
        </p:txBody>
      </p:sp>
      <p:sp>
        <p:nvSpPr>
          <p:cNvPr id="10" name="Rectangle 9"/>
          <p:cNvSpPr/>
          <p:nvPr/>
        </p:nvSpPr>
        <p:spPr bwMode="invGray">
          <a:xfrm>
            <a:off x="0" y="5128334"/>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686800" cy="987552"/>
          </a:xfrm>
        </p:spPr>
        <p:txBody>
          <a:bodyPr>
            <a:noAutofit/>
          </a:bodyPr>
          <a:lstStyle>
            <a:lvl1pPr>
              <a:defRPr lang="en-US" dirty="0"/>
            </a:lvl1pPr>
            <a:extLst/>
          </a:lstStyle>
          <a:p>
            <a:r>
              <a:rPr kumimoji="0" lang="en-US" dirty="0"/>
              <a:t>Click to edit Master title style</a:t>
            </a:r>
          </a:p>
        </p:txBody>
      </p:sp>
      <p:sp>
        <p:nvSpPr>
          <p:cNvPr id="3" name="Content Placeholder 2"/>
          <p:cNvSpPr>
            <a:spLocks noGrp="1"/>
          </p:cNvSpPr>
          <p:nvPr>
            <p:ph idx="1"/>
          </p:nvPr>
        </p:nvSpPr>
        <p:spPr/>
        <p:txBody>
          <a:bodyPr>
            <a:normAutofit/>
          </a:bodyPr>
          <a:lstStyle>
            <a:lvl1pPr>
              <a:defRPr sz="3200"/>
            </a:lvl1pPr>
            <a:lvl2pPr>
              <a:defRPr sz="2800"/>
            </a:lvl2pPr>
            <a:lvl3pPr>
              <a:defRPr sz="2400"/>
            </a:lvl3pPr>
            <a:lvl4pPr>
              <a:defRPr sz="2000"/>
            </a:lvl4pPr>
            <a:lvl5pPr>
              <a:defRPr sz="2000"/>
            </a:lvl5pPr>
            <a:extLst/>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
        <p:nvSpPr>
          <p:cNvPr id="6" name="Slide Number Placeholder 5"/>
          <p:cNvSpPr>
            <a:spLocks noGrp="1"/>
          </p:cNvSpPr>
          <p:nvPr>
            <p:ph type="sldNum" sz="quarter" idx="12"/>
          </p:nvPr>
        </p:nvSpPr>
        <p:spPr/>
        <p:txBody>
          <a:bodyPr/>
          <a:lstStyle>
            <a:lvl1pPr>
              <a:defRPr sz="1200" baseline="0"/>
            </a:lvl1pPr>
          </a:lstStyle>
          <a:p>
            <a:fld id="{19B12225-5612-419B-A8D5-4B8EEE4C217E}"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2"/>
      </p:bgRef>
    </p:bg>
    <p:spTree>
      <p:nvGrpSpPr>
        <p:cNvPr id="1" name=""/>
        <p:cNvGrpSpPr/>
        <p:nvPr/>
      </p:nvGrpSpPr>
      <p:grpSpPr>
        <a:xfrm>
          <a:off x="0" y="0"/>
          <a:ext cx="0" cy="0"/>
          <a:chOff x="0" y="0"/>
          <a:chExt cx="0" cy="0"/>
        </a:xfrm>
      </p:grpSpPr>
      <p:sp>
        <p:nvSpPr>
          <p:cNvPr id="9" name="Rectangle 8"/>
          <p:cNvSpPr/>
          <p:nvPr/>
        </p:nvSpPr>
        <p:spPr bwMode="ltGray">
          <a:xfrm>
            <a:off x="0" y="1"/>
            <a:ext cx="9144000" cy="260252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ectangle 11"/>
          <p:cNvSpPr/>
          <p:nvPr/>
        </p:nvSpPr>
        <p:spPr bwMode="invGray">
          <a:xfrm>
            <a:off x="0" y="2602520"/>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749808" y="118872"/>
            <a:ext cx="8013192" cy="1636776"/>
          </a:xfrm>
        </p:spPr>
        <p:txBody>
          <a:bodyPr vert="horz" lIns="91440" tIns="0" rIns="91440" bIns="0" rtlCol="0" anchor="b">
            <a:normAutofit/>
            <a:scene3d>
              <a:camera prst="orthographicFront"/>
              <a:lightRig rig="threePt" dir="t">
                <a:rot lat="0" lon="0" rev="4800000"/>
              </a:lightRig>
            </a:scene3d>
            <a:sp3d prstMaterial="matte">
              <a:bevelT w="50800" h="10160"/>
            </a:sp3d>
          </a:bodyPr>
          <a:lstStyle>
            <a:lvl1pPr algn="l">
              <a:defRPr sz="4700" b="1" cap="none" baseline="0"/>
            </a:lvl1pPr>
            <a:extLst/>
          </a:lstStyle>
          <a:p>
            <a:r>
              <a:rPr kumimoji="0" lang="en-US"/>
              <a:t>Click to edit Master title style</a:t>
            </a:r>
          </a:p>
        </p:txBody>
      </p:sp>
      <p:sp>
        <p:nvSpPr>
          <p:cNvPr id="3" name="Text Placeholder 2"/>
          <p:cNvSpPr>
            <a:spLocks noGrp="1"/>
          </p:cNvSpPr>
          <p:nvPr>
            <p:ph type="body" idx="1"/>
          </p:nvPr>
        </p:nvSpPr>
        <p:spPr>
          <a:xfrm>
            <a:off x="740664" y="1828800"/>
            <a:ext cx="8022336" cy="685800"/>
          </a:xfrm>
        </p:spPr>
        <p:txBody>
          <a:bodyPr lIns="146304" tIns="0" rIns="45720" bIns="0" anchor="t"/>
          <a:lstStyle>
            <a:lvl1pPr marL="0" indent="0">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extLst/>
          </a:lstStyle>
          <a:p>
            <a:pPr lvl="0" eaLnBrk="1" latinLnBrk="0" hangingPunct="1"/>
            <a:r>
              <a:rPr kumimoji="0" lang="en-US"/>
              <a:t>Click to edit Master text styles</a:t>
            </a:r>
          </a:p>
        </p:txBody>
      </p:sp>
      <p:sp>
        <p:nvSpPr>
          <p:cNvPr id="6" name="Slide Number Placeholder 5"/>
          <p:cNvSpPr>
            <a:spLocks noGrp="1"/>
          </p:cNvSpPr>
          <p:nvPr>
            <p:ph type="sldNum" sz="quarter" idx="12"/>
          </p:nvPr>
        </p:nvSpPr>
        <p:spPr/>
        <p:txBody>
          <a:bodyPr/>
          <a:lstStyle>
            <a:lvl1pPr>
              <a:defRPr baseline="0"/>
            </a:lvl1pPr>
          </a:lstStyle>
          <a:p>
            <a:fld id="{19B12225-5612-419B-A8D5-4B8EEE4C217E}" type="slidenum">
              <a:rPr lang="en-US" smtClean="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sz="half" idx="1"/>
          </p:nvPr>
        </p:nvSpPr>
        <p:spPr>
          <a:xfrm>
            <a:off x="457200" y="1295400"/>
            <a:ext cx="4038600" cy="5257800"/>
          </a:xfrm>
        </p:spPr>
        <p:txBody>
          <a:bodyPr lIns="91440">
            <a:normAutofit/>
          </a:bodyPr>
          <a:lstStyle>
            <a:lvl1pPr>
              <a:defRPr sz="3200"/>
            </a:lvl1pPr>
            <a:lvl2pPr>
              <a:defRPr sz="2800"/>
            </a:lvl2pPr>
            <a:lvl3pPr>
              <a:defRPr sz="2400"/>
            </a:lvl3pPr>
            <a:lvl4pPr>
              <a:defRPr sz="2000"/>
            </a:lvl4pPr>
            <a:lvl5pPr>
              <a:defRPr sz="2000"/>
            </a:lvl5pPr>
            <a:lvl6pPr>
              <a:defRPr sz="1800"/>
            </a:lvl6pPr>
            <a:lvl7pPr>
              <a:defRPr sz="1800"/>
            </a:lvl7pPr>
            <a:lvl8pPr>
              <a:defRPr sz="1800"/>
            </a:lvl8pPr>
            <a:lvl9pPr>
              <a:defRPr sz="1800"/>
            </a:lvl9pPr>
            <a:extLst/>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
        <p:nvSpPr>
          <p:cNvPr id="4" name="Content Placeholder 3"/>
          <p:cNvSpPr>
            <a:spLocks noGrp="1"/>
          </p:cNvSpPr>
          <p:nvPr>
            <p:ph sz="half" idx="2"/>
          </p:nvPr>
        </p:nvSpPr>
        <p:spPr>
          <a:xfrm>
            <a:off x="4648200" y="1295400"/>
            <a:ext cx="4038600" cy="5257800"/>
          </a:xfrm>
        </p:spPr>
        <p:txBody>
          <a:bodyPr>
            <a:normAutofit/>
          </a:bodyPr>
          <a:lstStyle>
            <a:lvl1pPr>
              <a:defRPr sz="3200"/>
            </a:lvl1pPr>
            <a:lvl2pPr>
              <a:defRPr sz="2800"/>
            </a:lvl2pPr>
            <a:lvl3pPr>
              <a:defRPr sz="2400"/>
            </a:lvl3pPr>
            <a:lvl4pPr>
              <a:defRPr sz="2000"/>
            </a:lvl4pPr>
            <a:lvl5pPr>
              <a:defRPr sz="2000"/>
            </a:lvl5pPr>
            <a:lvl6pPr>
              <a:defRPr sz="1800"/>
            </a:lvl6pPr>
            <a:lvl7pPr>
              <a:defRPr sz="1800"/>
            </a:lvl7pPr>
            <a:lvl8pPr>
              <a:defRPr sz="1800"/>
            </a:lvl8pPr>
            <a:lvl9pPr>
              <a:defRPr sz="18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Slide Number Placeholder 6"/>
          <p:cNvSpPr>
            <a:spLocks noGrp="1"/>
          </p:cNvSpPr>
          <p:nvPr>
            <p:ph type="sldNum" sz="quarter" idx="12"/>
          </p:nvPr>
        </p:nvSpPr>
        <p:spPr/>
        <p:txBody>
          <a:bodyPr/>
          <a:lstStyle>
            <a:lvl1pPr>
              <a:defRPr baseline="0"/>
            </a:lvl1pPr>
          </a:lstStyle>
          <a:p>
            <a:fld id="{19B12225-5612-419B-A8D5-4B8EEE4C217E}"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extLst/>
          </a:lstStyle>
          <a:p>
            <a:r>
              <a:rPr kumimoji="0" lang="en-US"/>
              <a:t>Click to edit Master title style</a:t>
            </a:r>
          </a:p>
        </p:txBody>
      </p:sp>
      <p:sp>
        <p:nvSpPr>
          <p:cNvPr id="3" name="Text Placeholder 2"/>
          <p:cNvSpPr>
            <a:spLocks noGrp="1"/>
          </p:cNvSpPr>
          <p:nvPr>
            <p:ph type="body" idx="1"/>
          </p:nvPr>
        </p:nvSpPr>
        <p:spPr>
          <a:xfrm>
            <a:off x="457200" y="1698987"/>
            <a:ext cx="4040188"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extLst/>
          </a:lstStyle>
          <a:p>
            <a:pPr lvl="0" eaLnBrk="1" latinLnBrk="0" hangingPunct="1"/>
            <a:r>
              <a:rPr kumimoji="0" lang="en-US"/>
              <a:t>Click to edit Master text styles</a:t>
            </a:r>
          </a:p>
        </p:txBody>
      </p:sp>
      <p:sp>
        <p:nvSpPr>
          <p:cNvPr id="4" name="Content Placeholder 3"/>
          <p:cNvSpPr>
            <a:spLocks noGrp="1"/>
          </p:cNvSpPr>
          <p:nvPr>
            <p:ph sz="half" idx="2"/>
          </p:nvPr>
        </p:nvSpPr>
        <p:spPr>
          <a:xfrm>
            <a:off x="457200" y="2449512"/>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Text Placeholder 4"/>
          <p:cNvSpPr>
            <a:spLocks noGrp="1"/>
          </p:cNvSpPr>
          <p:nvPr>
            <p:ph type="body" sz="quarter" idx="3"/>
          </p:nvPr>
        </p:nvSpPr>
        <p:spPr>
          <a:xfrm>
            <a:off x="4645025" y="1698987"/>
            <a:ext cx="4041775"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extLst/>
          </a:lstStyle>
          <a:p>
            <a:pPr lvl="0" eaLnBrk="1" latinLnBrk="0" hangingPunct="1"/>
            <a:r>
              <a:rPr kumimoji="0" lang="en-US"/>
              <a:t>Click to edit Master text styles</a:t>
            </a:r>
          </a:p>
        </p:txBody>
      </p:sp>
      <p:sp>
        <p:nvSpPr>
          <p:cNvPr id="6" name="Content Placeholder 5"/>
          <p:cNvSpPr>
            <a:spLocks noGrp="1"/>
          </p:cNvSpPr>
          <p:nvPr>
            <p:ph sz="quarter" idx="4"/>
          </p:nvPr>
        </p:nvSpPr>
        <p:spPr>
          <a:xfrm>
            <a:off x="4645025" y="2449512"/>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9" name="Slide Number Placeholder 8"/>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Slide Number Placeholder 4"/>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838" y="152400"/>
            <a:ext cx="2523744" cy="978408"/>
          </a:xfrm>
        </p:spPr>
        <p:txBody>
          <a:bodyPr vert="horz" lIns="73152" rIns="45720" bIns="0" rtlCol="0" anchor="b">
            <a:normAutofit/>
            <a:sp3d prstMaterial="matte"/>
          </a:bodyPr>
          <a:lstStyle>
            <a:lvl1pPr algn="l">
              <a:defRPr sz="2000" b="0"/>
            </a:lvl1pPr>
            <a:extLst/>
          </a:lstStyle>
          <a:p>
            <a:r>
              <a:rPr kumimoji="0" lang="en-US"/>
              <a:t>Click to edit Master title style</a:t>
            </a:r>
          </a:p>
        </p:txBody>
      </p:sp>
      <p:sp>
        <p:nvSpPr>
          <p:cNvPr id="3" name="Content Placeholder 2"/>
          <p:cNvSpPr>
            <a:spLocks noGrp="1"/>
          </p:cNvSpPr>
          <p:nvPr>
            <p:ph idx="1"/>
          </p:nvPr>
        </p:nvSpPr>
        <p:spPr>
          <a:xfrm>
            <a:off x="3019377" y="1743133"/>
            <a:ext cx="5920641" cy="455888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Text Placeholder 3"/>
          <p:cNvSpPr>
            <a:spLocks noGrp="1"/>
          </p:cNvSpPr>
          <p:nvPr>
            <p:ph type="body" sz="half" idx="2"/>
          </p:nvPr>
        </p:nvSpPr>
        <p:spPr>
          <a:xfrm>
            <a:off x="167838" y="1730018"/>
            <a:ext cx="2468880" cy="45720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extLst/>
          </a:lstStyle>
          <a:p>
            <a:pPr lvl="0" eaLnBrk="1" latinLnBrk="0" hangingPunct="1"/>
            <a:r>
              <a:rPr kumimoji="0" lang="en-US"/>
              <a:t>Click to edit Master text styles</a:t>
            </a:r>
          </a:p>
        </p:txBody>
      </p:sp>
      <p:sp>
        <p:nvSpPr>
          <p:cNvPr id="7" name="Slide Number Placeholder 6"/>
          <p:cNvSpPr>
            <a:spLocks noGrp="1"/>
          </p:cNvSpPr>
          <p:nvPr>
            <p:ph type="sldNum" sz="quarter" idx="12"/>
          </p:nvPr>
        </p:nvSpPr>
        <p:spPr/>
        <p:txBody>
          <a:bodyPr/>
          <a:lstStyle/>
          <a:p>
            <a:fld id="{19B12225-5612-419B-A8D5-4B8EEE4C217E}" type="slidenum">
              <a:rPr lang="en-US" smtClean="0"/>
              <a:pPr/>
              <a:t>‹#›</a:t>
            </a:fld>
            <a:endParaRPr lang="en-US"/>
          </a:p>
        </p:txBody>
      </p:sp>
      <p:sp>
        <p:nvSpPr>
          <p:cNvPr id="12" name="Rectangle 11"/>
          <p:cNvSpPr/>
          <p:nvPr/>
        </p:nvSpPr>
        <p:spPr bwMode="invGray">
          <a:xfrm>
            <a:off x="2855737" y="0"/>
            <a:ext cx="45720" cy="1453896"/>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bwMode="invGray">
          <a:xfrm>
            <a:off x="2855737" y="0"/>
            <a:ext cx="45720" cy="1453896"/>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64592" y="155448"/>
            <a:ext cx="2525150" cy="978408"/>
          </a:xfrm>
        </p:spPr>
        <p:txBody>
          <a:bodyPr lIns="73152" bIns="0" anchor="b">
            <a:sp3d prstMaterial="matte"/>
          </a:bodyPr>
          <a:lstStyle>
            <a:lvl1pPr algn="l">
              <a:defRPr sz="2000" b="0"/>
            </a:lvl1pPr>
            <a:extLst/>
          </a:lstStyle>
          <a:p>
            <a:r>
              <a:rPr kumimoji="0" lang="en-US" dirty="0"/>
              <a:t>Click to edit Master title style</a:t>
            </a:r>
          </a:p>
        </p:txBody>
      </p:sp>
      <p:sp>
        <p:nvSpPr>
          <p:cNvPr id="3" name="Picture Placeholder 2"/>
          <p:cNvSpPr>
            <a:spLocks noGrp="1"/>
          </p:cNvSpPr>
          <p:nvPr>
            <p:ph type="pic" idx="1"/>
          </p:nvPr>
        </p:nvSpPr>
        <p:spPr>
          <a:xfrm>
            <a:off x="2903805" y="1484808"/>
            <a:ext cx="6247397" cy="5373192"/>
          </a:xfrm>
          <a:solidFill>
            <a:schemeClr val="bg2">
              <a:shade val="75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extLst/>
          </a:lstStyle>
          <a:p>
            <a:r>
              <a:rPr kumimoji="0" lang="en-US"/>
              <a:t>Click icon to add picture</a:t>
            </a:r>
            <a:endParaRPr kumimoji="0" lang="en-US" dirty="0"/>
          </a:p>
        </p:txBody>
      </p:sp>
      <p:sp>
        <p:nvSpPr>
          <p:cNvPr id="4" name="Text Placeholder 3"/>
          <p:cNvSpPr>
            <a:spLocks noGrp="1"/>
          </p:cNvSpPr>
          <p:nvPr>
            <p:ph type="body" sz="half" idx="2"/>
          </p:nvPr>
        </p:nvSpPr>
        <p:spPr>
          <a:xfrm>
            <a:off x="164592" y="1728216"/>
            <a:ext cx="2468880" cy="45720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extLst/>
          </a:lstStyle>
          <a:p>
            <a:pPr lvl="0" eaLnBrk="1" latinLnBrk="0" hangingPunct="1"/>
            <a:r>
              <a:rPr kumimoji="0" lang="en-US"/>
              <a:t>Click to edit Master text styles</a:t>
            </a:r>
          </a:p>
        </p:txBody>
      </p:sp>
      <p:sp>
        <p:nvSpPr>
          <p:cNvPr id="11" name="Rectangle 10"/>
          <p:cNvSpPr/>
          <p:nvPr/>
        </p:nvSpPr>
        <p:spPr>
          <a:xfrm>
            <a:off x="2855737" y="0"/>
            <a:ext cx="45720" cy="685800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bwMode="invGray">
          <a:xfrm>
            <a:off x="2855737" y="0"/>
            <a:ext cx="45720" cy="685800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7" name="Slide Number Placeholder 6"/>
          <p:cNvSpPr>
            <a:spLocks noGrp="1"/>
          </p:cNvSpPr>
          <p:nvPr>
            <p:ph type="sldNum" sz="quarter" idx="12"/>
          </p:nvPr>
        </p:nvSpPr>
        <p:spPr>
          <a:xfrm>
            <a:off x="8339328" y="1170432"/>
            <a:ext cx="733864" cy="201168"/>
          </a:xfrm>
        </p:spPr>
        <p:txBody>
          <a:bodyPr/>
          <a:lstStyle/>
          <a:p>
            <a:fld id="{19B12225-5612-419B-A8D5-4B8EEE4C217E}"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
        <p:nvSpPr>
          <p:cNvPr id="6" name="Slide Number Placeholder 5"/>
          <p:cNvSpPr>
            <a:spLocks noGrp="1"/>
          </p:cNvSpPr>
          <p:nvPr>
            <p:ph type="sldNum" sz="quarter" idx="12"/>
          </p:nvPr>
        </p:nvSpPr>
        <p:spPr/>
        <p:txBody>
          <a:bodyPr/>
          <a:lstStyle>
            <a:lvl1pPr>
              <a:defRPr sz="1200" baseline="0"/>
            </a:lvl1pPr>
          </a:lstStyle>
          <a:p>
            <a:fld id="{19B12225-5612-419B-A8D5-4B8EEE4C217E}"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Rectangle 8"/>
          <p:cNvSpPr/>
          <p:nvPr/>
        </p:nvSpPr>
        <p:spPr bwMode="invGray">
          <a:xfrm>
            <a:off x="6598920" y="0"/>
            <a:ext cx="45720" cy="6858000"/>
          </a:xfrm>
          <a:prstGeom prst="rect">
            <a:avLst/>
          </a:prstGeom>
          <a:solidFill>
            <a:srgbClr val="FFFFFF"/>
          </a:solidFill>
          <a:ln w="48000" cap="flat" cmpd="thickThin" algn="ctr">
            <a:noFill/>
            <a:prstDash val="solid"/>
          </a:ln>
          <a:effectLst>
            <a:outerShdw blurRad="31750" dist="10160" dir="108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bwMode="ltGray">
          <a:xfrm>
            <a:off x="6647687" y="0"/>
            <a:ext cx="2514601" cy="685800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Vertical Title 1"/>
          <p:cNvSpPr>
            <a:spLocks noGrp="1"/>
          </p:cNvSpPr>
          <p:nvPr>
            <p:ph type="title" orient="vert"/>
          </p:nvPr>
        </p:nvSpPr>
        <p:spPr>
          <a:xfrm>
            <a:off x="6781800" y="274640"/>
            <a:ext cx="19050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304800"/>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Slide Number Placeholder 5"/>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457920" y="273629"/>
            <a:ext cx="8226720" cy="1143480"/>
          </a:xfrm>
        </p:spPr>
        <p:txBody>
          <a:bodyPr tIns="41473" bIns="41473"/>
          <a:lstStyle/>
          <a:p>
            <a:r>
              <a:rPr lang="en-US"/>
              <a:t>Click to edit Master title style</a:t>
            </a:r>
          </a:p>
        </p:txBody>
      </p:sp>
      <p:sp>
        <p:nvSpPr>
          <p:cNvPr id="3" name="Text Placeholder 2"/>
          <p:cNvSpPr>
            <a:spLocks noGrp="1"/>
          </p:cNvSpPr>
          <p:nvPr>
            <p:ph type="body" sz="half" idx="1"/>
          </p:nvPr>
        </p:nvSpPr>
        <p:spPr>
          <a:xfrm>
            <a:off x="457920" y="1604329"/>
            <a:ext cx="4043520" cy="4524955"/>
          </a:xfrm>
        </p:spPr>
        <p:txBody>
          <a:bodyPr rIns="82945" bIns="4147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lipArt Placeholder 3"/>
          <p:cNvSpPr>
            <a:spLocks noGrp="1"/>
          </p:cNvSpPr>
          <p:nvPr>
            <p:ph type="clipArt" sz="half" idx="2"/>
          </p:nvPr>
        </p:nvSpPr>
        <p:spPr>
          <a:xfrm>
            <a:off x="4639680" y="1604329"/>
            <a:ext cx="4044960" cy="4524955"/>
          </a:xfrm>
        </p:spPr>
        <p:txBody>
          <a:bodyPr rIns="82945" bIns="41473"/>
          <a:lstStyle/>
          <a:p>
            <a:endParaRPr lang="en-US"/>
          </a:p>
        </p:txBody>
      </p:sp>
      <p:sp>
        <p:nvSpPr>
          <p:cNvPr id="7" name="Slide Number Placeholder 6"/>
          <p:cNvSpPr>
            <a:spLocks noGrp="1"/>
          </p:cNvSpPr>
          <p:nvPr>
            <p:ph type="sldNum" idx="12"/>
          </p:nvPr>
        </p:nvSpPr>
        <p:spPr>
          <a:xfrm>
            <a:off x="6554880" y="6247376"/>
            <a:ext cx="2128320" cy="472370"/>
          </a:xfrm>
        </p:spPr>
        <p:txBody>
          <a:bodyPr lIns="82945" tIns="41473" rIns="82945"/>
          <a:lstStyle>
            <a:lvl1pPr>
              <a:defRPr/>
            </a:lvl1pPr>
          </a:lstStyle>
          <a:p>
            <a:fld id="{10066599-523B-4641-9CCC-17D83CD935ED}" type="slidenum">
              <a:rPr lang="en-GB"/>
              <a:pPr/>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bwMode="invGray">
          <a:xfrm>
            <a:off x="0" y="1021080"/>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7" name="Rectangle 6"/>
          <p:cNvSpPr/>
          <p:nvPr/>
        </p:nvSpPr>
        <p:spPr bwMode="ltGray">
          <a:xfrm>
            <a:off x="0" y="1"/>
            <a:ext cx="9143999" cy="1021079"/>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Placeholder 1"/>
          <p:cNvSpPr>
            <a:spLocks noGrp="1"/>
          </p:cNvSpPr>
          <p:nvPr>
            <p:ph type="title"/>
          </p:nvPr>
        </p:nvSpPr>
        <p:spPr>
          <a:xfrm>
            <a:off x="457199" y="152400"/>
            <a:ext cx="8686799" cy="838200"/>
          </a:xfrm>
          <a:prstGeom prst="rect">
            <a:avLst/>
          </a:prstGeom>
        </p:spPr>
        <p:txBody>
          <a:bodyPr vert="horz" lIns="91440" rIns="45720" rtlCol="0" anchor="ctr">
            <a:normAutofit/>
            <a:scene3d>
              <a:camera prst="orthographicFront"/>
              <a:lightRig rig="threePt" dir="t">
                <a:rot lat="0" lon="0" rev="4800000"/>
              </a:lightRig>
            </a:scene3d>
            <a:sp3d prstMaterial="matte">
              <a:bevelT w="50800" h="10160"/>
            </a:sp3d>
          </a:bodyPr>
          <a:lstStyle/>
          <a:p>
            <a:r>
              <a:rPr kumimoji="0" lang="en-US" dirty="0"/>
              <a:t>Click to edit Master title style</a:t>
            </a:r>
          </a:p>
        </p:txBody>
      </p:sp>
      <p:sp>
        <p:nvSpPr>
          <p:cNvPr id="3" name="Text Placeholder 2"/>
          <p:cNvSpPr>
            <a:spLocks noGrp="1"/>
          </p:cNvSpPr>
          <p:nvPr>
            <p:ph type="body" idx="1"/>
          </p:nvPr>
        </p:nvSpPr>
        <p:spPr>
          <a:xfrm>
            <a:off x="457200" y="1295400"/>
            <a:ext cx="8534400" cy="5257801"/>
          </a:xfrm>
          <a:prstGeom prst="rect">
            <a:avLst/>
          </a:prstGeom>
        </p:spPr>
        <p:txBody>
          <a:bodyPr vert="horz" lIns="54864" tIns="91440" rtlCol="0">
            <a:normAutofit/>
          </a:bodyPr>
          <a:lstStyle/>
          <a:p>
            <a:pPr lvl="0" eaLnBrk="1" latinLnBrk="0" hangingPunct="1"/>
            <a:r>
              <a:rPr kumimoji="0" lang="en-US" dirty="0"/>
              <a:t>Click to edit Master text styles</a:t>
            </a:r>
          </a:p>
          <a:p>
            <a:pPr lvl="1" eaLnBrk="1" latinLnBrk="0" hangingPunct="1"/>
            <a:r>
              <a:rPr kumimoji="0" lang="en-US" dirty="0"/>
              <a:t>Second level</a:t>
            </a:r>
          </a:p>
          <a:p>
            <a:pPr lvl="2" eaLnBrk="1" latinLnBrk="0" hangingPunct="1"/>
            <a:r>
              <a:rPr kumimoji="0" lang="en-US" dirty="0"/>
              <a:t>Third level</a:t>
            </a:r>
          </a:p>
          <a:p>
            <a:pPr lvl="3" eaLnBrk="1" latinLnBrk="0" hangingPunct="1"/>
            <a:r>
              <a:rPr kumimoji="0" lang="en-US" dirty="0"/>
              <a:t>Fourth level</a:t>
            </a:r>
          </a:p>
          <a:p>
            <a:pPr lvl="4" eaLnBrk="1" latinLnBrk="0" hangingPunct="1"/>
            <a:r>
              <a:rPr kumimoji="0" lang="en-US" dirty="0"/>
              <a:t>Fifth level</a:t>
            </a:r>
          </a:p>
        </p:txBody>
      </p:sp>
      <p:sp>
        <p:nvSpPr>
          <p:cNvPr id="6" name="Slide Number Placeholder 5"/>
          <p:cNvSpPr>
            <a:spLocks noGrp="1"/>
          </p:cNvSpPr>
          <p:nvPr>
            <p:ph type="sldNum" sz="quarter" idx="4"/>
          </p:nvPr>
        </p:nvSpPr>
        <p:spPr>
          <a:xfrm>
            <a:off x="8204396" y="6583680"/>
            <a:ext cx="733864" cy="274320"/>
          </a:xfrm>
          <a:prstGeom prst="rect">
            <a:avLst/>
          </a:prstGeom>
        </p:spPr>
        <p:txBody>
          <a:bodyPr vert="horz" bIns="0" rtlCol="0" anchor="b"/>
          <a:lstStyle>
            <a:lvl1pPr algn="r" eaLnBrk="1" latinLnBrk="0" hangingPunct="1">
              <a:defRPr kumimoji="0" sz="1200" baseline="0">
                <a:solidFill>
                  <a:schemeClr val="tx1">
                    <a:tint val="95000"/>
                  </a:schemeClr>
                </a:solidFill>
                <a:latin typeface="Calibri" pitchFamily="34" charset="0"/>
                <a:cs typeface="Calibri" pitchFamily="34" charset="0"/>
              </a:defRPr>
            </a:lvl1pPr>
            <a:extLst/>
          </a:lstStyle>
          <a:p>
            <a:fld id="{19B12225-5612-419B-A8D5-4B8EEE4C217E}"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5" r:id="rId12"/>
  </p:sldLayoutIdLst>
  <p:hf hdr="0"/>
  <p:txStyles>
    <p:titleStyle>
      <a:lvl1pPr algn="l" rtl="0" eaLnBrk="1" latinLnBrk="0" hangingPunct="1">
        <a:spcBef>
          <a:spcPct val="0"/>
        </a:spcBef>
        <a:buNone/>
        <a:defRPr kumimoji="0" sz="4800" b="1" kern="1200">
          <a:solidFill>
            <a:schemeClr val="accent1">
              <a:satMod val="150000"/>
            </a:schemeClr>
          </a:solidFill>
          <a:effectLst/>
          <a:latin typeface="+mj-lt"/>
          <a:ea typeface="+mj-ea"/>
          <a:cs typeface="+mj-cs"/>
        </a:defRPr>
      </a:lvl1pPr>
      <a:extLst/>
    </p:titleStyle>
    <p:bodyStyle>
      <a:lvl1pPr marL="438912" indent="-320040" algn="l" rtl="0" eaLnBrk="1" latinLnBrk="0" hangingPunct="1">
        <a:spcBef>
          <a:spcPts val="0"/>
        </a:spcBef>
        <a:buClr>
          <a:schemeClr val="accent1"/>
        </a:buClr>
        <a:buSzPct val="80000"/>
        <a:buFont typeface="Wingdings 2"/>
        <a:buChar char=""/>
        <a:defRPr kumimoji="0" sz="3200" kern="1200">
          <a:solidFill>
            <a:schemeClr val="tx1"/>
          </a:solidFill>
          <a:latin typeface="Calibri" pitchFamily="34" charset="0"/>
          <a:ea typeface="+mn-ea"/>
          <a:cs typeface="Calibri" pitchFamily="34" charset="0"/>
        </a:defRPr>
      </a:lvl1pPr>
      <a:lvl2pPr marL="731520" indent="-274320" algn="l" rtl="0" eaLnBrk="1" latinLnBrk="0" hangingPunct="1">
        <a:spcBef>
          <a:spcPct val="20000"/>
        </a:spcBef>
        <a:buClr>
          <a:schemeClr val="accent2"/>
        </a:buClr>
        <a:buSzPct val="100000"/>
        <a:buFont typeface="Wingdings" pitchFamily="2" charset="2"/>
        <a:buChar char="§"/>
        <a:defRPr kumimoji="0" sz="2800" kern="1200">
          <a:solidFill>
            <a:schemeClr val="tx1"/>
          </a:solidFill>
          <a:latin typeface="Calibri" pitchFamily="34" charset="0"/>
          <a:ea typeface="+mn-ea"/>
          <a:cs typeface="Calibri" pitchFamily="34" charset="0"/>
        </a:defRPr>
      </a:lvl2pPr>
      <a:lvl3pPr marL="996696" indent="-228600" algn="l" rtl="0" eaLnBrk="1" latinLnBrk="0" hangingPunct="1">
        <a:spcBef>
          <a:spcPct val="20000"/>
        </a:spcBef>
        <a:buClr>
          <a:schemeClr val="accent3"/>
        </a:buClr>
        <a:buSzPct val="100000"/>
        <a:buFont typeface="Wingdings" pitchFamily="2" charset="2"/>
        <a:buChar char="§"/>
        <a:defRPr kumimoji="0" sz="2400" kern="1200">
          <a:solidFill>
            <a:schemeClr val="tx1"/>
          </a:solidFill>
          <a:latin typeface="Calibri" pitchFamily="34" charset="0"/>
          <a:ea typeface="+mn-ea"/>
          <a:cs typeface="Calibri" pitchFamily="34" charset="0"/>
        </a:defRPr>
      </a:lvl3pPr>
      <a:lvl4pPr marL="1216152" indent="-182880" algn="l" rtl="0" eaLnBrk="1" latinLnBrk="0" hangingPunct="1">
        <a:spcBef>
          <a:spcPct val="20000"/>
        </a:spcBef>
        <a:buClr>
          <a:schemeClr val="accent4"/>
        </a:buClr>
        <a:buSzPct val="100000"/>
        <a:buFont typeface="Wingdings" pitchFamily="2" charset="2"/>
        <a:buChar char="§"/>
        <a:defRPr kumimoji="0" sz="2000" kern="1200">
          <a:solidFill>
            <a:schemeClr val="tx1"/>
          </a:solidFill>
          <a:latin typeface="Calibri" pitchFamily="34" charset="0"/>
          <a:ea typeface="+mn-ea"/>
          <a:cs typeface="Calibri" pitchFamily="34" charset="0"/>
        </a:defRPr>
      </a:lvl4pPr>
      <a:lvl5pPr marL="1426464" indent="-182880" algn="l" rtl="0" eaLnBrk="1" latinLnBrk="0" hangingPunct="1">
        <a:spcBef>
          <a:spcPct val="20000"/>
        </a:spcBef>
        <a:buClr>
          <a:schemeClr val="accent5"/>
        </a:buClr>
        <a:buSzPct val="100000"/>
        <a:buFont typeface="Wingdings" pitchFamily="2" charset="2"/>
        <a:buChar char="§"/>
        <a:defRPr kumimoji="0" lang="en-US" sz="2000" kern="1200" smtClean="0">
          <a:solidFill>
            <a:schemeClr val="tx1"/>
          </a:solidFill>
          <a:latin typeface="Calibri" pitchFamily="34" charset="0"/>
          <a:ea typeface="+mn-ea"/>
          <a:cs typeface="Calibri" pitchFamily="34"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9220200" cy="6858000"/>
            <a:chOff x="0" y="0"/>
            <a:chExt cx="9144000" cy="6858000"/>
          </a:xfrm>
        </p:grpSpPr>
        <p:pic>
          <p:nvPicPr>
            <p:cNvPr id="3" name="object 3"/>
            <p:cNvPicPr/>
            <p:nvPr/>
          </p:nvPicPr>
          <p:blipFill>
            <a:blip r:embed="rId2" cstate="print"/>
            <a:stretch>
              <a:fillRect/>
            </a:stretch>
          </p:blipFill>
          <p:spPr>
            <a:xfrm>
              <a:off x="0" y="0"/>
              <a:ext cx="9144000" cy="6858000"/>
            </a:xfrm>
            <a:prstGeom prst="rect">
              <a:avLst/>
            </a:prstGeom>
          </p:spPr>
        </p:pic>
        <p:sp>
          <p:nvSpPr>
            <p:cNvPr id="4" name="object 4"/>
            <p:cNvSpPr/>
            <p:nvPr/>
          </p:nvSpPr>
          <p:spPr>
            <a:xfrm>
              <a:off x="0" y="0"/>
              <a:ext cx="9144000" cy="5133975"/>
            </a:xfrm>
            <a:custGeom>
              <a:avLst/>
              <a:gdLst/>
              <a:ahLst/>
              <a:cxnLst/>
              <a:rect l="l" t="t" r="r" b="b"/>
              <a:pathLst>
                <a:path w="9144000" h="5133975">
                  <a:moveTo>
                    <a:pt x="9144000" y="0"/>
                  </a:moveTo>
                  <a:lnTo>
                    <a:pt x="0" y="0"/>
                  </a:lnTo>
                  <a:lnTo>
                    <a:pt x="0" y="5133975"/>
                  </a:lnTo>
                  <a:lnTo>
                    <a:pt x="9144000" y="5133975"/>
                  </a:lnTo>
                  <a:lnTo>
                    <a:pt x="9144000" y="0"/>
                  </a:lnTo>
                  <a:close/>
                </a:path>
              </a:pathLst>
            </a:custGeom>
            <a:solidFill>
              <a:srgbClr val="000000"/>
            </a:solidFill>
          </p:spPr>
          <p:txBody>
            <a:bodyPr wrap="square" lIns="0" tIns="0" rIns="0" bIns="0" rtlCol="0"/>
            <a:lstStyle/>
            <a:p>
              <a:endParaRPr/>
            </a:p>
          </p:txBody>
        </p:sp>
        <p:pic>
          <p:nvPicPr>
            <p:cNvPr id="5" name="object 5"/>
            <p:cNvPicPr/>
            <p:nvPr/>
          </p:nvPicPr>
          <p:blipFill>
            <a:blip r:embed="rId3" cstate="print"/>
            <a:stretch>
              <a:fillRect/>
            </a:stretch>
          </p:blipFill>
          <p:spPr>
            <a:xfrm>
              <a:off x="0" y="5086286"/>
              <a:ext cx="9144000" cy="138112"/>
            </a:xfrm>
            <a:prstGeom prst="rect">
              <a:avLst/>
            </a:prstGeom>
          </p:spPr>
        </p:pic>
        <p:sp>
          <p:nvSpPr>
            <p:cNvPr id="6" name="object 6"/>
            <p:cNvSpPr/>
            <p:nvPr/>
          </p:nvSpPr>
          <p:spPr>
            <a:xfrm>
              <a:off x="0" y="5124450"/>
              <a:ext cx="9144000" cy="47625"/>
            </a:xfrm>
            <a:custGeom>
              <a:avLst/>
              <a:gdLst/>
              <a:ahLst/>
              <a:cxnLst/>
              <a:rect l="l" t="t" r="r" b="b"/>
              <a:pathLst>
                <a:path w="9144000" h="47625">
                  <a:moveTo>
                    <a:pt x="9144000" y="0"/>
                  </a:moveTo>
                  <a:lnTo>
                    <a:pt x="0" y="0"/>
                  </a:lnTo>
                  <a:lnTo>
                    <a:pt x="0" y="47625"/>
                  </a:lnTo>
                  <a:lnTo>
                    <a:pt x="9144000" y="47625"/>
                  </a:lnTo>
                  <a:lnTo>
                    <a:pt x="9144000" y="0"/>
                  </a:lnTo>
                  <a:close/>
                </a:path>
              </a:pathLst>
            </a:custGeom>
            <a:solidFill>
              <a:srgbClr val="FFFFFF"/>
            </a:solidFill>
          </p:spPr>
          <p:txBody>
            <a:bodyPr wrap="square" lIns="0" tIns="0" rIns="0" bIns="0" rtlCol="0"/>
            <a:lstStyle/>
            <a:p>
              <a:endParaRPr/>
            </a:p>
          </p:txBody>
        </p:sp>
      </p:grpSp>
      <p:sp>
        <p:nvSpPr>
          <p:cNvPr id="8" name="object 8"/>
          <p:cNvSpPr txBox="1"/>
          <p:nvPr/>
        </p:nvSpPr>
        <p:spPr>
          <a:xfrm>
            <a:off x="4813300" y="5224398"/>
            <a:ext cx="4330700" cy="1117422"/>
          </a:xfrm>
          <a:prstGeom prst="rect">
            <a:avLst/>
          </a:prstGeom>
        </p:spPr>
        <p:txBody>
          <a:bodyPr vert="horz" wrap="square" lIns="0" tIns="13335" rIns="0" bIns="0" rtlCol="0">
            <a:spAutoFit/>
          </a:bodyPr>
          <a:lstStyle/>
          <a:p>
            <a:pPr marL="12700">
              <a:lnSpc>
                <a:spcPts val="2870"/>
              </a:lnSpc>
            </a:pPr>
            <a:r>
              <a:rPr lang="en-AU" sz="2400" spc="10" dirty="0">
                <a:solidFill>
                  <a:srgbClr val="FFFFFF"/>
                </a:solidFill>
                <a:latin typeface="Corbel"/>
                <a:cs typeface="Corbel"/>
              </a:rPr>
              <a:t>Dr. Mohammad Rezwanul Huq</a:t>
            </a:r>
          </a:p>
          <a:p>
            <a:pPr marL="12700">
              <a:lnSpc>
                <a:spcPts val="2870"/>
              </a:lnSpc>
            </a:pPr>
            <a:r>
              <a:rPr lang="en-AU" sz="2400" spc="10" dirty="0">
                <a:solidFill>
                  <a:srgbClr val="FFFFFF"/>
                </a:solidFill>
                <a:latin typeface="Corbel"/>
                <a:cs typeface="Corbel"/>
              </a:rPr>
              <a:t>Associate Professor</a:t>
            </a:r>
          </a:p>
          <a:p>
            <a:pPr marL="12700">
              <a:lnSpc>
                <a:spcPts val="2870"/>
              </a:lnSpc>
            </a:pPr>
            <a:r>
              <a:rPr lang="en-AU" sz="2400" spc="10" dirty="0">
                <a:solidFill>
                  <a:srgbClr val="FFFFFF"/>
                </a:solidFill>
                <a:latin typeface="Corbel"/>
                <a:cs typeface="Corbel"/>
              </a:rPr>
              <a:t>East West University</a:t>
            </a:r>
            <a:endParaRPr sz="2000" dirty="0">
              <a:latin typeface="Corbel"/>
              <a:cs typeface="Corbel"/>
            </a:endParaRPr>
          </a:p>
        </p:txBody>
      </p:sp>
      <p:sp>
        <p:nvSpPr>
          <p:cNvPr id="11" name="TextBox 10">
            <a:extLst>
              <a:ext uri="{FF2B5EF4-FFF2-40B4-BE49-F238E27FC236}">
                <a16:creationId xmlns:a16="http://schemas.microsoft.com/office/drawing/2014/main" id="{2FC8D84B-8AF9-4ABB-AF8C-ED978638D2A0}"/>
              </a:ext>
            </a:extLst>
          </p:cNvPr>
          <p:cNvSpPr txBox="1"/>
          <p:nvPr/>
        </p:nvSpPr>
        <p:spPr>
          <a:xfrm>
            <a:off x="304800" y="1905000"/>
            <a:ext cx="8839200" cy="2308324"/>
          </a:xfrm>
          <a:prstGeom prst="rect">
            <a:avLst/>
          </a:prstGeom>
          <a:noFill/>
        </p:spPr>
        <p:txBody>
          <a:bodyPr wrap="square" rtlCol="0">
            <a:spAutoFit/>
          </a:bodyPr>
          <a:lstStyle/>
          <a:p>
            <a:pPr algn="ctr"/>
            <a:r>
              <a:rPr lang="en-AU" sz="4000" dirty="0">
                <a:solidFill>
                  <a:srgbClr val="FFFF00"/>
                </a:solidFill>
                <a:latin typeface="Palatino Linotype" panose="02040502050505030304" pitchFamily="18" charset="0"/>
              </a:rPr>
              <a:t>CSE488: Big Data Analytics</a:t>
            </a:r>
          </a:p>
          <a:p>
            <a:pPr algn="ctr"/>
            <a:endParaRPr lang="en-AU" sz="3200" dirty="0">
              <a:solidFill>
                <a:srgbClr val="FFFF00"/>
              </a:solidFill>
              <a:latin typeface="Palatino Linotype" panose="02040502050505030304" pitchFamily="18" charset="0"/>
            </a:endParaRPr>
          </a:p>
          <a:p>
            <a:pPr algn="ctr"/>
            <a:r>
              <a:rPr lang="en-AU" sz="3600" dirty="0">
                <a:solidFill>
                  <a:srgbClr val="00B0F0"/>
                </a:solidFill>
                <a:latin typeface="Palatino Linotype" panose="02040502050505030304" pitchFamily="18" charset="0"/>
              </a:rPr>
              <a:t>Lecture 7: Improvements to A-Priori Algorithm</a:t>
            </a:r>
            <a:endParaRPr lang="en-US" sz="3600" dirty="0">
              <a:solidFill>
                <a:srgbClr val="00B0F0"/>
              </a:solidFill>
              <a:latin typeface="Palatino Linotype" panose="02040502050505030304" pitchFamily="18" charset="0"/>
            </a:endParaRPr>
          </a:p>
        </p:txBody>
      </p:sp>
      <p:sp>
        <p:nvSpPr>
          <p:cNvPr id="9" name="Slide Number Placeholder 8">
            <a:extLst>
              <a:ext uri="{FF2B5EF4-FFF2-40B4-BE49-F238E27FC236}">
                <a16:creationId xmlns:a16="http://schemas.microsoft.com/office/drawing/2014/main" id="{6BAE21F5-5C78-4216-A7A9-B07602EE8294}"/>
              </a:ext>
            </a:extLst>
          </p:cNvPr>
          <p:cNvSpPr>
            <a:spLocks noGrp="1"/>
          </p:cNvSpPr>
          <p:nvPr>
            <p:ph type="sldNum" sz="quarter" idx="7"/>
          </p:nvPr>
        </p:nvSpPr>
        <p:spPr>
          <a:xfrm>
            <a:off x="8704960" y="6736715"/>
            <a:ext cx="190500" cy="139700"/>
          </a:xfrm>
          <a:prstGeom prst="rect">
            <a:avLst/>
          </a:prstGeom>
        </p:spPr>
        <p:txBody>
          <a:bodyPr wrap="square" lIns="0" tIns="0" rIns="0" bIns="0">
            <a:spAutoFit/>
          </a:bodyPr>
          <a:lstStyle>
            <a:defPPr>
              <a:defRPr lang="en-US"/>
            </a:defPPr>
            <a:lvl1pPr marL="0" algn="l" defTabSz="914400" rtl="0" eaLnBrk="1" latinLnBrk="0" hangingPunct="1">
              <a:defRPr sz="900" b="0" i="0" kern="1200">
                <a:solidFill>
                  <a:srgbClr val="3E3E3E"/>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a:lnSpc>
                <a:spcPts val="955"/>
              </a:lnSpc>
            </a:pPr>
            <a:fld id="{81D60167-4931-47E6-BA6A-407CBD079E47}" type="slidenum">
              <a:rPr lang="en-US" smtClean="0"/>
              <a:pPr marL="38100">
                <a:lnSpc>
                  <a:spcPts val="955"/>
                </a:lnSpc>
              </a:pPr>
              <a:t>1</a:t>
            </a:fld>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9220200" cy="6858000"/>
            <a:chOff x="0" y="0"/>
            <a:chExt cx="9144000" cy="6858000"/>
          </a:xfrm>
        </p:grpSpPr>
        <p:pic>
          <p:nvPicPr>
            <p:cNvPr id="3" name="object 3"/>
            <p:cNvPicPr/>
            <p:nvPr/>
          </p:nvPicPr>
          <p:blipFill>
            <a:blip r:embed="rId2" cstate="print"/>
            <a:stretch>
              <a:fillRect/>
            </a:stretch>
          </p:blipFill>
          <p:spPr>
            <a:xfrm>
              <a:off x="0" y="0"/>
              <a:ext cx="9144000" cy="6858000"/>
            </a:xfrm>
            <a:prstGeom prst="rect">
              <a:avLst/>
            </a:prstGeom>
          </p:spPr>
        </p:pic>
        <p:sp>
          <p:nvSpPr>
            <p:cNvPr id="4" name="object 4"/>
            <p:cNvSpPr/>
            <p:nvPr/>
          </p:nvSpPr>
          <p:spPr>
            <a:xfrm>
              <a:off x="0" y="0"/>
              <a:ext cx="9144000" cy="5133975"/>
            </a:xfrm>
            <a:custGeom>
              <a:avLst/>
              <a:gdLst/>
              <a:ahLst/>
              <a:cxnLst/>
              <a:rect l="l" t="t" r="r" b="b"/>
              <a:pathLst>
                <a:path w="9144000" h="5133975">
                  <a:moveTo>
                    <a:pt x="9144000" y="0"/>
                  </a:moveTo>
                  <a:lnTo>
                    <a:pt x="0" y="0"/>
                  </a:lnTo>
                  <a:lnTo>
                    <a:pt x="0" y="5133975"/>
                  </a:lnTo>
                  <a:lnTo>
                    <a:pt x="9144000" y="5133975"/>
                  </a:lnTo>
                  <a:lnTo>
                    <a:pt x="9144000" y="0"/>
                  </a:lnTo>
                  <a:close/>
                </a:path>
              </a:pathLst>
            </a:custGeom>
            <a:solidFill>
              <a:srgbClr val="000000"/>
            </a:solidFill>
          </p:spPr>
          <p:txBody>
            <a:bodyPr wrap="square" lIns="0" tIns="0" rIns="0" bIns="0" rtlCol="0"/>
            <a:lstStyle/>
            <a:p>
              <a:endParaRPr/>
            </a:p>
          </p:txBody>
        </p:sp>
        <p:pic>
          <p:nvPicPr>
            <p:cNvPr id="5" name="object 5"/>
            <p:cNvPicPr/>
            <p:nvPr/>
          </p:nvPicPr>
          <p:blipFill>
            <a:blip r:embed="rId3" cstate="print"/>
            <a:stretch>
              <a:fillRect/>
            </a:stretch>
          </p:blipFill>
          <p:spPr>
            <a:xfrm>
              <a:off x="0" y="5086286"/>
              <a:ext cx="9144000" cy="138112"/>
            </a:xfrm>
            <a:prstGeom prst="rect">
              <a:avLst/>
            </a:prstGeom>
          </p:spPr>
        </p:pic>
        <p:sp>
          <p:nvSpPr>
            <p:cNvPr id="6" name="object 6"/>
            <p:cNvSpPr/>
            <p:nvPr/>
          </p:nvSpPr>
          <p:spPr>
            <a:xfrm>
              <a:off x="0" y="5124450"/>
              <a:ext cx="9144000" cy="47625"/>
            </a:xfrm>
            <a:custGeom>
              <a:avLst/>
              <a:gdLst/>
              <a:ahLst/>
              <a:cxnLst/>
              <a:rect l="l" t="t" r="r" b="b"/>
              <a:pathLst>
                <a:path w="9144000" h="47625">
                  <a:moveTo>
                    <a:pt x="9144000" y="0"/>
                  </a:moveTo>
                  <a:lnTo>
                    <a:pt x="0" y="0"/>
                  </a:lnTo>
                  <a:lnTo>
                    <a:pt x="0" y="47625"/>
                  </a:lnTo>
                  <a:lnTo>
                    <a:pt x="9144000" y="47625"/>
                  </a:lnTo>
                  <a:lnTo>
                    <a:pt x="9144000" y="0"/>
                  </a:lnTo>
                  <a:close/>
                </a:path>
              </a:pathLst>
            </a:custGeom>
            <a:solidFill>
              <a:srgbClr val="FFFFFF"/>
            </a:solidFill>
          </p:spPr>
          <p:txBody>
            <a:bodyPr wrap="square" lIns="0" tIns="0" rIns="0" bIns="0" rtlCol="0"/>
            <a:lstStyle/>
            <a:p>
              <a:endParaRPr/>
            </a:p>
          </p:txBody>
        </p:sp>
      </p:grpSp>
      <p:sp>
        <p:nvSpPr>
          <p:cNvPr id="11" name="TextBox 10">
            <a:extLst>
              <a:ext uri="{FF2B5EF4-FFF2-40B4-BE49-F238E27FC236}">
                <a16:creationId xmlns:a16="http://schemas.microsoft.com/office/drawing/2014/main" id="{2FC8D84B-8AF9-4ABB-AF8C-ED978638D2A0}"/>
              </a:ext>
            </a:extLst>
          </p:cNvPr>
          <p:cNvSpPr txBox="1"/>
          <p:nvPr/>
        </p:nvSpPr>
        <p:spPr>
          <a:xfrm>
            <a:off x="304800" y="1905000"/>
            <a:ext cx="8839200" cy="2985433"/>
          </a:xfrm>
          <a:prstGeom prst="rect">
            <a:avLst/>
          </a:prstGeom>
          <a:noFill/>
        </p:spPr>
        <p:txBody>
          <a:bodyPr wrap="square" rtlCol="0">
            <a:spAutoFit/>
          </a:bodyPr>
          <a:lstStyle/>
          <a:p>
            <a:pPr algn="ctr"/>
            <a:r>
              <a:rPr lang="en-AU" sz="4000" b="1" dirty="0">
                <a:solidFill>
                  <a:srgbClr val="C00000"/>
                </a:solidFill>
                <a:latin typeface="Palatino Linotype" panose="02040502050505030304" pitchFamily="18" charset="0"/>
              </a:rPr>
              <a:t>The PCY (Park-Chen-Yu) Algorithm</a:t>
            </a:r>
          </a:p>
          <a:p>
            <a:pPr algn="ctr"/>
            <a:endParaRPr lang="en-AU" sz="4000" b="1" dirty="0">
              <a:solidFill>
                <a:srgbClr val="C00000"/>
              </a:solidFill>
              <a:latin typeface="Palatino Linotype" panose="02040502050505030304" pitchFamily="18" charset="0"/>
            </a:endParaRPr>
          </a:p>
          <a:p>
            <a:pPr marL="571500" indent="-571500">
              <a:buFont typeface="Wingdings" panose="05000000000000000000" pitchFamily="2" charset="2"/>
              <a:buChar char="Ø"/>
            </a:pPr>
            <a:r>
              <a:rPr lang="en-AU" sz="2400" b="1" dirty="0">
                <a:solidFill>
                  <a:srgbClr val="FFC000"/>
                </a:solidFill>
                <a:latin typeface="Palatino Linotype" panose="02040502050505030304" pitchFamily="18" charset="0"/>
              </a:rPr>
              <a:t>Improvement to A-Priori</a:t>
            </a:r>
          </a:p>
          <a:p>
            <a:pPr marL="571500" indent="-571500">
              <a:buFont typeface="Wingdings" panose="05000000000000000000" pitchFamily="2" charset="2"/>
              <a:buChar char="Ø"/>
            </a:pPr>
            <a:r>
              <a:rPr lang="en-AU" sz="2400" b="1" dirty="0">
                <a:solidFill>
                  <a:srgbClr val="FFC000"/>
                </a:solidFill>
                <a:latin typeface="Palatino Linotype" panose="02040502050505030304" pitchFamily="18" charset="0"/>
              </a:rPr>
              <a:t>Exploits empty memory on first pass</a:t>
            </a:r>
          </a:p>
          <a:p>
            <a:pPr marL="571500" indent="-571500">
              <a:buFont typeface="Wingdings" panose="05000000000000000000" pitchFamily="2" charset="2"/>
              <a:buChar char="Ø"/>
            </a:pPr>
            <a:r>
              <a:rPr lang="en-AU" sz="2400" b="1" dirty="0">
                <a:solidFill>
                  <a:srgbClr val="FFC000"/>
                </a:solidFill>
                <a:latin typeface="Palatino Linotype" panose="02040502050505030304" pitchFamily="18" charset="0"/>
              </a:rPr>
              <a:t>Frequent Buckets</a:t>
            </a:r>
          </a:p>
          <a:p>
            <a:pPr marL="571500" indent="-571500" algn="ctr">
              <a:buFont typeface="Wingdings" panose="05000000000000000000" pitchFamily="2" charset="2"/>
              <a:buChar char="Ø"/>
            </a:pPr>
            <a:endParaRPr lang="en-US" sz="3600" b="1" dirty="0">
              <a:solidFill>
                <a:srgbClr val="C00000"/>
              </a:solidFill>
              <a:latin typeface="Palatino Linotype" panose="02040502050505030304" pitchFamily="18" charset="0"/>
            </a:endParaRPr>
          </a:p>
        </p:txBody>
      </p:sp>
      <p:sp>
        <p:nvSpPr>
          <p:cNvPr id="9" name="Slide Number Placeholder 8">
            <a:extLst>
              <a:ext uri="{FF2B5EF4-FFF2-40B4-BE49-F238E27FC236}">
                <a16:creationId xmlns:a16="http://schemas.microsoft.com/office/drawing/2014/main" id="{6BAE21F5-5C78-4216-A7A9-B07602EE8294}"/>
              </a:ext>
            </a:extLst>
          </p:cNvPr>
          <p:cNvSpPr>
            <a:spLocks noGrp="1"/>
          </p:cNvSpPr>
          <p:nvPr>
            <p:ph type="sldNum" sz="quarter" idx="7"/>
          </p:nvPr>
        </p:nvSpPr>
        <p:spPr>
          <a:xfrm>
            <a:off x="8704960" y="6736715"/>
            <a:ext cx="190500" cy="139700"/>
          </a:xfrm>
          <a:prstGeom prst="rect">
            <a:avLst/>
          </a:prstGeom>
        </p:spPr>
        <p:txBody>
          <a:bodyPr wrap="square" lIns="0" tIns="0" rIns="0" bIns="0">
            <a:spAutoFit/>
          </a:bodyPr>
          <a:lstStyle>
            <a:defPPr>
              <a:defRPr lang="en-US"/>
            </a:defPPr>
            <a:lvl1pPr marL="0" algn="l" defTabSz="914400" rtl="0" eaLnBrk="1" latinLnBrk="0" hangingPunct="1">
              <a:defRPr sz="900" b="0" i="0" kern="1200">
                <a:solidFill>
                  <a:srgbClr val="3E3E3E"/>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a:lnSpc>
                <a:spcPts val="955"/>
              </a:lnSpc>
            </a:pPr>
            <a:fld id="{81D60167-4931-47E6-BA6A-407CBD079E47}" type="slidenum">
              <a:rPr lang="en-US" smtClean="0"/>
              <a:pPr marL="38100">
                <a:lnSpc>
                  <a:spcPts val="955"/>
                </a:lnSpc>
              </a:pPr>
              <a:t>2</a:t>
            </a:fld>
            <a:endParaRPr lang="en-US" dirty="0"/>
          </a:p>
        </p:txBody>
      </p:sp>
    </p:spTree>
    <p:extLst>
      <p:ext uri="{BB962C8B-B14F-4D97-AF65-F5344CB8AC3E}">
        <p14:creationId xmlns:p14="http://schemas.microsoft.com/office/powerpoint/2010/main" val="12334517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BC4B02E0-9251-4306-9F80-B5421FF9BA88}" type="slidenum">
              <a:rPr lang="en-US"/>
              <a:pPr/>
              <a:t>3</a:t>
            </a:fld>
            <a:endParaRPr lang="en-US"/>
          </a:p>
        </p:txBody>
      </p:sp>
      <p:sp>
        <p:nvSpPr>
          <p:cNvPr id="9218" name="Rectangle 2"/>
          <p:cNvSpPr>
            <a:spLocks noGrp="1" noChangeArrowheads="1"/>
          </p:cNvSpPr>
          <p:nvPr>
            <p:ph type="title"/>
          </p:nvPr>
        </p:nvSpPr>
        <p:spPr>
          <a:xfrm>
            <a:off x="533400" y="0"/>
            <a:ext cx="7772400" cy="1143000"/>
          </a:xfrm>
        </p:spPr>
        <p:txBody>
          <a:bodyPr/>
          <a:lstStyle/>
          <a:p>
            <a:r>
              <a:rPr lang="en-US" dirty="0">
                <a:solidFill>
                  <a:srgbClr val="CC6600"/>
                </a:solidFill>
              </a:rPr>
              <a:t>PCY Algorithm</a:t>
            </a:r>
            <a:endParaRPr lang="en-US" dirty="0"/>
          </a:p>
        </p:txBody>
      </p:sp>
      <p:sp>
        <p:nvSpPr>
          <p:cNvPr id="9219" name="Rectangle 3"/>
          <p:cNvSpPr>
            <a:spLocks noGrp="1" noChangeArrowheads="1"/>
          </p:cNvSpPr>
          <p:nvPr>
            <p:ph type="body" idx="1"/>
          </p:nvPr>
        </p:nvSpPr>
        <p:spPr>
          <a:xfrm>
            <a:off x="228600" y="1371600"/>
            <a:ext cx="8534400" cy="3581400"/>
          </a:xfrm>
        </p:spPr>
        <p:txBody>
          <a:bodyPr/>
          <a:lstStyle/>
          <a:p>
            <a:r>
              <a:rPr lang="en-US" dirty="0"/>
              <a:t>During Pass 1 of A-priori, most memory is idle.</a:t>
            </a:r>
          </a:p>
          <a:p>
            <a:r>
              <a:rPr lang="en-US" dirty="0"/>
              <a:t>Use that memory to keep counts of buckets into which pairs of items are hashed.</a:t>
            </a:r>
          </a:p>
          <a:p>
            <a:pPr lvl="1"/>
            <a:r>
              <a:rPr lang="en-US" dirty="0">
                <a:solidFill>
                  <a:srgbClr val="FF0066"/>
                </a:solidFill>
              </a:rPr>
              <a:t>Just the count, not the pairs themselves.</a:t>
            </a:r>
          </a:p>
          <a:p>
            <a:r>
              <a:rPr lang="en-US" dirty="0"/>
              <a:t>For each basket, enumerate all its pairs, hash them, and increment the resulting bucket count by 1.</a:t>
            </a:r>
          </a:p>
        </p:txBody>
      </p:sp>
    </p:spTree>
    <p:extLst>
      <p:ext uri="{BB962C8B-B14F-4D97-AF65-F5344CB8AC3E}">
        <p14:creationId xmlns:p14="http://schemas.microsoft.com/office/powerpoint/2010/main" val="20764621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219">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219">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21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9"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034243F8-2C3D-4440-A33C-16B3E37A9D2B}" type="slidenum">
              <a:rPr lang="en-US"/>
              <a:pPr/>
              <a:t>4</a:t>
            </a:fld>
            <a:endParaRPr lang="en-US"/>
          </a:p>
        </p:txBody>
      </p:sp>
      <p:sp>
        <p:nvSpPr>
          <p:cNvPr id="54274" name="Rectangle 2"/>
          <p:cNvSpPr>
            <a:spLocks noGrp="1" noChangeArrowheads="1"/>
          </p:cNvSpPr>
          <p:nvPr>
            <p:ph type="title"/>
          </p:nvPr>
        </p:nvSpPr>
        <p:spPr/>
        <p:txBody>
          <a:bodyPr/>
          <a:lstStyle/>
          <a:p>
            <a:r>
              <a:rPr lang="en-US"/>
              <a:t>PCY Algorithm – (2)</a:t>
            </a:r>
          </a:p>
        </p:txBody>
      </p:sp>
      <p:sp>
        <p:nvSpPr>
          <p:cNvPr id="54275" name="Rectangle 3"/>
          <p:cNvSpPr>
            <a:spLocks noGrp="1" noChangeArrowheads="1"/>
          </p:cNvSpPr>
          <p:nvPr>
            <p:ph type="body" idx="1"/>
          </p:nvPr>
        </p:nvSpPr>
        <p:spPr/>
        <p:txBody>
          <a:bodyPr/>
          <a:lstStyle/>
          <a:p>
            <a:r>
              <a:rPr lang="en-US" dirty="0"/>
              <a:t>A bucket is </a:t>
            </a:r>
            <a:r>
              <a:rPr lang="en-US" i="1" dirty="0">
                <a:solidFill>
                  <a:srgbClr val="FF0066"/>
                </a:solidFill>
              </a:rPr>
              <a:t>frequent</a:t>
            </a:r>
            <a:r>
              <a:rPr lang="en-US" dirty="0"/>
              <a:t> if its count is at least the support threshold.</a:t>
            </a:r>
          </a:p>
          <a:p>
            <a:r>
              <a:rPr lang="en-US" dirty="0"/>
              <a:t>If a bucket is not frequent, no pair that hashes to that bucket could possibly be a frequent pair.</a:t>
            </a:r>
          </a:p>
          <a:p>
            <a:r>
              <a:rPr lang="en-US" dirty="0"/>
              <a:t>On Pass 2, we only count pairs of frequent items that </a:t>
            </a:r>
            <a:r>
              <a:rPr lang="en-US" dirty="0">
                <a:solidFill>
                  <a:srgbClr val="00B050"/>
                </a:solidFill>
              </a:rPr>
              <a:t>also</a:t>
            </a:r>
            <a:r>
              <a:rPr lang="en-US" dirty="0"/>
              <a:t> hash to a frequent bucket.</a:t>
            </a:r>
          </a:p>
          <a:p>
            <a:r>
              <a:rPr lang="en-US" dirty="0"/>
              <a:t>A </a:t>
            </a:r>
            <a:r>
              <a:rPr lang="en-US" i="1" dirty="0">
                <a:solidFill>
                  <a:srgbClr val="FF0000"/>
                </a:solidFill>
              </a:rPr>
              <a:t>bitmap</a:t>
            </a:r>
            <a:r>
              <a:rPr lang="en-US" dirty="0"/>
              <a:t> tells which buckets are frequent, using only one bit per bucket (i.e., 1/32 of the space used on Pass 1).</a:t>
            </a:r>
          </a:p>
        </p:txBody>
      </p:sp>
    </p:spTree>
    <p:extLst>
      <p:ext uri="{BB962C8B-B14F-4D97-AF65-F5344CB8AC3E}">
        <p14:creationId xmlns:p14="http://schemas.microsoft.com/office/powerpoint/2010/main" val="38068165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427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427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427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5"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lide Number Placeholder 4"/>
          <p:cNvSpPr>
            <a:spLocks noGrp="1"/>
          </p:cNvSpPr>
          <p:nvPr>
            <p:ph type="sldNum" sz="quarter" idx="12"/>
          </p:nvPr>
        </p:nvSpPr>
        <p:spPr/>
        <p:txBody>
          <a:bodyPr/>
          <a:lstStyle/>
          <a:p>
            <a:fld id="{4BA38545-8888-4B55-AE0C-64AF295F6DC9}" type="slidenum">
              <a:rPr lang="en-US"/>
              <a:pPr/>
              <a:t>5</a:t>
            </a:fld>
            <a:endParaRPr lang="en-US"/>
          </a:p>
        </p:txBody>
      </p:sp>
      <p:sp>
        <p:nvSpPr>
          <p:cNvPr id="10242" name="Rectangle 2"/>
          <p:cNvSpPr>
            <a:spLocks noGrp="1" noChangeArrowheads="1"/>
          </p:cNvSpPr>
          <p:nvPr>
            <p:ph type="title"/>
          </p:nvPr>
        </p:nvSpPr>
        <p:spPr/>
        <p:txBody>
          <a:bodyPr/>
          <a:lstStyle/>
          <a:p>
            <a:r>
              <a:rPr lang="en-US"/>
              <a:t>Picture of PCY</a:t>
            </a:r>
          </a:p>
        </p:txBody>
      </p:sp>
      <p:sp>
        <p:nvSpPr>
          <p:cNvPr id="10243" name="Rectangle 3"/>
          <p:cNvSpPr>
            <a:spLocks noChangeArrowheads="1"/>
          </p:cNvSpPr>
          <p:nvPr/>
        </p:nvSpPr>
        <p:spPr bwMode="auto">
          <a:xfrm>
            <a:off x="2209800" y="2362200"/>
            <a:ext cx="2057400" cy="31242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dirty="0"/>
          </a:p>
          <a:p>
            <a:pPr algn="ctr"/>
            <a:endParaRPr lang="en-US" dirty="0"/>
          </a:p>
          <a:p>
            <a:pPr algn="ctr"/>
            <a:r>
              <a:rPr lang="en-US" dirty="0"/>
              <a:t>Hash table</a:t>
            </a:r>
          </a:p>
          <a:p>
            <a:pPr algn="ctr"/>
            <a:r>
              <a:rPr lang="en-US" dirty="0"/>
              <a:t>for pairs</a:t>
            </a:r>
          </a:p>
        </p:txBody>
      </p:sp>
      <p:sp>
        <p:nvSpPr>
          <p:cNvPr id="10244" name="Rectangle 4"/>
          <p:cNvSpPr>
            <a:spLocks noChangeArrowheads="1"/>
          </p:cNvSpPr>
          <p:nvPr/>
        </p:nvSpPr>
        <p:spPr bwMode="auto">
          <a:xfrm>
            <a:off x="5288071" y="2362200"/>
            <a:ext cx="1981200" cy="31242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atin typeface="Times New Roman" charset="0"/>
            </a:endParaRPr>
          </a:p>
        </p:txBody>
      </p:sp>
      <p:sp>
        <p:nvSpPr>
          <p:cNvPr id="10245" name="Rectangle 5"/>
          <p:cNvSpPr>
            <a:spLocks noChangeArrowheads="1"/>
          </p:cNvSpPr>
          <p:nvPr/>
        </p:nvSpPr>
        <p:spPr bwMode="auto">
          <a:xfrm>
            <a:off x="2286000" y="2438400"/>
            <a:ext cx="1905000" cy="685800"/>
          </a:xfrm>
          <a:prstGeom prst="rect">
            <a:avLst/>
          </a:prstGeom>
          <a:solidFill>
            <a:srgbClr val="99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Item counts</a:t>
            </a:r>
          </a:p>
        </p:txBody>
      </p:sp>
      <p:sp>
        <p:nvSpPr>
          <p:cNvPr id="10246" name="Rectangle 6"/>
          <p:cNvSpPr>
            <a:spLocks noChangeArrowheads="1"/>
          </p:cNvSpPr>
          <p:nvPr/>
        </p:nvSpPr>
        <p:spPr bwMode="auto">
          <a:xfrm>
            <a:off x="5334000" y="3048000"/>
            <a:ext cx="1828800" cy="381000"/>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Bitmap</a:t>
            </a:r>
          </a:p>
        </p:txBody>
      </p:sp>
      <p:sp>
        <p:nvSpPr>
          <p:cNvPr id="10247" name="Text Box 7"/>
          <p:cNvSpPr txBox="1">
            <a:spLocks noChangeArrowheads="1"/>
          </p:cNvSpPr>
          <p:nvPr/>
        </p:nvSpPr>
        <p:spPr bwMode="auto">
          <a:xfrm>
            <a:off x="2667000" y="5630863"/>
            <a:ext cx="1047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t>Pass 1</a:t>
            </a:r>
          </a:p>
        </p:txBody>
      </p:sp>
      <p:sp>
        <p:nvSpPr>
          <p:cNvPr id="10248" name="Text Box 8"/>
          <p:cNvSpPr txBox="1">
            <a:spLocks noChangeArrowheads="1"/>
          </p:cNvSpPr>
          <p:nvPr/>
        </p:nvSpPr>
        <p:spPr bwMode="auto">
          <a:xfrm>
            <a:off x="5715000" y="5630863"/>
            <a:ext cx="1047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t>Pass 2</a:t>
            </a:r>
          </a:p>
        </p:txBody>
      </p:sp>
      <p:sp>
        <p:nvSpPr>
          <p:cNvPr id="10249" name="Rectangle 9"/>
          <p:cNvSpPr>
            <a:spLocks noChangeArrowheads="1"/>
          </p:cNvSpPr>
          <p:nvPr/>
        </p:nvSpPr>
        <p:spPr bwMode="auto">
          <a:xfrm>
            <a:off x="5334000" y="2438400"/>
            <a:ext cx="1828800" cy="533400"/>
          </a:xfrm>
          <a:prstGeom prst="rect">
            <a:avLst/>
          </a:prstGeom>
          <a:solidFill>
            <a:srgbClr val="99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000"/>
              <a:t>Frequent items</a:t>
            </a:r>
          </a:p>
        </p:txBody>
      </p:sp>
      <p:sp>
        <p:nvSpPr>
          <p:cNvPr id="10250" name="Line 10"/>
          <p:cNvSpPr>
            <a:spLocks noChangeShapeType="1"/>
          </p:cNvSpPr>
          <p:nvPr/>
        </p:nvSpPr>
        <p:spPr bwMode="auto">
          <a:xfrm flipV="1">
            <a:off x="4191000" y="2971800"/>
            <a:ext cx="1143000" cy="152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251" name="Line 11"/>
          <p:cNvSpPr>
            <a:spLocks noChangeShapeType="1"/>
          </p:cNvSpPr>
          <p:nvPr/>
        </p:nvSpPr>
        <p:spPr bwMode="auto">
          <a:xfrm flipV="1">
            <a:off x="4267200" y="3429000"/>
            <a:ext cx="1066800" cy="2057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252" name="Text Box 12"/>
          <p:cNvSpPr txBox="1">
            <a:spLocks noChangeArrowheads="1"/>
          </p:cNvSpPr>
          <p:nvPr/>
        </p:nvSpPr>
        <p:spPr bwMode="auto">
          <a:xfrm>
            <a:off x="5678487" y="3810000"/>
            <a:ext cx="1484313"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dirty="0"/>
              <a:t>Counts of</a:t>
            </a:r>
          </a:p>
          <a:p>
            <a:r>
              <a:rPr lang="en-US" dirty="0"/>
              <a:t>candidate</a:t>
            </a:r>
          </a:p>
          <a:p>
            <a:r>
              <a:rPr lang="en-US" dirty="0"/>
              <a:t>   pairs</a:t>
            </a:r>
          </a:p>
        </p:txBody>
      </p:sp>
      <p:sp>
        <p:nvSpPr>
          <p:cNvPr id="10253" name="Line 13"/>
          <p:cNvSpPr>
            <a:spLocks noChangeShapeType="1"/>
          </p:cNvSpPr>
          <p:nvPr/>
        </p:nvSpPr>
        <p:spPr bwMode="auto">
          <a:xfrm>
            <a:off x="4191000" y="2438400"/>
            <a:ext cx="11430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54" name="Line 14"/>
          <p:cNvSpPr>
            <a:spLocks noChangeShapeType="1"/>
          </p:cNvSpPr>
          <p:nvPr/>
        </p:nvSpPr>
        <p:spPr bwMode="auto">
          <a:xfrm flipV="1">
            <a:off x="4267200" y="3048000"/>
            <a:ext cx="1066800" cy="76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41968049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92CC8C0B-A3DF-4A72-8502-546405B25A35}" type="slidenum">
              <a:rPr lang="en-US"/>
              <a:pPr/>
              <a:t>6</a:t>
            </a:fld>
            <a:endParaRPr lang="en-US"/>
          </a:p>
        </p:txBody>
      </p:sp>
      <p:sp>
        <p:nvSpPr>
          <p:cNvPr id="28674" name="Rectangle 2"/>
          <p:cNvSpPr>
            <a:spLocks noGrp="1" noChangeArrowheads="1"/>
          </p:cNvSpPr>
          <p:nvPr>
            <p:ph type="title"/>
          </p:nvPr>
        </p:nvSpPr>
        <p:spPr>
          <a:xfrm>
            <a:off x="304799" y="0"/>
            <a:ext cx="8843375" cy="1066800"/>
          </a:xfrm>
        </p:spPr>
        <p:txBody>
          <a:bodyPr/>
          <a:lstStyle/>
          <a:p>
            <a:r>
              <a:rPr lang="en-US" dirty="0"/>
              <a:t>Pass 1: Memory Organization</a:t>
            </a:r>
          </a:p>
        </p:txBody>
      </p:sp>
      <p:sp>
        <p:nvSpPr>
          <p:cNvPr id="28675" name="Rectangle 3"/>
          <p:cNvSpPr>
            <a:spLocks noGrp="1" noChangeArrowheads="1"/>
          </p:cNvSpPr>
          <p:nvPr>
            <p:ph type="body" idx="1"/>
          </p:nvPr>
        </p:nvSpPr>
        <p:spPr>
          <a:xfrm>
            <a:off x="457200" y="1371600"/>
            <a:ext cx="7772400" cy="3581400"/>
          </a:xfrm>
        </p:spPr>
        <p:txBody>
          <a:bodyPr/>
          <a:lstStyle/>
          <a:p>
            <a:r>
              <a:rPr lang="en-US" dirty="0"/>
              <a:t>Space to count each item.</a:t>
            </a:r>
          </a:p>
          <a:p>
            <a:pPr lvl="1"/>
            <a:r>
              <a:rPr lang="en-US" dirty="0"/>
              <a:t>One (typically) 4-byte integer per item.</a:t>
            </a:r>
          </a:p>
          <a:p>
            <a:r>
              <a:rPr lang="en-US" dirty="0"/>
              <a:t>Use the rest of the space for as many integers, representing buckets, as we can.</a:t>
            </a:r>
          </a:p>
        </p:txBody>
      </p:sp>
    </p:spTree>
    <p:extLst>
      <p:ext uri="{BB962C8B-B14F-4D97-AF65-F5344CB8AC3E}">
        <p14:creationId xmlns:p14="http://schemas.microsoft.com/office/powerpoint/2010/main" val="9064015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6607CED5-F664-4CBA-91D0-BA961A09FFBF}" type="slidenum">
              <a:rPr lang="en-US"/>
              <a:pPr/>
              <a:t>7</a:t>
            </a:fld>
            <a:endParaRPr lang="en-US"/>
          </a:p>
        </p:txBody>
      </p:sp>
      <p:sp>
        <p:nvSpPr>
          <p:cNvPr id="26626" name="Rectangle 2"/>
          <p:cNvSpPr>
            <a:spLocks noGrp="1" noChangeArrowheads="1"/>
          </p:cNvSpPr>
          <p:nvPr>
            <p:ph type="title"/>
          </p:nvPr>
        </p:nvSpPr>
        <p:spPr/>
        <p:txBody>
          <a:bodyPr/>
          <a:lstStyle/>
          <a:p>
            <a:r>
              <a:rPr lang="en-US"/>
              <a:t>PCY Algorithm – Pass 1</a:t>
            </a:r>
          </a:p>
        </p:txBody>
      </p:sp>
      <p:sp>
        <p:nvSpPr>
          <p:cNvPr id="26627" name="Rectangle 3"/>
          <p:cNvSpPr>
            <a:spLocks noGrp="1" noChangeArrowheads="1"/>
          </p:cNvSpPr>
          <p:nvPr>
            <p:ph type="body" idx="1"/>
          </p:nvPr>
        </p:nvSpPr>
        <p:spPr>
          <a:xfrm>
            <a:off x="457200" y="1371600"/>
            <a:ext cx="8382000" cy="4572000"/>
          </a:xfrm>
        </p:spPr>
        <p:txBody>
          <a:bodyPr/>
          <a:lstStyle/>
          <a:p>
            <a:pPr marL="609600" indent="-609600">
              <a:buFont typeface="Monotype Sorts" pitchFamily="2" charset="2"/>
              <a:buNone/>
            </a:pPr>
            <a:r>
              <a:rPr lang="en-US" sz="2800" dirty="0">
                <a:latin typeface="Courier New" pitchFamily="49" charset="0"/>
              </a:rPr>
              <a:t>FOR (each basket) {</a:t>
            </a:r>
          </a:p>
          <a:p>
            <a:pPr marL="609600" indent="-609600">
              <a:buFont typeface="Monotype Sorts" pitchFamily="2" charset="2"/>
              <a:buNone/>
            </a:pPr>
            <a:r>
              <a:rPr lang="en-US" sz="2800" dirty="0">
                <a:latin typeface="Courier New" pitchFamily="49" charset="0"/>
              </a:rPr>
              <a:t>	FOR (each item in the basket)</a:t>
            </a:r>
          </a:p>
          <a:p>
            <a:pPr marL="609600" indent="-609600">
              <a:buFont typeface="Monotype Sorts" pitchFamily="2" charset="2"/>
              <a:buNone/>
            </a:pPr>
            <a:r>
              <a:rPr lang="en-US" sz="2800" dirty="0">
                <a:latin typeface="Courier New" pitchFamily="49" charset="0"/>
              </a:rPr>
              <a:t>		add 1 to item’s count;</a:t>
            </a:r>
          </a:p>
          <a:p>
            <a:pPr marL="609600" indent="-609600">
              <a:buFont typeface="Monotype Sorts" pitchFamily="2" charset="2"/>
              <a:buNone/>
            </a:pPr>
            <a:r>
              <a:rPr lang="en-US" sz="2800" dirty="0">
                <a:latin typeface="Courier New" pitchFamily="49" charset="0"/>
              </a:rPr>
              <a:t>	FOR (each pair of items) {</a:t>
            </a:r>
          </a:p>
          <a:p>
            <a:pPr marL="609600" indent="-609600">
              <a:buFont typeface="Monotype Sorts" pitchFamily="2" charset="2"/>
              <a:buNone/>
            </a:pPr>
            <a:r>
              <a:rPr lang="en-US" sz="2800" dirty="0">
                <a:latin typeface="Courier New" pitchFamily="49" charset="0"/>
              </a:rPr>
              <a:t>		hash the pair to a bucket;</a:t>
            </a:r>
          </a:p>
          <a:p>
            <a:pPr marL="609600" indent="-609600">
              <a:buFont typeface="Monotype Sorts" pitchFamily="2" charset="2"/>
              <a:buNone/>
            </a:pPr>
            <a:r>
              <a:rPr lang="en-US" sz="2800" dirty="0">
                <a:latin typeface="Courier New" pitchFamily="49" charset="0"/>
              </a:rPr>
              <a:t>		add 1 to the count for that bucket</a:t>
            </a:r>
          </a:p>
          <a:p>
            <a:pPr marL="609600" indent="-609600">
              <a:buFont typeface="Monotype Sorts" pitchFamily="2" charset="2"/>
              <a:buNone/>
            </a:pPr>
            <a:r>
              <a:rPr lang="en-US" sz="2800" dirty="0">
                <a:latin typeface="Courier New" pitchFamily="49" charset="0"/>
              </a:rPr>
              <a:t>	}</a:t>
            </a:r>
          </a:p>
          <a:p>
            <a:pPr marL="609600" indent="-609600">
              <a:buFont typeface="Monotype Sorts" pitchFamily="2" charset="2"/>
              <a:buNone/>
            </a:pPr>
            <a:r>
              <a:rPr lang="en-US" sz="2800" dirty="0">
                <a:latin typeface="Courier New" pitchFamily="49" charset="0"/>
              </a:rPr>
              <a:t>}</a:t>
            </a:r>
          </a:p>
        </p:txBody>
      </p:sp>
    </p:spTree>
    <p:extLst>
      <p:ext uri="{BB962C8B-B14F-4D97-AF65-F5344CB8AC3E}">
        <p14:creationId xmlns:p14="http://schemas.microsoft.com/office/powerpoint/2010/main" val="18191637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62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6627">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6627">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6627">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6627">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6627">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6627">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662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7"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F0ECD973-5FBD-4A1B-AA33-CE056764D4D5}" type="slidenum">
              <a:rPr lang="en-US"/>
              <a:pPr/>
              <a:t>8</a:t>
            </a:fld>
            <a:endParaRPr lang="en-US"/>
          </a:p>
        </p:txBody>
      </p:sp>
      <p:sp>
        <p:nvSpPr>
          <p:cNvPr id="43010" name="Rectangle 2"/>
          <p:cNvSpPr>
            <a:spLocks noGrp="1" noChangeArrowheads="1"/>
          </p:cNvSpPr>
          <p:nvPr>
            <p:ph type="title"/>
          </p:nvPr>
        </p:nvSpPr>
        <p:spPr/>
        <p:txBody>
          <a:bodyPr/>
          <a:lstStyle/>
          <a:p>
            <a:r>
              <a:rPr lang="en-US"/>
              <a:t>Observations About Buckets</a:t>
            </a:r>
          </a:p>
        </p:txBody>
      </p:sp>
      <p:sp>
        <p:nvSpPr>
          <p:cNvPr id="43011" name="Rectangle 3"/>
          <p:cNvSpPr>
            <a:spLocks noGrp="1" noChangeArrowheads="1"/>
          </p:cNvSpPr>
          <p:nvPr>
            <p:ph type="body" idx="1"/>
          </p:nvPr>
        </p:nvSpPr>
        <p:spPr>
          <a:xfrm>
            <a:off x="457200" y="1295400"/>
            <a:ext cx="8534400" cy="5562600"/>
          </a:xfrm>
        </p:spPr>
        <p:txBody>
          <a:bodyPr>
            <a:normAutofit/>
          </a:bodyPr>
          <a:lstStyle/>
          <a:p>
            <a:pPr marL="609600" indent="-609600">
              <a:buFont typeface="Monotype Sorts" pitchFamily="2" charset="2"/>
              <a:buAutoNum type="arabicPeriod"/>
            </a:pPr>
            <a:r>
              <a:rPr lang="en-US" dirty="0"/>
              <a:t>A bucket that a frequent pair hashes to is surely frequent.</a:t>
            </a:r>
          </a:p>
          <a:p>
            <a:pPr marL="990600" lvl="1" indent="-533400"/>
            <a:r>
              <a:rPr lang="en-US" dirty="0"/>
              <a:t>We cannot eliminate any member of this bucket.</a:t>
            </a:r>
          </a:p>
          <a:p>
            <a:pPr marL="609600" indent="-609600">
              <a:buFont typeface="Monotype Sorts" pitchFamily="2" charset="2"/>
              <a:buAutoNum type="arabicPeriod"/>
            </a:pPr>
            <a:r>
              <a:rPr lang="en-US" dirty="0"/>
              <a:t>Even without any frequent pair, a bucket can be frequent.</a:t>
            </a:r>
          </a:p>
          <a:p>
            <a:pPr marL="990600" lvl="1" indent="-533400"/>
            <a:r>
              <a:rPr lang="en-US" dirty="0"/>
              <a:t>Again, nothing in the bucket can be eliminated.</a:t>
            </a:r>
          </a:p>
          <a:p>
            <a:pPr marL="633222" indent="-514350">
              <a:buFont typeface="+mj-lt"/>
              <a:buAutoNum type="arabicPeriod"/>
            </a:pPr>
            <a:r>
              <a:rPr lang="en-US" dirty="0"/>
              <a:t>But if the count for a bucket is less than the support </a:t>
            </a:r>
            <a:r>
              <a:rPr lang="en-US" i="1" dirty="0"/>
              <a:t>s</a:t>
            </a:r>
            <a:r>
              <a:rPr lang="en-US" dirty="0"/>
              <a:t>, all pairs that hash to this bucket can be eliminated, even if the pair consists of two frequent items.</a:t>
            </a:r>
          </a:p>
        </p:txBody>
      </p:sp>
    </p:spTree>
    <p:extLst>
      <p:ext uri="{BB962C8B-B14F-4D97-AF65-F5344CB8AC3E}">
        <p14:creationId xmlns:p14="http://schemas.microsoft.com/office/powerpoint/2010/main" val="4738199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301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3011">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3011">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3011">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301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1"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14FF0225-3D03-43BE-8EA5-15565032F1DF}" type="slidenum">
              <a:rPr lang="en-US"/>
              <a:pPr/>
              <a:t>9</a:t>
            </a:fld>
            <a:endParaRPr lang="en-US"/>
          </a:p>
        </p:txBody>
      </p:sp>
      <p:sp>
        <p:nvSpPr>
          <p:cNvPr id="27650" name="Rectangle 2"/>
          <p:cNvSpPr>
            <a:spLocks noGrp="1" noChangeArrowheads="1"/>
          </p:cNvSpPr>
          <p:nvPr>
            <p:ph type="title"/>
          </p:nvPr>
        </p:nvSpPr>
        <p:spPr/>
        <p:txBody>
          <a:bodyPr/>
          <a:lstStyle/>
          <a:p>
            <a:r>
              <a:rPr lang="en-US" sz="4200" dirty="0"/>
              <a:t>PCY Algorithm – Between Passes</a:t>
            </a:r>
          </a:p>
        </p:txBody>
      </p:sp>
      <p:sp>
        <p:nvSpPr>
          <p:cNvPr id="27651" name="Rectangle 3"/>
          <p:cNvSpPr>
            <a:spLocks noGrp="1" noChangeArrowheads="1"/>
          </p:cNvSpPr>
          <p:nvPr>
            <p:ph type="body" idx="1"/>
          </p:nvPr>
        </p:nvSpPr>
        <p:spPr>
          <a:xfrm>
            <a:off x="304800" y="1371600"/>
            <a:ext cx="8382000" cy="4038600"/>
          </a:xfrm>
        </p:spPr>
        <p:txBody>
          <a:bodyPr/>
          <a:lstStyle/>
          <a:p>
            <a:r>
              <a:rPr lang="en-US" dirty="0"/>
              <a:t>Replace the buckets by a bit-vector (the “</a:t>
            </a:r>
            <a:r>
              <a:rPr lang="en-US" dirty="0">
                <a:solidFill>
                  <a:srgbClr val="008000"/>
                </a:solidFill>
              </a:rPr>
              <a:t>bitmap</a:t>
            </a:r>
            <a:r>
              <a:rPr lang="en-US" dirty="0"/>
              <a:t>”):</a:t>
            </a:r>
          </a:p>
          <a:p>
            <a:pPr lvl="1"/>
            <a:r>
              <a:rPr lang="en-US" dirty="0"/>
              <a:t>1 means the bucket is frequent; 0 means it is not.</a:t>
            </a:r>
          </a:p>
          <a:p>
            <a:r>
              <a:rPr lang="en-US" dirty="0"/>
              <a:t>Also, decide which items are frequent and list them for the second pass.</a:t>
            </a:r>
          </a:p>
        </p:txBody>
      </p:sp>
    </p:spTree>
    <p:extLst>
      <p:ext uri="{BB962C8B-B14F-4D97-AF65-F5344CB8AC3E}">
        <p14:creationId xmlns:p14="http://schemas.microsoft.com/office/powerpoint/2010/main" val="19289495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790D186B-18BA-416B-A434-2D84D3C53C01}" type="slidenum">
              <a:rPr lang="en-US"/>
              <a:pPr/>
              <a:t>10</a:t>
            </a:fld>
            <a:endParaRPr lang="en-US"/>
          </a:p>
        </p:txBody>
      </p:sp>
      <p:sp>
        <p:nvSpPr>
          <p:cNvPr id="29698" name="Rectangle 2"/>
          <p:cNvSpPr>
            <a:spLocks noGrp="1" noChangeArrowheads="1"/>
          </p:cNvSpPr>
          <p:nvPr>
            <p:ph type="title"/>
          </p:nvPr>
        </p:nvSpPr>
        <p:spPr/>
        <p:txBody>
          <a:bodyPr/>
          <a:lstStyle/>
          <a:p>
            <a:r>
              <a:rPr lang="en-US"/>
              <a:t>PCY Algorithm – Pass 2</a:t>
            </a:r>
          </a:p>
        </p:txBody>
      </p:sp>
      <p:sp>
        <p:nvSpPr>
          <p:cNvPr id="29699" name="Rectangle 3"/>
          <p:cNvSpPr>
            <a:spLocks noGrp="1" noChangeArrowheads="1"/>
          </p:cNvSpPr>
          <p:nvPr>
            <p:ph type="body" idx="1"/>
          </p:nvPr>
        </p:nvSpPr>
        <p:spPr/>
        <p:txBody>
          <a:bodyPr/>
          <a:lstStyle/>
          <a:p>
            <a:pPr marL="609600" indent="-609600"/>
            <a:r>
              <a:rPr lang="en-US" dirty="0"/>
              <a:t>Count all pairs {</a:t>
            </a:r>
            <a:r>
              <a:rPr lang="en-US" i="1" dirty="0" err="1"/>
              <a:t>i</a:t>
            </a:r>
            <a:r>
              <a:rPr lang="en-US" dirty="0"/>
              <a:t>, </a:t>
            </a:r>
            <a:r>
              <a:rPr lang="en-US" i="1" dirty="0"/>
              <a:t>j</a:t>
            </a:r>
            <a:r>
              <a:rPr lang="en-US" dirty="0"/>
              <a:t>} that meet the conditions for being a </a:t>
            </a:r>
            <a:r>
              <a:rPr lang="en-US" dirty="0">
                <a:solidFill>
                  <a:srgbClr val="CC6600"/>
                </a:solidFill>
              </a:rPr>
              <a:t>candidate pair</a:t>
            </a:r>
            <a:r>
              <a:rPr lang="en-US" dirty="0"/>
              <a:t>:</a:t>
            </a:r>
          </a:p>
          <a:p>
            <a:pPr marL="990600" lvl="1" indent="-533400">
              <a:buFont typeface="Monotype Sorts" pitchFamily="2" charset="2"/>
              <a:buAutoNum type="arabicPeriod"/>
            </a:pPr>
            <a:r>
              <a:rPr lang="en-US" dirty="0"/>
              <a:t>Both </a:t>
            </a:r>
            <a:r>
              <a:rPr lang="en-US" i="1" dirty="0" err="1"/>
              <a:t>i</a:t>
            </a:r>
            <a:r>
              <a:rPr lang="en-US" dirty="0"/>
              <a:t> and </a:t>
            </a:r>
            <a:r>
              <a:rPr lang="en-US" i="1" dirty="0"/>
              <a:t>j</a:t>
            </a:r>
            <a:r>
              <a:rPr lang="en-US" dirty="0"/>
              <a:t> are frequent items.</a:t>
            </a:r>
          </a:p>
          <a:p>
            <a:pPr marL="990600" lvl="1" indent="-533400">
              <a:buFont typeface="Monotype Sorts" pitchFamily="2" charset="2"/>
              <a:buAutoNum type="arabicPeriod"/>
            </a:pPr>
            <a:r>
              <a:rPr lang="en-US" dirty="0"/>
              <a:t>The pair {</a:t>
            </a:r>
            <a:r>
              <a:rPr lang="en-US" i="1" dirty="0" err="1"/>
              <a:t>i</a:t>
            </a:r>
            <a:r>
              <a:rPr lang="en-US" dirty="0"/>
              <a:t>, </a:t>
            </a:r>
            <a:r>
              <a:rPr lang="en-US" i="1" dirty="0"/>
              <a:t>j</a:t>
            </a:r>
            <a:r>
              <a:rPr lang="en-US" dirty="0"/>
              <a:t>}, hashes to a bucket number whose bit in the bit vector is 1.</a:t>
            </a:r>
          </a:p>
        </p:txBody>
      </p:sp>
    </p:spTree>
    <p:extLst>
      <p:ext uri="{BB962C8B-B14F-4D97-AF65-F5344CB8AC3E}">
        <p14:creationId xmlns:p14="http://schemas.microsoft.com/office/powerpoint/2010/main" val="3945157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69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969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9"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B6C952AC-A928-429F-9F2E-5E5C5CAB579E}" type="slidenum">
              <a:rPr lang="en-US"/>
              <a:pPr/>
              <a:t>11</a:t>
            </a:fld>
            <a:endParaRPr lang="en-US"/>
          </a:p>
        </p:txBody>
      </p:sp>
      <p:sp>
        <p:nvSpPr>
          <p:cNvPr id="25602" name="Rectangle 2"/>
          <p:cNvSpPr>
            <a:spLocks noGrp="1" noChangeArrowheads="1"/>
          </p:cNvSpPr>
          <p:nvPr>
            <p:ph type="title"/>
          </p:nvPr>
        </p:nvSpPr>
        <p:spPr/>
        <p:txBody>
          <a:bodyPr/>
          <a:lstStyle/>
          <a:p>
            <a:r>
              <a:rPr lang="en-US"/>
              <a:t>Memory Details</a:t>
            </a:r>
          </a:p>
        </p:txBody>
      </p:sp>
      <p:sp>
        <p:nvSpPr>
          <p:cNvPr id="25603" name="Rectangle 3"/>
          <p:cNvSpPr>
            <a:spLocks noGrp="1" noChangeArrowheads="1"/>
          </p:cNvSpPr>
          <p:nvPr>
            <p:ph type="body" idx="1"/>
          </p:nvPr>
        </p:nvSpPr>
        <p:spPr/>
        <p:txBody>
          <a:bodyPr/>
          <a:lstStyle/>
          <a:p>
            <a:r>
              <a:rPr lang="en-US" dirty="0"/>
              <a:t>Buckets require a few bytes each.</a:t>
            </a:r>
          </a:p>
          <a:p>
            <a:pPr lvl="1"/>
            <a:r>
              <a:rPr lang="en-US" dirty="0">
                <a:solidFill>
                  <a:schemeClr val="accent2"/>
                </a:solidFill>
              </a:rPr>
              <a:t>Note</a:t>
            </a:r>
            <a:r>
              <a:rPr lang="en-US" dirty="0"/>
              <a:t>: we don’t have to count past </a:t>
            </a:r>
            <a:r>
              <a:rPr lang="en-US" i="1" dirty="0"/>
              <a:t>s</a:t>
            </a:r>
            <a:r>
              <a:rPr lang="en-US" dirty="0"/>
              <a:t>.</a:t>
            </a:r>
          </a:p>
          <a:p>
            <a:pPr lvl="2"/>
            <a:r>
              <a:rPr lang="en-US" dirty="0"/>
              <a:t>If s &lt; 2</a:t>
            </a:r>
            <a:r>
              <a:rPr lang="en-US" baseline="30000" dirty="0"/>
              <a:t>16</a:t>
            </a:r>
            <a:r>
              <a:rPr lang="en-US" dirty="0"/>
              <a:t>, 2 bytes/bucket will do.</a:t>
            </a:r>
          </a:p>
          <a:p>
            <a:pPr lvl="1"/>
            <a:r>
              <a:rPr lang="en-US" dirty="0"/>
              <a:t># buckets is O(main-memory size).</a:t>
            </a:r>
          </a:p>
          <a:p>
            <a:r>
              <a:rPr lang="en-US" dirty="0"/>
              <a:t>On second pass, a table of </a:t>
            </a:r>
            <a:r>
              <a:rPr lang="en-US" dirty="0">
                <a:solidFill>
                  <a:srgbClr val="33CC33"/>
                </a:solidFill>
              </a:rPr>
              <a:t>(item, item, count)</a:t>
            </a:r>
            <a:r>
              <a:rPr lang="en-US" dirty="0"/>
              <a:t> triples is essential.</a:t>
            </a:r>
          </a:p>
          <a:p>
            <a:pPr lvl="1"/>
            <a:r>
              <a:rPr lang="en-US" dirty="0"/>
              <a:t>Thus, hash table on Pass 1 must eliminate 2/3 of the candidate pairs for PCY to beat a-priori.</a:t>
            </a:r>
          </a:p>
        </p:txBody>
      </p:sp>
    </p:spTree>
    <p:extLst>
      <p:ext uri="{BB962C8B-B14F-4D97-AF65-F5344CB8AC3E}">
        <p14:creationId xmlns:p14="http://schemas.microsoft.com/office/powerpoint/2010/main" val="31680573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60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60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More Extensions to A-Priori</a:t>
            </a:r>
          </a:p>
        </p:txBody>
      </p:sp>
      <p:sp>
        <p:nvSpPr>
          <p:cNvPr id="3" name="Content Placeholder 2"/>
          <p:cNvSpPr>
            <a:spLocks noGrp="1"/>
          </p:cNvSpPr>
          <p:nvPr>
            <p:ph idx="1"/>
          </p:nvPr>
        </p:nvSpPr>
        <p:spPr>
          <a:xfrm>
            <a:off x="76200" y="1295400"/>
            <a:ext cx="9067800" cy="5257801"/>
          </a:xfrm>
        </p:spPr>
        <p:txBody>
          <a:bodyPr/>
          <a:lstStyle/>
          <a:p>
            <a:r>
              <a:rPr lang="en-US" dirty="0"/>
              <a:t>The MMDS book covers several other extensions beyond the PCY idea: “Multistage” and “</a:t>
            </a:r>
            <a:r>
              <a:rPr lang="en-US" dirty="0" err="1"/>
              <a:t>Multihash</a:t>
            </a:r>
            <a:r>
              <a:rPr lang="en-US" dirty="0"/>
              <a:t>.”</a:t>
            </a:r>
          </a:p>
          <a:p>
            <a:r>
              <a:rPr lang="en-US" dirty="0"/>
              <a:t>For reading on your own, Sect. 6.4 of MMDS.</a:t>
            </a:r>
          </a:p>
        </p:txBody>
      </p:sp>
      <p:sp>
        <p:nvSpPr>
          <p:cNvPr id="4" name="Slide Number Placeholder 3"/>
          <p:cNvSpPr>
            <a:spLocks noGrp="1"/>
          </p:cNvSpPr>
          <p:nvPr>
            <p:ph type="sldNum" sz="quarter" idx="12"/>
          </p:nvPr>
        </p:nvSpPr>
        <p:spPr/>
        <p:txBody>
          <a:bodyPr/>
          <a:lstStyle/>
          <a:p>
            <a:fld id="{19B12225-5612-419B-A8D5-4B8EEE4C217E}" type="slidenum">
              <a:rPr lang="en-US" smtClean="0"/>
              <a:pPr/>
              <a:t>12</a:t>
            </a:fld>
            <a:endParaRPr lang="en-US" dirty="0"/>
          </a:p>
        </p:txBody>
      </p:sp>
    </p:spTree>
    <p:extLst>
      <p:ext uri="{BB962C8B-B14F-4D97-AF65-F5344CB8AC3E}">
        <p14:creationId xmlns:p14="http://schemas.microsoft.com/office/powerpoint/2010/main" val="10054894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9220200" cy="6858000"/>
            <a:chOff x="0" y="0"/>
            <a:chExt cx="9144000" cy="6858000"/>
          </a:xfrm>
        </p:grpSpPr>
        <p:pic>
          <p:nvPicPr>
            <p:cNvPr id="3" name="object 3"/>
            <p:cNvPicPr/>
            <p:nvPr/>
          </p:nvPicPr>
          <p:blipFill>
            <a:blip r:embed="rId2" cstate="print"/>
            <a:stretch>
              <a:fillRect/>
            </a:stretch>
          </p:blipFill>
          <p:spPr>
            <a:xfrm>
              <a:off x="0" y="0"/>
              <a:ext cx="9144000" cy="6858000"/>
            </a:xfrm>
            <a:prstGeom prst="rect">
              <a:avLst/>
            </a:prstGeom>
          </p:spPr>
        </p:pic>
        <p:sp>
          <p:nvSpPr>
            <p:cNvPr id="4" name="object 4"/>
            <p:cNvSpPr/>
            <p:nvPr/>
          </p:nvSpPr>
          <p:spPr>
            <a:xfrm>
              <a:off x="0" y="0"/>
              <a:ext cx="9144000" cy="5133975"/>
            </a:xfrm>
            <a:custGeom>
              <a:avLst/>
              <a:gdLst/>
              <a:ahLst/>
              <a:cxnLst/>
              <a:rect l="l" t="t" r="r" b="b"/>
              <a:pathLst>
                <a:path w="9144000" h="5133975">
                  <a:moveTo>
                    <a:pt x="9144000" y="0"/>
                  </a:moveTo>
                  <a:lnTo>
                    <a:pt x="0" y="0"/>
                  </a:lnTo>
                  <a:lnTo>
                    <a:pt x="0" y="5133975"/>
                  </a:lnTo>
                  <a:lnTo>
                    <a:pt x="9144000" y="5133975"/>
                  </a:lnTo>
                  <a:lnTo>
                    <a:pt x="9144000" y="0"/>
                  </a:lnTo>
                  <a:close/>
                </a:path>
              </a:pathLst>
            </a:custGeom>
            <a:solidFill>
              <a:srgbClr val="000000"/>
            </a:solidFill>
          </p:spPr>
          <p:txBody>
            <a:bodyPr wrap="square" lIns="0" tIns="0" rIns="0" bIns="0" rtlCol="0"/>
            <a:lstStyle/>
            <a:p>
              <a:endParaRPr/>
            </a:p>
          </p:txBody>
        </p:sp>
        <p:pic>
          <p:nvPicPr>
            <p:cNvPr id="5" name="object 5"/>
            <p:cNvPicPr/>
            <p:nvPr/>
          </p:nvPicPr>
          <p:blipFill>
            <a:blip r:embed="rId3" cstate="print"/>
            <a:stretch>
              <a:fillRect/>
            </a:stretch>
          </p:blipFill>
          <p:spPr>
            <a:xfrm>
              <a:off x="0" y="5086286"/>
              <a:ext cx="9144000" cy="138112"/>
            </a:xfrm>
            <a:prstGeom prst="rect">
              <a:avLst/>
            </a:prstGeom>
          </p:spPr>
        </p:pic>
        <p:sp>
          <p:nvSpPr>
            <p:cNvPr id="6" name="object 6"/>
            <p:cNvSpPr/>
            <p:nvPr/>
          </p:nvSpPr>
          <p:spPr>
            <a:xfrm>
              <a:off x="0" y="5124450"/>
              <a:ext cx="9144000" cy="47625"/>
            </a:xfrm>
            <a:custGeom>
              <a:avLst/>
              <a:gdLst/>
              <a:ahLst/>
              <a:cxnLst/>
              <a:rect l="l" t="t" r="r" b="b"/>
              <a:pathLst>
                <a:path w="9144000" h="47625">
                  <a:moveTo>
                    <a:pt x="9144000" y="0"/>
                  </a:moveTo>
                  <a:lnTo>
                    <a:pt x="0" y="0"/>
                  </a:lnTo>
                  <a:lnTo>
                    <a:pt x="0" y="47625"/>
                  </a:lnTo>
                  <a:lnTo>
                    <a:pt x="9144000" y="47625"/>
                  </a:lnTo>
                  <a:lnTo>
                    <a:pt x="9144000" y="0"/>
                  </a:lnTo>
                  <a:close/>
                </a:path>
              </a:pathLst>
            </a:custGeom>
            <a:solidFill>
              <a:srgbClr val="FFFFFF"/>
            </a:solidFill>
          </p:spPr>
          <p:txBody>
            <a:bodyPr wrap="square" lIns="0" tIns="0" rIns="0" bIns="0" rtlCol="0"/>
            <a:lstStyle/>
            <a:p>
              <a:endParaRPr/>
            </a:p>
          </p:txBody>
        </p:sp>
      </p:grpSp>
      <p:sp>
        <p:nvSpPr>
          <p:cNvPr id="11" name="TextBox 10">
            <a:extLst>
              <a:ext uri="{FF2B5EF4-FFF2-40B4-BE49-F238E27FC236}">
                <a16:creationId xmlns:a16="http://schemas.microsoft.com/office/drawing/2014/main" id="{2FC8D84B-8AF9-4ABB-AF8C-ED978638D2A0}"/>
              </a:ext>
            </a:extLst>
          </p:cNvPr>
          <p:cNvSpPr txBox="1"/>
          <p:nvPr/>
        </p:nvSpPr>
        <p:spPr>
          <a:xfrm>
            <a:off x="304800" y="1905000"/>
            <a:ext cx="8839200" cy="3600986"/>
          </a:xfrm>
          <a:prstGeom prst="rect">
            <a:avLst/>
          </a:prstGeom>
          <a:noFill/>
        </p:spPr>
        <p:txBody>
          <a:bodyPr wrap="square" rtlCol="0">
            <a:spAutoFit/>
          </a:bodyPr>
          <a:lstStyle/>
          <a:p>
            <a:pPr algn="ctr"/>
            <a:r>
              <a:rPr lang="en-AU" sz="4000" b="1" dirty="0">
                <a:solidFill>
                  <a:srgbClr val="C00000"/>
                </a:solidFill>
                <a:latin typeface="Palatino Linotype" panose="02040502050505030304" pitchFamily="18" charset="0"/>
              </a:rPr>
              <a:t>All or Most Frequent </a:t>
            </a:r>
            <a:r>
              <a:rPr lang="en-AU" sz="4000" b="1" dirty="0" err="1">
                <a:solidFill>
                  <a:srgbClr val="C00000"/>
                </a:solidFill>
                <a:latin typeface="Palatino Linotype" panose="02040502050505030304" pitchFamily="18" charset="0"/>
              </a:rPr>
              <a:t>Itemsets</a:t>
            </a:r>
            <a:r>
              <a:rPr lang="en-AU" sz="4000" b="1" dirty="0">
                <a:solidFill>
                  <a:srgbClr val="C00000"/>
                </a:solidFill>
                <a:latin typeface="Palatino Linotype" panose="02040502050505030304" pitchFamily="18" charset="0"/>
              </a:rPr>
              <a:t> </a:t>
            </a:r>
          </a:p>
          <a:p>
            <a:pPr algn="ctr"/>
            <a:r>
              <a:rPr lang="en-AU" sz="4000" b="1" dirty="0">
                <a:solidFill>
                  <a:srgbClr val="C00000"/>
                </a:solidFill>
                <a:latin typeface="Palatino Linotype" panose="02040502050505030304" pitchFamily="18" charset="0"/>
              </a:rPr>
              <a:t>in ≤ 2 passes</a:t>
            </a:r>
          </a:p>
          <a:p>
            <a:pPr algn="ctr"/>
            <a:endParaRPr lang="en-AU" sz="4000" b="1" dirty="0">
              <a:solidFill>
                <a:srgbClr val="C00000"/>
              </a:solidFill>
              <a:latin typeface="Palatino Linotype" panose="02040502050505030304" pitchFamily="18" charset="0"/>
            </a:endParaRPr>
          </a:p>
          <a:p>
            <a:pPr marL="571500" indent="-571500">
              <a:buFont typeface="Wingdings" panose="05000000000000000000" pitchFamily="2" charset="2"/>
              <a:buChar char="Ø"/>
            </a:pPr>
            <a:r>
              <a:rPr lang="en-AU" sz="2400" b="1" dirty="0">
                <a:solidFill>
                  <a:srgbClr val="FFC000"/>
                </a:solidFill>
                <a:latin typeface="Palatino Linotype" panose="02040502050505030304" pitchFamily="18" charset="0"/>
              </a:rPr>
              <a:t>Simple Algorithm</a:t>
            </a:r>
          </a:p>
          <a:p>
            <a:pPr marL="571500" indent="-571500">
              <a:buFont typeface="Wingdings" panose="05000000000000000000" pitchFamily="2" charset="2"/>
              <a:buChar char="Ø"/>
            </a:pPr>
            <a:r>
              <a:rPr lang="en-AU" sz="2400" b="1" dirty="0" err="1">
                <a:solidFill>
                  <a:srgbClr val="FFC000"/>
                </a:solidFill>
                <a:latin typeface="Palatino Linotype" panose="02040502050505030304" pitchFamily="18" charset="0"/>
              </a:rPr>
              <a:t>Savasere-Omiecinski</a:t>
            </a:r>
            <a:r>
              <a:rPr lang="en-AU" sz="2400" b="1" dirty="0">
                <a:solidFill>
                  <a:srgbClr val="FFC000"/>
                </a:solidFill>
                <a:latin typeface="Palatino Linotype" panose="02040502050505030304" pitchFamily="18" charset="0"/>
              </a:rPr>
              <a:t>- </a:t>
            </a:r>
            <a:r>
              <a:rPr lang="en-AU" sz="2400" b="1" dirty="0" err="1">
                <a:solidFill>
                  <a:srgbClr val="FFC000"/>
                </a:solidFill>
                <a:latin typeface="Palatino Linotype" panose="02040502050505030304" pitchFamily="18" charset="0"/>
              </a:rPr>
              <a:t>Navathe</a:t>
            </a:r>
            <a:r>
              <a:rPr lang="en-AU" sz="2400" b="1" dirty="0">
                <a:solidFill>
                  <a:srgbClr val="FFC000"/>
                </a:solidFill>
                <a:latin typeface="Palatino Linotype" panose="02040502050505030304" pitchFamily="18" charset="0"/>
              </a:rPr>
              <a:t> (SON) Algorithm</a:t>
            </a:r>
          </a:p>
          <a:p>
            <a:pPr marL="571500" indent="-571500">
              <a:buFont typeface="Wingdings" panose="05000000000000000000" pitchFamily="2" charset="2"/>
              <a:buChar char="Ø"/>
            </a:pPr>
            <a:r>
              <a:rPr lang="en-AU" sz="2400" b="1" dirty="0" err="1">
                <a:solidFill>
                  <a:srgbClr val="FFC000"/>
                </a:solidFill>
                <a:latin typeface="Palatino Linotype" panose="02040502050505030304" pitchFamily="18" charset="0"/>
              </a:rPr>
              <a:t>Toivonen’s</a:t>
            </a:r>
            <a:r>
              <a:rPr lang="en-AU" sz="2400" b="1" dirty="0">
                <a:solidFill>
                  <a:srgbClr val="FFC000"/>
                </a:solidFill>
                <a:latin typeface="Palatino Linotype" panose="02040502050505030304" pitchFamily="18" charset="0"/>
              </a:rPr>
              <a:t> Algorithm</a:t>
            </a:r>
          </a:p>
          <a:p>
            <a:pPr marL="571500" indent="-571500" algn="ctr">
              <a:buFont typeface="Wingdings" panose="05000000000000000000" pitchFamily="2" charset="2"/>
              <a:buChar char="Ø"/>
            </a:pPr>
            <a:endParaRPr lang="en-US" sz="3600" b="1" dirty="0">
              <a:solidFill>
                <a:srgbClr val="C00000"/>
              </a:solidFill>
              <a:latin typeface="Palatino Linotype" panose="02040502050505030304" pitchFamily="18" charset="0"/>
            </a:endParaRPr>
          </a:p>
        </p:txBody>
      </p:sp>
      <p:sp>
        <p:nvSpPr>
          <p:cNvPr id="9" name="Slide Number Placeholder 8">
            <a:extLst>
              <a:ext uri="{FF2B5EF4-FFF2-40B4-BE49-F238E27FC236}">
                <a16:creationId xmlns:a16="http://schemas.microsoft.com/office/drawing/2014/main" id="{6BAE21F5-5C78-4216-A7A9-B07602EE8294}"/>
              </a:ext>
            </a:extLst>
          </p:cNvPr>
          <p:cNvSpPr>
            <a:spLocks noGrp="1"/>
          </p:cNvSpPr>
          <p:nvPr>
            <p:ph type="sldNum" sz="quarter" idx="7"/>
          </p:nvPr>
        </p:nvSpPr>
        <p:spPr>
          <a:xfrm>
            <a:off x="8704960" y="6736715"/>
            <a:ext cx="190500" cy="139700"/>
          </a:xfrm>
          <a:prstGeom prst="rect">
            <a:avLst/>
          </a:prstGeom>
        </p:spPr>
        <p:txBody>
          <a:bodyPr wrap="square" lIns="0" tIns="0" rIns="0" bIns="0">
            <a:spAutoFit/>
          </a:bodyPr>
          <a:lstStyle>
            <a:defPPr>
              <a:defRPr lang="en-US"/>
            </a:defPPr>
            <a:lvl1pPr marL="0" algn="l" defTabSz="914400" rtl="0" eaLnBrk="1" latinLnBrk="0" hangingPunct="1">
              <a:defRPr sz="900" b="0" i="0" kern="1200">
                <a:solidFill>
                  <a:srgbClr val="3E3E3E"/>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a:lnSpc>
                <a:spcPts val="955"/>
              </a:lnSpc>
            </a:pPr>
            <a:fld id="{81D60167-4931-47E6-BA6A-407CBD079E47}" type="slidenum">
              <a:rPr lang="en-US" smtClean="0"/>
              <a:pPr marL="38100">
                <a:lnSpc>
                  <a:spcPts val="955"/>
                </a:lnSpc>
              </a:pPr>
              <a:t>13</a:t>
            </a:fld>
            <a:endParaRPr lang="en-US" dirty="0"/>
          </a:p>
        </p:txBody>
      </p:sp>
    </p:spTree>
    <p:extLst>
      <p:ext uri="{BB962C8B-B14F-4D97-AF65-F5344CB8AC3E}">
        <p14:creationId xmlns:p14="http://schemas.microsoft.com/office/powerpoint/2010/main" val="35788629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E44ADB98-0E0C-40E1-8A93-BEFC8248B511}" type="slidenum">
              <a:rPr lang="en-US"/>
              <a:pPr/>
              <a:t>14</a:t>
            </a:fld>
            <a:endParaRPr lang="en-US"/>
          </a:p>
        </p:txBody>
      </p:sp>
      <p:sp>
        <p:nvSpPr>
          <p:cNvPr id="17410" name="Rectangle 2"/>
          <p:cNvSpPr>
            <a:spLocks noGrp="1" noChangeArrowheads="1"/>
          </p:cNvSpPr>
          <p:nvPr>
            <p:ph type="title"/>
          </p:nvPr>
        </p:nvSpPr>
        <p:spPr/>
        <p:txBody>
          <a:bodyPr/>
          <a:lstStyle/>
          <a:p>
            <a:r>
              <a:rPr lang="en-US" dirty="0"/>
              <a:t>Simple Algorithm</a:t>
            </a:r>
          </a:p>
        </p:txBody>
      </p:sp>
      <p:sp>
        <p:nvSpPr>
          <p:cNvPr id="17411" name="Rectangle 3"/>
          <p:cNvSpPr>
            <a:spLocks noGrp="1" noChangeArrowheads="1"/>
          </p:cNvSpPr>
          <p:nvPr>
            <p:ph type="body" idx="1"/>
          </p:nvPr>
        </p:nvSpPr>
        <p:spPr>
          <a:xfrm>
            <a:off x="609600" y="1371600"/>
            <a:ext cx="8153400" cy="5486400"/>
          </a:xfrm>
        </p:spPr>
        <p:txBody>
          <a:bodyPr>
            <a:normAutofit/>
          </a:bodyPr>
          <a:lstStyle/>
          <a:p>
            <a:r>
              <a:rPr lang="en-US" dirty="0"/>
              <a:t>Take a random sample of the market baskets.</a:t>
            </a:r>
          </a:p>
          <a:p>
            <a:pPr lvl="1"/>
            <a:r>
              <a:rPr lang="en-US" dirty="0">
                <a:solidFill>
                  <a:schemeClr val="accent1">
                    <a:lumMod val="75000"/>
                  </a:schemeClr>
                </a:solidFill>
              </a:rPr>
              <a:t>Do not sneer</a:t>
            </a:r>
            <a:r>
              <a:rPr lang="en-US" dirty="0"/>
              <a:t>; “random sample” is often a cure for the problem of having too large a dataset.</a:t>
            </a:r>
          </a:p>
          <a:p>
            <a:r>
              <a:rPr lang="en-US" dirty="0"/>
              <a:t>Run a-priori or one of its improvements (for sets of all sizes, not just pairs) in main memory, so you don’t pay for disk I/O each time you increase the size of </a:t>
            </a:r>
            <a:r>
              <a:rPr lang="en-US" dirty="0" err="1"/>
              <a:t>itemsets</a:t>
            </a:r>
            <a:r>
              <a:rPr lang="en-US" dirty="0"/>
              <a:t>.</a:t>
            </a:r>
          </a:p>
          <a:p>
            <a:r>
              <a:rPr lang="en-US" dirty="0"/>
              <a:t>Use as your support threshold a suitable, scaled-back number.</a:t>
            </a:r>
          </a:p>
          <a:p>
            <a:pPr lvl="1"/>
            <a:r>
              <a:rPr lang="en-US" dirty="0">
                <a:solidFill>
                  <a:srgbClr val="00B050"/>
                </a:solidFill>
              </a:rPr>
              <a:t>Example</a:t>
            </a:r>
            <a:r>
              <a:rPr lang="en-US" dirty="0"/>
              <a:t>: if your sample is 1/100 of the baskets, use  </a:t>
            </a:r>
            <a:r>
              <a:rPr lang="en-US" i="1" dirty="0"/>
              <a:t>s</a:t>
            </a:r>
            <a:r>
              <a:rPr lang="en-US" dirty="0"/>
              <a:t>/100 as your support threshold instead of </a:t>
            </a:r>
            <a:r>
              <a:rPr lang="en-US" i="1" dirty="0"/>
              <a:t>s</a:t>
            </a:r>
            <a:r>
              <a:rPr lang="en-US" dirty="0"/>
              <a:t>.</a:t>
            </a:r>
          </a:p>
          <a:p>
            <a:endParaRPr lang="en-US" dirty="0"/>
          </a:p>
        </p:txBody>
      </p:sp>
    </p:spTree>
    <p:extLst>
      <p:ext uri="{BB962C8B-B14F-4D97-AF65-F5344CB8AC3E}">
        <p14:creationId xmlns:p14="http://schemas.microsoft.com/office/powerpoint/2010/main" val="3838879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411">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411">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741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1"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BE6B27E4-BAD5-499D-8EB1-A589C77E393B}" type="slidenum">
              <a:rPr lang="en-US"/>
              <a:pPr/>
              <a:t>15</a:t>
            </a:fld>
            <a:endParaRPr lang="en-US"/>
          </a:p>
        </p:txBody>
      </p:sp>
      <p:sp>
        <p:nvSpPr>
          <p:cNvPr id="39938" name="Rectangle 2"/>
          <p:cNvSpPr>
            <a:spLocks noGrp="1" noChangeArrowheads="1"/>
          </p:cNvSpPr>
          <p:nvPr>
            <p:ph type="title"/>
          </p:nvPr>
        </p:nvSpPr>
        <p:spPr>
          <a:xfrm>
            <a:off x="12526" y="0"/>
            <a:ext cx="9144000" cy="1143000"/>
          </a:xfrm>
        </p:spPr>
        <p:txBody>
          <a:bodyPr/>
          <a:lstStyle/>
          <a:p>
            <a:r>
              <a:rPr lang="en-US" dirty="0"/>
              <a:t>Simple Algorithm – Option</a:t>
            </a:r>
          </a:p>
        </p:txBody>
      </p:sp>
      <p:sp>
        <p:nvSpPr>
          <p:cNvPr id="39939" name="Rectangle 3"/>
          <p:cNvSpPr>
            <a:spLocks noGrp="1" noChangeArrowheads="1"/>
          </p:cNvSpPr>
          <p:nvPr>
            <p:ph type="body" idx="1"/>
          </p:nvPr>
        </p:nvSpPr>
        <p:spPr>
          <a:xfrm>
            <a:off x="609600" y="1447800"/>
            <a:ext cx="7772400" cy="4419600"/>
          </a:xfrm>
        </p:spPr>
        <p:txBody>
          <a:bodyPr/>
          <a:lstStyle/>
          <a:p>
            <a:r>
              <a:rPr lang="en-US" dirty="0"/>
              <a:t>Optionally, verify that your guesses are truly frequent in the entire data set by a second pass.</a:t>
            </a:r>
          </a:p>
          <a:p>
            <a:r>
              <a:rPr lang="en-US" dirty="0"/>
              <a:t>But you don’t catch sets frequent in the whole but not in the sample.</a:t>
            </a:r>
          </a:p>
          <a:p>
            <a:pPr lvl="1"/>
            <a:r>
              <a:rPr lang="en-US" dirty="0"/>
              <a:t>Smaller threshold, e.g., </a:t>
            </a:r>
            <a:r>
              <a:rPr lang="en-US" i="1" dirty="0"/>
              <a:t>s</a:t>
            </a:r>
            <a:r>
              <a:rPr lang="en-US" dirty="0"/>
              <a:t>/125 instead of </a:t>
            </a:r>
            <a:r>
              <a:rPr lang="en-US" i="1" dirty="0"/>
              <a:t>s</a:t>
            </a:r>
            <a:r>
              <a:rPr lang="en-US" dirty="0"/>
              <a:t>/100, helps catch more truly frequent </a:t>
            </a:r>
            <a:r>
              <a:rPr lang="en-US" dirty="0" err="1"/>
              <a:t>itemsets</a:t>
            </a:r>
            <a:r>
              <a:rPr lang="en-US" dirty="0"/>
              <a:t>.</a:t>
            </a:r>
          </a:p>
          <a:p>
            <a:pPr lvl="2"/>
            <a:r>
              <a:rPr lang="en-US" dirty="0"/>
              <a:t>But requires more space.</a:t>
            </a:r>
          </a:p>
        </p:txBody>
      </p:sp>
    </p:spTree>
    <p:extLst>
      <p:ext uri="{BB962C8B-B14F-4D97-AF65-F5344CB8AC3E}">
        <p14:creationId xmlns:p14="http://schemas.microsoft.com/office/powerpoint/2010/main" val="31709217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93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9939">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993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9"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C353E04A-D3BE-4577-8E5A-81187D215FAC}" type="slidenum">
              <a:rPr lang="en-US"/>
              <a:pPr/>
              <a:t>16</a:t>
            </a:fld>
            <a:endParaRPr lang="en-US"/>
          </a:p>
        </p:txBody>
      </p:sp>
      <p:sp>
        <p:nvSpPr>
          <p:cNvPr id="19458" name="Rectangle 2"/>
          <p:cNvSpPr>
            <a:spLocks noGrp="1" noChangeArrowheads="1"/>
          </p:cNvSpPr>
          <p:nvPr>
            <p:ph type="title"/>
          </p:nvPr>
        </p:nvSpPr>
        <p:spPr/>
        <p:txBody>
          <a:bodyPr/>
          <a:lstStyle/>
          <a:p>
            <a:r>
              <a:rPr lang="en-US" dirty="0"/>
              <a:t>SON Algorithm</a:t>
            </a:r>
          </a:p>
        </p:txBody>
      </p:sp>
      <p:sp>
        <p:nvSpPr>
          <p:cNvPr id="19459" name="Rectangle 3"/>
          <p:cNvSpPr>
            <a:spLocks noGrp="1" noChangeArrowheads="1"/>
          </p:cNvSpPr>
          <p:nvPr>
            <p:ph type="body" idx="1"/>
          </p:nvPr>
        </p:nvSpPr>
        <p:spPr>
          <a:xfrm>
            <a:off x="457200" y="1295400"/>
            <a:ext cx="8534400" cy="5562600"/>
          </a:xfrm>
        </p:spPr>
        <p:txBody>
          <a:bodyPr>
            <a:normAutofit/>
          </a:bodyPr>
          <a:lstStyle/>
          <a:p>
            <a:r>
              <a:rPr lang="en-US" dirty="0"/>
              <a:t>Partition the baskets into small subsets.</a:t>
            </a:r>
          </a:p>
          <a:p>
            <a:r>
              <a:rPr lang="en-US" dirty="0"/>
              <a:t>Read each subset into main memory and perform the first pass of the simple algorithm on each subset.</a:t>
            </a:r>
          </a:p>
          <a:p>
            <a:pPr lvl="1"/>
            <a:r>
              <a:rPr lang="en-US" dirty="0"/>
              <a:t>Parallel processing of the subsets a good option.</a:t>
            </a:r>
          </a:p>
          <a:p>
            <a:r>
              <a:rPr lang="en-US" dirty="0"/>
              <a:t>An </a:t>
            </a:r>
            <a:r>
              <a:rPr lang="en-US" dirty="0" err="1"/>
              <a:t>itemset</a:t>
            </a:r>
            <a:r>
              <a:rPr lang="en-US" dirty="0"/>
              <a:t> is a candidate if it is frequent (with support threshold suitably scaled down) in </a:t>
            </a:r>
            <a:r>
              <a:rPr lang="en-US" i="1" dirty="0">
                <a:solidFill>
                  <a:srgbClr val="00B050"/>
                </a:solidFill>
              </a:rPr>
              <a:t>at least one</a:t>
            </a:r>
            <a:r>
              <a:rPr lang="en-US" dirty="0"/>
              <a:t> subset.</a:t>
            </a:r>
          </a:p>
        </p:txBody>
      </p:sp>
    </p:spTree>
    <p:extLst>
      <p:ext uri="{BB962C8B-B14F-4D97-AF65-F5344CB8AC3E}">
        <p14:creationId xmlns:p14="http://schemas.microsoft.com/office/powerpoint/2010/main" val="23444147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459">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45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9"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56EA79B2-8F0A-4F20-A364-7E74D7D8436F}" type="slidenum">
              <a:rPr lang="en-US"/>
              <a:pPr/>
              <a:t>17</a:t>
            </a:fld>
            <a:endParaRPr lang="en-US"/>
          </a:p>
        </p:txBody>
      </p:sp>
      <p:sp>
        <p:nvSpPr>
          <p:cNvPr id="20482" name="Rectangle 2"/>
          <p:cNvSpPr>
            <a:spLocks noGrp="1" noChangeArrowheads="1"/>
          </p:cNvSpPr>
          <p:nvPr>
            <p:ph type="title"/>
          </p:nvPr>
        </p:nvSpPr>
        <p:spPr/>
        <p:txBody>
          <a:bodyPr/>
          <a:lstStyle/>
          <a:p>
            <a:r>
              <a:rPr lang="en-US" dirty="0"/>
              <a:t>SON Algorithm – Pass 2</a:t>
            </a:r>
          </a:p>
        </p:txBody>
      </p:sp>
      <p:sp>
        <p:nvSpPr>
          <p:cNvPr id="20483" name="Rectangle 3"/>
          <p:cNvSpPr>
            <a:spLocks noGrp="1" noChangeArrowheads="1"/>
          </p:cNvSpPr>
          <p:nvPr>
            <p:ph type="body" idx="1"/>
          </p:nvPr>
        </p:nvSpPr>
        <p:spPr/>
        <p:txBody>
          <a:bodyPr/>
          <a:lstStyle/>
          <a:p>
            <a:r>
              <a:rPr lang="en-US" dirty="0"/>
              <a:t>On a second pass, count all the candidate </a:t>
            </a:r>
            <a:r>
              <a:rPr lang="en-US" dirty="0" err="1"/>
              <a:t>itemsets</a:t>
            </a:r>
            <a:r>
              <a:rPr lang="en-US" dirty="0"/>
              <a:t> and determine which are frequent in the entire set.</a:t>
            </a:r>
          </a:p>
          <a:p>
            <a:r>
              <a:rPr lang="en-US" dirty="0">
                <a:solidFill>
                  <a:schemeClr val="accent1">
                    <a:lumMod val="75000"/>
                  </a:schemeClr>
                </a:solidFill>
              </a:rPr>
              <a:t>Key “monotonicity” idea</a:t>
            </a:r>
            <a:r>
              <a:rPr lang="en-US" dirty="0"/>
              <a:t>: an </a:t>
            </a:r>
            <a:r>
              <a:rPr lang="en-US" dirty="0" err="1"/>
              <a:t>itemset</a:t>
            </a:r>
            <a:r>
              <a:rPr lang="en-US" dirty="0"/>
              <a:t> cannot be frequent in the entire set of baskets unless it is frequent in at least one subset.</a:t>
            </a:r>
          </a:p>
        </p:txBody>
      </p:sp>
    </p:spTree>
    <p:extLst>
      <p:ext uri="{BB962C8B-B14F-4D97-AF65-F5344CB8AC3E}">
        <p14:creationId xmlns:p14="http://schemas.microsoft.com/office/powerpoint/2010/main" val="34554379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644C3630-4514-4056-A6BC-D1CB59277CC0}" type="slidenum">
              <a:rPr lang="en-US"/>
              <a:pPr/>
              <a:t>18</a:t>
            </a:fld>
            <a:endParaRPr lang="en-US"/>
          </a:p>
        </p:txBody>
      </p:sp>
      <p:sp>
        <p:nvSpPr>
          <p:cNvPr id="21506" name="Rectangle 2"/>
          <p:cNvSpPr>
            <a:spLocks noGrp="1" noChangeArrowheads="1"/>
          </p:cNvSpPr>
          <p:nvPr>
            <p:ph type="title"/>
          </p:nvPr>
        </p:nvSpPr>
        <p:spPr/>
        <p:txBody>
          <a:bodyPr/>
          <a:lstStyle/>
          <a:p>
            <a:r>
              <a:rPr lang="en-US" dirty="0" err="1"/>
              <a:t>Toivonen’s</a:t>
            </a:r>
            <a:r>
              <a:rPr lang="en-US" dirty="0"/>
              <a:t> Algorithm</a:t>
            </a:r>
          </a:p>
        </p:txBody>
      </p:sp>
      <p:sp>
        <p:nvSpPr>
          <p:cNvPr id="21507" name="Rectangle 3"/>
          <p:cNvSpPr>
            <a:spLocks noGrp="1" noChangeArrowheads="1"/>
          </p:cNvSpPr>
          <p:nvPr>
            <p:ph type="body" idx="1"/>
          </p:nvPr>
        </p:nvSpPr>
        <p:spPr/>
        <p:txBody>
          <a:bodyPr/>
          <a:lstStyle/>
          <a:p>
            <a:r>
              <a:rPr lang="en-US" dirty="0"/>
              <a:t>Start as in the simple algorithm, but lower the threshold slightly for the sample.</a:t>
            </a:r>
          </a:p>
          <a:p>
            <a:pPr lvl="1"/>
            <a:r>
              <a:rPr lang="en-US" dirty="0">
                <a:solidFill>
                  <a:srgbClr val="33CC33"/>
                </a:solidFill>
              </a:rPr>
              <a:t>Example</a:t>
            </a:r>
            <a:r>
              <a:rPr lang="en-US" dirty="0"/>
              <a:t>: if the sample is 1% of the baskets, use </a:t>
            </a:r>
            <a:r>
              <a:rPr lang="en-US" i="1" dirty="0"/>
              <a:t>s</a:t>
            </a:r>
            <a:r>
              <a:rPr lang="en-US" dirty="0"/>
              <a:t>/125 as the support threshold rather than </a:t>
            </a:r>
            <a:r>
              <a:rPr lang="en-US" i="1" dirty="0"/>
              <a:t>s</a:t>
            </a:r>
            <a:r>
              <a:rPr lang="en-US" dirty="0"/>
              <a:t>/100.</a:t>
            </a:r>
          </a:p>
          <a:p>
            <a:pPr lvl="1"/>
            <a:r>
              <a:rPr lang="en-US" dirty="0"/>
              <a:t>Goal is to avoid missing any </a:t>
            </a:r>
            <a:r>
              <a:rPr lang="en-US" dirty="0" err="1"/>
              <a:t>itemset</a:t>
            </a:r>
            <a:r>
              <a:rPr lang="en-US" dirty="0"/>
              <a:t> that is frequent in the full set of baskets.</a:t>
            </a:r>
          </a:p>
        </p:txBody>
      </p:sp>
    </p:spTree>
    <p:extLst>
      <p:ext uri="{BB962C8B-B14F-4D97-AF65-F5344CB8AC3E}">
        <p14:creationId xmlns:p14="http://schemas.microsoft.com/office/powerpoint/2010/main" val="7148206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00E4CA48-A73E-4E34-ABEB-986F1FD55123}" type="slidenum">
              <a:rPr lang="en-US"/>
              <a:pPr/>
              <a:t>19</a:t>
            </a:fld>
            <a:endParaRPr lang="en-US"/>
          </a:p>
        </p:txBody>
      </p:sp>
      <p:sp>
        <p:nvSpPr>
          <p:cNvPr id="22530" name="Rectangle 2"/>
          <p:cNvSpPr>
            <a:spLocks noGrp="1" noChangeArrowheads="1"/>
          </p:cNvSpPr>
          <p:nvPr>
            <p:ph type="title"/>
          </p:nvPr>
        </p:nvSpPr>
        <p:spPr/>
        <p:txBody>
          <a:bodyPr/>
          <a:lstStyle/>
          <a:p>
            <a:r>
              <a:rPr lang="en-US"/>
              <a:t>Toivonen’s Algorithm – (2)</a:t>
            </a:r>
          </a:p>
        </p:txBody>
      </p:sp>
      <p:sp>
        <p:nvSpPr>
          <p:cNvPr id="22531" name="Rectangle 3"/>
          <p:cNvSpPr>
            <a:spLocks noGrp="1" noChangeArrowheads="1"/>
          </p:cNvSpPr>
          <p:nvPr>
            <p:ph type="body" idx="1"/>
          </p:nvPr>
        </p:nvSpPr>
        <p:spPr>
          <a:xfrm>
            <a:off x="457200" y="1219200"/>
            <a:ext cx="8610600" cy="5486400"/>
          </a:xfrm>
        </p:spPr>
        <p:txBody>
          <a:bodyPr/>
          <a:lstStyle/>
          <a:p>
            <a:r>
              <a:rPr lang="en-US" dirty="0"/>
              <a:t>Add to the </a:t>
            </a:r>
            <a:r>
              <a:rPr lang="en-US" dirty="0" err="1"/>
              <a:t>itemsets</a:t>
            </a:r>
            <a:r>
              <a:rPr lang="en-US" dirty="0"/>
              <a:t> that are frequent in the sample the </a:t>
            </a:r>
            <a:r>
              <a:rPr lang="en-US" i="1" dirty="0">
                <a:solidFill>
                  <a:srgbClr val="FF0000"/>
                </a:solidFill>
              </a:rPr>
              <a:t>negative border</a:t>
            </a:r>
            <a:r>
              <a:rPr lang="en-US" dirty="0">
                <a:solidFill>
                  <a:srgbClr val="FF0000"/>
                </a:solidFill>
              </a:rPr>
              <a:t> </a:t>
            </a:r>
            <a:r>
              <a:rPr lang="en-US" dirty="0"/>
              <a:t>of these </a:t>
            </a:r>
            <a:r>
              <a:rPr lang="en-US" dirty="0" err="1"/>
              <a:t>itemsets</a:t>
            </a:r>
            <a:r>
              <a:rPr lang="en-US" dirty="0"/>
              <a:t>.</a:t>
            </a:r>
          </a:p>
          <a:p>
            <a:r>
              <a:rPr lang="en-US" dirty="0"/>
              <a:t>An </a:t>
            </a:r>
            <a:r>
              <a:rPr lang="en-US" dirty="0" err="1"/>
              <a:t>itemset</a:t>
            </a:r>
            <a:r>
              <a:rPr lang="en-US" dirty="0"/>
              <a:t> is in the negative border if it is </a:t>
            </a:r>
            <a:r>
              <a:rPr lang="en-US" dirty="0">
                <a:solidFill>
                  <a:srgbClr val="00B050"/>
                </a:solidFill>
              </a:rPr>
              <a:t>not</a:t>
            </a:r>
            <a:r>
              <a:rPr lang="en-US" dirty="0"/>
              <a:t> deemed frequent in the sample, but </a:t>
            </a:r>
            <a:r>
              <a:rPr lang="en-US" i="1" dirty="0">
                <a:solidFill>
                  <a:srgbClr val="00B050"/>
                </a:solidFill>
              </a:rPr>
              <a:t>all</a:t>
            </a:r>
            <a:r>
              <a:rPr lang="en-US" dirty="0"/>
              <a:t> its immediate subsets are.</a:t>
            </a:r>
          </a:p>
          <a:p>
            <a:pPr lvl="1"/>
            <a:r>
              <a:rPr lang="en-US" i="1" dirty="0">
                <a:solidFill>
                  <a:srgbClr val="FF0000"/>
                </a:solidFill>
              </a:rPr>
              <a:t>Immediate subset</a:t>
            </a:r>
            <a:r>
              <a:rPr lang="en-US" dirty="0"/>
              <a:t> = “delete exactly one element.”</a:t>
            </a:r>
          </a:p>
        </p:txBody>
      </p:sp>
    </p:spTree>
    <p:extLst>
      <p:ext uri="{BB962C8B-B14F-4D97-AF65-F5344CB8AC3E}">
        <p14:creationId xmlns:p14="http://schemas.microsoft.com/office/powerpoint/2010/main" val="24940874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02FB4F74-CDB4-4A5A-8567-A59190431086}" type="slidenum">
              <a:rPr lang="en-US"/>
              <a:pPr/>
              <a:t>20</a:t>
            </a:fld>
            <a:endParaRPr lang="en-US"/>
          </a:p>
        </p:txBody>
      </p:sp>
      <p:sp>
        <p:nvSpPr>
          <p:cNvPr id="36866" name="Rectangle 2"/>
          <p:cNvSpPr>
            <a:spLocks noGrp="1" noChangeArrowheads="1"/>
          </p:cNvSpPr>
          <p:nvPr>
            <p:ph type="title"/>
          </p:nvPr>
        </p:nvSpPr>
        <p:spPr>
          <a:xfrm>
            <a:off x="685800" y="0"/>
            <a:ext cx="7772400" cy="1143000"/>
          </a:xfrm>
        </p:spPr>
        <p:txBody>
          <a:bodyPr/>
          <a:lstStyle/>
          <a:p>
            <a:r>
              <a:rPr lang="en-US" dirty="0">
                <a:solidFill>
                  <a:srgbClr val="92D050"/>
                </a:solidFill>
              </a:rPr>
              <a:t>Example</a:t>
            </a:r>
            <a:r>
              <a:rPr lang="en-US" dirty="0"/>
              <a:t>: Negative Border</a:t>
            </a:r>
          </a:p>
        </p:txBody>
      </p:sp>
      <p:sp>
        <p:nvSpPr>
          <p:cNvPr id="36867" name="Rectangle 3"/>
          <p:cNvSpPr>
            <a:spLocks noGrp="1" noChangeArrowheads="1"/>
          </p:cNvSpPr>
          <p:nvPr>
            <p:ph type="body" idx="1"/>
          </p:nvPr>
        </p:nvSpPr>
        <p:spPr>
          <a:xfrm>
            <a:off x="381000" y="1295400"/>
            <a:ext cx="8610600" cy="5562600"/>
          </a:xfrm>
        </p:spPr>
        <p:txBody>
          <a:bodyPr>
            <a:normAutofit/>
          </a:bodyPr>
          <a:lstStyle/>
          <a:p>
            <a:pPr marL="609600" indent="-609600"/>
            <a:r>
              <a:rPr lang="en-US" dirty="0"/>
              <a:t>{</a:t>
            </a:r>
            <a:r>
              <a:rPr lang="en-US" i="1" dirty="0"/>
              <a:t>A</a:t>
            </a:r>
            <a:r>
              <a:rPr lang="en-US" dirty="0"/>
              <a:t>,</a:t>
            </a:r>
            <a:r>
              <a:rPr lang="en-US" i="1" dirty="0"/>
              <a:t>B</a:t>
            </a:r>
            <a:r>
              <a:rPr lang="en-US" dirty="0"/>
              <a:t>,</a:t>
            </a:r>
            <a:r>
              <a:rPr lang="en-US" i="1" dirty="0"/>
              <a:t>C</a:t>
            </a:r>
            <a:r>
              <a:rPr lang="en-US" dirty="0"/>
              <a:t>,</a:t>
            </a:r>
            <a:r>
              <a:rPr lang="en-US" i="1" dirty="0"/>
              <a:t>D</a:t>
            </a:r>
            <a:r>
              <a:rPr lang="en-US" dirty="0"/>
              <a:t>} is in the negative border if and only if:</a:t>
            </a:r>
          </a:p>
          <a:p>
            <a:pPr marL="990600" lvl="1" indent="-533400">
              <a:buFont typeface="Monotype Sorts" pitchFamily="2" charset="2"/>
              <a:buAutoNum type="arabicPeriod"/>
            </a:pPr>
            <a:r>
              <a:rPr lang="en-US" dirty="0"/>
              <a:t>It is not frequent in the sample, but</a:t>
            </a:r>
          </a:p>
          <a:p>
            <a:pPr marL="990600" lvl="1" indent="-533400">
              <a:buFont typeface="Monotype Sorts" pitchFamily="2" charset="2"/>
              <a:buAutoNum type="arabicPeriod"/>
            </a:pPr>
            <a:r>
              <a:rPr lang="en-US" dirty="0"/>
              <a:t>All of {</a:t>
            </a:r>
            <a:r>
              <a:rPr lang="en-US" i="1" dirty="0"/>
              <a:t>A</a:t>
            </a:r>
            <a:r>
              <a:rPr lang="en-US" dirty="0"/>
              <a:t>,</a:t>
            </a:r>
            <a:r>
              <a:rPr lang="en-US" i="1" dirty="0"/>
              <a:t>B</a:t>
            </a:r>
            <a:r>
              <a:rPr lang="en-US" dirty="0"/>
              <a:t>,</a:t>
            </a:r>
            <a:r>
              <a:rPr lang="en-US" i="1" dirty="0"/>
              <a:t>C</a:t>
            </a:r>
            <a:r>
              <a:rPr lang="en-US" dirty="0"/>
              <a:t>}, {</a:t>
            </a:r>
            <a:r>
              <a:rPr lang="en-US" i="1" dirty="0"/>
              <a:t>B</a:t>
            </a:r>
            <a:r>
              <a:rPr lang="en-US" dirty="0"/>
              <a:t>,</a:t>
            </a:r>
            <a:r>
              <a:rPr lang="en-US" i="1" dirty="0"/>
              <a:t>C</a:t>
            </a:r>
            <a:r>
              <a:rPr lang="en-US" dirty="0"/>
              <a:t>,</a:t>
            </a:r>
            <a:r>
              <a:rPr lang="en-US" i="1" dirty="0"/>
              <a:t>D</a:t>
            </a:r>
            <a:r>
              <a:rPr lang="en-US" dirty="0"/>
              <a:t>}, {</a:t>
            </a:r>
            <a:r>
              <a:rPr lang="en-US" i="1" dirty="0"/>
              <a:t>A</a:t>
            </a:r>
            <a:r>
              <a:rPr lang="en-US" dirty="0"/>
              <a:t>,</a:t>
            </a:r>
            <a:r>
              <a:rPr lang="en-US" i="1" dirty="0"/>
              <a:t>C</a:t>
            </a:r>
            <a:r>
              <a:rPr lang="en-US" dirty="0"/>
              <a:t>,</a:t>
            </a:r>
            <a:r>
              <a:rPr lang="en-US" i="1" dirty="0"/>
              <a:t>D</a:t>
            </a:r>
            <a:r>
              <a:rPr lang="en-US" dirty="0"/>
              <a:t>}, and {</a:t>
            </a:r>
            <a:r>
              <a:rPr lang="en-US" i="1" dirty="0"/>
              <a:t>A</a:t>
            </a:r>
            <a:r>
              <a:rPr lang="en-US" dirty="0"/>
              <a:t>,</a:t>
            </a:r>
            <a:r>
              <a:rPr lang="en-US" i="1" dirty="0"/>
              <a:t>B</a:t>
            </a:r>
            <a:r>
              <a:rPr lang="en-US" dirty="0"/>
              <a:t>,</a:t>
            </a:r>
            <a:r>
              <a:rPr lang="en-US" i="1" dirty="0"/>
              <a:t>D</a:t>
            </a:r>
            <a:r>
              <a:rPr lang="en-US" dirty="0"/>
              <a:t>} are.</a:t>
            </a:r>
          </a:p>
          <a:p>
            <a:pPr marL="457200" indent="-457200"/>
            <a:r>
              <a:rPr lang="en-US" i="1" dirty="0"/>
              <a:t> </a:t>
            </a:r>
            <a:r>
              <a:rPr lang="en-US" dirty="0"/>
              <a:t>{</a:t>
            </a:r>
            <a:r>
              <a:rPr lang="en-US" i="1" dirty="0"/>
              <a:t>A</a:t>
            </a:r>
            <a:r>
              <a:rPr lang="en-US" dirty="0"/>
              <a:t>} is in the negative border if and only if it is not frequent in the sample.</a:t>
            </a:r>
          </a:p>
          <a:p>
            <a:pPr marL="800100" lvl="1" indent="-342900"/>
            <a:r>
              <a:rPr lang="en-US" dirty="0"/>
              <a:t>Because the empty set is always frequent.</a:t>
            </a:r>
          </a:p>
          <a:p>
            <a:pPr marL="1257300" lvl="2" indent="-342900"/>
            <a:r>
              <a:rPr lang="en-US" dirty="0"/>
              <a:t>Unless there are fewer baskets than the support threshold (silly case).</a:t>
            </a:r>
          </a:p>
          <a:p>
            <a:pPr marL="699516" indent="-342900"/>
            <a:r>
              <a:rPr lang="en-US" dirty="0">
                <a:solidFill>
                  <a:schemeClr val="accent1">
                    <a:lumMod val="75000"/>
                  </a:schemeClr>
                </a:solidFill>
              </a:rPr>
              <a:t>Useful trick</a:t>
            </a:r>
            <a:r>
              <a:rPr lang="en-US" dirty="0"/>
              <a:t>: When processing the sample by A-Priori, each member of </a:t>
            </a:r>
            <a:r>
              <a:rPr lang="en-US" dirty="0" err="1"/>
              <a:t>C</a:t>
            </a:r>
            <a:r>
              <a:rPr lang="en-US" baseline="-25000" dirty="0" err="1"/>
              <a:t>k</a:t>
            </a:r>
            <a:r>
              <a:rPr lang="en-US" dirty="0"/>
              <a:t> is either in L</a:t>
            </a:r>
            <a:r>
              <a:rPr lang="en-US" baseline="-25000" dirty="0"/>
              <a:t>k</a:t>
            </a:r>
            <a:r>
              <a:rPr lang="en-US" dirty="0"/>
              <a:t> or in the negative border, never both.</a:t>
            </a:r>
          </a:p>
        </p:txBody>
      </p:sp>
    </p:spTree>
    <p:extLst>
      <p:ext uri="{BB962C8B-B14F-4D97-AF65-F5344CB8AC3E}">
        <p14:creationId xmlns:p14="http://schemas.microsoft.com/office/powerpoint/2010/main" val="28037668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686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6867">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36867">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499"/>
                                          </p:stCondLst>
                                        </p:cTn>
                                        <p:tgtEl>
                                          <p:spTgt spid="36867">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499"/>
                                          </p:stCondLst>
                                        </p:cTn>
                                        <p:tgtEl>
                                          <p:spTgt spid="36867">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3686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7" grpId="0" uiExpand="1" build="p"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4"/>
          <p:cNvSpPr>
            <a:spLocks noGrp="1"/>
          </p:cNvSpPr>
          <p:nvPr>
            <p:ph type="sldNum" sz="quarter" idx="12"/>
          </p:nvPr>
        </p:nvSpPr>
        <p:spPr/>
        <p:txBody>
          <a:bodyPr/>
          <a:lstStyle/>
          <a:p>
            <a:fld id="{334ECA40-AFC3-42DB-8300-0F2868DA2CEF}" type="slidenum">
              <a:rPr lang="en-US"/>
              <a:pPr/>
              <a:t>21</a:t>
            </a:fld>
            <a:endParaRPr lang="en-US"/>
          </a:p>
        </p:txBody>
      </p:sp>
      <p:sp>
        <p:nvSpPr>
          <p:cNvPr id="46082" name="Rectangle 2"/>
          <p:cNvSpPr>
            <a:spLocks noGrp="1" noChangeArrowheads="1"/>
          </p:cNvSpPr>
          <p:nvPr>
            <p:ph type="title"/>
          </p:nvPr>
        </p:nvSpPr>
        <p:spPr/>
        <p:txBody>
          <a:bodyPr/>
          <a:lstStyle/>
          <a:p>
            <a:r>
              <a:rPr lang="en-US"/>
              <a:t>Picture of Negative Border</a:t>
            </a:r>
          </a:p>
        </p:txBody>
      </p:sp>
      <p:sp>
        <p:nvSpPr>
          <p:cNvPr id="46083" name="Text Box 3"/>
          <p:cNvSpPr txBox="1">
            <a:spLocks noChangeArrowheads="1"/>
          </p:cNvSpPr>
          <p:nvPr/>
        </p:nvSpPr>
        <p:spPr bwMode="auto">
          <a:xfrm>
            <a:off x="517525" y="3324225"/>
            <a:ext cx="1658938" cy="2647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dirty="0"/>
              <a:t>    …</a:t>
            </a:r>
          </a:p>
          <a:p>
            <a:endParaRPr lang="en-US" dirty="0"/>
          </a:p>
          <a:p>
            <a:r>
              <a:rPr lang="en-US" dirty="0" err="1"/>
              <a:t>tripletons</a:t>
            </a:r>
            <a:endParaRPr lang="en-US" dirty="0"/>
          </a:p>
          <a:p>
            <a:endParaRPr lang="en-US" dirty="0"/>
          </a:p>
          <a:p>
            <a:r>
              <a:rPr lang="en-US" dirty="0"/>
              <a:t>doubletons</a:t>
            </a:r>
          </a:p>
          <a:p>
            <a:endParaRPr lang="en-US" dirty="0"/>
          </a:p>
          <a:p>
            <a:r>
              <a:rPr lang="en-US" dirty="0"/>
              <a:t>singletons</a:t>
            </a:r>
          </a:p>
        </p:txBody>
      </p:sp>
      <p:sp>
        <p:nvSpPr>
          <p:cNvPr id="46084" name="Freeform 4"/>
          <p:cNvSpPr>
            <a:spLocks/>
          </p:cNvSpPr>
          <p:nvPr/>
        </p:nvSpPr>
        <p:spPr bwMode="auto">
          <a:xfrm>
            <a:off x="2438400" y="3467100"/>
            <a:ext cx="5803900" cy="1181100"/>
          </a:xfrm>
          <a:custGeom>
            <a:avLst/>
            <a:gdLst>
              <a:gd name="T0" fmla="*/ 0 w 3656"/>
              <a:gd name="T1" fmla="*/ 696 h 744"/>
              <a:gd name="T2" fmla="*/ 96 w 3656"/>
              <a:gd name="T3" fmla="*/ 264 h 744"/>
              <a:gd name="T4" fmla="*/ 384 w 3656"/>
              <a:gd name="T5" fmla="*/ 24 h 744"/>
              <a:gd name="T6" fmla="*/ 912 w 3656"/>
              <a:gd name="T7" fmla="*/ 120 h 744"/>
              <a:gd name="T8" fmla="*/ 1056 w 3656"/>
              <a:gd name="T9" fmla="*/ 552 h 744"/>
              <a:gd name="T10" fmla="*/ 1440 w 3656"/>
              <a:gd name="T11" fmla="*/ 600 h 744"/>
              <a:gd name="T12" fmla="*/ 1680 w 3656"/>
              <a:gd name="T13" fmla="*/ 264 h 744"/>
              <a:gd name="T14" fmla="*/ 2112 w 3656"/>
              <a:gd name="T15" fmla="*/ 264 h 744"/>
              <a:gd name="T16" fmla="*/ 2400 w 3656"/>
              <a:gd name="T17" fmla="*/ 408 h 744"/>
              <a:gd name="T18" fmla="*/ 2928 w 3656"/>
              <a:gd name="T19" fmla="*/ 456 h 744"/>
              <a:gd name="T20" fmla="*/ 3264 w 3656"/>
              <a:gd name="T21" fmla="*/ 648 h 744"/>
              <a:gd name="T22" fmla="*/ 3600 w 3656"/>
              <a:gd name="T23" fmla="*/ 696 h 744"/>
              <a:gd name="T24" fmla="*/ 3600 w 3656"/>
              <a:gd name="T25" fmla="*/ 744 h 7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656" h="744">
                <a:moveTo>
                  <a:pt x="0" y="696"/>
                </a:moveTo>
                <a:cubicBezTo>
                  <a:pt x="16" y="536"/>
                  <a:pt x="32" y="376"/>
                  <a:pt x="96" y="264"/>
                </a:cubicBezTo>
                <a:cubicBezTo>
                  <a:pt x="160" y="152"/>
                  <a:pt x="248" y="48"/>
                  <a:pt x="384" y="24"/>
                </a:cubicBezTo>
                <a:cubicBezTo>
                  <a:pt x="520" y="0"/>
                  <a:pt x="800" y="32"/>
                  <a:pt x="912" y="120"/>
                </a:cubicBezTo>
                <a:cubicBezTo>
                  <a:pt x="1024" y="208"/>
                  <a:pt x="968" y="472"/>
                  <a:pt x="1056" y="552"/>
                </a:cubicBezTo>
                <a:cubicBezTo>
                  <a:pt x="1144" y="632"/>
                  <a:pt x="1336" y="648"/>
                  <a:pt x="1440" y="600"/>
                </a:cubicBezTo>
                <a:cubicBezTo>
                  <a:pt x="1544" y="552"/>
                  <a:pt x="1568" y="320"/>
                  <a:pt x="1680" y="264"/>
                </a:cubicBezTo>
                <a:cubicBezTo>
                  <a:pt x="1792" y="208"/>
                  <a:pt x="1992" y="240"/>
                  <a:pt x="2112" y="264"/>
                </a:cubicBezTo>
                <a:cubicBezTo>
                  <a:pt x="2232" y="288"/>
                  <a:pt x="2264" y="376"/>
                  <a:pt x="2400" y="408"/>
                </a:cubicBezTo>
                <a:cubicBezTo>
                  <a:pt x="2536" y="440"/>
                  <a:pt x="2784" y="416"/>
                  <a:pt x="2928" y="456"/>
                </a:cubicBezTo>
                <a:cubicBezTo>
                  <a:pt x="3072" y="496"/>
                  <a:pt x="3152" y="608"/>
                  <a:pt x="3264" y="648"/>
                </a:cubicBezTo>
                <a:cubicBezTo>
                  <a:pt x="3376" y="688"/>
                  <a:pt x="3544" y="680"/>
                  <a:pt x="3600" y="696"/>
                </a:cubicBezTo>
                <a:cubicBezTo>
                  <a:pt x="3656" y="712"/>
                  <a:pt x="3600" y="736"/>
                  <a:pt x="3600" y="744"/>
                </a:cubicBezTo>
              </a:path>
            </a:pathLst>
          </a:custGeom>
          <a:solidFill>
            <a:srgbClr val="00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6086" name="Freeform 6"/>
          <p:cNvSpPr>
            <a:spLocks/>
          </p:cNvSpPr>
          <p:nvPr/>
        </p:nvSpPr>
        <p:spPr bwMode="auto">
          <a:xfrm>
            <a:off x="2311400" y="3200400"/>
            <a:ext cx="5842000" cy="1066800"/>
          </a:xfrm>
          <a:custGeom>
            <a:avLst/>
            <a:gdLst>
              <a:gd name="T0" fmla="*/ 32 w 3680"/>
              <a:gd name="T1" fmla="*/ 336 h 672"/>
              <a:gd name="T2" fmla="*/ 32 w 3680"/>
              <a:gd name="T3" fmla="*/ 288 h 672"/>
              <a:gd name="T4" fmla="*/ 224 w 3680"/>
              <a:gd name="T5" fmla="*/ 48 h 672"/>
              <a:gd name="T6" fmla="*/ 608 w 3680"/>
              <a:gd name="T7" fmla="*/ 0 h 672"/>
              <a:gd name="T8" fmla="*/ 944 w 3680"/>
              <a:gd name="T9" fmla="*/ 48 h 672"/>
              <a:gd name="T10" fmla="*/ 1136 w 3680"/>
              <a:gd name="T11" fmla="*/ 192 h 672"/>
              <a:gd name="T12" fmla="*/ 1232 w 3680"/>
              <a:gd name="T13" fmla="*/ 384 h 672"/>
              <a:gd name="T14" fmla="*/ 1280 w 3680"/>
              <a:gd name="T15" fmla="*/ 528 h 672"/>
              <a:gd name="T16" fmla="*/ 1472 w 3680"/>
              <a:gd name="T17" fmla="*/ 528 h 672"/>
              <a:gd name="T18" fmla="*/ 1568 w 3680"/>
              <a:gd name="T19" fmla="*/ 288 h 672"/>
              <a:gd name="T20" fmla="*/ 1808 w 3680"/>
              <a:gd name="T21" fmla="*/ 192 h 672"/>
              <a:gd name="T22" fmla="*/ 2288 w 3680"/>
              <a:gd name="T23" fmla="*/ 288 h 672"/>
              <a:gd name="T24" fmla="*/ 2432 w 3680"/>
              <a:gd name="T25" fmla="*/ 336 h 672"/>
              <a:gd name="T26" fmla="*/ 2768 w 3680"/>
              <a:gd name="T27" fmla="*/ 384 h 672"/>
              <a:gd name="T28" fmla="*/ 3056 w 3680"/>
              <a:gd name="T29" fmla="*/ 432 h 672"/>
              <a:gd name="T30" fmla="*/ 3296 w 3680"/>
              <a:gd name="T31" fmla="*/ 624 h 672"/>
              <a:gd name="T32" fmla="*/ 3680 w 3680"/>
              <a:gd name="T33" fmla="*/ 672 h 6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680" h="672">
                <a:moveTo>
                  <a:pt x="32" y="336"/>
                </a:moveTo>
                <a:cubicBezTo>
                  <a:pt x="16" y="336"/>
                  <a:pt x="0" y="336"/>
                  <a:pt x="32" y="288"/>
                </a:cubicBezTo>
                <a:cubicBezTo>
                  <a:pt x="64" y="240"/>
                  <a:pt x="128" y="96"/>
                  <a:pt x="224" y="48"/>
                </a:cubicBezTo>
                <a:cubicBezTo>
                  <a:pt x="320" y="0"/>
                  <a:pt x="488" y="0"/>
                  <a:pt x="608" y="0"/>
                </a:cubicBezTo>
                <a:cubicBezTo>
                  <a:pt x="728" y="0"/>
                  <a:pt x="856" y="16"/>
                  <a:pt x="944" y="48"/>
                </a:cubicBezTo>
                <a:cubicBezTo>
                  <a:pt x="1032" y="80"/>
                  <a:pt x="1088" y="136"/>
                  <a:pt x="1136" y="192"/>
                </a:cubicBezTo>
                <a:cubicBezTo>
                  <a:pt x="1184" y="248"/>
                  <a:pt x="1208" y="328"/>
                  <a:pt x="1232" y="384"/>
                </a:cubicBezTo>
                <a:cubicBezTo>
                  <a:pt x="1256" y="440"/>
                  <a:pt x="1240" y="504"/>
                  <a:pt x="1280" y="528"/>
                </a:cubicBezTo>
                <a:cubicBezTo>
                  <a:pt x="1320" y="552"/>
                  <a:pt x="1424" y="568"/>
                  <a:pt x="1472" y="528"/>
                </a:cubicBezTo>
                <a:cubicBezTo>
                  <a:pt x="1520" y="488"/>
                  <a:pt x="1512" y="344"/>
                  <a:pt x="1568" y="288"/>
                </a:cubicBezTo>
                <a:cubicBezTo>
                  <a:pt x="1624" y="232"/>
                  <a:pt x="1688" y="192"/>
                  <a:pt x="1808" y="192"/>
                </a:cubicBezTo>
                <a:cubicBezTo>
                  <a:pt x="1928" y="192"/>
                  <a:pt x="2184" y="264"/>
                  <a:pt x="2288" y="288"/>
                </a:cubicBezTo>
                <a:cubicBezTo>
                  <a:pt x="2392" y="312"/>
                  <a:pt x="2352" y="320"/>
                  <a:pt x="2432" y="336"/>
                </a:cubicBezTo>
                <a:cubicBezTo>
                  <a:pt x="2512" y="352"/>
                  <a:pt x="2664" y="368"/>
                  <a:pt x="2768" y="384"/>
                </a:cubicBezTo>
                <a:cubicBezTo>
                  <a:pt x="2872" y="400"/>
                  <a:pt x="2968" y="392"/>
                  <a:pt x="3056" y="432"/>
                </a:cubicBezTo>
                <a:cubicBezTo>
                  <a:pt x="3144" y="472"/>
                  <a:pt x="3192" y="584"/>
                  <a:pt x="3296" y="624"/>
                </a:cubicBezTo>
                <a:cubicBezTo>
                  <a:pt x="3400" y="664"/>
                  <a:pt x="3540" y="668"/>
                  <a:pt x="3680" y="672"/>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6088" name="Text Box 8"/>
          <p:cNvSpPr txBox="1">
            <a:spLocks noChangeArrowheads="1"/>
          </p:cNvSpPr>
          <p:nvPr/>
        </p:nvSpPr>
        <p:spPr bwMode="auto">
          <a:xfrm>
            <a:off x="4251325" y="2471738"/>
            <a:ext cx="23479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t>Negative Border</a:t>
            </a:r>
          </a:p>
        </p:txBody>
      </p:sp>
      <p:sp>
        <p:nvSpPr>
          <p:cNvPr id="46089" name="Line 9"/>
          <p:cNvSpPr>
            <a:spLocks noChangeShapeType="1"/>
          </p:cNvSpPr>
          <p:nvPr/>
        </p:nvSpPr>
        <p:spPr bwMode="auto">
          <a:xfrm>
            <a:off x="5105400" y="2971800"/>
            <a:ext cx="0" cy="762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6090" name="Line 10"/>
          <p:cNvSpPr>
            <a:spLocks noChangeShapeType="1"/>
          </p:cNvSpPr>
          <p:nvPr/>
        </p:nvSpPr>
        <p:spPr bwMode="auto">
          <a:xfrm>
            <a:off x="2438400" y="5486400"/>
            <a:ext cx="57150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6091" name="Line 11"/>
          <p:cNvSpPr>
            <a:spLocks noChangeShapeType="1"/>
          </p:cNvSpPr>
          <p:nvPr/>
        </p:nvSpPr>
        <p:spPr bwMode="auto">
          <a:xfrm flipV="1">
            <a:off x="2438400" y="4495800"/>
            <a:ext cx="0" cy="990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6092" name="Line 12"/>
          <p:cNvSpPr>
            <a:spLocks noChangeShapeType="1"/>
          </p:cNvSpPr>
          <p:nvPr/>
        </p:nvSpPr>
        <p:spPr bwMode="auto">
          <a:xfrm>
            <a:off x="8153400" y="4572000"/>
            <a:ext cx="0" cy="914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6094" name="Rectangle 14"/>
          <p:cNvSpPr>
            <a:spLocks noChangeArrowheads="1"/>
          </p:cNvSpPr>
          <p:nvPr/>
        </p:nvSpPr>
        <p:spPr bwMode="auto">
          <a:xfrm>
            <a:off x="2438400" y="4572000"/>
            <a:ext cx="5715000" cy="914400"/>
          </a:xfrm>
          <a:prstGeom prst="rect">
            <a:avLst/>
          </a:prstGeom>
          <a:solidFill>
            <a:srgbClr val="00FF00"/>
          </a:solidFill>
          <a:ln w="0">
            <a:solidFill>
              <a:srgbClr val="00FF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Frequent Itemsets</a:t>
            </a:r>
          </a:p>
          <a:p>
            <a:pPr algn="ctr"/>
            <a:r>
              <a:rPr lang="en-US"/>
              <a:t>from Sample</a:t>
            </a:r>
          </a:p>
        </p:txBody>
      </p:sp>
    </p:spTree>
    <p:extLst>
      <p:ext uri="{BB962C8B-B14F-4D97-AF65-F5344CB8AC3E}">
        <p14:creationId xmlns:p14="http://schemas.microsoft.com/office/powerpoint/2010/main" val="944951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3AE4D6FF-D54C-4A9F-9E45-5CF2F525A094}" type="slidenum">
              <a:rPr lang="en-US"/>
              <a:pPr/>
              <a:t>22</a:t>
            </a:fld>
            <a:endParaRPr lang="en-US"/>
          </a:p>
        </p:txBody>
      </p:sp>
      <p:sp>
        <p:nvSpPr>
          <p:cNvPr id="23554" name="Rectangle 2"/>
          <p:cNvSpPr>
            <a:spLocks noGrp="1" noChangeArrowheads="1"/>
          </p:cNvSpPr>
          <p:nvPr>
            <p:ph type="title"/>
          </p:nvPr>
        </p:nvSpPr>
        <p:spPr/>
        <p:txBody>
          <a:bodyPr/>
          <a:lstStyle/>
          <a:p>
            <a:r>
              <a:rPr lang="en-US"/>
              <a:t>Toivonen’s Algorithm – (3)</a:t>
            </a:r>
          </a:p>
        </p:txBody>
      </p:sp>
      <p:sp>
        <p:nvSpPr>
          <p:cNvPr id="23555" name="Rectangle 3"/>
          <p:cNvSpPr>
            <a:spLocks noGrp="1" noChangeArrowheads="1"/>
          </p:cNvSpPr>
          <p:nvPr>
            <p:ph type="body" idx="1"/>
          </p:nvPr>
        </p:nvSpPr>
        <p:spPr/>
        <p:txBody>
          <a:bodyPr/>
          <a:lstStyle/>
          <a:p>
            <a:r>
              <a:rPr lang="en-US" dirty="0"/>
              <a:t>In a second pass, count all candidate frequent </a:t>
            </a:r>
            <a:r>
              <a:rPr lang="en-US" dirty="0" err="1"/>
              <a:t>itemsets</a:t>
            </a:r>
            <a:r>
              <a:rPr lang="en-US" dirty="0"/>
              <a:t> from the first pass, and also count </a:t>
            </a:r>
            <a:r>
              <a:rPr lang="en-US"/>
              <a:t>sets in </a:t>
            </a:r>
            <a:r>
              <a:rPr lang="en-US" dirty="0"/>
              <a:t>their negative border.</a:t>
            </a:r>
          </a:p>
          <a:p>
            <a:r>
              <a:rPr lang="en-US" dirty="0"/>
              <a:t>If no </a:t>
            </a:r>
            <a:r>
              <a:rPr lang="en-US" dirty="0" err="1"/>
              <a:t>itemset</a:t>
            </a:r>
            <a:r>
              <a:rPr lang="en-US" dirty="0"/>
              <a:t> from the negative border turns out to be frequent, then the candidates found to be frequent in the whole data are </a:t>
            </a:r>
            <a:r>
              <a:rPr lang="en-US" i="1" dirty="0">
                <a:solidFill>
                  <a:srgbClr val="33CC33"/>
                </a:solidFill>
              </a:rPr>
              <a:t>exactly</a:t>
            </a:r>
            <a:r>
              <a:rPr lang="en-US" dirty="0"/>
              <a:t> the frequent </a:t>
            </a:r>
            <a:r>
              <a:rPr lang="en-US" dirty="0" err="1"/>
              <a:t>itemsets</a:t>
            </a:r>
            <a:r>
              <a:rPr lang="en-US" dirty="0"/>
              <a:t>.</a:t>
            </a:r>
          </a:p>
        </p:txBody>
      </p:sp>
    </p:spTree>
    <p:extLst>
      <p:ext uri="{BB962C8B-B14F-4D97-AF65-F5344CB8AC3E}">
        <p14:creationId xmlns:p14="http://schemas.microsoft.com/office/powerpoint/2010/main" val="36474211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55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5"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971F0E64-BBE9-4DC6-AF2A-D3640B1FBD91}" type="slidenum">
              <a:rPr lang="en-US"/>
              <a:pPr/>
              <a:t>23</a:t>
            </a:fld>
            <a:endParaRPr lang="en-US"/>
          </a:p>
        </p:txBody>
      </p:sp>
      <p:sp>
        <p:nvSpPr>
          <p:cNvPr id="24578" name="Rectangle 2"/>
          <p:cNvSpPr>
            <a:spLocks noGrp="1" noChangeArrowheads="1"/>
          </p:cNvSpPr>
          <p:nvPr>
            <p:ph type="title"/>
          </p:nvPr>
        </p:nvSpPr>
        <p:spPr>
          <a:xfrm>
            <a:off x="685800" y="0"/>
            <a:ext cx="8229600" cy="1143000"/>
          </a:xfrm>
        </p:spPr>
        <p:txBody>
          <a:bodyPr/>
          <a:lstStyle/>
          <a:p>
            <a:r>
              <a:rPr lang="en-US" dirty="0" err="1"/>
              <a:t>Toivonen’s</a:t>
            </a:r>
            <a:r>
              <a:rPr lang="en-US" dirty="0"/>
              <a:t> Algorithm – (4)</a:t>
            </a:r>
          </a:p>
        </p:txBody>
      </p:sp>
      <p:sp>
        <p:nvSpPr>
          <p:cNvPr id="24579" name="Rectangle 3"/>
          <p:cNvSpPr>
            <a:spLocks noGrp="1" noChangeArrowheads="1"/>
          </p:cNvSpPr>
          <p:nvPr>
            <p:ph type="body" idx="1"/>
          </p:nvPr>
        </p:nvSpPr>
        <p:spPr>
          <a:xfrm>
            <a:off x="304800" y="1524000"/>
            <a:ext cx="8382000" cy="4114800"/>
          </a:xfrm>
        </p:spPr>
        <p:txBody>
          <a:bodyPr/>
          <a:lstStyle/>
          <a:p>
            <a:r>
              <a:rPr lang="en-US" dirty="0"/>
              <a:t>What if we find that something in the negative border is actually frequent?</a:t>
            </a:r>
          </a:p>
          <a:p>
            <a:r>
              <a:rPr lang="en-US" dirty="0"/>
              <a:t>We must start over again with another sample!</a:t>
            </a:r>
          </a:p>
          <a:p>
            <a:r>
              <a:rPr lang="en-US" dirty="0"/>
              <a:t>Try to choose the support threshold so the probability of failure is low, while the number of </a:t>
            </a:r>
            <a:r>
              <a:rPr lang="en-US" dirty="0" err="1"/>
              <a:t>itemsets</a:t>
            </a:r>
            <a:r>
              <a:rPr lang="en-US" dirty="0"/>
              <a:t> checked on the second pass fits in main-memory.</a:t>
            </a:r>
          </a:p>
        </p:txBody>
      </p:sp>
    </p:spTree>
    <p:extLst>
      <p:ext uri="{BB962C8B-B14F-4D97-AF65-F5344CB8AC3E}">
        <p14:creationId xmlns:p14="http://schemas.microsoft.com/office/powerpoint/2010/main" val="3159532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57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457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9"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Slide Number Placeholder 4"/>
          <p:cNvSpPr>
            <a:spLocks noGrp="1"/>
          </p:cNvSpPr>
          <p:nvPr>
            <p:ph type="sldNum" sz="quarter" idx="12"/>
          </p:nvPr>
        </p:nvSpPr>
        <p:spPr/>
        <p:txBody>
          <a:bodyPr/>
          <a:lstStyle/>
          <a:p>
            <a:fld id="{5E559DAC-3AF0-4B36-BD03-E49168FA528C}" type="slidenum">
              <a:rPr lang="en-US"/>
              <a:pPr/>
              <a:t>24</a:t>
            </a:fld>
            <a:endParaRPr lang="en-US"/>
          </a:p>
        </p:txBody>
      </p:sp>
      <p:sp>
        <p:nvSpPr>
          <p:cNvPr id="57346" name="Rectangle 2"/>
          <p:cNvSpPr>
            <a:spLocks noGrp="1" noChangeArrowheads="1"/>
          </p:cNvSpPr>
          <p:nvPr>
            <p:ph type="title"/>
          </p:nvPr>
        </p:nvSpPr>
        <p:spPr>
          <a:xfrm>
            <a:off x="457199" y="0"/>
            <a:ext cx="8686799" cy="1066800"/>
          </a:xfrm>
        </p:spPr>
        <p:txBody>
          <a:bodyPr>
            <a:normAutofit fontScale="90000"/>
          </a:bodyPr>
          <a:lstStyle/>
          <a:p>
            <a:r>
              <a:rPr lang="en-US" sz="4000" dirty="0"/>
              <a:t>If Something in the Negative Border Is Frequent </a:t>
            </a:r>
            <a:r>
              <a:rPr lang="en-US" dirty="0"/>
              <a:t>. . .</a:t>
            </a:r>
          </a:p>
        </p:txBody>
      </p:sp>
      <p:sp>
        <p:nvSpPr>
          <p:cNvPr id="57347" name="Text Box 3"/>
          <p:cNvSpPr txBox="1">
            <a:spLocks noChangeArrowheads="1"/>
          </p:cNvSpPr>
          <p:nvPr/>
        </p:nvSpPr>
        <p:spPr bwMode="auto">
          <a:xfrm>
            <a:off x="517525" y="2928938"/>
            <a:ext cx="1658938" cy="2647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t>    …</a:t>
            </a:r>
          </a:p>
          <a:p>
            <a:endParaRPr lang="en-US"/>
          </a:p>
          <a:p>
            <a:r>
              <a:rPr lang="en-US"/>
              <a:t>tripletons</a:t>
            </a:r>
          </a:p>
          <a:p>
            <a:endParaRPr lang="en-US"/>
          </a:p>
          <a:p>
            <a:r>
              <a:rPr lang="en-US"/>
              <a:t>doubletons</a:t>
            </a:r>
          </a:p>
          <a:p>
            <a:endParaRPr lang="en-US"/>
          </a:p>
          <a:p>
            <a:r>
              <a:rPr lang="en-US"/>
              <a:t>singletons</a:t>
            </a:r>
          </a:p>
        </p:txBody>
      </p:sp>
      <p:sp>
        <p:nvSpPr>
          <p:cNvPr id="57348" name="Freeform 4"/>
          <p:cNvSpPr>
            <a:spLocks/>
          </p:cNvSpPr>
          <p:nvPr/>
        </p:nvSpPr>
        <p:spPr bwMode="auto">
          <a:xfrm>
            <a:off x="2438400" y="3467100"/>
            <a:ext cx="5803900" cy="1181100"/>
          </a:xfrm>
          <a:custGeom>
            <a:avLst/>
            <a:gdLst>
              <a:gd name="T0" fmla="*/ 0 w 3656"/>
              <a:gd name="T1" fmla="*/ 696 h 744"/>
              <a:gd name="T2" fmla="*/ 96 w 3656"/>
              <a:gd name="T3" fmla="*/ 264 h 744"/>
              <a:gd name="T4" fmla="*/ 384 w 3656"/>
              <a:gd name="T5" fmla="*/ 24 h 744"/>
              <a:gd name="T6" fmla="*/ 912 w 3656"/>
              <a:gd name="T7" fmla="*/ 120 h 744"/>
              <a:gd name="T8" fmla="*/ 1056 w 3656"/>
              <a:gd name="T9" fmla="*/ 552 h 744"/>
              <a:gd name="T10" fmla="*/ 1440 w 3656"/>
              <a:gd name="T11" fmla="*/ 600 h 744"/>
              <a:gd name="T12" fmla="*/ 1680 w 3656"/>
              <a:gd name="T13" fmla="*/ 264 h 744"/>
              <a:gd name="T14" fmla="*/ 2112 w 3656"/>
              <a:gd name="T15" fmla="*/ 264 h 744"/>
              <a:gd name="T16" fmla="*/ 2400 w 3656"/>
              <a:gd name="T17" fmla="*/ 408 h 744"/>
              <a:gd name="T18" fmla="*/ 2928 w 3656"/>
              <a:gd name="T19" fmla="*/ 456 h 744"/>
              <a:gd name="T20" fmla="*/ 3264 w 3656"/>
              <a:gd name="T21" fmla="*/ 648 h 744"/>
              <a:gd name="T22" fmla="*/ 3600 w 3656"/>
              <a:gd name="T23" fmla="*/ 696 h 744"/>
              <a:gd name="T24" fmla="*/ 3600 w 3656"/>
              <a:gd name="T25" fmla="*/ 744 h 7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656" h="744">
                <a:moveTo>
                  <a:pt x="0" y="696"/>
                </a:moveTo>
                <a:cubicBezTo>
                  <a:pt x="16" y="536"/>
                  <a:pt x="32" y="376"/>
                  <a:pt x="96" y="264"/>
                </a:cubicBezTo>
                <a:cubicBezTo>
                  <a:pt x="160" y="152"/>
                  <a:pt x="248" y="48"/>
                  <a:pt x="384" y="24"/>
                </a:cubicBezTo>
                <a:cubicBezTo>
                  <a:pt x="520" y="0"/>
                  <a:pt x="800" y="32"/>
                  <a:pt x="912" y="120"/>
                </a:cubicBezTo>
                <a:cubicBezTo>
                  <a:pt x="1024" y="208"/>
                  <a:pt x="968" y="472"/>
                  <a:pt x="1056" y="552"/>
                </a:cubicBezTo>
                <a:cubicBezTo>
                  <a:pt x="1144" y="632"/>
                  <a:pt x="1336" y="648"/>
                  <a:pt x="1440" y="600"/>
                </a:cubicBezTo>
                <a:cubicBezTo>
                  <a:pt x="1544" y="552"/>
                  <a:pt x="1568" y="320"/>
                  <a:pt x="1680" y="264"/>
                </a:cubicBezTo>
                <a:cubicBezTo>
                  <a:pt x="1792" y="208"/>
                  <a:pt x="1992" y="240"/>
                  <a:pt x="2112" y="264"/>
                </a:cubicBezTo>
                <a:cubicBezTo>
                  <a:pt x="2232" y="288"/>
                  <a:pt x="2264" y="376"/>
                  <a:pt x="2400" y="408"/>
                </a:cubicBezTo>
                <a:cubicBezTo>
                  <a:pt x="2536" y="440"/>
                  <a:pt x="2784" y="416"/>
                  <a:pt x="2928" y="456"/>
                </a:cubicBezTo>
                <a:cubicBezTo>
                  <a:pt x="3072" y="496"/>
                  <a:pt x="3152" y="608"/>
                  <a:pt x="3264" y="648"/>
                </a:cubicBezTo>
                <a:cubicBezTo>
                  <a:pt x="3376" y="688"/>
                  <a:pt x="3544" y="680"/>
                  <a:pt x="3600" y="696"/>
                </a:cubicBezTo>
                <a:cubicBezTo>
                  <a:pt x="3656" y="712"/>
                  <a:pt x="3600" y="736"/>
                  <a:pt x="3600" y="744"/>
                </a:cubicBezTo>
              </a:path>
            </a:pathLst>
          </a:custGeom>
          <a:solidFill>
            <a:srgbClr val="00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7349" name="Freeform 5"/>
          <p:cNvSpPr>
            <a:spLocks/>
          </p:cNvSpPr>
          <p:nvPr/>
        </p:nvSpPr>
        <p:spPr bwMode="auto">
          <a:xfrm>
            <a:off x="2311400" y="3200400"/>
            <a:ext cx="5842000" cy="1066800"/>
          </a:xfrm>
          <a:custGeom>
            <a:avLst/>
            <a:gdLst>
              <a:gd name="T0" fmla="*/ 32 w 3680"/>
              <a:gd name="T1" fmla="*/ 336 h 672"/>
              <a:gd name="T2" fmla="*/ 32 w 3680"/>
              <a:gd name="T3" fmla="*/ 288 h 672"/>
              <a:gd name="T4" fmla="*/ 224 w 3680"/>
              <a:gd name="T5" fmla="*/ 48 h 672"/>
              <a:gd name="T6" fmla="*/ 608 w 3680"/>
              <a:gd name="T7" fmla="*/ 0 h 672"/>
              <a:gd name="T8" fmla="*/ 944 w 3680"/>
              <a:gd name="T9" fmla="*/ 48 h 672"/>
              <a:gd name="T10" fmla="*/ 1136 w 3680"/>
              <a:gd name="T11" fmla="*/ 192 h 672"/>
              <a:gd name="T12" fmla="*/ 1232 w 3680"/>
              <a:gd name="T13" fmla="*/ 384 h 672"/>
              <a:gd name="T14" fmla="*/ 1280 w 3680"/>
              <a:gd name="T15" fmla="*/ 528 h 672"/>
              <a:gd name="T16" fmla="*/ 1472 w 3680"/>
              <a:gd name="T17" fmla="*/ 528 h 672"/>
              <a:gd name="T18" fmla="*/ 1568 w 3680"/>
              <a:gd name="T19" fmla="*/ 288 h 672"/>
              <a:gd name="T20" fmla="*/ 1808 w 3680"/>
              <a:gd name="T21" fmla="*/ 192 h 672"/>
              <a:gd name="T22" fmla="*/ 2288 w 3680"/>
              <a:gd name="T23" fmla="*/ 288 h 672"/>
              <a:gd name="T24" fmla="*/ 2432 w 3680"/>
              <a:gd name="T25" fmla="*/ 336 h 672"/>
              <a:gd name="T26" fmla="*/ 2768 w 3680"/>
              <a:gd name="T27" fmla="*/ 384 h 672"/>
              <a:gd name="T28" fmla="*/ 3056 w 3680"/>
              <a:gd name="T29" fmla="*/ 432 h 672"/>
              <a:gd name="T30" fmla="*/ 3296 w 3680"/>
              <a:gd name="T31" fmla="*/ 624 h 672"/>
              <a:gd name="T32" fmla="*/ 3680 w 3680"/>
              <a:gd name="T33" fmla="*/ 672 h 6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680" h="672">
                <a:moveTo>
                  <a:pt x="32" y="336"/>
                </a:moveTo>
                <a:cubicBezTo>
                  <a:pt x="16" y="336"/>
                  <a:pt x="0" y="336"/>
                  <a:pt x="32" y="288"/>
                </a:cubicBezTo>
                <a:cubicBezTo>
                  <a:pt x="64" y="240"/>
                  <a:pt x="128" y="96"/>
                  <a:pt x="224" y="48"/>
                </a:cubicBezTo>
                <a:cubicBezTo>
                  <a:pt x="320" y="0"/>
                  <a:pt x="488" y="0"/>
                  <a:pt x="608" y="0"/>
                </a:cubicBezTo>
                <a:cubicBezTo>
                  <a:pt x="728" y="0"/>
                  <a:pt x="856" y="16"/>
                  <a:pt x="944" y="48"/>
                </a:cubicBezTo>
                <a:cubicBezTo>
                  <a:pt x="1032" y="80"/>
                  <a:pt x="1088" y="136"/>
                  <a:pt x="1136" y="192"/>
                </a:cubicBezTo>
                <a:cubicBezTo>
                  <a:pt x="1184" y="248"/>
                  <a:pt x="1208" y="328"/>
                  <a:pt x="1232" y="384"/>
                </a:cubicBezTo>
                <a:cubicBezTo>
                  <a:pt x="1256" y="440"/>
                  <a:pt x="1240" y="504"/>
                  <a:pt x="1280" y="528"/>
                </a:cubicBezTo>
                <a:cubicBezTo>
                  <a:pt x="1320" y="552"/>
                  <a:pt x="1424" y="568"/>
                  <a:pt x="1472" y="528"/>
                </a:cubicBezTo>
                <a:cubicBezTo>
                  <a:pt x="1520" y="488"/>
                  <a:pt x="1512" y="344"/>
                  <a:pt x="1568" y="288"/>
                </a:cubicBezTo>
                <a:cubicBezTo>
                  <a:pt x="1624" y="232"/>
                  <a:pt x="1688" y="192"/>
                  <a:pt x="1808" y="192"/>
                </a:cubicBezTo>
                <a:cubicBezTo>
                  <a:pt x="1928" y="192"/>
                  <a:pt x="2184" y="264"/>
                  <a:pt x="2288" y="288"/>
                </a:cubicBezTo>
                <a:cubicBezTo>
                  <a:pt x="2392" y="312"/>
                  <a:pt x="2352" y="320"/>
                  <a:pt x="2432" y="336"/>
                </a:cubicBezTo>
                <a:cubicBezTo>
                  <a:pt x="2512" y="352"/>
                  <a:pt x="2664" y="368"/>
                  <a:pt x="2768" y="384"/>
                </a:cubicBezTo>
                <a:cubicBezTo>
                  <a:pt x="2872" y="400"/>
                  <a:pt x="2968" y="392"/>
                  <a:pt x="3056" y="432"/>
                </a:cubicBezTo>
                <a:cubicBezTo>
                  <a:pt x="3144" y="472"/>
                  <a:pt x="3192" y="584"/>
                  <a:pt x="3296" y="624"/>
                </a:cubicBezTo>
                <a:cubicBezTo>
                  <a:pt x="3400" y="664"/>
                  <a:pt x="3540" y="668"/>
                  <a:pt x="3680" y="672"/>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7350" name="Text Box 6"/>
          <p:cNvSpPr txBox="1">
            <a:spLocks noChangeArrowheads="1"/>
          </p:cNvSpPr>
          <p:nvPr/>
        </p:nvSpPr>
        <p:spPr bwMode="auto">
          <a:xfrm>
            <a:off x="6796088" y="3048000"/>
            <a:ext cx="23479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t>Negative Border</a:t>
            </a:r>
          </a:p>
        </p:txBody>
      </p:sp>
      <p:sp>
        <p:nvSpPr>
          <p:cNvPr id="57351" name="Line 7"/>
          <p:cNvSpPr>
            <a:spLocks noChangeShapeType="1"/>
          </p:cNvSpPr>
          <p:nvPr/>
        </p:nvSpPr>
        <p:spPr bwMode="auto">
          <a:xfrm flipH="1">
            <a:off x="6324600" y="3505200"/>
            <a:ext cx="121920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7352" name="Line 8"/>
          <p:cNvSpPr>
            <a:spLocks noChangeShapeType="1"/>
          </p:cNvSpPr>
          <p:nvPr/>
        </p:nvSpPr>
        <p:spPr bwMode="auto">
          <a:xfrm>
            <a:off x="2438400" y="5486400"/>
            <a:ext cx="57150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7353" name="Line 9"/>
          <p:cNvSpPr>
            <a:spLocks noChangeShapeType="1"/>
          </p:cNvSpPr>
          <p:nvPr/>
        </p:nvSpPr>
        <p:spPr bwMode="auto">
          <a:xfrm flipV="1">
            <a:off x="2438400" y="4495800"/>
            <a:ext cx="0" cy="990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7354" name="Line 10"/>
          <p:cNvSpPr>
            <a:spLocks noChangeShapeType="1"/>
          </p:cNvSpPr>
          <p:nvPr/>
        </p:nvSpPr>
        <p:spPr bwMode="auto">
          <a:xfrm>
            <a:off x="8153400" y="4572000"/>
            <a:ext cx="0" cy="914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7355" name="Rectangle 11"/>
          <p:cNvSpPr>
            <a:spLocks noChangeArrowheads="1"/>
          </p:cNvSpPr>
          <p:nvPr/>
        </p:nvSpPr>
        <p:spPr bwMode="auto">
          <a:xfrm>
            <a:off x="2438400" y="4572000"/>
            <a:ext cx="5715000" cy="914400"/>
          </a:xfrm>
          <a:prstGeom prst="rect">
            <a:avLst/>
          </a:prstGeom>
          <a:solidFill>
            <a:srgbClr val="00FF00"/>
          </a:solidFill>
          <a:ln w="0">
            <a:solidFill>
              <a:srgbClr val="00FF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Frequent Itemsets</a:t>
            </a:r>
          </a:p>
          <a:p>
            <a:pPr algn="ctr"/>
            <a:r>
              <a:rPr lang="en-US"/>
              <a:t>from Sample</a:t>
            </a:r>
          </a:p>
        </p:txBody>
      </p:sp>
      <p:sp>
        <p:nvSpPr>
          <p:cNvPr id="57356" name="Line 12"/>
          <p:cNvSpPr>
            <a:spLocks noChangeShapeType="1"/>
          </p:cNvSpPr>
          <p:nvPr/>
        </p:nvSpPr>
        <p:spPr bwMode="auto">
          <a:xfrm flipH="1" flipV="1">
            <a:off x="3048000" y="2743200"/>
            <a:ext cx="304800" cy="762000"/>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7357" name="Line 13"/>
          <p:cNvSpPr>
            <a:spLocks noChangeShapeType="1"/>
          </p:cNvSpPr>
          <p:nvPr/>
        </p:nvSpPr>
        <p:spPr bwMode="auto">
          <a:xfrm flipH="1" flipV="1">
            <a:off x="3200400" y="2743200"/>
            <a:ext cx="152400" cy="685800"/>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7358" name="Line 14"/>
          <p:cNvSpPr>
            <a:spLocks noChangeShapeType="1"/>
          </p:cNvSpPr>
          <p:nvPr/>
        </p:nvSpPr>
        <p:spPr bwMode="auto">
          <a:xfrm flipH="1" flipV="1">
            <a:off x="3352800" y="2743200"/>
            <a:ext cx="0" cy="685800"/>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7359" name="Line 15"/>
          <p:cNvSpPr>
            <a:spLocks noChangeShapeType="1"/>
          </p:cNvSpPr>
          <p:nvPr/>
        </p:nvSpPr>
        <p:spPr bwMode="auto">
          <a:xfrm flipV="1">
            <a:off x="3352800" y="2743200"/>
            <a:ext cx="152400" cy="762000"/>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7360" name="Text Box 16"/>
          <p:cNvSpPr txBox="1">
            <a:spLocks noChangeArrowheads="1"/>
          </p:cNvSpPr>
          <p:nvPr/>
        </p:nvSpPr>
        <p:spPr bwMode="auto">
          <a:xfrm>
            <a:off x="3505200" y="1981200"/>
            <a:ext cx="3184525"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t>We broke through the</a:t>
            </a:r>
          </a:p>
          <a:p>
            <a:r>
              <a:rPr lang="en-US"/>
              <a:t>negative border.  How</a:t>
            </a:r>
          </a:p>
          <a:p>
            <a:r>
              <a:rPr lang="en-US"/>
              <a:t>far does the problem</a:t>
            </a:r>
          </a:p>
          <a:p>
            <a:r>
              <a:rPr lang="en-US"/>
              <a:t>        go?</a:t>
            </a:r>
          </a:p>
        </p:txBody>
      </p:sp>
    </p:spTree>
    <p:extLst>
      <p:ext uri="{BB962C8B-B14F-4D97-AF65-F5344CB8AC3E}">
        <p14:creationId xmlns:p14="http://schemas.microsoft.com/office/powerpoint/2010/main" val="36332049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061EE907-8830-4A14-BDA1-DC6F105A3A26}" type="slidenum">
              <a:rPr lang="en-US"/>
              <a:pPr/>
              <a:t>25</a:t>
            </a:fld>
            <a:endParaRPr lang="en-US"/>
          </a:p>
        </p:txBody>
      </p:sp>
      <p:sp>
        <p:nvSpPr>
          <p:cNvPr id="37890" name="Rectangle 2"/>
          <p:cNvSpPr>
            <a:spLocks noGrp="1" noChangeArrowheads="1"/>
          </p:cNvSpPr>
          <p:nvPr>
            <p:ph type="title"/>
          </p:nvPr>
        </p:nvSpPr>
        <p:spPr/>
        <p:txBody>
          <a:bodyPr/>
          <a:lstStyle/>
          <a:p>
            <a:r>
              <a:rPr lang="en-US" dirty="0">
                <a:solidFill>
                  <a:srgbClr val="00B0F0"/>
                </a:solidFill>
              </a:rPr>
              <a:t>Theorem</a:t>
            </a:r>
            <a:r>
              <a:rPr lang="en-US" dirty="0"/>
              <a:t>:</a:t>
            </a:r>
          </a:p>
        </p:txBody>
      </p:sp>
      <p:sp>
        <p:nvSpPr>
          <p:cNvPr id="37891" name="Rectangle 3"/>
          <p:cNvSpPr>
            <a:spLocks noGrp="1" noChangeArrowheads="1"/>
          </p:cNvSpPr>
          <p:nvPr>
            <p:ph type="body" idx="1"/>
          </p:nvPr>
        </p:nvSpPr>
        <p:spPr/>
        <p:txBody>
          <a:bodyPr/>
          <a:lstStyle/>
          <a:p>
            <a:r>
              <a:rPr lang="en-US" dirty="0"/>
              <a:t>If there is an </a:t>
            </a:r>
            <a:r>
              <a:rPr lang="en-US" dirty="0" err="1"/>
              <a:t>itemset</a:t>
            </a:r>
            <a:r>
              <a:rPr lang="en-US" dirty="0"/>
              <a:t> that is frequent in the whole, but not frequent in the sample, then there is a member of the negative border for the sample that is frequent in the whole.</a:t>
            </a:r>
          </a:p>
        </p:txBody>
      </p:sp>
    </p:spTree>
    <p:extLst>
      <p:ext uri="{BB962C8B-B14F-4D97-AF65-F5344CB8AC3E}">
        <p14:creationId xmlns:p14="http://schemas.microsoft.com/office/powerpoint/2010/main" val="42948111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5"/>
          <p:cNvSpPr>
            <a:spLocks noGrp="1"/>
          </p:cNvSpPr>
          <p:nvPr>
            <p:ph type="sldNum" sz="quarter" idx="12"/>
          </p:nvPr>
        </p:nvSpPr>
        <p:spPr/>
        <p:txBody>
          <a:bodyPr/>
          <a:lstStyle/>
          <a:p>
            <a:fld id="{7CF7BA59-15A7-4D95-8640-A0DFDF07CDCD}" type="slidenum">
              <a:rPr lang="en-US"/>
              <a:pPr/>
              <a:t>26</a:t>
            </a:fld>
            <a:endParaRPr lang="en-US"/>
          </a:p>
        </p:txBody>
      </p:sp>
      <p:sp>
        <p:nvSpPr>
          <p:cNvPr id="38915" name="Rectangle 3"/>
          <p:cNvSpPr>
            <a:spLocks noGrp="1" noChangeArrowheads="1"/>
          </p:cNvSpPr>
          <p:nvPr>
            <p:ph type="body" idx="1"/>
          </p:nvPr>
        </p:nvSpPr>
        <p:spPr>
          <a:xfrm>
            <a:off x="609600" y="1295400"/>
            <a:ext cx="8229600" cy="5791200"/>
          </a:xfrm>
        </p:spPr>
        <p:txBody>
          <a:bodyPr/>
          <a:lstStyle/>
          <a:p>
            <a:pPr marL="609600" indent="-609600"/>
            <a:r>
              <a:rPr lang="en-US" dirty="0"/>
              <a:t>Suppose not; i.e.;</a:t>
            </a:r>
          </a:p>
          <a:p>
            <a:pPr marL="990600" lvl="1" indent="-533400">
              <a:buFont typeface="Monotype Sorts" pitchFamily="2" charset="2"/>
              <a:buAutoNum type="arabicPeriod"/>
            </a:pPr>
            <a:r>
              <a:rPr lang="en-US" dirty="0"/>
              <a:t>There is an </a:t>
            </a:r>
            <a:r>
              <a:rPr lang="en-US" dirty="0" err="1"/>
              <a:t>itemset</a:t>
            </a:r>
            <a:r>
              <a:rPr lang="en-US" dirty="0"/>
              <a:t> </a:t>
            </a:r>
            <a:r>
              <a:rPr lang="en-US" i="1" dirty="0"/>
              <a:t>S </a:t>
            </a:r>
            <a:r>
              <a:rPr lang="en-US" dirty="0"/>
              <a:t>frequent in the whole but not frequent in the sample, and</a:t>
            </a:r>
          </a:p>
          <a:p>
            <a:pPr marL="990600" lvl="1" indent="-533400">
              <a:buFont typeface="Monotype Sorts" pitchFamily="2" charset="2"/>
              <a:buAutoNum type="arabicPeriod"/>
            </a:pPr>
            <a:r>
              <a:rPr lang="en-US" dirty="0"/>
              <a:t>Nothing in the negative border is frequent in the whole.</a:t>
            </a:r>
          </a:p>
          <a:p>
            <a:pPr marL="609600" indent="-609600"/>
            <a:r>
              <a:rPr lang="en-US" dirty="0"/>
              <a:t>Let </a:t>
            </a:r>
            <a:r>
              <a:rPr lang="en-US" i="1" dirty="0"/>
              <a:t>T</a:t>
            </a:r>
            <a:r>
              <a:rPr lang="en-US" dirty="0"/>
              <a:t> be a </a:t>
            </a:r>
            <a:r>
              <a:rPr lang="en-US" dirty="0">
                <a:solidFill>
                  <a:srgbClr val="33CC33"/>
                </a:solidFill>
              </a:rPr>
              <a:t>smallest</a:t>
            </a:r>
            <a:r>
              <a:rPr lang="en-US" dirty="0"/>
              <a:t> subset of </a:t>
            </a:r>
            <a:r>
              <a:rPr lang="en-US" i="1" dirty="0"/>
              <a:t>S</a:t>
            </a:r>
            <a:r>
              <a:rPr lang="en-US" dirty="0"/>
              <a:t> that is not frequent in the sample.</a:t>
            </a:r>
          </a:p>
          <a:p>
            <a:pPr marL="609600" indent="-609600"/>
            <a:r>
              <a:rPr lang="en-US" i="1" dirty="0"/>
              <a:t>T</a:t>
            </a:r>
            <a:r>
              <a:rPr lang="en-US" dirty="0"/>
              <a:t> is frequent in the whole (</a:t>
            </a:r>
            <a:r>
              <a:rPr lang="en-US" i="1" dirty="0"/>
              <a:t>S</a:t>
            </a:r>
            <a:r>
              <a:rPr lang="en-US" dirty="0"/>
              <a:t> is frequent + monotonicity).</a:t>
            </a:r>
          </a:p>
          <a:p>
            <a:pPr marL="609600" indent="-609600"/>
            <a:r>
              <a:rPr lang="en-US" i="1" dirty="0"/>
              <a:t>T</a:t>
            </a:r>
            <a:r>
              <a:rPr lang="en-US" dirty="0"/>
              <a:t> is in the negative border (else not “smallest”).</a:t>
            </a:r>
          </a:p>
        </p:txBody>
      </p:sp>
      <p:sp>
        <p:nvSpPr>
          <p:cNvPr id="4" name="Rectangle 2"/>
          <p:cNvSpPr>
            <a:spLocks noGrp="1" noChangeArrowheads="1"/>
          </p:cNvSpPr>
          <p:nvPr>
            <p:ph type="title"/>
          </p:nvPr>
        </p:nvSpPr>
        <p:spPr>
          <a:xfrm>
            <a:off x="457200" y="76200"/>
            <a:ext cx="8686800" cy="987552"/>
          </a:xfrm>
        </p:spPr>
        <p:txBody>
          <a:bodyPr/>
          <a:lstStyle/>
          <a:p>
            <a:r>
              <a:rPr lang="en-US" dirty="0">
                <a:solidFill>
                  <a:srgbClr val="33CC33"/>
                </a:solidFill>
              </a:rPr>
              <a:t>Proof</a:t>
            </a:r>
            <a:r>
              <a:rPr lang="en-US" dirty="0"/>
              <a:t>:</a:t>
            </a:r>
          </a:p>
        </p:txBody>
      </p:sp>
    </p:spTree>
    <p:extLst>
      <p:ext uri="{BB962C8B-B14F-4D97-AF65-F5344CB8AC3E}">
        <p14:creationId xmlns:p14="http://schemas.microsoft.com/office/powerpoint/2010/main" val="36532756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891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891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891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891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891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5" grpId="0" build="p"/>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odule">
  <a:themeElements>
    <a:clrScheme name="Jure Color Scheme">
      <a:dk1>
        <a:sysClr val="windowText" lastClr="000000"/>
      </a:dk1>
      <a:lt1>
        <a:sysClr val="window" lastClr="FFFFFF"/>
      </a:lt1>
      <a:dk2>
        <a:srgbClr val="5A6378"/>
      </a:dk2>
      <a:lt2>
        <a:srgbClr val="D4D4D6"/>
      </a:lt2>
      <a:accent1>
        <a:srgbClr val="F0AD00"/>
      </a:accent1>
      <a:accent2>
        <a:srgbClr val="7030A0"/>
      </a:accent2>
      <a:accent3>
        <a:srgbClr val="00B0F0"/>
      </a:accent3>
      <a:accent4>
        <a:srgbClr val="D60093"/>
      </a:accent4>
      <a:accent5>
        <a:srgbClr val="008000"/>
      </a:accent5>
      <a:accent6>
        <a:srgbClr val="FF6600"/>
      </a:accent6>
      <a:hlink>
        <a:srgbClr val="168BBA"/>
      </a:hlink>
      <a:folHlink>
        <a:srgbClr val="680000"/>
      </a:folHlink>
    </a:clrScheme>
    <a:fontScheme name="Module">
      <a:maj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Modul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7500"/>
                <a:satMod val="137000"/>
              </a:schemeClr>
            </a:gs>
            <a:gs pos="55000">
              <a:schemeClr val="phClr">
                <a:shade val="69000"/>
                <a:satMod val="137000"/>
              </a:schemeClr>
            </a:gs>
            <a:gs pos="100000">
              <a:schemeClr val="phClr">
                <a:shade val="98000"/>
                <a:satMod val="137000"/>
              </a:schemeClr>
            </a:gs>
          </a:gsLst>
          <a:lin ang="16200000" scaled="0"/>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48000"/>
                <a:satMod val="300000"/>
              </a:schemeClr>
            </a:gs>
            <a:gs pos="12000">
              <a:schemeClr val="phClr">
                <a:tint val="48000"/>
                <a:satMod val="300000"/>
              </a:schemeClr>
            </a:gs>
            <a:gs pos="20000">
              <a:schemeClr val="phClr">
                <a:tint val="49000"/>
                <a:satMod val="300000"/>
              </a:schemeClr>
            </a:gs>
            <a:gs pos="100000">
              <a:schemeClr val="phClr">
                <a:shade val="30000"/>
              </a:schemeClr>
            </a:gs>
          </a:gsLst>
          <a:path path="circle">
            <a:fillToRect l="10000" t="-25000" r="10000" b="125000"/>
          </a:path>
        </a:gradFill>
        <a:blipFill>
          <a:blip xmlns:r="http://schemas.openxmlformats.org/officeDocument/2006/relationships" r:embed="rId1">
            <a:duotone>
              <a:schemeClr val="phClr">
                <a:shade val="75000"/>
                <a:satMod val="105000"/>
              </a:schemeClr>
              <a:schemeClr val="phClr">
                <a:tint val="95000"/>
                <a:satMod val="105000"/>
              </a:schemeClr>
            </a:duotone>
          </a:blip>
          <a:tile tx="0" ty="0" sx="38000" sy="38000" flip="none" algn="tl"/>
        </a:blipFill>
      </a:bgFillStyleLst>
    </a:fmtScheme>
  </a:themeElements>
  <a:objectDefaults>
    <a:spDef>
      <a:spPr>
        <a:ln cmpd="sng"/>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28575" cmpd="sng"/>
      </a:spPr>
      <a:bodyPr/>
      <a:lstStyle/>
      <a:style>
        <a:lnRef idx="1">
          <a:schemeClr val="dk1"/>
        </a:lnRef>
        <a:fillRef idx="0">
          <a:schemeClr val="dk1"/>
        </a:fillRef>
        <a:effectRef idx="0">
          <a:schemeClr val="dk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Module</Template>
  <TotalTime>8819</TotalTime>
  <Words>5233</Words>
  <Application>Microsoft Office PowerPoint</Application>
  <PresentationFormat>On-screen Show (4:3)</PresentationFormat>
  <Paragraphs>306</Paragraphs>
  <Slides>26</Slides>
  <Notes>22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26</vt:i4>
      </vt:variant>
    </vt:vector>
  </HeadingPairs>
  <TitlesOfParts>
    <vt:vector size="35" baseType="lpstr">
      <vt:lpstr>Calibri</vt:lpstr>
      <vt:lpstr>Corbel</vt:lpstr>
      <vt:lpstr>Courier New</vt:lpstr>
      <vt:lpstr>Monotype Sorts</vt:lpstr>
      <vt:lpstr>Palatino Linotype</vt:lpstr>
      <vt:lpstr>Times New Roman</vt:lpstr>
      <vt:lpstr>Wingdings</vt:lpstr>
      <vt:lpstr>Wingdings 2</vt:lpstr>
      <vt:lpstr>Module</vt:lpstr>
      <vt:lpstr>PowerPoint Presentation</vt:lpstr>
      <vt:lpstr>PowerPoint Presentation</vt:lpstr>
      <vt:lpstr>PCY Algorithm</vt:lpstr>
      <vt:lpstr>PCY Algorithm – (2)</vt:lpstr>
      <vt:lpstr>Picture of PCY</vt:lpstr>
      <vt:lpstr>Pass 1: Memory Organization</vt:lpstr>
      <vt:lpstr>PCY Algorithm – Pass 1</vt:lpstr>
      <vt:lpstr>Observations About Buckets</vt:lpstr>
      <vt:lpstr>PCY Algorithm – Between Passes</vt:lpstr>
      <vt:lpstr>PCY Algorithm – Pass 2</vt:lpstr>
      <vt:lpstr>Memory Details</vt:lpstr>
      <vt:lpstr>More Extensions to A-Priori</vt:lpstr>
      <vt:lpstr>PowerPoint Presentation</vt:lpstr>
      <vt:lpstr>Simple Algorithm</vt:lpstr>
      <vt:lpstr>Simple Algorithm – Option</vt:lpstr>
      <vt:lpstr>SON Algorithm</vt:lpstr>
      <vt:lpstr>SON Algorithm – Pass 2</vt:lpstr>
      <vt:lpstr>Toivonen’s Algorithm</vt:lpstr>
      <vt:lpstr>Toivonen’s Algorithm – (2)</vt:lpstr>
      <vt:lpstr>Example: Negative Border</vt:lpstr>
      <vt:lpstr>Picture of Negative Border</vt:lpstr>
      <vt:lpstr>Toivonen’s Algorithm – (3)</vt:lpstr>
      <vt:lpstr>Toivonen’s Algorithm – (4)</vt:lpstr>
      <vt:lpstr>If Something in the Negative Border Is Frequent . . .</vt:lpstr>
      <vt:lpstr>Theorem:</vt:lpstr>
      <vt:lpstr>Proof:</vt:lpstr>
    </vt:vector>
  </TitlesOfParts>
  <Company>Carnegie Mellon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jure</dc:creator>
  <cp:lastModifiedBy>Dr. Mohammad Rezwanul Huq</cp:lastModifiedBy>
  <cp:revision>562</cp:revision>
  <dcterms:created xsi:type="dcterms:W3CDTF">2009-06-12T17:14:38Z</dcterms:created>
  <dcterms:modified xsi:type="dcterms:W3CDTF">2021-11-20T20:11:50Z</dcterms:modified>
</cp:coreProperties>
</file>