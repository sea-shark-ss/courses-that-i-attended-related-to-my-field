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4"/>
  </p:notesMasterIdLst>
  <p:sldIdLst>
    <p:sldId id="256" r:id="rId2"/>
    <p:sldId id="325" r:id="rId3"/>
    <p:sldId id="326" r:id="rId4"/>
    <p:sldId id="328" r:id="rId5"/>
    <p:sldId id="327" r:id="rId6"/>
    <p:sldId id="330" r:id="rId7"/>
    <p:sldId id="331" r:id="rId8"/>
    <p:sldId id="332" r:id="rId9"/>
    <p:sldId id="286" r:id="rId10"/>
    <p:sldId id="287" r:id="rId11"/>
    <p:sldId id="289" r:id="rId12"/>
    <p:sldId id="288" r:id="rId13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1596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1E18D3-2C79-4BA8-AEEA-6B4314CE6FA3}" type="datetimeFigureOut">
              <a:rPr lang="en-US" smtClean="0"/>
              <a:t>10/24/2021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3721B7-94EB-4D13-ADD4-339AD8D958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234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721B7-94EB-4D13-ADD4-339AD8D958B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6750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721B7-94EB-4D13-ADD4-339AD8D958B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7460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721B7-94EB-4D13-ADD4-339AD8D958B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5259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721B7-94EB-4D13-ADD4-339AD8D958B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1451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721B7-94EB-4D13-ADD4-339AD8D958B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3169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721B7-94EB-4D13-ADD4-339AD8D958B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6824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5" dirty="0"/>
              <a:t>3</a:t>
            </a:r>
            <a:r>
              <a:rPr spc="25" dirty="0"/>
              <a:t>/</a:t>
            </a:r>
            <a:r>
              <a:rPr spc="-5" dirty="0"/>
              <a:t>30</a:t>
            </a:r>
            <a:r>
              <a:rPr spc="25" dirty="0"/>
              <a:t>/</a:t>
            </a:r>
            <a:r>
              <a:rPr spc="-5" dirty="0"/>
              <a:t>202</a:t>
            </a:r>
            <a:r>
              <a:rPr dirty="0"/>
              <a:t>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1C6F5C-5B4F-45AD-BFA4-BD8EE79C9467}" type="datetime1">
              <a:rPr lang="en-US" smtClean="0"/>
              <a:t>10/24/2021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1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hlink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5" dirty="0"/>
              <a:t>3</a:t>
            </a:r>
            <a:r>
              <a:rPr spc="25" dirty="0"/>
              <a:t>/</a:t>
            </a:r>
            <a:r>
              <a:rPr spc="-5" dirty="0"/>
              <a:t>30</a:t>
            </a:r>
            <a:r>
              <a:rPr spc="25" dirty="0"/>
              <a:t>/</a:t>
            </a:r>
            <a:r>
              <a:rPr spc="-5" dirty="0"/>
              <a:t>202</a:t>
            </a:r>
            <a:r>
              <a:rPr dirty="0"/>
              <a:t>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4663B5-FCC9-43B5-AF91-246238B0D9C8}" type="datetime1">
              <a:rPr lang="en-US" smtClean="0"/>
              <a:t>10/24/2021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1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5" dirty="0"/>
              <a:t>3</a:t>
            </a:r>
            <a:r>
              <a:rPr spc="25" dirty="0"/>
              <a:t>/</a:t>
            </a:r>
            <a:r>
              <a:rPr spc="-5" dirty="0"/>
              <a:t>30</a:t>
            </a:r>
            <a:r>
              <a:rPr spc="25" dirty="0"/>
              <a:t>/</a:t>
            </a:r>
            <a:r>
              <a:rPr spc="-5" dirty="0"/>
              <a:t>202</a:t>
            </a:r>
            <a:r>
              <a:rPr dirty="0"/>
              <a:t>1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F7BB77-139E-46BA-8335-7A7CC4D48AC9}" type="datetime1">
              <a:rPr lang="en-US" smtClean="0"/>
              <a:t>10/24/2021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1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5" dirty="0"/>
              <a:t>3</a:t>
            </a:r>
            <a:r>
              <a:rPr spc="25" dirty="0"/>
              <a:t>/</a:t>
            </a:r>
            <a:r>
              <a:rPr spc="-5" dirty="0"/>
              <a:t>30</a:t>
            </a:r>
            <a:r>
              <a:rPr spc="25" dirty="0"/>
              <a:t>/</a:t>
            </a:r>
            <a:r>
              <a:rPr spc="-5" dirty="0"/>
              <a:t>202</a:t>
            </a:r>
            <a:r>
              <a:rPr dirty="0"/>
              <a:t>1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D73798-EFE1-46DF-A105-3E12975FABE4}" type="datetime1">
              <a:rPr lang="en-US" smtClean="0"/>
              <a:t>10/24/2021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5" dirty="0"/>
              <a:t>3</a:t>
            </a:r>
            <a:r>
              <a:rPr spc="25" dirty="0"/>
              <a:t>/</a:t>
            </a:r>
            <a:r>
              <a:rPr spc="-5" dirty="0"/>
              <a:t>30</a:t>
            </a:r>
            <a:r>
              <a:rPr spc="25" dirty="0"/>
              <a:t>/</a:t>
            </a:r>
            <a:r>
              <a:rPr spc="-5" dirty="0"/>
              <a:t>202</a:t>
            </a:r>
            <a:r>
              <a:rPr dirty="0"/>
              <a:t>1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8316A6-3DA9-4DDB-B2EF-5E279976E38D}" type="datetime1">
              <a:rPr lang="en-US" smtClean="0"/>
              <a:t>10/24/2021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8589328" y="6348439"/>
            <a:ext cx="315215" cy="184666"/>
          </a:xfrm>
        </p:spPr>
        <p:txBody>
          <a:bodyPr lIns="0" tIns="0" rIns="0" bIns="0"/>
          <a:lstStyle>
            <a:lvl1pPr>
              <a:defRPr sz="1200" b="0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>
            <a:pPr marL="38100">
              <a:spcBef>
                <a:spcPts val="55"/>
              </a:spcBef>
            </a:pPr>
            <a:fld id="{81D60167-4931-47E6-BA6A-407CBD079E47}" type="slidenum">
              <a:rPr lang="en-US" smtClean="0"/>
              <a:pPr marL="38100">
                <a:spcBef>
                  <a:spcPts val="55"/>
                </a:spcBef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999426"/>
            <a:ext cx="9144000" cy="11048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1019175"/>
            <a:ext cx="9144000" cy="47625"/>
          </a:xfrm>
          <a:custGeom>
            <a:avLst/>
            <a:gdLst/>
            <a:ahLst/>
            <a:cxnLst/>
            <a:rect l="l" t="t" r="r" b="b"/>
            <a:pathLst>
              <a:path w="9144000" h="47625">
                <a:moveTo>
                  <a:pt x="9144000" y="0"/>
                </a:moveTo>
                <a:lnTo>
                  <a:pt x="0" y="0"/>
                </a:lnTo>
                <a:lnTo>
                  <a:pt x="0" y="47625"/>
                </a:lnTo>
                <a:lnTo>
                  <a:pt x="9144000" y="47625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0"/>
            <a:ext cx="9144000" cy="1019175"/>
          </a:xfrm>
          <a:custGeom>
            <a:avLst/>
            <a:gdLst/>
            <a:ahLst/>
            <a:cxnLst/>
            <a:rect l="l" t="t" r="r" b="b"/>
            <a:pathLst>
              <a:path w="9144000" h="1019175">
                <a:moveTo>
                  <a:pt x="9144000" y="0"/>
                </a:moveTo>
                <a:lnTo>
                  <a:pt x="0" y="0"/>
                </a:lnTo>
                <a:lnTo>
                  <a:pt x="0" y="1019175"/>
                </a:lnTo>
                <a:lnTo>
                  <a:pt x="9144000" y="10191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38530" y="1716064"/>
            <a:ext cx="3696970" cy="5448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1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4362" y="2117695"/>
            <a:ext cx="7790180" cy="4448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hlink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54672" y="6713609"/>
            <a:ext cx="523875" cy="16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5" dirty="0"/>
              <a:t>3</a:t>
            </a:r>
            <a:r>
              <a:rPr spc="25" dirty="0"/>
              <a:t>/</a:t>
            </a:r>
            <a:r>
              <a:rPr spc="-5" dirty="0"/>
              <a:t>30</a:t>
            </a:r>
            <a:r>
              <a:rPr spc="25" dirty="0"/>
              <a:t>/</a:t>
            </a:r>
            <a:r>
              <a:rPr spc="-5" dirty="0"/>
              <a:t>202</a:t>
            </a:r>
            <a:r>
              <a:rPr dirty="0"/>
              <a:t>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1DF8FC-BAFB-4DB7-8DCA-2E9DA8BEB52C}" type="datetime1">
              <a:rPr lang="en-US" smtClean="0"/>
              <a:t>10/24/2021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04960" y="6713609"/>
            <a:ext cx="190500" cy="16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hyperlink" Target="http://cs246.stanford.edu/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2202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9144000" cy="5133975"/>
            </a:xfrm>
            <a:custGeom>
              <a:avLst/>
              <a:gdLst/>
              <a:ahLst/>
              <a:cxnLst/>
              <a:rect l="l" t="t" r="r" b="b"/>
              <a:pathLst>
                <a:path w="9144000" h="5133975">
                  <a:moveTo>
                    <a:pt x="9144000" y="0"/>
                  </a:moveTo>
                  <a:lnTo>
                    <a:pt x="0" y="0"/>
                  </a:lnTo>
                  <a:lnTo>
                    <a:pt x="0" y="5133975"/>
                  </a:lnTo>
                  <a:lnTo>
                    <a:pt x="9144000" y="513397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086286"/>
              <a:ext cx="9144000" cy="13811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5124450"/>
              <a:ext cx="9144000" cy="47625"/>
            </a:xfrm>
            <a:custGeom>
              <a:avLst/>
              <a:gdLst/>
              <a:ahLst/>
              <a:cxnLst/>
              <a:rect l="l" t="t" r="r" b="b"/>
              <a:pathLst>
                <a:path w="9144000" h="47625">
                  <a:moveTo>
                    <a:pt x="9144000" y="0"/>
                  </a:moveTo>
                  <a:lnTo>
                    <a:pt x="0" y="0"/>
                  </a:lnTo>
                  <a:lnTo>
                    <a:pt x="0" y="47625"/>
                  </a:lnTo>
                  <a:lnTo>
                    <a:pt x="9144000" y="4762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813300" y="5224398"/>
            <a:ext cx="4330700" cy="111742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870"/>
              </a:lnSpc>
            </a:pPr>
            <a:r>
              <a:rPr lang="en-AU" sz="2400" spc="10" dirty="0">
                <a:solidFill>
                  <a:srgbClr val="FFFFFF"/>
                </a:solidFill>
                <a:latin typeface="Corbel"/>
                <a:cs typeface="Corbel"/>
              </a:rPr>
              <a:t>Dr. Mohammad Rezwanul Huq</a:t>
            </a:r>
          </a:p>
          <a:p>
            <a:pPr marL="12700">
              <a:lnSpc>
                <a:spcPts val="2870"/>
              </a:lnSpc>
            </a:pPr>
            <a:r>
              <a:rPr lang="en-AU" sz="2400" spc="10" dirty="0">
                <a:solidFill>
                  <a:srgbClr val="FFFFFF"/>
                </a:solidFill>
                <a:latin typeface="Corbel"/>
                <a:cs typeface="Corbel"/>
              </a:rPr>
              <a:t>Associate Professor</a:t>
            </a:r>
          </a:p>
          <a:p>
            <a:pPr marL="12700">
              <a:lnSpc>
                <a:spcPts val="2870"/>
              </a:lnSpc>
            </a:pPr>
            <a:r>
              <a:rPr lang="en-AU" sz="2400" spc="10" dirty="0">
                <a:solidFill>
                  <a:srgbClr val="FFFFFF"/>
                </a:solidFill>
                <a:latin typeface="Corbel"/>
                <a:cs typeface="Corbel"/>
              </a:rPr>
              <a:t>East West University</a:t>
            </a:r>
            <a:endParaRPr sz="2000" dirty="0">
              <a:latin typeface="Corbel"/>
              <a:cs typeface="Corbe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C8D84B-8AF9-4ABB-AF8C-ED978638D2A0}"/>
              </a:ext>
            </a:extLst>
          </p:cNvPr>
          <p:cNvSpPr txBox="1"/>
          <p:nvPr/>
        </p:nvSpPr>
        <p:spPr>
          <a:xfrm>
            <a:off x="1066800" y="1905000"/>
            <a:ext cx="73152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>
                <a:solidFill>
                  <a:srgbClr val="FFFF00"/>
                </a:solidFill>
                <a:latin typeface="Palatino Linotype" panose="02040502050505030304" pitchFamily="18" charset="0"/>
              </a:rPr>
              <a:t>CSE488: Big Data Analytics</a:t>
            </a:r>
          </a:p>
          <a:p>
            <a:pPr algn="ctr"/>
            <a:endParaRPr lang="en-AU" sz="3200" dirty="0">
              <a:solidFill>
                <a:srgbClr val="FFFF00"/>
              </a:solidFill>
              <a:latin typeface="Palatino Linotype" panose="02040502050505030304" pitchFamily="18" charset="0"/>
            </a:endParaRPr>
          </a:p>
          <a:p>
            <a:pPr algn="ctr"/>
            <a:r>
              <a:rPr lang="en-AU" sz="3600" dirty="0">
                <a:solidFill>
                  <a:srgbClr val="00B0F0"/>
                </a:solidFill>
                <a:latin typeface="Palatino Linotype" panose="02040502050505030304" pitchFamily="18" charset="0"/>
              </a:rPr>
              <a:t>Lecture 2: Distributed File Systems</a:t>
            </a:r>
            <a:endParaRPr lang="en-US" sz="3600" dirty="0">
              <a:solidFill>
                <a:srgbClr val="00B0F0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2E6B7B-BDD2-4FB0-86E8-E2059ABD5FA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US" smtClean="0"/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356288-4385-4E0E-BBA0-506828F12279}"/>
              </a:ext>
            </a:extLst>
          </p:cNvPr>
          <p:cNvSpPr txBox="1"/>
          <p:nvPr/>
        </p:nvSpPr>
        <p:spPr>
          <a:xfrm>
            <a:off x="457200" y="152400"/>
            <a:ext cx="8458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>
                <a:solidFill>
                  <a:srgbClr val="FFFF00"/>
                </a:solidFill>
                <a:latin typeface="Palatino Linotype" panose="02040502050505030304" pitchFamily="18" charset="0"/>
              </a:rPr>
              <a:t>Single Node Architecture</a:t>
            </a:r>
            <a:endParaRPr lang="en-US" sz="4000" dirty="0">
              <a:solidFill>
                <a:srgbClr val="FFFF00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28F169-1125-4E32-BC4D-C4755BE77584}"/>
              </a:ext>
            </a:extLst>
          </p:cNvPr>
          <p:cNvSpPr/>
          <p:nvPr/>
        </p:nvSpPr>
        <p:spPr>
          <a:xfrm>
            <a:off x="1371600" y="1981200"/>
            <a:ext cx="2743200" cy="9480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600" dirty="0"/>
              <a:t>CPU</a:t>
            </a:r>
            <a:endParaRPr lang="en-US" sz="3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377BC4-40CF-4EE0-8CF1-1CA3FF213C54}"/>
              </a:ext>
            </a:extLst>
          </p:cNvPr>
          <p:cNvSpPr/>
          <p:nvPr/>
        </p:nvSpPr>
        <p:spPr>
          <a:xfrm>
            <a:off x="1371600" y="3162687"/>
            <a:ext cx="2743200" cy="13816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600" dirty="0"/>
              <a:t>Memory</a:t>
            </a:r>
            <a:endParaRPr lang="en-US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B24D1F-B138-4BED-913A-C436232702BF}"/>
              </a:ext>
            </a:extLst>
          </p:cNvPr>
          <p:cNvSpPr txBox="1"/>
          <p:nvPr/>
        </p:nvSpPr>
        <p:spPr>
          <a:xfrm>
            <a:off x="4419600" y="2585591"/>
            <a:ext cx="4343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>
                <a:solidFill>
                  <a:srgbClr val="FF0000"/>
                </a:solidFill>
              </a:rPr>
              <a:t>Machine Learning</a:t>
            </a:r>
          </a:p>
          <a:p>
            <a:r>
              <a:rPr lang="en-AU" sz="3200" dirty="0">
                <a:solidFill>
                  <a:srgbClr val="FF0000"/>
                </a:solidFill>
              </a:rPr>
              <a:t>Statistical Computation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D5D58C-7A53-43CB-95F4-FA56B9BC0FEA}"/>
              </a:ext>
            </a:extLst>
          </p:cNvPr>
          <p:cNvSpPr txBox="1"/>
          <p:nvPr/>
        </p:nvSpPr>
        <p:spPr>
          <a:xfrm>
            <a:off x="685800" y="5791200"/>
            <a:ext cx="464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>
                <a:solidFill>
                  <a:srgbClr val="00B050"/>
                </a:solidFill>
              </a:rPr>
              <a:t>Data fits in main memory</a:t>
            </a:r>
            <a:endParaRPr lang="en-US" sz="3200" dirty="0">
              <a:solidFill>
                <a:srgbClr val="00B050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5A8213-0BEF-4264-8A0A-783A18B01FE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2248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356288-4385-4E0E-BBA0-506828F12279}"/>
              </a:ext>
            </a:extLst>
          </p:cNvPr>
          <p:cNvSpPr txBox="1"/>
          <p:nvPr/>
        </p:nvSpPr>
        <p:spPr>
          <a:xfrm>
            <a:off x="457200" y="152400"/>
            <a:ext cx="8458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>
                <a:solidFill>
                  <a:srgbClr val="FFFF00"/>
                </a:solidFill>
                <a:latin typeface="Palatino Linotype" panose="02040502050505030304" pitchFamily="18" charset="0"/>
              </a:rPr>
              <a:t>Single Node Architecture (cont’d)</a:t>
            </a:r>
            <a:endParaRPr lang="en-US" sz="4000" dirty="0">
              <a:solidFill>
                <a:srgbClr val="FFFF00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B24D1F-B138-4BED-913A-C436232702BF}"/>
              </a:ext>
            </a:extLst>
          </p:cNvPr>
          <p:cNvSpPr txBox="1"/>
          <p:nvPr/>
        </p:nvSpPr>
        <p:spPr>
          <a:xfrm>
            <a:off x="4419600" y="2910036"/>
            <a:ext cx="4343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>
                <a:solidFill>
                  <a:srgbClr val="FF0000"/>
                </a:solidFill>
              </a:rPr>
              <a:t>“Classical” Data Mining (batch processing)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D5D58C-7A53-43CB-95F4-FA56B9BC0FEA}"/>
              </a:ext>
            </a:extLst>
          </p:cNvPr>
          <p:cNvSpPr txBox="1"/>
          <p:nvPr/>
        </p:nvSpPr>
        <p:spPr>
          <a:xfrm>
            <a:off x="228600" y="6037005"/>
            <a:ext cx="6019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>
                <a:solidFill>
                  <a:srgbClr val="00B050"/>
                </a:solidFill>
              </a:rPr>
              <a:t>Data doesn’t fit in main memory</a:t>
            </a:r>
            <a:endParaRPr lang="en-US" sz="3200" dirty="0">
              <a:solidFill>
                <a:srgbClr val="00B050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1378EA4-1576-42FA-8544-F74743AA0288}"/>
              </a:ext>
            </a:extLst>
          </p:cNvPr>
          <p:cNvGrpSpPr/>
          <p:nvPr/>
        </p:nvGrpSpPr>
        <p:grpSpPr>
          <a:xfrm>
            <a:off x="1219200" y="1828800"/>
            <a:ext cx="3048000" cy="4038600"/>
            <a:chOff x="1219200" y="1828800"/>
            <a:chExt cx="3048000" cy="40386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8E17A81-1C24-4E3B-8589-7730A778FACC}"/>
                </a:ext>
              </a:extLst>
            </p:cNvPr>
            <p:cNvSpPr/>
            <p:nvPr/>
          </p:nvSpPr>
          <p:spPr>
            <a:xfrm>
              <a:off x="1219200" y="1828800"/>
              <a:ext cx="3048000" cy="40386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0728F169-1125-4E32-BC4D-C4755BE77584}"/>
                </a:ext>
              </a:extLst>
            </p:cNvPr>
            <p:cNvSpPr/>
            <p:nvPr/>
          </p:nvSpPr>
          <p:spPr>
            <a:xfrm>
              <a:off x="1371600" y="1981200"/>
              <a:ext cx="2743200" cy="94806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3600" dirty="0"/>
                <a:t>CPU</a:t>
              </a:r>
              <a:endParaRPr lang="en-US" sz="3600" dirty="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6377BC4-40CF-4EE0-8CF1-1CA3FF213C54}"/>
                </a:ext>
              </a:extLst>
            </p:cNvPr>
            <p:cNvSpPr/>
            <p:nvPr/>
          </p:nvSpPr>
          <p:spPr>
            <a:xfrm>
              <a:off x="1371600" y="3162687"/>
              <a:ext cx="2743200" cy="138163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3600" dirty="0"/>
                <a:t>Memory</a:t>
              </a:r>
              <a:endParaRPr lang="en-US" sz="3600" dirty="0"/>
            </a:p>
          </p:txBody>
        </p:sp>
        <p:sp>
          <p:nvSpPr>
            <p:cNvPr id="7" name="Flowchart: Magnetic Disk 6">
              <a:extLst>
                <a:ext uri="{FF2B5EF4-FFF2-40B4-BE49-F238E27FC236}">
                  <a16:creationId xmlns:a16="http://schemas.microsoft.com/office/drawing/2014/main" id="{56C78969-9B2B-4B4F-AEF7-862D41D91C69}"/>
                </a:ext>
              </a:extLst>
            </p:cNvPr>
            <p:cNvSpPr/>
            <p:nvPr/>
          </p:nvSpPr>
          <p:spPr>
            <a:xfrm>
              <a:off x="1371600" y="4777740"/>
              <a:ext cx="2743200" cy="914400"/>
            </a:xfrm>
            <a:prstGeom prst="flowChartMagneticDisk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3600" dirty="0"/>
                <a:t>Disk</a:t>
              </a:r>
              <a:endParaRPr lang="en-US" sz="3600"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5EB1905-42D2-4506-AE4D-3A91B3766F24}"/>
              </a:ext>
            </a:extLst>
          </p:cNvPr>
          <p:cNvSpPr txBox="1"/>
          <p:nvPr/>
        </p:nvSpPr>
        <p:spPr>
          <a:xfrm>
            <a:off x="4434840" y="4458280"/>
            <a:ext cx="44805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>
                <a:solidFill>
                  <a:srgbClr val="C00000"/>
                </a:solidFill>
              </a:rPr>
              <a:t>Even batch processing is not sufficient sometimes!</a:t>
            </a: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B6F2AD3-4BEC-450D-A5E8-37E4F2679EF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6010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356288-4385-4E0E-BBA0-506828F12279}"/>
              </a:ext>
            </a:extLst>
          </p:cNvPr>
          <p:cNvSpPr txBox="1"/>
          <p:nvPr/>
        </p:nvSpPr>
        <p:spPr>
          <a:xfrm>
            <a:off x="457200" y="152400"/>
            <a:ext cx="8458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>
                <a:solidFill>
                  <a:srgbClr val="FFFF00"/>
                </a:solidFill>
                <a:latin typeface="Palatino Linotype" panose="02040502050505030304" pitchFamily="18" charset="0"/>
              </a:rPr>
              <a:t>Motivation: Google Example</a:t>
            </a:r>
            <a:endParaRPr lang="en-US" sz="4000" dirty="0">
              <a:solidFill>
                <a:srgbClr val="FFFF00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0A9B5B5E-FCAB-4376-AD38-1BD4898CED4F}"/>
              </a:ext>
            </a:extLst>
          </p:cNvPr>
          <p:cNvSpPr txBox="1"/>
          <p:nvPr/>
        </p:nvSpPr>
        <p:spPr>
          <a:xfrm>
            <a:off x="614362" y="1243913"/>
            <a:ext cx="8148638" cy="5476498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336550" indent="-324485">
              <a:lnSpc>
                <a:spcPct val="100000"/>
              </a:lnSpc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AU" sz="3200" dirty="0">
                <a:solidFill>
                  <a:schemeClr val="tx2"/>
                </a:solidFill>
                <a:latin typeface="Calibri"/>
                <a:cs typeface="Calibri"/>
              </a:rPr>
              <a:t>10 billion </a:t>
            </a:r>
            <a:r>
              <a:rPr lang="en-AU" sz="3200" dirty="0">
                <a:latin typeface="Calibri"/>
                <a:cs typeface="Calibri"/>
              </a:rPr>
              <a:t>web pages</a:t>
            </a:r>
          </a:p>
          <a:p>
            <a:pPr marL="336550" indent="-324485">
              <a:lnSpc>
                <a:spcPct val="100000"/>
              </a:lnSpc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AU" sz="3200" dirty="0">
                <a:latin typeface="Calibri"/>
                <a:cs typeface="Calibri"/>
              </a:rPr>
              <a:t>Average size of webpage = </a:t>
            </a:r>
            <a:r>
              <a:rPr lang="en-AU" sz="3200" dirty="0">
                <a:solidFill>
                  <a:schemeClr val="tx2"/>
                </a:solidFill>
                <a:latin typeface="Calibri"/>
                <a:cs typeface="Calibri"/>
              </a:rPr>
              <a:t>20KB</a:t>
            </a:r>
          </a:p>
          <a:p>
            <a:pPr marL="336550" indent="-324485">
              <a:lnSpc>
                <a:spcPct val="100000"/>
              </a:lnSpc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AU" sz="3200" dirty="0">
                <a:latin typeface="Calibri"/>
                <a:cs typeface="Calibri"/>
              </a:rPr>
              <a:t>Total size = </a:t>
            </a:r>
            <a:r>
              <a:rPr lang="en-AU" sz="3200" dirty="0">
                <a:solidFill>
                  <a:schemeClr val="tx2"/>
                </a:solidFill>
                <a:latin typeface="Calibri"/>
                <a:cs typeface="Calibri"/>
              </a:rPr>
              <a:t>10 billion </a:t>
            </a:r>
            <a:r>
              <a:rPr lang="en-AU" sz="3200" dirty="0">
                <a:latin typeface="Calibri"/>
                <a:cs typeface="Calibri"/>
              </a:rPr>
              <a:t>* </a:t>
            </a:r>
            <a:r>
              <a:rPr lang="en-AU" sz="3200" dirty="0">
                <a:solidFill>
                  <a:schemeClr val="tx2"/>
                </a:solidFill>
                <a:latin typeface="Calibri"/>
                <a:cs typeface="Calibri"/>
              </a:rPr>
              <a:t>20KB</a:t>
            </a:r>
            <a:r>
              <a:rPr lang="en-AU" sz="3200" dirty="0">
                <a:latin typeface="Calibri"/>
                <a:cs typeface="Calibri"/>
              </a:rPr>
              <a:t> = </a:t>
            </a:r>
            <a:r>
              <a:rPr lang="en-AU" sz="3200" dirty="0">
                <a:solidFill>
                  <a:srgbClr val="FF0000"/>
                </a:solidFill>
                <a:latin typeface="Calibri"/>
                <a:cs typeface="Calibri"/>
              </a:rPr>
              <a:t>200 TB</a:t>
            </a:r>
          </a:p>
          <a:p>
            <a:pPr marL="336550" indent="-324485">
              <a:lnSpc>
                <a:spcPct val="100000"/>
              </a:lnSpc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AU" sz="3200" dirty="0">
                <a:latin typeface="Calibri"/>
                <a:cs typeface="Calibri"/>
              </a:rPr>
              <a:t>Using classical computational model</a:t>
            </a:r>
          </a:p>
          <a:p>
            <a:pPr marL="793750" lvl="1" indent="-324485"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AU" sz="3200" dirty="0">
                <a:solidFill>
                  <a:srgbClr val="FF0000"/>
                </a:solidFill>
                <a:latin typeface="Calibri"/>
                <a:cs typeface="Calibri"/>
              </a:rPr>
              <a:t>Problem is Bandwidth!</a:t>
            </a:r>
          </a:p>
          <a:p>
            <a:pPr marL="336550" indent="-324485"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AU" sz="3200" dirty="0">
                <a:latin typeface="Calibri"/>
                <a:cs typeface="Calibri"/>
              </a:rPr>
              <a:t>Disk read bandwidth </a:t>
            </a:r>
            <a:r>
              <a:rPr lang="en-AU" sz="3200" dirty="0">
                <a:solidFill>
                  <a:srgbClr val="FF0000"/>
                </a:solidFill>
                <a:latin typeface="Calibri"/>
                <a:cs typeface="Calibri"/>
              </a:rPr>
              <a:t>= 50MB/sec</a:t>
            </a:r>
          </a:p>
          <a:p>
            <a:pPr marL="336550" indent="-324485"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AU" sz="3200" dirty="0">
                <a:latin typeface="Calibri"/>
                <a:cs typeface="Calibri"/>
              </a:rPr>
              <a:t>Total time to read </a:t>
            </a:r>
            <a:r>
              <a:rPr lang="en-AU" sz="3200" dirty="0">
                <a:solidFill>
                  <a:srgbClr val="FF0000"/>
                </a:solidFill>
                <a:latin typeface="Calibri"/>
                <a:cs typeface="Calibri"/>
              </a:rPr>
              <a:t>= ???</a:t>
            </a:r>
          </a:p>
          <a:p>
            <a:pPr marL="336550" indent="-324485"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AU" sz="3200" dirty="0">
                <a:solidFill>
                  <a:srgbClr val="FF0000"/>
                </a:solidFill>
                <a:latin typeface="Calibri"/>
                <a:cs typeface="Calibri"/>
              </a:rPr>
              <a:t>Awfully long time! </a:t>
            </a:r>
          </a:p>
          <a:p>
            <a:pPr marL="336550" indent="-324485"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AU" sz="3200" dirty="0">
                <a:solidFill>
                  <a:schemeClr val="tx2"/>
                </a:solidFill>
                <a:cs typeface="Calibri"/>
              </a:rPr>
              <a:t>Need multiple CPUs </a:t>
            </a:r>
            <a:r>
              <a:rPr lang="en-AU" sz="3200" dirty="0">
                <a:solidFill>
                  <a:schemeClr val="tx2"/>
                </a:solidFill>
                <a:cs typeface="Calibri"/>
                <a:sym typeface="Wingdings" panose="05000000000000000000" pitchFamily="2" charset="2"/>
              </a:rPr>
              <a:t> </a:t>
            </a:r>
            <a:r>
              <a:rPr lang="en-AU" sz="3200" dirty="0">
                <a:solidFill>
                  <a:srgbClr val="00B050"/>
                </a:solidFill>
                <a:cs typeface="Calibri"/>
                <a:sym typeface="Wingdings" panose="05000000000000000000" pitchFamily="2" charset="2"/>
              </a:rPr>
              <a:t>Cluster Computing</a:t>
            </a:r>
            <a:endParaRPr lang="en-AU" sz="3200" dirty="0">
              <a:solidFill>
                <a:srgbClr val="00B050"/>
              </a:solidFill>
              <a:cs typeface="Calibri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632AE6-944E-4BD1-BE8C-F803EEC6671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7371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356288-4385-4E0E-BBA0-506828F12279}"/>
              </a:ext>
            </a:extLst>
          </p:cNvPr>
          <p:cNvSpPr txBox="1"/>
          <p:nvPr/>
        </p:nvSpPr>
        <p:spPr>
          <a:xfrm>
            <a:off x="457200" y="152400"/>
            <a:ext cx="8458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>
                <a:solidFill>
                  <a:srgbClr val="FFFF00"/>
                </a:solidFill>
                <a:latin typeface="Palatino Linotype" panose="02040502050505030304" pitchFamily="18" charset="0"/>
              </a:rPr>
              <a:t>Cluster Architecture</a:t>
            </a:r>
            <a:endParaRPr lang="en-US" sz="4000" dirty="0">
              <a:solidFill>
                <a:srgbClr val="FFFF00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C690D76-06CC-4F73-BCEB-07C2F70738DE}"/>
              </a:ext>
            </a:extLst>
          </p:cNvPr>
          <p:cNvSpPr txBox="1"/>
          <p:nvPr/>
        </p:nvSpPr>
        <p:spPr>
          <a:xfrm>
            <a:off x="160022" y="6435806"/>
            <a:ext cx="586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latin typeface="Palatino Linotype" panose="02040502050505030304" pitchFamily="18" charset="0"/>
              </a:rPr>
              <a:t>Each rack contains 16-64 commodity Linux nodes</a:t>
            </a:r>
            <a:endParaRPr lang="en-US" dirty="0">
              <a:latin typeface="Palatino Linotype" panose="02040502050505030304" pitchFamily="18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080B089-47CE-44C2-939A-41E4147B484B}"/>
              </a:ext>
            </a:extLst>
          </p:cNvPr>
          <p:cNvGrpSpPr/>
          <p:nvPr/>
        </p:nvGrpSpPr>
        <p:grpSpPr>
          <a:xfrm>
            <a:off x="609600" y="2394829"/>
            <a:ext cx="3962400" cy="3885013"/>
            <a:chOff x="609600" y="2394829"/>
            <a:chExt cx="3962400" cy="3885013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11CDA89E-34FE-453B-A2BC-BB24104597F2}"/>
                </a:ext>
              </a:extLst>
            </p:cNvPr>
            <p:cNvGrpSpPr/>
            <p:nvPr/>
          </p:nvGrpSpPr>
          <p:grpSpPr>
            <a:xfrm>
              <a:off x="609600" y="3581400"/>
              <a:ext cx="1478278" cy="2698442"/>
              <a:chOff x="1219200" y="1828800"/>
              <a:chExt cx="3048000" cy="4038600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AB83B92-B494-4DA0-8B09-B3E08B093B95}"/>
                  </a:ext>
                </a:extLst>
              </p:cNvPr>
              <p:cNvSpPr/>
              <p:nvPr/>
            </p:nvSpPr>
            <p:spPr>
              <a:xfrm>
                <a:off x="1219200" y="1828800"/>
                <a:ext cx="3048000" cy="4038600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FFC0252-6180-45F4-92D8-CA992FF9605B}"/>
                  </a:ext>
                </a:extLst>
              </p:cNvPr>
              <p:cNvSpPr/>
              <p:nvPr/>
            </p:nvSpPr>
            <p:spPr>
              <a:xfrm>
                <a:off x="1371600" y="1981200"/>
                <a:ext cx="2743200" cy="94806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sz="2000" dirty="0"/>
                  <a:t>CPU</a:t>
                </a:r>
                <a:endParaRPr lang="en-US" sz="2000" dirty="0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9EDFF8B-C087-4512-88C5-B18A89457EB6}"/>
                  </a:ext>
                </a:extLst>
              </p:cNvPr>
              <p:cNvSpPr/>
              <p:nvPr/>
            </p:nvSpPr>
            <p:spPr>
              <a:xfrm>
                <a:off x="1371600" y="3162687"/>
                <a:ext cx="2743200" cy="138163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sz="2000" dirty="0"/>
                  <a:t>Memory</a:t>
                </a:r>
                <a:endParaRPr lang="en-US" sz="2000" dirty="0"/>
              </a:p>
            </p:txBody>
          </p:sp>
          <p:sp>
            <p:nvSpPr>
              <p:cNvPr id="15" name="Flowchart: Magnetic Disk 14">
                <a:extLst>
                  <a:ext uri="{FF2B5EF4-FFF2-40B4-BE49-F238E27FC236}">
                    <a16:creationId xmlns:a16="http://schemas.microsoft.com/office/drawing/2014/main" id="{5F4E0DDD-8D09-4E46-90FF-CEA34555190C}"/>
                  </a:ext>
                </a:extLst>
              </p:cNvPr>
              <p:cNvSpPr/>
              <p:nvPr/>
            </p:nvSpPr>
            <p:spPr>
              <a:xfrm>
                <a:off x="1371600" y="4777740"/>
                <a:ext cx="2743200" cy="914400"/>
              </a:xfrm>
              <a:prstGeom prst="flowChartMagneticDisk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sz="2000" dirty="0"/>
                  <a:t>Disk</a:t>
                </a:r>
                <a:endParaRPr lang="en-US" sz="2000" dirty="0"/>
              </a:p>
            </p:txBody>
          </p:sp>
        </p:grp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88A172C-372C-4243-9312-9D1BA1A10659}"/>
                </a:ext>
              </a:extLst>
            </p:cNvPr>
            <p:cNvSpPr/>
            <p:nvPr/>
          </p:nvSpPr>
          <p:spPr>
            <a:xfrm>
              <a:off x="1295400" y="2394829"/>
              <a:ext cx="2667000" cy="707886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2800" dirty="0"/>
                <a:t>Gigabit Switch</a:t>
              </a:r>
              <a:endParaRPr lang="en-US" sz="2800" dirty="0"/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04402A95-3F61-4C4C-BDF4-F3B8850984E4}"/>
                </a:ext>
              </a:extLst>
            </p:cNvPr>
            <p:cNvGrpSpPr/>
            <p:nvPr/>
          </p:nvGrpSpPr>
          <p:grpSpPr>
            <a:xfrm>
              <a:off x="3093722" y="3581400"/>
              <a:ext cx="1478278" cy="2698442"/>
              <a:chOff x="1219200" y="1828800"/>
              <a:chExt cx="3048000" cy="4038600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C93D2DA2-DF48-4E7C-8B77-7AB445FF5147}"/>
                  </a:ext>
                </a:extLst>
              </p:cNvPr>
              <p:cNvSpPr/>
              <p:nvPr/>
            </p:nvSpPr>
            <p:spPr>
              <a:xfrm>
                <a:off x="1219200" y="1828800"/>
                <a:ext cx="3048000" cy="4038600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EAFA85F5-91B4-4B74-92CC-D96332F728F3}"/>
                  </a:ext>
                </a:extLst>
              </p:cNvPr>
              <p:cNvSpPr/>
              <p:nvPr/>
            </p:nvSpPr>
            <p:spPr>
              <a:xfrm>
                <a:off x="1371600" y="1981200"/>
                <a:ext cx="2743200" cy="94806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sz="2000" dirty="0"/>
                  <a:t>CPU</a:t>
                </a:r>
                <a:endParaRPr lang="en-US" sz="2000" dirty="0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14728A4A-D966-4779-920A-46F2D1E6F833}"/>
                  </a:ext>
                </a:extLst>
              </p:cNvPr>
              <p:cNvSpPr/>
              <p:nvPr/>
            </p:nvSpPr>
            <p:spPr>
              <a:xfrm>
                <a:off x="1371600" y="3162687"/>
                <a:ext cx="2743200" cy="138163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sz="2000" dirty="0"/>
                  <a:t>Memory</a:t>
                </a:r>
                <a:endParaRPr lang="en-US" sz="2000" dirty="0"/>
              </a:p>
            </p:txBody>
          </p:sp>
          <p:sp>
            <p:nvSpPr>
              <p:cNvPr id="26" name="Flowchart: Magnetic Disk 25">
                <a:extLst>
                  <a:ext uri="{FF2B5EF4-FFF2-40B4-BE49-F238E27FC236}">
                    <a16:creationId xmlns:a16="http://schemas.microsoft.com/office/drawing/2014/main" id="{C52135A3-68D8-4D27-B806-B4C09E13E7F8}"/>
                  </a:ext>
                </a:extLst>
              </p:cNvPr>
              <p:cNvSpPr/>
              <p:nvPr/>
            </p:nvSpPr>
            <p:spPr>
              <a:xfrm>
                <a:off x="1371600" y="4777740"/>
                <a:ext cx="2743200" cy="914400"/>
              </a:xfrm>
              <a:prstGeom prst="flowChartMagneticDisk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sz="2000" dirty="0"/>
                  <a:t>Disk</a:t>
                </a:r>
                <a:endParaRPr lang="en-US" sz="2000" dirty="0"/>
              </a:p>
            </p:txBody>
          </p:sp>
        </p:grp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5C0033F-197E-409C-A5FD-141514E7A0A4}"/>
                </a:ext>
              </a:extLst>
            </p:cNvPr>
            <p:cNvCxnSpPr>
              <a:stCxn id="12" idx="0"/>
              <a:endCxn id="21" idx="2"/>
            </p:cNvCxnSpPr>
            <p:nvPr/>
          </p:nvCxnSpPr>
          <p:spPr>
            <a:xfrm flipV="1">
              <a:off x="1348739" y="3102715"/>
              <a:ext cx="1280161" cy="4786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BE6E3D2-AD75-4606-968F-AA10171CFE57}"/>
                </a:ext>
              </a:extLst>
            </p:cNvPr>
            <p:cNvCxnSpPr>
              <a:stCxn id="23" idx="0"/>
              <a:endCxn id="21" idx="2"/>
            </p:cNvCxnSpPr>
            <p:nvPr/>
          </p:nvCxnSpPr>
          <p:spPr>
            <a:xfrm flipH="1" flipV="1">
              <a:off x="2628900" y="3102715"/>
              <a:ext cx="1203961" cy="4786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4FB5B45-81B3-4B01-9CE2-23D02D07D1DA}"/>
              </a:ext>
            </a:extLst>
          </p:cNvPr>
          <p:cNvGrpSpPr/>
          <p:nvPr/>
        </p:nvGrpSpPr>
        <p:grpSpPr>
          <a:xfrm>
            <a:off x="4953000" y="2374183"/>
            <a:ext cx="3962400" cy="3885013"/>
            <a:chOff x="609600" y="2394829"/>
            <a:chExt cx="3962400" cy="3885013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ED18CC2A-9D9B-4E6B-9C99-172BE957F8F4}"/>
                </a:ext>
              </a:extLst>
            </p:cNvPr>
            <p:cNvGrpSpPr/>
            <p:nvPr/>
          </p:nvGrpSpPr>
          <p:grpSpPr>
            <a:xfrm>
              <a:off x="609600" y="3581400"/>
              <a:ext cx="1478278" cy="2698442"/>
              <a:chOff x="1219200" y="1828800"/>
              <a:chExt cx="3048000" cy="4038600"/>
            </a:xfrm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C07A6C08-AB8D-42D1-BCD4-384A30A5F9BE}"/>
                  </a:ext>
                </a:extLst>
              </p:cNvPr>
              <p:cNvSpPr/>
              <p:nvPr/>
            </p:nvSpPr>
            <p:spPr>
              <a:xfrm>
                <a:off x="1219200" y="1828800"/>
                <a:ext cx="3048000" cy="4038600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024E9E29-1EB5-48A1-94E7-F4599CFEB7D7}"/>
                  </a:ext>
                </a:extLst>
              </p:cNvPr>
              <p:cNvSpPr/>
              <p:nvPr/>
            </p:nvSpPr>
            <p:spPr>
              <a:xfrm>
                <a:off x="1371600" y="1981200"/>
                <a:ext cx="2743200" cy="94806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sz="2000" dirty="0"/>
                  <a:t>CPU</a:t>
                </a:r>
                <a:endParaRPr lang="en-US" sz="2000" dirty="0"/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A3E739D7-A03A-46C6-8B42-DCACAD9371B5}"/>
                  </a:ext>
                </a:extLst>
              </p:cNvPr>
              <p:cNvSpPr/>
              <p:nvPr/>
            </p:nvSpPr>
            <p:spPr>
              <a:xfrm>
                <a:off x="1371600" y="3162687"/>
                <a:ext cx="2743200" cy="138163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sz="2000" dirty="0"/>
                  <a:t>Memory</a:t>
                </a:r>
                <a:endParaRPr lang="en-US" sz="2000" dirty="0"/>
              </a:p>
            </p:txBody>
          </p:sp>
          <p:sp>
            <p:nvSpPr>
              <p:cNvPr id="48" name="Flowchart: Magnetic Disk 47">
                <a:extLst>
                  <a:ext uri="{FF2B5EF4-FFF2-40B4-BE49-F238E27FC236}">
                    <a16:creationId xmlns:a16="http://schemas.microsoft.com/office/drawing/2014/main" id="{3A5D42BF-798B-4E2B-B069-A37980AB85F7}"/>
                  </a:ext>
                </a:extLst>
              </p:cNvPr>
              <p:cNvSpPr/>
              <p:nvPr/>
            </p:nvSpPr>
            <p:spPr>
              <a:xfrm>
                <a:off x="1371600" y="4777740"/>
                <a:ext cx="2743200" cy="914400"/>
              </a:xfrm>
              <a:prstGeom prst="flowChartMagneticDisk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sz="2000" dirty="0"/>
                  <a:t>Disk</a:t>
                </a:r>
                <a:endParaRPr lang="en-US" sz="2000" dirty="0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CB04DA6-6655-489C-BEA1-7F97AE0A55D3}"/>
                </a:ext>
              </a:extLst>
            </p:cNvPr>
            <p:cNvSpPr/>
            <p:nvPr/>
          </p:nvSpPr>
          <p:spPr>
            <a:xfrm>
              <a:off x="1295400" y="2394829"/>
              <a:ext cx="2667000" cy="707886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2800" dirty="0"/>
                <a:t>Gigabit Switch</a:t>
              </a:r>
              <a:endParaRPr lang="en-US" sz="2800" dirty="0"/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E81ACFA2-2586-49D0-8A10-C849D084978A}"/>
                </a:ext>
              </a:extLst>
            </p:cNvPr>
            <p:cNvGrpSpPr/>
            <p:nvPr/>
          </p:nvGrpSpPr>
          <p:grpSpPr>
            <a:xfrm>
              <a:off x="3093722" y="3581400"/>
              <a:ext cx="1478278" cy="2698442"/>
              <a:chOff x="1219200" y="1828800"/>
              <a:chExt cx="3048000" cy="4038600"/>
            </a:xfrm>
          </p:grpSpPr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FBABF0FE-3DFA-42F6-BC22-B5AC1AF3D12F}"/>
                  </a:ext>
                </a:extLst>
              </p:cNvPr>
              <p:cNvSpPr/>
              <p:nvPr/>
            </p:nvSpPr>
            <p:spPr>
              <a:xfrm>
                <a:off x="1219200" y="1828800"/>
                <a:ext cx="3048000" cy="4038600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08A64B1C-99C4-478D-8037-F61333869527}"/>
                  </a:ext>
                </a:extLst>
              </p:cNvPr>
              <p:cNvSpPr/>
              <p:nvPr/>
            </p:nvSpPr>
            <p:spPr>
              <a:xfrm>
                <a:off x="1371600" y="1981200"/>
                <a:ext cx="2743200" cy="94806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sz="2000" dirty="0"/>
                  <a:t>CPU</a:t>
                </a:r>
                <a:endParaRPr lang="en-US" sz="2000" dirty="0"/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013CD10B-915B-49FC-B271-42A723B061F7}"/>
                  </a:ext>
                </a:extLst>
              </p:cNvPr>
              <p:cNvSpPr/>
              <p:nvPr/>
            </p:nvSpPr>
            <p:spPr>
              <a:xfrm>
                <a:off x="1371600" y="3162687"/>
                <a:ext cx="2743200" cy="138163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sz="2000" dirty="0"/>
                  <a:t>Memory</a:t>
                </a:r>
                <a:endParaRPr lang="en-US" sz="2000" dirty="0"/>
              </a:p>
            </p:txBody>
          </p:sp>
          <p:sp>
            <p:nvSpPr>
              <p:cNvPr id="44" name="Flowchart: Magnetic Disk 43">
                <a:extLst>
                  <a:ext uri="{FF2B5EF4-FFF2-40B4-BE49-F238E27FC236}">
                    <a16:creationId xmlns:a16="http://schemas.microsoft.com/office/drawing/2014/main" id="{A48E600F-9D71-48A8-A85A-2A1119B082FE}"/>
                  </a:ext>
                </a:extLst>
              </p:cNvPr>
              <p:cNvSpPr/>
              <p:nvPr/>
            </p:nvSpPr>
            <p:spPr>
              <a:xfrm>
                <a:off x="1371600" y="4777740"/>
                <a:ext cx="2743200" cy="914400"/>
              </a:xfrm>
              <a:prstGeom prst="flowChartMagneticDisk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sz="2000" dirty="0"/>
                  <a:t>Disk</a:t>
                </a:r>
                <a:endParaRPr lang="en-US" sz="2000" dirty="0"/>
              </a:p>
            </p:txBody>
          </p:sp>
        </p:grp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C5A4D5A3-80EE-4904-8D7F-951B1DBA3DDE}"/>
                </a:ext>
              </a:extLst>
            </p:cNvPr>
            <p:cNvCxnSpPr>
              <a:stCxn id="45" idx="0"/>
              <a:endCxn id="37" idx="2"/>
            </p:cNvCxnSpPr>
            <p:nvPr/>
          </p:nvCxnSpPr>
          <p:spPr>
            <a:xfrm flipV="1">
              <a:off x="1348739" y="3102715"/>
              <a:ext cx="1280161" cy="4786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33699D5-CA74-46A2-8BC7-CA2B2846B472}"/>
                </a:ext>
              </a:extLst>
            </p:cNvPr>
            <p:cNvCxnSpPr>
              <a:stCxn id="41" idx="0"/>
              <a:endCxn id="37" idx="2"/>
            </p:cNvCxnSpPr>
            <p:nvPr/>
          </p:nvCxnSpPr>
          <p:spPr>
            <a:xfrm flipH="1" flipV="1">
              <a:off x="2628900" y="3102715"/>
              <a:ext cx="1203961" cy="4786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9" name="Rectangle 48">
            <a:extLst>
              <a:ext uri="{FF2B5EF4-FFF2-40B4-BE49-F238E27FC236}">
                <a16:creationId xmlns:a16="http://schemas.microsoft.com/office/drawing/2014/main" id="{7493580E-6FAB-4FCF-AB53-5332A4E3E11A}"/>
              </a:ext>
            </a:extLst>
          </p:cNvPr>
          <p:cNvSpPr/>
          <p:nvPr/>
        </p:nvSpPr>
        <p:spPr>
          <a:xfrm>
            <a:off x="3238500" y="1222724"/>
            <a:ext cx="3118864" cy="7078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Backbone Switch</a:t>
            </a:r>
            <a:endParaRPr lang="en-US" sz="2800" dirty="0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65FDD620-0F7B-439F-BC31-6DD952371335}"/>
              </a:ext>
            </a:extLst>
          </p:cNvPr>
          <p:cNvCxnSpPr>
            <a:cxnSpLocks/>
            <a:stCxn id="49" idx="2"/>
            <a:endCxn id="37" idx="0"/>
          </p:cNvCxnSpPr>
          <p:nvPr/>
        </p:nvCxnSpPr>
        <p:spPr>
          <a:xfrm>
            <a:off x="4797932" y="1930610"/>
            <a:ext cx="2174368" cy="4435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DBE93302-69F9-4F93-BCA8-5A76740DA2A9}"/>
              </a:ext>
            </a:extLst>
          </p:cNvPr>
          <p:cNvCxnSpPr>
            <a:stCxn id="49" idx="2"/>
            <a:endCxn id="21" idx="0"/>
          </p:cNvCxnSpPr>
          <p:nvPr/>
        </p:nvCxnSpPr>
        <p:spPr>
          <a:xfrm flipH="1">
            <a:off x="2628900" y="1930610"/>
            <a:ext cx="2169032" cy="4642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1C21B34C-2684-4AE8-AD2C-44CDC222D07C}"/>
              </a:ext>
            </a:extLst>
          </p:cNvPr>
          <p:cNvSpPr txBox="1"/>
          <p:nvPr/>
        </p:nvSpPr>
        <p:spPr>
          <a:xfrm>
            <a:off x="6431278" y="1250872"/>
            <a:ext cx="21743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latin typeface="Palatino Linotype" panose="02040502050505030304" pitchFamily="18" charset="0"/>
              </a:rPr>
              <a:t>2-10 Gbps backbone switch</a:t>
            </a:r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913C21-F359-4689-89F4-DC7FDA91214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9632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5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999426"/>
              <a:ext cx="9144000" cy="11048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9144000" cy="6857998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2676525" y="6713609"/>
            <a:ext cx="3921125" cy="16510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900" spc="10" dirty="0">
                <a:solidFill>
                  <a:srgbClr val="3E3E3E"/>
                </a:solidFill>
                <a:latin typeface="Calibri"/>
                <a:cs typeface="Calibri"/>
              </a:rPr>
              <a:t>Jure</a:t>
            </a:r>
            <a:r>
              <a:rPr sz="900" spc="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900" spc="15" dirty="0">
                <a:solidFill>
                  <a:srgbClr val="3E3E3E"/>
                </a:solidFill>
                <a:latin typeface="Calibri"/>
                <a:cs typeface="Calibri"/>
              </a:rPr>
              <a:t>Leskovec,</a:t>
            </a:r>
            <a:r>
              <a:rPr sz="900" spc="-5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E3E3E"/>
                </a:solidFill>
                <a:latin typeface="Calibri"/>
                <a:cs typeface="Calibri"/>
              </a:rPr>
              <a:t>Stanford </a:t>
            </a:r>
            <a:r>
              <a:rPr sz="900" spc="-5" dirty="0">
                <a:solidFill>
                  <a:srgbClr val="3E3E3E"/>
                </a:solidFill>
                <a:latin typeface="Calibri"/>
                <a:cs typeface="Calibri"/>
              </a:rPr>
              <a:t>CS246:</a:t>
            </a:r>
            <a:r>
              <a:rPr sz="900" spc="-7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900" spc="15" dirty="0">
                <a:solidFill>
                  <a:srgbClr val="3E3E3E"/>
                </a:solidFill>
                <a:latin typeface="Calibri"/>
                <a:cs typeface="Calibri"/>
              </a:rPr>
              <a:t>Mining</a:t>
            </a:r>
            <a:r>
              <a:rPr sz="900" spc="-10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E3E3E"/>
                </a:solidFill>
                <a:latin typeface="Calibri"/>
                <a:cs typeface="Calibri"/>
              </a:rPr>
              <a:t>Massive</a:t>
            </a:r>
            <a:r>
              <a:rPr sz="900" spc="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3E3E3E"/>
                </a:solidFill>
                <a:latin typeface="Calibri"/>
                <a:cs typeface="Calibri"/>
              </a:rPr>
              <a:t>Datasets,</a:t>
            </a:r>
            <a:r>
              <a:rPr sz="900" spc="-5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3E3E3E"/>
                </a:solidFill>
                <a:latin typeface="Calibri"/>
                <a:cs typeface="Calibri"/>
                <a:hlinkClick r:id="rId4"/>
              </a:rPr>
              <a:t>http://cs246.stanford.edu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</a:t>
            </a:fld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EA2379-2B8F-47C0-824C-7BD4C10EB6C6}"/>
              </a:ext>
            </a:extLst>
          </p:cNvPr>
          <p:cNvSpPr txBox="1"/>
          <p:nvPr/>
        </p:nvSpPr>
        <p:spPr>
          <a:xfrm>
            <a:off x="162940" y="5374249"/>
            <a:ext cx="2667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>
                <a:solidFill>
                  <a:schemeClr val="bg1"/>
                </a:solidFill>
                <a:latin typeface="Palatino Linotype" panose="02040502050505030304" pitchFamily="18" charset="0"/>
              </a:rPr>
              <a:t>Data Center</a:t>
            </a:r>
            <a:endParaRPr lang="en-US" sz="4000" dirty="0">
              <a:solidFill>
                <a:schemeClr val="bg1"/>
              </a:solidFill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8900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356288-4385-4E0E-BBA0-506828F12279}"/>
              </a:ext>
            </a:extLst>
          </p:cNvPr>
          <p:cNvSpPr txBox="1"/>
          <p:nvPr/>
        </p:nvSpPr>
        <p:spPr>
          <a:xfrm>
            <a:off x="457200" y="152400"/>
            <a:ext cx="8458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>
                <a:solidFill>
                  <a:srgbClr val="FFFF00"/>
                </a:solidFill>
                <a:latin typeface="Palatino Linotype" panose="02040502050505030304" pitchFamily="18" charset="0"/>
              </a:rPr>
              <a:t>Cluster Computing Challenges (1)</a:t>
            </a:r>
            <a:endParaRPr lang="en-US" sz="4000" dirty="0">
              <a:solidFill>
                <a:srgbClr val="FFFF00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0A9B5B5E-FCAB-4376-AD38-1BD4898CED4F}"/>
              </a:ext>
            </a:extLst>
          </p:cNvPr>
          <p:cNvSpPr txBox="1"/>
          <p:nvPr/>
        </p:nvSpPr>
        <p:spPr>
          <a:xfrm>
            <a:off x="614362" y="1243913"/>
            <a:ext cx="8148638" cy="5545748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336550" indent="-324485">
              <a:lnSpc>
                <a:spcPct val="100000"/>
              </a:lnSpc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AU" sz="3200" dirty="0">
                <a:solidFill>
                  <a:schemeClr val="tx2"/>
                </a:solidFill>
                <a:latin typeface="Calibri"/>
                <a:cs typeface="Calibri"/>
              </a:rPr>
              <a:t>Node Failures</a:t>
            </a:r>
            <a:endParaRPr lang="en-AU" sz="3200" dirty="0">
              <a:solidFill>
                <a:srgbClr val="00B050"/>
              </a:solidFill>
              <a:cs typeface="Calibri"/>
            </a:endParaRPr>
          </a:p>
          <a:p>
            <a:pPr marL="793750" lvl="1" indent="-324485"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AU" sz="2800" dirty="0">
                <a:latin typeface="Calibri"/>
                <a:cs typeface="Calibri"/>
              </a:rPr>
              <a:t>A single server can stay up for 3 years (1000 days)</a:t>
            </a:r>
          </a:p>
          <a:p>
            <a:pPr marL="793750" lvl="1" indent="-324485"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AU" sz="2800" dirty="0">
                <a:latin typeface="Calibri"/>
                <a:cs typeface="Calibri"/>
              </a:rPr>
              <a:t>1000 servers in a cluster </a:t>
            </a:r>
            <a:r>
              <a:rPr lang="en-AU" sz="2800" dirty="0">
                <a:latin typeface="Calibri"/>
                <a:cs typeface="Calibri"/>
                <a:sym typeface="Wingdings" panose="05000000000000000000" pitchFamily="2" charset="2"/>
              </a:rPr>
              <a:t> 1 failure/day</a:t>
            </a:r>
          </a:p>
          <a:p>
            <a:pPr marL="793750" lvl="1" indent="-324485"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AU" sz="2800" dirty="0">
                <a:solidFill>
                  <a:srgbClr val="FF0000"/>
                </a:solidFill>
                <a:latin typeface="Calibri"/>
                <a:cs typeface="Calibri"/>
                <a:sym typeface="Wingdings" panose="05000000000000000000" pitchFamily="2" charset="2"/>
              </a:rPr>
              <a:t>1M servers in a cluster  1000 failures/day</a:t>
            </a:r>
          </a:p>
          <a:p>
            <a:pPr marL="793750" lvl="1" indent="-324485"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endParaRPr lang="en-AU" sz="2800" dirty="0">
              <a:solidFill>
                <a:srgbClr val="FF0000"/>
              </a:solidFill>
              <a:latin typeface="Calibri"/>
              <a:cs typeface="Calibri"/>
              <a:sym typeface="Wingdings" panose="05000000000000000000" pitchFamily="2" charset="2"/>
            </a:endParaRPr>
          </a:p>
          <a:p>
            <a:pPr marL="336550" indent="-324485"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AU" sz="3200" dirty="0">
                <a:solidFill>
                  <a:srgbClr val="00B050"/>
                </a:solidFill>
                <a:latin typeface="Calibri"/>
                <a:cs typeface="Calibri"/>
                <a:sym typeface="Wingdings" panose="05000000000000000000" pitchFamily="2" charset="2"/>
              </a:rPr>
              <a:t>How to store data persistently and keep it available if nodes can fail?</a:t>
            </a:r>
          </a:p>
          <a:p>
            <a:pPr marL="336550" indent="-324485"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AU" sz="3200" dirty="0">
                <a:solidFill>
                  <a:srgbClr val="00B0F0"/>
                </a:solidFill>
                <a:latin typeface="Calibri"/>
                <a:cs typeface="Calibri"/>
                <a:sym typeface="Wingdings" panose="05000000000000000000" pitchFamily="2" charset="2"/>
              </a:rPr>
              <a:t>How to deal with node failures during a long-running computation?</a:t>
            </a:r>
            <a:endParaRPr lang="en-AU" sz="2800" dirty="0">
              <a:solidFill>
                <a:srgbClr val="00B0F0"/>
              </a:solidFill>
              <a:latin typeface="Calibri"/>
              <a:cs typeface="Calibri"/>
              <a:sym typeface="Wingdings" panose="05000000000000000000" pitchFamily="2" charset="2"/>
            </a:endParaRPr>
          </a:p>
          <a:p>
            <a:pPr marL="793750" lvl="1" indent="-324485"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endParaRPr lang="en-AU" sz="2800" dirty="0">
              <a:latin typeface="Calibri"/>
              <a:cs typeface="Calibri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8614AC-9EEC-4F54-AFCF-55282CE18DB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9545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356288-4385-4E0E-BBA0-506828F12279}"/>
              </a:ext>
            </a:extLst>
          </p:cNvPr>
          <p:cNvSpPr txBox="1"/>
          <p:nvPr/>
        </p:nvSpPr>
        <p:spPr>
          <a:xfrm>
            <a:off x="457200" y="152400"/>
            <a:ext cx="8458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>
                <a:solidFill>
                  <a:srgbClr val="FFFF00"/>
                </a:solidFill>
                <a:latin typeface="Palatino Linotype" panose="02040502050505030304" pitchFamily="18" charset="0"/>
              </a:rPr>
              <a:t>Cluster Computing Challenges (2)</a:t>
            </a:r>
            <a:endParaRPr lang="en-US" sz="4000" dirty="0">
              <a:solidFill>
                <a:srgbClr val="FFFF00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0A9B5B5E-FCAB-4376-AD38-1BD4898CED4F}"/>
              </a:ext>
            </a:extLst>
          </p:cNvPr>
          <p:cNvSpPr txBox="1"/>
          <p:nvPr/>
        </p:nvSpPr>
        <p:spPr>
          <a:xfrm>
            <a:off x="614362" y="1243913"/>
            <a:ext cx="8148638" cy="4383891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336550" indent="-324485">
              <a:lnSpc>
                <a:spcPct val="100000"/>
              </a:lnSpc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AU" sz="3200" dirty="0">
                <a:solidFill>
                  <a:schemeClr val="tx2"/>
                </a:solidFill>
                <a:latin typeface="Calibri"/>
                <a:cs typeface="Calibri"/>
              </a:rPr>
              <a:t>Network Bottleneck</a:t>
            </a:r>
            <a:endParaRPr lang="en-AU" sz="3200" dirty="0">
              <a:solidFill>
                <a:srgbClr val="00B050"/>
              </a:solidFill>
              <a:cs typeface="Calibri"/>
            </a:endParaRPr>
          </a:p>
          <a:p>
            <a:pPr marL="793750" lvl="1" indent="-324485"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AU" sz="2800" dirty="0">
                <a:latin typeface="Calibri"/>
                <a:cs typeface="Calibri"/>
              </a:rPr>
              <a:t>Network bandwidth = 1 Gbps</a:t>
            </a:r>
          </a:p>
          <a:p>
            <a:pPr marL="793750" lvl="1" indent="-324485"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AU" sz="2800" dirty="0">
                <a:solidFill>
                  <a:srgbClr val="FF0000"/>
                </a:solidFill>
                <a:latin typeface="Calibri"/>
                <a:cs typeface="Calibri"/>
              </a:rPr>
              <a:t>Moving 10TB of data takes days to transfer</a:t>
            </a:r>
          </a:p>
          <a:p>
            <a:pPr marL="793750" lvl="1" indent="-324485"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AU" sz="2800" dirty="0">
                <a:solidFill>
                  <a:srgbClr val="00B050"/>
                </a:solidFill>
                <a:latin typeface="Calibri"/>
                <a:cs typeface="Calibri"/>
              </a:rPr>
              <a:t>Need a framework that doesn’t move data</a:t>
            </a:r>
          </a:p>
          <a:p>
            <a:pPr marL="793750" lvl="1" indent="-324485"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endParaRPr lang="en-AU" sz="2800" dirty="0">
              <a:solidFill>
                <a:srgbClr val="00B050"/>
              </a:solidFill>
              <a:latin typeface="Calibri"/>
              <a:cs typeface="Calibri"/>
            </a:endParaRPr>
          </a:p>
          <a:p>
            <a:pPr marL="336550" indent="-324485"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AU" sz="3200" dirty="0">
                <a:solidFill>
                  <a:srgbClr val="FF0000"/>
                </a:solidFill>
                <a:latin typeface="Calibri"/>
                <a:cs typeface="Calibri"/>
              </a:rPr>
              <a:t>Distributed Programming is challenging!</a:t>
            </a:r>
          </a:p>
          <a:p>
            <a:pPr marL="793750" lvl="1" indent="-324485"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AU" sz="2800" dirty="0">
                <a:solidFill>
                  <a:srgbClr val="00B050"/>
                </a:solidFill>
                <a:latin typeface="Calibri"/>
                <a:cs typeface="Calibri"/>
              </a:rPr>
              <a:t>Need a simple model that hides most of the complexity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44198C6-2210-42A1-92CE-1BEE4B9E07F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32384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14362" y="1347787"/>
            <a:ext cx="8090598" cy="492506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36550" indent="-324485">
              <a:lnSpc>
                <a:spcPts val="3835"/>
              </a:lnSpc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sz="3200" b="1" dirty="0">
                <a:solidFill>
                  <a:srgbClr val="008000"/>
                </a:solidFill>
                <a:latin typeface="Calibri"/>
                <a:cs typeface="Calibri"/>
              </a:rPr>
              <a:t>Idea:</a:t>
            </a:r>
            <a:endParaRPr sz="3200" dirty="0">
              <a:latin typeface="Calibri"/>
              <a:cs typeface="Calibri"/>
            </a:endParaRPr>
          </a:p>
          <a:p>
            <a:pPr marL="632460" lvl="1" indent="-276860">
              <a:lnSpc>
                <a:spcPct val="100000"/>
              </a:lnSpc>
              <a:spcBef>
                <a:spcPts val="680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750" spc="10" dirty="0">
                <a:latin typeface="Calibri"/>
                <a:cs typeface="Calibri"/>
              </a:rPr>
              <a:t>Store </a:t>
            </a:r>
            <a:r>
              <a:rPr sz="2750" spc="-20" dirty="0">
                <a:latin typeface="Calibri"/>
                <a:cs typeface="Calibri"/>
              </a:rPr>
              <a:t>files </a:t>
            </a:r>
            <a:r>
              <a:rPr sz="2750" spc="-15" dirty="0">
                <a:latin typeface="Calibri"/>
                <a:cs typeface="Calibri"/>
              </a:rPr>
              <a:t>multiple </a:t>
            </a:r>
            <a:r>
              <a:rPr sz="2750" spc="-5" dirty="0">
                <a:latin typeface="Calibri"/>
                <a:cs typeface="Calibri"/>
              </a:rPr>
              <a:t>times </a:t>
            </a:r>
            <a:r>
              <a:rPr sz="2750" spc="-15" dirty="0">
                <a:latin typeface="Calibri"/>
                <a:cs typeface="Calibri"/>
              </a:rPr>
              <a:t>for </a:t>
            </a:r>
            <a:r>
              <a:rPr sz="2750" spc="-20" dirty="0">
                <a:latin typeface="Calibri"/>
                <a:cs typeface="Calibri"/>
              </a:rPr>
              <a:t>reliability</a:t>
            </a:r>
            <a:endParaRPr lang="en-AU" sz="2750" spc="-20" dirty="0">
              <a:latin typeface="Calibri"/>
              <a:cs typeface="Calibri"/>
            </a:endParaRPr>
          </a:p>
          <a:p>
            <a:pPr marL="632460" lvl="1" indent="-276860">
              <a:spcBef>
                <a:spcPts val="680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lang="en-US" sz="2750" spc="-5" dirty="0">
                <a:latin typeface="Calibri"/>
                <a:cs typeface="Calibri"/>
              </a:rPr>
              <a:t>Bring </a:t>
            </a:r>
            <a:r>
              <a:rPr lang="en-US" sz="2750" spc="5" dirty="0">
                <a:latin typeface="Calibri"/>
                <a:cs typeface="Calibri"/>
              </a:rPr>
              <a:t>computation </a:t>
            </a:r>
            <a:r>
              <a:rPr lang="en-US" sz="2750" spc="-5" dirty="0">
                <a:latin typeface="Calibri"/>
                <a:cs typeface="Calibri"/>
              </a:rPr>
              <a:t>to</a:t>
            </a:r>
            <a:r>
              <a:rPr lang="en-US" sz="2750" spc="254" dirty="0">
                <a:latin typeface="Calibri"/>
                <a:cs typeface="Calibri"/>
              </a:rPr>
              <a:t> </a:t>
            </a:r>
            <a:r>
              <a:rPr lang="en-US" sz="2750" spc="-5" dirty="0">
                <a:latin typeface="Calibri"/>
                <a:cs typeface="Calibri"/>
              </a:rPr>
              <a:t>data</a:t>
            </a:r>
            <a:endParaRPr lang="en-US" sz="2750" dirty="0">
              <a:latin typeface="Calibri"/>
              <a:cs typeface="Calibri"/>
            </a:endParaRPr>
          </a:p>
          <a:p>
            <a:pPr marL="632460" lvl="1" indent="-276860">
              <a:lnSpc>
                <a:spcPct val="100000"/>
              </a:lnSpc>
              <a:spcBef>
                <a:spcPts val="680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lang="en-AU" sz="2750" spc="-20" dirty="0">
                <a:latin typeface="Calibri"/>
                <a:cs typeface="Calibri"/>
              </a:rPr>
              <a:t>Simple programming model to hide all complexities</a:t>
            </a:r>
            <a:endParaRPr sz="2750" dirty="0">
              <a:latin typeface="Calibri"/>
              <a:cs typeface="Calibri"/>
            </a:endParaRPr>
          </a:p>
          <a:p>
            <a:pPr marL="336550" indent="-324485">
              <a:lnSpc>
                <a:spcPct val="100000"/>
              </a:lnSpc>
              <a:spcBef>
                <a:spcPts val="10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sz="3200" b="1" dirty="0">
                <a:solidFill>
                  <a:srgbClr val="0000FF"/>
                </a:solidFill>
                <a:latin typeface="Calibri"/>
                <a:cs typeface="Calibri"/>
              </a:rPr>
              <a:t>Spark/Hadoop </a:t>
            </a:r>
            <a:r>
              <a:rPr sz="3200" spc="5" dirty="0">
                <a:solidFill>
                  <a:srgbClr val="0000FF"/>
                </a:solidFill>
                <a:latin typeface="Calibri"/>
                <a:cs typeface="Calibri"/>
              </a:rPr>
              <a:t>address these</a:t>
            </a:r>
            <a:r>
              <a:rPr sz="3200" spc="-204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spc="5" dirty="0">
                <a:solidFill>
                  <a:srgbClr val="0000FF"/>
                </a:solidFill>
                <a:latin typeface="Calibri"/>
                <a:cs typeface="Calibri"/>
              </a:rPr>
              <a:t>problems</a:t>
            </a:r>
            <a:endParaRPr sz="3200" dirty="0">
              <a:latin typeface="Calibri"/>
              <a:cs typeface="Calibri"/>
            </a:endParaRPr>
          </a:p>
          <a:p>
            <a:pPr marL="632460" lvl="1" indent="-276860">
              <a:lnSpc>
                <a:spcPct val="100000"/>
              </a:lnSpc>
              <a:spcBef>
                <a:spcPts val="740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750" b="1" spc="-5" dirty="0">
                <a:solidFill>
                  <a:srgbClr val="D50092"/>
                </a:solidFill>
                <a:latin typeface="Calibri"/>
                <a:cs typeface="Calibri"/>
              </a:rPr>
              <a:t>Storage </a:t>
            </a:r>
            <a:r>
              <a:rPr sz="2750" b="1" dirty="0">
                <a:solidFill>
                  <a:srgbClr val="D50092"/>
                </a:solidFill>
                <a:latin typeface="Calibri"/>
                <a:cs typeface="Calibri"/>
              </a:rPr>
              <a:t>Infrastructure </a:t>
            </a:r>
            <a:r>
              <a:rPr sz="2750" b="1" spc="10" dirty="0">
                <a:solidFill>
                  <a:srgbClr val="D50092"/>
                </a:solidFill>
                <a:latin typeface="Calibri"/>
                <a:cs typeface="Calibri"/>
              </a:rPr>
              <a:t>– </a:t>
            </a:r>
            <a:r>
              <a:rPr lang="en-AU" sz="2750" b="1" spc="10" dirty="0">
                <a:solidFill>
                  <a:srgbClr val="D50092"/>
                </a:solidFill>
                <a:latin typeface="Calibri"/>
                <a:cs typeface="Calibri"/>
              </a:rPr>
              <a:t>Distributed </a:t>
            </a:r>
            <a:r>
              <a:rPr sz="2750" b="1" spc="5" dirty="0">
                <a:solidFill>
                  <a:srgbClr val="D50092"/>
                </a:solidFill>
                <a:latin typeface="Calibri"/>
                <a:cs typeface="Calibri"/>
              </a:rPr>
              <a:t>File</a:t>
            </a:r>
            <a:r>
              <a:rPr sz="2750" b="1" spc="270" dirty="0">
                <a:solidFill>
                  <a:srgbClr val="D50092"/>
                </a:solidFill>
                <a:latin typeface="Calibri"/>
                <a:cs typeface="Calibri"/>
              </a:rPr>
              <a:t> </a:t>
            </a:r>
            <a:r>
              <a:rPr sz="2750" b="1" spc="10" dirty="0">
                <a:solidFill>
                  <a:srgbClr val="D50092"/>
                </a:solidFill>
                <a:latin typeface="Calibri"/>
                <a:cs typeface="Calibri"/>
              </a:rPr>
              <a:t>system</a:t>
            </a:r>
            <a:endParaRPr sz="2750" dirty="0">
              <a:latin typeface="Calibri"/>
              <a:cs typeface="Calibri"/>
            </a:endParaRPr>
          </a:p>
          <a:p>
            <a:pPr marL="899160" lvl="2" indent="-229235">
              <a:lnSpc>
                <a:spcPct val="100000"/>
              </a:lnSpc>
              <a:spcBef>
                <a:spcPts val="655"/>
              </a:spcBef>
              <a:buClr>
                <a:srgbClr val="E66C7C"/>
              </a:buClr>
              <a:buFont typeface="Wingdings"/>
              <a:buChar char=""/>
              <a:tabLst>
                <a:tab pos="899794" algn="l"/>
              </a:tabLst>
            </a:pPr>
            <a:r>
              <a:rPr sz="2400" spc="-10" dirty="0">
                <a:latin typeface="Calibri"/>
                <a:cs typeface="Calibri"/>
              </a:rPr>
              <a:t>Google: </a:t>
            </a:r>
            <a:r>
              <a:rPr sz="2400" dirty="0">
                <a:latin typeface="Calibri"/>
                <a:cs typeface="Calibri"/>
              </a:rPr>
              <a:t>GFS. Hadoop: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spc="10" dirty="0">
                <a:latin typeface="Calibri"/>
                <a:cs typeface="Calibri"/>
              </a:rPr>
              <a:t>HDFS</a:t>
            </a:r>
            <a:endParaRPr sz="2400" dirty="0">
              <a:latin typeface="Calibri"/>
              <a:cs typeface="Calibri"/>
            </a:endParaRPr>
          </a:p>
          <a:p>
            <a:pPr marL="632460" lvl="1" indent="-276860">
              <a:lnSpc>
                <a:spcPct val="100000"/>
              </a:lnSpc>
              <a:spcBef>
                <a:spcPts val="675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750" b="1" spc="5" dirty="0">
                <a:solidFill>
                  <a:srgbClr val="D50092"/>
                </a:solidFill>
                <a:latin typeface="Calibri"/>
                <a:cs typeface="Calibri"/>
              </a:rPr>
              <a:t>Programming</a:t>
            </a:r>
            <a:r>
              <a:rPr sz="2750" b="1" spc="75" dirty="0">
                <a:solidFill>
                  <a:srgbClr val="D50092"/>
                </a:solidFill>
                <a:latin typeface="Calibri"/>
                <a:cs typeface="Calibri"/>
              </a:rPr>
              <a:t> </a:t>
            </a:r>
            <a:r>
              <a:rPr sz="2750" b="1" spc="15" dirty="0">
                <a:solidFill>
                  <a:srgbClr val="D50092"/>
                </a:solidFill>
                <a:latin typeface="Calibri"/>
                <a:cs typeface="Calibri"/>
              </a:rPr>
              <a:t>model</a:t>
            </a:r>
            <a:endParaRPr sz="2750" dirty="0">
              <a:latin typeface="Calibri"/>
              <a:cs typeface="Calibri"/>
            </a:endParaRPr>
          </a:p>
          <a:p>
            <a:pPr marL="899160" lvl="2" indent="-229235">
              <a:lnSpc>
                <a:spcPct val="100000"/>
              </a:lnSpc>
              <a:spcBef>
                <a:spcPts val="655"/>
              </a:spcBef>
              <a:buClr>
                <a:srgbClr val="E66C7C"/>
              </a:buClr>
              <a:buFont typeface="Wingdings"/>
              <a:buChar char=""/>
              <a:tabLst>
                <a:tab pos="899794" algn="l"/>
              </a:tabLst>
            </a:pPr>
            <a:r>
              <a:rPr sz="2400" spc="-15" dirty="0">
                <a:latin typeface="Calibri"/>
                <a:cs typeface="Calibri"/>
              </a:rPr>
              <a:t>MapReduce</a:t>
            </a:r>
            <a:endParaRPr sz="2400" dirty="0">
              <a:latin typeface="Calibri"/>
              <a:cs typeface="Calibri"/>
            </a:endParaRPr>
          </a:p>
          <a:p>
            <a:pPr marL="899160" lvl="2" indent="-229235">
              <a:lnSpc>
                <a:spcPct val="100000"/>
              </a:lnSpc>
              <a:spcBef>
                <a:spcPts val="575"/>
              </a:spcBef>
              <a:buClr>
                <a:srgbClr val="E66C7C"/>
              </a:buClr>
              <a:buFont typeface="Wingdings"/>
              <a:buChar char=""/>
              <a:tabLst>
                <a:tab pos="899794" algn="l"/>
              </a:tabLst>
            </a:pPr>
            <a:r>
              <a:rPr sz="2400" spc="-5" dirty="0">
                <a:latin typeface="Calibri"/>
                <a:cs typeface="Calibri"/>
              </a:rPr>
              <a:t>Spark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ACF09A-E49A-4217-935C-A6D3937A3CEF}"/>
              </a:ext>
            </a:extLst>
          </p:cNvPr>
          <p:cNvSpPr txBox="1"/>
          <p:nvPr/>
        </p:nvSpPr>
        <p:spPr>
          <a:xfrm>
            <a:off x="457200" y="152400"/>
            <a:ext cx="8458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>
                <a:solidFill>
                  <a:srgbClr val="FFFF00"/>
                </a:solidFill>
                <a:latin typeface="Palatino Linotype" panose="02040502050505030304" pitchFamily="18" charset="0"/>
              </a:rPr>
              <a:t>An idea and solution</a:t>
            </a:r>
            <a:endParaRPr lang="en-US" sz="4000" dirty="0">
              <a:solidFill>
                <a:srgbClr val="FFFF00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2B27B5-1984-432D-BDE5-439B3138905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US" smtClean="0"/>
              <a:t>9</a:t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28600" y="1243913"/>
            <a:ext cx="8686800" cy="5304656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336550" indent="-324485">
              <a:lnSpc>
                <a:spcPct val="100000"/>
              </a:lnSpc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sz="3200" b="1" dirty="0">
                <a:solidFill>
                  <a:srgbClr val="FF0066"/>
                </a:solidFill>
                <a:latin typeface="Calibri"/>
                <a:cs typeface="Calibri"/>
              </a:rPr>
              <a:t>Problem:</a:t>
            </a:r>
            <a:endParaRPr sz="3200" dirty="0">
              <a:latin typeface="Calibri"/>
              <a:cs typeface="Calibri"/>
            </a:endParaRPr>
          </a:p>
          <a:p>
            <a:pPr marL="632460" lvl="1" indent="-276860">
              <a:lnSpc>
                <a:spcPct val="100000"/>
              </a:lnSpc>
              <a:spcBef>
                <a:spcPts val="740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750" spc="-5" dirty="0">
                <a:latin typeface="Calibri"/>
                <a:cs typeface="Calibri"/>
              </a:rPr>
              <a:t>If nodes </a:t>
            </a:r>
            <a:r>
              <a:rPr sz="2750" spc="-25" dirty="0">
                <a:latin typeface="Calibri"/>
                <a:cs typeface="Calibri"/>
              </a:rPr>
              <a:t>fail, </a:t>
            </a:r>
            <a:r>
              <a:rPr sz="2750" spc="15" dirty="0">
                <a:latin typeface="Calibri"/>
                <a:cs typeface="Calibri"/>
              </a:rPr>
              <a:t>how </a:t>
            </a:r>
            <a:r>
              <a:rPr sz="2750" spc="-5" dirty="0">
                <a:latin typeface="Calibri"/>
                <a:cs typeface="Calibri"/>
              </a:rPr>
              <a:t>to </a:t>
            </a:r>
            <a:r>
              <a:rPr sz="2750" dirty="0">
                <a:latin typeface="Calibri"/>
                <a:cs typeface="Calibri"/>
              </a:rPr>
              <a:t>store </a:t>
            </a:r>
            <a:r>
              <a:rPr sz="2750" spc="-5" dirty="0">
                <a:latin typeface="Calibri"/>
                <a:cs typeface="Calibri"/>
              </a:rPr>
              <a:t>data</a:t>
            </a:r>
            <a:r>
              <a:rPr sz="2750" spc="440" dirty="0">
                <a:latin typeface="Calibri"/>
                <a:cs typeface="Calibri"/>
              </a:rPr>
              <a:t> </a:t>
            </a:r>
            <a:r>
              <a:rPr sz="2750" spc="-25" dirty="0">
                <a:latin typeface="Calibri"/>
                <a:cs typeface="Calibri"/>
              </a:rPr>
              <a:t>persistently?</a:t>
            </a:r>
            <a:endParaRPr sz="2750" dirty="0">
              <a:latin typeface="Calibri"/>
              <a:cs typeface="Calibri"/>
            </a:endParaRPr>
          </a:p>
          <a:p>
            <a:pPr marL="336550" indent="-324485">
              <a:lnSpc>
                <a:spcPct val="100000"/>
              </a:lnSpc>
              <a:spcBef>
                <a:spcPts val="5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sz="3200" b="1" spc="5" dirty="0">
                <a:solidFill>
                  <a:srgbClr val="008000"/>
                </a:solidFill>
                <a:latin typeface="Calibri"/>
                <a:cs typeface="Calibri"/>
              </a:rPr>
              <a:t>Answer:</a:t>
            </a:r>
            <a:endParaRPr sz="3200" dirty="0">
              <a:latin typeface="Calibri"/>
              <a:cs typeface="Calibri"/>
            </a:endParaRPr>
          </a:p>
          <a:p>
            <a:pPr marL="632460" lvl="1" indent="-276860">
              <a:lnSpc>
                <a:spcPct val="100000"/>
              </a:lnSpc>
              <a:spcBef>
                <a:spcPts val="740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800" b="1" spc="10" dirty="0">
                <a:solidFill>
                  <a:srgbClr val="0000FF"/>
                </a:solidFill>
                <a:latin typeface="Calibri"/>
                <a:cs typeface="Calibri"/>
              </a:rPr>
              <a:t>Distributed </a:t>
            </a:r>
            <a:r>
              <a:rPr sz="2800" b="1" dirty="0">
                <a:solidFill>
                  <a:srgbClr val="0000FF"/>
                </a:solidFill>
                <a:latin typeface="Calibri"/>
                <a:cs typeface="Calibri"/>
              </a:rPr>
              <a:t>File</a:t>
            </a:r>
            <a:r>
              <a:rPr sz="2800" b="1" spc="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b="1" spc="5" dirty="0">
                <a:solidFill>
                  <a:srgbClr val="0000FF"/>
                </a:solidFill>
                <a:latin typeface="Calibri"/>
                <a:cs typeface="Calibri"/>
              </a:rPr>
              <a:t>System</a:t>
            </a:r>
            <a:endParaRPr lang="en-AU" sz="2800" b="1" spc="5" dirty="0">
              <a:solidFill>
                <a:srgbClr val="0000FF"/>
              </a:solidFill>
              <a:latin typeface="Calibri"/>
              <a:cs typeface="Calibri"/>
            </a:endParaRPr>
          </a:p>
          <a:p>
            <a:pPr marL="1089660" lvl="2" indent="-276860">
              <a:spcBef>
                <a:spcPts val="740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lang="en-AU" sz="2400" b="1" spc="5" dirty="0">
                <a:latin typeface="Calibri"/>
                <a:cs typeface="Calibri"/>
              </a:rPr>
              <a:t>A file system that stores data across a cluster but stores each piece of data multiple times.</a:t>
            </a:r>
            <a:endParaRPr lang="en-AU" sz="2400" b="1" dirty="0">
              <a:latin typeface="Calibri"/>
              <a:cs typeface="Calibri"/>
            </a:endParaRPr>
          </a:p>
          <a:p>
            <a:pPr marL="1089660" lvl="2" indent="-276860">
              <a:spcBef>
                <a:spcPts val="740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400" spc="-15" dirty="0">
                <a:latin typeface="Calibri"/>
                <a:cs typeface="Calibri"/>
              </a:rPr>
              <a:t>Provides </a:t>
            </a:r>
            <a:r>
              <a:rPr sz="2400" spc="-10" dirty="0">
                <a:latin typeface="Calibri"/>
                <a:cs typeface="Calibri"/>
              </a:rPr>
              <a:t>global </a:t>
            </a:r>
            <a:r>
              <a:rPr sz="2400" spc="-15" dirty="0">
                <a:latin typeface="Calibri"/>
                <a:cs typeface="Calibri"/>
              </a:rPr>
              <a:t>file</a:t>
            </a:r>
            <a:r>
              <a:rPr sz="2400" spc="110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namespace</a:t>
            </a:r>
            <a:r>
              <a:rPr lang="en-AU" sz="2400" spc="5" dirty="0">
                <a:latin typeface="Calibri"/>
                <a:cs typeface="Calibri"/>
              </a:rPr>
              <a:t>, redundancy and availability</a:t>
            </a:r>
          </a:p>
          <a:p>
            <a:pPr marL="1089660" lvl="2" indent="-276860">
              <a:spcBef>
                <a:spcPts val="740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lang="en-AU" sz="2400" spc="5" dirty="0">
                <a:latin typeface="Calibri"/>
                <a:cs typeface="Calibri"/>
              </a:rPr>
              <a:t>Google GFS (proprietary) , Hadoop HDFS (open-source)</a:t>
            </a:r>
            <a:endParaRPr sz="2400" dirty="0">
              <a:latin typeface="Calibri"/>
              <a:cs typeface="Calibri"/>
            </a:endParaRPr>
          </a:p>
          <a:p>
            <a:pPr marL="793750" lvl="1" indent="-324485">
              <a:lnSpc>
                <a:spcPts val="3800"/>
              </a:lnSpc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sz="2800" b="1" spc="-10" dirty="0">
                <a:solidFill>
                  <a:srgbClr val="008000"/>
                </a:solidFill>
                <a:latin typeface="Calibri"/>
                <a:cs typeface="Calibri"/>
              </a:rPr>
              <a:t>Typical </a:t>
            </a:r>
            <a:r>
              <a:rPr sz="2800" b="1" dirty="0">
                <a:solidFill>
                  <a:srgbClr val="008000"/>
                </a:solidFill>
                <a:latin typeface="Calibri"/>
                <a:cs typeface="Calibri"/>
              </a:rPr>
              <a:t>usage</a:t>
            </a:r>
            <a:r>
              <a:rPr sz="2800" b="1" spc="-12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8000"/>
                </a:solidFill>
                <a:latin typeface="Calibri"/>
                <a:cs typeface="Calibri"/>
              </a:rPr>
              <a:t>pattern</a:t>
            </a:r>
            <a:endParaRPr sz="2800" dirty="0">
              <a:latin typeface="Calibri"/>
              <a:cs typeface="Calibri"/>
            </a:endParaRPr>
          </a:p>
          <a:p>
            <a:pPr marL="1089660" lvl="2" indent="-276860">
              <a:spcBef>
                <a:spcPts val="740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400" spc="-10" dirty="0">
                <a:latin typeface="Calibri"/>
                <a:cs typeface="Calibri"/>
              </a:rPr>
              <a:t>Huge </a:t>
            </a:r>
            <a:r>
              <a:rPr sz="2400" spc="-20" dirty="0">
                <a:latin typeface="Calibri"/>
                <a:cs typeface="Calibri"/>
              </a:rPr>
              <a:t>files </a:t>
            </a:r>
            <a:r>
              <a:rPr sz="2400" spc="20" dirty="0">
                <a:latin typeface="Calibri"/>
                <a:cs typeface="Calibri"/>
              </a:rPr>
              <a:t>(100s </a:t>
            </a:r>
            <a:r>
              <a:rPr sz="2400" spc="25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GB </a:t>
            </a:r>
            <a:r>
              <a:rPr sz="2400" spc="-10" dirty="0">
                <a:latin typeface="Calibri"/>
                <a:cs typeface="Calibri"/>
              </a:rPr>
              <a:t>to</a:t>
            </a:r>
            <a:r>
              <a:rPr sz="2400" spc="380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TB)</a:t>
            </a:r>
            <a:endParaRPr sz="2400" dirty="0">
              <a:latin typeface="Calibri"/>
              <a:cs typeface="Calibri"/>
            </a:endParaRPr>
          </a:p>
          <a:p>
            <a:pPr marL="1089660" lvl="2" indent="-276860">
              <a:spcBef>
                <a:spcPts val="755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lang="en-AU" sz="2400" spc="10" dirty="0">
                <a:latin typeface="Calibri"/>
                <a:cs typeface="Calibri"/>
              </a:rPr>
              <a:t>WORM (write once, read many); </a:t>
            </a:r>
            <a:r>
              <a:rPr sz="2400" spc="-10" dirty="0">
                <a:latin typeface="Calibri"/>
                <a:cs typeface="Calibri"/>
              </a:rPr>
              <a:t>appends </a:t>
            </a:r>
            <a:r>
              <a:rPr sz="2400" spc="15" dirty="0">
                <a:latin typeface="Calibri"/>
                <a:cs typeface="Calibri"/>
              </a:rPr>
              <a:t>are</a:t>
            </a:r>
            <a:r>
              <a:rPr sz="2400" spc="-170" dirty="0">
                <a:latin typeface="Calibri"/>
                <a:cs typeface="Calibri"/>
              </a:rPr>
              <a:t> </a:t>
            </a:r>
            <a:r>
              <a:rPr lang="en-AU" sz="2400" spc="35" dirty="0">
                <a:latin typeface="Calibri"/>
                <a:cs typeface="Calibri"/>
              </a:rPr>
              <a:t>possible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D45969-F2DC-4811-9EC3-F54DCD5B3BCC}"/>
              </a:ext>
            </a:extLst>
          </p:cNvPr>
          <p:cNvSpPr txBox="1"/>
          <p:nvPr/>
        </p:nvSpPr>
        <p:spPr>
          <a:xfrm>
            <a:off x="457200" y="152400"/>
            <a:ext cx="8458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>
                <a:solidFill>
                  <a:srgbClr val="FFFF00"/>
                </a:solidFill>
                <a:latin typeface="Palatino Linotype" panose="02040502050505030304" pitchFamily="18" charset="0"/>
              </a:rPr>
              <a:t>Redundant Storage Infrastructure</a:t>
            </a:r>
            <a:endParaRPr lang="en-US" sz="4000" dirty="0">
              <a:solidFill>
                <a:srgbClr val="FFFF00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EC4E71-51B7-4CEB-8E73-55B295A0FDE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US" smtClean="0"/>
              <a:t>10</a:t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14362" y="1347787"/>
            <a:ext cx="7919084" cy="309379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36550" indent="-324485">
              <a:lnSpc>
                <a:spcPts val="3829"/>
              </a:lnSpc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sz="3200" spc="-20" dirty="0">
                <a:latin typeface="Calibri"/>
                <a:cs typeface="Calibri"/>
              </a:rPr>
              <a:t>Data </a:t>
            </a:r>
            <a:r>
              <a:rPr sz="3200" spc="-5" dirty="0">
                <a:latin typeface="Calibri"/>
                <a:cs typeface="Calibri"/>
              </a:rPr>
              <a:t>kept </a:t>
            </a:r>
            <a:r>
              <a:rPr sz="3200" spc="10" dirty="0">
                <a:latin typeface="Calibri"/>
                <a:cs typeface="Calibri"/>
              </a:rPr>
              <a:t>in </a:t>
            </a:r>
            <a:r>
              <a:rPr sz="3200" spc="5" dirty="0">
                <a:latin typeface="Calibri"/>
                <a:cs typeface="Calibri"/>
              </a:rPr>
              <a:t>“chunks” </a:t>
            </a:r>
            <a:r>
              <a:rPr sz="3200" dirty="0">
                <a:latin typeface="Calibri"/>
                <a:cs typeface="Calibri"/>
              </a:rPr>
              <a:t>spread across</a:t>
            </a:r>
            <a:r>
              <a:rPr sz="3200" spc="-509" dirty="0">
                <a:latin typeface="Calibri"/>
                <a:cs typeface="Calibri"/>
              </a:rPr>
              <a:t> </a:t>
            </a:r>
            <a:r>
              <a:rPr sz="3200" spc="10" dirty="0">
                <a:latin typeface="Calibri"/>
                <a:cs typeface="Calibri"/>
              </a:rPr>
              <a:t>machines</a:t>
            </a:r>
            <a:endParaRPr sz="3200" dirty="0">
              <a:latin typeface="Calibri"/>
              <a:cs typeface="Calibri"/>
            </a:endParaRPr>
          </a:p>
          <a:p>
            <a:pPr marL="336550" indent="-324485">
              <a:lnSpc>
                <a:spcPts val="3835"/>
              </a:lnSpc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sz="3200" spc="-5" dirty="0">
                <a:latin typeface="Calibri"/>
                <a:cs typeface="Calibri"/>
              </a:rPr>
              <a:t>Each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25" dirty="0">
                <a:latin typeface="Calibri"/>
                <a:cs typeface="Calibri"/>
              </a:rPr>
              <a:t>chunk</a:t>
            </a:r>
            <a:r>
              <a:rPr sz="3200" spc="-160" dirty="0">
                <a:latin typeface="Calibri"/>
                <a:cs typeface="Calibri"/>
              </a:rPr>
              <a:t> </a:t>
            </a:r>
            <a:r>
              <a:rPr sz="3200" b="1" spc="5" dirty="0">
                <a:solidFill>
                  <a:srgbClr val="008000"/>
                </a:solidFill>
                <a:latin typeface="Calibri"/>
                <a:cs typeface="Calibri"/>
              </a:rPr>
              <a:t>replicated</a:t>
            </a:r>
            <a:r>
              <a:rPr sz="3200" b="1" spc="-21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200" spc="25" dirty="0">
                <a:latin typeface="Calibri"/>
                <a:cs typeface="Calibri"/>
              </a:rPr>
              <a:t>on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different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15" dirty="0">
                <a:latin typeface="Calibri"/>
                <a:cs typeface="Calibri"/>
              </a:rPr>
              <a:t>machines</a:t>
            </a:r>
            <a:endParaRPr sz="3200" dirty="0">
              <a:latin typeface="Calibri"/>
              <a:cs typeface="Calibri"/>
            </a:endParaRPr>
          </a:p>
          <a:p>
            <a:pPr marL="632460" lvl="1" indent="-276860">
              <a:lnSpc>
                <a:spcPct val="100000"/>
              </a:lnSpc>
              <a:spcBef>
                <a:spcPts val="815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750" spc="-5" dirty="0">
                <a:latin typeface="Calibri"/>
                <a:cs typeface="Calibri"/>
              </a:rPr>
              <a:t>Seamless </a:t>
            </a:r>
            <a:r>
              <a:rPr sz="2750" spc="10" dirty="0">
                <a:latin typeface="Calibri"/>
                <a:cs typeface="Calibri"/>
              </a:rPr>
              <a:t>recovery </a:t>
            </a:r>
            <a:r>
              <a:rPr sz="2750" spc="-5" dirty="0">
                <a:latin typeface="Calibri"/>
                <a:cs typeface="Calibri"/>
              </a:rPr>
              <a:t>from </a:t>
            </a:r>
            <a:r>
              <a:rPr sz="2750" spc="-20" dirty="0">
                <a:latin typeface="Calibri"/>
                <a:cs typeface="Calibri"/>
              </a:rPr>
              <a:t>disk </a:t>
            </a:r>
            <a:r>
              <a:rPr sz="2750" spc="25" dirty="0">
                <a:latin typeface="Calibri"/>
                <a:cs typeface="Calibri"/>
              </a:rPr>
              <a:t>or </a:t>
            </a:r>
            <a:r>
              <a:rPr sz="2750" spc="5" dirty="0">
                <a:latin typeface="Calibri"/>
                <a:cs typeface="Calibri"/>
              </a:rPr>
              <a:t>machine</a:t>
            </a:r>
            <a:r>
              <a:rPr sz="2750" spc="-150" dirty="0">
                <a:latin typeface="Calibri"/>
                <a:cs typeface="Calibri"/>
              </a:rPr>
              <a:t> </a:t>
            </a:r>
            <a:r>
              <a:rPr sz="2750" spc="-20" dirty="0">
                <a:latin typeface="Calibri"/>
                <a:cs typeface="Calibri"/>
              </a:rPr>
              <a:t>failure</a:t>
            </a:r>
            <a:endParaRPr lang="en-AU" sz="2750" spc="-20" dirty="0">
              <a:latin typeface="Calibri"/>
              <a:cs typeface="Calibri"/>
            </a:endParaRPr>
          </a:p>
          <a:p>
            <a:pPr marL="632460" lvl="1" indent="-276860">
              <a:lnSpc>
                <a:spcPct val="100000"/>
              </a:lnSpc>
              <a:spcBef>
                <a:spcPts val="815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lang="en-AU" sz="2750" spc="-20" dirty="0">
                <a:latin typeface="Calibri"/>
                <a:cs typeface="Calibri"/>
              </a:rPr>
              <a:t>Ensures persistency and availability</a:t>
            </a:r>
          </a:p>
          <a:p>
            <a:pPr marL="632460" lvl="1" indent="-276860">
              <a:lnSpc>
                <a:spcPct val="100000"/>
              </a:lnSpc>
              <a:spcBef>
                <a:spcPts val="815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endParaRPr lang="en-AU" sz="2750" spc="-20" dirty="0">
              <a:latin typeface="Calibri"/>
              <a:cs typeface="Calibri"/>
            </a:endParaRPr>
          </a:p>
          <a:p>
            <a:pPr marL="632460" lvl="1" indent="-276860">
              <a:lnSpc>
                <a:spcPct val="100000"/>
              </a:lnSpc>
              <a:spcBef>
                <a:spcPts val="815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endParaRPr sz="2750" dirty="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14336" y="3620771"/>
            <a:ext cx="1315085" cy="1066800"/>
          </a:xfrm>
          <a:custGeom>
            <a:avLst/>
            <a:gdLst/>
            <a:ahLst/>
            <a:cxnLst/>
            <a:rect l="l" t="t" r="r" b="b"/>
            <a:pathLst>
              <a:path w="1315085" h="1066800">
                <a:moveTo>
                  <a:pt x="0" y="1524"/>
                </a:moveTo>
                <a:lnTo>
                  <a:pt x="0" y="635"/>
                </a:lnTo>
                <a:lnTo>
                  <a:pt x="711" y="0"/>
                </a:lnTo>
                <a:lnTo>
                  <a:pt x="1574" y="0"/>
                </a:lnTo>
                <a:lnTo>
                  <a:pt x="1312862" y="0"/>
                </a:lnTo>
                <a:lnTo>
                  <a:pt x="1313751" y="0"/>
                </a:lnTo>
                <a:lnTo>
                  <a:pt x="1314513" y="635"/>
                </a:lnTo>
                <a:lnTo>
                  <a:pt x="1314513" y="1524"/>
                </a:lnTo>
                <a:lnTo>
                  <a:pt x="1314513" y="1065149"/>
                </a:lnTo>
                <a:lnTo>
                  <a:pt x="1314513" y="1066038"/>
                </a:lnTo>
                <a:lnTo>
                  <a:pt x="1313751" y="1066800"/>
                </a:lnTo>
                <a:lnTo>
                  <a:pt x="1312862" y="1066800"/>
                </a:lnTo>
                <a:lnTo>
                  <a:pt x="1574" y="1066800"/>
                </a:lnTo>
                <a:lnTo>
                  <a:pt x="711" y="1066800"/>
                </a:lnTo>
                <a:lnTo>
                  <a:pt x="0" y="1066038"/>
                </a:lnTo>
                <a:lnTo>
                  <a:pt x="0" y="1065149"/>
                </a:lnTo>
                <a:lnTo>
                  <a:pt x="0" y="1524"/>
                </a:lnTo>
                <a:close/>
              </a:path>
            </a:pathLst>
          </a:custGeom>
          <a:ln w="28440">
            <a:solidFill>
              <a:srgbClr val="009999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6262877" y="3932555"/>
            <a:ext cx="351155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b="1" dirty="0">
                <a:solidFill>
                  <a:srgbClr val="7C7C7C"/>
                </a:solidFill>
                <a:latin typeface="Calibri"/>
                <a:cs typeface="Calibri"/>
              </a:rPr>
              <a:t>…</a:t>
            </a:r>
            <a:endParaRPr sz="3600" dirty="0">
              <a:latin typeface="Calibri"/>
              <a:cs typeface="Calibri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1000125" y="5400304"/>
            <a:ext cx="7053580" cy="1453515"/>
            <a:chOff x="1000125" y="5400304"/>
            <a:chExt cx="7053580" cy="1453515"/>
          </a:xfrm>
        </p:grpSpPr>
        <p:pic>
          <p:nvPicPr>
            <p:cNvPr id="48" name="object 4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9630" y="5400304"/>
              <a:ext cx="6986689" cy="596741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0125" y="6019799"/>
              <a:ext cx="7053326" cy="833437"/>
            </a:xfrm>
            <a:prstGeom prst="rect">
              <a:avLst/>
            </a:prstGeom>
          </p:spPr>
        </p:pic>
      </p:grpSp>
      <p:sp>
        <p:nvSpPr>
          <p:cNvPr id="50" name="object 50"/>
          <p:cNvSpPr txBox="1"/>
          <p:nvPr/>
        </p:nvSpPr>
        <p:spPr>
          <a:xfrm>
            <a:off x="1299844" y="5439092"/>
            <a:ext cx="6461760" cy="11360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R="30480" algn="ctr">
              <a:lnSpc>
                <a:spcPct val="100000"/>
              </a:lnSpc>
              <a:spcBef>
                <a:spcPts val="130"/>
              </a:spcBef>
            </a:pPr>
            <a:r>
              <a:rPr sz="2750" spc="15" dirty="0">
                <a:solidFill>
                  <a:srgbClr val="FFFFFF"/>
                </a:solidFill>
                <a:latin typeface="Corbel"/>
                <a:cs typeface="Corbel"/>
              </a:rPr>
              <a:t>Bring </a:t>
            </a:r>
            <a:r>
              <a:rPr sz="2750" spc="20" dirty="0">
                <a:solidFill>
                  <a:srgbClr val="FFFFFF"/>
                </a:solidFill>
                <a:latin typeface="Corbel"/>
                <a:cs typeface="Corbel"/>
              </a:rPr>
              <a:t>computation </a:t>
            </a:r>
            <a:r>
              <a:rPr sz="2750" spc="10" dirty="0">
                <a:solidFill>
                  <a:srgbClr val="FFFFFF"/>
                </a:solidFill>
                <a:latin typeface="Corbel"/>
                <a:cs typeface="Corbel"/>
              </a:rPr>
              <a:t>directly </a:t>
            </a:r>
            <a:r>
              <a:rPr sz="2750" spc="15" dirty="0">
                <a:solidFill>
                  <a:srgbClr val="FFFFFF"/>
                </a:solidFill>
                <a:latin typeface="Corbel"/>
                <a:cs typeface="Corbel"/>
              </a:rPr>
              <a:t>to </a:t>
            </a:r>
            <a:r>
              <a:rPr sz="2750" spc="20" dirty="0">
                <a:solidFill>
                  <a:srgbClr val="FFFFFF"/>
                </a:solidFill>
                <a:latin typeface="Corbel"/>
                <a:cs typeface="Corbel"/>
              </a:rPr>
              <a:t>the</a:t>
            </a:r>
            <a:r>
              <a:rPr sz="2750" spc="7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750" spc="10" dirty="0">
                <a:solidFill>
                  <a:srgbClr val="FFFFFF"/>
                </a:solidFill>
                <a:latin typeface="Corbel"/>
                <a:cs typeface="Corbel"/>
              </a:rPr>
              <a:t>data!</a:t>
            </a:r>
            <a:endParaRPr sz="2750" dirty="0">
              <a:latin typeface="Corbel"/>
              <a:cs typeface="Corbel"/>
            </a:endParaRPr>
          </a:p>
          <a:p>
            <a:pPr algn="ctr">
              <a:lnSpc>
                <a:spcPct val="100000"/>
              </a:lnSpc>
              <a:spcBef>
                <a:spcPts val="2105"/>
              </a:spcBef>
            </a:pPr>
            <a:r>
              <a:rPr sz="2750" spc="20" dirty="0">
                <a:solidFill>
                  <a:srgbClr val="FFFFFF"/>
                </a:solidFill>
                <a:latin typeface="Corbel"/>
                <a:cs typeface="Corbel"/>
              </a:rPr>
              <a:t>Chunk </a:t>
            </a:r>
            <a:r>
              <a:rPr sz="2750" spc="-10" dirty="0">
                <a:solidFill>
                  <a:srgbClr val="FFFFFF"/>
                </a:solidFill>
                <a:latin typeface="Corbel"/>
                <a:cs typeface="Corbel"/>
              </a:rPr>
              <a:t>servers </a:t>
            </a:r>
            <a:r>
              <a:rPr sz="2750" spc="10" dirty="0">
                <a:solidFill>
                  <a:srgbClr val="FFFFFF"/>
                </a:solidFill>
                <a:latin typeface="Corbel"/>
                <a:cs typeface="Corbel"/>
              </a:rPr>
              <a:t>also </a:t>
            </a:r>
            <a:r>
              <a:rPr sz="2750" spc="-5" dirty="0">
                <a:solidFill>
                  <a:srgbClr val="FFFFFF"/>
                </a:solidFill>
                <a:latin typeface="Corbel"/>
                <a:cs typeface="Corbel"/>
              </a:rPr>
              <a:t>serve </a:t>
            </a:r>
            <a:r>
              <a:rPr sz="2750" spc="5" dirty="0">
                <a:solidFill>
                  <a:srgbClr val="FFFFFF"/>
                </a:solidFill>
                <a:latin typeface="Corbel"/>
                <a:cs typeface="Corbel"/>
              </a:rPr>
              <a:t>as </a:t>
            </a:r>
            <a:r>
              <a:rPr sz="2750" spc="15" dirty="0">
                <a:solidFill>
                  <a:srgbClr val="FFFFFF"/>
                </a:solidFill>
                <a:latin typeface="Corbel"/>
                <a:cs typeface="Corbel"/>
              </a:rPr>
              <a:t>compute</a:t>
            </a:r>
            <a:r>
              <a:rPr sz="2750" spc="-13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750" spc="-10" dirty="0">
                <a:solidFill>
                  <a:srgbClr val="FFFFFF"/>
                </a:solidFill>
                <a:latin typeface="Corbel"/>
                <a:cs typeface="Corbel"/>
              </a:rPr>
              <a:t>servers</a:t>
            </a:r>
            <a:endParaRPr sz="2750" dirty="0">
              <a:latin typeface="Corbel"/>
              <a:cs typeface="Corbel"/>
            </a:endParaRPr>
          </a:p>
        </p:txBody>
      </p:sp>
      <p:sp>
        <p:nvSpPr>
          <p:cNvPr id="71" name="object 15">
            <a:extLst>
              <a:ext uri="{FF2B5EF4-FFF2-40B4-BE49-F238E27FC236}">
                <a16:creationId xmlns:a16="http://schemas.microsoft.com/office/drawing/2014/main" id="{30067803-93AA-4A7E-AD68-3AC620BEA706}"/>
              </a:ext>
            </a:extLst>
          </p:cNvPr>
          <p:cNvSpPr/>
          <p:nvPr/>
        </p:nvSpPr>
        <p:spPr>
          <a:xfrm>
            <a:off x="2743168" y="3645609"/>
            <a:ext cx="1315085" cy="1066800"/>
          </a:xfrm>
          <a:custGeom>
            <a:avLst/>
            <a:gdLst/>
            <a:ahLst/>
            <a:cxnLst/>
            <a:rect l="l" t="t" r="r" b="b"/>
            <a:pathLst>
              <a:path w="1315085" h="1066800">
                <a:moveTo>
                  <a:pt x="0" y="1524"/>
                </a:moveTo>
                <a:lnTo>
                  <a:pt x="0" y="635"/>
                </a:lnTo>
                <a:lnTo>
                  <a:pt x="711" y="0"/>
                </a:lnTo>
                <a:lnTo>
                  <a:pt x="1574" y="0"/>
                </a:lnTo>
                <a:lnTo>
                  <a:pt x="1312862" y="0"/>
                </a:lnTo>
                <a:lnTo>
                  <a:pt x="1313751" y="0"/>
                </a:lnTo>
                <a:lnTo>
                  <a:pt x="1314513" y="635"/>
                </a:lnTo>
                <a:lnTo>
                  <a:pt x="1314513" y="1524"/>
                </a:lnTo>
                <a:lnTo>
                  <a:pt x="1314513" y="1065149"/>
                </a:lnTo>
                <a:lnTo>
                  <a:pt x="1314513" y="1066038"/>
                </a:lnTo>
                <a:lnTo>
                  <a:pt x="1313751" y="1066800"/>
                </a:lnTo>
                <a:lnTo>
                  <a:pt x="1312862" y="1066800"/>
                </a:lnTo>
                <a:lnTo>
                  <a:pt x="1574" y="1066800"/>
                </a:lnTo>
                <a:lnTo>
                  <a:pt x="711" y="1066800"/>
                </a:lnTo>
                <a:lnTo>
                  <a:pt x="0" y="1066038"/>
                </a:lnTo>
                <a:lnTo>
                  <a:pt x="0" y="1065149"/>
                </a:lnTo>
                <a:lnTo>
                  <a:pt x="0" y="1524"/>
                </a:lnTo>
                <a:close/>
              </a:path>
            </a:pathLst>
          </a:custGeom>
          <a:ln w="28440">
            <a:solidFill>
              <a:srgbClr val="009999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15">
            <a:extLst>
              <a:ext uri="{FF2B5EF4-FFF2-40B4-BE49-F238E27FC236}">
                <a16:creationId xmlns:a16="http://schemas.microsoft.com/office/drawing/2014/main" id="{90817748-624D-47D2-99D4-DAF77DB7D6AE}"/>
              </a:ext>
            </a:extLst>
          </p:cNvPr>
          <p:cNvSpPr/>
          <p:nvPr/>
        </p:nvSpPr>
        <p:spPr>
          <a:xfrm>
            <a:off x="4572000" y="3645609"/>
            <a:ext cx="1315085" cy="1066800"/>
          </a:xfrm>
          <a:custGeom>
            <a:avLst/>
            <a:gdLst/>
            <a:ahLst/>
            <a:cxnLst/>
            <a:rect l="l" t="t" r="r" b="b"/>
            <a:pathLst>
              <a:path w="1315085" h="1066800">
                <a:moveTo>
                  <a:pt x="0" y="1524"/>
                </a:moveTo>
                <a:lnTo>
                  <a:pt x="0" y="635"/>
                </a:lnTo>
                <a:lnTo>
                  <a:pt x="711" y="0"/>
                </a:lnTo>
                <a:lnTo>
                  <a:pt x="1574" y="0"/>
                </a:lnTo>
                <a:lnTo>
                  <a:pt x="1312862" y="0"/>
                </a:lnTo>
                <a:lnTo>
                  <a:pt x="1313751" y="0"/>
                </a:lnTo>
                <a:lnTo>
                  <a:pt x="1314513" y="635"/>
                </a:lnTo>
                <a:lnTo>
                  <a:pt x="1314513" y="1524"/>
                </a:lnTo>
                <a:lnTo>
                  <a:pt x="1314513" y="1065149"/>
                </a:lnTo>
                <a:lnTo>
                  <a:pt x="1314513" y="1066038"/>
                </a:lnTo>
                <a:lnTo>
                  <a:pt x="1313751" y="1066800"/>
                </a:lnTo>
                <a:lnTo>
                  <a:pt x="1312862" y="1066800"/>
                </a:lnTo>
                <a:lnTo>
                  <a:pt x="1574" y="1066800"/>
                </a:lnTo>
                <a:lnTo>
                  <a:pt x="711" y="1066800"/>
                </a:lnTo>
                <a:lnTo>
                  <a:pt x="0" y="1066038"/>
                </a:lnTo>
                <a:lnTo>
                  <a:pt x="0" y="1065149"/>
                </a:lnTo>
                <a:lnTo>
                  <a:pt x="0" y="1524"/>
                </a:lnTo>
                <a:close/>
              </a:path>
            </a:pathLst>
          </a:custGeom>
          <a:ln w="28440">
            <a:solidFill>
              <a:srgbClr val="009999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15">
            <a:extLst>
              <a:ext uri="{FF2B5EF4-FFF2-40B4-BE49-F238E27FC236}">
                <a16:creationId xmlns:a16="http://schemas.microsoft.com/office/drawing/2014/main" id="{F70C8100-D337-4DC2-89A1-47BCB3F87C89}"/>
              </a:ext>
            </a:extLst>
          </p:cNvPr>
          <p:cNvSpPr/>
          <p:nvPr/>
        </p:nvSpPr>
        <p:spPr>
          <a:xfrm>
            <a:off x="6914579" y="3645609"/>
            <a:ext cx="1315085" cy="1066800"/>
          </a:xfrm>
          <a:custGeom>
            <a:avLst/>
            <a:gdLst/>
            <a:ahLst/>
            <a:cxnLst/>
            <a:rect l="l" t="t" r="r" b="b"/>
            <a:pathLst>
              <a:path w="1315085" h="1066800">
                <a:moveTo>
                  <a:pt x="0" y="1524"/>
                </a:moveTo>
                <a:lnTo>
                  <a:pt x="0" y="635"/>
                </a:lnTo>
                <a:lnTo>
                  <a:pt x="711" y="0"/>
                </a:lnTo>
                <a:lnTo>
                  <a:pt x="1574" y="0"/>
                </a:lnTo>
                <a:lnTo>
                  <a:pt x="1312862" y="0"/>
                </a:lnTo>
                <a:lnTo>
                  <a:pt x="1313751" y="0"/>
                </a:lnTo>
                <a:lnTo>
                  <a:pt x="1314513" y="635"/>
                </a:lnTo>
                <a:lnTo>
                  <a:pt x="1314513" y="1524"/>
                </a:lnTo>
                <a:lnTo>
                  <a:pt x="1314513" y="1065149"/>
                </a:lnTo>
                <a:lnTo>
                  <a:pt x="1314513" y="1066038"/>
                </a:lnTo>
                <a:lnTo>
                  <a:pt x="1313751" y="1066800"/>
                </a:lnTo>
                <a:lnTo>
                  <a:pt x="1312862" y="1066800"/>
                </a:lnTo>
                <a:lnTo>
                  <a:pt x="1574" y="1066800"/>
                </a:lnTo>
                <a:lnTo>
                  <a:pt x="711" y="1066800"/>
                </a:lnTo>
                <a:lnTo>
                  <a:pt x="0" y="1066038"/>
                </a:lnTo>
                <a:lnTo>
                  <a:pt x="0" y="1065149"/>
                </a:lnTo>
                <a:lnTo>
                  <a:pt x="0" y="1524"/>
                </a:lnTo>
                <a:close/>
              </a:path>
            </a:pathLst>
          </a:custGeom>
          <a:ln w="28440">
            <a:solidFill>
              <a:srgbClr val="009999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8">
            <a:extLst>
              <a:ext uri="{FF2B5EF4-FFF2-40B4-BE49-F238E27FC236}">
                <a16:creationId xmlns:a16="http://schemas.microsoft.com/office/drawing/2014/main" id="{57EBB835-DF6C-475A-A3BC-E18236FC422D}"/>
              </a:ext>
            </a:extLst>
          </p:cNvPr>
          <p:cNvSpPr/>
          <p:nvPr/>
        </p:nvSpPr>
        <p:spPr>
          <a:xfrm>
            <a:off x="3403187" y="4265686"/>
            <a:ext cx="561975" cy="390525"/>
          </a:xfrm>
          <a:custGeom>
            <a:avLst/>
            <a:gdLst/>
            <a:ahLst/>
            <a:cxnLst/>
            <a:rect l="l" t="t" r="r" b="b"/>
            <a:pathLst>
              <a:path w="561975" h="390525">
                <a:moveTo>
                  <a:pt x="0" y="1524"/>
                </a:moveTo>
                <a:lnTo>
                  <a:pt x="0" y="635"/>
                </a:lnTo>
                <a:lnTo>
                  <a:pt x="635" y="0"/>
                </a:lnTo>
                <a:lnTo>
                  <a:pt x="1524" y="0"/>
                </a:lnTo>
                <a:lnTo>
                  <a:pt x="560324" y="0"/>
                </a:lnTo>
                <a:lnTo>
                  <a:pt x="561213" y="0"/>
                </a:lnTo>
                <a:lnTo>
                  <a:pt x="561975" y="635"/>
                </a:lnTo>
                <a:lnTo>
                  <a:pt x="561975" y="1524"/>
                </a:lnTo>
                <a:lnTo>
                  <a:pt x="561975" y="388874"/>
                </a:lnTo>
                <a:lnTo>
                  <a:pt x="561975" y="389763"/>
                </a:lnTo>
                <a:lnTo>
                  <a:pt x="561213" y="390525"/>
                </a:lnTo>
                <a:lnTo>
                  <a:pt x="560324" y="390525"/>
                </a:lnTo>
                <a:lnTo>
                  <a:pt x="1524" y="390525"/>
                </a:lnTo>
                <a:lnTo>
                  <a:pt x="635" y="390525"/>
                </a:lnTo>
                <a:lnTo>
                  <a:pt x="0" y="389763"/>
                </a:lnTo>
                <a:lnTo>
                  <a:pt x="0" y="388874"/>
                </a:lnTo>
                <a:lnTo>
                  <a:pt x="0" y="1524"/>
                </a:lnTo>
                <a:close/>
              </a:path>
            </a:pathLst>
          </a:custGeom>
          <a:solidFill>
            <a:srgbClr val="92D050"/>
          </a:solidFill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r>
              <a:rPr lang="en-AU" dirty="0"/>
              <a:t>C3</a:t>
            </a:r>
            <a:endParaRPr dirty="0"/>
          </a:p>
        </p:txBody>
      </p:sp>
      <p:sp>
        <p:nvSpPr>
          <p:cNvPr id="75" name="object 8">
            <a:extLst>
              <a:ext uri="{FF2B5EF4-FFF2-40B4-BE49-F238E27FC236}">
                <a16:creationId xmlns:a16="http://schemas.microsoft.com/office/drawing/2014/main" id="{A6BDA220-D85A-455B-BDF6-DAB0CDF53AD6}"/>
              </a:ext>
            </a:extLst>
          </p:cNvPr>
          <p:cNvSpPr/>
          <p:nvPr/>
        </p:nvSpPr>
        <p:spPr>
          <a:xfrm>
            <a:off x="5232019" y="3703571"/>
            <a:ext cx="561975" cy="390525"/>
          </a:xfrm>
          <a:custGeom>
            <a:avLst/>
            <a:gdLst/>
            <a:ahLst/>
            <a:cxnLst/>
            <a:rect l="l" t="t" r="r" b="b"/>
            <a:pathLst>
              <a:path w="561975" h="390525">
                <a:moveTo>
                  <a:pt x="0" y="1524"/>
                </a:moveTo>
                <a:lnTo>
                  <a:pt x="0" y="635"/>
                </a:lnTo>
                <a:lnTo>
                  <a:pt x="635" y="0"/>
                </a:lnTo>
                <a:lnTo>
                  <a:pt x="1524" y="0"/>
                </a:lnTo>
                <a:lnTo>
                  <a:pt x="560324" y="0"/>
                </a:lnTo>
                <a:lnTo>
                  <a:pt x="561213" y="0"/>
                </a:lnTo>
                <a:lnTo>
                  <a:pt x="561975" y="635"/>
                </a:lnTo>
                <a:lnTo>
                  <a:pt x="561975" y="1524"/>
                </a:lnTo>
                <a:lnTo>
                  <a:pt x="561975" y="388874"/>
                </a:lnTo>
                <a:lnTo>
                  <a:pt x="561975" y="389763"/>
                </a:lnTo>
                <a:lnTo>
                  <a:pt x="561213" y="390525"/>
                </a:lnTo>
                <a:lnTo>
                  <a:pt x="560324" y="390525"/>
                </a:lnTo>
                <a:lnTo>
                  <a:pt x="1524" y="390525"/>
                </a:lnTo>
                <a:lnTo>
                  <a:pt x="635" y="390525"/>
                </a:lnTo>
                <a:lnTo>
                  <a:pt x="0" y="389763"/>
                </a:lnTo>
                <a:lnTo>
                  <a:pt x="0" y="388874"/>
                </a:lnTo>
                <a:lnTo>
                  <a:pt x="0" y="1524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r>
              <a:rPr lang="en-AU" dirty="0"/>
              <a:t>C4</a:t>
            </a:r>
            <a:endParaRPr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58B9625-9290-4DCD-9C84-A139C206F8D2}"/>
              </a:ext>
            </a:extLst>
          </p:cNvPr>
          <p:cNvSpPr txBox="1"/>
          <p:nvPr/>
        </p:nvSpPr>
        <p:spPr>
          <a:xfrm>
            <a:off x="583977" y="4736068"/>
            <a:ext cx="1900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solidFill>
                  <a:srgbClr val="00B0F0"/>
                </a:solidFill>
              </a:rPr>
              <a:t>Chunk server 1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8362771-8CD8-47ED-8F68-FE2068FE2412}"/>
              </a:ext>
            </a:extLst>
          </p:cNvPr>
          <p:cNvSpPr txBox="1"/>
          <p:nvPr/>
        </p:nvSpPr>
        <p:spPr>
          <a:xfrm>
            <a:off x="2444017" y="4717616"/>
            <a:ext cx="1900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solidFill>
                  <a:srgbClr val="00B0F0"/>
                </a:solidFill>
              </a:rPr>
              <a:t>Chunk server 2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707D600-DCD2-4CA9-B237-2D0D00DB5BE8}"/>
              </a:ext>
            </a:extLst>
          </p:cNvPr>
          <p:cNvSpPr txBox="1"/>
          <p:nvPr/>
        </p:nvSpPr>
        <p:spPr>
          <a:xfrm>
            <a:off x="4279423" y="4736068"/>
            <a:ext cx="1900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solidFill>
                  <a:srgbClr val="00B0F0"/>
                </a:solidFill>
              </a:rPr>
              <a:t>Chunk server 3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BF0C417-5A70-45CD-BEEA-3E48E15F3FD0}"/>
              </a:ext>
            </a:extLst>
          </p:cNvPr>
          <p:cNvSpPr txBox="1"/>
          <p:nvPr/>
        </p:nvSpPr>
        <p:spPr>
          <a:xfrm>
            <a:off x="6633208" y="4736068"/>
            <a:ext cx="1900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solidFill>
                  <a:srgbClr val="00B0F0"/>
                </a:solidFill>
              </a:rPr>
              <a:t>Chunk server N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80" name="object 8">
            <a:extLst>
              <a:ext uri="{FF2B5EF4-FFF2-40B4-BE49-F238E27FC236}">
                <a16:creationId xmlns:a16="http://schemas.microsoft.com/office/drawing/2014/main" id="{FEF5963B-89F5-4707-9039-7F0A08C0AAB8}"/>
              </a:ext>
            </a:extLst>
          </p:cNvPr>
          <p:cNvSpPr/>
          <p:nvPr/>
        </p:nvSpPr>
        <p:spPr>
          <a:xfrm>
            <a:off x="974883" y="3687891"/>
            <a:ext cx="561975" cy="390525"/>
          </a:xfrm>
          <a:custGeom>
            <a:avLst/>
            <a:gdLst/>
            <a:ahLst/>
            <a:cxnLst/>
            <a:rect l="l" t="t" r="r" b="b"/>
            <a:pathLst>
              <a:path w="561975" h="390525">
                <a:moveTo>
                  <a:pt x="0" y="1524"/>
                </a:moveTo>
                <a:lnTo>
                  <a:pt x="0" y="635"/>
                </a:lnTo>
                <a:lnTo>
                  <a:pt x="635" y="0"/>
                </a:lnTo>
                <a:lnTo>
                  <a:pt x="1524" y="0"/>
                </a:lnTo>
                <a:lnTo>
                  <a:pt x="560324" y="0"/>
                </a:lnTo>
                <a:lnTo>
                  <a:pt x="561213" y="0"/>
                </a:lnTo>
                <a:lnTo>
                  <a:pt x="561975" y="635"/>
                </a:lnTo>
                <a:lnTo>
                  <a:pt x="561975" y="1524"/>
                </a:lnTo>
                <a:lnTo>
                  <a:pt x="561975" y="388874"/>
                </a:lnTo>
                <a:lnTo>
                  <a:pt x="561975" y="389763"/>
                </a:lnTo>
                <a:lnTo>
                  <a:pt x="561213" y="390525"/>
                </a:lnTo>
                <a:lnTo>
                  <a:pt x="560324" y="390525"/>
                </a:lnTo>
                <a:lnTo>
                  <a:pt x="1524" y="390525"/>
                </a:lnTo>
                <a:lnTo>
                  <a:pt x="635" y="390525"/>
                </a:lnTo>
                <a:lnTo>
                  <a:pt x="0" y="389763"/>
                </a:lnTo>
                <a:lnTo>
                  <a:pt x="0" y="388874"/>
                </a:lnTo>
                <a:lnTo>
                  <a:pt x="0" y="1524"/>
                </a:lnTo>
                <a:close/>
              </a:path>
            </a:pathLst>
          </a:custGeom>
          <a:solidFill>
            <a:srgbClr val="FFFF00"/>
          </a:solidFill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r>
              <a:rPr lang="en-AU" dirty="0"/>
              <a:t>C0</a:t>
            </a:r>
            <a:endParaRPr dirty="0"/>
          </a:p>
        </p:txBody>
      </p:sp>
      <p:sp>
        <p:nvSpPr>
          <p:cNvPr id="81" name="object 8">
            <a:extLst>
              <a:ext uri="{FF2B5EF4-FFF2-40B4-BE49-F238E27FC236}">
                <a16:creationId xmlns:a16="http://schemas.microsoft.com/office/drawing/2014/main" id="{4DF33F89-8D01-4907-8E53-1CACC5E64756}"/>
              </a:ext>
            </a:extLst>
          </p:cNvPr>
          <p:cNvSpPr/>
          <p:nvPr/>
        </p:nvSpPr>
        <p:spPr>
          <a:xfrm>
            <a:off x="1597405" y="3687891"/>
            <a:ext cx="561975" cy="390525"/>
          </a:xfrm>
          <a:custGeom>
            <a:avLst/>
            <a:gdLst/>
            <a:ahLst/>
            <a:cxnLst/>
            <a:rect l="l" t="t" r="r" b="b"/>
            <a:pathLst>
              <a:path w="561975" h="390525">
                <a:moveTo>
                  <a:pt x="0" y="1524"/>
                </a:moveTo>
                <a:lnTo>
                  <a:pt x="0" y="635"/>
                </a:lnTo>
                <a:lnTo>
                  <a:pt x="635" y="0"/>
                </a:lnTo>
                <a:lnTo>
                  <a:pt x="1524" y="0"/>
                </a:lnTo>
                <a:lnTo>
                  <a:pt x="560324" y="0"/>
                </a:lnTo>
                <a:lnTo>
                  <a:pt x="561213" y="0"/>
                </a:lnTo>
                <a:lnTo>
                  <a:pt x="561975" y="635"/>
                </a:lnTo>
                <a:lnTo>
                  <a:pt x="561975" y="1524"/>
                </a:lnTo>
                <a:lnTo>
                  <a:pt x="561975" y="388874"/>
                </a:lnTo>
                <a:lnTo>
                  <a:pt x="561975" y="389763"/>
                </a:lnTo>
                <a:lnTo>
                  <a:pt x="561213" y="390525"/>
                </a:lnTo>
                <a:lnTo>
                  <a:pt x="560324" y="390525"/>
                </a:lnTo>
                <a:lnTo>
                  <a:pt x="1524" y="390525"/>
                </a:lnTo>
                <a:lnTo>
                  <a:pt x="635" y="390525"/>
                </a:lnTo>
                <a:lnTo>
                  <a:pt x="0" y="389763"/>
                </a:lnTo>
                <a:lnTo>
                  <a:pt x="0" y="388874"/>
                </a:lnTo>
                <a:lnTo>
                  <a:pt x="0" y="1524"/>
                </a:lnTo>
                <a:close/>
              </a:path>
            </a:pathLst>
          </a:custGeom>
          <a:solidFill>
            <a:srgbClr val="FFC000"/>
          </a:solidFill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r>
              <a:rPr lang="en-AU" dirty="0"/>
              <a:t>C1</a:t>
            </a:r>
            <a:endParaRPr dirty="0"/>
          </a:p>
        </p:txBody>
      </p:sp>
      <p:sp>
        <p:nvSpPr>
          <p:cNvPr id="82" name="object 8">
            <a:extLst>
              <a:ext uri="{FF2B5EF4-FFF2-40B4-BE49-F238E27FC236}">
                <a16:creationId xmlns:a16="http://schemas.microsoft.com/office/drawing/2014/main" id="{0188F6D7-C204-47E7-B0FE-0A88A49F673A}"/>
              </a:ext>
            </a:extLst>
          </p:cNvPr>
          <p:cNvSpPr/>
          <p:nvPr/>
        </p:nvSpPr>
        <p:spPr>
          <a:xfrm>
            <a:off x="972121" y="4240848"/>
            <a:ext cx="561975" cy="390525"/>
          </a:xfrm>
          <a:custGeom>
            <a:avLst/>
            <a:gdLst/>
            <a:ahLst/>
            <a:cxnLst/>
            <a:rect l="l" t="t" r="r" b="b"/>
            <a:pathLst>
              <a:path w="561975" h="390525">
                <a:moveTo>
                  <a:pt x="0" y="1524"/>
                </a:moveTo>
                <a:lnTo>
                  <a:pt x="0" y="635"/>
                </a:lnTo>
                <a:lnTo>
                  <a:pt x="635" y="0"/>
                </a:lnTo>
                <a:lnTo>
                  <a:pt x="1524" y="0"/>
                </a:lnTo>
                <a:lnTo>
                  <a:pt x="560324" y="0"/>
                </a:lnTo>
                <a:lnTo>
                  <a:pt x="561213" y="0"/>
                </a:lnTo>
                <a:lnTo>
                  <a:pt x="561975" y="635"/>
                </a:lnTo>
                <a:lnTo>
                  <a:pt x="561975" y="1524"/>
                </a:lnTo>
                <a:lnTo>
                  <a:pt x="561975" y="388874"/>
                </a:lnTo>
                <a:lnTo>
                  <a:pt x="561975" y="389763"/>
                </a:lnTo>
                <a:lnTo>
                  <a:pt x="561213" y="390525"/>
                </a:lnTo>
                <a:lnTo>
                  <a:pt x="560324" y="390525"/>
                </a:lnTo>
                <a:lnTo>
                  <a:pt x="1524" y="390525"/>
                </a:lnTo>
                <a:lnTo>
                  <a:pt x="635" y="390525"/>
                </a:lnTo>
                <a:lnTo>
                  <a:pt x="0" y="389763"/>
                </a:lnTo>
                <a:lnTo>
                  <a:pt x="0" y="388874"/>
                </a:lnTo>
                <a:lnTo>
                  <a:pt x="0" y="1524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r>
              <a:rPr lang="en-AU" dirty="0"/>
              <a:t>C5</a:t>
            </a:r>
            <a:endParaRPr dirty="0"/>
          </a:p>
        </p:txBody>
      </p:sp>
      <p:sp>
        <p:nvSpPr>
          <p:cNvPr id="83" name="object 8">
            <a:extLst>
              <a:ext uri="{FF2B5EF4-FFF2-40B4-BE49-F238E27FC236}">
                <a16:creationId xmlns:a16="http://schemas.microsoft.com/office/drawing/2014/main" id="{FAE68F9F-3E53-488B-BEE8-205EE1977A52}"/>
              </a:ext>
            </a:extLst>
          </p:cNvPr>
          <p:cNvSpPr/>
          <p:nvPr/>
        </p:nvSpPr>
        <p:spPr>
          <a:xfrm>
            <a:off x="1597404" y="4240848"/>
            <a:ext cx="561975" cy="390525"/>
          </a:xfrm>
          <a:custGeom>
            <a:avLst/>
            <a:gdLst/>
            <a:ahLst/>
            <a:cxnLst/>
            <a:rect l="l" t="t" r="r" b="b"/>
            <a:pathLst>
              <a:path w="561975" h="390525">
                <a:moveTo>
                  <a:pt x="0" y="1524"/>
                </a:moveTo>
                <a:lnTo>
                  <a:pt x="0" y="635"/>
                </a:lnTo>
                <a:lnTo>
                  <a:pt x="635" y="0"/>
                </a:lnTo>
                <a:lnTo>
                  <a:pt x="1524" y="0"/>
                </a:lnTo>
                <a:lnTo>
                  <a:pt x="560324" y="0"/>
                </a:lnTo>
                <a:lnTo>
                  <a:pt x="561213" y="0"/>
                </a:lnTo>
                <a:lnTo>
                  <a:pt x="561975" y="635"/>
                </a:lnTo>
                <a:lnTo>
                  <a:pt x="561975" y="1524"/>
                </a:lnTo>
                <a:lnTo>
                  <a:pt x="561975" y="388874"/>
                </a:lnTo>
                <a:lnTo>
                  <a:pt x="561975" y="389763"/>
                </a:lnTo>
                <a:lnTo>
                  <a:pt x="561213" y="390525"/>
                </a:lnTo>
                <a:lnTo>
                  <a:pt x="560324" y="390525"/>
                </a:lnTo>
                <a:lnTo>
                  <a:pt x="1524" y="390525"/>
                </a:lnTo>
                <a:lnTo>
                  <a:pt x="635" y="390525"/>
                </a:lnTo>
                <a:lnTo>
                  <a:pt x="0" y="389763"/>
                </a:lnTo>
                <a:lnTo>
                  <a:pt x="0" y="388874"/>
                </a:lnTo>
                <a:lnTo>
                  <a:pt x="0" y="152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r>
              <a:rPr lang="en-AU" dirty="0"/>
              <a:t>C2</a:t>
            </a:r>
            <a:endParaRPr dirty="0"/>
          </a:p>
        </p:txBody>
      </p:sp>
      <p:sp>
        <p:nvSpPr>
          <p:cNvPr id="84" name="object 8">
            <a:extLst>
              <a:ext uri="{FF2B5EF4-FFF2-40B4-BE49-F238E27FC236}">
                <a16:creationId xmlns:a16="http://schemas.microsoft.com/office/drawing/2014/main" id="{B3A44A44-431B-4AC7-B066-D22252CE0436}"/>
              </a:ext>
            </a:extLst>
          </p:cNvPr>
          <p:cNvSpPr/>
          <p:nvPr/>
        </p:nvSpPr>
        <p:spPr>
          <a:xfrm>
            <a:off x="3396009" y="3718638"/>
            <a:ext cx="561975" cy="390525"/>
          </a:xfrm>
          <a:custGeom>
            <a:avLst/>
            <a:gdLst/>
            <a:ahLst/>
            <a:cxnLst/>
            <a:rect l="l" t="t" r="r" b="b"/>
            <a:pathLst>
              <a:path w="561975" h="390525">
                <a:moveTo>
                  <a:pt x="0" y="1524"/>
                </a:moveTo>
                <a:lnTo>
                  <a:pt x="0" y="635"/>
                </a:lnTo>
                <a:lnTo>
                  <a:pt x="635" y="0"/>
                </a:lnTo>
                <a:lnTo>
                  <a:pt x="1524" y="0"/>
                </a:lnTo>
                <a:lnTo>
                  <a:pt x="560324" y="0"/>
                </a:lnTo>
                <a:lnTo>
                  <a:pt x="561213" y="0"/>
                </a:lnTo>
                <a:lnTo>
                  <a:pt x="561975" y="635"/>
                </a:lnTo>
                <a:lnTo>
                  <a:pt x="561975" y="1524"/>
                </a:lnTo>
                <a:lnTo>
                  <a:pt x="561975" y="388874"/>
                </a:lnTo>
                <a:lnTo>
                  <a:pt x="561975" y="389763"/>
                </a:lnTo>
                <a:lnTo>
                  <a:pt x="561213" y="390525"/>
                </a:lnTo>
                <a:lnTo>
                  <a:pt x="560324" y="390525"/>
                </a:lnTo>
                <a:lnTo>
                  <a:pt x="1524" y="390525"/>
                </a:lnTo>
                <a:lnTo>
                  <a:pt x="635" y="390525"/>
                </a:lnTo>
                <a:lnTo>
                  <a:pt x="0" y="389763"/>
                </a:lnTo>
                <a:lnTo>
                  <a:pt x="0" y="388874"/>
                </a:lnTo>
                <a:lnTo>
                  <a:pt x="0" y="1524"/>
                </a:lnTo>
                <a:close/>
              </a:path>
            </a:pathLst>
          </a:custGeom>
          <a:solidFill>
            <a:srgbClr val="FFC000"/>
          </a:solidFill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r>
              <a:rPr lang="en-AU" dirty="0"/>
              <a:t>C1</a:t>
            </a:r>
            <a:endParaRPr dirty="0"/>
          </a:p>
        </p:txBody>
      </p:sp>
      <p:sp>
        <p:nvSpPr>
          <p:cNvPr id="85" name="object 8">
            <a:extLst>
              <a:ext uri="{FF2B5EF4-FFF2-40B4-BE49-F238E27FC236}">
                <a16:creationId xmlns:a16="http://schemas.microsoft.com/office/drawing/2014/main" id="{694649A0-724A-4936-A472-AAF574172670}"/>
              </a:ext>
            </a:extLst>
          </p:cNvPr>
          <p:cNvSpPr/>
          <p:nvPr/>
        </p:nvSpPr>
        <p:spPr>
          <a:xfrm>
            <a:off x="6984620" y="3718150"/>
            <a:ext cx="561975" cy="390525"/>
          </a:xfrm>
          <a:custGeom>
            <a:avLst/>
            <a:gdLst/>
            <a:ahLst/>
            <a:cxnLst/>
            <a:rect l="l" t="t" r="r" b="b"/>
            <a:pathLst>
              <a:path w="561975" h="390525">
                <a:moveTo>
                  <a:pt x="0" y="1524"/>
                </a:moveTo>
                <a:lnTo>
                  <a:pt x="0" y="635"/>
                </a:lnTo>
                <a:lnTo>
                  <a:pt x="635" y="0"/>
                </a:lnTo>
                <a:lnTo>
                  <a:pt x="1524" y="0"/>
                </a:lnTo>
                <a:lnTo>
                  <a:pt x="560324" y="0"/>
                </a:lnTo>
                <a:lnTo>
                  <a:pt x="561213" y="0"/>
                </a:lnTo>
                <a:lnTo>
                  <a:pt x="561975" y="635"/>
                </a:lnTo>
                <a:lnTo>
                  <a:pt x="561975" y="1524"/>
                </a:lnTo>
                <a:lnTo>
                  <a:pt x="561975" y="388874"/>
                </a:lnTo>
                <a:lnTo>
                  <a:pt x="561975" y="389763"/>
                </a:lnTo>
                <a:lnTo>
                  <a:pt x="561213" y="390525"/>
                </a:lnTo>
                <a:lnTo>
                  <a:pt x="560324" y="390525"/>
                </a:lnTo>
                <a:lnTo>
                  <a:pt x="1524" y="390525"/>
                </a:lnTo>
                <a:lnTo>
                  <a:pt x="635" y="390525"/>
                </a:lnTo>
                <a:lnTo>
                  <a:pt x="0" y="389763"/>
                </a:lnTo>
                <a:lnTo>
                  <a:pt x="0" y="388874"/>
                </a:lnTo>
                <a:lnTo>
                  <a:pt x="0" y="1524"/>
                </a:lnTo>
                <a:close/>
              </a:path>
            </a:pathLst>
          </a:custGeom>
          <a:solidFill>
            <a:srgbClr val="FFFF00"/>
          </a:solidFill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r>
              <a:rPr lang="en-AU" dirty="0"/>
              <a:t>C0</a:t>
            </a:r>
            <a:endParaRPr dirty="0"/>
          </a:p>
        </p:txBody>
      </p:sp>
      <p:sp>
        <p:nvSpPr>
          <p:cNvPr id="86" name="object 8">
            <a:extLst>
              <a:ext uri="{FF2B5EF4-FFF2-40B4-BE49-F238E27FC236}">
                <a16:creationId xmlns:a16="http://schemas.microsoft.com/office/drawing/2014/main" id="{2818F32E-FCEC-408F-9CA9-4497B6DF1D84}"/>
              </a:ext>
            </a:extLst>
          </p:cNvPr>
          <p:cNvSpPr/>
          <p:nvPr/>
        </p:nvSpPr>
        <p:spPr>
          <a:xfrm>
            <a:off x="7622412" y="3718149"/>
            <a:ext cx="561975" cy="390525"/>
          </a:xfrm>
          <a:custGeom>
            <a:avLst/>
            <a:gdLst/>
            <a:ahLst/>
            <a:cxnLst/>
            <a:rect l="l" t="t" r="r" b="b"/>
            <a:pathLst>
              <a:path w="561975" h="390525">
                <a:moveTo>
                  <a:pt x="0" y="1524"/>
                </a:moveTo>
                <a:lnTo>
                  <a:pt x="0" y="635"/>
                </a:lnTo>
                <a:lnTo>
                  <a:pt x="635" y="0"/>
                </a:lnTo>
                <a:lnTo>
                  <a:pt x="1524" y="0"/>
                </a:lnTo>
                <a:lnTo>
                  <a:pt x="560324" y="0"/>
                </a:lnTo>
                <a:lnTo>
                  <a:pt x="561213" y="0"/>
                </a:lnTo>
                <a:lnTo>
                  <a:pt x="561975" y="635"/>
                </a:lnTo>
                <a:lnTo>
                  <a:pt x="561975" y="1524"/>
                </a:lnTo>
                <a:lnTo>
                  <a:pt x="561975" y="388874"/>
                </a:lnTo>
                <a:lnTo>
                  <a:pt x="561975" y="389763"/>
                </a:lnTo>
                <a:lnTo>
                  <a:pt x="561213" y="390525"/>
                </a:lnTo>
                <a:lnTo>
                  <a:pt x="560324" y="390525"/>
                </a:lnTo>
                <a:lnTo>
                  <a:pt x="1524" y="390525"/>
                </a:lnTo>
                <a:lnTo>
                  <a:pt x="635" y="390525"/>
                </a:lnTo>
                <a:lnTo>
                  <a:pt x="0" y="389763"/>
                </a:lnTo>
                <a:lnTo>
                  <a:pt x="0" y="388874"/>
                </a:lnTo>
                <a:lnTo>
                  <a:pt x="0" y="1524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r>
              <a:rPr lang="en-AU" dirty="0"/>
              <a:t>C4</a:t>
            </a:r>
            <a:endParaRPr dirty="0"/>
          </a:p>
        </p:txBody>
      </p:sp>
      <p:sp>
        <p:nvSpPr>
          <p:cNvPr id="87" name="object 8">
            <a:extLst>
              <a:ext uri="{FF2B5EF4-FFF2-40B4-BE49-F238E27FC236}">
                <a16:creationId xmlns:a16="http://schemas.microsoft.com/office/drawing/2014/main" id="{BFCBE478-B759-4742-AE71-0B30BFBC1D21}"/>
              </a:ext>
            </a:extLst>
          </p:cNvPr>
          <p:cNvSpPr/>
          <p:nvPr/>
        </p:nvSpPr>
        <p:spPr>
          <a:xfrm>
            <a:off x="7622412" y="4233709"/>
            <a:ext cx="561975" cy="390525"/>
          </a:xfrm>
          <a:custGeom>
            <a:avLst/>
            <a:gdLst/>
            <a:ahLst/>
            <a:cxnLst/>
            <a:rect l="l" t="t" r="r" b="b"/>
            <a:pathLst>
              <a:path w="561975" h="390525">
                <a:moveTo>
                  <a:pt x="0" y="1524"/>
                </a:moveTo>
                <a:lnTo>
                  <a:pt x="0" y="635"/>
                </a:lnTo>
                <a:lnTo>
                  <a:pt x="635" y="0"/>
                </a:lnTo>
                <a:lnTo>
                  <a:pt x="1524" y="0"/>
                </a:lnTo>
                <a:lnTo>
                  <a:pt x="560324" y="0"/>
                </a:lnTo>
                <a:lnTo>
                  <a:pt x="561213" y="0"/>
                </a:lnTo>
                <a:lnTo>
                  <a:pt x="561975" y="635"/>
                </a:lnTo>
                <a:lnTo>
                  <a:pt x="561975" y="1524"/>
                </a:lnTo>
                <a:lnTo>
                  <a:pt x="561975" y="388874"/>
                </a:lnTo>
                <a:lnTo>
                  <a:pt x="561975" y="389763"/>
                </a:lnTo>
                <a:lnTo>
                  <a:pt x="561213" y="390525"/>
                </a:lnTo>
                <a:lnTo>
                  <a:pt x="560324" y="390525"/>
                </a:lnTo>
                <a:lnTo>
                  <a:pt x="1524" y="390525"/>
                </a:lnTo>
                <a:lnTo>
                  <a:pt x="635" y="390525"/>
                </a:lnTo>
                <a:lnTo>
                  <a:pt x="0" y="389763"/>
                </a:lnTo>
                <a:lnTo>
                  <a:pt x="0" y="388874"/>
                </a:lnTo>
                <a:lnTo>
                  <a:pt x="0" y="1524"/>
                </a:lnTo>
                <a:close/>
              </a:path>
            </a:pathLst>
          </a:custGeom>
          <a:solidFill>
            <a:srgbClr val="92D050"/>
          </a:solidFill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r>
              <a:rPr lang="en-AU" dirty="0"/>
              <a:t>C3</a:t>
            </a:r>
            <a:endParaRPr dirty="0"/>
          </a:p>
        </p:txBody>
      </p:sp>
      <p:sp>
        <p:nvSpPr>
          <p:cNvPr id="88" name="object 8">
            <a:extLst>
              <a:ext uri="{FF2B5EF4-FFF2-40B4-BE49-F238E27FC236}">
                <a16:creationId xmlns:a16="http://schemas.microsoft.com/office/drawing/2014/main" id="{D127E273-2473-48EC-8DCC-524CE1729DEB}"/>
              </a:ext>
            </a:extLst>
          </p:cNvPr>
          <p:cNvSpPr/>
          <p:nvPr/>
        </p:nvSpPr>
        <p:spPr>
          <a:xfrm>
            <a:off x="4597115" y="3719448"/>
            <a:ext cx="561975" cy="390525"/>
          </a:xfrm>
          <a:custGeom>
            <a:avLst/>
            <a:gdLst/>
            <a:ahLst/>
            <a:cxnLst/>
            <a:rect l="l" t="t" r="r" b="b"/>
            <a:pathLst>
              <a:path w="561975" h="390525">
                <a:moveTo>
                  <a:pt x="0" y="1524"/>
                </a:moveTo>
                <a:lnTo>
                  <a:pt x="0" y="635"/>
                </a:lnTo>
                <a:lnTo>
                  <a:pt x="635" y="0"/>
                </a:lnTo>
                <a:lnTo>
                  <a:pt x="1524" y="0"/>
                </a:lnTo>
                <a:lnTo>
                  <a:pt x="560324" y="0"/>
                </a:lnTo>
                <a:lnTo>
                  <a:pt x="561213" y="0"/>
                </a:lnTo>
                <a:lnTo>
                  <a:pt x="561975" y="635"/>
                </a:lnTo>
                <a:lnTo>
                  <a:pt x="561975" y="1524"/>
                </a:lnTo>
                <a:lnTo>
                  <a:pt x="561975" y="388874"/>
                </a:lnTo>
                <a:lnTo>
                  <a:pt x="561975" y="389763"/>
                </a:lnTo>
                <a:lnTo>
                  <a:pt x="561213" y="390525"/>
                </a:lnTo>
                <a:lnTo>
                  <a:pt x="560324" y="390525"/>
                </a:lnTo>
                <a:lnTo>
                  <a:pt x="1524" y="390525"/>
                </a:lnTo>
                <a:lnTo>
                  <a:pt x="635" y="390525"/>
                </a:lnTo>
                <a:lnTo>
                  <a:pt x="0" y="389763"/>
                </a:lnTo>
                <a:lnTo>
                  <a:pt x="0" y="388874"/>
                </a:lnTo>
                <a:lnTo>
                  <a:pt x="0" y="152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r>
              <a:rPr lang="en-AU" dirty="0"/>
              <a:t>C2</a:t>
            </a:r>
            <a:endParaRPr dirty="0"/>
          </a:p>
        </p:txBody>
      </p:sp>
      <p:sp>
        <p:nvSpPr>
          <p:cNvPr id="89" name="object 8">
            <a:extLst>
              <a:ext uri="{FF2B5EF4-FFF2-40B4-BE49-F238E27FC236}">
                <a16:creationId xmlns:a16="http://schemas.microsoft.com/office/drawing/2014/main" id="{21E00709-41A9-429F-936B-3FE483A388C1}"/>
              </a:ext>
            </a:extLst>
          </p:cNvPr>
          <p:cNvSpPr/>
          <p:nvPr/>
        </p:nvSpPr>
        <p:spPr>
          <a:xfrm>
            <a:off x="2787046" y="4268742"/>
            <a:ext cx="561975" cy="390525"/>
          </a:xfrm>
          <a:custGeom>
            <a:avLst/>
            <a:gdLst/>
            <a:ahLst/>
            <a:cxnLst/>
            <a:rect l="l" t="t" r="r" b="b"/>
            <a:pathLst>
              <a:path w="561975" h="390525">
                <a:moveTo>
                  <a:pt x="0" y="1524"/>
                </a:moveTo>
                <a:lnTo>
                  <a:pt x="0" y="635"/>
                </a:lnTo>
                <a:lnTo>
                  <a:pt x="635" y="0"/>
                </a:lnTo>
                <a:lnTo>
                  <a:pt x="1524" y="0"/>
                </a:lnTo>
                <a:lnTo>
                  <a:pt x="560324" y="0"/>
                </a:lnTo>
                <a:lnTo>
                  <a:pt x="561213" y="0"/>
                </a:lnTo>
                <a:lnTo>
                  <a:pt x="561975" y="635"/>
                </a:lnTo>
                <a:lnTo>
                  <a:pt x="561975" y="1524"/>
                </a:lnTo>
                <a:lnTo>
                  <a:pt x="561975" y="388874"/>
                </a:lnTo>
                <a:lnTo>
                  <a:pt x="561975" y="389763"/>
                </a:lnTo>
                <a:lnTo>
                  <a:pt x="561213" y="390525"/>
                </a:lnTo>
                <a:lnTo>
                  <a:pt x="560324" y="390525"/>
                </a:lnTo>
                <a:lnTo>
                  <a:pt x="1524" y="390525"/>
                </a:lnTo>
                <a:lnTo>
                  <a:pt x="635" y="390525"/>
                </a:lnTo>
                <a:lnTo>
                  <a:pt x="0" y="389763"/>
                </a:lnTo>
                <a:lnTo>
                  <a:pt x="0" y="388874"/>
                </a:lnTo>
                <a:lnTo>
                  <a:pt x="0" y="1524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r>
              <a:rPr lang="en-AU" dirty="0"/>
              <a:t>C5</a:t>
            </a:r>
            <a:endParaRPr dirty="0"/>
          </a:p>
        </p:txBody>
      </p:sp>
      <p:sp>
        <p:nvSpPr>
          <p:cNvPr id="90" name="object 8">
            <a:extLst>
              <a:ext uri="{FF2B5EF4-FFF2-40B4-BE49-F238E27FC236}">
                <a16:creationId xmlns:a16="http://schemas.microsoft.com/office/drawing/2014/main" id="{B44CF4D7-19BE-4B06-A848-E4860A780887}"/>
              </a:ext>
            </a:extLst>
          </p:cNvPr>
          <p:cNvSpPr/>
          <p:nvPr/>
        </p:nvSpPr>
        <p:spPr>
          <a:xfrm>
            <a:off x="2763867" y="3718148"/>
            <a:ext cx="561975" cy="390525"/>
          </a:xfrm>
          <a:custGeom>
            <a:avLst/>
            <a:gdLst/>
            <a:ahLst/>
            <a:cxnLst/>
            <a:rect l="l" t="t" r="r" b="b"/>
            <a:pathLst>
              <a:path w="561975" h="390525">
                <a:moveTo>
                  <a:pt x="0" y="1524"/>
                </a:moveTo>
                <a:lnTo>
                  <a:pt x="0" y="635"/>
                </a:lnTo>
                <a:lnTo>
                  <a:pt x="635" y="0"/>
                </a:lnTo>
                <a:lnTo>
                  <a:pt x="1524" y="0"/>
                </a:lnTo>
                <a:lnTo>
                  <a:pt x="560324" y="0"/>
                </a:lnTo>
                <a:lnTo>
                  <a:pt x="561213" y="0"/>
                </a:lnTo>
                <a:lnTo>
                  <a:pt x="561975" y="635"/>
                </a:lnTo>
                <a:lnTo>
                  <a:pt x="561975" y="1524"/>
                </a:lnTo>
                <a:lnTo>
                  <a:pt x="561975" y="388874"/>
                </a:lnTo>
                <a:lnTo>
                  <a:pt x="561975" y="389763"/>
                </a:lnTo>
                <a:lnTo>
                  <a:pt x="561213" y="390525"/>
                </a:lnTo>
                <a:lnTo>
                  <a:pt x="560324" y="390525"/>
                </a:lnTo>
                <a:lnTo>
                  <a:pt x="1524" y="390525"/>
                </a:lnTo>
                <a:lnTo>
                  <a:pt x="635" y="390525"/>
                </a:lnTo>
                <a:lnTo>
                  <a:pt x="0" y="389763"/>
                </a:lnTo>
                <a:lnTo>
                  <a:pt x="0" y="388874"/>
                </a:lnTo>
                <a:lnTo>
                  <a:pt x="0" y="1524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r>
              <a:rPr lang="en-AU" dirty="0"/>
              <a:t>D0</a:t>
            </a:r>
            <a:endParaRPr dirty="0"/>
          </a:p>
        </p:txBody>
      </p:sp>
      <p:sp>
        <p:nvSpPr>
          <p:cNvPr id="91" name="object 8">
            <a:extLst>
              <a:ext uri="{FF2B5EF4-FFF2-40B4-BE49-F238E27FC236}">
                <a16:creationId xmlns:a16="http://schemas.microsoft.com/office/drawing/2014/main" id="{616941D9-3A59-4613-A138-55076C4FEEA3}"/>
              </a:ext>
            </a:extLst>
          </p:cNvPr>
          <p:cNvSpPr/>
          <p:nvPr/>
        </p:nvSpPr>
        <p:spPr>
          <a:xfrm>
            <a:off x="5224177" y="4235822"/>
            <a:ext cx="561975" cy="390525"/>
          </a:xfrm>
          <a:custGeom>
            <a:avLst/>
            <a:gdLst/>
            <a:ahLst/>
            <a:cxnLst/>
            <a:rect l="l" t="t" r="r" b="b"/>
            <a:pathLst>
              <a:path w="561975" h="390525">
                <a:moveTo>
                  <a:pt x="0" y="1524"/>
                </a:moveTo>
                <a:lnTo>
                  <a:pt x="0" y="635"/>
                </a:lnTo>
                <a:lnTo>
                  <a:pt x="635" y="0"/>
                </a:lnTo>
                <a:lnTo>
                  <a:pt x="1524" y="0"/>
                </a:lnTo>
                <a:lnTo>
                  <a:pt x="560324" y="0"/>
                </a:lnTo>
                <a:lnTo>
                  <a:pt x="561213" y="0"/>
                </a:lnTo>
                <a:lnTo>
                  <a:pt x="561975" y="635"/>
                </a:lnTo>
                <a:lnTo>
                  <a:pt x="561975" y="1524"/>
                </a:lnTo>
                <a:lnTo>
                  <a:pt x="561975" y="388874"/>
                </a:lnTo>
                <a:lnTo>
                  <a:pt x="561975" y="389763"/>
                </a:lnTo>
                <a:lnTo>
                  <a:pt x="561213" y="390525"/>
                </a:lnTo>
                <a:lnTo>
                  <a:pt x="560324" y="390525"/>
                </a:lnTo>
                <a:lnTo>
                  <a:pt x="1524" y="390525"/>
                </a:lnTo>
                <a:lnTo>
                  <a:pt x="635" y="390525"/>
                </a:lnTo>
                <a:lnTo>
                  <a:pt x="0" y="389763"/>
                </a:lnTo>
                <a:lnTo>
                  <a:pt x="0" y="388874"/>
                </a:lnTo>
                <a:lnTo>
                  <a:pt x="0" y="1524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r>
              <a:rPr lang="en-AU" dirty="0"/>
              <a:t>D1</a:t>
            </a:r>
            <a:endParaRPr dirty="0"/>
          </a:p>
        </p:txBody>
      </p:sp>
      <p:sp>
        <p:nvSpPr>
          <p:cNvPr id="92" name="object 8">
            <a:extLst>
              <a:ext uri="{FF2B5EF4-FFF2-40B4-BE49-F238E27FC236}">
                <a16:creationId xmlns:a16="http://schemas.microsoft.com/office/drawing/2014/main" id="{D3C96821-4DC3-4734-B0C1-E7F711551B26}"/>
              </a:ext>
            </a:extLst>
          </p:cNvPr>
          <p:cNvSpPr/>
          <p:nvPr/>
        </p:nvSpPr>
        <p:spPr>
          <a:xfrm>
            <a:off x="6984619" y="4237510"/>
            <a:ext cx="561975" cy="390525"/>
          </a:xfrm>
          <a:custGeom>
            <a:avLst/>
            <a:gdLst/>
            <a:ahLst/>
            <a:cxnLst/>
            <a:rect l="l" t="t" r="r" b="b"/>
            <a:pathLst>
              <a:path w="561975" h="390525">
                <a:moveTo>
                  <a:pt x="0" y="1524"/>
                </a:moveTo>
                <a:lnTo>
                  <a:pt x="0" y="635"/>
                </a:lnTo>
                <a:lnTo>
                  <a:pt x="635" y="0"/>
                </a:lnTo>
                <a:lnTo>
                  <a:pt x="1524" y="0"/>
                </a:lnTo>
                <a:lnTo>
                  <a:pt x="560324" y="0"/>
                </a:lnTo>
                <a:lnTo>
                  <a:pt x="561213" y="0"/>
                </a:lnTo>
                <a:lnTo>
                  <a:pt x="561975" y="635"/>
                </a:lnTo>
                <a:lnTo>
                  <a:pt x="561975" y="1524"/>
                </a:lnTo>
                <a:lnTo>
                  <a:pt x="561975" y="388874"/>
                </a:lnTo>
                <a:lnTo>
                  <a:pt x="561975" y="389763"/>
                </a:lnTo>
                <a:lnTo>
                  <a:pt x="561213" y="390525"/>
                </a:lnTo>
                <a:lnTo>
                  <a:pt x="560324" y="390525"/>
                </a:lnTo>
                <a:lnTo>
                  <a:pt x="1524" y="390525"/>
                </a:lnTo>
                <a:lnTo>
                  <a:pt x="635" y="390525"/>
                </a:lnTo>
                <a:lnTo>
                  <a:pt x="0" y="389763"/>
                </a:lnTo>
                <a:lnTo>
                  <a:pt x="0" y="388874"/>
                </a:lnTo>
                <a:lnTo>
                  <a:pt x="0" y="1524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r>
              <a:rPr lang="en-AU" dirty="0"/>
              <a:t>D1</a:t>
            </a:r>
            <a:endParaRPr dirty="0"/>
          </a:p>
        </p:txBody>
      </p:sp>
      <p:sp>
        <p:nvSpPr>
          <p:cNvPr id="93" name="object 8">
            <a:extLst>
              <a:ext uri="{FF2B5EF4-FFF2-40B4-BE49-F238E27FC236}">
                <a16:creationId xmlns:a16="http://schemas.microsoft.com/office/drawing/2014/main" id="{F4E9B389-72E1-4E6B-82D6-3B269EDBE13A}"/>
              </a:ext>
            </a:extLst>
          </p:cNvPr>
          <p:cNvSpPr/>
          <p:nvPr/>
        </p:nvSpPr>
        <p:spPr>
          <a:xfrm>
            <a:off x="4606096" y="4238060"/>
            <a:ext cx="561975" cy="390525"/>
          </a:xfrm>
          <a:custGeom>
            <a:avLst/>
            <a:gdLst/>
            <a:ahLst/>
            <a:cxnLst/>
            <a:rect l="l" t="t" r="r" b="b"/>
            <a:pathLst>
              <a:path w="561975" h="390525">
                <a:moveTo>
                  <a:pt x="0" y="1524"/>
                </a:moveTo>
                <a:lnTo>
                  <a:pt x="0" y="635"/>
                </a:lnTo>
                <a:lnTo>
                  <a:pt x="635" y="0"/>
                </a:lnTo>
                <a:lnTo>
                  <a:pt x="1524" y="0"/>
                </a:lnTo>
                <a:lnTo>
                  <a:pt x="560324" y="0"/>
                </a:lnTo>
                <a:lnTo>
                  <a:pt x="561213" y="0"/>
                </a:lnTo>
                <a:lnTo>
                  <a:pt x="561975" y="635"/>
                </a:lnTo>
                <a:lnTo>
                  <a:pt x="561975" y="1524"/>
                </a:lnTo>
                <a:lnTo>
                  <a:pt x="561975" y="388874"/>
                </a:lnTo>
                <a:lnTo>
                  <a:pt x="561975" y="389763"/>
                </a:lnTo>
                <a:lnTo>
                  <a:pt x="561213" y="390525"/>
                </a:lnTo>
                <a:lnTo>
                  <a:pt x="560324" y="390525"/>
                </a:lnTo>
                <a:lnTo>
                  <a:pt x="1524" y="390525"/>
                </a:lnTo>
                <a:lnTo>
                  <a:pt x="635" y="390525"/>
                </a:lnTo>
                <a:lnTo>
                  <a:pt x="0" y="389763"/>
                </a:lnTo>
                <a:lnTo>
                  <a:pt x="0" y="388874"/>
                </a:lnTo>
                <a:lnTo>
                  <a:pt x="0" y="1524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r>
              <a:rPr lang="en-AU" dirty="0"/>
              <a:t>D0</a:t>
            </a:r>
            <a:endParaRPr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2D0C5C3-ED4B-451F-9202-790E88388ADA}"/>
              </a:ext>
            </a:extLst>
          </p:cNvPr>
          <p:cNvSpPr txBox="1"/>
          <p:nvPr/>
        </p:nvSpPr>
        <p:spPr>
          <a:xfrm>
            <a:off x="457200" y="152400"/>
            <a:ext cx="8458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>
                <a:solidFill>
                  <a:srgbClr val="FFFF00"/>
                </a:solidFill>
                <a:latin typeface="Palatino Linotype" panose="02040502050505030304" pitchFamily="18" charset="0"/>
              </a:rPr>
              <a:t>Distributed File System</a:t>
            </a:r>
            <a:endParaRPr lang="en-US" sz="4000" dirty="0">
              <a:solidFill>
                <a:srgbClr val="FFFF00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91F1C09-5D06-4631-95C0-871AB6D4F76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US" smtClean="0"/>
              <a:t>11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36" grpId="0"/>
      <p:bldP spid="50" grpId="0"/>
      <p:bldP spid="71" grpId="0" animBg="1"/>
      <p:bldP spid="72" grpId="0" animBg="1"/>
      <p:bldP spid="73" grpId="0" animBg="1"/>
      <p:bldP spid="74" grpId="0" animBg="1"/>
      <p:bldP spid="75" grpId="0" animBg="1"/>
      <p:bldP spid="76" grpId="0"/>
      <p:bldP spid="77" grpId="0"/>
      <p:bldP spid="78" grpId="0"/>
      <p:bldP spid="79" grpId="0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14362" y="1261363"/>
            <a:ext cx="7699375" cy="520270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36550" indent="-324485">
              <a:lnSpc>
                <a:spcPct val="100000"/>
              </a:lnSpc>
              <a:spcBef>
                <a:spcPts val="130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sz="3200" b="1" spc="15" dirty="0">
                <a:solidFill>
                  <a:srgbClr val="0000FF"/>
                </a:solidFill>
                <a:latin typeface="Calibri"/>
                <a:cs typeface="Calibri"/>
              </a:rPr>
              <a:t>Chunk</a:t>
            </a:r>
            <a:r>
              <a:rPr sz="3200" b="1" spc="-114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0000FF"/>
                </a:solidFill>
                <a:latin typeface="Calibri"/>
                <a:cs typeface="Calibri"/>
              </a:rPr>
              <a:t>servers</a:t>
            </a:r>
            <a:endParaRPr sz="3200" dirty="0">
              <a:latin typeface="Calibri"/>
              <a:cs typeface="Calibri"/>
            </a:endParaRPr>
          </a:p>
          <a:p>
            <a:pPr marL="632460" lvl="1" indent="-276860">
              <a:lnSpc>
                <a:spcPct val="100000"/>
              </a:lnSpc>
              <a:spcBef>
                <a:spcPts val="65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750" spc="-15" dirty="0">
                <a:latin typeface="Calibri"/>
                <a:cs typeface="Calibri"/>
              </a:rPr>
              <a:t>File is </a:t>
            </a:r>
            <a:r>
              <a:rPr sz="2750" spc="-25" dirty="0">
                <a:latin typeface="Calibri"/>
                <a:cs typeface="Calibri"/>
              </a:rPr>
              <a:t>split </a:t>
            </a:r>
            <a:r>
              <a:rPr sz="2750" spc="-20" dirty="0">
                <a:latin typeface="Calibri"/>
                <a:cs typeface="Calibri"/>
              </a:rPr>
              <a:t>into </a:t>
            </a:r>
            <a:r>
              <a:rPr sz="2750" spc="-5" dirty="0">
                <a:latin typeface="Calibri"/>
                <a:cs typeface="Calibri"/>
              </a:rPr>
              <a:t>contiguous</a:t>
            </a:r>
            <a:r>
              <a:rPr sz="2750" spc="4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chunks</a:t>
            </a:r>
          </a:p>
          <a:p>
            <a:pPr marL="632460" lvl="1" indent="-276860">
              <a:lnSpc>
                <a:spcPct val="100000"/>
              </a:lnSpc>
              <a:spcBef>
                <a:spcPts val="80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750" spc="-20" dirty="0">
                <a:latin typeface="Calibri"/>
                <a:cs typeface="Calibri"/>
              </a:rPr>
              <a:t>Typically </a:t>
            </a:r>
            <a:r>
              <a:rPr sz="2750" spc="10" dirty="0">
                <a:latin typeface="Calibri"/>
                <a:cs typeface="Calibri"/>
              </a:rPr>
              <a:t>each </a:t>
            </a:r>
            <a:r>
              <a:rPr sz="2750" spc="-5" dirty="0">
                <a:latin typeface="Calibri"/>
                <a:cs typeface="Calibri"/>
              </a:rPr>
              <a:t>chunk </a:t>
            </a:r>
            <a:r>
              <a:rPr sz="2750" spc="-15" dirty="0">
                <a:latin typeface="Calibri"/>
                <a:cs typeface="Calibri"/>
              </a:rPr>
              <a:t>is</a:t>
            </a:r>
            <a:r>
              <a:rPr sz="2750" spc="-190" dirty="0">
                <a:latin typeface="Calibri"/>
                <a:cs typeface="Calibri"/>
              </a:rPr>
              <a:t> </a:t>
            </a:r>
            <a:r>
              <a:rPr sz="2750" spc="25" dirty="0">
                <a:latin typeface="Calibri"/>
                <a:cs typeface="Calibri"/>
              </a:rPr>
              <a:t>16-64MB</a:t>
            </a:r>
            <a:endParaRPr sz="2750" dirty="0">
              <a:latin typeface="Calibri"/>
              <a:cs typeface="Calibri"/>
            </a:endParaRPr>
          </a:p>
          <a:p>
            <a:pPr marL="632460" lvl="1" indent="-276860">
              <a:lnSpc>
                <a:spcPct val="100000"/>
              </a:lnSpc>
              <a:spcBef>
                <a:spcPts val="5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750" dirty="0">
                <a:latin typeface="Calibri"/>
                <a:cs typeface="Calibri"/>
              </a:rPr>
              <a:t>Each </a:t>
            </a:r>
            <a:r>
              <a:rPr sz="2750" spc="-5" dirty="0">
                <a:latin typeface="Calibri"/>
                <a:cs typeface="Calibri"/>
              </a:rPr>
              <a:t>chunk </a:t>
            </a:r>
            <a:r>
              <a:rPr sz="2750" spc="-10" dirty="0">
                <a:latin typeface="Calibri"/>
                <a:cs typeface="Calibri"/>
              </a:rPr>
              <a:t>replicated </a:t>
            </a:r>
            <a:r>
              <a:rPr sz="2750" spc="-15" dirty="0">
                <a:latin typeface="Calibri"/>
                <a:cs typeface="Calibri"/>
              </a:rPr>
              <a:t>(usually </a:t>
            </a:r>
            <a:r>
              <a:rPr sz="2750" spc="20" dirty="0">
                <a:latin typeface="Calibri"/>
                <a:cs typeface="Calibri"/>
              </a:rPr>
              <a:t>2x </a:t>
            </a:r>
            <a:r>
              <a:rPr sz="2750" spc="25" dirty="0">
                <a:latin typeface="Calibri"/>
                <a:cs typeface="Calibri"/>
              </a:rPr>
              <a:t>or </a:t>
            </a:r>
            <a:r>
              <a:rPr sz="2750" spc="10" dirty="0">
                <a:latin typeface="Calibri"/>
                <a:cs typeface="Calibri"/>
              </a:rPr>
              <a:t>3x)</a:t>
            </a:r>
            <a:endParaRPr sz="2750" dirty="0">
              <a:latin typeface="Calibri"/>
              <a:cs typeface="Calibri"/>
            </a:endParaRPr>
          </a:p>
          <a:p>
            <a:pPr marL="632460" lvl="1" indent="-276860">
              <a:lnSpc>
                <a:spcPts val="2925"/>
              </a:lnSpc>
              <a:spcBef>
                <a:spcPts val="80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750" spc="-40" dirty="0">
                <a:latin typeface="Calibri"/>
                <a:cs typeface="Calibri"/>
              </a:rPr>
              <a:t>Try </a:t>
            </a:r>
            <a:r>
              <a:rPr sz="2750" spc="-10" dirty="0">
                <a:latin typeface="Calibri"/>
                <a:cs typeface="Calibri"/>
              </a:rPr>
              <a:t>to </a:t>
            </a:r>
            <a:r>
              <a:rPr sz="2750" spc="-25" dirty="0">
                <a:latin typeface="Calibri"/>
                <a:cs typeface="Calibri"/>
              </a:rPr>
              <a:t>keep </a:t>
            </a:r>
            <a:r>
              <a:rPr sz="2750" spc="-5" dirty="0">
                <a:latin typeface="Calibri"/>
                <a:cs typeface="Calibri"/>
              </a:rPr>
              <a:t>replicas </a:t>
            </a:r>
            <a:r>
              <a:rPr sz="2750" spc="-10" dirty="0">
                <a:latin typeface="Calibri"/>
                <a:cs typeface="Calibri"/>
              </a:rPr>
              <a:t>in </a:t>
            </a:r>
            <a:r>
              <a:rPr sz="2750" spc="-25" dirty="0">
                <a:latin typeface="Calibri"/>
                <a:cs typeface="Calibri"/>
              </a:rPr>
              <a:t>different</a:t>
            </a:r>
            <a:r>
              <a:rPr sz="2750" dirty="0"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racks</a:t>
            </a:r>
            <a:endParaRPr sz="2750" dirty="0">
              <a:latin typeface="Calibri"/>
              <a:cs typeface="Calibri"/>
            </a:endParaRPr>
          </a:p>
          <a:p>
            <a:pPr marL="336550" indent="-324485">
              <a:lnSpc>
                <a:spcPts val="3465"/>
              </a:lnSpc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sz="3200" b="1" dirty="0">
                <a:solidFill>
                  <a:srgbClr val="FF0066"/>
                </a:solidFill>
                <a:latin typeface="Calibri"/>
                <a:cs typeface="Calibri"/>
              </a:rPr>
              <a:t>Master</a:t>
            </a:r>
            <a:r>
              <a:rPr sz="3200" b="1" spc="-155" dirty="0">
                <a:solidFill>
                  <a:srgbClr val="FF0066"/>
                </a:solidFill>
                <a:latin typeface="Calibri"/>
                <a:cs typeface="Calibri"/>
              </a:rPr>
              <a:t> </a:t>
            </a:r>
            <a:r>
              <a:rPr sz="3200" b="1" spc="10" dirty="0">
                <a:solidFill>
                  <a:srgbClr val="FF0066"/>
                </a:solidFill>
                <a:latin typeface="Calibri"/>
                <a:cs typeface="Calibri"/>
              </a:rPr>
              <a:t>node</a:t>
            </a:r>
            <a:endParaRPr sz="3200" dirty="0">
              <a:latin typeface="Calibri"/>
              <a:cs typeface="Calibri"/>
            </a:endParaRPr>
          </a:p>
          <a:p>
            <a:pPr marL="632460" lvl="1" indent="-276860">
              <a:lnSpc>
                <a:spcPct val="100000"/>
              </a:lnSpc>
              <a:spcBef>
                <a:spcPts val="65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750" spc="5" dirty="0">
                <a:latin typeface="Calibri"/>
                <a:cs typeface="Calibri"/>
              </a:rPr>
              <a:t>a.k.a. </a:t>
            </a:r>
            <a:r>
              <a:rPr sz="2750" spc="25" dirty="0">
                <a:solidFill>
                  <a:srgbClr val="00B0F0"/>
                </a:solidFill>
                <a:latin typeface="Calibri"/>
                <a:cs typeface="Calibri"/>
              </a:rPr>
              <a:t>Name </a:t>
            </a:r>
            <a:r>
              <a:rPr sz="2750" spc="15" dirty="0">
                <a:solidFill>
                  <a:srgbClr val="00B0F0"/>
                </a:solidFill>
                <a:latin typeface="Calibri"/>
                <a:cs typeface="Calibri"/>
              </a:rPr>
              <a:t>Node </a:t>
            </a:r>
            <a:r>
              <a:rPr sz="2750" spc="-10" dirty="0">
                <a:solidFill>
                  <a:srgbClr val="00B0F0"/>
                </a:solidFill>
                <a:latin typeface="Calibri"/>
                <a:cs typeface="Calibri"/>
              </a:rPr>
              <a:t>in Hadoop’s</a:t>
            </a:r>
            <a:r>
              <a:rPr sz="2750" spc="295" dirty="0">
                <a:solidFill>
                  <a:srgbClr val="00B0F0"/>
                </a:solidFill>
                <a:latin typeface="Calibri"/>
                <a:cs typeface="Calibri"/>
              </a:rPr>
              <a:t> </a:t>
            </a:r>
            <a:r>
              <a:rPr sz="2750" spc="-5" dirty="0">
                <a:solidFill>
                  <a:srgbClr val="00B0F0"/>
                </a:solidFill>
                <a:latin typeface="Calibri"/>
                <a:cs typeface="Calibri"/>
              </a:rPr>
              <a:t>HDFS</a:t>
            </a:r>
            <a:endParaRPr sz="2750" dirty="0">
              <a:solidFill>
                <a:srgbClr val="00B0F0"/>
              </a:solidFill>
              <a:latin typeface="Calibri"/>
              <a:cs typeface="Calibri"/>
            </a:endParaRPr>
          </a:p>
          <a:p>
            <a:pPr marL="632460" lvl="1" indent="-276860">
              <a:lnSpc>
                <a:spcPct val="100000"/>
              </a:lnSpc>
              <a:spcBef>
                <a:spcPts val="80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750" spc="5" dirty="0">
                <a:latin typeface="Calibri"/>
                <a:cs typeface="Calibri"/>
              </a:rPr>
              <a:t>Stores </a:t>
            </a:r>
            <a:r>
              <a:rPr sz="2750" dirty="0">
                <a:latin typeface="Calibri"/>
                <a:cs typeface="Calibri"/>
              </a:rPr>
              <a:t>metadata </a:t>
            </a:r>
            <a:r>
              <a:rPr sz="2750" spc="5" dirty="0">
                <a:latin typeface="Calibri"/>
                <a:cs typeface="Calibri"/>
              </a:rPr>
              <a:t>about </a:t>
            </a:r>
            <a:r>
              <a:rPr sz="2750" spc="-10" dirty="0">
                <a:latin typeface="Calibri"/>
                <a:cs typeface="Calibri"/>
              </a:rPr>
              <a:t>where </a:t>
            </a:r>
            <a:r>
              <a:rPr sz="2750" spc="-20" dirty="0">
                <a:latin typeface="Calibri"/>
                <a:cs typeface="Calibri"/>
              </a:rPr>
              <a:t>files </a:t>
            </a:r>
            <a:r>
              <a:rPr sz="2750" spc="15" dirty="0">
                <a:latin typeface="Calibri"/>
                <a:cs typeface="Calibri"/>
              </a:rPr>
              <a:t>are</a:t>
            </a:r>
            <a:r>
              <a:rPr sz="2750" spc="39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stored</a:t>
            </a:r>
          </a:p>
          <a:p>
            <a:pPr marL="632460" lvl="1" indent="-276860">
              <a:lnSpc>
                <a:spcPts val="2890"/>
              </a:lnSpc>
              <a:spcBef>
                <a:spcPts val="80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750" spc="-5" dirty="0">
                <a:latin typeface="Calibri"/>
                <a:cs typeface="Calibri"/>
              </a:rPr>
              <a:t>Might be</a:t>
            </a:r>
            <a:r>
              <a:rPr sz="2750" spc="18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replicated</a:t>
            </a:r>
            <a:endParaRPr sz="2750" dirty="0">
              <a:latin typeface="Calibri"/>
              <a:cs typeface="Calibri"/>
            </a:endParaRPr>
          </a:p>
          <a:p>
            <a:pPr marL="336550" indent="-324485">
              <a:lnSpc>
                <a:spcPts val="3429"/>
              </a:lnSpc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sz="3200" b="1" spc="25" dirty="0">
                <a:solidFill>
                  <a:srgbClr val="008000"/>
                </a:solidFill>
                <a:latin typeface="Calibri"/>
                <a:cs typeface="Calibri"/>
              </a:rPr>
              <a:t>Client </a:t>
            </a:r>
            <a:r>
              <a:rPr sz="3200" b="1" spc="-5" dirty="0">
                <a:solidFill>
                  <a:srgbClr val="008000"/>
                </a:solidFill>
                <a:latin typeface="Calibri"/>
                <a:cs typeface="Calibri"/>
              </a:rPr>
              <a:t>library </a:t>
            </a:r>
            <a:r>
              <a:rPr sz="3200" b="1" spc="-10" dirty="0">
                <a:solidFill>
                  <a:srgbClr val="008000"/>
                </a:solidFill>
                <a:latin typeface="Calibri"/>
                <a:cs typeface="Calibri"/>
              </a:rPr>
              <a:t>for </a:t>
            </a:r>
            <a:r>
              <a:rPr sz="3200" b="1" spc="25" dirty="0">
                <a:solidFill>
                  <a:srgbClr val="008000"/>
                </a:solidFill>
                <a:latin typeface="Calibri"/>
                <a:cs typeface="Calibri"/>
              </a:rPr>
              <a:t>file</a:t>
            </a:r>
            <a:r>
              <a:rPr sz="3200" b="1" spc="-40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200" b="1" spc="5" dirty="0">
                <a:solidFill>
                  <a:srgbClr val="008000"/>
                </a:solidFill>
                <a:latin typeface="Calibri"/>
                <a:cs typeface="Calibri"/>
              </a:rPr>
              <a:t>access</a:t>
            </a:r>
            <a:endParaRPr sz="3200" dirty="0">
              <a:latin typeface="Calibri"/>
              <a:cs typeface="Calibri"/>
            </a:endParaRPr>
          </a:p>
          <a:p>
            <a:pPr marL="632460" lvl="1" indent="-276860">
              <a:lnSpc>
                <a:spcPct val="100000"/>
              </a:lnSpc>
              <a:spcBef>
                <a:spcPts val="65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750" spc="-40" dirty="0">
                <a:latin typeface="Calibri"/>
                <a:cs typeface="Calibri"/>
              </a:rPr>
              <a:t>Talks </a:t>
            </a:r>
            <a:r>
              <a:rPr sz="2750" spc="-10" dirty="0">
                <a:latin typeface="Calibri"/>
                <a:cs typeface="Calibri"/>
              </a:rPr>
              <a:t>to </a:t>
            </a:r>
            <a:r>
              <a:rPr sz="2750" dirty="0">
                <a:latin typeface="Calibri"/>
                <a:cs typeface="Calibri"/>
              </a:rPr>
              <a:t>master </a:t>
            </a:r>
            <a:r>
              <a:rPr sz="2750" spc="-10" dirty="0">
                <a:latin typeface="Calibri"/>
                <a:cs typeface="Calibri"/>
              </a:rPr>
              <a:t>to </a:t>
            </a:r>
            <a:r>
              <a:rPr sz="2750" spc="-15" dirty="0">
                <a:latin typeface="Calibri"/>
                <a:cs typeface="Calibri"/>
              </a:rPr>
              <a:t>find </a:t>
            </a:r>
            <a:r>
              <a:rPr sz="2750" spc="-5" dirty="0">
                <a:latin typeface="Calibri"/>
                <a:cs typeface="Calibri"/>
              </a:rPr>
              <a:t>chunk</a:t>
            </a:r>
            <a:r>
              <a:rPr sz="2750" spc="520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servers</a:t>
            </a:r>
            <a:endParaRPr sz="2750" dirty="0">
              <a:latin typeface="Calibri"/>
              <a:cs typeface="Calibri"/>
            </a:endParaRPr>
          </a:p>
          <a:p>
            <a:pPr marL="632460" lvl="1" indent="-276860">
              <a:lnSpc>
                <a:spcPct val="100000"/>
              </a:lnSpc>
              <a:spcBef>
                <a:spcPts val="75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750" dirty="0">
                <a:latin typeface="Calibri"/>
                <a:cs typeface="Calibri"/>
              </a:rPr>
              <a:t>Connects </a:t>
            </a:r>
            <a:r>
              <a:rPr sz="2750" spc="-10" dirty="0">
                <a:latin typeface="Calibri"/>
                <a:cs typeface="Calibri"/>
              </a:rPr>
              <a:t>directly </a:t>
            </a:r>
            <a:r>
              <a:rPr sz="2750" spc="-5" dirty="0">
                <a:latin typeface="Calibri"/>
                <a:cs typeface="Calibri"/>
              </a:rPr>
              <a:t>to chunk </a:t>
            </a:r>
            <a:r>
              <a:rPr sz="2750" spc="-15" dirty="0">
                <a:latin typeface="Calibri"/>
                <a:cs typeface="Calibri"/>
              </a:rPr>
              <a:t>servers </a:t>
            </a:r>
            <a:r>
              <a:rPr sz="2750" spc="-5" dirty="0">
                <a:latin typeface="Calibri"/>
                <a:cs typeface="Calibri"/>
              </a:rPr>
              <a:t>to </a:t>
            </a:r>
            <a:r>
              <a:rPr sz="2750" spc="5" dirty="0">
                <a:latin typeface="Calibri"/>
                <a:cs typeface="Calibri"/>
              </a:rPr>
              <a:t>access</a:t>
            </a:r>
            <a:r>
              <a:rPr sz="2750" spc="240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data</a:t>
            </a:r>
            <a:endParaRPr sz="2750" dirty="0">
              <a:latin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671B3C-910A-4469-BB22-E657C1544721}"/>
              </a:ext>
            </a:extLst>
          </p:cNvPr>
          <p:cNvSpPr txBox="1"/>
          <p:nvPr/>
        </p:nvSpPr>
        <p:spPr>
          <a:xfrm>
            <a:off x="457200" y="152400"/>
            <a:ext cx="8458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>
                <a:solidFill>
                  <a:srgbClr val="FFFF00"/>
                </a:solidFill>
                <a:latin typeface="Palatino Linotype" panose="02040502050505030304" pitchFamily="18" charset="0"/>
              </a:rPr>
              <a:t>Distributed File System</a:t>
            </a:r>
            <a:endParaRPr lang="en-US" sz="4000" dirty="0">
              <a:solidFill>
                <a:srgbClr val="FFFF00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9F23A0-2933-469F-8B74-E82C311F297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US" smtClean="0"/>
              <a:t>12</a:t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795</TotalTime>
  <Words>572</Words>
  <Application>Microsoft Office PowerPoint</Application>
  <PresentationFormat>On-screen Show (4:3)</PresentationFormat>
  <Paragraphs>146</Paragraphs>
  <Slides>12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Calibri</vt:lpstr>
      <vt:lpstr>Corbel</vt:lpstr>
      <vt:lpstr>Palatino Linotype</vt:lpstr>
      <vt:lpstr>Wingdings</vt:lpstr>
      <vt:lpstr>Wingdings 2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Rezwan</dc:creator>
  <cp:lastModifiedBy>Dr. Mohammad Rezwanul Huq</cp:lastModifiedBy>
  <cp:revision>11</cp:revision>
  <dcterms:created xsi:type="dcterms:W3CDTF">2021-10-23T05:40:18Z</dcterms:created>
  <dcterms:modified xsi:type="dcterms:W3CDTF">2021-10-23T20:18:04Z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2021-03-30T00:00:00Z</vt:filetime>
  </property>
  <property fmtid="{D5CDD505-2E9C-101B-9397-08002B2CF9AE}" pid="3" name="LastSaved">
    <vt:filetime>2021-10-23T00:00:00Z</vt:filetime>
  </property>
</Properties>
</file>