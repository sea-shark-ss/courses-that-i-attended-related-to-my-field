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59" r:id="rId3"/>
    <p:sldId id="264" r:id="rId4"/>
    <p:sldId id="265" r:id="rId5"/>
    <p:sldId id="260" r:id="rId6"/>
    <p:sldId id="261" r:id="rId7"/>
    <p:sldId id="262" r:id="rId8"/>
    <p:sldId id="313" r:id="rId9"/>
    <p:sldId id="312" r:id="rId10"/>
    <p:sldId id="314" r:id="rId11"/>
    <p:sldId id="317" r:id="rId12"/>
    <p:sldId id="258" r:id="rId13"/>
    <p:sldId id="266" r:id="rId14"/>
    <p:sldId id="315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318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319" r:id="rId33"/>
    <p:sldId id="286" r:id="rId34"/>
    <p:sldId id="287" r:id="rId35"/>
    <p:sldId id="316" r:id="rId36"/>
    <p:sldId id="288" r:id="rId37"/>
    <p:sldId id="289" r:id="rId38"/>
    <p:sldId id="290" r:id="rId39"/>
    <p:sldId id="291" r:id="rId40"/>
    <p:sldId id="292" r:id="rId41"/>
    <p:sldId id="320" r:id="rId4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. Mohammad Rezwanul Huq" initials="DMRH" lastIdx="1" clrIdx="0">
    <p:extLst>
      <p:ext uri="{19B8F6BF-5375-455C-9EA6-DF929625EA0E}">
        <p15:presenceInfo xmlns:p15="http://schemas.microsoft.com/office/powerpoint/2012/main" userId="Dr. Mohammad Rezwanul Huq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900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11-11T02:58:30.115" idx="1">
    <p:pos x="10" y="10"/>
    <p:text/>
    <p:extLst>
      <p:ext uri="{C676402C-5697-4E1C-873F-D02D1690AC5C}">
        <p15:threadingInfo xmlns:p15="http://schemas.microsoft.com/office/powerpoint/2012/main" timeZoneBias="-3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02706F-D9B6-4747-ADBA-8B5A964B273B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3C75DA-3328-4E23-A281-D3D57B12B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7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lang="en-US"/>
              <a:t>4/1/2021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CC00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lang="en-US"/>
              <a:t>4/1/2021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CC00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lang="en-US"/>
              <a:t>4/1/2021</a:t>
            </a:r>
            <a:endParaRPr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CC00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lang="en-US"/>
              <a:t>4/1/2021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lang="en-US"/>
              <a:t>4/1/2021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99426"/>
            <a:ext cx="9144000" cy="11048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019175"/>
            <a:ext cx="9144000" cy="47625"/>
          </a:xfrm>
          <a:custGeom>
            <a:avLst/>
            <a:gdLst/>
            <a:ahLst/>
            <a:cxnLst/>
            <a:rect l="l" t="t" r="r" b="b"/>
            <a:pathLst>
              <a:path w="9144000" h="47625">
                <a:moveTo>
                  <a:pt x="9144000" y="0"/>
                </a:moveTo>
                <a:lnTo>
                  <a:pt x="0" y="0"/>
                </a:lnTo>
                <a:lnTo>
                  <a:pt x="0" y="47625"/>
                </a:lnTo>
                <a:lnTo>
                  <a:pt x="9144000" y="47625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1019175"/>
          </a:xfrm>
          <a:custGeom>
            <a:avLst/>
            <a:gdLst/>
            <a:ahLst/>
            <a:cxnLst/>
            <a:rect l="l" t="t" r="r" b="b"/>
            <a:pathLst>
              <a:path w="9144000" h="1019175">
                <a:moveTo>
                  <a:pt x="9144000" y="0"/>
                </a:moveTo>
                <a:lnTo>
                  <a:pt x="0" y="0"/>
                </a:lnTo>
                <a:lnTo>
                  <a:pt x="0" y="1019175"/>
                </a:lnTo>
                <a:lnTo>
                  <a:pt x="9144000" y="1019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4362" y="1280794"/>
            <a:ext cx="1409064" cy="621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CC00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4362" y="1833880"/>
            <a:ext cx="7924800" cy="4779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54672" y="6736715"/>
            <a:ext cx="46672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lang="en-US"/>
              <a:t>4/1/2021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04960" y="6736715"/>
            <a:ext cx="19050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2202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5133975"/>
            </a:xfrm>
            <a:custGeom>
              <a:avLst/>
              <a:gdLst/>
              <a:ahLst/>
              <a:cxnLst/>
              <a:rect l="l" t="t" r="r" b="b"/>
              <a:pathLst>
                <a:path w="9144000" h="5133975">
                  <a:moveTo>
                    <a:pt x="9144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144000" y="51339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86286"/>
              <a:ext cx="9144000" cy="138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4450"/>
              <a:ext cx="9144000" cy="47625"/>
            </a:xfrm>
            <a:custGeom>
              <a:avLst/>
              <a:gdLst/>
              <a:ahLst/>
              <a:cxnLst/>
              <a:rect l="l" t="t" r="r" b="b"/>
              <a:pathLst>
                <a:path w="9144000" h="47625">
                  <a:moveTo>
                    <a:pt x="9144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44000" y="476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13300" y="5224398"/>
            <a:ext cx="4330700" cy="11174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Dr. Mohammad Rezwanul Huq</a:t>
            </a:r>
          </a:p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Associate Professor</a:t>
            </a:r>
          </a:p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East West University</a:t>
            </a:r>
            <a:endParaRPr sz="2000" dirty="0">
              <a:latin typeface="Corbel"/>
              <a:cs typeface="Corbe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C8D84B-8AF9-4ABB-AF8C-ED978638D2A0}"/>
              </a:ext>
            </a:extLst>
          </p:cNvPr>
          <p:cNvSpPr txBox="1"/>
          <p:nvPr/>
        </p:nvSpPr>
        <p:spPr>
          <a:xfrm>
            <a:off x="304800" y="1905000"/>
            <a:ext cx="8839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CSE488: Big Data Analytics</a:t>
            </a:r>
          </a:p>
          <a:p>
            <a:pPr algn="ctr"/>
            <a:endParaRPr lang="en-AU" sz="32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  <a:p>
            <a:pPr algn="ctr"/>
            <a:r>
              <a:rPr lang="en-AU" sz="3600" dirty="0">
                <a:solidFill>
                  <a:srgbClr val="00B0F0"/>
                </a:solidFill>
                <a:latin typeface="Palatino Linotype" panose="02040502050505030304" pitchFamily="18" charset="0"/>
              </a:rPr>
              <a:t>Lecture 6: Frequent </a:t>
            </a:r>
            <a:r>
              <a:rPr lang="en-AU" sz="3600" dirty="0" err="1">
                <a:solidFill>
                  <a:srgbClr val="00B0F0"/>
                </a:solidFill>
                <a:latin typeface="Palatino Linotype" panose="02040502050505030304" pitchFamily="18" charset="0"/>
              </a:rPr>
              <a:t>Itemsets</a:t>
            </a:r>
            <a:r>
              <a:rPr lang="en-AU" sz="3600" dirty="0">
                <a:solidFill>
                  <a:srgbClr val="00B0F0"/>
                </a:solidFill>
                <a:latin typeface="Palatino Linotype" panose="02040502050505030304" pitchFamily="18" charset="0"/>
              </a:rPr>
              <a:t> Mining </a:t>
            </a:r>
          </a:p>
          <a:p>
            <a:pPr algn="ctr"/>
            <a:r>
              <a:rPr lang="en-AU" sz="3600" dirty="0">
                <a:solidFill>
                  <a:srgbClr val="00B0F0"/>
                </a:solidFill>
                <a:latin typeface="Palatino Linotype" panose="02040502050505030304" pitchFamily="18" charset="0"/>
              </a:rPr>
              <a:t>and A-Priori Algorithm</a:t>
            </a:r>
            <a:endParaRPr lang="en-US" sz="3600" dirty="0">
              <a:solidFill>
                <a:srgbClr val="00B0F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AE21F5-5C78-4216-A7A9-B07602EE82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33311"/>
            <a:ext cx="6348476" cy="45243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243913"/>
            <a:ext cx="4818380" cy="428434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15" dirty="0">
                <a:latin typeface="Calibri"/>
                <a:cs typeface="Calibri"/>
              </a:rPr>
              <a:t>A </a:t>
            </a:r>
            <a:r>
              <a:rPr sz="3200" b="1" dirty="0">
                <a:latin typeface="Calibri"/>
                <a:cs typeface="Calibri"/>
              </a:rPr>
              <a:t>large </a:t>
            </a:r>
            <a:r>
              <a:rPr sz="3200" b="1" spc="10" dirty="0">
                <a:latin typeface="Calibri"/>
                <a:cs typeface="Calibri"/>
              </a:rPr>
              <a:t>set </a:t>
            </a:r>
            <a:r>
              <a:rPr sz="3200" spc="20" dirty="0">
                <a:latin typeface="Calibri"/>
                <a:cs typeface="Calibri"/>
              </a:rPr>
              <a:t>of</a:t>
            </a:r>
            <a:r>
              <a:rPr sz="3200" spc="-275" dirty="0"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FF0066"/>
                </a:solidFill>
                <a:latin typeface="Calibri"/>
                <a:cs typeface="Calibri"/>
              </a:rPr>
              <a:t>items</a:t>
            </a:r>
            <a:endParaRPr sz="3200">
              <a:latin typeface="Calibri"/>
              <a:cs typeface="Calibri"/>
            </a:endParaRPr>
          </a:p>
          <a:p>
            <a:pPr marL="632460" marR="1322070" lvl="1" indent="-276860">
              <a:lnSpc>
                <a:spcPct val="102400"/>
              </a:lnSpc>
              <a:spcBef>
                <a:spcPts val="66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20" dirty="0">
                <a:latin typeface="Calibri"/>
                <a:cs typeface="Calibri"/>
              </a:rPr>
              <a:t>e.g., things </a:t>
            </a:r>
            <a:r>
              <a:rPr sz="2750" dirty="0">
                <a:latin typeface="Calibri"/>
                <a:cs typeface="Calibri"/>
              </a:rPr>
              <a:t>sold </a:t>
            </a:r>
            <a:r>
              <a:rPr sz="2750" spc="-10" dirty="0">
                <a:latin typeface="Calibri"/>
                <a:cs typeface="Calibri"/>
              </a:rPr>
              <a:t>in </a:t>
            </a:r>
            <a:r>
              <a:rPr sz="2750" spc="10" dirty="0">
                <a:latin typeface="Calibri"/>
                <a:cs typeface="Calibri"/>
              </a:rPr>
              <a:t>a  </a:t>
            </a:r>
            <a:r>
              <a:rPr sz="2750" spc="-5" dirty="0">
                <a:latin typeface="Calibri"/>
                <a:cs typeface="Calibri"/>
              </a:rPr>
              <a:t>supermarket</a:t>
            </a:r>
            <a:endParaRPr sz="2750">
              <a:latin typeface="Calibri"/>
              <a:cs typeface="Calibri"/>
            </a:endParaRPr>
          </a:p>
          <a:p>
            <a:pPr marL="336550" indent="-324485">
              <a:lnSpc>
                <a:spcPct val="100000"/>
              </a:lnSpc>
              <a:spcBef>
                <a:spcPts val="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15" dirty="0">
                <a:latin typeface="Calibri"/>
                <a:cs typeface="Calibri"/>
              </a:rPr>
              <a:t>A </a:t>
            </a:r>
            <a:r>
              <a:rPr sz="3200" b="1" dirty="0">
                <a:latin typeface="Calibri"/>
                <a:cs typeface="Calibri"/>
              </a:rPr>
              <a:t>large </a:t>
            </a:r>
            <a:r>
              <a:rPr sz="3200" b="1" spc="10" dirty="0">
                <a:latin typeface="Calibri"/>
                <a:cs typeface="Calibri"/>
              </a:rPr>
              <a:t>set </a:t>
            </a:r>
            <a:r>
              <a:rPr sz="3200" spc="20" dirty="0">
                <a:latin typeface="Calibri"/>
                <a:cs typeface="Calibri"/>
              </a:rPr>
              <a:t>of</a:t>
            </a:r>
            <a:r>
              <a:rPr sz="3200" spc="-275" dirty="0"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66"/>
                </a:solidFill>
                <a:latin typeface="Calibri"/>
                <a:cs typeface="Calibri"/>
              </a:rPr>
              <a:t>baskets</a:t>
            </a:r>
            <a:endParaRPr sz="320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dirty="0">
                <a:latin typeface="Calibri"/>
                <a:cs typeface="Calibri"/>
              </a:rPr>
              <a:t>Each </a:t>
            </a:r>
            <a:r>
              <a:rPr sz="2750" spc="-15" dirty="0">
                <a:latin typeface="Calibri"/>
                <a:cs typeface="Calibri"/>
              </a:rPr>
              <a:t>basket is</a:t>
            </a:r>
            <a:r>
              <a:rPr sz="2750" spc="20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a</a:t>
            </a:r>
            <a:endParaRPr sz="2750">
              <a:latin typeface="Calibri"/>
              <a:cs typeface="Calibri"/>
            </a:endParaRPr>
          </a:p>
          <a:p>
            <a:pPr marL="632460">
              <a:lnSpc>
                <a:spcPct val="100000"/>
              </a:lnSpc>
              <a:spcBef>
                <a:spcPts val="80"/>
              </a:spcBef>
            </a:pPr>
            <a:r>
              <a:rPr sz="2750" b="1" spc="5" dirty="0">
                <a:latin typeface="Calibri"/>
                <a:cs typeface="Calibri"/>
              </a:rPr>
              <a:t>small </a:t>
            </a:r>
            <a:r>
              <a:rPr sz="2750" b="1" spc="20" dirty="0">
                <a:latin typeface="Calibri"/>
                <a:cs typeface="Calibri"/>
              </a:rPr>
              <a:t>subset </a:t>
            </a:r>
            <a:r>
              <a:rPr sz="2750" b="1" spc="10" dirty="0">
                <a:latin typeface="Calibri"/>
                <a:cs typeface="Calibri"/>
              </a:rPr>
              <a:t>of</a:t>
            </a:r>
            <a:r>
              <a:rPr sz="2750" b="1" spc="-15" dirty="0">
                <a:latin typeface="Calibri"/>
                <a:cs typeface="Calibri"/>
              </a:rPr>
              <a:t> </a:t>
            </a:r>
            <a:r>
              <a:rPr sz="2750" b="1" spc="10" dirty="0">
                <a:latin typeface="Calibri"/>
                <a:cs typeface="Calibri"/>
              </a:rPr>
              <a:t>items</a:t>
            </a:r>
            <a:endParaRPr sz="2750">
              <a:latin typeface="Calibri"/>
              <a:cs typeface="Calibri"/>
            </a:endParaRPr>
          </a:p>
          <a:p>
            <a:pPr marL="899160" marR="669925" lvl="2" indent="-229235">
              <a:lnSpc>
                <a:spcPct val="101699"/>
              </a:lnSpc>
              <a:spcBef>
                <a:spcPts val="530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spc="-5" dirty="0">
                <a:latin typeface="Calibri"/>
                <a:cs typeface="Calibri"/>
              </a:rPr>
              <a:t>e.g., </a:t>
            </a:r>
            <a:r>
              <a:rPr sz="2400" spc="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things </a:t>
            </a:r>
            <a:r>
              <a:rPr sz="2400" spc="5" dirty="0">
                <a:latin typeface="Calibri"/>
                <a:cs typeface="Calibri"/>
              </a:rPr>
              <a:t>one  </a:t>
            </a:r>
            <a:r>
              <a:rPr sz="2400" spc="15" dirty="0">
                <a:latin typeface="Calibri"/>
                <a:cs typeface="Calibri"/>
              </a:rPr>
              <a:t>customer </a:t>
            </a:r>
            <a:r>
              <a:rPr sz="2400" spc="-5" dirty="0">
                <a:latin typeface="Calibri"/>
                <a:cs typeface="Calibri"/>
              </a:rPr>
              <a:t>buys </a:t>
            </a:r>
            <a:r>
              <a:rPr sz="2400" dirty="0">
                <a:latin typeface="Calibri"/>
                <a:cs typeface="Calibri"/>
              </a:rPr>
              <a:t>on </a:t>
            </a:r>
            <a:r>
              <a:rPr sz="2400" spc="5" dirty="0">
                <a:latin typeface="Calibri"/>
                <a:cs typeface="Calibri"/>
              </a:rPr>
              <a:t>one</a:t>
            </a:r>
            <a:r>
              <a:rPr sz="2400" spc="-33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day</a:t>
            </a:r>
            <a:endParaRPr sz="2400">
              <a:latin typeface="Calibri"/>
              <a:cs typeface="Calibri"/>
            </a:endParaRPr>
          </a:p>
          <a:p>
            <a:pPr marL="336550" indent="-324485">
              <a:lnSpc>
                <a:spcPts val="3765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Discover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association</a:t>
            </a:r>
            <a:r>
              <a:rPr sz="3200" b="1" spc="-33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rules: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8530" y="5389051"/>
            <a:ext cx="7191375" cy="107188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3200" dirty="0">
                <a:latin typeface="Calibri"/>
                <a:cs typeface="Calibri"/>
              </a:rPr>
              <a:t>People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who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bought</a:t>
            </a:r>
            <a:r>
              <a:rPr sz="3200" spc="-16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{x,y,z}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tend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to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30" dirty="0">
                <a:latin typeface="Calibri"/>
                <a:cs typeface="Calibri"/>
              </a:rPr>
              <a:t>buy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{v,w}</a:t>
            </a:r>
            <a:endParaRPr sz="3200">
              <a:latin typeface="Calibri"/>
              <a:cs typeface="Calibri"/>
            </a:endParaRPr>
          </a:p>
          <a:p>
            <a:pPr marL="575310" indent="-229235">
              <a:lnSpc>
                <a:spcPct val="100000"/>
              </a:lnSpc>
              <a:spcBef>
                <a:spcPts val="640"/>
              </a:spcBef>
              <a:buClr>
                <a:srgbClr val="E66C7C"/>
              </a:buClr>
              <a:buFont typeface="Wingdings"/>
              <a:buChar char=""/>
              <a:tabLst>
                <a:tab pos="575310" algn="l"/>
              </a:tabLst>
            </a:pPr>
            <a:r>
              <a:rPr sz="2400" spc="-10" dirty="0">
                <a:latin typeface="Calibri"/>
                <a:cs typeface="Calibri"/>
              </a:rPr>
              <a:t>Example </a:t>
            </a:r>
            <a:r>
              <a:rPr sz="2400" spc="-5" dirty="0">
                <a:latin typeface="Calibri"/>
                <a:cs typeface="Calibri"/>
              </a:rPr>
              <a:t>application: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Amazon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10250" y="3971925"/>
            <a:ext cx="3114675" cy="1066800"/>
            <a:chOff x="5810250" y="3971925"/>
            <a:chExt cx="3114675" cy="1066800"/>
          </a:xfrm>
        </p:grpSpPr>
        <p:sp>
          <p:nvSpPr>
            <p:cNvPr id="6" name="object 6"/>
            <p:cNvSpPr/>
            <p:nvPr/>
          </p:nvSpPr>
          <p:spPr>
            <a:xfrm>
              <a:off x="5886450" y="4048125"/>
              <a:ext cx="3038475" cy="990600"/>
            </a:xfrm>
            <a:custGeom>
              <a:avLst/>
              <a:gdLst/>
              <a:ahLst/>
              <a:cxnLst/>
              <a:rect l="l" t="t" r="r" b="b"/>
              <a:pathLst>
                <a:path w="3038475" h="990600">
                  <a:moveTo>
                    <a:pt x="3038475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3038475" y="990600"/>
                  </a:lnTo>
                  <a:lnTo>
                    <a:pt x="3038475" y="0"/>
                  </a:lnTo>
                  <a:close/>
                </a:path>
              </a:pathLst>
            </a:custGeom>
            <a:solidFill>
              <a:srgbClr val="D3D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98337" y="4162170"/>
              <a:ext cx="2203831" cy="18707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43320" y="4477384"/>
              <a:ext cx="1791970" cy="217804"/>
            </a:xfrm>
            <a:custGeom>
              <a:avLst/>
              <a:gdLst/>
              <a:ahLst/>
              <a:cxnLst/>
              <a:rect l="l" t="t" r="r" b="b"/>
              <a:pathLst>
                <a:path w="1791970" h="217804">
                  <a:moveTo>
                    <a:pt x="92202" y="0"/>
                  </a:moveTo>
                  <a:lnTo>
                    <a:pt x="79248" y="0"/>
                  </a:lnTo>
                  <a:lnTo>
                    <a:pt x="69786" y="698"/>
                  </a:lnTo>
                  <a:lnTo>
                    <a:pt x="39497" y="24536"/>
                  </a:lnTo>
                  <a:lnTo>
                    <a:pt x="36703" y="43180"/>
                  </a:lnTo>
                  <a:lnTo>
                    <a:pt x="36703" y="64897"/>
                  </a:lnTo>
                  <a:lnTo>
                    <a:pt x="36195" y="70104"/>
                  </a:lnTo>
                  <a:lnTo>
                    <a:pt x="8890" y="99949"/>
                  </a:lnTo>
                  <a:lnTo>
                    <a:pt x="0" y="99949"/>
                  </a:lnTo>
                  <a:lnTo>
                    <a:pt x="0" y="117475"/>
                  </a:lnTo>
                  <a:lnTo>
                    <a:pt x="8890" y="117475"/>
                  </a:lnTo>
                  <a:lnTo>
                    <a:pt x="14351" y="118364"/>
                  </a:lnTo>
                  <a:lnTo>
                    <a:pt x="36703" y="152527"/>
                  </a:lnTo>
                  <a:lnTo>
                    <a:pt x="36703" y="174244"/>
                  </a:lnTo>
                  <a:lnTo>
                    <a:pt x="37388" y="184200"/>
                  </a:lnTo>
                  <a:lnTo>
                    <a:pt x="61429" y="214668"/>
                  </a:lnTo>
                  <a:lnTo>
                    <a:pt x="79248" y="217424"/>
                  </a:lnTo>
                  <a:lnTo>
                    <a:pt x="92202" y="217424"/>
                  </a:lnTo>
                  <a:lnTo>
                    <a:pt x="92202" y="202057"/>
                  </a:lnTo>
                  <a:lnTo>
                    <a:pt x="78867" y="202057"/>
                  </a:lnTo>
                  <a:lnTo>
                    <a:pt x="75057" y="201549"/>
                  </a:lnTo>
                  <a:lnTo>
                    <a:pt x="71882" y="200660"/>
                  </a:lnTo>
                  <a:lnTo>
                    <a:pt x="68580" y="199771"/>
                  </a:lnTo>
                  <a:lnTo>
                    <a:pt x="65913" y="198247"/>
                  </a:lnTo>
                  <a:lnTo>
                    <a:pt x="63627" y="196088"/>
                  </a:lnTo>
                  <a:lnTo>
                    <a:pt x="61214" y="193929"/>
                  </a:lnTo>
                  <a:lnTo>
                    <a:pt x="59563" y="190754"/>
                  </a:lnTo>
                  <a:lnTo>
                    <a:pt x="58293" y="186817"/>
                  </a:lnTo>
                  <a:lnTo>
                    <a:pt x="57150" y="182880"/>
                  </a:lnTo>
                  <a:lnTo>
                    <a:pt x="56642" y="178054"/>
                  </a:lnTo>
                  <a:lnTo>
                    <a:pt x="56642" y="146685"/>
                  </a:lnTo>
                  <a:lnTo>
                    <a:pt x="55880" y="141605"/>
                  </a:lnTo>
                  <a:lnTo>
                    <a:pt x="53086" y="133223"/>
                  </a:lnTo>
                  <a:lnTo>
                    <a:pt x="51054" y="129286"/>
                  </a:lnTo>
                  <a:lnTo>
                    <a:pt x="48260" y="125730"/>
                  </a:lnTo>
                  <a:lnTo>
                    <a:pt x="45720" y="122428"/>
                  </a:lnTo>
                  <a:lnTo>
                    <a:pt x="42545" y="119380"/>
                  </a:lnTo>
                  <a:lnTo>
                    <a:pt x="38608" y="116713"/>
                  </a:lnTo>
                  <a:lnTo>
                    <a:pt x="34671" y="113919"/>
                  </a:lnTo>
                  <a:lnTo>
                    <a:pt x="30607" y="111760"/>
                  </a:lnTo>
                  <a:lnTo>
                    <a:pt x="26416" y="110109"/>
                  </a:lnTo>
                  <a:lnTo>
                    <a:pt x="26416" y="107315"/>
                  </a:lnTo>
                  <a:lnTo>
                    <a:pt x="30607" y="105664"/>
                  </a:lnTo>
                  <a:lnTo>
                    <a:pt x="34671" y="103505"/>
                  </a:lnTo>
                  <a:lnTo>
                    <a:pt x="38608" y="100711"/>
                  </a:lnTo>
                  <a:lnTo>
                    <a:pt x="42545" y="98044"/>
                  </a:lnTo>
                  <a:lnTo>
                    <a:pt x="45847" y="94996"/>
                  </a:lnTo>
                  <a:lnTo>
                    <a:pt x="48260" y="91694"/>
                  </a:lnTo>
                  <a:lnTo>
                    <a:pt x="51054" y="88138"/>
                  </a:lnTo>
                  <a:lnTo>
                    <a:pt x="53086" y="84201"/>
                  </a:lnTo>
                  <a:lnTo>
                    <a:pt x="55880" y="75819"/>
                  </a:lnTo>
                  <a:lnTo>
                    <a:pt x="56642" y="70739"/>
                  </a:lnTo>
                  <a:lnTo>
                    <a:pt x="56642" y="39370"/>
                  </a:lnTo>
                  <a:lnTo>
                    <a:pt x="57150" y="34544"/>
                  </a:lnTo>
                  <a:lnTo>
                    <a:pt x="58293" y="30607"/>
                  </a:lnTo>
                  <a:lnTo>
                    <a:pt x="59563" y="26670"/>
                  </a:lnTo>
                  <a:lnTo>
                    <a:pt x="61214" y="23495"/>
                  </a:lnTo>
                  <a:lnTo>
                    <a:pt x="63627" y="21336"/>
                  </a:lnTo>
                  <a:lnTo>
                    <a:pt x="65913" y="19177"/>
                  </a:lnTo>
                  <a:lnTo>
                    <a:pt x="68707" y="17653"/>
                  </a:lnTo>
                  <a:lnTo>
                    <a:pt x="75057" y="15875"/>
                  </a:lnTo>
                  <a:lnTo>
                    <a:pt x="78867" y="15367"/>
                  </a:lnTo>
                  <a:lnTo>
                    <a:pt x="92202" y="15367"/>
                  </a:lnTo>
                  <a:lnTo>
                    <a:pt x="92202" y="0"/>
                  </a:lnTo>
                  <a:close/>
                </a:path>
                <a:path w="1791970" h="217804">
                  <a:moveTo>
                    <a:pt x="266954" y="7493"/>
                  </a:moveTo>
                  <a:lnTo>
                    <a:pt x="236220" y="7493"/>
                  </a:lnTo>
                  <a:lnTo>
                    <a:pt x="196088" y="99949"/>
                  </a:lnTo>
                  <a:lnTo>
                    <a:pt x="164973" y="30480"/>
                  </a:lnTo>
                  <a:lnTo>
                    <a:pt x="154686" y="7493"/>
                  </a:lnTo>
                  <a:lnTo>
                    <a:pt x="124460" y="7493"/>
                  </a:lnTo>
                  <a:lnTo>
                    <a:pt x="124460" y="173609"/>
                  </a:lnTo>
                  <a:lnTo>
                    <a:pt x="145161" y="173609"/>
                  </a:lnTo>
                  <a:lnTo>
                    <a:pt x="145161" y="30480"/>
                  </a:lnTo>
                  <a:lnTo>
                    <a:pt x="188087" y="127889"/>
                  </a:lnTo>
                  <a:lnTo>
                    <a:pt x="201549" y="127889"/>
                  </a:lnTo>
                  <a:lnTo>
                    <a:pt x="213969" y="99949"/>
                  </a:lnTo>
                  <a:lnTo>
                    <a:pt x="244856" y="30480"/>
                  </a:lnTo>
                  <a:lnTo>
                    <a:pt x="244856" y="173609"/>
                  </a:lnTo>
                  <a:lnTo>
                    <a:pt x="266954" y="173609"/>
                  </a:lnTo>
                  <a:lnTo>
                    <a:pt x="266954" y="30480"/>
                  </a:lnTo>
                  <a:lnTo>
                    <a:pt x="266954" y="7493"/>
                  </a:lnTo>
                  <a:close/>
                </a:path>
                <a:path w="1791970" h="217804">
                  <a:moveTo>
                    <a:pt x="325247" y="49022"/>
                  </a:moveTo>
                  <a:lnTo>
                    <a:pt x="304279" y="49022"/>
                  </a:lnTo>
                  <a:lnTo>
                    <a:pt x="304279" y="173609"/>
                  </a:lnTo>
                  <a:lnTo>
                    <a:pt x="325247" y="173609"/>
                  </a:lnTo>
                  <a:lnTo>
                    <a:pt x="325247" y="49022"/>
                  </a:lnTo>
                  <a:close/>
                </a:path>
                <a:path w="1791970" h="217804">
                  <a:moveTo>
                    <a:pt x="326644" y="6350"/>
                  </a:moveTo>
                  <a:lnTo>
                    <a:pt x="302768" y="6350"/>
                  </a:lnTo>
                  <a:lnTo>
                    <a:pt x="302768" y="28067"/>
                  </a:lnTo>
                  <a:lnTo>
                    <a:pt x="326644" y="28067"/>
                  </a:lnTo>
                  <a:lnTo>
                    <a:pt x="326644" y="6350"/>
                  </a:lnTo>
                  <a:close/>
                </a:path>
                <a:path w="1791970" h="217804">
                  <a:moveTo>
                    <a:pt x="372872" y="0"/>
                  </a:moveTo>
                  <a:lnTo>
                    <a:pt x="351904" y="0"/>
                  </a:lnTo>
                  <a:lnTo>
                    <a:pt x="351904" y="173609"/>
                  </a:lnTo>
                  <a:lnTo>
                    <a:pt x="372872" y="173609"/>
                  </a:lnTo>
                  <a:lnTo>
                    <a:pt x="372872" y="0"/>
                  </a:lnTo>
                  <a:close/>
                </a:path>
                <a:path w="1791970" h="217804">
                  <a:moveTo>
                    <a:pt x="502412" y="173609"/>
                  </a:moveTo>
                  <a:lnTo>
                    <a:pt x="454228" y="113538"/>
                  </a:lnTo>
                  <a:lnTo>
                    <a:pt x="444754" y="101727"/>
                  </a:lnTo>
                  <a:lnTo>
                    <a:pt x="444246" y="101092"/>
                  </a:lnTo>
                  <a:lnTo>
                    <a:pt x="495427" y="49022"/>
                  </a:lnTo>
                  <a:lnTo>
                    <a:pt x="469392" y="49022"/>
                  </a:lnTo>
                  <a:lnTo>
                    <a:pt x="419989" y="101727"/>
                  </a:lnTo>
                  <a:lnTo>
                    <a:pt x="419989" y="0"/>
                  </a:lnTo>
                  <a:lnTo>
                    <a:pt x="399034" y="0"/>
                  </a:lnTo>
                  <a:lnTo>
                    <a:pt x="399034" y="173609"/>
                  </a:lnTo>
                  <a:lnTo>
                    <a:pt x="419989" y="173609"/>
                  </a:lnTo>
                  <a:lnTo>
                    <a:pt x="419989" y="121539"/>
                  </a:lnTo>
                  <a:lnTo>
                    <a:pt x="428244" y="113538"/>
                  </a:lnTo>
                  <a:lnTo>
                    <a:pt x="474853" y="173609"/>
                  </a:lnTo>
                  <a:lnTo>
                    <a:pt x="502412" y="173609"/>
                  </a:lnTo>
                  <a:close/>
                </a:path>
                <a:path w="1791970" h="217804">
                  <a:moveTo>
                    <a:pt x="601345" y="99949"/>
                  </a:moveTo>
                  <a:lnTo>
                    <a:pt x="592455" y="99949"/>
                  </a:lnTo>
                  <a:lnTo>
                    <a:pt x="586867" y="99060"/>
                  </a:lnTo>
                  <a:lnTo>
                    <a:pt x="582549" y="97155"/>
                  </a:lnTo>
                  <a:lnTo>
                    <a:pt x="578104" y="95250"/>
                  </a:lnTo>
                  <a:lnTo>
                    <a:pt x="574421" y="92456"/>
                  </a:lnTo>
                  <a:lnTo>
                    <a:pt x="571754" y="88773"/>
                  </a:lnTo>
                  <a:lnTo>
                    <a:pt x="568960" y="84963"/>
                  </a:lnTo>
                  <a:lnTo>
                    <a:pt x="567055" y="80518"/>
                  </a:lnTo>
                  <a:lnTo>
                    <a:pt x="566166" y="75311"/>
                  </a:lnTo>
                  <a:lnTo>
                    <a:pt x="565150" y="70104"/>
                  </a:lnTo>
                  <a:lnTo>
                    <a:pt x="564642" y="64897"/>
                  </a:lnTo>
                  <a:lnTo>
                    <a:pt x="564642" y="43180"/>
                  </a:lnTo>
                  <a:lnTo>
                    <a:pt x="563943" y="33235"/>
                  </a:lnTo>
                  <a:lnTo>
                    <a:pt x="539851" y="2755"/>
                  </a:lnTo>
                  <a:lnTo>
                    <a:pt x="522097" y="0"/>
                  </a:lnTo>
                  <a:lnTo>
                    <a:pt x="509143" y="0"/>
                  </a:lnTo>
                  <a:lnTo>
                    <a:pt x="509143" y="15367"/>
                  </a:lnTo>
                  <a:lnTo>
                    <a:pt x="522478" y="15367"/>
                  </a:lnTo>
                  <a:lnTo>
                    <a:pt x="526161" y="15875"/>
                  </a:lnTo>
                  <a:lnTo>
                    <a:pt x="544703" y="39370"/>
                  </a:lnTo>
                  <a:lnTo>
                    <a:pt x="544703" y="70739"/>
                  </a:lnTo>
                  <a:lnTo>
                    <a:pt x="545465" y="75819"/>
                  </a:lnTo>
                  <a:lnTo>
                    <a:pt x="548259" y="84201"/>
                  </a:lnTo>
                  <a:lnTo>
                    <a:pt x="550291" y="88138"/>
                  </a:lnTo>
                  <a:lnTo>
                    <a:pt x="553085" y="91694"/>
                  </a:lnTo>
                  <a:lnTo>
                    <a:pt x="555498" y="94996"/>
                  </a:lnTo>
                  <a:lnTo>
                    <a:pt x="558673" y="98044"/>
                  </a:lnTo>
                  <a:lnTo>
                    <a:pt x="562737" y="100711"/>
                  </a:lnTo>
                  <a:lnTo>
                    <a:pt x="566674" y="103505"/>
                  </a:lnTo>
                  <a:lnTo>
                    <a:pt x="570738" y="105664"/>
                  </a:lnTo>
                  <a:lnTo>
                    <a:pt x="574929" y="107315"/>
                  </a:lnTo>
                  <a:lnTo>
                    <a:pt x="574929" y="110109"/>
                  </a:lnTo>
                  <a:lnTo>
                    <a:pt x="570738" y="111760"/>
                  </a:lnTo>
                  <a:lnTo>
                    <a:pt x="566674" y="113919"/>
                  </a:lnTo>
                  <a:lnTo>
                    <a:pt x="562737" y="116713"/>
                  </a:lnTo>
                  <a:lnTo>
                    <a:pt x="558673" y="119380"/>
                  </a:lnTo>
                  <a:lnTo>
                    <a:pt x="555498" y="122428"/>
                  </a:lnTo>
                  <a:lnTo>
                    <a:pt x="553085" y="125730"/>
                  </a:lnTo>
                  <a:lnTo>
                    <a:pt x="550291" y="129286"/>
                  </a:lnTo>
                  <a:lnTo>
                    <a:pt x="548259" y="133223"/>
                  </a:lnTo>
                  <a:lnTo>
                    <a:pt x="545465" y="141605"/>
                  </a:lnTo>
                  <a:lnTo>
                    <a:pt x="544703" y="146685"/>
                  </a:lnTo>
                  <a:lnTo>
                    <a:pt x="544703" y="178054"/>
                  </a:lnTo>
                  <a:lnTo>
                    <a:pt x="544068" y="182880"/>
                  </a:lnTo>
                  <a:lnTo>
                    <a:pt x="522478" y="202057"/>
                  </a:lnTo>
                  <a:lnTo>
                    <a:pt x="509143" y="202057"/>
                  </a:lnTo>
                  <a:lnTo>
                    <a:pt x="509143" y="217424"/>
                  </a:lnTo>
                  <a:lnTo>
                    <a:pt x="522097" y="217424"/>
                  </a:lnTo>
                  <a:lnTo>
                    <a:pt x="531495" y="216738"/>
                  </a:lnTo>
                  <a:lnTo>
                    <a:pt x="561835" y="192887"/>
                  </a:lnTo>
                  <a:lnTo>
                    <a:pt x="564642" y="174244"/>
                  </a:lnTo>
                  <a:lnTo>
                    <a:pt x="564642" y="152527"/>
                  </a:lnTo>
                  <a:lnTo>
                    <a:pt x="565150" y="147320"/>
                  </a:lnTo>
                  <a:lnTo>
                    <a:pt x="566242" y="141605"/>
                  </a:lnTo>
                  <a:lnTo>
                    <a:pt x="567055" y="136906"/>
                  </a:lnTo>
                  <a:lnTo>
                    <a:pt x="568960" y="132461"/>
                  </a:lnTo>
                  <a:lnTo>
                    <a:pt x="571754" y="128651"/>
                  </a:lnTo>
                  <a:lnTo>
                    <a:pt x="574421" y="124968"/>
                  </a:lnTo>
                  <a:lnTo>
                    <a:pt x="578104" y="122174"/>
                  </a:lnTo>
                  <a:lnTo>
                    <a:pt x="582549" y="120269"/>
                  </a:lnTo>
                  <a:lnTo>
                    <a:pt x="586867" y="118364"/>
                  </a:lnTo>
                  <a:lnTo>
                    <a:pt x="592455" y="117475"/>
                  </a:lnTo>
                  <a:lnTo>
                    <a:pt x="601345" y="117475"/>
                  </a:lnTo>
                  <a:lnTo>
                    <a:pt x="601345" y="99949"/>
                  </a:lnTo>
                  <a:close/>
                </a:path>
                <a:path w="1791970" h="217804">
                  <a:moveTo>
                    <a:pt x="752094" y="90805"/>
                  </a:moveTo>
                  <a:lnTo>
                    <a:pt x="689229" y="90805"/>
                  </a:lnTo>
                  <a:lnTo>
                    <a:pt x="689229" y="110998"/>
                  </a:lnTo>
                  <a:lnTo>
                    <a:pt x="752094" y="110998"/>
                  </a:lnTo>
                  <a:lnTo>
                    <a:pt x="752094" y="90805"/>
                  </a:lnTo>
                  <a:close/>
                </a:path>
                <a:path w="1791970" h="217804">
                  <a:moveTo>
                    <a:pt x="837819" y="90805"/>
                  </a:moveTo>
                  <a:lnTo>
                    <a:pt x="774954" y="90805"/>
                  </a:lnTo>
                  <a:lnTo>
                    <a:pt x="774954" y="110998"/>
                  </a:lnTo>
                  <a:lnTo>
                    <a:pt x="837819" y="110998"/>
                  </a:lnTo>
                  <a:lnTo>
                    <a:pt x="837819" y="90805"/>
                  </a:lnTo>
                  <a:close/>
                </a:path>
                <a:path w="1791970" h="217804">
                  <a:moveTo>
                    <a:pt x="994410" y="94234"/>
                  </a:moveTo>
                  <a:lnTo>
                    <a:pt x="874522" y="36957"/>
                  </a:lnTo>
                  <a:lnTo>
                    <a:pt x="874522" y="56769"/>
                  </a:lnTo>
                  <a:lnTo>
                    <a:pt x="967613" y="100838"/>
                  </a:lnTo>
                  <a:lnTo>
                    <a:pt x="874522" y="145034"/>
                  </a:lnTo>
                  <a:lnTo>
                    <a:pt x="874522" y="164846"/>
                  </a:lnTo>
                  <a:lnTo>
                    <a:pt x="994410" y="107569"/>
                  </a:lnTo>
                  <a:lnTo>
                    <a:pt x="994410" y="94234"/>
                  </a:lnTo>
                  <a:close/>
                </a:path>
                <a:path w="1791970" h="217804">
                  <a:moveTo>
                    <a:pt x="1178052" y="0"/>
                  </a:moveTo>
                  <a:lnTo>
                    <a:pt x="1165098" y="0"/>
                  </a:lnTo>
                  <a:lnTo>
                    <a:pt x="1155636" y="698"/>
                  </a:lnTo>
                  <a:lnTo>
                    <a:pt x="1125347" y="24536"/>
                  </a:lnTo>
                  <a:lnTo>
                    <a:pt x="1122553" y="43180"/>
                  </a:lnTo>
                  <a:lnTo>
                    <a:pt x="1122553" y="64897"/>
                  </a:lnTo>
                  <a:lnTo>
                    <a:pt x="1122045" y="70104"/>
                  </a:lnTo>
                  <a:lnTo>
                    <a:pt x="1094740" y="99949"/>
                  </a:lnTo>
                  <a:lnTo>
                    <a:pt x="1085850" y="99949"/>
                  </a:lnTo>
                  <a:lnTo>
                    <a:pt x="1085850" y="117475"/>
                  </a:lnTo>
                  <a:lnTo>
                    <a:pt x="1094740" y="117475"/>
                  </a:lnTo>
                  <a:lnTo>
                    <a:pt x="1100201" y="118364"/>
                  </a:lnTo>
                  <a:lnTo>
                    <a:pt x="1122553" y="152527"/>
                  </a:lnTo>
                  <a:lnTo>
                    <a:pt x="1122553" y="174244"/>
                  </a:lnTo>
                  <a:lnTo>
                    <a:pt x="1123238" y="184200"/>
                  </a:lnTo>
                  <a:lnTo>
                    <a:pt x="1147279" y="214668"/>
                  </a:lnTo>
                  <a:lnTo>
                    <a:pt x="1165098" y="217424"/>
                  </a:lnTo>
                  <a:lnTo>
                    <a:pt x="1178052" y="217424"/>
                  </a:lnTo>
                  <a:lnTo>
                    <a:pt x="1178052" y="202057"/>
                  </a:lnTo>
                  <a:lnTo>
                    <a:pt x="1164717" y="202057"/>
                  </a:lnTo>
                  <a:lnTo>
                    <a:pt x="1160907" y="201549"/>
                  </a:lnTo>
                  <a:lnTo>
                    <a:pt x="1157732" y="200660"/>
                  </a:lnTo>
                  <a:lnTo>
                    <a:pt x="1154430" y="199771"/>
                  </a:lnTo>
                  <a:lnTo>
                    <a:pt x="1151763" y="198247"/>
                  </a:lnTo>
                  <a:lnTo>
                    <a:pt x="1149477" y="196088"/>
                  </a:lnTo>
                  <a:lnTo>
                    <a:pt x="1147064" y="193929"/>
                  </a:lnTo>
                  <a:lnTo>
                    <a:pt x="1145413" y="190754"/>
                  </a:lnTo>
                  <a:lnTo>
                    <a:pt x="1144143" y="186817"/>
                  </a:lnTo>
                  <a:lnTo>
                    <a:pt x="1143000" y="182880"/>
                  </a:lnTo>
                  <a:lnTo>
                    <a:pt x="1142492" y="178054"/>
                  </a:lnTo>
                  <a:lnTo>
                    <a:pt x="1142492" y="146685"/>
                  </a:lnTo>
                  <a:lnTo>
                    <a:pt x="1141730" y="141605"/>
                  </a:lnTo>
                  <a:lnTo>
                    <a:pt x="1138936" y="133223"/>
                  </a:lnTo>
                  <a:lnTo>
                    <a:pt x="1136904" y="129286"/>
                  </a:lnTo>
                  <a:lnTo>
                    <a:pt x="1134110" y="125730"/>
                  </a:lnTo>
                  <a:lnTo>
                    <a:pt x="1131570" y="122428"/>
                  </a:lnTo>
                  <a:lnTo>
                    <a:pt x="1128395" y="119380"/>
                  </a:lnTo>
                  <a:lnTo>
                    <a:pt x="1124458" y="116713"/>
                  </a:lnTo>
                  <a:lnTo>
                    <a:pt x="1120521" y="113919"/>
                  </a:lnTo>
                  <a:lnTo>
                    <a:pt x="1116457" y="111760"/>
                  </a:lnTo>
                  <a:lnTo>
                    <a:pt x="1112266" y="110109"/>
                  </a:lnTo>
                  <a:lnTo>
                    <a:pt x="1112266" y="107315"/>
                  </a:lnTo>
                  <a:lnTo>
                    <a:pt x="1116457" y="105664"/>
                  </a:lnTo>
                  <a:lnTo>
                    <a:pt x="1120521" y="103505"/>
                  </a:lnTo>
                  <a:lnTo>
                    <a:pt x="1124458" y="100711"/>
                  </a:lnTo>
                  <a:lnTo>
                    <a:pt x="1128395" y="98044"/>
                  </a:lnTo>
                  <a:lnTo>
                    <a:pt x="1131697" y="94996"/>
                  </a:lnTo>
                  <a:lnTo>
                    <a:pt x="1134110" y="91694"/>
                  </a:lnTo>
                  <a:lnTo>
                    <a:pt x="1136904" y="88138"/>
                  </a:lnTo>
                  <a:lnTo>
                    <a:pt x="1138936" y="84201"/>
                  </a:lnTo>
                  <a:lnTo>
                    <a:pt x="1141730" y="75819"/>
                  </a:lnTo>
                  <a:lnTo>
                    <a:pt x="1142492" y="70739"/>
                  </a:lnTo>
                  <a:lnTo>
                    <a:pt x="1142492" y="39370"/>
                  </a:lnTo>
                  <a:lnTo>
                    <a:pt x="1143000" y="34544"/>
                  </a:lnTo>
                  <a:lnTo>
                    <a:pt x="1144143" y="30607"/>
                  </a:lnTo>
                  <a:lnTo>
                    <a:pt x="1145413" y="26670"/>
                  </a:lnTo>
                  <a:lnTo>
                    <a:pt x="1147064" y="23495"/>
                  </a:lnTo>
                  <a:lnTo>
                    <a:pt x="1149477" y="21336"/>
                  </a:lnTo>
                  <a:lnTo>
                    <a:pt x="1151763" y="19177"/>
                  </a:lnTo>
                  <a:lnTo>
                    <a:pt x="1154557" y="17653"/>
                  </a:lnTo>
                  <a:lnTo>
                    <a:pt x="1160907" y="15875"/>
                  </a:lnTo>
                  <a:lnTo>
                    <a:pt x="1164717" y="15367"/>
                  </a:lnTo>
                  <a:lnTo>
                    <a:pt x="1178052" y="15367"/>
                  </a:lnTo>
                  <a:lnTo>
                    <a:pt x="1178052" y="0"/>
                  </a:lnTo>
                  <a:close/>
                </a:path>
                <a:path w="1791970" h="217804">
                  <a:moveTo>
                    <a:pt x="1327023" y="18542"/>
                  </a:moveTo>
                  <a:lnTo>
                    <a:pt x="1323340" y="16510"/>
                  </a:lnTo>
                  <a:lnTo>
                    <a:pt x="1319657" y="14605"/>
                  </a:lnTo>
                  <a:lnTo>
                    <a:pt x="1315847" y="12954"/>
                  </a:lnTo>
                  <a:lnTo>
                    <a:pt x="1312164" y="11303"/>
                  </a:lnTo>
                  <a:lnTo>
                    <a:pt x="1291336" y="5715"/>
                  </a:lnTo>
                  <a:lnTo>
                    <a:pt x="1286383" y="4826"/>
                  </a:lnTo>
                  <a:lnTo>
                    <a:pt x="1281176" y="4445"/>
                  </a:lnTo>
                  <a:lnTo>
                    <a:pt x="1275588" y="4445"/>
                  </a:lnTo>
                  <a:lnTo>
                    <a:pt x="1238554" y="13576"/>
                  </a:lnTo>
                  <a:lnTo>
                    <a:pt x="1209090" y="46837"/>
                  </a:lnTo>
                  <a:lnTo>
                    <a:pt x="1200912" y="90678"/>
                  </a:lnTo>
                  <a:lnTo>
                    <a:pt x="1201242" y="100926"/>
                  </a:lnTo>
                  <a:lnTo>
                    <a:pt x="1212913" y="142760"/>
                  </a:lnTo>
                  <a:lnTo>
                    <a:pt x="1245362" y="171196"/>
                  </a:lnTo>
                  <a:lnTo>
                    <a:pt x="1275334" y="176657"/>
                  </a:lnTo>
                  <a:lnTo>
                    <a:pt x="1281938" y="176657"/>
                  </a:lnTo>
                  <a:lnTo>
                    <a:pt x="1304925" y="171831"/>
                  </a:lnTo>
                  <a:lnTo>
                    <a:pt x="1309497" y="170434"/>
                  </a:lnTo>
                  <a:lnTo>
                    <a:pt x="1313434" y="168910"/>
                  </a:lnTo>
                  <a:lnTo>
                    <a:pt x="1316609" y="167259"/>
                  </a:lnTo>
                  <a:lnTo>
                    <a:pt x="1319911" y="165735"/>
                  </a:lnTo>
                  <a:lnTo>
                    <a:pt x="1323340" y="164084"/>
                  </a:lnTo>
                  <a:lnTo>
                    <a:pt x="1327023" y="162433"/>
                  </a:lnTo>
                  <a:lnTo>
                    <a:pt x="1327023" y="157607"/>
                  </a:lnTo>
                  <a:lnTo>
                    <a:pt x="1327023" y="136017"/>
                  </a:lnTo>
                  <a:lnTo>
                    <a:pt x="1325245" y="136017"/>
                  </a:lnTo>
                  <a:lnTo>
                    <a:pt x="1323594" y="137795"/>
                  </a:lnTo>
                  <a:lnTo>
                    <a:pt x="1321308" y="139827"/>
                  </a:lnTo>
                  <a:lnTo>
                    <a:pt x="1318260" y="142240"/>
                  </a:lnTo>
                  <a:lnTo>
                    <a:pt x="1315339" y="144653"/>
                  </a:lnTo>
                  <a:lnTo>
                    <a:pt x="1311783" y="147066"/>
                  </a:lnTo>
                  <a:lnTo>
                    <a:pt x="1303401" y="151765"/>
                  </a:lnTo>
                  <a:lnTo>
                    <a:pt x="1298575" y="153670"/>
                  </a:lnTo>
                  <a:lnTo>
                    <a:pt x="1293114" y="155194"/>
                  </a:lnTo>
                  <a:lnTo>
                    <a:pt x="1287780" y="156845"/>
                  </a:lnTo>
                  <a:lnTo>
                    <a:pt x="1281811" y="157607"/>
                  </a:lnTo>
                  <a:lnTo>
                    <a:pt x="1268476" y="157607"/>
                  </a:lnTo>
                  <a:lnTo>
                    <a:pt x="1261745" y="156210"/>
                  </a:lnTo>
                  <a:lnTo>
                    <a:pt x="1249299" y="150622"/>
                  </a:lnTo>
                  <a:lnTo>
                    <a:pt x="1243838" y="146431"/>
                  </a:lnTo>
                  <a:lnTo>
                    <a:pt x="1239266" y="140970"/>
                  </a:lnTo>
                  <a:lnTo>
                    <a:pt x="1234440" y="135255"/>
                  </a:lnTo>
                  <a:lnTo>
                    <a:pt x="1223899" y="90678"/>
                  </a:lnTo>
                  <a:lnTo>
                    <a:pt x="1224127" y="82880"/>
                  </a:lnTo>
                  <a:lnTo>
                    <a:pt x="1238631" y="40513"/>
                  </a:lnTo>
                  <a:lnTo>
                    <a:pt x="1268349" y="23368"/>
                  </a:lnTo>
                  <a:lnTo>
                    <a:pt x="1281938" y="23368"/>
                  </a:lnTo>
                  <a:lnTo>
                    <a:pt x="1320800" y="41275"/>
                  </a:lnTo>
                  <a:lnTo>
                    <a:pt x="1323213" y="43434"/>
                  </a:lnTo>
                  <a:lnTo>
                    <a:pt x="1325245" y="45212"/>
                  </a:lnTo>
                  <a:lnTo>
                    <a:pt x="1327023" y="45212"/>
                  </a:lnTo>
                  <a:lnTo>
                    <a:pt x="1327023" y="23368"/>
                  </a:lnTo>
                  <a:lnTo>
                    <a:pt x="1327023" y="18542"/>
                  </a:lnTo>
                  <a:close/>
                </a:path>
                <a:path w="1791970" h="217804">
                  <a:moveTo>
                    <a:pt x="1444625" y="111379"/>
                  </a:moveTo>
                  <a:lnTo>
                    <a:pt x="1443672" y="96570"/>
                  </a:lnTo>
                  <a:lnTo>
                    <a:pt x="1440815" y="83540"/>
                  </a:lnTo>
                  <a:lnTo>
                    <a:pt x="1436052" y="72275"/>
                  </a:lnTo>
                  <a:lnTo>
                    <a:pt x="1429994" y="63627"/>
                  </a:lnTo>
                  <a:lnTo>
                    <a:pt x="1429385" y="62738"/>
                  </a:lnTo>
                  <a:lnTo>
                    <a:pt x="1422908" y="56819"/>
                  </a:lnTo>
                  <a:lnTo>
                    <a:pt x="1422908" y="111379"/>
                  </a:lnTo>
                  <a:lnTo>
                    <a:pt x="1422349" y="122555"/>
                  </a:lnTo>
                  <a:lnTo>
                    <a:pt x="1403362" y="156057"/>
                  </a:lnTo>
                  <a:lnTo>
                    <a:pt x="1388999" y="159004"/>
                  </a:lnTo>
                  <a:lnTo>
                    <a:pt x="1381277" y="158267"/>
                  </a:lnTo>
                  <a:lnTo>
                    <a:pt x="1355382" y="122389"/>
                  </a:lnTo>
                  <a:lnTo>
                    <a:pt x="1354836" y="111379"/>
                  </a:lnTo>
                  <a:lnTo>
                    <a:pt x="1355382" y="100050"/>
                  </a:lnTo>
                  <a:lnTo>
                    <a:pt x="1374495" y="66586"/>
                  </a:lnTo>
                  <a:lnTo>
                    <a:pt x="1388999" y="63627"/>
                  </a:lnTo>
                  <a:lnTo>
                    <a:pt x="1396707" y="64376"/>
                  </a:lnTo>
                  <a:lnTo>
                    <a:pt x="1422349" y="100050"/>
                  </a:lnTo>
                  <a:lnTo>
                    <a:pt x="1422908" y="111379"/>
                  </a:lnTo>
                  <a:lnTo>
                    <a:pt x="1422908" y="56819"/>
                  </a:lnTo>
                  <a:lnTo>
                    <a:pt x="1421193" y="55245"/>
                  </a:lnTo>
                  <a:lnTo>
                    <a:pt x="1411706" y="49885"/>
                  </a:lnTo>
                  <a:lnTo>
                    <a:pt x="1400962" y="46672"/>
                  </a:lnTo>
                  <a:lnTo>
                    <a:pt x="1388999" y="45593"/>
                  </a:lnTo>
                  <a:lnTo>
                    <a:pt x="1377035" y="46672"/>
                  </a:lnTo>
                  <a:lnTo>
                    <a:pt x="1341818" y="72402"/>
                  </a:lnTo>
                  <a:lnTo>
                    <a:pt x="1333246" y="111379"/>
                  </a:lnTo>
                  <a:lnTo>
                    <a:pt x="1334173" y="125768"/>
                  </a:lnTo>
                  <a:lnTo>
                    <a:pt x="1356233" y="167157"/>
                  </a:lnTo>
                  <a:lnTo>
                    <a:pt x="1388999" y="177165"/>
                  </a:lnTo>
                  <a:lnTo>
                    <a:pt x="1400962" y="176098"/>
                  </a:lnTo>
                  <a:lnTo>
                    <a:pt x="1411706" y="172885"/>
                  </a:lnTo>
                  <a:lnTo>
                    <a:pt x="1421193" y="167525"/>
                  </a:lnTo>
                  <a:lnTo>
                    <a:pt x="1429385" y="160020"/>
                  </a:lnTo>
                  <a:lnTo>
                    <a:pt x="1430096" y="159004"/>
                  </a:lnTo>
                  <a:lnTo>
                    <a:pt x="1436052" y="150545"/>
                  </a:lnTo>
                  <a:lnTo>
                    <a:pt x="1440815" y="139280"/>
                  </a:lnTo>
                  <a:lnTo>
                    <a:pt x="1443672" y="126212"/>
                  </a:lnTo>
                  <a:lnTo>
                    <a:pt x="1444625" y="111379"/>
                  </a:lnTo>
                  <a:close/>
                </a:path>
                <a:path w="1791970" h="217804">
                  <a:moveTo>
                    <a:pt x="1569212" y="173609"/>
                  </a:moveTo>
                  <a:lnTo>
                    <a:pt x="1521028" y="113538"/>
                  </a:lnTo>
                  <a:lnTo>
                    <a:pt x="1511554" y="101727"/>
                  </a:lnTo>
                  <a:lnTo>
                    <a:pt x="1511046" y="101092"/>
                  </a:lnTo>
                  <a:lnTo>
                    <a:pt x="1562227" y="49022"/>
                  </a:lnTo>
                  <a:lnTo>
                    <a:pt x="1536192" y="49022"/>
                  </a:lnTo>
                  <a:lnTo>
                    <a:pt x="1486789" y="101727"/>
                  </a:lnTo>
                  <a:lnTo>
                    <a:pt x="1486789" y="0"/>
                  </a:lnTo>
                  <a:lnTo>
                    <a:pt x="1465834" y="0"/>
                  </a:lnTo>
                  <a:lnTo>
                    <a:pt x="1465834" y="173609"/>
                  </a:lnTo>
                  <a:lnTo>
                    <a:pt x="1486789" y="173609"/>
                  </a:lnTo>
                  <a:lnTo>
                    <a:pt x="1486789" y="121539"/>
                  </a:lnTo>
                  <a:lnTo>
                    <a:pt x="1495044" y="113538"/>
                  </a:lnTo>
                  <a:lnTo>
                    <a:pt x="1541653" y="173609"/>
                  </a:lnTo>
                  <a:lnTo>
                    <a:pt x="1569212" y="173609"/>
                  </a:lnTo>
                  <a:close/>
                </a:path>
                <a:path w="1791970" h="217804">
                  <a:moveTo>
                    <a:pt x="1679194" y="102108"/>
                  </a:moveTo>
                  <a:lnTo>
                    <a:pt x="1679041" y="97409"/>
                  </a:lnTo>
                  <a:lnTo>
                    <a:pt x="1678965" y="94945"/>
                  </a:lnTo>
                  <a:lnTo>
                    <a:pt x="1678317" y="88328"/>
                  </a:lnTo>
                  <a:lnTo>
                    <a:pt x="1668741" y="62865"/>
                  </a:lnTo>
                  <a:lnTo>
                    <a:pt x="1665478" y="59309"/>
                  </a:lnTo>
                  <a:lnTo>
                    <a:pt x="1660906" y="54610"/>
                  </a:lnTo>
                  <a:lnTo>
                    <a:pt x="1658874" y="53225"/>
                  </a:lnTo>
                  <a:lnTo>
                    <a:pt x="1658874" y="97409"/>
                  </a:lnTo>
                  <a:lnTo>
                    <a:pt x="1592834" y="97409"/>
                  </a:lnTo>
                  <a:lnTo>
                    <a:pt x="1593342" y="92202"/>
                  </a:lnTo>
                  <a:lnTo>
                    <a:pt x="1594358" y="87503"/>
                  </a:lnTo>
                  <a:lnTo>
                    <a:pt x="1596009" y="83566"/>
                  </a:lnTo>
                  <a:lnTo>
                    <a:pt x="1597660" y="79502"/>
                  </a:lnTo>
                  <a:lnTo>
                    <a:pt x="1613789" y="65405"/>
                  </a:lnTo>
                  <a:lnTo>
                    <a:pt x="1617726" y="63627"/>
                  </a:lnTo>
                  <a:lnTo>
                    <a:pt x="1622425" y="62865"/>
                  </a:lnTo>
                  <a:lnTo>
                    <a:pt x="1633728" y="62865"/>
                  </a:lnTo>
                  <a:lnTo>
                    <a:pt x="1658620" y="91821"/>
                  </a:lnTo>
                  <a:lnTo>
                    <a:pt x="1658874" y="97409"/>
                  </a:lnTo>
                  <a:lnTo>
                    <a:pt x="1658874" y="53225"/>
                  </a:lnTo>
                  <a:lnTo>
                    <a:pt x="1655699" y="51054"/>
                  </a:lnTo>
                  <a:lnTo>
                    <a:pt x="1649730" y="48895"/>
                  </a:lnTo>
                  <a:lnTo>
                    <a:pt x="1643888" y="46609"/>
                  </a:lnTo>
                  <a:lnTo>
                    <a:pt x="1637030" y="45593"/>
                  </a:lnTo>
                  <a:lnTo>
                    <a:pt x="1629283" y="45593"/>
                  </a:lnTo>
                  <a:lnTo>
                    <a:pt x="1587500" y="63500"/>
                  </a:lnTo>
                  <a:lnTo>
                    <a:pt x="1571498" y="112014"/>
                  </a:lnTo>
                  <a:lnTo>
                    <a:pt x="1572539" y="126644"/>
                  </a:lnTo>
                  <a:lnTo>
                    <a:pt x="1597050" y="167106"/>
                  </a:lnTo>
                  <a:lnTo>
                    <a:pt x="1634236" y="176530"/>
                  </a:lnTo>
                  <a:lnTo>
                    <a:pt x="1639316" y="176530"/>
                  </a:lnTo>
                  <a:lnTo>
                    <a:pt x="1643507" y="176276"/>
                  </a:lnTo>
                  <a:lnTo>
                    <a:pt x="1646809" y="175641"/>
                  </a:lnTo>
                  <a:lnTo>
                    <a:pt x="1650111" y="175133"/>
                  </a:lnTo>
                  <a:lnTo>
                    <a:pt x="1653794" y="174244"/>
                  </a:lnTo>
                  <a:lnTo>
                    <a:pt x="1660779" y="172339"/>
                  </a:lnTo>
                  <a:lnTo>
                    <a:pt x="1664081" y="171196"/>
                  </a:lnTo>
                  <a:lnTo>
                    <a:pt x="1667764" y="169672"/>
                  </a:lnTo>
                  <a:lnTo>
                    <a:pt x="1671447" y="168275"/>
                  </a:lnTo>
                  <a:lnTo>
                    <a:pt x="1674495" y="167005"/>
                  </a:lnTo>
                  <a:lnTo>
                    <a:pt x="1676908" y="166116"/>
                  </a:lnTo>
                  <a:lnTo>
                    <a:pt x="1676908" y="158242"/>
                  </a:lnTo>
                  <a:lnTo>
                    <a:pt x="1676908" y="143256"/>
                  </a:lnTo>
                  <a:lnTo>
                    <a:pt x="1675638" y="143256"/>
                  </a:lnTo>
                  <a:lnTo>
                    <a:pt x="1673987" y="144653"/>
                  </a:lnTo>
                  <a:lnTo>
                    <a:pt x="1671828" y="146177"/>
                  </a:lnTo>
                  <a:lnTo>
                    <a:pt x="1669161" y="147701"/>
                  </a:lnTo>
                  <a:lnTo>
                    <a:pt x="1666621" y="149352"/>
                  </a:lnTo>
                  <a:lnTo>
                    <a:pt x="1663446" y="151003"/>
                  </a:lnTo>
                  <a:lnTo>
                    <a:pt x="1659636" y="152654"/>
                  </a:lnTo>
                  <a:lnTo>
                    <a:pt x="1656080" y="154305"/>
                  </a:lnTo>
                  <a:lnTo>
                    <a:pt x="1652016" y="155702"/>
                  </a:lnTo>
                  <a:lnTo>
                    <a:pt x="1643126" y="157734"/>
                  </a:lnTo>
                  <a:lnTo>
                    <a:pt x="1638681" y="158242"/>
                  </a:lnTo>
                  <a:lnTo>
                    <a:pt x="1634109" y="158242"/>
                  </a:lnTo>
                  <a:lnTo>
                    <a:pt x="1598993" y="140385"/>
                  </a:lnTo>
                  <a:lnTo>
                    <a:pt x="1592834" y="113538"/>
                  </a:lnTo>
                  <a:lnTo>
                    <a:pt x="1679194" y="113538"/>
                  </a:lnTo>
                  <a:lnTo>
                    <a:pt x="1679194" y="102108"/>
                  </a:lnTo>
                  <a:close/>
                </a:path>
                <a:path w="1791970" h="217804">
                  <a:moveTo>
                    <a:pt x="1791970" y="99949"/>
                  </a:moveTo>
                  <a:lnTo>
                    <a:pt x="1783080" y="99949"/>
                  </a:lnTo>
                  <a:lnTo>
                    <a:pt x="1777492" y="99060"/>
                  </a:lnTo>
                  <a:lnTo>
                    <a:pt x="1773174" y="97155"/>
                  </a:lnTo>
                  <a:lnTo>
                    <a:pt x="1768729" y="95250"/>
                  </a:lnTo>
                  <a:lnTo>
                    <a:pt x="1765046" y="92456"/>
                  </a:lnTo>
                  <a:lnTo>
                    <a:pt x="1762379" y="88773"/>
                  </a:lnTo>
                  <a:lnTo>
                    <a:pt x="1759585" y="84963"/>
                  </a:lnTo>
                  <a:lnTo>
                    <a:pt x="1757680" y="80518"/>
                  </a:lnTo>
                  <a:lnTo>
                    <a:pt x="1756791" y="75311"/>
                  </a:lnTo>
                  <a:lnTo>
                    <a:pt x="1755775" y="70104"/>
                  </a:lnTo>
                  <a:lnTo>
                    <a:pt x="1755267" y="64897"/>
                  </a:lnTo>
                  <a:lnTo>
                    <a:pt x="1755267" y="43180"/>
                  </a:lnTo>
                  <a:lnTo>
                    <a:pt x="1754568" y="33235"/>
                  </a:lnTo>
                  <a:lnTo>
                    <a:pt x="1730476" y="2755"/>
                  </a:lnTo>
                  <a:lnTo>
                    <a:pt x="1712722" y="0"/>
                  </a:lnTo>
                  <a:lnTo>
                    <a:pt x="1699768" y="0"/>
                  </a:lnTo>
                  <a:lnTo>
                    <a:pt x="1699768" y="15367"/>
                  </a:lnTo>
                  <a:lnTo>
                    <a:pt x="1713103" y="15367"/>
                  </a:lnTo>
                  <a:lnTo>
                    <a:pt x="1716786" y="15875"/>
                  </a:lnTo>
                  <a:lnTo>
                    <a:pt x="1735328" y="39370"/>
                  </a:lnTo>
                  <a:lnTo>
                    <a:pt x="1735328" y="70739"/>
                  </a:lnTo>
                  <a:lnTo>
                    <a:pt x="1736090" y="75819"/>
                  </a:lnTo>
                  <a:lnTo>
                    <a:pt x="1738884" y="84201"/>
                  </a:lnTo>
                  <a:lnTo>
                    <a:pt x="1740916" y="88138"/>
                  </a:lnTo>
                  <a:lnTo>
                    <a:pt x="1743710" y="91694"/>
                  </a:lnTo>
                  <a:lnTo>
                    <a:pt x="1746123" y="94996"/>
                  </a:lnTo>
                  <a:lnTo>
                    <a:pt x="1749298" y="98044"/>
                  </a:lnTo>
                  <a:lnTo>
                    <a:pt x="1753362" y="100711"/>
                  </a:lnTo>
                  <a:lnTo>
                    <a:pt x="1757299" y="103505"/>
                  </a:lnTo>
                  <a:lnTo>
                    <a:pt x="1761363" y="105664"/>
                  </a:lnTo>
                  <a:lnTo>
                    <a:pt x="1765554" y="107315"/>
                  </a:lnTo>
                  <a:lnTo>
                    <a:pt x="1765554" y="110109"/>
                  </a:lnTo>
                  <a:lnTo>
                    <a:pt x="1761363" y="111760"/>
                  </a:lnTo>
                  <a:lnTo>
                    <a:pt x="1757299" y="113919"/>
                  </a:lnTo>
                  <a:lnTo>
                    <a:pt x="1753362" y="116713"/>
                  </a:lnTo>
                  <a:lnTo>
                    <a:pt x="1749298" y="119380"/>
                  </a:lnTo>
                  <a:lnTo>
                    <a:pt x="1746123" y="122428"/>
                  </a:lnTo>
                  <a:lnTo>
                    <a:pt x="1743710" y="125730"/>
                  </a:lnTo>
                  <a:lnTo>
                    <a:pt x="1740916" y="129286"/>
                  </a:lnTo>
                  <a:lnTo>
                    <a:pt x="1738884" y="133223"/>
                  </a:lnTo>
                  <a:lnTo>
                    <a:pt x="1736090" y="141605"/>
                  </a:lnTo>
                  <a:lnTo>
                    <a:pt x="1735328" y="146685"/>
                  </a:lnTo>
                  <a:lnTo>
                    <a:pt x="1735328" y="178054"/>
                  </a:lnTo>
                  <a:lnTo>
                    <a:pt x="1734693" y="182880"/>
                  </a:lnTo>
                  <a:lnTo>
                    <a:pt x="1713103" y="202057"/>
                  </a:lnTo>
                  <a:lnTo>
                    <a:pt x="1699768" y="202057"/>
                  </a:lnTo>
                  <a:lnTo>
                    <a:pt x="1699768" y="217424"/>
                  </a:lnTo>
                  <a:lnTo>
                    <a:pt x="1712722" y="217424"/>
                  </a:lnTo>
                  <a:lnTo>
                    <a:pt x="1722120" y="216738"/>
                  </a:lnTo>
                  <a:lnTo>
                    <a:pt x="1752460" y="192887"/>
                  </a:lnTo>
                  <a:lnTo>
                    <a:pt x="1755267" y="174244"/>
                  </a:lnTo>
                  <a:lnTo>
                    <a:pt x="1755267" y="152527"/>
                  </a:lnTo>
                  <a:lnTo>
                    <a:pt x="1755775" y="147320"/>
                  </a:lnTo>
                  <a:lnTo>
                    <a:pt x="1756867" y="141605"/>
                  </a:lnTo>
                  <a:lnTo>
                    <a:pt x="1757680" y="136906"/>
                  </a:lnTo>
                  <a:lnTo>
                    <a:pt x="1759585" y="132461"/>
                  </a:lnTo>
                  <a:lnTo>
                    <a:pt x="1762379" y="128651"/>
                  </a:lnTo>
                  <a:lnTo>
                    <a:pt x="1765046" y="124968"/>
                  </a:lnTo>
                  <a:lnTo>
                    <a:pt x="1768729" y="122174"/>
                  </a:lnTo>
                  <a:lnTo>
                    <a:pt x="1773174" y="120269"/>
                  </a:lnTo>
                  <a:lnTo>
                    <a:pt x="1777492" y="118364"/>
                  </a:lnTo>
                  <a:lnTo>
                    <a:pt x="1783080" y="117475"/>
                  </a:lnTo>
                  <a:lnTo>
                    <a:pt x="1791970" y="117475"/>
                  </a:lnTo>
                  <a:lnTo>
                    <a:pt x="1791970" y="99949"/>
                  </a:lnTo>
                  <a:close/>
                </a:path>
              </a:pathLst>
            </a:custGeom>
            <a:solidFill>
              <a:srgbClr val="D3D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1894" y="4753609"/>
              <a:ext cx="1363345" cy="21970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732649" y="4753609"/>
              <a:ext cx="1074420" cy="217804"/>
            </a:xfrm>
            <a:custGeom>
              <a:avLst/>
              <a:gdLst/>
              <a:ahLst/>
              <a:cxnLst/>
              <a:rect l="l" t="t" r="r" b="b"/>
              <a:pathLst>
                <a:path w="1074420" h="217804">
                  <a:moveTo>
                    <a:pt x="62865" y="90805"/>
                  </a:moveTo>
                  <a:lnTo>
                    <a:pt x="0" y="90805"/>
                  </a:lnTo>
                  <a:lnTo>
                    <a:pt x="0" y="110998"/>
                  </a:lnTo>
                  <a:lnTo>
                    <a:pt x="62865" y="110998"/>
                  </a:lnTo>
                  <a:lnTo>
                    <a:pt x="62865" y="90805"/>
                  </a:lnTo>
                  <a:close/>
                </a:path>
                <a:path w="1074420" h="217804">
                  <a:moveTo>
                    <a:pt x="148590" y="90805"/>
                  </a:moveTo>
                  <a:lnTo>
                    <a:pt x="85725" y="90805"/>
                  </a:lnTo>
                  <a:lnTo>
                    <a:pt x="85725" y="110998"/>
                  </a:lnTo>
                  <a:lnTo>
                    <a:pt x="148590" y="110998"/>
                  </a:lnTo>
                  <a:lnTo>
                    <a:pt x="148590" y="90805"/>
                  </a:lnTo>
                  <a:close/>
                </a:path>
                <a:path w="1074420" h="217804">
                  <a:moveTo>
                    <a:pt x="305181" y="94234"/>
                  </a:moveTo>
                  <a:lnTo>
                    <a:pt x="185293" y="36957"/>
                  </a:lnTo>
                  <a:lnTo>
                    <a:pt x="185293" y="56769"/>
                  </a:lnTo>
                  <a:lnTo>
                    <a:pt x="278384" y="100838"/>
                  </a:lnTo>
                  <a:lnTo>
                    <a:pt x="185293" y="145034"/>
                  </a:lnTo>
                  <a:lnTo>
                    <a:pt x="185293" y="164846"/>
                  </a:lnTo>
                  <a:lnTo>
                    <a:pt x="305181" y="107569"/>
                  </a:lnTo>
                  <a:lnTo>
                    <a:pt x="305181" y="94234"/>
                  </a:lnTo>
                  <a:close/>
                </a:path>
                <a:path w="1074420" h="217804">
                  <a:moveTo>
                    <a:pt x="488823" y="0"/>
                  </a:moveTo>
                  <a:lnTo>
                    <a:pt x="475869" y="0"/>
                  </a:lnTo>
                  <a:lnTo>
                    <a:pt x="466407" y="698"/>
                  </a:lnTo>
                  <a:lnTo>
                    <a:pt x="436118" y="24536"/>
                  </a:lnTo>
                  <a:lnTo>
                    <a:pt x="433324" y="43180"/>
                  </a:lnTo>
                  <a:lnTo>
                    <a:pt x="433324" y="64897"/>
                  </a:lnTo>
                  <a:lnTo>
                    <a:pt x="432816" y="70104"/>
                  </a:lnTo>
                  <a:lnTo>
                    <a:pt x="405511" y="99949"/>
                  </a:lnTo>
                  <a:lnTo>
                    <a:pt x="396621" y="99949"/>
                  </a:lnTo>
                  <a:lnTo>
                    <a:pt x="396621" y="117475"/>
                  </a:lnTo>
                  <a:lnTo>
                    <a:pt x="405511" y="117475"/>
                  </a:lnTo>
                  <a:lnTo>
                    <a:pt x="410972" y="118364"/>
                  </a:lnTo>
                  <a:lnTo>
                    <a:pt x="433324" y="152527"/>
                  </a:lnTo>
                  <a:lnTo>
                    <a:pt x="433324" y="174244"/>
                  </a:lnTo>
                  <a:lnTo>
                    <a:pt x="434009" y="184200"/>
                  </a:lnTo>
                  <a:lnTo>
                    <a:pt x="458050" y="214668"/>
                  </a:lnTo>
                  <a:lnTo>
                    <a:pt x="475869" y="217424"/>
                  </a:lnTo>
                  <a:lnTo>
                    <a:pt x="488823" y="217424"/>
                  </a:lnTo>
                  <a:lnTo>
                    <a:pt x="488823" y="202057"/>
                  </a:lnTo>
                  <a:lnTo>
                    <a:pt x="475488" y="202057"/>
                  </a:lnTo>
                  <a:lnTo>
                    <a:pt x="471678" y="201549"/>
                  </a:lnTo>
                  <a:lnTo>
                    <a:pt x="468503" y="200660"/>
                  </a:lnTo>
                  <a:lnTo>
                    <a:pt x="465201" y="199771"/>
                  </a:lnTo>
                  <a:lnTo>
                    <a:pt x="462534" y="198247"/>
                  </a:lnTo>
                  <a:lnTo>
                    <a:pt x="460248" y="196088"/>
                  </a:lnTo>
                  <a:lnTo>
                    <a:pt x="457835" y="193929"/>
                  </a:lnTo>
                  <a:lnTo>
                    <a:pt x="456184" y="190754"/>
                  </a:lnTo>
                  <a:lnTo>
                    <a:pt x="454914" y="186817"/>
                  </a:lnTo>
                  <a:lnTo>
                    <a:pt x="453771" y="182880"/>
                  </a:lnTo>
                  <a:lnTo>
                    <a:pt x="453263" y="178054"/>
                  </a:lnTo>
                  <a:lnTo>
                    <a:pt x="453263" y="146685"/>
                  </a:lnTo>
                  <a:lnTo>
                    <a:pt x="452501" y="141605"/>
                  </a:lnTo>
                  <a:lnTo>
                    <a:pt x="449707" y="133223"/>
                  </a:lnTo>
                  <a:lnTo>
                    <a:pt x="447675" y="129286"/>
                  </a:lnTo>
                  <a:lnTo>
                    <a:pt x="444881" y="125730"/>
                  </a:lnTo>
                  <a:lnTo>
                    <a:pt x="442341" y="122428"/>
                  </a:lnTo>
                  <a:lnTo>
                    <a:pt x="439166" y="119380"/>
                  </a:lnTo>
                  <a:lnTo>
                    <a:pt x="435229" y="116713"/>
                  </a:lnTo>
                  <a:lnTo>
                    <a:pt x="431292" y="113919"/>
                  </a:lnTo>
                  <a:lnTo>
                    <a:pt x="427228" y="111760"/>
                  </a:lnTo>
                  <a:lnTo>
                    <a:pt x="423037" y="110109"/>
                  </a:lnTo>
                  <a:lnTo>
                    <a:pt x="423037" y="107315"/>
                  </a:lnTo>
                  <a:lnTo>
                    <a:pt x="427228" y="105664"/>
                  </a:lnTo>
                  <a:lnTo>
                    <a:pt x="431292" y="103505"/>
                  </a:lnTo>
                  <a:lnTo>
                    <a:pt x="435229" y="100711"/>
                  </a:lnTo>
                  <a:lnTo>
                    <a:pt x="439166" y="98044"/>
                  </a:lnTo>
                  <a:lnTo>
                    <a:pt x="442468" y="94996"/>
                  </a:lnTo>
                  <a:lnTo>
                    <a:pt x="444881" y="91694"/>
                  </a:lnTo>
                  <a:lnTo>
                    <a:pt x="447675" y="88138"/>
                  </a:lnTo>
                  <a:lnTo>
                    <a:pt x="449707" y="84201"/>
                  </a:lnTo>
                  <a:lnTo>
                    <a:pt x="452501" y="75819"/>
                  </a:lnTo>
                  <a:lnTo>
                    <a:pt x="453263" y="70739"/>
                  </a:lnTo>
                  <a:lnTo>
                    <a:pt x="453263" y="39370"/>
                  </a:lnTo>
                  <a:lnTo>
                    <a:pt x="453771" y="34544"/>
                  </a:lnTo>
                  <a:lnTo>
                    <a:pt x="454914" y="30607"/>
                  </a:lnTo>
                  <a:lnTo>
                    <a:pt x="456184" y="26670"/>
                  </a:lnTo>
                  <a:lnTo>
                    <a:pt x="457835" y="23495"/>
                  </a:lnTo>
                  <a:lnTo>
                    <a:pt x="460248" y="21336"/>
                  </a:lnTo>
                  <a:lnTo>
                    <a:pt x="462534" y="19177"/>
                  </a:lnTo>
                  <a:lnTo>
                    <a:pt x="465328" y="17653"/>
                  </a:lnTo>
                  <a:lnTo>
                    <a:pt x="471678" y="15875"/>
                  </a:lnTo>
                  <a:lnTo>
                    <a:pt x="475488" y="15367"/>
                  </a:lnTo>
                  <a:lnTo>
                    <a:pt x="488823" y="15367"/>
                  </a:lnTo>
                  <a:lnTo>
                    <a:pt x="488823" y="0"/>
                  </a:lnTo>
                  <a:close/>
                </a:path>
                <a:path w="1074420" h="217804">
                  <a:moveTo>
                    <a:pt x="633857" y="122682"/>
                  </a:moveTo>
                  <a:lnTo>
                    <a:pt x="623392" y="93472"/>
                  </a:lnTo>
                  <a:lnTo>
                    <a:pt x="621220" y="91109"/>
                  </a:lnTo>
                  <a:lnTo>
                    <a:pt x="615899" y="87045"/>
                  </a:lnTo>
                  <a:lnTo>
                    <a:pt x="610870" y="84416"/>
                  </a:lnTo>
                  <a:lnTo>
                    <a:pt x="610870" y="117348"/>
                  </a:lnTo>
                  <a:lnTo>
                    <a:pt x="610870" y="129413"/>
                  </a:lnTo>
                  <a:lnTo>
                    <a:pt x="578485" y="154305"/>
                  </a:lnTo>
                  <a:lnTo>
                    <a:pt x="570865" y="154813"/>
                  </a:lnTo>
                  <a:lnTo>
                    <a:pt x="543179" y="154813"/>
                  </a:lnTo>
                  <a:lnTo>
                    <a:pt x="543179" y="93472"/>
                  </a:lnTo>
                  <a:lnTo>
                    <a:pt x="575945" y="93472"/>
                  </a:lnTo>
                  <a:lnTo>
                    <a:pt x="581787" y="93726"/>
                  </a:lnTo>
                  <a:lnTo>
                    <a:pt x="590042" y="94742"/>
                  </a:lnTo>
                  <a:lnTo>
                    <a:pt x="593852" y="95885"/>
                  </a:lnTo>
                  <a:lnTo>
                    <a:pt x="597408" y="97790"/>
                  </a:lnTo>
                  <a:lnTo>
                    <a:pt x="602742" y="100584"/>
                  </a:lnTo>
                  <a:lnTo>
                    <a:pt x="606425" y="104013"/>
                  </a:lnTo>
                  <a:lnTo>
                    <a:pt x="609981" y="112141"/>
                  </a:lnTo>
                  <a:lnTo>
                    <a:pt x="610870" y="117348"/>
                  </a:lnTo>
                  <a:lnTo>
                    <a:pt x="610870" y="84416"/>
                  </a:lnTo>
                  <a:lnTo>
                    <a:pt x="609739" y="83820"/>
                  </a:lnTo>
                  <a:lnTo>
                    <a:pt x="602742" y="81407"/>
                  </a:lnTo>
                  <a:lnTo>
                    <a:pt x="602742" y="80518"/>
                  </a:lnTo>
                  <a:lnTo>
                    <a:pt x="609981" y="76962"/>
                  </a:lnTo>
                  <a:lnTo>
                    <a:pt x="612228" y="75057"/>
                  </a:lnTo>
                  <a:lnTo>
                    <a:pt x="615696" y="72136"/>
                  </a:lnTo>
                  <a:lnTo>
                    <a:pt x="619887" y="65913"/>
                  </a:lnTo>
                  <a:lnTo>
                    <a:pt x="623951" y="59817"/>
                  </a:lnTo>
                  <a:lnTo>
                    <a:pt x="625868" y="53213"/>
                  </a:lnTo>
                  <a:lnTo>
                    <a:pt x="625919" y="37719"/>
                  </a:lnTo>
                  <a:lnTo>
                    <a:pt x="624713" y="31877"/>
                  </a:lnTo>
                  <a:lnTo>
                    <a:pt x="602996" y="11176"/>
                  </a:lnTo>
                  <a:lnTo>
                    <a:pt x="602996" y="44069"/>
                  </a:lnTo>
                  <a:lnTo>
                    <a:pt x="602996" y="53213"/>
                  </a:lnTo>
                  <a:lnTo>
                    <a:pt x="593725" y="69469"/>
                  </a:lnTo>
                  <a:lnTo>
                    <a:pt x="590296" y="71755"/>
                  </a:lnTo>
                  <a:lnTo>
                    <a:pt x="586867" y="73279"/>
                  </a:lnTo>
                  <a:lnTo>
                    <a:pt x="583565" y="73914"/>
                  </a:lnTo>
                  <a:lnTo>
                    <a:pt x="580390" y="74676"/>
                  </a:lnTo>
                  <a:lnTo>
                    <a:pt x="575183" y="75057"/>
                  </a:lnTo>
                  <a:lnTo>
                    <a:pt x="543179" y="75057"/>
                  </a:lnTo>
                  <a:lnTo>
                    <a:pt x="543179" y="26289"/>
                  </a:lnTo>
                  <a:lnTo>
                    <a:pt x="572135" y="26289"/>
                  </a:lnTo>
                  <a:lnTo>
                    <a:pt x="578231" y="26543"/>
                  </a:lnTo>
                  <a:lnTo>
                    <a:pt x="582549" y="27051"/>
                  </a:lnTo>
                  <a:lnTo>
                    <a:pt x="586994" y="27432"/>
                  </a:lnTo>
                  <a:lnTo>
                    <a:pt x="602996" y="44069"/>
                  </a:lnTo>
                  <a:lnTo>
                    <a:pt x="602996" y="11176"/>
                  </a:lnTo>
                  <a:lnTo>
                    <a:pt x="565150" y="7493"/>
                  </a:lnTo>
                  <a:lnTo>
                    <a:pt x="521081" y="7493"/>
                  </a:lnTo>
                  <a:lnTo>
                    <a:pt x="521081" y="173609"/>
                  </a:lnTo>
                  <a:lnTo>
                    <a:pt x="568833" y="173609"/>
                  </a:lnTo>
                  <a:lnTo>
                    <a:pt x="610235" y="165100"/>
                  </a:lnTo>
                  <a:lnTo>
                    <a:pt x="622808" y="154813"/>
                  </a:lnTo>
                  <a:lnTo>
                    <a:pt x="625983" y="150876"/>
                  </a:lnTo>
                  <a:lnTo>
                    <a:pt x="632333" y="138176"/>
                  </a:lnTo>
                  <a:lnTo>
                    <a:pt x="633857" y="130937"/>
                  </a:lnTo>
                  <a:lnTo>
                    <a:pt x="633857" y="122682"/>
                  </a:lnTo>
                  <a:close/>
                </a:path>
                <a:path w="1074420" h="217804">
                  <a:moveTo>
                    <a:pt x="751840" y="102108"/>
                  </a:moveTo>
                  <a:lnTo>
                    <a:pt x="751687" y="97409"/>
                  </a:lnTo>
                  <a:lnTo>
                    <a:pt x="751611" y="94945"/>
                  </a:lnTo>
                  <a:lnTo>
                    <a:pt x="750963" y="88328"/>
                  </a:lnTo>
                  <a:lnTo>
                    <a:pt x="741387" y="62865"/>
                  </a:lnTo>
                  <a:lnTo>
                    <a:pt x="738124" y="59309"/>
                  </a:lnTo>
                  <a:lnTo>
                    <a:pt x="733552" y="54610"/>
                  </a:lnTo>
                  <a:lnTo>
                    <a:pt x="731520" y="53225"/>
                  </a:lnTo>
                  <a:lnTo>
                    <a:pt x="731520" y="97409"/>
                  </a:lnTo>
                  <a:lnTo>
                    <a:pt x="665480" y="97409"/>
                  </a:lnTo>
                  <a:lnTo>
                    <a:pt x="665988" y="92202"/>
                  </a:lnTo>
                  <a:lnTo>
                    <a:pt x="667004" y="87503"/>
                  </a:lnTo>
                  <a:lnTo>
                    <a:pt x="668655" y="83566"/>
                  </a:lnTo>
                  <a:lnTo>
                    <a:pt x="670306" y="79502"/>
                  </a:lnTo>
                  <a:lnTo>
                    <a:pt x="686435" y="65405"/>
                  </a:lnTo>
                  <a:lnTo>
                    <a:pt x="690372" y="63627"/>
                  </a:lnTo>
                  <a:lnTo>
                    <a:pt x="695071" y="62865"/>
                  </a:lnTo>
                  <a:lnTo>
                    <a:pt x="706374" y="62865"/>
                  </a:lnTo>
                  <a:lnTo>
                    <a:pt x="731266" y="91821"/>
                  </a:lnTo>
                  <a:lnTo>
                    <a:pt x="731520" y="97409"/>
                  </a:lnTo>
                  <a:lnTo>
                    <a:pt x="731520" y="53225"/>
                  </a:lnTo>
                  <a:lnTo>
                    <a:pt x="728345" y="51054"/>
                  </a:lnTo>
                  <a:lnTo>
                    <a:pt x="722376" y="48895"/>
                  </a:lnTo>
                  <a:lnTo>
                    <a:pt x="716534" y="46609"/>
                  </a:lnTo>
                  <a:lnTo>
                    <a:pt x="709676" y="45593"/>
                  </a:lnTo>
                  <a:lnTo>
                    <a:pt x="701929" y="45593"/>
                  </a:lnTo>
                  <a:lnTo>
                    <a:pt x="660146" y="63500"/>
                  </a:lnTo>
                  <a:lnTo>
                    <a:pt x="644144" y="112014"/>
                  </a:lnTo>
                  <a:lnTo>
                    <a:pt x="645185" y="126644"/>
                  </a:lnTo>
                  <a:lnTo>
                    <a:pt x="669696" y="167106"/>
                  </a:lnTo>
                  <a:lnTo>
                    <a:pt x="706882" y="176530"/>
                  </a:lnTo>
                  <a:lnTo>
                    <a:pt x="711962" y="176530"/>
                  </a:lnTo>
                  <a:lnTo>
                    <a:pt x="716153" y="176276"/>
                  </a:lnTo>
                  <a:lnTo>
                    <a:pt x="719455" y="175641"/>
                  </a:lnTo>
                  <a:lnTo>
                    <a:pt x="722757" y="175133"/>
                  </a:lnTo>
                  <a:lnTo>
                    <a:pt x="726440" y="174244"/>
                  </a:lnTo>
                  <a:lnTo>
                    <a:pt x="733425" y="172339"/>
                  </a:lnTo>
                  <a:lnTo>
                    <a:pt x="736727" y="171196"/>
                  </a:lnTo>
                  <a:lnTo>
                    <a:pt x="740410" y="169672"/>
                  </a:lnTo>
                  <a:lnTo>
                    <a:pt x="744093" y="168275"/>
                  </a:lnTo>
                  <a:lnTo>
                    <a:pt x="747141" y="167005"/>
                  </a:lnTo>
                  <a:lnTo>
                    <a:pt x="749554" y="166116"/>
                  </a:lnTo>
                  <a:lnTo>
                    <a:pt x="749554" y="158242"/>
                  </a:lnTo>
                  <a:lnTo>
                    <a:pt x="749554" y="143256"/>
                  </a:lnTo>
                  <a:lnTo>
                    <a:pt x="748284" y="143256"/>
                  </a:lnTo>
                  <a:lnTo>
                    <a:pt x="746633" y="144653"/>
                  </a:lnTo>
                  <a:lnTo>
                    <a:pt x="744474" y="146177"/>
                  </a:lnTo>
                  <a:lnTo>
                    <a:pt x="741807" y="147701"/>
                  </a:lnTo>
                  <a:lnTo>
                    <a:pt x="739267" y="149352"/>
                  </a:lnTo>
                  <a:lnTo>
                    <a:pt x="736092" y="151003"/>
                  </a:lnTo>
                  <a:lnTo>
                    <a:pt x="732282" y="152654"/>
                  </a:lnTo>
                  <a:lnTo>
                    <a:pt x="728726" y="154305"/>
                  </a:lnTo>
                  <a:lnTo>
                    <a:pt x="724662" y="155702"/>
                  </a:lnTo>
                  <a:lnTo>
                    <a:pt x="715772" y="157734"/>
                  </a:lnTo>
                  <a:lnTo>
                    <a:pt x="711327" y="158242"/>
                  </a:lnTo>
                  <a:lnTo>
                    <a:pt x="706755" y="158242"/>
                  </a:lnTo>
                  <a:lnTo>
                    <a:pt x="671639" y="140385"/>
                  </a:lnTo>
                  <a:lnTo>
                    <a:pt x="665480" y="113538"/>
                  </a:lnTo>
                  <a:lnTo>
                    <a:pt x="751840" y="113538"/>
                  </a:lnTo>
                  <a:lnTo>
                    <a:pt x="751840" y="102108"/>
                  </a:lnTo>
                  <a:close/>
                </a:path>
                <a:path w="1074420" h="217804">
                  <a:moveTo>
                    <a:pt x="875665" y="102108"/>
                  </a:moveTo>
                  <a:lnTo>
                    <a:pt x="875512" y="97409"/>
                  </a:lnTo>
                  <a:lnTo>
                    <a:pt x="875436" y="94945"/>
                  </a:lnTo>
                  <a:lnTo>
                    <a:pt x="874788" y="88328"/>
                  </a:lnTo>
                  <a:lnTo>
                    <a:pt x="865212" y="62865"/>
                  </a:lnTo>
                  <a:lnTo>
                    <a:pt x="861949" y="59309"/>
                  </a:lnTo>
                  <a:lnTo>
                    <a:pt x="857377" y="54610"/>
                  </a:lnTo>
                  <a:lnTo>
                    <a:pt x="855345" y="53225"/>
                  </a:lnTo>
                  <a:lnTo>
                    <a:pt x="855345" y="97409"/>
                  </a:lnTo>
                  <a:lnTo>
                    <a:pt x="789305" y="97409"/>
                  </a:lnTo>
                  <a:lnTo>
                    <a:pt x="789813" y="92202"/>
                  </a:lnTo>
                  <a:lnTo>
                    <a:pt x="790829" y="87503"/>
                  </a:lnTo>
                  <a:lnTo>
                    <a:pt x="792480" y="83566"/>
                  </a:lnTo>
                  <a:lnTo>
                    <a:pt x="794131" y="79502"/>
                  </a:lnTo>
                  <a:lnTo>
                    <a:pt x="810260" y="65405"/>
                  </a:lnTo>
                  <a:lnTo>
                    <a:pt x="814197" y="63627"/>
                  </a:lnTo>
                  <a:lnTo>
                    <a:pt x="818896" y="62865"/>
                  </a:lnTo>
                  <a:lnTo>
                    <a:pt x="830199" y="62865"/>
                  </a:lnTo>
                  <a:lnTo>
                    <a:pt x="855091" y="91821"/>
                  </a:lnTo>
                  <a:lnTo>
                    <a:pt x="855345" y="97409"/>
                  </a:lnTo>
                  <a:lnTo>
                    <a:pt x="855345" y="53225"/>
                  </a:lnTo>
                  <a:lnTo>
                    <a:pt x="852170" y="51054"/>
                  </a:lnTo>
                  <a:lnTo>
                    <a:pt x="846201" y="48895"/>
                  </a:lnTo>
                  <a:lnTo>
                    <a:pt x="840359" y="46609"/>
                  </a:lnTo>
                  <a:lnTo>
                    <a:pt x="833501" y="45593"/>
                  </a:lnTo>
                  <a:lnTo>
                    <a:pt x="825754" y="45593"/>
                  </a:lnTo>
                  <a:lnTo>
                    <a:pt x="783971" y="63500"/>
                  </a:lnTo>
                  <a:lnTo>
                    <a:pt x="767969" y="112014"/>
                  </a:lnTo>
                  <a:lnTo>
                    <a:pt x="769010" y="126644"/>
                  </a:lnTo>
                  <a:lnTo>
                    <a:pt x="793521" y="167106"/>
                  </a:lnTo>
                  <a:lnTo>
                    <a:pt x="830707" y="176530"/>
                  </a:lnTo>
                  <a:lnTo>
                    <a:pt x="835787" y="176530"/>
                  </a:lnTo>
                  <a:lnTo>
                    <a:pt x="839978" y="176276"/>
                  </a:lnTo>
                  <a:lnTo>
                    <a:pt x="843280" y="175641"/>
                  </a:lnTo>
                  <a:lnTo>
                    <a:pt x="846582" y="175133"/>
                  </a:lnTo>
                  <a:lnTo>
                    <a:pt x="850265" y="174244"/>
                  </a:lnTo>
                  <a:lnTo>
                    <a:pt x="857250" y="172339"/>
                  </a:lnTo>
                  <a:lnTo>
                    <a:pt x="860552" y="171196"/>
                  </a:lnTo>
                  <a:lnTo>
                    <a:pt x="864235" y="169672"/>
                  </a:lnTo>
                  <a:lnTo>
                    <a:pt x="867918" y="168275"/>
                  </a:lnTo>
                  <a:lnTo>
                    <a:pt x="870966" y="167005"/>
                  </a:lnTo>
                  <a:lnTo>
                    <a:pt x="873379" y="166116"/>
                  </a:lnTo>
                  <a:lnTo>
                    <a:pt x="873379" y="158242"/>
                  </a:lnTo>
                  <a:lnTo>
                    <a:pt x="873379" y="143256"/>
                  </a:lnTo>
                  <a:lnTo>
                    <a:pt x="872109" y="143256"/>
                  </a:lnTo>
                  <a:lnTo>
                    <a:pt x="870458" y="144653"/>
                  </a:lnTo>
                  <a:lnTo>
                    <a:pt x="868299" y="146177"/>
                  </a:lnTo>
                  <a:lnTo>
                    <a:pt x="865632" y="147701"/>
                  </a:lnTo>
                  <a:lnTo>
                    <a:pt x="863092" y="149352"/>
                  </a:lnTo>
                  <a:lnTo>
                    <a:pt x="859917" y="151003"/>
                  </a:lnTo>
                  <a:lnTo>
                    <a:pt x="856107" y="152654"/>
                  </a:lnTo>
                  <a:lnTo>
                    <a:pt x="852551" y="154305"/>
                  </a:lnTo>
                  <a:lnTo>
                    <a:pt x="848487" y="155702"/>
                  </a:lnTo>
                  <a:lnTo>
                    <a:pt x="839597" y="157734"/>
                  </a:lnTo>
                  <a:lnTo>
                    <a:pt x="835152" y="158242"/>
                  </a:lnTo>
                  <a:lnTo>
                    <a:pt x="830580" y="158242"/>
                  </a:lnTo>
                  <a:lnTo>
                    <a:pt x="795464" y="140385"/>
                  </a:lnTo>
                  <a:lnTo>
                    <a:pt x="789305" y="113538"/>
                  </a:lnTo>
                  <a:lnTo>
                    <a:pt x="875665" y="113538"/>
                  </a:lnTo>
                  <a:lnTo>
                    <a:pt x="875665" y="102108"/>
                  </a:lnTo>
                  <a:close/>
                </a:path>
                <a:path w="1074420" h="217804">
                  <a:moveTo>
                    <a:pt x="966470" y="49657"/>
                  </a:moveTo>
                  <a:lnTo>
                    <a:pt x="965200" y="49403"/>
                  </a:lnTo>
                  <a:lnTo>
                    <a:pt x="963930" y="49276"/>
                  </a:lnTo>
                  <a:lnTo>
                    <a:pt x="961771" y="49022"/>
                  </a:lnTo>
                  <a:lnTo>
                    <a:pt x="952627" y="49022"/>
                  </a:lnTo>
                  <a:lnTo>
                    <a:pt x="947166" y="50419"/>
                  </a:lnTo>
                  <a:lnTo>
                    <a:pt x="935736" y="56007"/>
                  </a:lnTo>
                  <a:lnTo>
                    <a:pt x="929132" y="60706"/>
                  </a:lnTo>
                  <a:lnTo>
                    <a:pt x="921385" y="67564"/>
                  </a:lnTo>
                  <a:lnTo>
                    <a:pt x="921385" y="49022"/>
                  </a:lnTo>
                  <a:lnTo>
                    <a:pt x="900430" y="49022"/>
                  </a:lnTo>
                  <a:lnTo>
                    <a:pt x="900430" y="173609"/>
                  </a:lnTo>
                  <a:lnTo>
                    <a:pt x="921385" y="173609"/>
                  </a:lnTo>
                  <a:lnTo>
                    <a:pt x="921385" y="85217"/>
                  </a:lnTo>
                  <a:lnTo>
                    <a:pt x="926465" y="80264"/>
                  </a:lnTo>
                  <a:lnTo>
                    <a:pt x="931672" y="76708"/>
                  </a:lnTo>
                  <a:lnTo>
                    <a:pt x="937260" y="74168"/>
                  </a:lnTo>
                  <a:lnTo>
                    <a:pt x="942848" y="71755"/>
                  </a:lnTo>
                  <a:lnTo>
                    <a:pt x="948436" y="70485"/>
                  </a:lnTo>
                  <a:lnTo>
                    <a:pt x="956564" y="70485"/>
                  </a:lnTo>
                  <a:lnTo>
                    <a:pt x="958723" y="70612"/>
                  </a:lnTo>
                  <a:lnTo>
                    <a:pt x="962152" y="70866"/>
                  </a:lnTo>
                  <a:lnTo>
                    <a:pt x="963803" y="71120"/>
                  </a:lnTo>
                  <a:lnTo>
                    <a:pt x="965454" y="71501"/>
                  </a:lnTo>
                  <a:lnTo>
                    <a:pt x="966470" y="71501"/>
                  </a:lnTo>
                  <a:lnTo>
                    <a:pt x="966470" y="70485"/>
                  </a:lnTo>
                  <a:lnTo>
                    <a:pt x="966470" y="67564"/>
                  </a:lnTo>
                  <a:lnTo>
                    <a:pt x="966470" y="49657"/>
                  </a:lnTo>
                  <a:close/>
                </a:path>
                <a:path w="1074420" h="217804">
                  <a:moveTo>
                    <a:pt x="1074166" y="99949"/>
                  </a:moveTo>
                  <a:lnTo>
                    <a:pt x="1065276" y="99949"/>
                  </a:lnTo>
                  <a:lnTo>
                    <a:pt x="1059688" y="99060"/>
                  </a:lnTo>
                  <a:lnTo>
                    <a:pt x="1055370" y="97155"/>
                  </a:lnTo>
                  <a:lnTo>
                    <a:pt x="1050925" y="95250"/>
                  </a:lnTo>
                  <a:lnTo>
                    <a:pt x="1047242" y="92456"/>
                  </a:lnTo>
                  <a:lnTo>
                    <a:pt x="1044575" y="88773"/>
                  </a:lnTo>
                  <a:lnTo>
                    <a:pt x="1041781" y="84963"/>
                  </a:lnTo>
                  <a:lnTo>
                    <a:pt x="1039876" y="80518"/>
                  </a:lnTo>
                  <a:lnTo>
                    <a:pt x="1038987" y="75311"/>
                  </a:lnTo>
                  <a:lnTo>
                    <a:pt x="1037971" y="70104"/>
                  </a:lnTo>
                  <a:lnTo>
                    <a:pt x="1037463" y="64897"/>
                  </a:lnTo>
                  <a:lnTo>
                    <a:pt x="1037463" y="43180"/>
                  </a:lnTo>
                  <a:lnTo>
                    <a:pt x="1036764" y="33235"/>
                  </a:lnTo>
                  <a:lnTo>
                    <a:pt x="1012672" y="2755"/>
                  </a:lnTo>
                  <a:lnTo>
                    <a:pt x="994918" y="0"/>
                  </a:lnTo>
                  <a:lnTo>
                    <a:pt x="981964" y="0"/>
                  </a:lnTo>
                  <a:lnTo>
                    <a:pt x="981964" y="15367"/>
                  </a:lnTo>
                  <a:lnTo>
                    <a:pt x="995299" y="15367"/>
                  </a:lnTo>
                  <a:lnTo>
                    <a:pt x="998982" y="15875"/>
                  </a:lnTo>
                  <a:lnTo>
                    <a:pt x="1017524" y="39370"/>
                  </a:lnTo>
                  <a:lnTo>
                    <a:pt x="1017524" y="70739"/>
                  </a:lnTo>
                  <a:lnTo>
                    <a:pt x="1018286" y="75819"/>
                  </a:lnTo>
                  <a:lnTo>
                    <a:pt x="1021080" y="84201"/>
                  </a:lnTo>
                  <a:lnTo>
                    <a:pt x="1023112" y="88138"/>
                  </a:lnTo>
                  <a:lnTo>
                    <a:pt x="1025906" y="91694"/>
                  </a:lnTo>
                  <a:lnTo>
                    <a:pt x="1028319" y="94996"/>
                  </a:lnTo>
                  <a:lnTo>
                    <a:pt x="1031494" y="98044"/>
                  </a:lnTo>
                  <a:lnTo>
                    <a:pt x="1035558" y="100711"/>
                  </a:lnTo>
                  <a:lnTo>
                    <a:pt x="1039495" y="103505"/>
                  </a:lnTo>
                  <a:lnTo>
                    <a:pt x="1043559" y="105664"/>
                  </a:lnTo>
                  <a:lnTo>
                    <a:pt x="1047750" y="107315"/>
                  </a:lnTo>
                  <a:lnTo>
                    <a:pt x="1047750" y="110109"/>
                  </a:lnTo>
                  <a:lnTo>
                    <a:pt x="1043559" y="111760"/>
                  </a:lnTo>
                  <a:lnTo>
                    <a:pt x="1039495" y="113919"/>
                  </a:lnTo>
                  <a:lnTo>
                    <a:pt x="1035558" y="116713"/>
                  </a:lnTo>
                  <a:lnTo>
                    <a:pt x="1031494" y="119380"/>
                  </a:lnTo>
                  <a:lnTo>
                    <a:pt x="1028319" y="122428"/>
                  </a:lnTo>
                  <a:lnTo>
                    <a:pt x="1025906" y="125730"/>
                  </a:lnTo>
                  <a:lnTo>
                    <a:pt x="1023112" y="129286"/>
                  </a:lnTo>
                  <a:lnTo>
                    <a:pt x="1021080" y="133223"/>
                  </a:lnTo>
                  <a:lnTo>
                    <a:pt x="1018286" y="141605"/>
                  </a:lnTo>
                  <a:lnTo>
                    <a:pt x="1017524" y="146685"/>
                  </a:lnTo>
                  <a:lnTo>
                    <a:pt x="1017524" y="178054"/>
                  </a:lnTo>
                  <a:lnTo>
                    <a:pt x="1016889" y="182880"/>
                  </a:lnTo>
                  <a:lnTo>
                    <a:pt x="995299" y="202057"/>
                  </a:lnTo>
                  <a:lnTo>
                    <a:pt x="981964" y="202057"/>
                  </a:lnTo>
                  <a:lnTo>
                    <a:pt x="981964" y="217424"/>
                  </a:lnTo>
                  <a:lnTo>
                    <a:pt x="994918" y="217424"/>
                  </a:lnTo>
                  <a:lnTo>
                    <a:pt x="1004316" y="216738"/>
                  </a:lnTo>
                  <a:lnTo>
                    <a:pt x="1034656" y="192887"/>
                  </a:lnTo>
                  <a:lnTo>
                    <a:pt x="1037463" y="174244"/>
                  </a:lnTo>
                  <a:lnTo>
                    <a:pt x="1037463" y="152527"/>
                  </a:lnTo>
                  <a:lnTo>
                    <a:pt x="1037971" y="147320"/>
                  </a:lnTo>
                  <a:lnTo>
                    <a:pt x="1039063" y="141605"/>
                  </a:lnTo>
                  <a:lnTo>
                    <a:pt x="1039876" y="136906"/>
                  </a:lnTo>
                  <a:lnTo>
                    <a:pt x="1041781" y="132461"/>
                  </a:lnTo>
                  <a:lnTo>
                    <a:pt x="1044575" y="128651"/>
                  </a:lnTo>
                  <a:lnTo>
                    <a:pt x="1047242" y="124968"/>
                  </a:lnTo>
                  <a:lnTo>
                    <a:pt x="1050925" y="122174"/>
                  </a:lnTo>
                  <a:lnTo>
                    <a:pt x="1055370" y="120269"/>
                  </a:lnTo>
                  <a:lnTo>
                    <a:pt x="1059688" y="118364"/>
                  </a:lnTo>
                  <a:lnTo>
                    <a:pt x="1065276" y="117475"/>
                  </a:lnTo>
                  <a:lnTo>
                    <a:pt x="1074166" y="117475"/>
                  </a:lnTo>
                  <a:lnTo>
                    <a:pt x="1074166" y="99949"/>
                  </a:lnTo>
                  <a:close/>
                </a:path>
              </a:pathLst>
            </a:custGeom>
            <a:solidFill>
              <a:srgbClr val="D3D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10250" y="3971925"/>
              <a:ext cx="3038475" cy="990600"/>
            </a:xfrm>
            <a:custGeom>
              <a:avLst/>
              <a:gdLst/>
              <a:ahLst/>
              <a:cxnLst/>
              <a:rect l="l" t="t" r="r" b="b"/>
              <a:pathLst>
                <a:path w="3038475" h="990600">
                  <a:moveTo>
                    <a:pt x="3038475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3038475" y="990600"/>
                  </a:lnTo>
                  <a:lnTo>
                    <a:pt x="3038475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896609" y="3978041"/>
            <a:ext cx="2860675" cy="93853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2000" b="1" spc="35" dirty="0">
                <a:latin typeface="Arial"/>
                <a:cs typeface="Arial"/>
              </a:rPr>
              <a:t>Rules</a:t>
            </a:r>
            <a:r>
              <a:rPr sz="2000" b="1" spc="-190" dirty="0">
                <a:latin typeface="Arial"/>
                <a:cs typeface="Arial"/>
              </a:rPr>
              <a:t> </a:t>
            </a:r>
            <a:r>
              <a:rPr sz="2000" b="1" spc="20" dirty="0">
                <a:latin typeface="Arial"/>
                <a:cs typeface="Arial"/>
              </a:rPr>
              <a:t>Discovered:</a:t>
            </a:r>
            <a:endParaRPr sz="2000"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spcBef>
                <a:spcPts val="204"/>
              </a:spcBef>
            </a:pPr>
            <a:r>
              <a:rPr sz="1800" spc="-5" dirty="0">
                <a:solidFill>
                  <a:srgbClr val="CC0000"/>
                </a:solidFill>
                <a:latin typeface="Tahoma"/>
                <a:cs typeface="Tahoma"/>
              </a:rPr>
              <a:t>{Milk} </a:t>
            </a:r>
            <a:r>
              <a:rPr sz="1800" spc="10" dirty="0">
                <a:solidFill>
                  <a:srgbClr val="CC0000"/>
                </a:solidFill>
                <a:latin typeface="Tahoma"/>
                <a:cs typeface="Tahoma"/>
              </a:rPr>
              <a:t>--&gt;</a:t>
            </a:r>
            <a:r>
              <a:rPr sz="1800" spc="-7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CC0000"/>
                </a:solidFill>
                <a:latin typeface="Tahoma"/>
                <a:cs typeface="Tahoma"/>
              </a:rPr>
              <a:t>{Coke}</a:t>
            </a:r>
            <a:endParaRPr sz="180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  <a:spcBef>
                <a:spcPts val="15"/>
              </a:spcBef>
            </a:pPr>
            <a:r>
              <a:rPr sz="1800" spc="-25" dirty="0">
                <a:solidFill>
                  <a:srgbClr val="CC0000"/>
                </a:solidFill>
                <a:latin typeface="Tahoma"/>
                <a:cs typeface="Tahoma"/>
              </a:rPr>
              <a:t>{Diaper, </a:t>
            </a:r>
            <a:r>
              <a:rPr sz="1800" spc="-10" dirty="0">
                <a:solidFill>
                  <a:srgbClr val="CC0000"/>
                </a:solidFill>
                <a:latin typeface="Tahoma"/>
                <a:cs typeface="Tahoma"/>
              </a:rPr>
              <a:t>Milk} </a:t>
            </a:r>
            <a:r>
              <a:rPr sz="1800" spc="10" dirty="0">
                <a:solidFill>
                  <a:srgbClr val="CC0000"/>
                </a:solidFill>
                <a:latin typeface="Tahoma"/>
                <a:cs typeface="Tahoma"/>
              </a:rPr>
              <a:t>--&gt;</a:t>
            </a:r>
            <a:r>
              <a:rPr sz="1800" spc="-7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CC0000"/>
                </a:solidFill>
                <a:latin typeface="Tahoma"/>
                <a:cs typeface="Tahoma"/>
              </a:rPr>
              <a:t>{Beer}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633249" y="1646532"/>
          <a:ext cx="3450590" cy="17331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3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7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47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300" b="1" i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Basket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3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Items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049">
                <a:tc>
                  <a:txBody>
                    <a:bodyPr/>
                    <a:lstStyle/>
                    <a:p>
                      <a:pPr marL="77470">
                        <a:lnSpc>
                          <a:spcPts val="1760"/>
                        </a:lnSpc>
                      </a:pPr>
                      <a:r>
                        <a:rPr sz="1500" b="1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760"/>
                        </a:lnSpc>
                      </a:pPr>
                      <a:r>
                        <a:rPr sz="1500" b="1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Bread, </a:t>
                      </a:r>
                      <a:r>
                        <a:rPr sz="1500" b="1" spc="-5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Coke,</a:t>
                      </a:r>
                      <a:r>
                        <a:rPr sz="1500" b="1" spc="-15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Milk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782">
                <a:tc>
                  <a:txBody>
                    <a:bodyPr/>
                    <a:lstStyle/>
                    <a:p>
                      <a:pPr marL="77470">
                        <a:lnSpc>
                          <a:spcPts val="1760"/>
                        </a:lnSpc>
                      </a:pPr>
                      <a:r>
                        <a:rPr sz="1500" b="1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760"/>
                        </a:lnSpc>
                      </a:pPr>
                      <a:r>
                        <a:rPr sz="1500" b="1" spc="-5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Beer, Bread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038">
                <a:tc>
                  <a:txBody>
                    <a:bodyPr/>
                    <a:lstStyle/>
                    <a:p>
                      <a:pPr marL="77470">
                        <a:lnSpc>
                          <a:spcPts val="1670"/>
                        </a:lnSpc>
                      </a:pPr>
                      <a:r>
                        <a:rPr sz="1500" b="1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670"/>
                        </a:lnSpc>
                      </a:pPr>
                      <a:r>
                        <a:rPr sz="1500" b="1" spc="-5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Beer, Coke, Diaper,</a:t>
                      </a:r>
                      <a:r>
                        <a:rPr sz="1500" b="1" spc="-10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Milk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011">
                <a:tc>
                  <a:txBody>
                    <a:bodyPr/>
                    <a:lstStyle/>
                    <a:p>
                      <a:pPr marL="77470">
                        <a:lnSpc>
                          <a:spcPts val="1670"/>
                        </a:lnSpc>
                      </a:pPr>
                      <a:r>
                        <a:rPr sz="1500" b="1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670"/>
                        </a:lnSpc>
                      </a:pPr>
                      <a:r>
                        <a:rPr sz="1500" b="1" spc="-5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Beer, Bread, Diaper, </a:t>
                      </a:r>
                      <a:r>
                        <a:rPr sz="1500" b="1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Milk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778">
                <a:tc>
                  <a:txBody>
                    <a:bodyPr/>
                    <a:lstStyle/>
                    <a:p>
                      <a:pPr marL="77470">
                        <a:lnSpc>
                          <a:spcPts val="1760"/>
                        </a:lnSpc>
                      </a:pPr>
                      <a:r>
                        <a:rPr sz="1500" b="1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760"/>
                        </a:lnSpc>
                      </a:pPr>
                      <a:r>
                        <a:rPr sz="1500" b="1" spc="-5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Coke, Diaper,</a:t>
                      </a:r>
                      <a:r>
                        <a:rPr sz="1500" b="1" spc="-10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Milk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5648578" y="1185862"/>
            <a:ext cx="6178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5" dirty="0">
                <a:latin typeface="Corbel"/>
                <a:cs typeface="Corbel"/>
              </a:rPr>
              <a:t>I</a:t>
            </a:r>
            <a:r>
              <a:rPr sz="1800" b="1" spc="-25" dirty="0">
                <a:latin typeface="Corbel"/>
                <a:cs typeface="Corbel"/>
              </a:rPr>
              <a:t>n</a:t>
            </a:r>
            <a:r>
              <a:rPr sz="1800" b="1" spc="-15" dirty="0">
                <a:latin typeface="Corbel"/>
                <a:cs typeface="Corbel"/>
              </a:rPr>
              <a:t>p</a:t>
            </a:r>
            <a:r>
              <a:rPr sz="1800" b="1" dirty="0">
                <a:latin typeface="Corbel"/>
                <a:cs typeface="Corbel"/>
              </a:rPr>
              <a:t>u</a:t>
            </a:r>
            <a:r>
              <a:rPr sz="1800" b="1" spc="-15" dirty="0">
                <a:latin typeface="Corbel"/>
                <a:cs typeface="Corbel"/>
              </a:rPr>
              <a:t>t</a:t>
            </a:r>
            <a:r>
              <a:rPr sz="1800" b="1" dirty="0">
                <a:latin typeface="Corbel"/>
                <a:cs typeface="Corbel"/>
              </a:rPr>
              <a:t>: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34634" y="3612197"/>
            <a:ext cx="8070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5" dirty="0">
                <a:latin typeface="Corbel"/>
                <a:cs typeface="Corbel"/>
              </a:rPr>
              <a:t>O</a:t>
            </a:r>
            <a:r>
              <a:rPr sz="1800" b="1" spc="-10" dirty="0">
                <a:latin typeface="Corbel"/>
                <a:cs typeface="Corbel"/>
              </a:rPr>
              <a:t>ut</a:t>
            </a:r>
            <a:r>
              <a:rPr sz="1800" b="1" spc="-20" dirty="0">
                <a:latin typeface="Corbel"/>
                <a:cs typeface="Corbel"/>
              </a:rPr>
              <a:t>p</a:t>
            </a:r>
            <a:r>
              <a:rPr sz="1800" b="1" spc="-10" dirty="0">
                <a:latin typeface="Corbel"/>
                <a:cs typeface="Corbel"/>
              </a:rPr>
              <a:t>ut</a:t>
            </a:r>
            <a:r>
              <a:rPr sz="1800" b="1" dirty="0">
                <a:latin typeface="Corbel"/>
                <a:cs typeface="Corbel"/>
              </a:rPr>
              <a:t>: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5D78DB0-88DB-43F6-ADF6-EAA84D8BA8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61886"/>
            <a:ext cx="4491101" cy="5476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347787"/>
            <a:ext cx="7245984" cy="1499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6550" indent="-337185">
              <a:lnSpc>
                <a:spcPts val="3835"/>
              </a:lnSpc>
              <a:spcBef>
                <a:spcPts val="12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Simplest question: </a:t>
            </a:r>
            <a:r>
              <a:rPr sz="3200" spc="20" dirty="0">
                <a:latin typeface="Calibri"/>
                <a:cs typeface="Calibri"/>
              </a:rPr>
              <a:t>Find </a:t>
            </a:r>
            <a:r>
              <a:rPr sz="3200" spc="-5" dirty="0">
                <a:latin typeface="Calibri"/>
                <a:cs typeface="Calibri"/>
              </a:rPr>
              <a:t>sets </a:t>
            </a:r>
            <a:r>
              <a:rPr sz="3200" spc="20" dirty="0">
                <a:latin typeface="Calibri"/>
                <a:cs typeface="Calibri"/>
              </a:rPr>
              <a:t>of </a:t>
            </a:r>
            <a:r>
              <a:rPr sz="3200" spc="-5" dirty="0">
                <a:latin typeface="Calibri"/>
                <a:cs typeface="Calibri"/>
              </a:rPr>
              <a:t>items</a:t>
            </a:r>
            <a:r>
              <a:rPr sz="3200" spc="-49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that</a:t>
            </a:r>
            <a:endParaRPr sz="3200">
              <a:latin typeface="Calibri"/>
              <a:cs typeface="Calibri"/>
            </a:endParaRPr>
          </a:p>
          <a:p>
            <a:pPr marL="17780" algn="ctr">
              <a:lnSpc>
                <a:spcPts val="3835"/>
              </a:lnSpc>
            </a:pPr>
            <a:r>
              <a:rPr sz="3200" spc="25" dirty="0">
                <a:latin typeface="Calibri"/>
                <a:cs typeface="Calibri"/>
              </a:rPr>
              <a:t>appear </a:t>
            </a:r>
            <a:r>
              <a:rPr sz="3200" spc="-5" dirty="0">
                <a:latin typeface="Calibri"/>
                <a:cs typeface="Calibri"/>
              </a:rPr>
              <a:t>together </a:t>
            </a:r>
            <a:r>
              <a:rPr sz="3200" spc="5" dirty="0">
                <a:latin typeface="Calibri"/>
                <a:cs typeface="Calibri"/>
              </a:rPr>
              <a:t>“frequently” </a:t>
            </a:r>
            <a:r>
              <a:rPr sz="3200" spc="10" dirty="0">
                <a:latin typeface="Calibri"/>
                <a:cs typeface="Calibri"/>
              </a:rPr>
              <a:t>in</a:t>
            </a:r>
            <a:r>
              <a:rPr sz="3200" spc="-3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baskets</a:t>
            </a:r>
            <a:endParaRPr sz="3200">
              <a:latin typeface="Calibri"/>
              <a:cs typeface="Calibri"/>
            </a:endParaRPr>
          </a:p>
          <a:p>
            <a:pPr marL="336550" indent="-324485">
              <a:lnSpc>
                <a:spcPct val="100000"/>
              </a:lnSpc>
              <a:spcBef>
                <a:spcPts val="6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i="1" spc="20" dirty="0">
                <a:solidFill>
                  <a:srgbClr val="0000FF"/>
                </a:solidFill>
                <a:latin typeface="Calibri"/>
                <a:cs typeface="Calibri"/>
              </a:rPr>
              <a:t>Support </a:t>
            </a:r>
            <a:r>
              <a:rPr sz="3200" spc="-15" dirty="0">
                <a:latin typeface="Calibri"/>
                <a:cs typeface="Calibri"/>
              </a:rPr>
              <a:t>for </a:t>
            </a:r>
            <a:r>
              <a:rPr sz="3200" spc="-5" dirty="0">
                <a:latin typeface="Calibri"/>
                <a:cs typeface="Calibri"/>
              </a:rPr>
              <a:t>itemset </a:t>
            </a:r>
            <a:r>
              <a:rPr sz="3200" b="1" i="1" spc="15" dirty="0">
                <a:latin typeface="Times New Roman"/>
                <a:cs typeface="Times New Roman"/>
              </a:rPr>
              <a:t>I</a:t>
            </a:r>
            <a:r>
              <a:rPr sz="3200" i="1" spc="15" dirty="0">
                <a:latin typeface="Calibri"/>
                <a:cs typeface="Calibri"/>
              </a:rPr>
              <a:t>: </a:t>
            </a:r>
            <a:r>
              <a:rPr sz="3200" spc="15" dirty="0">
                <a:latin typeface="Calibri"/>
                <a:cs typeface="Calibri"/>
              </a:rPr>
              <a:t>Number </a:t>
            </a:r>
            <a:r>
              <a:rPr sz="3200" spc="20" dirty="0">
                <a:latin typeface="Calibri"/>
                <a:cs typeface="Calibri"/>
              </a:rPr>
              <a:t>of</a:t>
            </a:r>
            <a:r>
              <a:rPr sz="3200" spc="-48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baskets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4362" y="2721205"/>
            <a:ext cx="5339715" cy="336931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875"/>
              </a:spcBef>
            </a:pPr>
            <a:r>
              <a:rPr sz="3200" spc="10" dirty="0">
                <a:latin typeface="Calibri"/>
                <a:cs typeface="Calibri"/>
              </a:rPr>
              <a:t>containing </a:t>
            </a:r>
            <a:r>
              <a:rPr sz="3200" spc="15" dirty="0">
                <a:latin typeface="Calibri"/>
                <a:cs typeface="Calibri"/>
              </a:rPr>
              <a:t>all </a:t>
            </a:r>
            <a:r>
              <a:rPr sz="3200" spc="-5" dirty="0">
                <a:latin typeface="Calibri"/>
                <a:cs typeface="Calibri"/>
              </a:rPr>
              <a:t>items </a:t>
            </a:r>
            <a:r>
              <a:rPr sz="3200" spc="10" dirty="0">
                <a:latin typeface="Calibri"/>
                <a:cs typeface="Calibri"/>
              </a:rPr>
              <a:t>in</a:t>
            </a:r>
            <a:r>
              <a:rPr sz="3200" spc="-320" dirty="0">
                <a:latin typeface="Calibri"/>
                <a:cs typeface="Calibri"/>
              </a:rPr>
              <a:t> </a:t>
            </a:r>
            <a:r>
              <a:rPr sz="3200" b="1" i="1" spc="10" dirty="0"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  <a:p>
            <a:pPr marL="632460" marR="847725" indent="-276860">
              <a:lnSpc>
                <a:spcPct val="101699"/>
              </a:lnSpc>
              <a:spcBef>
                <a:spcPts val="52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400" spc="5" dirty="0">
                <a:solidFill>
                  <a:srgbClr val="7E7E7E"/>
                </a:solidFill>
                <a:latin typeface="Calibri"/>
                <a:cs typeface="Calibri"/>
              </a:rPr>
              <a:t>(Often expressed </a:t>
            </a:r>
            <a:r>
              <a:rPr sz="2400" spc="-15" dirty="0">
                <a:solidFill>
                  <a:srgbClr val="7E7E7E"/>
                </a:solidFill>
                <a:latin typeface="Calibri"/>
                <a:cs typeface="Calibri"/>
              </a:rPr>
              <a:t>as </a:t>
            </a:r>
            <a:r>
              <a:rPr sz="2400" dirty="0">
                <a:solidFill>
                  <a:srgbClr val="7E7E7E"/>
                </a:solidFill>
                <a:latin typeface="Calibri"/>
                <a:cs typeface="Calibri"/>
              </a:rPr>
              <a:t>a </a:t>
            </a:r>
            <a:r>
              <a:rPr sz="2400" spc="-15" dirty="0">
                <a:solidFill>
                  <a:srgbClr val="7E7E7E"/>
                </a:solidFill>
                <a:latin typeface="Calibri"/>
                <a:cs typeface="Calibri"/>
              </a:rPr>
              <a:t>fraction  </a:t>
            </a:r>
            <a:r>
              <a:rPr sz="2400" dirty="0">
                <a:solidFill>
                  <a:srgbClr val="7E7E7E"/>
                </a:solidFill>
                <a:latin typeface="Calibri"/>
                <a:cs typeface="Calibri"/>
              </a:rPr>
              <a:t>of </a:t>
            </a:r>
            <a:r>
              <a:rPr sz="2400" spc="5" dirty="0">
                <a:solidFill>
                  <a:srgbClr val="7E7E7E"/>
                </a:solidFill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7E7E7E"/>
                </a:solidFill>
                <a:latin typeface="Calibri"/>
                <a:cs typeface="Calibri"/>
              </a:rPr>
              <a:t>total </a:t>
            </a:r>
            <a:r>
              <a:rPr sz="2400" spc="10" dirty="0">
                <a:solidFill>
                  <a:srgbClr val="7E7E7E"/>
                </a:solidFill>
                <a:latin typeface="Calibri"/>
                <a:cs typeface="Calibri"/>
              </a:rPr>
              <a:t>number </a:t>
            </a:r>
            <a:r>
              <a:rPr sz="2400" dirty="0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sz="2400" spc="-3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E7E7E"/>
                </a:solidFill>
                <a:latin typeface="Calibri"/>
                <a:cs typeface="Calibri"/>
              </a:rPr>
              <a:t>baskets)</a:t>
            </a:r>
            <a:endParaRPr sz="2400">
              <a:latin typeface="Calibri"/>
              <a:cs typeface="Calibri"/>
            </a:endParaRPr>
          </a:p>
          <a:p>
            <a:pPr marL="336550" marR="5080" indent="-324485">
              <a:lnSpc>
                <a:spcPts val="3829"/>
              </a:lnSpc>
              <a:spcBef>
                <a:spcPts val="6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-5" dirty="0">
                <a:latin typeface="Calibri"/>
                <a:cs typeface="Calibri"/>
              </a:rPr>
              <a:t>Given </a:t>
            </a:r>
            <a:r>
              <a:rPr sz="3200" spc="10" dirty="0">
                <a:latin typeface="Calibri"/>
                <a:cs typeface="Calibri"/>
              </a:rPr>
              <a:t>a </a:t>
            </a:r>
            <a:r>
              <a:rPr sz="3200" b="1" i="1" spc="20" dirty="0">
                <a:solidFill>
                  <a:srgbClr val="0000FF"/>
                </a:solidFill>
                <a:latin typeface="Calibri"/>
                <a:cs typeface="Calibri"/>
              </a:rPr>
              <a:t>support threshold </a:t>
            </a:r>
            <a:r>
              <a:rPr sz="3200" b="1" i="1" spc="1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3200" spc="15" dirty="0">
                <a:latin typeface="Calibri"/>
                <a:cs typeface="Calibri"/>
              </a:rPr>
              <a:t>,  </a:t>
            </a:r>
            <a:r>
              <a:rPr sz="3200" dirty="0">
                <a:latin typeface="Calibri"/>
                <a:cs typeface="Calibri"/>
              </a:rPr>
              <a:t>then </a:t>
            </a:r>
            <a:r>
              <a:rPr sz="3200" spc="-5" dirty="0">
                <a:latin typeface="Calibri"/>
                <a:cs typeface="Calibri"/>
              </a:rPr>
              <a:t>sets </a:t>
            </a:r>
            <a:r>
              <a:rPr sz="3200" spc="20" dirty="0">
                <a:latin typeface="Calibri"/>
                <a:cs typeface="Calibri"/>
              </a:rPr>
              <a:t>of </a:t>
            </a:r>
            <a:r>
              <a:rPr sz="3200" spc="-5" dirty="0">
                <a:latin typeface="Calibri"/>
                <a:cs typeface="Calibri"/>
              </a:rPr>
              <a:t>items </a:t>
            </a:r>
            <a:r>
              <a:rPr sz="3200" spc="15" dirty="0">
                <a:latin typeface="Calibri"/>
                <a:cs typeface="Calibri"/>
              </a:rPr>
              <a:t>that</a:t>
            </a:r>
            <a:r>
              <a:rPr sz="3200" spc="-260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appear</a:t>
            </a:r>
            <a:endParaRPr sz="3200">
              <a:latin typeface="Calibri"/>
              <a:cs typeface="Calibri"/>
            </a:endParaRPr>
          </a:p>
          <a:p>
            <a:pPr marL="336550">
              <a:lnSpc>
                <a:spcPts val="3775"/>
              </a:lnSpc>
            </a:pPr>
            <a:r>
              <a:rPr sz="3200" spc="10" dirty="0">
                <a:latin typeface="Calibri"/>
                <a:cs typeface="Calibri"/>
              </a:rPr>
              <a:t>in </a:t>
            </a:r>
            <a:r>
              <a:rPr sz="3200" spc="20" dirty="0">
                <a:latin typeface="Calibri"/>
                <a:cs typeface="Calibri"/>
              </a:rPr>
              <a:t>at </a:t>
            </a:r>
            <a:r>
              <a:rPr sz="3200" spc="10" dirty="0">
                <a:latin typeface="Calibri"/>
                <a:cs typeface="Calibri"/>
              </a:rPr>
              <a:t>least </a:t>
            </a:r>
            <a:r>
              <a:rPr sz="3200" b="1" i="1" spc="10" dirty="0">
                <a:latin typeface="Times New Roman"/>
                <a:cs typeface="Times New Roman"/>
              </a:rPr>
              <a:t>s </a:t>
            </a:r>
            <a:r>
              <a:rPr sz="3200" spc="5" dirty="0">
                <a:latin typeface="Calibri"/>
                <a:cs typeface="Calibri"/>
              </a:rPr>
              <a:t>baskets</a:t>
            </a:r>
            <a:r>
              <a:rPr sz="3200" spc="-5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are </a:t>
            </a:r>
            <a:r>
              <a:rPr sz="3200" spc="10" dirty="0">
                <a:latin typeface="Calibri"/>
                <a:cs typeface="Calibri"/>
              </a:rPr>
              <a:t>called</a:t>
            </a:r>
            <a:endParaRPr sz="3200">
              <a:latin typeface="Calibri"/>
              <a:cs typeface="Calibri"/>
            </a:endParaRPr>
          </a:p>
          <a:p>
            <a:pPr marL="336550">
              <a:lnSpc>
                <a:spcPts val="3835"/>
              </a:lnSpc>
            </a:pPr>
            <a:r>
              <a:rPr sz="3200" b="1" i="1" spc="15" dirty="0">
                <a:solidFill>
                  <a:srgbClr val="FF0066"/>
                </a:solidFill>
                <a:latin typeface="Calibri"/>
                <a:cs typeface="Calibri"/>
              </a:rPr>
              <a:t>frequent</a:t>
            </a:r>
            <a:r>
              <a:rPr sz="3200" b="1" i="1" spc="-20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b="1" i="1" spc="15" dirty="0">
                <a:solidFill>
                  <a:srgbClr val="FF0066"/>
                </a:solidFill>
                <a:latin typeface="Calibri"/>
                <a:cs typeface="Calibri"/>
              </a:rPr>
              <a:t>itemsets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96320" y="3200036"/>
            <a:ext cx="2967355" cy="15875"/>
            <a:chOff x="6096320" y="3200036"/>
            <a:chExt cx="2967355" cy="15875"/>
          </a:xfrm>
        </p:grpSpPr>
        <p:sp>
          <p:nvSpPr>
            <p:cNvPr id="6" name="object 6"/>
            <p:cNvSpPr/>
            <p:nvPr/>
          </p:nvSpPr>
          <p:spPr>
            <a:xfrm>
              <a:off x="6096320" y="3200442"/>
              <a:ext cx="531495" cy="15240"/>
            </a:xfrm>
            <a:custGeom>
              <a:avLst/>
              <a:gdLst/>
              <a:ahLst/>
              <a:cxnLst/>
              <a:rect l="l" t="t" r="r" b="b"/>
              <a:pathLst>
                <a:path w="531495" h="15239">
                  <a:moveTo>
                    <a:pt x="531335" y="0"/>
                  </a:moveTo>
                  <a:lnTo>
                    <a:pt x="0" y="0"/>
                  </a:lnTo>
                  <a:lnTo>
                    <a:pt x="0" y="15221"/>
                  </a:lnTo>
                  <a:lnTo>
                    <a:pt x="531335" y="15221"/>
                  </a:lnTo>
                  <a:lnTo>
                    <a:pt x="5313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6630" y="3200746"/>
              <a:ext cx="530860" cy="0"/>
            </a:xfrm>
            <a:custGeom>
              <a:avLst/>
              <a:gdLst/>
              <a:ahLst/>
              <a:cxnLst/>
              <a:rect l="l" t="t" r="r" b="b"/>
              <a:pathLst>
                <a:path w="530859">
                  <a:moveTo>
                    <a:pt x="0" y="0"/>
                  </a:moveTo>
                  <a:lnTo>
                    <a:pt x="5307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27655" y="3200442"/>
              <a:ext cx="15875" cy="15240"/>
            </a:xfrm>
            <a:custGeom>
              <a:avLst/>
              <a:gdLst/>
              <a:ahLst/>
              <a:cxnLst/>
              <a:rect l="l" t="t" r="r" b="b"/>
              <a:pathLst>
                <a:path w="15875" h="15239">
                  <a:moveTo>
                    <a:pt x="15475" y="0"/>
                  </a:moveTo>
                  <a:lnTo>
                    <a:pt x="0" y="0"/>
                  </a:lnTo>
                  <a:lnTo>
                    <a:pt x="0" y="15221"/>
                  </a:lnTo>
                  <a:lnTo>
                    <a:pt x="15475" y="15221"/>
                  </a:lnTo>
                  <a:lnTo>
                    <a:pt x="15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27965" y="3200746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>
                  <a:moveTo>
                    <a:pt x="0" y="0"/>
                  </a:moveTo>
                  <a:lnTo>
                    <a:pt x="1485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43131" y="3200442"/>
              <a:ext cx="2420620" cy="15240"/>
            </a:xfrm>
            <a:custGeom>
              <a:avLst/>
              <a:gdLst/>
              <a:ahLst/>
              <a:cxnLst/>
              <a:rect l="l" t="t" r="r" b="b"/>
              <a:pathLst>
                <a:path w="2420620" h="15239">
                  <a:moveTo>
                    <a:pt x="2420206" y="0"/>
                  </a:moveTo>
                  <a:lnTo>
                    <a:pt x="0" y="0"/>
                  </a:lnTo>
                  <a:lnTo>
                    <a:pt x="0" y="15221"/>
                  </a:lnTo>
                  <a:lnTo>
                    <a:pt x="2420206" y="15221"/>
                  </a:lnTo>
                  <a:lnTo>
                    <a:pt x="24202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43441" y="3200746"/>
              <a:ext cx="2419985" cy="0"/>
            </a:xfrm>
            <a:custGeom>
              <a:avLst/>
              <a:gdLst/>
              <a:ahLst/>
              <a:cxnLst/>
              <a:rect l="l" t="t" r="r" b="b"/>
              <a:pathLst>
                <a:path w="2419984">
                  <a:moveTo>
                    <a:pt x="0" y="0"/>
                  </a:moveTo>
                  <a:lnTo>
                    <a:pt x="241958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096320" y="4665902"/>
            <a:ext cx="2967355" cy="15875"/>
            <a:chOff x="6096320" y="4665902"/>
            <a:chExt cx="2967355" cy="15875"/>
          </a:xfrm>
        </p:grpSpPr>
        <p:sp>
          <p:nvSpPr>
            <p:cNvPr id="13" name="object 13"/>
            <p:cNvSpPr/>
            <p:nvPr/>
          </p:nvSpPr>
          <p:spPr>
            <a:xfrm>
              <a:off x="6096320" y="4666307"/>
              <a:ext cx="531495" cy="15240"/>
            </a:xfrm>
            <a:custGeom>
              <a:avLst/>
              <a:gdLst/>
              <a:ahLst/>
              <a:cxnLst/>
              <a:rect l="l" t="t" r="r" b="b"/>
              <a:pathLst>
                <a:path w="531495" h="15239">
                  <a:moveTo>
                    <a:pt x="531335" y="0"/>
                  </a:moveTo>
                  <a:lnTo>
                    <a:pt x="0" y="0"/>
                  </a:lnTo>
                  <a:lnTo>
                    <a:pt x="0" y="15221"/>
                  </a:lnTo>
                  <a:lnTo>
                    <a:pt x="531335" y="15221"/>
                  </a:lnTo>
                  <a:lnTo>
                    <a:pt x="5313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6630" y="4666612"/>
              <a:ext cx="530860" cy="0"/>
            </a:xfrm>
            <a:custGeom>
              <a:avLst/>
              <a:gdLst/>
              <a:ahLst/>
              <a:cxnLst/>
              <a:rect l="l" t="t" r="r" b="b"/>
              <a:pathLst>
                <a:path w="530859">
                  <a:moveTo>
                    <a:pt x="0" y="0"/>
                  </a:moveTo>
                  <a:lnTo>
                    <a:pt x="5307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27655" y="4666307"/>
              <a:ext cx="15875" cy="15240"/>
            </a:xfrm>
            <a:custGeom>
              <a:avLst/>
              <a:gdLst/>
              <a:ahLst/>
              <a:cxnLst/>
              <a:rect l="l" t="t" r="r" b="b"/>
              <a:pathLst>
                <a:path w="15875" h="15239">
                  <a:moveTo>
                    <a:pt x="15475" y="0"/>
                  </a:moveTo>
                  <a:lnTo>
                    <a:pt x="0" y="0"/>
                  </a:lnTo>
                  <a:lnTo>
                    <a:pt x="0" y="15221"/>
                  </a:lnTo>
                  <a:lnTo>
                    <a:pt x="15475" y="15221"/>
                  </a:lnTo>
                  <a:lnTo>
                    <a:pt x="15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27965" y="4666612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>
                  <a:moveTo>
                    <a:pt x="0" y="0"/>
                  </a:moveTo>
                  <a:lnTo>
                    <a:pt x="1485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43131" y="4666307"/>
              <a:ext cx="2420620" cy="15240"/>
            </a:xfrm>
            <a:custGeom>
              <a:avLst/>
              <a:gdLst/>
              <a:ahLst/>
              <a:cxnLst/>
              <a:rect l="l" t="t" r="r" b="b"/>
              <a:pathLst>
                <a:path w="2420620" h="15239">
                  <a:moveTo>
                    <a:pt x="2420206" y="0"/>
                  </a:moveTo>
                  <a:lnTo>
                    <a:pt x="0" y="0"/>
                  </a:lnTo>
                  <a:lnTo>
                    <a:pt x="0" y="15221"/>
                  </a:lnTo>
                  <a:lnTo>
                    <a:pt x="2420206" y="15221"/>
                  </a:lnTo>
                  <a:lnTo>
                    <a:pt x="24202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43441" y="4666612"/>
              <a:ext cx="2419985" cy="0"/>
            </a:xfrm>
            <a:custGeom>
              <a:avLst/>
              <a:gdLst/>
              <a:ahLst/>
              <a:cxnLst/>
              <a:rect l="l" t="t" r="r" b="b"/>
              <a:pathLst>
                <a:path w="2419984">
                  <a:moveTo>
                    <a:pt x="0" y="0"/>
                  </a:moveTo>
                  <a:lnTo>
                    <a:pt x="241958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6080431" y="3215663"/>
          <a:ext cx="2982595" cy="14506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9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901">
                <a:tc>
                  <a:txBody>
                    <a:bodyPr/>
                    <a:lstStyle/>
                    <a:p>
                      <a:pPr marL="55880">
                        <a:lnSpc>
                          <a:spcPts val="1265"/>
                        </a:lnSpc>
                      </a:pPr>
                      <a:r>
                        <a:rPr sz="1100" b="1" i="1" spc="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265"/>
                        </a:lnSpc>
                      </a:pPr>
                      <a:r>
                        <a:rPr sz="1100" b="1" i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Items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525">
                <a:tc>
                  <a:txBody>
                    <a:bodyPr/>
                    <a:lstStyle/>
                    <a:p>
                      <a:pPr marL="55880">
                        <a:lnSpc>
                          <a:spcPts val="1470"/>
                        </a:lnSpc>
                      </a:pPr>
                      <a:r>
                        <a:rPr sz="1250" b="1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470"/>
                        </a:lnSpc>
                      </a:pPr>
                      <a:r>
                        <a:rPr sz="1250" b="1" spc="20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Bread, Coke,</a:t>
                      </a:r>
                      <a:r>
                        <a:rPr sz="1250" b="1" spc="-5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spc="20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Milk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890">
                <a:tc>
                  <a:txBody>
                    <a:bodyPr/>
                    <a:lstStyle/>
                    <a:p>
                      <a:pPr marL="55880">
                        <a:lnSpc>
                          <a:spcPts val="1475"/>
                        </a:lnSpc>
                      </a:pPr>
                      <a:r>
                        <a:rPr sz="1250" b="1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475"/>
                        </a:lnSpc>
                      </a:pPr>
                      <a:r>
                        <a:rPr sz="1250" b="1" spc="20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Beer,</a:t>
                      </a:r>
                      <a:r>
                        <a:rPr sz="1250" b="1" spc="5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spc="20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Bread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22">
                <a:tc>
                  <a:txBody>
                    <a:bodyPr/>
                    <a:lstStyle/>
                    <a:p>
                      <a:pPr marL="55880">
                        <a:lnSpc>
                          <a:spcPts val="1470"/>
                        </a:lnSpc>
                      </a:pPr>
                      <a:r>
                        <a:rPr sz="1250" b="1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470"/>
                        </a:lnSpc>
                      </a:pPr>
                      <a:r>
                        <a:rPr sz="1250" b="1" spc="20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Beer, Coke, Diaper,</a:t>
                      </a:r>
                      <a:r>
                        <a:rPr sz="1250" b="1" spc="-20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spc="25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Milk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530">
                <a:tc>
                  <a:txBody>
                    <a:bodyPr/>
                    <a:lstStyle/>
                    <a:p>
                      <a:pPr marL="55880">
                        <a:lnSpc>
                          <a:spcPts val="1470"/>
                        </a:lnSpc>
                      </a:pPr>
                      <a:r>
                        <a:rPr sz="1250" b="1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470"/>
                        </a:lnSpc>
                      </a:pPr>
                      <a:r>
                        <a:rPr sz="1250" b="1" spc="20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Beer, Bread, Diaper,</a:t>
                      </a:r>
                      <a:r>
                        <a:rPr sz="1250" b="1" spc="-20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spc="20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Milk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75">
                <a:tc>
                  <a:txBody>
                    <a:bodyPr/>
                    <a:lstStyle/>
                    <a:p>
                      <a:pPr marL="55880">
                        <a:lnSpc>
                          <a:spcPts val="1475"/>
                        </a:lnSpc>
                      </a:pPr>
                      <a:r>
                        <a:rPr sz="1250" b="1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475"/>
                        </a:lnSpc>
                      </a:pPr>
                      <a:r>
                        <a:rPr sz="1250" b="1" spc="25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Coke, </a:t>
                      </a:r>
                      <a:r>
                        <a:rPr sz="1250" b="1" spc="20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Diaper,</a:t>
                      </a:r>
                      <a:r>
                        <a:rPr sz="1250" b="1" spc="-15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spc="20" dirty="0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Milk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8762110" y="6736715"/>
            <a:ext cx="1346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FFFFFF"/>
                </a:solidFill>
                <a:latin typeface="Calibri"/>
                <a:cs typeface="Calibri"/>
              </a:rPr>
              <a:t>3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91325" y="4754562"/>
            <a:ext cx="177355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latin typeface="Arial"/>
                <a:cs typeface="Arial"/>
              </a:rPr>
              <a:t>Support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25" dirty="0">
                <a:latin typeface="Arial"/>
                <a:cs typeface="Arial"/>
              </a:rPr>
              <a:t>{Beer, </a:t>
            </a:r>
            <a:r>
              <a:rPr sz="1800" spc="-5" dirty="0">
                <a:latin typeface="Arial"/>
                <a:cs typeface="Arial"/>
              </a:rPr>
              <a:t>Bread}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B99BCC9-D452-46B3-83E6-88FD10B19C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333311"/>
            <a:ext cx="6939026" cy="5762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919605"/>
            <a:ext cx="6549390" cy="10045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6550" indent="-324485">
              <a:lnSpc>
                <a:spcPts val="3835"/>
              </a:lnSpc>
              <a:spcBef>
                <a:spcPts val="13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5" dirty="0">
                <a:latin typeface="Calibri"/>
                <a:cs typeface="Calibri"/>
              </a:rPr>
              <a:t>Items </a:t>
            </a:r>
            <a:r>
              <a:rPr sz="3200" spc="10" dirty="0">
                <a:latin typeface="Calibri"/>
                <a:cs typeface="Calibri"/>
              </a:rPr>
              <a:t>= </a:t>
            </a:r>
            <a:r>
              <a:rPr sz="3200" spc="15" dirty="0">
                <a:latin typeface="Calibri"/>
                <a:cs typeface="Calibri"/>
              </a:rPr>
              <a:t>{milk, </a:t>
            </a:r>
            <a:r>
              <a:rPr sz="3200" spc="-5" dirty="0">
                <a:latin typeface="Calibri"/>
                <a:cs typeface="Calibri"/>
              </a:rPr>
              <a:t>coke, </a:t>
            </a:r>
            <a:r>
              <a:rPr sz="3200" spc="15" dirty="0">
                <a:latin typeface="Calibri"/>
                <a:cs typeface="Calibri"/>
              </a:rPr>
              <a:t>pepsi, </a:t>
            </a:r>
            <a:r>
              <a:rPr sz="3200" spc="-60" dirty="0">
                <a:latin typeface="Calibri"/>
                <a:cs typeface="Calibri"/>
              </a:rPr>
              <a:t>beer,</a:t>
            </a:r>
            <a:r>
              <a:rPr sz="3200" spc="-4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juice}</a:t>
            </a:r>
            <a:endParaRPr sz="3200">
              <a:latin typeface="Calibri"/>
              <a:cs typeface="Calibri"/>
            </a:endParaRPr>
          </a:p>
          <a:p>
            <a:pPr marL="336550" indent="-324485">
              <a:lnSpc>
                <a:spcPts val="3835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Support </a:t>
            </a:r>
            <a:r>
              <a:rPr sz="3200" b="1" u="heavy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threshold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10" dirty="0">
                <a:solidFill>
                  <a:srgbClr val="0000FF"/>
                </a:solidFill>
                <a:latin typeface="Calibri"/>
                <a:cs typeface="Calibri"/>
              </a:rPr>
              <a:t>= </a:t>
            </a:r>
            <a:r>
              <a:rPr sz="3200" spc="15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r>
              <a:rPr sz="3200" spc="-2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5" dirty="0">
                <a:solidFill>
                  <a:srgbClr val="0000FF"/>
                </a:solidFill>
                <a:latin typeface="Calibri"/>
                <a:cs typeface="Calibri"/>
              </a:rPr>
              <a:t>baskets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8722" y="2896806"/>
            <a:ext cx="1951355" cy="2085339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44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1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30" dirty="0">
                <a:latin typeface="Calibri"/>
                <a:cs typeface="Calibri"/>
              </a:rPr>
              <a:t>{m, </a:t>
            </a:r>
            <a:r>
              <a:rPr sz="2750" spc="15" dirty="0">
                <a:latin typeface="Calibri"/>
                <a:cs typeface="Calibri"/>
              </a:rPr>
              <a:t>c,</a:t>
            </a:r>
            <a:r>
              <a:rPr sz="2750" spc="-34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b}</a:t>
            </a:r>
            <a:endParaRPr sz="27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55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3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30" dirty="0">
                <a:latin typeface="Calibri"/>
                <a:cs typeface="Calibri"/>
              </a:rPr>
              <a:t>{m,</a:t>
            </a:r>
            <a:r>
              <a:rPr sz="2750" spc="-25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b}</a:t>
            </a:r>
            <a:endParaRPr sz="27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55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5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30" dirty="0">
                <a:latin typeface="Calibri"/>
                <a:cs typeface="Calibri"/>
              </a:rPr>
              <a:t>{m, </a:t>
            </a:r>
            <a:r>
              <a:rPr sz="2750" spc="-10" dirty="0">
                <a:latin typeface="Calibri"/>
                <a:cs typeface="Calibri"/>
              </a:rPr>
              <a:t>p,</a:t>
            </a:r>
            <a:r>
              <a:rPr sz="2750" spc="-27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b}</a:t>
            </a:r>
            <a:endParaRPr sz="27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55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7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25" dirty="0">
                <a:latin typeface="Calibri"/>
                <a:cs typeface="Calibri"/>
              </a:rPr>
              <a:t>{c, </a:t>
            </a:r>
            <a:r>
              <a:rPr sz="2750" spc="-10" dirty="0">
                <a:latin typeface="Calibri"/>
                <a:cs typeface="Calibri"/>
              </a:rPr>
              <a:t>b,</a:t>
            </a:r>
            <a:r>
              <a:rPr sz="2750" spc="-25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j}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35754" y="2896806"/>
            <a:ext cx="2180590" cy="2085339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44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2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30" dirty="0">
                <a:latin typeface="Calibri"/>
                <a:cs typeface="Calibri"/>
              </a:rPr>
              <a:t>{m, </a:t>
            </a:r>
            <a:r>
              <a:rPr sz="2750" spc="-10" dirty="0">
                <a:latin typeface="Calibri"/>
                <a:cs typeface="Calibri"/>
              </a:rPr>
              <a:t>p,</a:t>
            </a:r>
            <a:r>
              <a:rPr sz="2750" spc="-24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j}</a:t>
            </a:r>
            <a:endParaRPr sz="27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55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4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20" dirty="0">
                <a:latin typeface="Calibri"/>
                <a:cs typeface="Calibri"/>
              </a:rPr>
              <a:t>{c,</a:t>
            </a:r>
            <a:r>
              <a:rPr sz="2750" spc="-2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j}</a:t>
            </a:r>
            <a:endParaRPr sz="27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55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6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30" dirty="0">
                <a:latin typeface="Calibri"/>
                <a:cs typeface="Calibri"/>
              </a:rPr>
              <a:t>{m, </a:t>
            </a:r>
            <a:r>
              <a:rPr sz="2750" spc="20" dirty="0">
                <a:latin typeface="Calibri"/>
                <a:cs typeface="Calibri"/>
              </a:rPr>
              <a:t>c, </a:t>
            </a:r>
            <a:r>
              <a:rPr sz="2750" spc="-10" dirty="0">
                <a:latin typeface="Calibri"/>
                <a:cs typeface="Calibri"/>
              </a:rPr>
              <a:t>b,</a:t>
            </a:r>
            <a:r>
              <a:rPr sz="2750" spc="-26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j}</a:t>
            </a:r>
            <a:endParaRPr sz="27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55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8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5" dirty="0">
                <a:latin typeface="Calibri"/>
                <a:cs typeface="Calibri"/>
              </a:rPr>
              <a:t>{b,</a:t>
            </a:r>
            <a:r>
              <a:rPr sz="2750" spc="-24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c}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13761" y="4957698"/>
            <a:ext cx="110489" cy="686435"/>
          </a:xfrm>
          <a:custGeom>
            <a:avLst/>
            <a:gdLst/>
            <a:ahLst/>
            <a:cxnLst/>
            <a:rect l="l" t="t" r="r" b="b"/>
            <a:pathLst>
              <a:path w="110489" h="686435">
                <a:moveTo>
                  <a:pt x="42558" y="75297"/>
                </a:moveTo>
                <a:lnTo>
                  <a:pt x="33023" y="76353"/>
                </a:lnTo>
                <a:lnTo>
                  <a:pt x="100837" y="686384"/>
                </a:lnTo>
                <a:lnTo>
                  <a:pt x="110362" y="685342"/>
                </a:lnTo>
                <a:lnTo>
                  <a:pt x="42558" y="75297"/>
                </a:lnTo>
                <a:close/>
              </a:path>
              <a:path w="110489" h="686435">
                <a:moveTo>
                  <a:pt x="29463" y="0"/>
                </a:moveTo>
                <a:lnTo>
                  <a:pt x="0" y="80009"/>
                </a:lnTo>
                <a:lnTo>
                  <a:pt x="33023" y="76353"/>
                </a:lnTo>
                <a:lnTo>
                  <a:pt x="31623" y="63753"/>
                </a:lnTo>
                <a:lnTo>
                  <a:pt x="41148" y="62611"/>
                </a:lnTo>
                <a:lnTo>
                  <a:pt x="69872" y="62611"/>
                </a:lnTo>
                <a:lnTo>
                  <a:pt x="29463" y="0"/>
                </a:lnTo>
                <a:close/>
              </a:path>
              <a:path w="110489" h="686435">
                <a:moveTo>
                  <a:pt x="41148" y="62611"/>
                </a:moveTo>
                <a:lnTo>
                  <a:pt x="31623" y="63753"/>
                </a:lnTo>
                <a:lnTo>
                  <a:pt x="33023" y="76353"/>
                </a:lnTo>
                <a:lnTo>
                  <a:pt x="42558" y="75297"/>
                </a:lnTo>
                <a:lnTo>
                  <a:pt x="41148" y="62611"/>
                </a:lnTo>
                <a:close/>
              </a:path>
              <a:path w="110489" h="686435">
                <a:moveTo>
                  <a:pt x="69872" y="62611"/>
                </a:moveTo>
                <a:lnTo>
                  <a:pt x="41148" y="62611"/>
                </a:lnTo>
                <a:lnTo>
                  <a:pt x="42558" y="75297"/>
                </a:lnTo>
                <a:lnTo>
                  <a:pt x="75692" y="71627"/>
                </a:lnTo>
                <a:lnTo>
                  <a:pt x="69872" y="62611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667000" y="3357626"/>
            <a:ext cx="3129280" cy="2367280"/>
            <a:chOff x="2667000" y="3357626"/>
            <a:chExt cx="3129280" cy="2367280"/>
          </a:xfrm>
        </p:grpSpPr>
        <p:sp>
          <p:nvSpPr>
            <p:cNvPr id="8" name="object 8"/>
            <p:cNvSpPr/>
            <p:nvPr/>
          </p:nvSpPr>
          <p:spPr>
            <a:xfrm>
              <a:off x="2667000" y="3357625"/>
              <a:ext cx="2519680" cy="2367280"/>
            </a:xfrm>
            <a:custGeom>
              <a:avLst/>
              <a:gdLst/>
              <a:ahLst/>
              <a:cxnLst/>
              <a:rect l="l" t="t" r="r" b="b"/>
              <a:pathLst>
                <a:path w="2519679" h="2367279">
                  <a:moveTo>
                    <a:pt x="337312" y="80518"/>
                  </a:moveTo>
                  <a:lnTo>
                    <a:pt x="330987" y="62230"/>
                  </a:lnTo>
                  <a:lnTo>
                    <a:pt x="309499" y="0"/>
                  </a:lnTo>
                  <a:lnTo>
                    <a:pt x="261747" y="70485"/>
                  </a:lnTo>
                  <a:lnTo>
                    <a:pt x="294728" y="74866"/>
                  </a:lnTo>
                  <a:lnTo>
                    <a:pt x="0" y="2285301"/>
                  </a:lnTo>
                  <a:lnTo>
                    <a:pt x="9525" y="2286571"/>
                  </a:lnTo>
                  <a:lnTo>
                    <a:pt x="304253" y="76136"/>
                  </a:lnTo>
                  <a:lnTo>
                    <a:pt x="337312" y="80518"/>
                  </a:lnTo>
                  <a:close/>
                </a:path>
                <a:path w="2519679" h="2367279">
                  <a:moveTo>
                    <a:pt x="2366899" y="1066800"/>
                  </a:moveTo>
                  <a:lnTo>
                    <a:pt x="2281809" y="1070229"/>
                  </a:lnTo>
                  <a:lnTo>
                    <a:pt x="2297912" y="1099400"/>
                  </a:lnTo>
                  <a:lnTo>
                    <a:pt x="154813" y="2281771"/>
                  </a:lnTo>
                  <a:lnTo>
                    <a:pt x="159512" y="2290102"/>
                  </a:lnTo>
                  <a:lnTo>
                    <a:pt x="2302522" y="1107757"/>
                  </a:lnTo>
                  <a:lnTo>
                    <a:pt x="2318639" y="1136904"/>
                  </a:lnTo>
                  <a:lnTo>
                    <a:pt x="2348712" y="1093216"/>
                  </a:lnTo>
                  <a:lnTo>
                    <a:pt x="2366899" y="1066800"/>
                  </a:lnTo>
                  <a:close/>
                </a:path>
                <a:path w="2519679" h="2367279">
                  <a:moveTo>
                    <a:pt x="2519299" y="1600200"/>
                  </a:moveTo>
                  <a:lnTo>
                    <a:pt x="2434971" y="1588135"/>
                  </a:lnTo>
                  <a:lnTo>
                    <a:pt x="2445512" y="1619719"/>
                  </a:lnTo>
                  <a:lnTo>
                    <a:pt x="231902" y="2357615"/>
                  </a:lnTo>
                  <a:lnTo>
                    <a:pt x="234823" y="2366657"/>
                  </a:lnTo>
                  <a:lnTo>
                    <a:pt x="2448522" y="1628749"/>
                  </a:lnTo>
                  <a:lnTo>
                    <a:pt x="2459101" y="1660398"/>
                  </a:lnTo>
                  <a:lnTo>
                    <a:pt x="2503805" y="1615694"/>
                  </a:lnTo>
                  <a:lnTo>
                    <a:pt x="2519299" y="160020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71826" y="3967225"/>
              <a:ext cx="3124200" cy="1757045"/>
            </a:xfrm>
            <a:custGeom>
              <a:avLst/>
              <a:gdLst/>
              <a:ahLst/>
              <a:cxnLst/>
              <a:rect l="l" t="t" r="r" b="b"/>
              <a:pathLst>
                <a:path w="3124200" h="1757045">
                  <a:moveTo>
                    <a:pt x="765429" y="1749336"/>
                  </a:moveTo>
                  <a:lnTo>
                    <a:pt x="54749" y="967486"/>
                  </a:lnTo>
                  <a:lnTo>
                    <a:pt x="65100" y="958088"/>
                  </a:lnTo>
                  <a:lnTo>
                    <a:pt x="79375" y="945134"/>
                  </a:lnTo>
                  <a:lnTo>
                    <a:pt x="0" y="914400"/>
                  </a:lnTo>
                  <a:lnTo>
                    <a:pt x="22987" y="996315"/>
                  </a:lnTo>
                  <a:lnTo>
                    <a:pt x="47637" y="973950"/>
                  </a:lnTo>
                  <a:lnTo>
                    <a:pt x="758444" y="1755736"/>
                  </a:lnTo>
                  <a:lnTo>
                    <a:pt x="765429" y="1749336"/>
                  </a:lnTo>
                  <a:close/>
                </a:path>
                <a:path w="3124200" h="1757045">
                  <a:moveTo>
                    <a:pt x="2209673" y="0"/>
                  </a:moveTo>
                  <a:lnTo>
                    <a:pt x="2136140" y="42926"/>
                  </a:lnTo>
                  <a:lnTo>
                    <a:pt x="2164118" y="61188"/>
                  </a:lnTo>
                  <a:lnTo>
                    <a:pt x="1062736" y="1749933"/>
                  </a:lnTo>
                  <a:lnTo>
                    <a:pt x="1070737" y="1755140"/>
                  </a:lnTo>
                  <a:lnTo>
                    <a:pt x="2172119" y="66395"/>
                  </a:lnTo>
                  <a:lnTo>
                    <a:pt x="2200021" y="84582"/>
                  </a:lnTo>
                  <a:lnTo>
                    <a:pt x="2203894" y="50546"/>
                  </a:lnTo>
                  <a:lnTo>
                    <a:pt x="2209673" y="0"/>
                  </a:lnTo>
                  <a:close/>
                </a:path>
                <a:path w="3124200" h="1757045">
                  <a:moveTo>
                    <a:pt x="3124073" y="533400"/>
                  </a:moveTo>
                  <a:lnTo>
                    <a:pt x="3039618" y="543941"/>
                  </a:lnTo>
                  <a:lnTo>
                    <a:pt x="3058122" y="571690"/>
                  </a:lnTo>
                  <a:lnTo>
                    <a:pt x="1292733" y="1748574"/>
                  </a:lnTo>
                  <a:lnTo>
                    <a:pt x="1297940" y="1756498"/>
                  </a:lnTo>
                  <a:lnTo>
                    <a:pt x="3063367" y="579539"/>
                  </a:lnTo>
                  <a:lnTo>
                    <a:pt x="3081909" y="607314"/>
                  </a:lnTo>
                  <a:lnTo>
                    <a:pt x="3106242" y="564642"/>
                  </a:lnTo>
                  <a:lnTo>
                    <a:pt x="3124073" y="53340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14362" y="5162550"/>
            <a:ext cx="6148705" cy="9378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6550" indent="-324485">
              <a:lnSpc>
                <a:spcPts val="3575"/>
              </a:lnSpc>
              <a:spcBef>
                <a:spcPts val="13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15" dirty="0">
                <a:latin typeface="Calibri"/>
                <a:cs typeface="Calibri"/>
              </a:rPr>
              <a:t>Frequent</a:t>
            </a:r>
            <a:r>
              <a:rPr sz="3200" b="1" spc="-210" dirty="0">
                <a:latin typeface="Calibri"/>
                <a:cs typeface="Calibri"/>
              </a:rPr>
              <a:t> </a:t>
            </a:r>
            <a:r>
              <a:rPr sz="3200" b="1" spc="10" dirty="0">
                <a:latin typeface="Calibri"/>
                <a:cs typeface="Calibri"/>
              </a:rPr>
              <a:t>itemsets:</a:t>
            </a:r>
            <a:r>
              <a:rPr sz="3200" b="1" spc="-190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{m},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{c},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30" dirty="0">
                <a:latin typeface="Calibri"/>
                <a:cs typeface="Calibri"/>
              </a:rPr>
              <a:t>{b},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{j},</a:t>
            </a:r>
            <a:endParaRPr sz="3200">
              <a:latin typeface="Calibri"/>
              <a:cs typeface="Calibri"/>
            </a:endParaRPr>
          </a:p>
          <a:p>
            <a:pPr marL="528955">
              <a:lnSpc>
                <a:spcPts val="3575"/>
              </a:lnSpc>
            </a:pPr>
            <a:r>
              <a:rPr sz="3200" spc="10" dirty="0">
                <a:latin typeface="Corbel"/>
                <a:cs typeface="Corbel"/>
              </a:rPr>
              <a:t>{m,b} </a:t>
            </a:r>
            <a:r>
              <a:rPr sz="3200" spc="5" dirty="0">
                <a:latin typeface="Corbel"/>
                <a:cs typeface="Corbel"/>
              </a:rPr>
              <a:t>, {b,c} ,</a:t>
            </a:r>
            <a:r>
              <a:rPr sz="3200" spc="-27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{c,j}.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95908" y="3357625"/>
            <a:ext cx="4119245" cy="2291080"/>
          </a:xfrm>
          <a:custGeom>
            <a:avLst/>
            <a:gdLst/>
            <a:ahLst/>
            <a:cxnLst/>
            <a:rect l="l" t="t" r="r" b="b"/>
            <a:pathLst>
              <a:path w="4119245" h="2291079">
                <a:moveTo>
                  <a:pt x="1147191" y="533400"/>
                </a:moveTo>
                <a:lnTo>
                  <a:pt x="1078230" y="583311"/>
                </a:lnTo>
                <a:lnTo>
                  <a:pt x="1107757" y="598690"/>
                </a:lnTo>
                <a:lnTo>
                  <a:pt x="228600" y="2283739"/>
                </a:lnTo>
                <a:lnTo>
                  <a:pt x="237109" y="2288146"/>
                </a:lnTo>
                <a:lnTo>
                  <a:pt x="1116164" y="603072"/>
                </a:lnTo>
                <a:lnTo>
                  <a:pt x="1145794" y="618490"/>
                </a:lnTo>
                <a:lnTo>
                  <a:pt x="1146302" y="587375"/>
                </a:lnTo>
                <a:lnTo>
                  <a:pt x="1147191" y="533400"/>
                </a:lnTo>
                <a:close/>
              </a:path>
              <a:path w="4119245" h="2291079">
                <a:moveTo>
                  <a:pt x="1147191" y="0"/>
                </a:moveTo>
                <a:lnTo>
                  <a:pt x="1079119" y="51054"/>
                </a:lnTo>
                <a:lnTo>
                  <a:pt x="1108887" y="65951"/>
                </a:lnTo>
                <a:lnTo>
                  <a:pt x="0" y="2283803"/>
                </a:lnTo>
                <a:lnTo>
                  <a:pt x="8509" y="2288070"/>
                </a:lnTo>
                <a:lnTo>
                  <a:pt x="1117371" y="70192"/>
                </a:lnTo>
                <a:lnTo>
                  <a:pt x="1147191" y="85090"/>
                </a:lnTo>
                <a:lnTo>
                  <a:pt x="1147191" y="54610"/>
                </a:lnTo>
                <a:lnTo>
                  <a:pt x="1147191" y="0"/>
                </a:lnTo>
                <a:close/>
              </a:path>
              <a:path w="4119245" h="2291079">
                <a:moveTo>
                  <a:pt x="1299591" y="1066800"/>
                </a:moveTo>
                <a:lnTo>
                  <a:pt x="1223391" y="1104900"/>
                </a:lnTo>
                <a:lnTo>
                  <a:pt x="1250111" y="1124940"/>
                </a:lnTo>
                <a:lnTo>
                  <a:pt x="381508" y="2283079"/>
                </a:lnTo>
                <a:lnTo>
                  <a:pt x="389001" y="2288794"/>
                </a:lnTo>
                <a:lnTo>
                  <a:pt x="1257719" y="1130655"/>
                </a:lnTo>
                <a:lnTo>
                  <a:pt x="1284351" y="1150620"/>
                </a:lnTo>
                <a:lnTo>
                  <a:pt x="1290878" y="1114679"/>
                </a:lnTo>
                <a:lnTo>
                  <a:pt x="1299591" y="1066800"/>
                </a:lnTo>
                <a:close/>
              </a:path>
              <a:path w="4119245" h="2291079">
                <a:moveTo>
                  <a:pt x="4118991" y="1143000"/>
                </a:moveTo>
                <a:lnTo>
                  <a:pt x="4034917" y="1129792"/>
                </a:lnTo>
                <a:lnTo>
                  <a:pt x="4045026" y="1161605"/>
                </a:lnTo>
                <a:lnTo>
                  <a:pt x="536194" y="2281402"/>
                </a:lnTo>
                <a:lnTo>
                  <a:pt x="539115" y="2290470"/>
                </a:lnTo>
                <a:lnTo>
                  <a:pt x="4047909" y="1170635"/>
                </a:lnTo>
                <a:lnTo>
                  <a:pt x="4058031" y="1202436"/>
                </a:lnTo>
                <a:lnTo>
                  <a:pt x="4103878" y="1157732"/>
                </a:lnTo>
                <a:lnTo>
                  <a:pt x="4118991" y="11430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2A5C56E-5FE2-4290-AEA6-6FE8C22608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3691001" cy="5857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347787"/>
            <a:ext cx="7385050" cy="4712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6550" marR="5080" indent="-324485">
              <a:lnSpc>
                <a:spcPct val="100000"/>
              </a:lnSpc>
              <a:spcBef>
                <a:spcPts val="12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15" dirty="0">
                <a:solidFill>
                  <a:srgbClr val="00AFEF"/>
                </a:solidFill>
                <a:latin typeface="Calibri"/>
                <a:cs typeface="Calibri"/>
              </a:rPr>
              <a:t>A </a:t>
            </a:r>
            <a:r>
              <a:rPr sz="3200" b="1" spc="-5" dirty="0">
                <a:solidFill>
                  <a:srgbClr val="00AFEF"/>
                </a:solidFill>
                <a:latin typeface="Calibri"/>
                <a:cs typeface="Calibri"/>
              </a:rPr>
              <a:t>general </a:t>
            </a:r>
            <a:r>
              <a:rPr sz="3200" b="1" spc="-10" dirty="0">
                <a:solidFill>
                  <a:srgbClr val="00AFEF"/>
                </a:solidFill>
                <a:latin typeface="Calibri"/>
                <a:cs typeface="Calibri"/>
              </a:rPr>
              <a:t>many-to-many </a:t>
            </a:r>
            <a:r>
              <a:rPr sz="3200" b="1" spc="10" dirty="0">
                <a:solidFill>
                  <a:srgbClr val="00AFEF"/>
                </a:solidFill>
                <a:latin typeface="Calibri"/>
                <a:cs typeface="Calibri"/>
              </a:rPr>
              <a:t>mapping  </a:t>
            </a:r>
            <a:r>
              <a:rPr sz="3200" b="1" spc="5" dirty="0">
                <a:solidFill>
                  <a:srgbClr val="00AFEF"/>
                </a:solidFill>
                <a:latin typeface="Calibri"/>
                <a:cs typeface="Calibri"/>
              </a:rPr>
              <a:t>(association)</a:t>
            </a:r>
            <a:r>
              <a:rPr sz="3200" b="1" spc="-17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b="1" spc="20" dirty="0">
                <a:solidFill>
                  <a:srgbClr val="00AFEF"/>
                </a:solidFill>
                <a:latin typeface="Calibri"/>
                <a:cs typeface="Calibri"/>
              </a:rPr>
              <a:t>between</a:t>
            </a:r>
            <a:r>
              <a:rPr sz="3200" b="1" spc="-2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b="1" spc="15" dirty="0">
                <a:solidFill>
                  <a:srgbClr val="00AFEF"/>
                </a:solidFill>
                <a:latin typeface="Calibri"/>
                <a:cs typeface="Calibri"/>
              </a:rPr>
              <a:t>two</a:t>
            </a:r>
            <a:r>
              <a:rPr sz="3200" b="1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b="1" spc="15" dirty="0">
                <a:solidFill>
                  <a:srgbClr val="00AFEF"/>
                </a:solidFill>
                <a:latin typeface="Calibri"/>
                <a:cs typeface="Calibri"/>
              </a:rPr>
              <a:t>kinds</a:t>
            </a:r>
            <a:r>
              <a:rPr sz="3200" b="1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00AFEF"/>
                </a:solidFill>
                <a:latin typeface="Calibri"/>
                <a:cs typeface="Calibri"/>
              </a:rPr>
              <a:t>of</a:t>
            </a:r>
            <a:r>
              <a:rPr sz="32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AFEF"/>
                </a:solidFill>
                <a:latin typeface="Calibri"/>
                <a:cs typeface="Calibri"/>
              </a:rPr>
              <a:t>things</a:t>
            </a:r>
            <a:endParaRPr sz="3200">
              <a:latin typeface="Calibri"/>
              <a:cs typeface="Calibri"/>
            </a:endParaRPr>
          </a:p>
          <a:p>
            <a:pPr marL="632460" marR="142240" lvl="1" indent="-276860">
              <a:lnSpc>
                <a:spcPct val="102400"/>
              </a:lnSpc>
              <a:spcBef>
                <a:spcPts val="65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5" dirty="0">
                <a:latin typeface="Calibri"/>
                <a:cs typeface="Calibri"/>
              </a:rPr>
              <a:t>But we </a:t>
            </a:r>
            <a:r>
              <a:rPr sz="2750" dirty="0">
                <a:latin typeface="Calibri"/>
                <a:cs typeface="Calibri"/>
              </a:rPr>
              <a:t>ask </a:t>
            </a:r>
            <a:r>
              <a:rPr sz="2750" spc="5" dirty="0">
                <a:latin typeface="Calibri"/>
                <a:cs typeface="Calibri"/>
              </a:rPr>
              <a:t>about </a:t>
            </a:r>
            <a:r>
              <a:rPr sz="2750" dirty="0">
                <a:latin typeface="Calibri"/>
                <a:cs typeface="Calibri"/>
              </a:rPr>
              <a:t>connections </a:t>
            </a:r>
            <a:r>
              <a:rPr sz="2750" spc="20" dirty="0">
                <a:latin typeface="Calibri"/>
                <a:cs typeface="Calibri"/>
              </a:rPr>
              <a:t>among </a:t>
            </a:r>
            <a:r>
              <a:rPr sz="2750" spc="-55" dirty="0">
                <a:latin typeface="Calibri"/>
                <a:cs typeface="Calibri"/>
              </a:rPr>
              <a:t>“items”,  </a:t>
            </a:r>
            <a:r>
              <a:rPr sz="2750" spc="10" dirty="0">
                <a:latin typeface="Calibri"/>
                <a:cs typeface="Calibri"/>
              </a:rPr>
              <a:t>not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“baskets”</a:t>
            </a:r>
            <a:endParaRPr sz="2750">
              <a:latin typeface="Calibri"/>
              <a:cs typeface="Calibri"/>
            </a:endParaRPr>
          </a:p>
          <a:p>
            <a:pPr marL="336550" indent="-324485">
              <a:lnSpc>
                <a:spcPct val="100000"/>
              </a:lnSpc>
              <a:spcBef>
                <a:spcPts val="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5" dirty="0">
                <a:solidFill>
                  <a:srgbClr val="FF0066"/>
                </a:solidFill>
                <a:latin typeface="Calibri"/>
                <a:cs typeface="Calibri"/>
              </a:rPr>
              <a:t>Items </a:t>
            </a:r>
            <a:r>
              <a:rPr sz="3200" b="1" spc="5" dirty="0">
                <a:solidFill>
                  <a:srgbClr val="FF0066"/>
                </a:solidFill>
                <a:latin typeface="Calibri"/>
                <a:cs typeface="Calibri"/>
              </a:rPr>
              <a:t>and </a:t>
            </a:r>
            <a:r>
              <a:rPr sz="3200" b="1" dirty="0">
                <a:solidFill>
                  <a:srgbClr val="FF0066"/>
                </a:solidFill>
                <a:latin typeface="Calibri"/>
                <a:cs typeface="Calibri"/>
              </a:rPr>
              <a:t>baskets </a:t>
            </a:r>
            <a:r>
              <a:rPr sz="3200" b="1" spc="-5" dirty="0">
                <a:solidFill>
                  <a:srgbClr val="FF0066"/>
                </a:solidFill>
                <a:latin typeface="Calibri"/>
                <a:cs typeface="Calibri"/>
              </a:rPr>
              <a:t>are</a:t>
            </a:r>
            <a:r>
              <a:rPr sz="3200" b="1" spc="-22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66"/>
                </a:solidFill>
                <a:latin typeface="Calibri"/>
                <a:cs typeface="Calibri"/>
              </a:rPr>
              <a:t>abstract:</a:t>
            </a:r>
            <a:endParaRPr sz="320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b="1" spc="10" dirty="0">
                <a:latin typeface="Calibri"/>
                <a:cs typeface="Calibri"/>
              </a:rPr>
              <a:t>For</a:t>
            </a:r>
            <a:r>
              <a:rPr sz="2750" b="1" spc="40" dirty="0">
                <a:latin typeface="Calibri"/>
                <a:cs typeface="Calibri"/>
              </a:rPr>
              <a:t> </a:t>
            </a:r>
            <a:r>
              <a:rPr sz="2750" b="1" spc="-5" dirty="0">
                <a:latin typeface="Calibri"/>
                <a:cs typeface="Calibri"/>
              </a:rPr>
              <a:t>example:</a:t>
            </a:r>
            <a:endParaRPr sz="2750">
              <a:latin typeface="Calibri"/>
              <a:cs typeface="Calibri"/>
            </a:endParaRPr>
          </a:p>
          <a:p>
            <a:pPr marL="899160" lvl="2" indent="-229235">
              <a:lnSpc>
                <a:spcPct val="100000"/>
              </a:lnSpc>
              <a:spcBef>
                <a:spcPts val="655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dirty="0">
                <a:latin typeface="Calibri"/>
                <a:cs typeface="Calibri"/>
              </a:rPr>
              <a:t>Items/baskets can </a:t>
            </a:r>
            <a:r>
              <a:rPr sz="2400" spc="5" dirty="0">
                <a:latin typeface="Calibri"/>
                <a:cs typeface="Calibri"/>
              </a:rPr>
              <a:t>be </a:t>
            </a:r>
            <a:r>
              <a:rPr sz="2400" spc="-5" dirty="0">
                <a:latin typeface="Calibri"/>
                <a:cs typeface="Calibri"/>
              </a:rPr>
              <a:t>products/shopping</a:t>
            </a:r>
            <a:r>
              <a:rPr sz="2400" spc="-4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basket</a:t>
            </a:r>
            <a:endParaRPr sz="2400">
              <a:latin typeface="Calibri"/>
              <a:cs typeface="Calibri"/>
            </a:endParaRPr>
          </a:p>
          <a:p>
            <a:pPr marL="899160" lvl="2" indent="-229235">
              <a:lnSpc>
                <a:spcPct val="100000"/>
              </a:lnSpc>
              <a:spcBef>
                <a:spcPts val="575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dirty="0">
                <a:latin typeface="Calibri"/>
                <a:cs typeface="Calibri"/>
              </a:rPr>
              <a:t>Items/baskets can </a:t>
            </a:r>
            <a:r>
              <a:rPr sz="2400" spc="5" dirty="0">
                <a:latin typeface="Calibri"/>
                <a:cs typeface="Calibri"/>
              </a:rPr>
              <a:t>be</a:t>
            </a:r>
            <a:r>
              <a:rPr sz="2400" spc="-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words/documents</a:t>
            </a:r>
            <a:endParaRPr sz="2400">
              <a:latin typeface="Calibri"/>
              <a:cs typeface="Calibri"/>
            </a:endParaRPr>
          </a:p>
          <a:p>
            <a:pPr marL="899160" lvl="2" indent="-229235">
              <a:lnSpc>
                <a:spcPct val="100000"/>
              </a:lnSpc>
              <a:spcBef>
                <a:spcPts val="575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dirty="0">
                <a:latin typeface="Calibri"/>
                <a:cs typeface="Calibri"/>
              </a:rPr>
              <a:t>Items/baskets can </a:t>
            </a:r>
            <a:r>
              <a:rPr sz="2400" spc="5" dirty="0">
                <a:latin typeface="Calibri"/>
                <a:cs typeface="Calibri"/>
              </a:rPr>
              <a:t>be</a:t>
            </a:r>
            <a:r>
              <a:rPr sz="2400" spc="-19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basepairs/genes</a:t>
            </a:r>
            <a:endParaRPr sz="2400">
              <a:latin typeface="Calibri"/>
              <a:cs typeface="Calibri"/>
            </a:endParaRPr>
          </a:p>
          <a:p>
            <a:pPr marL="899160" lvl="2" indent="-229235">
              <a:lnSpc>
                <a:spcPct val="100000"/>
              </a:lnSpc>
              <a:spcBef>
                <a:spcPts val="575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dirty="0">
                <a:latin typeface="Calibri"/>
                <a:cs typeface="Calibri"/>
              </a:rPr>
              <a:t>Items/baskets can </a:t>
            </a:r>
            <a:r>
              <a:rPr sz="2400" spc="5" dirty="0">
                <a:latin typeface="Calibri"/>
                <a:cs typeface="Calibri"/>
              </a:rPr>
              <a:t>be</a:t>
            </a:r>
            <a:r>
              <a:rPr sz="2400" spc="-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drugs/patients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62110" y="6736715"/>
            <a:ext cx="1346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3E3E3E"/>
                </a:solidFill>
                <a:latin typeface="Calibri"/>
                <a:cs typeface="Calibri"/>
              </a:rPr>
              <a:t>5</a:t>
            </a:fld>
            <a:endParaRPr sz="9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4699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33311"/>
            <a:ext cx="4224401" cy="5762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347787"/>
            <a:ext cx="8242300" cy="4657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6550" marR="588010" indent="-324485">
              <a:lnSpc>
                <a:spcPct val="100000"/>
              </a:lnSpc>
              <a:spcBef>
                <a:spcPts val="12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10" dirty="0">
                <a:solidFill>
                  <a:srgbClr val="FF0066"/>
                </a:solidFill>
                <a:latin typeface="Calibri"/>
                <a:cs typeface="Calibri"/>
              </a:rPr>
              <a:t>Items </a:t>
            </a:r>
            <a:r>
              <a:rPr sz="3200" spc="10" dirty="0">
                <a:latin typeface="Calibri"/>
                <a:cs typeface="Calibri"/>
              </a:rPr>
              <a:t>= products;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Baskets </a:t>
            </a:r>
            <a:r>
              <a:rPr sz="3200" spc="10" dirty="0">
                <a:latin typeface="Calibri"/>
                <a:cs typeface="Calibri"/>
              </a:rPr>
              <a:t>= </a:t>
            </a:r>
            <a:r>
              <a:rPr sz="3200" spc="-5" dirty="0">
                <a:latin typeface="Calibri"/>
                <a:cs typeface="Calibri"/>
              </a:rPr>
              <a:t>sets </a:t>
            </a:r>
            <a:r>
              <a:rPr sz="3200" spc="20" dirty="0">
                <a:latin typeface="Calibri"/>
                <a:cs typeface="Calibri"/>
              </a:rPr>
              <a:t>of</a:t>
            </a:r>
            <a:r>
              <a:rPr sz="3200" spc="-38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products  </a:t>
            </a:r>
            <a:r>
              <a:rPr sz="3200" spc="15" dirty="0">
                <a:latin typeface="Calibri"/>
                <a:cs typeface="Calibri"/>
              </a:rPr>
              <a:t>someone </a:t>
            </a:r>
            <a:r>
              <a:rPr sz="3200" spc="25" dirty="0">
                <a:latin typeface="Calibri"/>
                <a:cs typeface="Calibri"/>
              </a:rPr>
              <a:t>bought</a:t>
            </a:r>
            <a:r>
              <a:rPr sz="3200" spc="-54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in </a:t>
            </a:r>
            <a:r>
              <a:rPr sz="3200" spc="30" dirty="0">
                <a:latin typeface="Calibri"/>
                <a:cs typeface="Calibri"/>
              </a:rPr>
              <a:t>one </a:t>
            </a:r>
            <a:r>
              <a:rPr sz="3200" dirty="0">
                <a:latin typeface="Calibri"/>
                <a:cs typeface="Calibri"/>
              </a:rPr>
              <a:t>trip </a:t>
            </a:r>
            <a:r>
              <a:rPr sz="3200" spc="-5" dirty="0">
                <a:latin typeface="Calibri"/>
                <a:cs typeface="Calibri"/>
              </a:rPr>
              <a:t>to </a:t>
            </a:r>
            <a:r>
              <a:rPr sz="3200" spc="10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store</a:t>
            </a:r>
            <a:endParaRPr sz="3200">
              <a:latin typeface="Calibri"/>
              <a:cs typeface="Calibri"/>
            </a:endParaRPr>
          </a:p>
          <a:p>
            <a:pPr marL="336550" marR="294005" indent="-324485">
              <a:lnSpc>
                <a:spcPts val="3900"/>
              </a:lnSpc>
              <a:spcBef>
                <a:spcPts val="6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15" dirty="0">
                <a:solidFill>
                  <a:srgbClr val="FF0066"/>
                </a:solidFill>
                <a:latin typeface="Calibri"/>
                <a:cs typeface="Calibri"/>
              </a:rPr>
              <a:t>Real </a:t>
            </a:r>
            <a:r>
              <a:rPr sz="3200" b="1" dirty="0">
                <a:solidFill>
                  <a:srgbClr val="FF0066"/>
                </a:solidFill>
                <a:latin typeface="Calibri"/>
                <a:cs typeface="Calibri"/>
              </a:rPr>
              <a:t>market baskets: </a:t>
            </a:r>
            <a:r>
              <a:rPr sz="3200" spc="20" dirty="0">
                <a:latin typeface="Calibri"/>
                <a:cs typeface="Calibri"/>
              </a:rPr>
              <a:t>Chain</a:t>
            </a:r>
            <a:r>
              <a:rPr sz="3200" spc="-5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stores </a:t>
            </a:r>
            <a:r>
              <a:rPr sz="3200" spc="-15" dirty="0">
                <a:latin typeface="Calibri"/>
                <a:cs typeface="Calibri"/>
              </a:rPr>
              <a:t>keep </a:t>
            </a:r>
            <a:r>
              <a:rPr sz="3200" dirty="0">
                <a:latin typeface="Calibri"/>
                <a:cs typeface="Calibri"/>
              </a:rPr>
              <a:t>TBs </a:t>
            </a:r>
            <a:r>
              <a:rPr sz="3200" spc="20" dirty="0">
                <a:latin typeface="Calibri"/>
                <a:cs typeface="Calibri"/>
              </a:rPr>
              <a:t>of  </a:t>
            </a:r>
            <a:r>
              <a:rPr sz="3200" spc="-5" dirty="0">
                <a:latin typeface="Calibri"/>
                <a:cs typeface="Calibri"/>
              </a:rPr>
              <a:t>data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30" dirty="0">
                <a:latin typeface="Calibri"/>
                <a:cs typeface="Calibri"/>
              </a:rPr>
              <a:t>about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30" dirty="0">
                <a:latin typeface="Calibri"/>
                <a:cs typeface="Calibri"/>
              </a:rPr>
              <a:t>what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customers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30" dirty="0">
                <a:latin typeface="Calibri"/>
                <a:cs typeface="Calibri"/>
              </a:rPr>
              <a:t>buy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together</a:t>
            </a:r>
            <a:endParaRPr sz="3200">
              <a:latin typeface="Calibri"/>
              <a:cs typeface="Calibri"/>
            </a:endParaRPr>
          </a:p>
          <a:p>
            <a:pPr marL="632460" marR="758190" lvl="1" indent="-276860">
              <a:lnSpc>
                <a:spcPct val="102400"/>
              </a:lnSpc>
              <a:spcBef>
                <a:spcPts val="52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60" dirty="0">
                <a:latin typeface="Calibri"/>
                <a:cs typeface="Calibri"/>
              </a:rPr>
              <a:t>Tells </a:t>
            </a:r>
            <a:r>
              <a:rPr sz="2750" spc="15" dirty="0">
                <a:latin typeface="Calibri"/>
                <a:cs typeface="Calibri"/>
              </a:rPr>
              <a:t>how </a:t>
            </a:r>
            <a:r>
              <a:rPr sz="2750" dirty="0">
                <a:latin typeface="Calibri"/>
                <a:cs typeface="Calibri"/>
              </a:rPr>
              <a:t>typical </a:t>
            </a:r>
            <a:r>
              <a:rPr sz="2750" spc="-5" dirty="0">
                <a:latin typeface="Calibri"/>
                <a:cs typeface="Calibri"/>
              </a:rPr>
              <a:t>customers </a:t>
            </a:r>
            <a:r>
              <a:rPr sz="2750" spc="-20" dirty="0">
                <a:latin typeface="Calibri"/>
                <a:cs typeface="Calibri"/>
              </a:rPr>
              <a:t>navigate </a:t>
            </a:r>
            <a:r>
              <a:rPr sz="2750" spc="-5" dirty="0">
                <a:latin typeface="Calibri"/>
                <a:cs typeface="Calibri"/>
              </a:rPr>
              <a:t>stores, </a:t>
            </a:r>
            <a:r>
              <a:rPr sz="2750" spc="-20" dirty="0">
                <a:latin typeface="Calibri"/>
                <a:cs typeface="Calibri"/>
              </a:rPr>
              <a:t>lets  </a:t>
            </a:r>
            <a:r>
              <a:rPr sz="2750" spc="-15" dirty="0">
                <a:latin typeface="Calibri"/>
                <a:cs typeface="Calibri"/>
              </a:rPr>
              <a:t>them </a:t>
            </a:r>
            <a:r>
              <a:rPr sz="2750" spc="-5" dirty="0">
                <a:latin typeface="Calibri"/>
                <a:cs typeface="Calibri"/>
              </a:rPr>
              <a:t>position </a:t>
            </a:r>
            <a:r>
              <a:rPr sz="2750" spc="-10" dirty="0">
                <a:latin typeface="Calibri"/>
                <a:cs typeface="Calibri"/>
              </a:rPr>
              <a:t>tempting </a:t>
            </a:r>
            <a:r>
              <a:rPr sz="2750" spc="-5" dirty="0">
                <a:latin typeface="Calibri"/>
                <a:cs typeface="Calibri"/>
              </a:rPr>
              <a:t>items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together:</a:t>
            </a:r>
            <a:endParaRPr sz="2750">
              <a:latin typeface="Calibri"/>
              <a:cs typeface="Calibri"/>
            </a:endParaRPr>
          </a:p>
          <a:p>
            <a:pPr marL="899160" lvl="2" indent="-229235">
              <a:lnSpc>
                <a:spcPct val="100000"/>
              </a:lnSpc>
              <a:spcBef>
                <a:spcPts val="580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dirty="0">
                <a:latin typeface="Calibri"/>
                <a:cs typeface="Calibri"/>
              </a:rPr>
              <a:t>Apocryphal </a:t>
            </a:r>
            <a:r>
              <a:rPr sz="2400" spc="5" dirty="0">
                <a:latin typeface="Calibri"/>
                <a:cs typeface="Calibri"/>
              </a:rPr>
              <a:t>story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-30" dirty="0">
                <a:latin typeface="Calibri"/>
                <a:cs typeface="Calibri"/>
              </a:rPr>
              <a:t>“diapers </a:t>
            </a:r>
            <a:r>
              <a:rPr sz="2400" spc="-10" dirty="0">
                <a:latin typeface="Calibri"/>
                <a:cs typeface="Calibri"/>
              </a:rPr>
              <a:t>and </a:t>
            </a:r>
            <a:r>
              <a:rPr sz="2400" spc="15" dirty="0">
                <a:latin typeface="Calibri"/>
                <a:cs typeface="Calibri"/>
              </a:rPr>
              <a:t>beer”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discovery</a:t>
            </a:r>
            <a:endParaRPr sz="2400">
              <a:latin typeface="Calibri"/>
              <a:cs typeface="Calibri"/>
            </a:endParaRPr>
          </a:p>
          <a:p>
            <a:pPr marL="899160" marR="74930" lvl="2" indent="-229235">
              <a:lnSpc>
                <a:spcPts val="2860"/>
              </a:lnSpc>
              <a:spcBef>
                <a:spcPts val="690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spc="15" dirty="0">
                <a:latin typeface="Calibri"/>
                <a:cs typeface="Calibri"/>
              </a:rPr>
              <a:t>Used </a:t>
            </a:r>
            <a:r>
              <a:rPr sz="2400" spc="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position potato</a:t>
            </a:r>
            <a:r>
              <a:rPr sz="2400" spc="-42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chips between </a:t>
            </a:r>
            <a:r>
              <a:rPr sz="2400" spc="-20" dirty="0">
                <a:latin typeface="Calibri"/>
                <a:cs typeface="Calibri"/>
              </a:rPr>
              <a:t>diapers </a:t>
            </a:r>
            <a:r>
              <a:rPr sz="2400" spc="-10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beer </a:t>
            </a:r>
            <a:r>
              <a:rPr sz="2400" spc="5" dirty="0">
                <a:latin typeface="Calibri"/>
                <a:cs typeface="Calibri"/>
              </a:rPr>
              <a:t>to  enhance </a:t>
            </a:r>
            <a:r>
              <a:rPr sz="2400" spc="-5" dirty="0">
                <a:latin typeface="Calibri"/>
                <a:cs typeface="Calibri"/>
              </a:rPr>
              <a:t>sales </a:t>
            </a:r>
            <a:r>
              <a:rPr sz="2400" dirty="0">
                <a:latin typeface="Calibri"/>
                <a:cs typeface="Calibri"/>
              </a:rPr>
              <a:t>of potato</a:t>
            </a:r>
            <a:r>
              <a:rPr sz="2400" spc="-24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chips</a:t>
            </a:r>
            <a:endParaRPr sz="2400">
              <a:latin typeface="Calibri"/>
              <a:cs typeface="Calibri"/>
            </a:endParaRPr>
          </a:p>
          <a:p>
            <a:pPr marL="336550" indent="-324485">
              <a:lnSpc>
                <a:spcPts val="3745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25" dirty="0">
                <a:solidFill>
                  <a:srgbClr val="0000FF"/>
                </a:solidFill>
                <a:latin typeface="Calibri"/>
                <a:cs typeface="Calibri"/>
              </a:rPr>
              <a:t>Amazon’s </a:t>
            </a: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‘people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who </a:t>
            </a: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bought </a:t>
            </a:r>
            <a:r>
              <a:rPr sz="3200" b="1" i="1" spc="15" dirty="0">
                <a:solidFill>
                  <a:srgbClr val="0000FF"/>
                </a:solidFill>
                <a:latin typeface="Calibri"/>
                <a:cs typeface="Calibri"/>
              </a:rPr>
              <a:t>X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also </a:t>
            </a: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bought</a:t>
            </a:r>
            <a:r>
              <a:rPr sz="3200" b="1" spc="-4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i="1" spc="-20" dirty="0">
                <a:solidFill>
                  <a:srgbClr val="0000FF"/>
                </a:solidFill>
                <a:latin typeface="Calibri"/>
                <a:cs typeface="Calibri"/>
              </a:rPr>
              <a:t>Y’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62110" y="6736715"/>
            <a:ext cx="1346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3E3E3E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972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33311"/>
            <a:ext cx="4224401" cy="5762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347787"/>
            <a:ext cx="8184515" cy="385195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6550" marR="736600" indent="-324485">
              <a:lnSpc>
                <a:spcPct val="100000"/>
              </a:lnSpc>
              <a:spcBef>
                <a:spcPts val="12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Baskets </a:t>
            </a:r>
            <a:r>
              <a:rPr sz="3200" spc="10" dirty="0">
                <a:latin typeface="Calibri"/>
                <a:cs typeface="Calibri"/>
              </a:rPr>
              <a:t>= </a:t>
            </a:r>
            <a:r>
              <a:rPr sz="3200" spc="5" dirty="0">
                <a:latin typeface="Calibri"/>
                <a:cs typeface="Calibri"/>
              </a:rPr>
              <a:t>sentences; </a:t>
            </a:r>
            <a:r>
              <a:rPr sz="3200" b="1" spc="-10" dirty="0">
                <a:solidFill>
                  <a:srgbClr val="FF0066"/>
                </a:solidFill>
                <a:latin typeface="Calibri"/>
                <a:cs typeface="Calibri"/>
              </a:rPr>
              <a:t>Items </a:t>
            </a:r>
            <a:r>
              <a:rPr sz="3200" spc="10" dirty="0">
                <a:latin typeface="Calibri"/>
                <a:cs typeface="Calibri"/>
              </a:rPr>
              <a:t>= </a:t>
            </a:r>
            <a:r>
              <a:rPr sz="3200" spc="5" dirty="0">
                <a:latin typeface="Calibri"/>
                <a:cs typeface="Calibri"/>
              </a:rPr>
              <a:t>documents</a:t>
            </a:r>
            <a:r>
              <a:rPr sz="3200" spc="-434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in  </a:t>
            </a:r>
            <a:r>
              <a:rPr sz="3200" spc="20" dirty="0">
                <a:latin typeface="Calibri"/>
                <a:cs typeface="Calibri"/>
              </a:rPr>
              <a:t>which </a:t>
            </a:r>
            <a:r>
              <a:rPr sz="3200" spc="15" dirty="0">
                <a:latin typeface="Calibri"/>
                <a:cs typeface="Calibri"/>
              </a:rPr>
              <a:t>those </a:t>
            </a:r>
            <a:r>
              <a:rPr sz="3200" dirty="0">
                <a:latin typeface="Calibri"/>
                <a:cs typeface="Calibri"/>
              </a:rPr>
              <a:t>sentences</a:t>
            </a:r>
            <a:r>
              <a:rPr sz="3200" spc="-345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appear</a:t>
            </a:r>
            <a:endParaRPr sz="3200" dirty="0">
              <a:latin typeface="Calibri"/>
              <a:cs typeface="Calibri"/>
            </a:endParaRPr>
          </a:p>
          <a:p>
            <a:pPr marL="632460" marR="1348105" lvl="1" indent="-276860">
              <a:lnSpc>
                <a:spcPct val="102400"/>
              </a:lnSpc>
              <a:spcBef>
                <a:spcPts val="65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5" dirty="0">
                <a:latin typeface="Calibri"/>
                <a:cs typeface="Calibri"/>
              </a:rPr>
              <a:t>Items that </a:t>
            </a:r>
            <a:r>
              <a:rPr sz="2750" dirty="0">
                <a:latin typeface="Calibri"/>
                <a:cs typeface="Calibri"/>
              </a:rPr>
              <a:t>appear </a:t>
            </a:r>
            <a:r>
              <a:rPr sz="2750" spc="-10" dirty="0">
                <a:latin typeface="Calibri"/>
                <a:cs typeface="Calibri"/>
              </a:rPr>
              <a:t>together </a:t>
            </a:r>
            <a:r>
              <a:rPr sz="2750" spc="10" dirty="0">
                <a:latin typeface="Calibri"/>
                <a:cs typeface="Calibri"/>
              </a:rPr>
              <a:t>too </a:t>
            </a:r>
            <a:r>
              <a:rPr sz="2750" dirty="0">
                <a:latin typeface="Calibri"/>
                <a:cs typeface="Calibri"/>
              </a:rPr>
              <a:t>often </a:t>
            </a:r>
            <a:r>
              <a:rPr sz="2750" spc="5" dirty="0">
                <a:latin typeface="Calibri"/>
                <a:cs typeface="Calibri"/>
              </a:rPr>
              <a:t>could  </a:t>
            </a:r>
            <a:r>
              <a:rPr sz="2750" spc="-10" dirty="0">
                <a:latin typeface="Calibri"/>
                <a:cs typeface="Calibri"/>
              </a:rPr>
              <a:t>represent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plagiarism</a:t>
            </a:r>
            <a:endParaRPr sz="275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10" dirty="0">
                <a:latin typeface="Calibri"/>
                <a:cs typeface="Calibri"/>
              </a:rPr>
              <a:t>Notice </a:t>
            </a:r>
            <a:r>
              <a:rPr sz="2750" spc="-5" dirty="0">
                <a:latin typeface="Calibri"/>
                <a:cs typeface="Calibri"/>
              </a:rPr>
              <a:t>items do </a:t>
            </a:r>
            <a:r>
              <a:rPr sz="2750" spc="10" dirty="0">
                <a:latin typeface="Calibri"/>
                <a:cs typeface="Calibri"/>
              </a:rPr>
              <a:t>not </a:t>
            </a:r>
            <a:r>
              <a:rPr sz="2750" spc="-10" dirty="0">
                <a:latin typeface="Calibri"/>
                <a:cs typeface="Calibri"/>
              </a:rPr>
              <a:t>have </a:t>
            </a:r>
            <a:r>
              <a:rPr sz="2750" spc="-5" dirty="0">
                <a:latin typeface="Calibri"/>
                <a:cs typeface="Calibri"/>
              </a:rPr>
              <a:t>to be </a:t>
            </a:r>
            <a:r>
              <a:rPr sz="2750" spc="-20" dirty="0">
                <a:latin typeface="Calibri"/>
                <a:cs typeface="Calibri"/>
              </a:rPr>
              <a:t>“in”</a:t>
            </a:r>
            <a:r>
              <a:rPr sz="2750" spc="54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baskets</a:t>
            </a:r>
            <a:endParaRPr lang="en-AU" sz="2750" spc="-15" dirty="0">
              <a:latin typeface="Calibri"/>
              <a:cs typeface="Calibri"/>
            </a:endParaRPr>
          </a:p>
          <a:p>
            <a:pPr marL="1089660" lvl="2" indent="-276860"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lang="en-AU" sz="2750" spc="-15" dirty="0">
                <a:latin typeface="Calibri"/>
                <a:cs typeface="Calibri"/>
              </a:rPr>
              <a:t>But it is better if baskets have small numbers of items, while items can be in large numbers of baskets. 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62110" y="6736715"/>
            <a:ext cx="1346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3E3E3E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8921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B626A8BC-F630-4195-9CA7-C6A2414B911E}"/>
              </a:ext>
            </a:extLst>
          </p:cNvPr>
          <p:cNvSpPr txBox="1"/>
          <p:nvPr/>
        </p:nvSpPr>
        <p:spPr>
          <a:xfrm>
            <a:off x="614362" y="1347787"/>
            <a:ext cx="8184515" cy="23957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256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Baskets </a:t>
            </a:r>
            <a:r>
              <a:rPr sz="3200" spc="10" dirty="0">
                <a:latin typeface="Calibri"/>
                <a:cs typeface="Calibri"/>
              </a:rPr>
              <a:t>= patients; </a:t>
            </a:r>
            <a:r>
              <a:rPr sz="3200" b="1" spc="-10" dirty="0">
                <a:solidFill>
                  <a:srgbClr val="FF0066"/>
                </a:solidFill>
                <a:latin typeface="Calibri"/>
                <a:cs typeface="Calibri"/>
              </a:rPr>
              <a:t>Items </a:t>
            </a:r>
            <a:r>
              <a:rPr sz="3200" spc="10" dirty="0">
                <a:latin typeface="Calibri"/>
                <a:cs typeface="Calibri"/>
              </a:rPr>
              <a:t>= </a:t>
            </a:r>
            <a:r>
              <a:rPr sz="3200" spc="15" dirty="0">
                <a:latin typeface="Calibri"/>
                <a:cs typeface="Calibri"/>
              </a:rPr>
              <a:t>drugs &amp;</a:t>
            </a:r>
            <a:r>
              <a:rPr sz="3200" spc="-4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side-effects</a:t>
            </a:r>
            <a:endParaRPr sz="32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15" dirty="0">
                <a:latin typeface="Calibri"/>
                <a:cs typeface="Calibri"/>
              </a:rPr>
              <a:t>Has </a:t>
            </a:r>
            <a:r>
              <a:rPr sz="2750" spc="-15" dirty="0">
                <a:latin typeface="Calibri"/>
                <a:cs typeface="Calibri"/>
              </a:rPr>
              <a:t>been used </a:t>
            </a:r>
            <a:r>
              <a:rPr sz="2750" spc="-5" dirty="0">
                <a:latin typeface="Calibri"/>
                <a:cs typeface="Calibri"/>
              </a:rPr>
              <a:t>to </a:t>
            </a:r>
            <a:r>
              <a:rPr sz="2750" spc="-10" dirty="0">
                <a:latin typeface="Calibri"/>
                <a:cs typeface="Calibri"/>
              </a:rPr>
              <a:t>detect</a:t>
            </a:r>
            <a:r>
              <a:rPr sz="2750" spc="53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combinations</a:t>
            </a:r>
            <a:endParaRPr sz="2750" dirty="0">
              <a:latin typeface="Calibri"/>
              <a:cs typeface="Calibri"/>
            </a:endParaRPr>
          </a:p>
          <a:p>
            <a:pPr marL="632460">
              <a:lnSpc>
                <a:spcPct val="100000"/>
              </a:lnSpc>
              <a:spcBef>
                <a:spcPts val="80"/>
              </a:spcBef>
            </a:pP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10" dirty="0">
                <a:latin typeface="Calibri"/>
                <a:cs typeface="Calibri"/>
              </a:rPr>
              <a:t>drugs </a:t>
            </a:r>
            <a:r>
              <a:rPr sz="2750" spc="-5" dirty="0">
                <a:latin typeface="Calibri"/>
                <a:cs typeface="Calibri"/>
              </a:rPr>
              <a:t>that </a:t>
            </a:r>
            <a:r>
              <a:rPr sz="2750" spc="-15" dirty="0">
                <a:latin typeface="Calibri"/>
                <a:cs typeface="Calibri"/>
              </a:rPr>
              <a:t>result </a:t>
            </a:r>
            <a:r>
              <a:rPr sz="2750" spc="-10" dirty="0">
                <a:latin typeface="Calibri"/>
                <a:cs typeface="Calibri"/>
              </a:rPr>
              <a:t>in </a:t>
            </a:r>
            <a:r>
              <a:rPr sz="2750" spc="-5" dirty="0">
                <a:latin typeface="Calibri"/>
                <a:cs typeface="Calibri"/>
              </a:rPr>
              <a:t>particular </a:t>
            </a:r>
            <a:r>
              <a:rPr sz="2750" spc="-15" dirty="0">
                <a:latin typeface="Calibri"/>
                <a:cs typeface="Calibri"/>
              </a:rPr>
              <a:t>side-effects</a:t>
            </a:r>
            <a:endParaRPr sz="2750" dirty="0">
              <a:latin typeface="Calibri"/>
              <a:cs typeface="Calibri"/>
            </a:endParaRPr>
          </a:p>
          <a:p>
            <a:pPr marL="632460" marR="1271905" lvl="1" indent="-276860">
              <a:lnSpc>
                <a:spcPct val="102400"/>
              </a:lnSpc>
              <a:spcBef>
                <a:spcPts val="68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b="1" spc="20" dirty="0">
                <a:solidFill>
                  <a:srgbClr val="008000"/>
                </a:solidFill>
                <a:latin typeface="Calibri"/>
                <a:cs typeface="Calibri"/>
              </a:rPr>
              <a:t>But </a:t>
            </a:r>
            <a:r>
              <a:rPr sz="2750" b="1" spc="10" dirty="0">
                <a:solidFill>
                  <a:srgbClr val="008000"/>
                </a:solidFill>
                <a:latin typeface="Calibri"/>
                <a:cs typeface="Calibri"/>
              </a:rPr>
              <a:t>requires extension: </a:t>
            </a:r>
            <a:r>
              <a:rPr sz="2750" spc="-10" dirty="0">
                <a:latin typeface="Calibri"/>
                <a:cs typeface="Calibri"/>
              </a:rPr>
              <a:t>Absence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20" dirty="0">
                <a:latin typeface="Calibri"/>
                <a:cs typeface="Calibri"/>
              </a:rPr>
              <a:t>an </a:t>
            </a:r>
            <a:r>
              <a:rPr sz="2750" spc="-10" dirty="0">
                <a:latin typeface="Calibri"/>
                <a:cs typeface="Calibri"/>
              </a:rPr>
              <a:t>item  </a:t>
            </a:r>
            <a:r>
              <a:rPr sz="2750" spc="-15" dirty="0">
                <a:latin typeface="Calibri"/>
                <a:cs typeface="Calibri"/>
              </a:rPr>
              <a:t>needs </a:t>
            </a:r>
            <a:r>
              <a:rPr sz="2750" spc="-10" dirty="0">
                <a:latin typeface="Calibri"/>
                <a:cs typeface="Calibri"/>
              </a:rPr>
              <a:t>to </a:t>
            </a:r>
            <a:r>
              <a:rPr sz="2750" spc="-5" dirty="0">
                <a:latin typeface="Calibri"/>
                <a:cs typeface="Calibri"/>
              </a:rPr>
              <a:t>be </a:t>
            </a:r>
            <a:r>
              <a:rPr sz="2750" dirty="0">
                <a:latin typeface="Calibri"/>
                <a:cs typeface="Calibri"/>
              </a:rPr>
              <a:t>observed </a:t>
            </a:r>
            <a:r>
              <a:rPr sz="2750" spc="15" dirty="0">
                <a:latin typeface="Calibri"/>
                <a:cs typeface="Calibri"/>
              </a:rPr>
              <a:t>as </a:t>
            </a:r>
            <a:r>
              <a:rPr sz="2750" spc="-20" dirty="0">
                <a:latin typeface="Calibri"/>
                <a:cs typeface="Calibri"/>
              </a:rPr>
              <a:t>well </a:t>
            </a:r>
            <a:r>
              <a:rPr sz="2750" spc="15" dirty="0">
                <a:latin typeface="Calibri"/>
                <a:cs typeface="Calibri"/>
              </a:rPr>
              <a:t>as</a:t>
            </a:r>
            <a:r>
              <a:rPr sz="2750" spc="63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presence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A0BB4A-AF2C-4047-A638-F775180D7B8E}"/>
              </a:ext>
            </a:extLst>
          </p:cNvPr>
          <p:cNvSpPr txBox="1"/>
          <p:nvPr/>
        </p:nvSpPr>
        <p:spPr>
          <a:xfrm>
            <a:off x="614362" y="228600"/>
            <a:ext cx="6777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 – (3)</a:t>
            </a:r>
            <a:endParaRPr lang="en-US" sz="40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077B3C-0D25-44E8-90F3-4CB693AB1A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364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B626A8BC-F630-4195-9CA7-C6A2414B911E}"/>
              </a:ext>
            </a:extLst>
          </p:cNvPr>
          <p:cNvSpPr txBox="1"/>
          <p:nvPr/>
        </p:nvSpPr>
        <p:spPr>
          <a:xfrm>
            <a:off x="614362" y="1347787"/>
            <a:ext cx="8184515" cy="28039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256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Baskets </a:t>
            </a:r>
            <a:r>
              <a:rPr sz="3200" spc="10" dirty="0">
                <a:latin typeface="Calibri"/>
                <a:cs typeface="Calibri"/>
              </a:rPr>
              <a:t>= </a:t>
            </a:r>
            <a:r>
              <a:rPr lang="en-AU" sz="3200" spc="10" dirty="0">
                <a:latin typeface="Calibri"/>
                <a:cs typeface="Calibri"/>
              </a:rPr>
              <a:t>documents</a:t>
            </a:r>
            <a:r>
              <a:rPr sz="3200" spc="10" dirty="0">
                <a:latin typeface="Calibri"/>
                <a:cs typeface="Calibri"/>
              </a:rPr>
              <a:t>; </a:t>
            </a:r>
            <a:r>
              <a:rPr sz="3200" b="1" spc="-10" dirty="0">
                <a:solidFill>
                  <a:srgbClr val="FF0066"/>
                </a:solidFill>
                <a:latin typeface="Calibri"/>
                <a:cs typeface="Calibri"/>
              </a:rPr>
              <a:t>Items </a:t>
            </a:r>
            <a:r>
              <a:rPr sz="3200" spc="10" dirty="0">
                <a:latin typeface="Calibri"/>
                <a:cs typeface="Calibri"/>
              </a:rPr>
              <a:t>= </a:t>
            </a:r>
            <a:r>
              <a:rPr lang="en-AU" sz="3200" spc="15" dirty="0">
                <a:latin typeface="Calibri"/>
                <a:cs typeface="Calibri"/>
              </a:rPr>
              <a:t>words</a:t>
            </a:r>
            <a:endParaRPr sz="32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lang="en-AU" sz="2750" spc="15" dirty="0">
                <a:latin typeface="Calibri"/>
                <a:cs typeface="Calibri"/>
              </a:rPr>
              <a:t>Rare words are occurring too frequently could be interesting. </a:t>
            </a:r>
          </a:p>
          <a:p>
            <a:pPr marL="632460" lvl="1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lang="en-AU" sz="2750" spc="15" dirty="0">
                <a:latin typeface="Calibri"/>
                <a:cs typeface="Calibri"/>
              </a:rPr>
              <a:t>Unusual words appearing together in a large number of documents, e.g. “Brad” and “Angelina”, may indicate an interesting relationship. 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5FBF34-24B9-46B3-9250-186FF6036255}"/>
              </a:ext>
            </a:extLst>
          </p:cNvPr>
          <p:cNvSpPr txBox="1"/>
          <p:nvPr/>
        </p:nvSpPr>
        <p:spPr>
          <a:xfrm>
            <a:off x="614362" y="228600"/>
            <a:ext cx="6777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 – (4)</a:t>
            </a:r>
            <a:endParaRPr lang="en-US" sz="40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15EB1-518A-47AE-AAD7-BC81C590C1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042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B626A8BC-F630-4195-9CA7-C6A2414B911E}"/>
              </a:ext>
            </a:extLst>
          </p:cNvPr>
          <p:cNvSpPr txBox="1"/>
          <p:nvPr/>
        </p:nvSpPr>
        <p:spPr>
          <a:xfrm>
            <a:off x="614362" y="1347787"/>
            <a:ext cx="8184515" cy="307584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256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 err="1">
                <a:latin typeface="Calibri"/>
                <a:cs typeface="Calibri"/>
              </a:rPr>
              <a:t>WalMart</a:t>
            </a:r>
            <a:r>
              <a:rPr lang="en-AU" sz="3200" dirty="0">
                <a:latin typeface="Calibri"/>
                <a:cs typeface="Calibri"/>
              </a:rPr>
              <a:t> sells 100,000 items and can store billions of baskets. </a:t>
            </a:r>
          </a:p>
          <a:p>
            <a:pPr marL="336550" indent="-324485">
              <a:lnSpc>
                <a:spcPct val="100000"/>
              </a:lnSpc>
              <a:spcBef>
                <a:spcPts val="256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The Web has billions of words and many billions of pages. </a:t>
            </a:r>
          </a:p>
          <a:p>
            <a:pPr marL="336550" indent="-324485">
              <a:lnSpc>
                <a:spcPct val="100000"/>
              </a:lnSpc>
              <a:spcBef>
                <a:spcPts val="256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endParaRPr sz="2750" dirty="0">
              <a:latin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5FBF34-24B9-46B3-9250-186FF6036255}"/>
              </a:ext>
            </a:extLst>
          </p:cNvPr>
          <p:cNvSpPr txBox="1"/>
          <p:nvPr/>
        </p:nvSpPr>
        <p:spPr>
          <a:xfrm>
            <a:off x="614362" y="228600"/>
            <a:ext cx="6777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 of the Problem</a:t>
            </a:r>
            <a:endParaRPr lang="en-US" sz="40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23067-3821-451A-9717-BB93D6750F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512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2202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5133975"/>
            </a:xfrm>
            <a:custGeom>
              <a:avLst/>
              <a:gdLst/>
              <a:ahLst/>
              <a:cxnLst/>
              <a:rect l="l" t="t" r="r" b="b"/>
              <a:pathLst>
                <a:path w="9144000" h="5133975">
                  <a:moveTo>
                    <a:pt x="9144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144000" y="51339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86286"/>
              <a:ext cx="9144000" cy="138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4450"/>
              <a:ext cx="9144000" cy="47625"/>
            </a:xfrm>
            <a:custGeom>
              <a:avLst/>
              <a:gdLst/>
              <a:ahLst/>
              <a:cxnLst/>
              <a:rect l="l" t="t" r="r" b="b"/>
              <a:pathLst>
                <a:path w="9144000" h="47625">
                  <a:moveTo>
                    <a:pt x="9144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44000" y="476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FC8D84B-8AF9-4ABB-AF8C-ED978638D2A0}"/>
              </a:ext>
            </a:extLst>
          </p:cNvPr>
          <p:cNvSpPr txBox="1"/>
          <p:nvPr/>
        </p:nvSpPr>
        <p:spPr>
          <a:xfrm>
            <a:off x="304800" y="2383133"/>
            <a:ext cx="8839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b="1" dirty="0">
                <a:solidFill>
                  <a:srgbClr val="FFC000"/>
                </a:solidFill>
                <a:latin typeface="Palatino Linotype" panose="02040502050505030304" pitchFamily="18" charset="0"/>
              </a:rPr>
              <a:t>Association Rules</a:t>
            </a:r>
          </a:p>
          <a:p>
            <a:pPr algn="ctr"/>
            <a:endParaRPr lang="en-AU" sz="32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6656D-1B39-4A99-B8B7-899F0F992A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72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33311"/>
            <a:ext cx="6624701" cy="57626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744" y="1347787"/>
            <a:ext cx="5731510" cy="1003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835"/>
              </a:lnSpc>
              <a:spcBef>
                <a:spcPts val="125"/>
              </a:spcBef>
            </a:pPr>
            <a:r>
              <a:rPr sz="3200" dirty="0">
                <a:solidFill>
                  <a:srgbClr val="0000FF"/>
                </a:solidFill>
              </a:rPr>
              <a:t>Supermarket </a:t>
            </a:r>
            <a:r>
              <a:rPr sz="3200" spc="15" dirty="0">
                <a:solidFill>
                  <a:srgbClr val="0000FF"/>
                </a:solidFill>
              </a:rPr>
              <a:t>shelf </a:t>
            </a:r>
            <a:r>
              <a:rPr sz="3200" spc="10" dirty="0">
                <a:solidFill>
                  <a:srgbClr val="0000FF"/>
                </a:solidFill>
              </a:rPr>
              <a:t>management</a:t>
            </a:r>
            <a:r>
              <a:rPr sz="3200" spc="-535" dirty="0">
                <a:solidFill>
                  <a:srgbClr val="0000FF"/>
                </a:solidFill>
              </a:rPr>
              <a:t> </a:t>
            </a:r>
            <a:r>
              <a:rPr sz="3200" spc="10" dirty="0">
                <a:solidFill>
                  <a:srgbClr val="0000FF"/>
                </a:solidFill>
              </a:rPr>
              <a:t>–</a:t>
            </a:r>
            <a:endParaRPr sz="3200"/>
          </a:p>
          <a:p>
            <a:pPr marL="356235">
              <a:lnSpc>
                <a:spcPts val="3835"/>
              </a:lnSpc>
            </a:pPr>
            <a:r>
              <a:rPr sz="3200" spc="-5" dirty="0">
                <a:solidFill>
                  <a:srgbClr val="0000FF"/>
                </a:solidFill>
              </a:rPr>
              <a:t>Market-basket</a:t>
            </a:r>
            <a:r>
              <a:rPr sz="3200" spc="-195" dirty="0">
                <a:solidFill>
                  <a:srgbClr val="0000FF"/>
                </a:solidFill>
              </a:rPr>
              <a:t> </a:t>
            </a:r>
            <a:r>
              <a:rPr sz="3200" spc="15" dirty="0">
                <a:solidFill>
                  <a:srgbClr val="0000FF"/>
                </a:solidFill>
              </a:rPr>
              <a:t>model: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61987" y="2330132"/>
            <a:ext cx="8091805" cy="4126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359410" indent="-286385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80000"/>
              <a:buFont typeface="Wingdings 2"/>
              <a:buChar char=""/>
              <a:tabLst>
                <a:tab pos="299085" algn="l"/>
              </a:tabLst>
            </a:pPr>
            <a:r>
              <a:rPr sz="3000" b="1" dirty="0">
                <a:solidFill>
                  <a:srgbClr val="FF0066"/>
                </a:solidFill>
                <a:latin typeface="Calibri"/>
                <a:cs typeface="Calibri"/>
              </a:rPr>
              <a:t>Goal: </a:t>
            </a:r>
            <a:r>
              <a:rPr sz="3000" spc="-10" dirty="0">
                <a:latin typeface="Calibri"/>
                <a:cs typeface="Calibri"/>
              </a:rPr>
              <a:t>Identify items </a:t>
            </a:r>
            <a:r>
              <a:rPr sz="3000" spc="-15" dirty="0">
                <a:latin typeface="Calibri"/>
                <a:cs typeface="Calibri"/>
              </a:rPr>
              <a:t>that </a:t>
            </a:r>
            <a:r>
              <a:rPr sz="3000" spc="-35" dirty="0">
                <a:latin typeface="Calibri"/>
                <a:cs typeface="Calibri"/>
              </a:rPr>
              <a:t>are </a:t>
            </a:r>
            <a:r>
              <a:rPr sz="3000" spc="-5" dirty="0">
                <a:latin typeface="Calibri"/>
                <a:cs typeface="Calibri"/>
              </a:rPr>
              <a:t>bought </a:t>
            </a:r>
            <a:r>
              <a:rPr sz="3000" spc="-10" dirty="0">
                <a:latin typeface="Calibri"/>
                <a:cs typeface="Calibri"/>
              </a:rPr>
              <a:t>together </a:t>
            </a:r>
            <a:r>
              <a:rPr sz="3000" spc="-5" dirty="0">
                <a:latin typeface="Calibri"/>
                <a:cs typeface="Calibri"/>
              </a:rPr>
              <a:t>by  </a:t>
            </a:r>
            <a:r>
              <a:rPr sz="3000" spc="-10" dirty="0">
                <a:latin typeface="Calibri"/>
                <a:cs typeface="Calibri"/>
              </a:rPr>
              <a:t>sufficiently </a:t>
            </a:r>
            <a:r>
              <a:rPr sz="3000" spc="-20" dirty="0">
                <a:latin typeface="Calibri"/>
                <a:cs typeface="Calibri"/>
              </a:rPr>
              <a:t>many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customers</a:t>
            </a:r>
            <a:endParaRPr sz="3000">
              <a:latin typeface="Calibri"/>
              <a:cs typeface="Calibri"/>
            </a:endParaRPr>
          </a:p>
          <a:p>
            <a:pPr marL="298450" marR="431165" indent="-286385">
              <a:lnSpc>
                <a:spcPct val="100000"/>
              </a:lnSpc>
              <a:spcBef>
                <a:spcPts val="10"/>
              </a:spcBef>
              <a:buClr>
                <a:srgbClr val="EFAC00"/>
              </a:buClr>
              <a:buSzPct val="80000"/>
              <a:buFont typeface="Wingdings 2"/>
              <a:buChar char=""/>
              <a:tabLst>
                <a:tab pos="299085" algn="l"/>
              </a:tabLst>
            </a:pPr>
            <a:r>
              <a:rPr sz="3000" b="1" spc="-10" dirty="0">
                <a:solidFill>
                  <a:srgbClr val="FF0066"/>
                </a:solidFill>
                <a:latin typeface="Calibri"/>
                <a:cs typeface="Calibri"/>
              </a:rPr>
              <a:t>Approach: </a:t>
            </a:r>
            <a:r>
              <a:rPr sz="3000" spc="-10" dirty="0">
                <a:latin typeface="Calibri"/>
                <a:cs typeface="Calibri"/>
              </a:rPr>
              <a:t>Process </a:t>
            </a:r>
            <a:r>
              <a:rPr sz="3000" spc="-15" dirty="0">
                <a:latin typeface="Calibri"/>
                <a:cs typeface="Calibri"/>
              </a:rPr>
              <a:t>the </a:t>
            </a:r>
            <a:r>
              <a:rPr sz="3000" spc="-5" dirty="0">
                <a:latin typeface="Calibri"/>
                <a:cs typeface="Calibri"/>
              </a:rPr>
              <a:t>sales </a:t>
            </a:r>
            <a:r>
              <a:rPr sz="3000" spc="-15" dirty="0">
                <a:latin typeface="Calibri"/>
                <a:cs typeface="Calibri"/>
              </a:rPr>
              <a:t>data </a:t>
            </a:r>
            <a:r>
              <a:rPr sz="3000" spc="-10" dirty="0">
                <a:latin typeface="Calibri"/>
                <a:cs typeface="Calibri"/>
              </a:rPr>
              <a:t>collected with  </a:t>
            </a:r>
            <a:r>
              <a:rPr sz="3000" spc="-15" dirty="0">
                <a:latin typeface="Calibri"/>
                <a:cs typeface="Calibri"/>
              </a:rPr>
              <a:t>barcode </a:t>
            </a:r>
            <a:r>
              <a:rPr sz="3000" spc="-5" dirty="0">
                <a:latin typeface="Calibri"/>
                <a:cs typeface="Calibri"/>
              </a:rPr>
              <a:t>scanners </a:t>
            </a:r>
            <a:r>
              <a:rPr sz="3000" spc="-15" dirty="0">
                <a:latin typeface="Calibri"/>
                <a:cs typeface="Calibri"/>
              </a:rPr>
              <a:t>to find </a:t>
            </a:r>
            <a:r>
              <a:rPr sz="3000" dirty="0">
                <a:latin typeface="Calibri"/>
                <a:cs typeface="Calibri"/>
              </a:rPr>
              <a:t>dependencies </a:t>
            </a:r>
            <a:r>
              <a:rPr sz="3000" spc="-5" dirty="0">
                <a:latin typeface="Calibri"/>
                <a:cs typeface="Calibri"/>
              </a:rPr>
              <a:t>among  </a:t>
            </a:r>
            <a:r>
              <a:rPr sz="3000" spc="-10" dirty="0">
                <a:latin typeface="Calibri"/>
                <a:cs typeface="Calibri"/>
              </a:rPr>
              <a:t>items</a:t>
            </a:r>
            <a:endParaRPr sz="3000">
              <a:latin typeface="Calibri"/>
              <a:cs typeface="Calibri"/>
            </a:endParaRPr>
          </a:p>
          <a:p>
            <a:pPr marL="298450" indent="-286385">
              <a:lnSpc>
                <a:spcPct val="100000"/>
              </a:lnSpc>
              <a:spcBef>
                <a:spcPts val="15"/>
              </a:spcBef>
              <a:buClr>
                <a:srgbClr val="EFAC00"/>
              </a:buClr>
              <a:buSzPct val="80000"/>
              <a:buFont typeface="Wingdings 2"/>
              <a:buChar char=""/>
              <a:tabLst>
                <a:tab pos="299085" algn="l"/>
              </a:tabLst>
            </a:pPr>
            <a:r>
              <a:rPr sz="3000" b="1" dirty="0">
                <a:solidFill>
                  <a:srgbClr val="FF0066"/>
                </a:solidFill>
                <a:latin typeface="Calibri"/>
                <a:cs typeface="Calibri"/>
              </a:rPr>
              <a:t>A </a:t>
            </a:r>
            <a:r>
              <a:rPr sz="3000" b="1" spc="5" dirty="0">
                <a:solidFill>
                  <a:srgbClr val="FF0066"/>
                </a:solidFill>
                <a:latin typeface="Calibri"/>
                <a:cs typeface="Calibri"/>
              </a:rPr>
              <a:t>classic</a:t>
            </a:r>
            <a:r>
              <a:rPr sz="3000" b="1" spc="-9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FF0066"/>
                </a:solidFill>
                <a:latin typeface="Calibri"/>
                <a:cs typeface="Calibri"/>
              </a:rPr>
              <a:t>rule:</a:t>
            </a:r>
            <a:endParaRPr sz="3000">
              <a:latin typeface="Calibri"/>
              <a:cs typeface="Calibri"/>
            </a:endParaRPr>
          </a:p>
          <a:p>
            <a:pPr marL="727710" marR="937894" lvl="1" indent="-276860">
              <a:lnSpc>
                <a:spcPct val="101099"/>
              </a:lnSpc>
              <a:spcBef>
                <a:spcPts val="595"/>
              </a:spcBef>
              <a:buClr>
                <a:srgbClr val="5FB5CC"/>
              </a:buClr>
              <a:buFont typeface="Wingdings"/>
              <a:buChar char=""/>
              <a:tabLst>
                <a:tab pos="728345" algn="l"/>
              </a:tabLst>
            </a:pPr>
            <a:r>
              <a:rPr sz="2600" spc="10" dirty="0">
                <a:latin typeface="Calibri"/>
                <a:cs typeface="Calibri"/>
              </a:rPr>
              <a:t>If </a:t>
            </a:r>
            <a:r>
              <a:rPr sz="2600" spc="-5" dirty="0">
                <a:latin typeface="Calibri"/>
                <a:cs typeface="Calibri"/>
              </a:rPr>
              <a:t>someone </a:t>
            </a:r>
            <a:r>
              <a:rPr sz="2600" dirty="0">
                <a:latin typeface="Calibri"/>
                <a:cs typeface="Calibri"/>
              </a:rPr>
              <a:t>buys </a:t>
            </a:r>
            <a:r>
              <a:rPr sz="2600" spc="-5" dirty="0">
                <a:latin typeface="Calibri"/>
                <a:cs typeface="Calibri"/>
              </a:rPr>
              <a:t>diaper </a:t>
            </a:r>
            <a:r>
              <a:rPr sz="2600" spc="5" dirty="0">
                <a:latin typeface="Calibri"/>
                <a:cs typeface="Calibri"/>
              </a:rPr>
              <a:t>and </a:t>
            </a:r>
            <a:r>
              <a:rPr sz="2600" spc="10" dirty="0">
                <a:latin typeface="Calibri"/>
                <a:cs typeface="Calibri"/>
              </a:rPr>
              <a:t>milk, </a:t>
            </a:r>
            <a:r>
              <a:rPr sz="2600" dirty="0">
                <a:latin typeface="Calibri"/>
                <a:cs typeface="Calibri"/>
              </a:rPr>
              <a:t>then </a:t>
            </a:r>
            <a:r>
              <a:rPr sz="2600" spc="-10" dirty="0">
                <a:latin typeface="Calibri"/>
                <a:cs typeface="Calibri"/>
              </a:rPr>
              <a:t>he/she</a:t>
            </a:r>
            <a:r>
              <a:rPr sz="2600" spc="-215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is  </a:t>
            </a:r>
            <a:r>
              <a:rPr sz="2600" spc="-10" dirty="0">
                <a:latin typeface="Calibri"/>
                <a:cs typeface="Calibri"/>
              </a:rPr>
              <a:t>likely </a:t>
            </a:r>
            <a:r>
              <a:rPr sz="2600" spc="15" dirty="0">
                <a:latin typeface="Calibri"/>
                <a:cs typeface="Calibri"/>
              </a:rPr>
              <a:t>to </a:t>
            </a:r>
            <a:r>
              <a:rPr sz="2600" spc="-10" dirty="0">
                <a:latin typeface="Calibri"/>
                <a:cs typeface="Calibri"/>
              </a:rPr>
              <a:t>buy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beer</a:t>
            </a:r>
            <a:endParaRPr sz="2600">
              <a:latin typeface="Calibri"/>
              <a:cs typeface="Calibri"/>
            </a:endParaRPr>
          </a:p>
          <a:p>
            <a:pPr marL="727710" lvl="1" indent="-277495">
              <a:lnSpc>
                <a:spcPct val="100000"/>
              </a:lnSpc>
              <a:spcBef>
                <a:spcPts val="635"/>
              </a:spcBef>
              <a:buClr>
                <a:srgbClr val="5FB5CC"/>
              </a:buClr>
              <a:buFont typeface="Wingdings"/>
              <a:buChar char=""/>
              <a:tabLst>
                <a:tab pos="728345" algn="l"/>
              </a:tabLst>
            </a:pPr>
            <a:r>
              <a:rPr sz="2600" spc="5" dirty="0">
                <a:latin typeface="Calibri"/>
                <a:cs typeface="Calibri"/>
              </a:rPr>
              <a:t>Don’t </a:t>
            </a:r>
            <a:r>
              <a:rPr sz="2600" spc="-5" dirty="0">
                <a:latin typeface="Calibri"/>
                <a:cs typeface="Calibri"/>
              </a:rPr>
              <a:t>be </a:t>
            </a:r>
            <a:r>
              <a:rPr sz="2600" dirty="0">
                <a:latin typeface="Calibri"/>
                <a:cs typeface="Calibri"/>
              </a:rPr>
              <a:t>surprised </a:t>
            </a:r>
            <a:r>
              <a:rPr sz="2600" spc="5" dirty="0">
                <a:latin typeface="Calibri"/>
                <a:cs typeface="Calibri"/>
              </a:rPr>
              <a:t>if you find </a:t>
            </a:r>
            <a:r>
              <a:rPr sz="2600" spc="10" dirty="0">
                <a:latin typeface="Calibri"/>
                <a:cs typeface="Calibri"/>
              </a:rPr>
              <a:t>six-packs </a:t>
            </a:r>
            <a:r>
              <a:rPr sz="2600" spc="-30" dirty="0">
                <a:latin typeface="Calibri"/>
                <a:cs typeface="Calibri"/>
              </a:rPr>
              <a:t>next </a:t>
            </a:r>
            <a:r>
              <a:rPr sz="2600" spc="15" dirty="0">
                <a:latin typeface="Calibri"/>
                <a:cs typeface="Calibri"/>
              </a:rPr>
              <a:t>to</a:t>
            </a:r>
            <a:r>
              <a:rPr sz="2600" spc="-3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diapers!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D35D0E-05C6-44B1-916D-E44E936B3E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453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23786"/>
            <a:ext cx="6177026" cy="4619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347787"/>
            <a:ext cx="4721860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12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20" dirty="0">
                <a:solidFill>
                  <a:srgbClr val="008000"/>
                </a:solidFill>
                <a:latin typeface="Calibri"/>
                <a:cs typeface="Calibri"/>
              </a:rPr>
              <a:t>Define: </a:t>
            </a: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Association</a:t>
            </a:r>
            <a:r>
              <a:rPr sz="3200" b="1" spc="-46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Rules: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833880"/>
            <a:ext cx="706755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solidFill>
                  <a:srgbClr val="000000"/>
                </a:solidFill>
                <a:latin typeface="Calibri"/>
                <a:cs typeface="Calibri"/>
              </a:rPr>
              <a:t>If-then </a:t>
            </a:r>
            <a:r>
              <a:rPr sz="3200" b="0" spc="10" dirty="0">
                <a:solidFill>
                  <a:srgbClr val="000000"/>
                </a:solidFill>
                <a:latin typeface="Calibri"/>
                <a:cs typeface="Calibri"/>
              </a:rPr>
              <a:t>rules </a:t>
            </a:r>
            <a:r>
              <a:rPr sz="3200" b="0" spc="30" dirty="0">
                <a:solidFill>
                  <a:srgbClr val="000000"/>
                </a:solidFill>
                <a:latin typeface="Calibri"/>
                <a:cs typeface="Calibri"/>
              </a:rPr>
              <a:t>about </a:t>
            </a:r>
            <a:r>
              <a:rPr sz="3200" b="0" spc="10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sz="3200" b="0" spc="5" dirty="0">
                <a:solidFill>
                  <a:srgbClr val="000000"/>
                </a:solidFill>
                <a:latin typeface="Calibri"/>
                <a:cs typeface="Calibri"/>
              </a:rPr>
              <a:t>contents</a:t>
            </a:r>
            <a:r>
              <a:rPr sz="3200" b="0" spc="-5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b="0" spc="20" dirty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sz="3200" b="0" spc="5" dirty="0">
                <a:solidFill>
                  <a:srgbClr val="000000"/>
                </a:solidFill>
                <a:latin typeface="Calibri"/>
                <a:cs typeface="Calibri"/>
              </a:rPr>
              <a:t>baskets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74648" y="5949861"/>
            <a:ext cx="2651760" cy="0"/>
          </a:xfrm>
          <a:custGeom>
            <a:avLst/>
            <a:gdLst/>
            <a:ahLst/>
            <a:cxnLst/>
            <a:rect l="l" t="t" r="r" b="b"/>
            <a:pathLst>
              <a:path w="2651759">
                <a:moveTo>
                  <a:pt x="0" y="0"/>
                </a:moveTo>
                <a:lnTo>
                  <a:pt x="2651133" y="0"/>
                </a:lnTo>
              </a:path>
            </a:pathLst>
          </a:custGeom>
          <a:ln w="177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6262" y="2329814"/>
            <a:ext cx="8040370" cy="41535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74650" indent="-324485">
              <a:lnSpc>
                <a:spcPts val="3835"/>
              </a:lnSpc>
              <a:spcBef>
                <a:spcPts val="13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75285" algn="l"/>
              </a:tabLst>
            </a:pPr>
            <a:r>
              <a:rPr sz="3200" b="1" i="1" spc="5" dirty="0">
                <a:solidFill>
                  <a:srgbClr val="0000FF"/>
                </a:solidFill>
                <a:latin typeface="Times New Roman"/>
                <a:cs typeface="Times New Roman"/>
              </a:rPr>
              <a:t>{i</a:t>
            </a:r>
            <a:r>
              <a:rPr sz="3150" b="1" i="1" spc="7" baseline="-19841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3200" b="1" i="1" spc="5" dirty="0">
                <a:solidFill>
                  <a:srgbClr val="0000FF"/>
                </a:solidFill>
                <a:latin typeface="Times New Roman"/>
                <a:cs typeface="Times New Roman"/>
              </a:rPr>
              <a:t>, </a:t>
            </a:r>
            <a:r>
              <a:rPr sz="3200" b="1" i="1" spc="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3150" b="1" i="1" spc="15" baseline="-19841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3200" b="1" i="1" spc="10" dirty="0">
                <a:solidFill>
                  <a:srgbClr val="0000FF"/>
                </a:solidFill>
                <a:latin typeface="Times New Roman"/>
                <a:cs typeface="Times New Roman"/>
              </a:rPr>
              <a:t>,…,i</a:t>
            </a:r>
            <a:r>
              <a:rPr sz="3150" b="1" i="1" spc="15" baseline="-19841" dirty="0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sz="3200" b="1" i="1" spc="10" dirty="0">
                <a:solidFill>
                  <a:srgbClr val="0000FF"/>
                </a:solidFill>
                <a:latin typeface="Times New Roman"/>
                <a:cs typeface="Times New Roman"/>
              </a:rPr>
              <a:t>} </a:t>
            </a:r>
            <a:r>
              <a:rPr sz="3200" b="1" i="1" spc="30" dirty="0">
                <a:solidFill>
                  <a:srgbClr val="0000FF"/>
                </a:solidFill>
                <a:latin typeface="Times New Roman"/>
                <a:cs typeface="Times New Roman"/>
              </a:rPr>
              <a:t>→ </a:t>
            </a:r>
            <a:r>
              <a:rPr sz="3200" b="1" i="1" spc="5" dirty="0">
                <a:solidFill>
                  <a:srgbClr val="0000FF"/>
                </a:solidFill>
                <a:latin typeface="Times New Roman"/>
                <a:cs typeface="Times New Roman"/>
              </a:rPr>
              <a:t>j </a:t>
            </a:r>
            <a:r>
              <a:rPr sz="3200" spc="10" dirty="0">
                <a:latin typeface="Calibri"/>
                <a:cs typeface="Calibri"/>
              </a:rPr>
              <a:t>means: </a:t>
            </a:r>
            <a:r>
              <a:rPr sz="3200" spc="5" dirty="0">
                <a:latin typeface="Calibri"/>
                <a:cs typeface="Calibri"/>
              </a:rPr>
              <a:t>“if </a:t>
            </a:r>
            <a:r>
              <a:rPr sz="3200" spc="10" dirty="0">
                <a:latin typeface="Calibri"/>
                <a:cs typeface="Calibri"/>
              </a:rPr>
              <a:t>a </a:t>
            </a:r>
            <a:r>
              <a:rPr sz="3200" spc="5" dirty="0">
                <a:latin typeface="Calibri"/>
                <a:cs typeface="Calibri"/>
              </a:rPr>
              <a:t>basket</a:t>
            </a:r>
            <a:r>
              <a:rPr sz="3200" spc="10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contains</a:t>
            </a:r>
            <a:endParaRPr sz="3200">
              <a:latin typeface="Calibri"/>
              <a:cs typeface="Calibri"/>
            </a:endParaRPr>
          </a:p>
          <a:p>
            <a:pPr marL="374650">
              <a:lnSpc>
                <a:spcPts val="3829"/>
              </a:lnSpc>
            </a:pPr>
            <a:r>
              <a:rPr sz="3200" spc="15" dirty="0">
                <a:latin typeface="Calibri"/>
                <a:cs typeface="Calibri"/>
              </a:rPr>
              <a:t>all </a:t>
            </a:r>
            <a:r>
              <a:rPr sz="3200" spc="20" dirty="0">
                <a:latin typeface="Calibri"/>
                <a:cs typeface="Calibri"/>
              </a:rPr>
              <a:t>of </a:t>
            </a:r>
            <a:r>
              <a:rPr sz="3200" b="1" i="1" spc="10" dirty="0">
                <a:latin typeface="Times New Roman"/>
                <a:cs typeface="Times New Roman"/>
              </a:rPr>
              <a:t>i</a:t>
            </a:r>
            <a:r>
              <a:rPr sz="3150" b="1" i="1" spc="15" baseline="-19841" dirty="0">
                <a:latin typeface="Times New Roman"/>
                <a:cs typeface="Times New Roman"/>
              </a:rPr>
              <a:t>1</a:t>
            </a:r>
            <a:r>
              <a:rPr sz="3200" b="1" i="1" spc="10" dirty="0">
                <a:latin typeface="Times New Roman"/>
                <a:cs typeface="Times New Roman"/>
              </a:rPr>
              <a:t>,…,i</a:t>
            </a:r>
            <a:r>
              <a:rPr sz="3150" b="1" i="1" spc="15" baseline="-19841" dirty="0">
                <a:latin typeface="Times New Roman"/>
                <a:cs typeface="Times New Roman"/>
              </a:rPr>
              <a:t>k </a:t>
            </a:r>
            <a:r>
              <a:rPr sz="3200" dirty="0">
                <a:latin typeface="Calibri"/>
                <a:cs typeface="Calibri"/>
              </a:rPr>
              <a:t>then </a:t>
            </a:r>
            <a:r>
              <a:rPr sz="3200" spc="5" dirty="0">
                <a:latin typeface="Calibri"/>
                <a:cs typeface="Calibri"/>
              </a:rPr>
              <a:t>it is </a:t>
            </a:r>
            <a:r>
              <a:rPr sz="3200" b="1" i="1" spc="10" dirty="0">
                <a:solidFill>
                  <a:srgbClr val="0000FF"/>
                </a:solidFill>
                <a:latin typeface="Calibri"/>
                <a:cs typeface="Calibri"/>
              </a:rPr>
              <a:t>likely </a:t>
            </a:r>
            <a:r>
              <a:rPr sz="3200" spc="-5" dirty="0">
                <a:latin typeface="Calibri"/>
                <a:cs typeface="Calibri"/>
              </a:rPr>
              <a:t>to </a:t>
            </a:r>
            <a:r>
              <a:rPr sz="3200" dirty="0">
                <a:latin typeface="Calibri"/>
                <a:cs typeface="Calibri"/>
              </a:rPr>
              <a:t>contain</a:t>
            </a:r>
            <a:r>
              <a:rPr sz="3200" spc="-340" dirty="0">
                <a:latin typeface="Calibri"/>
                <a:cs typeface="Calibri"/>
              </a:rPr>
              <a:t> </a:t>
            </a:r>
            <a:r>
              <a:rPr sz="3200" b="1" i="1" spc="10" dirty="0">
                <a:latin typeface="Times New Roman"/>
                <a:cs typeface="Times New Roman"/>
              </a:rPr>
              <a:t>j</a:t>
            </a:r>
            <a:r>
              <a:rPr sz="3200" spc="10" dirty="0">
                <a:latin typeface="Calibri"/>
                <a:cs typeface="Calibri"/>
              </a:rPr>
              <a:t>”</a:t>
            </a:r>
            <a:endParaRPr sz="3200">
              <a:latin typeface="Calibri"/>
              <a:cs typeface="Calibri"/>
            </a:endParaRPr>
          </a:p>
          <a:p>
            <a:pPr marL="374650" marR="43180" indent="-324485">
              <a:lnSpc>
                <a:spcPts val="3829"/>
              </a:lnSpc>
              <a:spcBef>
                <a:spcPts val="13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75285" algn="l"/>
              </a:tabLst>
            </a:pPr>
            <a:r>
              <a:rPr sz="3200" b="1" spc="-10" dirty="0">
                <a:solidFill>
                  <a:srgbClr val="D50092"/>
                </a:solidFill>
                <a:latin typeface="Calibri"/>
                <a:cs typeface="Calibri"/>
              </a:rPr>
              <a:t>In </a:t>
            </a:r>
            <a:r>
              <a:rPr sz="3200" b="1" spc="-5" dirty="0">
                <a:solidFill>
                  <a:srgbClr val="D50092"/>
                </a:solidFill>
                <a:latin typeface="Calibri"/>
                <a:cs typeface="Calibri"/>
              </a:rPr>
              <a:t>practice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there </a:t>
            </a:r>
            <a:r>
              <a:rPr sz="3200" b="1" spc="-5" dirty="0">
                <a:solidFill>
                  <a:srgbClr val="D50092"/>
                </a:solidFill>
                <a:latin typeface="Calibri"/>
                <a:cs typeface="Calibri"/>
              </a:rPr>
              <a:t>are </a:t>
            </a:r>
            <a:r>
              <a:rPr sz="3200" b="1" spc="-10" dirty="0">
                <a:solidFill>
                  <a:srgbClr val="D50092"/>
                </a:solidFill>
                <a:latin typeface="Calibri"/>
                <a:cs typeface="Calibri"/>
              </a:rPr>
              <a:t>many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rules, </a:t>
            </a: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want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to</a:t>
            </a:r>
            <a:r>
              <a:rPr sz="3200" b="1" spc="-45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200" b="1" spc="20" dirty="0">
                <a:solidFill>
                  <a:srgbClr val="D50092"/>
                </a:solidFill>
                <a:latin typeface="Calibri"/>
                <a:cs typeface="Calibri"/>
              </a:rPr>
              <a:t>find  </a:t>
            </a:r>
            <a:r>
              <a:rPr sz="3200" b="1" dirty="0">
                <a:solidFill>
                  <a:srgbClr val="D50092"/>
                </a:solidFill>
                <a:latin typeface="Calibri"/>
                <a:cs typeface="Calibri"/>
              </a:rPr>
              <a:t>significant/interesting</a:t>
            </a:r>
            <a:r>
              <a:rPr sz="3200" b="1" spc="-24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ones!</a:t>
            </a:r>
            <a:endParaRPr sz="3200">
              <a:latin typeface="Calibri"/>
              <a:cs typeface="Calibri"/>
            </a:endParaRPr>
          </a:p>
          <a:p>
            <a:pPr marL="374650" indent="-324485">
              <a:lnSpc>
                <a:spcPts val="3704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75285" algn="l"/>
              </a:tabLst>
            </a:pPr>
            <a:r>
              <a:rPr sz="3200" b="1" i="1" u="heavy" spc="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Confidence</a:t>
            </a:r>
            <a:r>
              <a:rPr sz="3200" b="1" i="1" spc="-2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association</a:t>
            </a:r>
            <a:r>
              <a:rPr sz="3200" spc="-250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rule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is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the</a:t>
            </a:r>
            <a:endParaRPr sz="3200">
              <a:latin typeface="Calibri"/>
              <a:cs typeface="Calibri"/>
            </a:endParaRPr>
          </a:p>
          <a:p>
            <a:pPr marL="374650">
              <a:lnSpc>
                <a:spcPct val="100000"/>
              </a:lnSpc>
              <a:spcBef>
                <a:spcPts val="70"/>
              </a:spcBef>
            </a:pPr>
            <a:r>
              <a:rPr sz="3200" spc="10" dirty="0">
                <a:latin typeface="Calibri"/>
                <a:cs typeface="Calibri"/>
              </a:rPr>
              <a:t>probability </a:t>
            </a:r>
            <a:r>
              <a:rPr sz="3200" spc="20" dirty="0">
                <a:latin typeface="Calibri"/>
                <a:cs typeface="Calibri"/>
              </a:rPr>
              <a:t>of </a:t>
            </a:r>
            <a:r>
              <a:rPr sz="3200" b="1" i="1" spc="5" dirty="0">
                <a:latin typeface="Times New Roman"/>
                <a:cs typeface="Times New Roman"/>
              </a:rPr>
              <a:t>j </a:t>
            </a:r>
            <a:r>
              <a:rPr sz="3200" spc="-5" dirty="0">
                <a:latin typeface="Calibri"/>
                <a:cs typeface="Calibri"/>
              </a:rPr>
              <a:t>given </a:t>
            </a:r>
            <a:r>
              <a:rPr sz="3200" b="1" i="1" spc="10" dirty="0">
                <a:latin typeface="Times New Roman"/>
                <a:cs typeface="Times New Roman"/>
              </a:rPr>
              <a:t>I </a:t>
            </a:r>
            <a:r>
              <a:rPr sz="3200" b="1" spc="15" dirty="0">
                <a:latin typeface="Times New Roman"/>
                <a:cs typeface="Times New Roman"/>
              </a:rPr>
              <a:t>=</a:t>
            </a:r>
            <a:r>
              <a:rPr sz="3200" b="1" spc="-360" dirty="0">
                <a:latin typeface="Times New Roman"/>
                <a:cs typeface="Times New Roman"/>
              </a:rPr>
              <a:t> </a:t>
            </a:r>
            <a:r>
              <a:rPr sz="3200" b="1" spc="10" dirty="0">
                <a:latin typeface="Times New Roman"/>
                <a:cs typeface="Times New Roman"/>
              </a:rPr>
              <a:t>{</a:t>
            </a:r>
            <a:r>
              <a:rPr sz="3200" b="1" i="1" spc="10" dirty="0">
                <a:latin typeface="Times New Roman"/>
                <a:cs typeface="Times New Roman"/>
              </a:rPr>
              <a:t>i</a:t>
            </a:r>
            <a:r>
              <a:rPr sz="3150" b="1" spc="15" baseline="-19841" dirty="0">
                <a:latin typeface="Times New Roman"/>
                <a:cs typeface="Times New Roman"/>
              </a:rPr>
              <a:t>1</a:t>
            </a:r>
            <a:r>
              <a:rPr sz="3200" b="1" spc="10" dirty="0">
                <a:latin typeface="Times New Roman"/>
                <a:cs typeface="Times New Roman"/>
              </a:rPr>
              <a:t>,…,</a:t>
            </a:r>
            <a:r>
              <a:rPr sz="3200" b="1" i="1" spc="10" dirty="0">
                <a:latin typeface="Times New Roman"/>
                <a:cs typeface="Times New Roman"/>
              </a:rPr>
              <a:t>i</a:t>
            </a:r>
            <a:r>
              <a:rPr sz="3150" b="1" i="1" spc="15" baseline="-19841" dirty="0">
                <a:latin typeface="Times New Roman"/>
                <a:cs typeface="Times New Roman"/>
              </a:rPr>
              <a:t>k</a:t>
            </a:r>
            <a:r>
              <a:rPr sz="3200" b="1" spc="10" dirty="0"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339725" algn="ctr">
              <a:lnSpc>
                <a:spcPct val="100000"/>
              </a:lnSpc>
              <a:spcBef>
                <a:spcPts val="715"/>
              </a:spcBef>
            </a:pPr>
            <a:r>
              <a:rPr sz="5025" spc="165" baseline="-34825" dirty="0">
                <a:latin typeface="Times New Roman"/>
                <a:cs typeface="Times New Roman"/>
              </a:rPr>
              <a:t>conf(</a:t>
            </a:r>
            <a:r>
              <a:rPr sz="5025" i="1" spc="165" baseline="-34825" dirty="0">
                <a:latin typeface="Times New Roman"/>
                <a:cs typeface="Times New Roman"/>
              </a:rPr>
              <a:t>I </a:t>
            </a:r>
            <a:r>
              <a:rPr sz="5025" spc="315" baseline="-34825" dirty="0">
                <a:latin typeface="Symbol"/>
                <a:cs typeface="Symbol"/>
              </a:rPr>
              <a:t></a:t>
            </a:r>
            <a:r>
              <a:rPr sz="5025" spc="315" baseline="-34825" dirty="0">
                <a:latin typeface="Times New Roman"/>
                <a:cs typeface="Times New Roman"/>
              </a:rPr>
              <a:t> </a:t>
            </a:r>
            <a:r>
              <a:rPr sz="5025" i="1" spc="225" baseline="-34825" dirty="0">
                <a:latin typeface="Times New Roman"/>
                <a:cs typeface="Times New Roman"/>
              </a:rPr>
              <a:t>j</a:t>
            </a:r>
            <a:r>
              <a:rPr sz="5025" spc="225" baseline="-34825" dirty="0">
                <a:latin typeface="Times New Roman"/>
                <a:cs typeface="Times New Roman"/>
              </a:rPr>
              <a:t>) </a:t>
            </a:r>
            <a:r>
              <a:rPr sz="5025" spc="172" baseline="-34825" dirty="0">
                <a:latin typeface="Symbol"/>
                <a:cs typeface="Symbol"/>
              </a:rPr>
              <a:t></a:t>
            </a:r>
            <a:r>
              <a:rPr sz="5025" spc="172" baseline="-34825" dirty="0">
                <a:latin typeface="Times New Roman"/>
                <a:cs typeface="Times New Roman"/>
              </a:rPr>
              <a:t> </a:t>
            </a:r>
            <a:r>
              <a:rPr sz="3350" spc="105" dirty="0">
                <a:latin typeface="Times New Roman"/>
                <a:cs typeface="Times New Roman"/>
              </a:rPr>
              <a:t>support(</a:t>
            </a:r>
            <a:r>
              <a:rPr sz="3350" i="1" spc="105" dirty="0">
                <a:latin typeface="Times New Roman"/>
                <a:cs typeface="Times New Roman"/>
              </a:rPr>
              <a:t>I </a:t>
            </a:r>
            <a:r>
              <a:rPr sz="3350" spc="165" dirty="0">
                <a:latin typeface="Symbol"/>
                <a:cs typeface="Symbol"/>
              </a:rPr>
              <a:t></a:t>
            </a:r>
            <a:r>
              <a:rPr sz="3350" spc="745" dirty="0">
                <a:latin typeface="Times New Roman"/>
                <a:cs typeface="Times New Roman"/>
              </a:rPr>
              <a:t> </a:t>
            </a:r>
            <a:r>
              <a:rPr sz="3350" i="1" spc="150" dirty="0">
                <a:latin typeface="Times New Roman"/>
                <a:cs typeface="Times New Roman"/>
              </a:rPr>
              <a:t>j</a:t>
            </a:r>
            <a:r>
              <a:rPr sz="3350" spc="150" dirty="0">
                <a:latin typeface="Times New Roman"/>
                <a:cs typeface="Times New Roman"/>
              </a:rPr>
              <a:t>)</a:t>
            </a:r>
            <a:endParaRPr sz="3350">
              <a:latin typeface="Times New Roman"/>
              <a:cs typeface="Times New Roman"/>
            </a:endParaRPr>
          </a:p>
          <a:p>
            <a:pPr marL="4576445">
              <a:lnSpc>
                <a:spcPct val="100000"/>
              </a:lnSpc>
              <a:spcBef>
                <a:spcPts val="645"/>
              </a:spcBef>
            </a:pPr>
            <a:r>
              <a:rPr sz="3350" spc="105" dirty="0">
                <a:latin typeface="Times New Roman"/>
                <a:cs typeface="Times New Roman"/>
              </a:rPr>
              <a:t>support(</a:t>
            </a:r>
            <a:r>
              <a:rPr sz="3350" i="1" spc="105" dirty="0">
                <a:latin typeface="Times New Roman"/>
                <a:cs typeface="Times New Roman"/>
              </a:rPr>
              <a:t>I</a:t>
            </a:r>
            <a:r>
              <a:rPr sz="3350" i="1" spc="-420" dirty="0">
                <a:latin typeface="Times New Roman"/>
                <a:cs typeface="Times New Roman"/>
              </a:rPr>
              <a:t> </a:t>
            </a:r>
            <a:r>
              <a:rPr sz="3350" spc="70" dirty="0">
                <a:latin typeface="Times New Roman"/>
                <a:cs typeface="Times New Roman"/>
              </a:rPr>
              <a:t>)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5A99223-75C3-47D9-97AD-5B167EA309A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87768" y="1219200"/>
            <a:ext cx="1951355" cy="2085339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44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1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30" dirty="0">
                <a:latin typeface="Calibri"/>
                <a:cs typeface="Calibri"/>
              </a:rPr>
              <a:t>{m, </a:t>
            </a:r>
            <a:r>
              <a:rPr sz="2750" spc="15" dirty="0">
                <a:latin typeface="Calibri"/>
                <a:cs typeface="Calibri"/>
              </a:rPr>
              <a:t>c,</a:t>
            </a:r>
            <a:r>
              <a:rPr sz="2750" spc="-34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b}</a:t>
            </a:r>
            <a:endParaRPr sz="2750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55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3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30" dirty="0">
                <a:latin typeface="Calibri"/>
                <a:cs typeface="Calibri"/>
              </a:rPr>
              <a:t>{m,</a:t>
            </a:r>
            <a:r>
              <a:rPr sz="2750" spc="-25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b}</a:t>
            </a:r>
            <a:endParaRPr sz="2750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55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5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30" dirty="0">
                <a:latin typeface="Calibri"/>
                <a:cs typeface="Calibri"/>
              </a:rPr>
              <a:t>{m, </a:t>
            </a:r>
            <a:r>
              <a:rPr sz="2750" spc="-10" dirty="0">
                <a:latin typeface="Calibri"/>
                <a:cs typeface="Calibri"/>
              </a:rPr>
              <a:t>p,</a:t>
            </a:r>
            <a:r>
              <a:rPr sz="2750" spc="-27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b}</a:t>
            </a:r>
            <a:endParaRPr sz="2750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55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7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25" dirty="0">
                <a:latin typeface="Calibri"/>
                <a:cs typeface="Calibri"/>
              </a:rPr>
              <a:t>{c, </a:t>
            </a:r>
            <a:r>
              <a:rPr sz="2750" spc="-10" dirty="0">
                <a:latin typeface="Calibri"/>
                <a:cs typeface="Calibri"/>
              </a:rPr>
              <a:t>b,</a:t>
            </a:r>
            <a:r>
              <a:rPr sz="2750" spc="-25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j}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800" y="1219200"/>
            <a:ext cx="2180590" cy="2085339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44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2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30" dirty="0">
                <a:latin typeface="Calibri"/>
                <a:cs typeface="Calibri"/>
              </a:rPr>
              <a:t>{m, </a:t>
            </a:r>
            <a:r>
              <a:rPr sz="2750" spc="-10" dirty="0">
                <a:latin typeface="Calibri"/>
                <a:cs typeface="Calibri"/>
              </a:rPr>
              <a:t>p,</a:t>
            </a:r>
            <a:r>
              <a:rPr sz="2750" spc="-24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j}</a:t>
            </a:r>
            <a:endParaRPr sz="2750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55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4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20" dirty="0">
                <a:latin typeface="Calibri"/>
                <a:cs typeface="Calibri"/>
              </a:rPr>
              <a:t>{c,</a:t>
            </a:r>
            <a:r>
              <a:rPr sz="2750" spc="-2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j}</a:t>
            </a:r>
            <a:endParaRPr sz="2750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55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6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30" dirty="0">
                <a:latin typeface="Calibri"/>
                <a:cs typeface="Calibri"/>
              </a:rPr>
              <a:t>{m, </a:t>
            </a:r>
            <a:r>
              <a:rPr sz="2750" spc="20" dirty="0">
                <a:latin typeface="Calibri"/>
                <a:cs typeface="Calibri"/>
              </a:rPr>
              <a:t>c, </a:t>
            </a:r>
            <a:r>
              <a:rPr sz="2750" spc="-10" dirty="0">
                <a:latin typeface="Calibri"/>
                <a:cs typeface="Calibri"/>
              </a:rPr>
              <a:t>b,</a:t>
            </a:r>
            <a:r>
              <a:rPr sz="2750" spc="-26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j}</a:t>
            </a:r>
            <a:endParaRPr sz="2750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55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8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5" dirty="0">
                <a:latin typeface="Calibri"/>
                <a:cs typeface="Calibri"/>
              </a:rPr>
              <a:t>{b,</a:t>
            </a:r>
            <a:r>
              <a:rPr sz="2750" spc="-24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c}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4036" y="3553462"/>
            <a:ext cx="8055928" cy="2850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6550" indent="-324485">
              <a:lnSpc>
                <a:spcPts val="3575"/>
              </a:lnSpc>
              <a:spcBef>
                <a:spcPts val="13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b="1" spc="15" dirty="0">
                <a:latin typeface="Calibri"/>
                <a:cs typeface="Calibri"/>
              </a:rPr>
              <a:t>An association rule: </a:t>
            </a:r>
            <a:r>
              <a:rPr lang="en-AU" sz="3200" spc="15" dirty="0">
                <a:solidFill>
                  <a:srgbClr val="00B050"/>
                </a:solidFill>
                <a:latin typeface="Calibri"/>
                <a:cs typeface="Calibri"/>
              </a:rPr>
              <a:t>{m , b} </a:t>
            </a:r>
            <a:r>
              <a:rPr lang="en-AU" sz="3200" spc="15" dirty="0">
                <a:solidFill>
                  <a:srgbClr val="00B050"/>
                </a:solidFill>
                <a:latin typeface="Calibri"/>
                <a:cs typeface="Calibri"/>
                <a:sym typeface="Wingdings" panose="05000000000000000000" pitchFamily="2" charset="2"/>
              </a:rPr>
              <a:t> c</a:t>
            </a:r>
          </a:p>
          <a:p>
            <a:pPr marL="793750" lvl="1" indent="-324485">
              <a:lnSpc>
                <a:spcPts val="3575"/>
              </a:lnSpc>
              <a:spcBef>
                <a:spcPts val="13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spc="15" dirty="0">
                <a:solidFill>
                  <a:srgbClr val="00B050"/>
                </a:solidFill>
                <a:latin typeface="Calibri"/>
                <a:cs typeface="Calibri"/>
                <a:sym typeface="Wingdings" panose="05000000000000000000" pitchFamily="2" charset="2"/>
              </a:rPr>
              <a:t>Support ({m, b}) = ___________</a:t>
            </a:r>
          </a:p>
          <a:p>
            <a:pPr marL="793750" lvl="1" indent="-324485">
              <a:lnSpc>
                <a:spcPts val="3575"/>
              </a:lnSpc>
              <a:spcBef>
                <a:spcPts val="13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endParaRPr lang="en-AU" sz="3200" spc="15" dirty="0">
              <a:solidFill>
                <a:srgbClr val="00B050"/>
              </a:solidFill>
              <a:latin typeface="Calibri"/>
              <a:cs typeface="Calibri"/>
              <a:sym typeface="Wingdings" panose="05000000000000000000" pitchFamily="2" charset="2"/>
            </a:endParaRPr>
          </a:p>
          <a:p>
            <a:pPr marL="793750" lvl="1" indent="-324485">
              <a:lnSpc>
                <a:spcPts val="3575"/>
              </a:lnSpc>
              <a:spcBef>
                <a:spcPts val="13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spc="15" dirty="0">
                <a:solidFill>
                  <a:srgbClr val="00B050"/>
                </a:solidFill>
                <a:latin typeface="Calibri"/>
                <a:cs typeface="Calibri"/>
                <a:sym typeface="Wingdings" panose="05000000000000000000" pitchFamily="2" charset="2"/>
              </a:rPr>
              <a:t>Support ({m , b, c}) = ___________</a:t>
            </a:r>
          </a:p>
          <a:p>
            <a:pPr marL="793750" lvl="1" indent="-324485">
              <a:lnSpc>
                <a:spcPts val="3575"/>
              </a:lnSpc>
              <a:spcBef>
                <a:spcPts val="13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endParaRPr lang="en-AU" sz="3200" spc="15" dirty="0">
              <a:solidFill>
                <a:srgbClr val="00B050"/>
              </a:solidFill>
              <a:latin typeface="Calibri"/>
              <a:cs typeface="Calibri"/>
              <a:sym typeface="Wingdings" panose="05000000000000000000" pitchFamily="2" charset="2"/>
            </a:endParaRPr>
          </a:p>
          <a:p>
            <a:pPr marL="793750" lvl="1" indent="-324485">
              <a:lnSpc>
                <a:spcPts val="3575"/>
              </a:lnSpc>
              <a:spcBef>
                <a:spcPts val="13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spc="15" dirty="0">
                <a:solidFill>
                  <a:srgbClr val="00B0F0"/>
                </a:solidFill>
                <a:latin typeface="Calibri"/>
                <a:cs typeface="Calibri"/>
                <a:sym typeface="Wingdings" panose="05000000000000000000" pitchFamily="2" charset="2"/>
              </a:rPr>
              <a:t>Confidence ({m, b}  c) = ___________</a:t>
            </a:r>
            <a:endParaRPr sz="3200" dirty="0">
              <a:solidFill>
                <a:srgbClr val="00B0F0"/>
              </a:solidFill>
              <a:latin typeface="Corbel"/>
              <a:cs typeface="Corbe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2AAA5C-9FC7-4DAC-A099-65BE4BAFA635}"/>
              </a:ext>
            </a:extLst>
          </p:cNvPr>
          <p:cNvSpPr txBox="1"/>
          <p:nvPr/>
        </p:nvSpPr>
        <p:spPr>
          <a:xfrm>
            <a:off x="614362" y="228600"/>
            <a:ext cx="6777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Confidence</a:t>
            </a:r>
            <a:endParaRPr lang="en-US" sz="40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81916E0-644D-4D10-8184-E474B0B92A4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091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7100951" cy="58578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598927" y="5235828"/>
            <a:ext cx="970280" cy="326390"/>
          </a:xfrm>
          <a:custGeom>
            <a:avLst/>
            <a:gdLst/>
            <a:ahLst/>
            <a:cxnLst/>
            <a:rect l="l" t="t" r="r" b="b"/>
            <a:pathLst>
              <a:path w="970279" h="326389">
                <a:moveTo>
                  <a:pt x="866013" y="0"/>
                </a:moveTo>
                <a:lnTo>
                  <a:pt x="861313" y="13208"/>
                </a:lnTo>
                <a:lnTo>
                  <a:pt x="880250" y="21447"/>
                </a:lnTo>
                <a:lnTo>
                  <a:pt x="896508" y="32829"/>
                </a:lnTo>
                <a:lnTo>
                  <a:pt x="921131" y="65024"/>
                </a:lnTo>
                <a:lnTo>
                  <a:pt x="935529" y="108331"/>
                </a:lnTo>
                <a:lnTo>
                  <a:pt x="940308" y="161544"/>
                </a:lnTo>
                <a:lnTo>
                  <a:pt x="939113" y="190384"/>
                </a:lnTo>
                <a:lnTo>
                  <a:pt x="929485" y="240018"/>
                </a:lnTo>
                <a:lnTo>
                  <a:pt x="910026" y="278784"/>
                </a:lnTo>
                <a:lnTo>
                  <a:pt x="880498" y="304970"/>
                </a:lnTo>
                <a:lnTo>
                  <a:pt x="861949" y="313182"/>
                </a:lnTo>
                <a:lnTo>
                  <a:pt x="866013" y="326390"/>
                </a:lnTo>
                <a:lnTo>
                  <a:pt x="910574" y="305546"/>
                </a:lnTo>
                <a:lnTo>
                  <a:pt x="943229" y="269367"/>
                </a:lnTo>
                <a:lnTo>
                  <a:pt x="963406" y="220964"/>
                </a:lnTo>
                <a:lnTo>
                  <a:pt x="970152" y="163322"/>
                </a:lnTo>
                <a:lnTo>
                  <a:pt x="968464" y="133393"/>
                </a:lnTo>
                <a:lnTo>
                  <a:pt x="954990" y="80347"/>
                </a:lnTo>
                <a:lnTo>
                  <a:pt x="928270" y="37201"/>
                </a:lnTo>
                <a:lnTo>
                  <a:pt x="889686" y="8574"/>
                </a:lnTo>
                <a:lnTo>
                  <a:pt x="866013" y="0"/>
                </a:lnTo>
                <a:close/>
              </a:path>
              <a:path w="970279" h="326389">
                <a:moveTo>
                  <a:pt x="104140" y="0"/>
                </a:moveTo>
                <a:lnTo>
                  <a:pt x="59674" y="20970"/>
                </a:lnTo>
                <a:lnTo>
                  <a:pt x="26924" y="57277"/>
                </a:lnTo>
                <a:lnTo>
                  <a:pt x="6746" y="105727"/>
                </a:lnTo>
                <a:lnTo>
                  <a:pt x="0" y="163322"/>
                </a:lnTo>
                <a:lnTo>
                  <a:pt x="1668" y="193303"/>
                </a:lnTo>
                <a:lnTo>
                  <a:pt x="15055" y="246314"/>
                </a:lnTo>
                <a:lnTo>
                  <a:pt x="41703" y="289367"/>
                </a:lnTo>
                <a:lnTo>
                  <a:pt x="80375" y="317890"/>
                </a:lnTo>
                <a:lnTo>
                  <a:pt x="104140" y="326390"/>
                </a:lnTo>
                <a:lnTo>
                  <a:pt x="108204" y="313182"/>
                </a:lnTo>
                <a:lnTo>
                  <a:pt x="89636" y="304970"/>
                </a:lnTo>
                <a:lnTo>
                  <a:pt x="73580" y="293497"/>
                </a:lnTo>
                <a:lnTo>
                  <a:pt x="49149" y="260858"/>
                </a:lnTo>
                <a:lnTo>
                  <a:pt x="34575" y="216535"/>
                </a:lnTo>
                <a:lnTo>
                  <a:pt x="29718" y="161544"/>
                </a:lnTo>
                <a:lnTo>
                  <a:pt x="30932" y="133711"/>
                </a:lnTo>
                <a:lnTo>
                  <a:pt x="40647" y="85427"/>
                </a:lnTo>
                <a:lnTo>
                  <a:pt x="60098" y="47355"/>
                </a:lnTo>
                <a:lnTo>
                  <a:pt x="89904" y="21447"/>
                </a:lnTo>
                <a:lnTo>
                  <a:pt x="108712" y="13208"/>
                </a:lnTo>
                <a:lnTo>
                  <a:pt x="1041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70653" y="5235828"/>
            <a:ext cx="1008380" cy="326390"/>
          </a:xfrm>
          <a:custGeom>
            <a:avLst/>
            <a:gdLst/>
            <a:ahLst/>
            <a:cxnLst/>
            <a:rect l="l" t="t" r="r" b="b"/>
            <a:pathLst>
              <a:path w="1008379" h="326389">
                <a:moveTo>
                  <a:pt x="904113" y="0"/>
                </a:moveTo>
                <a:lnTo>
                  <a:pt x="899413" y="13208"/>
                </a:lnTo>
                <a:lnTo>
                  <a:pt x="918350" y="21447"/>
                </a:lnTo>
                <a:lnTo>
                  <a:pt x="934608" y="32829"/>
                </a:lnTo>
                <a:lnTo>
                  <a:pt x="959231" y="65024"/>
                </a:lnTo>
                <a:lnTo>
                  <a:pt x="973629" y="108331"/>
                </a:lnTo>
                <a:lnTo>
                  <a:pt x="978408" y="161544"/>
                </a:lnTo>
                <a:lnTo>
                  <a:pt x="977213" y="190384"/>
                </a:lnTo>
                <a:lnTo>
                  <a:pt x="967585" y="240018"/>
                </a:lnTo>
                <a:lnTo>
                  <a:pt x="948126" y="278784"/>
                </a:lnTo>
                <a:lnTo>
                  <a:pt x="918598" y="304970"/>
                </a:lnTo>
                <a:lnTo>
                  <a:pt x="900049" y="313182"/>
                </a:lnTo>
                <a:lnTo>
                  <a:pt x="904113" y="326390"/>
                </a:lnTo>
                <a:lnTo>
                  <a:pt x="948674" y="305546"/>
                </a:lnTo>
                <a:lnTo>
                  <a:pt x="981329" y="269367"/>
                </a:lnTo>
                <a:lnTo>
                  <a:pt x="1001506" y="220964"/>
                </a:lnTo>
                <a:lnTo>
                  <a:pt x="1008252" y="163322"/>
                </a:lnTo>
                <a:lnTo>
                  <a:pt x="1006564" y="133393"/>
                </a:lnTo>
                <a:lnTo>
                  <a:pt x="993090" y="80347"/>
                </a:lnTo>
                <a:lnTo>
                  <a:pt x="966370" y="37201"/>
                </a:lnTo>
                <a:lnTo>
                  <a:pt x="927786" y="8574"/>
                </a:lnTo>
                <a:lnTo>
                  <a:pt x="904113" y="0"/>
                </a:lnTo>
                <a:close/>
              </a:path>
              <a:path w="1008379" h="326389">
                <a:moveTo>
                  <a:pt x="104139" y="0"/>
                </a:moveTo>
                <a:lnTo>
                  <a:pt x="59674" y="20970"/>
                </a:lnTo>
                <a:lnTo>
                  <a:pt x="26924" y="57277"/>
                </a:lnTo>
                <a:lnTo>
                  <a:pt x="6746" y="105727"/>
                </a:lnTo>
                <a:lnTo>
                  <a:pt x="0" y="163322"/>
                </a:lnTo>
                <a:lnTo>
                  <a:pt x="1668" y="193303"/>
                </a:lnTo>
                <a:lnTo>
                  <a:pt x="15055" y="246314"/>
                </a:lnTo>
                <a:lnTo>
                  <a:pt x="41703" y="289367"/>
                </a:lnTo>
                <a:lnTo>
                  <a:pt x="80375" y="317890"/>
                </a:lnTo>
                <a:lnTo>
                  <a:pt x="104139" y="326390"/>
                </a:lnTo>
                <a:lnTo>
                  <a:pt x="108204" y="313182"/>
                </a:lnTo>
                <a:lnTo>
                  <a:pt x="89636" y="304970"/>
                </a:lnTo>
                <a:lnTo>
                  <a:pt x="73580" y="293497"/>
                </a:lnTo>
                <a:lnTo>
                  <a:pt x="49149" y="260858"/>
                </a:lnTo>
                <a:lnTo>
                  <a:pt x="34575" y="216535"/>
                </a:lnTo>
                <a:lnTo>
                  <a:pt x="29718" y="161544"/>
                </a:lnTo>
                <a:lnTo>
                  <a:pt x="30932" y="133711"/>
                </a:lnTo>
                <a:lnTo>
                  <a:pt x="40647" y="85427"/>
                </a:lnTo>
                <a:lnTo>
                  <a:pt x="60098" y="47355"/>
                </a:lnTo>
                <a:lnTo>
                  <a:pt x="89904" y="21447"/>
                </a:lnTo>
                <a:lnTo>
                  <a:pt x="108712" y="13208"/>
                </a:lnTo>
                <a:lnTo>
                  <a:pt x="1041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4362" y="1243913"/>
            <a:ext cx="7795259" cy="533146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5" dirty="0">
                <a:solidFill>
                  <a:srgbClr val="008000"/>
                </a:solidFill>
                <a:latin typeface="Calibri"/>
                <a:cs typeface="Calibri"/>
              </a:rPr>
              <a:t>Not </a:t>
            </a: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all high-confidence rules </a:t>
            </a:r>
            <a:r>
              <a:rPr sz="3200" b="1" spc="-5" dirty="0">
                <a:solidFill>
                  <a:srgbClr val="008000"/>
                </a:solidFill>
                <a:latin typeface="Calibri"/>
                <a:cs typeface="Calibri"/>
              </a:rPr>
              <a:t>are</a:t>
            </a:r>
            <a:r>
              <a:rPr sz="3200" b="1" spc="-4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8000"/>
                </a:solidFill>
                <a:latin typeface="Calibri"/>
                <a:cs typeface="Calibri"/>
              </a:rPr>
              <a:t>interesting</a:t>
            </a:r>
            <a:endParaRPr sz="3200">
              <a:latin typeface="Calibri"/>
              <a:cs typeface="Calibri"/>
            </a:endParaRPr>
          </a:p>
          <a:p>
            <a:pPr marL="632460" marR="5080" lvl="1" indent="-276860">
              <a:lnSpc>
                <a:spcPct val="102400"/>
              </a:lnSpc>
              <a:spcBef>
                <a:spcPts val="66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dirty="0">
                <a:latin typeface="Calibri"/>
                <a:cs typeface="Calibri"/>
              </a:rPr>
              <a:t>The </a:t>
            </a:r>
            <a:r>
              <a:rPr sz="2750" spc="-10" dirty="0">
                <a:latin typeface="Calibri"/>
                <a:cs typeface="Calibri"/>
              </a:rPr>
              <a:t>rule </a:t>
            </a:r>
            <a:r>
              <a:rPr sz="2750" b="1" i="1" spc="20" dirty="0">
                <a:latin typeface="Times New Roman"/>
                <a:cs typeface="Times New Roman"/>
              </a:rPr>
              <a:t>X </a:t>
            </a:r>
            <a:r>
              <a:rPr sz="2750" b="1" i="1" spc="30" dirty="0">
                <a:latin typeface="Times New Roman"/>
                <a:cs typeface="Times New Roman"/>
              </a:rPr>
              <a:t>→ </a:t>
            </a:r>
            <a:r>
              <a:rPr sz="2750" b="1" i="1" dirty="0">
                <a:latin typeface="Times New Roman"/>
                <a:cs typeface="Times New Roman"/>
              </a:rPr>
              <a:t>milk </a:t>
            </a:r>
            <a:r>
              <a:rPr sz="2750" spc="5" dirty="0">
                <a:latin typeface="Calibri"/>
                <a:cs typeface="Calibri"/>
              </a:rPr>
              <a:t>may </a:t>
            </a:r>
            <a:r>
              <a:rPr sz="2750" spc="-10" dirty="0">
                <a:latin typeface="Calibri"/>
                <a:cs typeface="Calibri"/>
              </a:rPr>
              <a:t>have </a:t>
            </a:r>
            <a:r>
              <a:rPr sz="2750" spc="-15" dirty="0">
                <a:latin typeface="Calibri"/>
                <a:cs typeface="Calibri"/>
              </a:rPr>
              <a:t>high </a:t>
            </a:r>
            <a:r>
              <a:rPr sz="2750" spc="-5" dirty="0">
                <a:latin typeface="Calibri"/>
                <a:cs typeface="Calibri"/>
              </a:rPr>
              <a:t>confidence </a:t>
            </a:r>
            <a:r>
              <a:rPr sz="2750" spc="-15" dirty="0">
                <a:latin typeface="Calibri"/>
                <a:cs typeface="Calibri"/>
              </a:rPr>
              <a:t>for  </a:t>
            </a:r>
            <a:r>
              <a:rPr sz="2750" spc="-5" dirty="0">
                <a:latin typeface="Calibri"/>
                <a:cs typeface="Calibri"/>
              </a:rPr>
              <a:t>many </a:t>
            </a:r>
            <a:r>
              <a:rPr sz="2750" spc="-15" dirty="0">
                <a:latin typeface="Calibri"/>
                <a:cs typeface="Calibri"/>
              </a:rPr>
              <a:t>itemsets </a:t>
            </a:r>
            <a:r>
              <a:rPr sz="2750" b="1" i="1" spc="25" dirty="0">
                <a:latin typeface="Times New Roman"/>
                <a:cs typeface="Times New Roman"/>
              </a:rPr>
              <a:t>X</a:t>
            </a:r>
            <a:r>
              <a:rPr sz="2750" spc="25" dirty="0">
                <a:latin typeface="Calibri"/>
                <a:cs typeface="Calibri"/>
              </a:rPr>
              <a:t>, </a:t>
            </a:r>
            <a:r>
              <a:rPr sz="2750" spc="-5" dirty="0">
                <a:latin typeface="Calibri"/>
                <a:cs typeface="Calibri"/>
              </a:rPr>
              <a:t>because milk </a:t>
            </a:r>
            <a:r>
              <a:rPr sz="2750" spc="-15" dirty="0">
                <a:latin typeface="Calibri"/>
                <a:cs typeface="Calibri"/>
              </a:rPr>
              <a:t>is </a:t>
            </a:r>
            <a:r>
              <a:rPr sz="2750" spc="-10" dirty="0">
                <a:latin typeface="Calibri"/>
                <a:cs typeface="Calibri"/>
              </a:rPr>
              <a:t>just </a:t>
            </a:r>
            <a:r>
              <a:rPr sz="2750" spc="-15" dirty="0">
                <a:latin typeface="Calibri"/>
                <a:cs typeface="Calibri"/>
              </a:rPr>
              <a:t>purchased  </a:t>
            </a:r>
            <a:r>
              <a:rPr sz="2750" spc="5" dirty="0">
                <a:latin typeface="Calibri"/>
                <a:cs typeface="Calibri"/>
              </a:rPr>
              <a:t>very </a:t>
            </a:r>
            <a:r>
              <a:rPr sz="2750" dirty="0">
                <a:latin typeface="Calibri"/>
                <a:cs typeface="Calibri"/>
              </a:rPr>
              <a:t>often </a:t>
            </a:r>
            <a:r>
              <a:rPr sz="2750" spc="-10" dirty="0">
                <a:latin typeface="Calibri"/>
                <a:cs typeface="Calibri"/>
              </a:rPr>
              <a:t>(independent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b="1" i="1" spc="20" dirty="0">
                <a:latin typeface="Times New Roman"/>
                <a:cs typeface="Times New Roman"/>
              </a:rPr>
              <a:t>X</a:t>
            </a:r>
            <a:r>
              <a:rPr sz="2750" spc="20" dirty="0">
                <a:latin typeface="Calibri"/>
                <a:cs typeface="Calibri"/>
              </a:rPr>
              <a:t>) </a:t>
            </a:r>
            <a:r>
              <a:rPr sz="2750" spc="5" dirty="0">
                <a:latin typeface="Calibri"/>
                <a:cs typeface="Calibri"/>
              </a:rPr>
              <a:t>and </a:t>
            </a:r>
            <a:r>
              <a:rPr sz="2750" spc="-15" dirty="0">
                <a:latin typeface="Calibri"/>
                <a:cs typeface="Calibri"/>
              </a:rPr>
              <a:t>the </a:t>
            </a:r>
            <a:r>
              <a:rPr sz="2750" spc="-5" dirty="0">
                <a:latin typeface="Calibri"/>
                <a:cs typeface="Calibri"/>
              </a:rPr>
              <a:t>confidence  </a:t>
            </a:r>
            <a:r>
              <a:rPr sz="2750" spc="-20" dirty="0">
                <a:latin typeface="Calibri"/>
                <a:cs typeface="Calibri"/>
              </a:rPr>
              <a:t>will </a:t>
            </a:r>
            <a:r>
              <a:rPr sz="2750" spc="-5" dirty="0">
                <a:latin typeface="Calibri"/>
                <a:cs typeface="Calibri"/>
              </a:rPr>
              <a:t>be</a:t>
            </a:r>
            <a:r>
              <a:rPr sz="2750" spc="19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high</a:t>
            </a:r>
            <a:endParaRPr sz="2750">
              <a:latin typeface="Calibri"/>
              <a:cs typeface="Calibri"/>
            </a:endParaRPr>
          </a:p>
          <a:p>
            <a:pPr marL="336550" indent="-324485">
              <a:lnSpc>
                <a:spcPts val="3800"/>
              </a:lnSpc>
              <a:spcBef>
                <a:spcPts val="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u="heavy" spc="-5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Calibri"/>
                <a:cs typeface="Calibri"/>
              </a:rPr>
              <a:t>Interest</a:t>
            </a:r>
            <a:r>
              <a:rPr sz="3200" b="1" spc="-12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spc="20" dirty="0">
                <a:solidFill>
                  <a:srgbClr val="FF0066"/>
                </a:solidFill>
                <a:latin typeface="Calibri"/>
                <a:cs typeface="Calibri"/>
              </a:rPr>
              <a:t>of</a:t>
            </a:r>
            <a:r>
              <a:rPr sz="3200" spc="-55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spc="25" dirty="0">
                <a:solidFill>
                  <a:srgbClr val="FF0066"/>
                </a:solidFill>
                <a:latin typeface="Calibri"/>
                <a:cs typeface="Calibri"/>
              </a:rPr>
              <a:t>an</a:t>
            </a:r>
            <a:r>
              <a:rPr sz="3200" spc="-2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spc="15" dirty="0">
                <a:solidFill>
                  <a:srgbClr val="FF0066"/>
                </a:solidFill>
                <a:latin typeface="Calibri"/>
                <a:cs typeface="Calibri"/>
              </a:rPr>
              <a:t>association</a:t>
            </a:r>
            <a:r>
              <a:rPr sz="3200" spc="-245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spc="15" dirty="0">
                <a:solidFill>
                  <a:srgbClr val="FF0066"/>
                </a:solidFill>
                <a:latin typeface="Calibri"/>
                <a:cs typeface="Calibri"/>
              </a:rPr>
              <a:t>rule</a:t>
            </a:r>
            <a:r>
              <a:rPr sz="3200" spc="-65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b="1" i="1" spc="10" dirty="0">
                <a:solidFill>
                  <a:srgbClr val="FF0066"/>
                </a:solidFill>
                <a:latin typeface="Times New Roman"/>
                <a:cs typeface="Times New Roman"/>
              </a:rPr>
              <a:t>I</a:t>
            </a:r>
            <a:r>
              <a:rPr sz="3200" b="1" i="1" spc="-30" dirty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sz="3200" b="1" i="1" spc="25" dirty="0">
                <a:solidFill>
                  <a:srgbClr val="FF0066"/>
                </a:solidFill>
                <a:latin typeface="Times New Roman"/>
                <a:cs typeface="Times New Roman"/>
              </a:rPr>
              <a:t>→</a:t>
            </a:r>
            <a:r>
              <a:rPr sz="3200" b="1" i="1" spc="-45" dirty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sz="3200" b="1" i="1" spc="5" dirty="0">
                <a:solidFill>
                  <a:srgbClr val="FF0066"/>
                </a:solidFill>
                <a:latin typeface="Times New Roman"/>
                <a:cs typeface="Times New Roman"/>
              </a:rPr>
              <a:t>j</a:t>
            </a:r>
            <a:r>
              <a:rPr sz="3200" spc="5" dirty="0">
                <a:solidFill>
                  <a:srgbClr val="FF0066"/>
                </a:solidFill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336550" marR="358140">
              <a:lnSpc>
                <a:spcPts val="3910"/>
              </a:lnSpc>
              <a:spcBef>
                <a:spcPts val="30"/>
              </a:spcBef>
            </a:pPr>
            <a:r>
              <a:rPr sz="3200" spc="25" dirty="0">
                <a:latin typeface="Calibri"/>
                <a:cs typeface="Calibri"/>
              </a:rPr>
              <a:t>abs. </a:t>
            </a:r>
            <a:r>
              <a:rPr sz="3200" spc="-10" dirty="0">
                <a:latin typeface="Calibri"/>
                <a:cs typeface="Calibri"/>
              </a:rPr>
              <a:t>difference </a:t>
            </a:r>
            <a:r>
              <a:rPr sz="3200" dirty="0">
                <a:latin typeface="Calibri"/>
                <a:cs typeface="Calibri"/>
              </a:rPr>
              <a:t>between its </a:t>
            </a:r>
            <a:r>
              <a:rPr sz="3200" spc="10" dirty="0">
                <a:latin typeface="Calibri"/>
                <a:cs typeface="Calibri"/>
              </a:rPr>
              <a:t>confidence</a:t>
            </a:r>
            <a:r>
              <a:rPr sz="3200" spc="-535" dirty="0">
                <a:latin typeface="Calibri"/>
                <a:cs typeface="Calibri"/>
              </a:rPr>
              <a:t> </a:t>
            </a:r>
            <a:r>
              <a:rPr sz="3200" spc="30" dirty="0">
                <a:latin typeface="Calibri"/>
                <a:cs typeface="Calibri"/>
              </a:rPr>
              <a:t>and  </a:t>
            </a:r>
            <a:r>
              <a:rPr sz="3200" spc="10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fraction </a:t>
            </a:r>
            <a:r>
              <a:rPr sz="3200" spc="20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baskets </a:t>
            </a:r>
            <a:r>
              <a:rPr sz="3200" spc="15" dirty="0">
                <a:latin typeface="Calibri"/>
                <a:cs typeface="Calibri"/>
              </a:rPr>
              <a:t>that</a:t>
            </a:r>
            <a:r>
              <a:rPr sz="3200" spc="-50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contain </a:t>
            </a:r>
            <a:r>
              <a:rPr sz="3200" b="1" i="1" spc="5" dirty="0">
                <a:latin typeface="Times New Roman"/>
                <a:cs typeface="Times New Roman"/>
              </a:rPr>
              <a:t>j</a:t>
            </a:r>
            <a:endParaRPr sz="3200">
              <a:latin typeface="Times New Roman"/>
              <a:cs typeface="Times New Roman"/>
            </a:endParaRPr>
          </a:p>
          <a:p>
            <a:pPr marL="640080">
              <a:lnSpc>
                <a:spcPct val="100000"/>
              </a:lnSpc>
              <a:spcBef>
                <a:spcPts val="155"/>
              </a:spcBef>
              <a:tabLst>
                <a:tab pos="3090545" algn="l"/>
                <a:tab pos="5483860" algn="l"/>
              </a:tabLst>
            </a:pPr>
            <a:r>
              <a:rPr sz="2750" spc="5" dirty="0">
                <a:latin typeface="Cambria Math"/>
                <a:cs typeface="Cambria Math"/>
              </a:rPr>
              <a:t>𝐼𝑛𝑡𝑒𝑟𝑒𝑠𝑡  I</a:t>
            </a:r>
            <a:r>
              <a:rPr sz="2750" spc="315" dirty="0">
                <a:latin typeface="Cambria Math"/>
                <a:cs typeface="Cambria Math"/>
              </a:rPr>
              <a:t> </a:t>
            </a:r>
            <a:r>
              <a:rPr sz="2750" spc="20" dirty="0">
                <a:latin typeface="Cambria Math"/>
                <a:cs typeface="Cambria Math"/>
              </a:rPr>
              <a:t>→</a:t>
            </a:r>
            <a:r>
              <a:rPr sz="2750" spc="150" dirty="0">
                <a:latin typeface="Cambria Math"/>
                <a:cs typeface="Cambria Math"/>
              </a:rPr>
              <a:t> </a:t>
            </a:r>
            <a:r>
              <a:rPr sz="2750" spc="5" dirty="0">
                <a:latin typeface="Cambria Math"/>
                <a:cs typeface="Cambria Math"/>
              </a:rPr>
              <a:t>𝑗	</a:t>
            </a:r>
            <a:r>
              <a:rPr sz="2750" spc="20" dirty="0">
                <a:latin typeface="Cambria Math"/>
                <a:cs typeface="Cambria Math"/>
              </a:rPr>
              <a:t>= </a:t>
            </a:r>
            <a:r>
              <a:rPr sz="2750" spc="15" dirty="0">
                <a:latin typeface="Cambria Math"/>
                <a:cs typeface="Cambria Math"/>
              </a:rPr>
              <a:t>|𝑐𝑜𝑛𝑓  </a:t>
            </a:r>
            <a:r>
              <a:rPr sz="2750" spc="10" dirty="0">
                <a:latin typeface="Cambria Math"/>
                <a:cs typeface="Cambria Math"/>
              </a:rPr>
              <a:t>𝐼</a:t>
            </a:r>
            <a:r>
              <a:rPr sz="2750" spc="535" dirty="0">
                <a:latin typeface="Cambria Math"/>
                <a:cs typeface="Cambria Math"/>
              </a:rPr>
              <a:t> </a:t>
            </a:r>
            <a:r>
              <a:rPr sz="2750" spc="20" dirty="0">
                <a:latin typeface="Cambria Math"/>
                <a:cs typeface="Cambria Math"/>
              </a:rPr>
              <a:t>→</a:t>
            </a:r>
            <a:r>
              <a:rPr sz="2750" spc="150" dirty="0">
                <a:latin typeface="Cambria Math"/>
                <a:cs typeface="Cambria Math"/>
              </a:rPr>
              <a:t> </a:t>
            </a:r>
            <a:r>
              <a:rPr sz="2750" spc="5" dirty="0">
                <a:latin typeface="Cambria Math"/>
                <a:cs typeface="Cambria Math"/>
              </a:rPr>
              <a:t>𝑗	</a:t>
            </a:r>
            <a:r>
              <a:rPr sz="2750" spc="20" dirty="0">
                <a:latin typeface="Cambria Math"/>
                <a:cs typeface="Cambria Math"/>
              </a:rPr>
              <a:t>−</a:t>
            </a:r>
            <a:r>
              <a:rPr sz="2750" spc="15" dirty="0">
                <a:latin typeface="Cambria Math"/>
                <a:cs typeface="Cambria Math"/>
              </a:rPr>
              <a:t> </a:t>
            </a:r>
            <a:r>
              <a:rPr sz="2750" spc="25" dirty="0">
                <a:latin typeface="Cambria Math"/>
                <a:cs typeface="Cambria Math"/>
              </a:rPr>
              <a:t>Pr[𝑗]|</a:t>
            </a:r>
            <a:endParaRPr sz="2750">
              <a:latin typeface="Cambria Math"/>
              <a:cs typeface="Cambria Math"/>
            </a:endParaRPr>
          </a:p>
          <a:p>
            <a:pPr marL="632460" marR="777240" lvl="1" indent="-276860">
              <a:lnSpc>
                <a:spcPct val="100000"/>
              </a:lnSpc>
              <a:spcBef>
                <a:spcPts val="119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20" dirty="0">
                <a:latin typeface="Calibri"/>
                <a:cs typeface="Calibri"/>
              </a:rPr>
              <a:t>Interesting </a:t>
            </a:r>
            <a:r>
              <a:rPr sz="2750" spc="-10" dirty="0">
                <a:latin typeface="Calibri"/>
                <a:cs typeface="Calibri"/>
              </a:rPr>
              <a:t>rules </a:t>
            </a:r>
            <a:r>
              <a:rPr sz="2750" spc="15" dirty="0">
                <a:latin typeface="Calibri"/>
                <a:cs typeface="Calibri"/>
              </a:rPr>
              <a:t>are </a:t>
            </a:r>
            <a:r>
              <a:rPr sz="2750" spc="-5" dirty="0">
                <a:latin typeface="Calibri"/>
                <a:cs typeface="Calibri"/>
              </a:rPr>
              <a:t>those </a:t>
            </a:r>
            <a:r>
              <a:rPr sz="2750" spc="-20" dirty="0">
                <a:latin typeface="Calibri"/>
                <a:cs typeface="Calibri"/>
              </a:rPr>
              <a:t>with </a:t>
            </a:r>
            <a:r>
              <a:rPr sz="2750" spc="-15" dirty="0">
                <a:latin typeface="Calibri"/>
                <a:cs typeface="Calibri"/>
              </a:rPr>
              <a:t>high interest  values (usually </a:t>
            </a:r>
            <a:r>
              <a:rPr sz="2750" spc="15" dirty="0">
                <a:latin typeface="Calibri"/>
                <a:cs typeface="Calibri"/>
              </a:rPr>
              <a:t>above</a:t>
            </a:r>
            <a:r>
              <a:rPr sz="2750" spc="-19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0.5)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1A97CC-0A6F-49E4-8C3E-185C7F31B5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23786"/>
            <a:ext cx="8272526" cy="5857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1422" y="1308988"/>
            <a:ext cx="192722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2750" spc="20" dirty="0">
                <a:solidFill>
                  <a:srgbClr val="000000"/>
                </a:solidFill>
              </a:rPr>
              <a:t>B</a:t>
            </a:r>
            <a:r>
              <a:rPr sz="2775" spc="30" baseline="-18018" dirty="0">
                <a:solidFill>
                  <a:srgbClr val="000000"/>
                </a:solidFill>
              </a:rPr>
              <a:t>1 </a:t>
            </a:r>
            <a:r>
              <a:rPr sz="2750" spc="10" dirty="0">
                <a:solidFill>
                  <a:srgbClr val="000000"/>
                </a:solidFill>
              </a:rPr>
              <a:t>= </a:t>
            </a:r>
            <a:r>
              <a:rPr sz="2750" spc="15" dirty="0">
                <a:solidFill>
                  <a:srgbClr val="000000"/>
                </a:solidFill>
              </a:rPr>
              <a:t>{m, </a:t>
            </a:r>
            <a:r>
              <a:rPr sz="2750" spc="-10" dirty="0">
                <a:solidFill>
                  <a:srgbClr val="000000"/>
                </a:solidFill>
              </a:rPr>
              <a:t>c,</a:t>
            </a:r>
            <a:r>
              <a:rPr sz="2750" spc="-235" dirty="0">
                <a:solidFill>
                  <a:srgbClr val="000000"/>
                </a:solidFill>
              </a:rPr>
              <a:t> </a:t>
            </a:r>
            <a:r>
              <a:rPr sz="2750" spc="15" dirty="0">
                <a:solidFill>
                  <a:srgbClr val="000000"/>
                </a:solidFill>
              </a:rPr>
              <a:t>b}</a:t>
            </a:r>
            <a:endParaRPr sz="2750"/>
          </a:p>
        </p:txBody>
      </p:sp>
      <p:sp>
        <p:nvSpPr>
          <p:cNvPr id="4" name="object 4"/>
          <p:cNvSpPr txBox="1"/>
          <p:nvPr/>
        </p:nvSpPr>
        <p:spPr>
          <a:xfrm>
            <a:off x="4135754" y="1255775"/>
            <a:ext cx="2219325" cy="1913889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0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2 </a:t>
            </a:r>
            <a:r>
              <a:rPr sz="2750" b="1" spc="10" dirty="0">
                <a:latin typeface="Calibri"/>
                <a:cs typeface="Calibri"/>
              </a:rPr>
              <a:t>= </a:t>
            </a:r>
            <a:r>
              <a:rPr sz="2750" b="1" spc="15" dirty="0">
                <a:latin typeface="Calibri"/>
                <a:cs typeface="Calibri"/>
              </a:rPr>
              <a:t>{m, p,</a:t>
            </a:r>
            <a:r>
              <a:rPr sz="2750" b="1" spc="-204" dirty="0">
                <a:latin typeface="Calibri"/>
                <a:cs typeface="Calibri"/>
              </a:rPr>
              <a:t> </a:t>
            </a:r>
            <a:r>
              <a:rPr sz="2750" b="1" spc="-10" dirty="0">
                <a:latin typeface="Calibri"/>
                <a:cs typeface="Calibri"/>
              </a:rPr>
              <a:t>j}</a:t>
            </a:r>
            <a:endParaRPr sz="27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55"/>
              </a:spcBef>
            </a:pPr>
            <a:r>
              <a:rPr sz="2750" b="1" spc="25" dirty="0">
                <a:latin typeface="Calibri"/>
                <a:cs typeface="Calibri"/>
              </a:rPr>
              <a:t>B</a:t>
            </a:r>
            <a:r>
              <a:rPr sz="2775" b="1" spc="37" baseline="-18018" dirty="0">
                <a:latin typeface="Calibri"/>
                <a:cs typeface="Calibri"/>
              </a:rPr>
              <a:t>4</a:t>
            </a:r>
            <a:r>
              <a:rPr sz="2750" b="1" spc="25" dirty="0">
                <a:latin typeface="Calibri"/>
                <a:cs typeface="Calibri"/>
              </a:rPr>
              <a:t>= </a:t>
            </a:r>
            <a:r>
              <a:rPr sz="2750" b="1" spc="5" dirty="0">
                <a:latin typeface="Calibri"/>
                <a:cs typeface="Calibri"/>
              </a:rPr>
              <a:t>{c,</a:t>
            </a:r>
            <a:r>
              <a:rPr sz="2750" b="1" spc="-5" dirty="0">
                <a:latin typeface="Calibri"/>
                <a:cs typeface="Calibri"/>
              </a:rPr>
              <a:t> </a:t>
            </a:r>
            <a:r>
              <a:rPr sz="2750" b="1" spc="-10" dirty="0">
                <a:latin typeface="Calibri"/>
                <a:cs typeface="Calibri"/>
              </a:rPr>
              <a:t>j}</a:t>
            </a:r>
            <a:endParaRPr sz="2750">
              <a:latin typeface="Calibri"/>
              <a:cs typeface="Calibri"/>
            </a:endParaRPr>
          </a:p>
          <a:p>
            <a:pPr marL="38100" marR="30480">
              <a:lnSpc>
                <a:spcPct val="111500"/>
              </a:lnSpc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6 </a:t>
            </a:r>
            <a:r>
              <a:rPr sz="2750" b="1" spc="10" dirty="0">
                <a:latin typeface="Calibri"/>
                <a:cs typeface="Calibri"/>
              </a:rPr>
              <a:t>= </a:t>
            </a:r>
            <a:r>
              <a:rPr sz="2750" b="1" spc="15" dirty="0">
                <a:latin typeface="Calibri"/>
                <a:cs typeface="Calibri"/>
              </a:rPr>
              <a:t>{m, </a:t>
            </a:r>
            <a:r>
              <a:rPr sz="2750" b="1" spc="-10" dirty="0">
                <a:latin typeface="Calibri"/>
                <a:cs typeface="Calibri"/>
              </a:rPr>
              <a:t>c, </a:t>
            </a:r>
            <a:r>
              <a:rPr sz="2750" b="1" spc="10" dirty="0">
                <a:latin typeface="Calibri"/>
                <a:cs typeface="Calibri"/>
              </a:rPr>
              <a:t>b, </a:t>
            </a:r>
            <a:r>
              <a:rPr sz="2750" b="1" spc="-10" dirty="0">
                <a:latin typeface="Calibri"/>
                <a:cs typeface="Calibri"/>
              </a:rPr>
              <a:t>j}  </a:t>
            </a: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8 </a:t>
            </a:r>
            <a:r>
              <a:rPr sz="2750" b="1" spc="10" dirty="0">
                <a:latin typeface="Calibri"/>
                <a:cs typeface="Calibri"/>
              </a:rPr>
              <a:t>= </a:t>
            </a:r>
            <a:r>
              <a:rPr sz="2750" b="1" spc="20" dirty="0">
                <a:latin typeface="Calibri"/>
                <a:cs typeface="Calibri"/>
              </a:rPr>
              <a:t>{b,</a:t>
            </a:r>
            <a:r>
              <a:rPr sz="2750" b="1" spc="-260" dirty="0">
                <a:latin typeface="Calibri"/>
                <a:cs typeface="Calibri"/>
              </a:rPr>
              <a:t> </a:t>
            </a:r>
            <a:r>
              <a:rPr sz="2750" b="1" spc="-10" dirty="0">
                <a:latin typeface="Calibri"/>
                <a:cs typeface="Calibri"/>
              </a:rPr>
              <a:t>c}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1422" y="1742059"/>
            <a:ext cx="1974850" cy="142811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75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3 </a:t>
            </a:r>
            <a:r>
              <a:rPr sz="2750" b="1" spc="10" dirty="0">
                <a:latin typeface="Calibri"/>
                <a:cs typeface="Calibri"/>
              </a:rPr>
              <a:t>= </a:t>
            </a:r>
            <a:r>
              <a:rPr sz="2750" b="1" spc="15" dirty="0">
                <a:latin typeface="Calibri"/>
                <a:cs typeface="Calibri"/>
              </a:rPr>
              <a:t>{m,</a:t>
            </a:r>
            <a:r>
              <a:rPr sz="2750" b="1" spc="-204" dirty="0">
                <a:latin typeface="Calibri"/>
                <a:cs typeface="Calibri"/>
              </a:rPr>
              <a:t> </a:t>
            </a:r>
            <a:r>
              <a:rPr sz="2750" b="1" spc="15" dirty="0">
                <a:latin typeface="Calibri"/>
                <a:cs typeface="Calibri"/>
              </a:rPr>
              <a:t>b}</a:t>
            </a:r>
            <a:endParaRPr sz="275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380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5 </a:t>
            </a:r>
            <a:r>
              <a:rPr sz="2750" b="1" spc="10" dirty="0">
                <a:latin typeface="Calibri"/>
                <a:cs typeface="Calibri"/>
              </a:rPr>
              <a:t>= </a:t>
            </a:r>
            <a:r>
              <a:rPr sz="2750" b="1" spc="15" dirty="0">
                <a:latin typeface="Calibri"/>
                <a:cs typeface="Calibri"/>
              </a:rPr>
              <a:t>{m, p,</a:t>
            </a:r>
            <a:r>
              <a:rPr sz="2750" b="1" spc="-229" dirty="0">
                <a:latin typeface="Calibri"/>
                <a:cs typeface="Calibri"/>
              </a:rPr>
              <a:t> </a:t>
            </a:r>
            <a:r>
              <a:rPr sz="2750" b="1" spc="15" dirty="0">
                <a:latin typeface="Calibri"/>
                <a:cs typeface="Calibri"/>
              </a:rPr>
              <a:t>b}</a:t>
            </a:r>
            <a:endParaRPr sz="275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380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7 </a:t>
            </a:r>
            <a:r>
              <a:rPr sz="2750" b="1" spc="10" dirty="0">
                <a:latin typeface="Calibri"/>
                <a:cs typeface="Calibri"/>
              </a:rPr>
              <a:t>= </a:t>
            </a:r>
            <a:r>
              <a:rPr sz="2750" b="1" dirty="0">
                <a:latin typeface="Calibri"/>
                <a:cs typeface="Calibri"/>
              </a:rPr>
              <a:t>{c, </a:t>
            </a:r>
            <a:r>
              <a:rPr sz="2750" b="1" spc="15" dirty="0">
                <a:latin typeface="Calibri"/>
                <a:cs typeface="Calibri"/>
              </a:rPr>
              <a:t>b,</a:t>
            </a:r>
            <a:r>
              <a:rPr sz="2750" b="1" spc="-190" dirty="0">
                <a:latin typeface="Calibri"/>
                <a:cs typeface="Calibri"/>
              </a:rPr>
              <a:t> </a:t>
            </a:r>
            <a:r>
              <a:rPr sz="2750" b="1" spc="-10" dirty="0">
                <a:latin typeface="Calibri"/>
                <a:cs typeface="Calibri"/>
              </a:rPr>
              <a:t>j}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4362" y="3479711"/>
            <a:ext cx="7615238" cy="2029402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68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10" dirty="0">
                <a:latin typeface="Calibri"/>
                <a:cs typeface="Calibri"/>
              </a:rPr>
              <a:t>Association rule: </a:t>
            </a: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{m,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b}</a:t>
            </a:r>
            <a:r>
              <a:rPr sz="3200" b="1" spc="-3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35" dirty="0">
                <a:solidFill>
                  <a:srgbClr val="0000FF"/>
                </a:solidFill>
                <a:latin typeface="Lucida Sans Unicode"/>
                <a:cs typeface="Lucida Sans Unicode"/>
              </a:rPr>
              <a:t>→</a:t>
            </a:r>
            <a:r>
              <a:rPr sz="3200" b="1" spc="35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endParaRPr sz="32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51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b="1" u="heavy" spc="10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Calibri"/>
                <a:cs typeface="Calibri"/>
              </a:rPr>
              <a:t>Support </a:t>
            </a:r>
            <a:r>
              <a:rPr sz="2750" b="1" spc="10" dirty="0">
                <a:latin typeface="Calibri"/>
                <a:cs typeface="Calibri"/>
              </a:rPr>
              <a:t>=</a:t>
            </a:r>
            <a:r>
              <a:rPr sz="2750" b="1" spc="12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2</a:t>
            </a:r>
            <a:endParaRPr sz="275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38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b="1" u="heavy" spc="15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Calibri"/>
                <a:cs typeface="Calibri"/>
              </a:rPr>
              <a:t>Confidence</a:t>
            </a:r>
            <a:r>
              <a:rPr sz="2750" b="1" spc="15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2750" b="1" spc="10" dirty="0">
                <a:latin typeface="Calibri"/>
                <a:cs typeface="Calibri"/>
              </a:rPr>
              <a:t>= </a:t>
            </a:r>
            <a:r>
              <a:rPr sz="2750" spc="5" dirty="0">
                <a:latin typeface="Calibri"/>
                <a:cs typeface="Calibri"/>
              </a:rPr>
              <a:t>2/4 </a:t>
            </a:r>
            <a:r>
              <a:rPr sz="2750" spc="10" dirty="0">
                <a:latin typeface="Calibri"/>
                <a:cs typeface="Calibri"/>
              </a:rPr>
              <a:t>=</a:t>
            </a:r>
            <a:r>
              <a:rPr sz="2750" spc="15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0.5</a:t>
            </a:r>
            <a:endParaRPr sz="275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459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b="1" u="heavy" spc="15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Calibri"/>
                <a:cs typeface="Calibri"/>
              </a:rPr>
              <a:t>Interest</a:t>
            </a:r>
            <a:r>
              <a:rPr sz="2750" b="1" spc="15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2750" b="1" spc="10" dirty="0">
                <a:latin typeface="Calibri"/>
                <a:cs typeface="Calibri"/>
              </a:rPr>
              <a:t>=</a:t>
            </a:r>
            <a:r>
              <a:rPr lang="en-AU" sz="2750" b="1" spc="10" dirty="0">
                <a:latin typeface="Calibri"/>
                <a:cs typeface="Calibri"/>
              </a:rPr>
              <a:t>____________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81BB19A-1667-4424-9ECD-4E08D94514B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9150" y="1276350"/>
            <a:ext cx="7343775" cy="1104900"/>
            <a:chOff x="819150" y="1276350"/>
            <a:chExt cx="7343775" cy="1104900"/>
          </a:xfrm>
        </p:grpSpPr>
        <p:sp>
          <p:nvSpPr>
            <p:cNvPr id="3" name="object 3"/>
            <p:cNvSpPr/>
            <p:nvPr/>
          </p:nvSpPr>
          <p:spPr>
            <a:xfrm>
              <a:off x="838200" y="1295400"/>
              <a:ext cx="7305675" cy="1066800"/>
            </a:xfrm>
            <a:custGeom>
              <a:avLst/>
              <a:gdLst/>
              <a:ahLst/>
              <a:cxnLst/>
              <a:rect l="l" t="t" r="r" b="b"/>
              <a:pathLst>
                <a:path w="7305675" h="1066800">
                  <a:moveTo>
                    <a:pt x="7305675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7305675" y="1066800"/>
                  </a:lnTo>
                  <a:lnTo>
                    <a:pt x="7305675" y="0"/>
                  </a:lnTo>
                  <a:close/>
                </a:path>
              </a:pathLst>
            </a:custGeom>
            <a:solidFill>
              <a:srgbClr val="D3D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38200" y="1295400"/>
              <a:ext cx="7305675" cy="1066800"/>
            </a:xfrm>
            <a:custGeom>
              <a:avLst/>
              <a:gdLst/>
              <a:ahLst/>
              <a:cxnLst/>
              <a:rect l="l" t="t" r="r" b="b"/>
              <a:pathLst>
                <a:path w="7305675" h="1066800">
                  <a:moveTo>
                    <a:pt x="0" y="1066800"/>
                  </a:moveTo>
                  <a:lnTo>
                    <a:pt x="7305675" y="1066800"/>
                  </a:lnTo>
                  <a:lnTo>
                    <a:pt x="7305675" y="0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</a:pathLst>
            </a:custGeom>
            <a:ln w="381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33311"/>
            <a:ext cx="5891276" cy="5857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187061" y="6194986"/>
            <a:ext cx="1814195" cy="0"/>
          </a:xfrm>
          <a:custGeom>
            <a:avLst/>
            <a:gdLst/>
            <a:ahLst/>
            <a:cxnLst/>
            <a:rect l="l" t="t" r="r" b="b"/>
            <a:pathLst>
              <a:path w="1814195">
                <a:moveTo>
                  <a:pt x="0" y="0"/>
                </a:moveTo>
                <a:lnTo>
                  <a:pt x="1814027" y="0"/>
                </a:lnTo>
              </a:path>
            </a:pathLst>
          </a:custGeom>
          <a:ln w="128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0862" y="1347787"/>
            <a:ext cx="8499475" cy="52298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400050" marR="1473835" indent="-324485">
              <a:lnSpc>
                <a:spcPts val="3679"/>
              </a:lnSpc>
              <a:spcBef>
                <a:spcPts val="38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400685" algn="l"/>
              </a:tabLst>
            </a:pPr>
            <a:r>
              <a:rPr sz="3200" b="1" dirty="0">
                <a:latin typeface="Calibri"/>
                <a:cs typeface="Calibri"/>
              </a:rPr>
              <a:t>Problem: </a:t>
            </a:r>
            <a:r>
              <a:rPr sz="3200" b="1" spc="20" dirty="0">
                <a:solidFill>
                  <a:srgbClr val="FF0066"/>
                </a:solidFill>
                <a:latin typeface="Calibri"/>
                <a:cs typeface="Calibri"/>
              </a:rPr>
              <a:t>Find </a:t>
            </a:r>
            <a:r>
              <a:rPr sz="3200" b="1" spc="10" dirty="0">
                <a:solidFill>
                  <a:srgbClr val="FF0066"/>
                </a:solidFill>
                <a:latin typeface="Calibri"/>
                <a:cs typeface="Calibri"/>
              </a:rPr>
              <a:t>all association </a:t>
            </a:r>
            <a:r>
              <a:rPr sz="3200" b="1" spc="15" dirty="0">
                <a:solidFill>
                  <a:srgbClr val="FF0066"/>
                </a:solidFill>
                <a:latin typeface="Calibri"/>
                <a:cs typeface="Calibri"/>
              </a:rPr>
              <a:t>rules</a:t>
            </a:r>
            <a:r>
              <a:rPr sz="3200" b="1" spc="-495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b="1" spc="15" dirty="0">
                <a:solidFill>
                  <a:srgbClr val="FF0066"/>
                </a:solidFill>
                <a:latin typeface="Calibri"/>
                <a:cs typeface="Calibri"/>
              </a:rPr>
              <a:t>with  </a:t>
            </a:r>
            <a:r>
              <a:rPr sz="3200" b="1" dirty="0">
                <a:solidFill>
                  <a:srgbClr val="FF0066"/>
                </a:solidFill>
                <a:latin typeface="Calibri"/>
                <a:cs typeface="Calibri"/>
              </a:rPr>
              <a:t>support </a:t>
            </a:r>
            <a:r>
              <a:rPr sz="3200" b="1" spc="45" dirty="0">
                <a:solidFill>
                  <a:srgbClr val="FF0066"/>
                </a:solidFill>
                <a:latin typeface="Lucida Sans Unicode"/>
                <a:cs typeface="Lucida Sans Unicode"/>
              </a:rPr>
              <a:t>≥</a:t>
            </a:r>
            <a:r>
              <a:rPr sz="3200" b="1" i="1" spc="45" dirty="0">
                <a:solidFill>
                  <a:srgbClr val="FF0066"/>
                </a:solidFill>
                <a:latin typeface="Calibri"/>
                <a:cs typeface="Calibri"/>
              </a:rPr>
              <a:t>s </a:t>
            </a:r>
            <a:r>
              <a:rPr sz="3200" b="1" spc="5" dirty="0">
                <a:solidFill>
                  <a:srgbClr val="FF0066"/>
                </a:solidFill>
                <a:latin typeface="Calibri"/>
                <a:cs typeface="Calibri"/>
              </a:rPr>
              <a:t>and </a:t>
            </a:r>
            <a:r>
              <a:rPr sz="3200" b="1" spc="15" dirty="0">
                <a:solidFill>
                  <a:srgbClr val="FF0066"/>
                </a:solidFill>
                <a:latin typeface="Calibri"/>
                <a:cs typeface="Calibri"/>
              </a:rPr>
              <a:t>confidence</a:t>
            </a:r>
            <a:r>
              <a:rPr sz="3200" b="1" spc="-459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b="1" spc="45" dirty="0">
                <a:solidFill>
                  <a:srgbClr val="FF0066"/>
                </a:solidFill>
                <a:latin typeface="Lucida Sans Unicode"/>
                <a:cs typeface="Lucida Sans Unicode"/>
              </a:rPr>
              <a:t>≥</a:t>
            </a:r>
            <a:r>
              <a:rPr sz="3200" b="1" i="1" spc="45" dirty="0">
                <a:solidFill>
                  <a:srgbClr val="FF0066"/>
                </a:solidFill>
                <a:latin typeface="Calibri"/>
                <a:cs typeface="Calibri"/>
              </a:rPr>
              <a:t>c</a:t>
            </a:r>
            <a:endParaRPr sz="3200" dirty="0">
              <a:latin typeface="Calibri"/>
              <a:cs typeface="Calibri"/>
            </a:endParaRPr>
          </a:p>
          <a:p>
            <a:pPr marL="695960" marR="524510" lvl="1" indent="-276860">
              <a:lnSpc>
                <a:spcPct val="102400"/>
              </a:lnSpc>
              <a:spcBef>
                <a:spcPts val="715"/>
              </a:spcBef>
              <a:buClr>
                <a:srgbClr val="5FB5CC"/>
              </a:buClr>
              <a:buFont typeface="Wingdings"/>
              <a:buChar char=""/>
              <a:tabLst>
                <a:tab pos="695960" algn="l"/>
              </a:tabLst>
            </a:pPr>
            <a:r>
              <a:rPr sz="2750" b="1" spc="10" dirty="0">
                <a:solidFill>
                  <a:srgbClr val="008000"/>
                </a:solidFill>
                <a:latin typeface="Calibri"/>
                <a:cs typeface="Calibri"/>
              </a:rPr>
              <a:t>Note: </a:t>
            </a:r>
            <a:r>
              <a:rPr sz="2750" dirty="0">
                <a:latin typeface="Calibri"/>
                <a:cs typeface="Calibri"/>
              </a:rPr>
              <a:t>Support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20" dirty="0">
                <a:latin typeface="Calibri"/>
                <a:cs typeface="Calibri"/>
              </a:rPr>
              <a:t>an </a:t>
            </a:r>
            <a:r>
              <a:rPr sz="2750" dirty="0">
                <a:latin typeface="Calibri"/>
                <a:cs typeface="Calibri"/>
              </a:rPr>
              <a:t>association </a:t>
            </a:r>
            <a:r>
              <a:rPr sz="2750" spc="-10" dirty="0">
                <a:latin typeface="Calibri"/>
                <a:cs typeface="Calibri"/>
              </a:rPr>
              <a:t>rule </a:t>
            </a:r>
            <a:r>
              <a:rPr sz="2750" spc="-15" dirty="0">
                <a:latin typeface="Calibri"/>
                <a:cs typeface="Calibri"/>
              </a:rPr>
              <a:t>is </a:t>
            </a:r>
            <a:r>
              <a:rPr sz="2750" spc="-10" dirty="0">
                <a:latin typeface="Calibri"/>
                <a:cs typeface="Calibri"/>
              </a:rPr>
              <a:t>the </a:t>
            </a:r>
            <a:r>
              <a:rPr sz="2750" spc="-5" dirty="0">
                <a:latin typeface="Calibri"/>
                <a:cs typeface="Calibri"/>
              </a:rPr>
              <a:t>support 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10" dirty="0">
                <a:latin typeface="Calibri"/>
                <a:cs typeface="Calibri"/>
              </a:rPr>
              <a:t>the </a:t>
            </a:r>
            <a:r>
              <a:rPr sz="2750" spc="-15" dirty="0">
                <a:latin typeface="Calibri"/>
                <a:cs typeface="Calibri"/>
              </a:rPr>
              <a:t>set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5" dirty="0">
                <a:latin typeface="Calibri"/>
                <a:cs typeface="Calibri"/>
              </a:rPr>
              <a:t>items </a:t>
            </a:r>
            <a:r>
              <a:rPr sz="2750" spc="-10" dirty="0">
                <a:latin typeface="Calibri"/>
                <a:cs typeface="Calibri"/>
              </a:rPr>
              <a:t>in the rule </a:t>
            </a:r>
            <a:r>
              <a:rPr sz="2750" spc="-15" dirty="0">
                <a:latin typeface="Calibri"/>
                <a:cs typeface="Calibri"/>
              </a:rPr>
              <a:t>(left </a:t>
            </a:r>
            <a:r>
              <a:rPr sz="2750" spc="5" dirty="0">
                <a:latin typeface="Calibri"/>
                <a:cs typeface="Calibri"/>
              </a:rPr>
              <a:t>and </a:t>
            </a:r>
            <a:r>
              <a:rPr sz="2750" spc="-10" dirty="0">
                <a:latin typeface="Calibri"/>
                <a:cs typeface="Calibri"/>
              </a:rPr>
              <a:t>right</a:t>
            </a:r>
            <a:r>
              <a:rPr sz="2750" spc="26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side)</a:t>
            </a:r>
            <a:endParaRPr sz="2750" dirty="0">
              <a:latin typeface="Calibri"/>
              <a:cs typeface="Calibri"/>
            </a:endParaRPr>
          </a:p>
          <a:p>
            <a:pPr marL="400050" indent="-324485">
              <a:lnSpc>
                <a:spcPct val="100000"/>
              </a:lnSpc>
              <a:spcBef>
                <a:spcPts val="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400685" algn="l"/>
              </a:tabLst>
            </a:pPr>
            <a:r>
              <a:rPr sz="3200" b="1" spc="-20" dirty="0">
                <a:latin typeface="Calibri"/>
                <a:cs typeface="Calibri"/>
              </a:rPr>
              <a:t>Hard </a:t>
            </a:r>
            <a:r>
              <a:rPr sz="3200" b="1" dirty="0">
                <a:latin typeface="Calibri"/>
                <a:cs typeface="Calibri"/>
              </a:rPr>
              <a:t>part: </a:t>
            </a: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Finding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frequent</a:t>
            </a:r>
            <a:r>
              <a:rPr sz="3200" b="1" spc="-40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itemsets!</a:t>
            </a:r>
            <a:endParaRPr sz="3200" dirty="0">
              <a:latin typeface="Calibri"/>
              <a:cs typeface="Calibri"/>
            </a:endParaRPr>
          </a:p>
          <a:p>
            <a:pPr marL="695960" marR="2034539" lvl="1" indent="-276860">
              <a:lnSpc>
                <a:spcPct val="102400"/>
              </a:lnSpc>
              <a:spcBef>
                <a:spcPts val="665"/>
              </a:spcBef>
              <a:buClr>
                <a:srgbClr val="5FB5CC"/>
              </a:buClr>
              <a:buFont typeface="Wingdings"/>
              <a:buChar char=""/>
              <a:tabLst>
                <a:tab pos="695960" algn="l"/>
              </a:tabLst>
            </a:pPr>
            <a:r>
              <a:rPr sz="2750" spc="-5" dirty="0">
                <a:latin typeface="Calibri"/>
                <a:cs typeface="Calibri"/>
              </a:rPr>
              <a:t>If </a:t>
            </a:r>
            <a:r>
              <a:rPr sz="2750" b="1" spc="20" dirty="0">
                <a:solidFill>
                  <a:srgbClr val="0000FF"/>
                </a:solidFill>
                <a:latin typeface="Times New Roman"/>
                <a:cs typeface="Times New Roman"/>
              </a:rPr>
              <a:t>{</a:t>
            </a:r>
            <a:r>
              <a:rPr sz="2750" b="1" i="1" spc="2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775" b="1" spc="30" baseline="-18018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2750" b="1" spc="20" dirty="0">
                <a:solidFill>
                  <a:srgbClr val="0000FF"/>
                </a:solidFill>
                <a:latin typeface="Times New Roman"/>
                <a:cs typeface="Times New Roman"/>
              </a:rPr>
              <a:t>, </a:t>
            </a:r>
            <a:r>
              <a:rPr sz="2750" b="1" i="1" spc="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775" b="1" spc="15" baseline="-18018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750" b="1" spc="10" dirty="0">
                <a:solidFill>
                  <a:srgbClr val="0000FF"/>
                </a:solidFill>
                <a:latin typeface="Times New Roman"/>
                <a:cs typeface="Times New Roman"/>
              </a:rPr>
              <a:t>,…, </a:t>
            </a:r>
            <a:r>
              <a:rPr sz="2750" b="1" i="1" spc="15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775" b="1" i="1" spc="22" baseline="-18018" dirty="0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sz="2750" b="1" spc="15" dirty="0">
                <a:solidFill>
                  <a:srgbClr val="0000FF"/>
                </a:solidFill>
                <a:latin typeface="Times New Roman"/>
                <a:cs typeface="Times New Roman"/>
              </a:rPr>
              <a:t>} </a:t>
            </a:r>
            <a:r>
              <a:rPr sz="2750" b="1" spc="30" dirty="0">
                <a:solidFill>
                  <a:srgbClr val="0000FF"/>
                </a:solidFill>
                <a:latin typeface="Times New Roman"/>
                <a:cs typeface="Times New Roman"/>
              </a:rPr>
              <a:t>→ </a:t>
            </a:r>
            <a:r>
              <a:rPr sz="2750" b="1" i="1" spc="5" dirty="0">
                <a:solidFill>
                  <a:srgbClr val="0000FF"/>
                </a:solidFill>
                <a:latin typeface="Times New Roman"/>
                <a:cs typeface="Times New Roman"/>
              </a:rPr>
              <a:t>j </a:t>
            </a:r>
            <a:r>
              <a:rPr sz="2750" spc="5" dirty="0">
                <a:latin typeface="Calibri"/>
                <a:cs typeface="Calibri"/>
              </a:rPr>
              <a:t>has </a:t>
            </a:r>
            <a:r>
              <a:rPr sz="2750" spc="-15" dirty="0">
                <a:latin typeface="Calibri"/>
                <a:cs typeface="Calibri"/>
              </a:rPr>
              <a:t>high </a:t>
            </a:r>
            <a:r>
              <a:rPr sz="2750" spc="-5" dirty="0">
                <a:latin typeface="Calibri"/>
                <a:cs typeface="Calibri"/>
              </a:rPr>
              <a:t>support </a:t>
            </a:r>
            <a:r>
              <a:rPr sz="2750" spc="5" dirty="0">
                <a:latin typeface="Calibri"/>
                <a:cs typeface="Calibri"/>
              </a:rPr>
              <a:t>and  </a:t>
            </a:r>
            <a:r>
              <a:rPr sz="2750" spc="-5" dirty="0">
                <a:latin typeface="Calibri"/>
                <a:cs typeface="Calibri"/>
              </a:rPr>
              <a:t>confidence, </a:t>
            </a:r>
            <a:r>
              <a:rPr sz="2750" spc="-15" dirty="0">
                <a:latin typeface="Calibri"/>
                <a:cs typeface="Calibri"/>
              </a:rPr>
              <a:t>then </a:t>
            </a:r>
            <a:r>
              <a:rPr sz="2750" dirty="0">
                <a:latin typeface="Calibri"/>
                <a:cs typeface="Calibri"/>
              </a:rPr>
              <a:t>both </a:t>
            </a:r>
            <a:r>
              <a:rPr sz="2750" b="1" spc="15" dirty="0">
                <a:solidFill>
                  <a:srgbClr val="0000FF"/>
                </a:solidFill>
                <a:latin typeface="Times New Roman"/>
                <a:cs typeface="Times New Roman"/>
              </a:rPr>
              <a:t>{</a:t>
            </a:r>
            <a:r>
              <a:rPr sz="2750" b="1" i="1" spc="15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775" b="1" spc="22" baseline="-18018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2750" b="1" i="1" spc="15" dirty="0">
                <a:solidFill>
                  <a:srgbClr val="0000FF"/>
                </a:solidFill>
                <a:latin typeface="Times New Roman"/>
                <a:cs typeface="Times New Roman"/>
              </a:rPr>
              <a:t>, </a:t>
            </a:r>
            <a:r>
              <a:rPr sz="2750" b="1" i="1" spc="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775" b="1" spc="15" baseline="-18018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750" b="1" i="1" spc="10" dirty="0">
                <a:solidFill>
                  <a:srgbClr val="0000FF"/>
                </a:solidFill>
                <a:latin typeface="Times New Roman"/>
                <a:cs typeface="Times New Roman"/>
              </a:rPr>
              <a:t>,…, i</a:t>
            </a:r>
            <a:r>
              <a:rPr sz="2775" b="1" i="1" spc="15" baseline="-18018" dirty="0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sz="2750" b="1" spc="10" dirty="0">
                <a:solidFill>
                  <a:srgbClr val="0000FF"/>
                </a:solidFill>
                <a:latin typeface="Times New Roman"/>
                <a:cs typeface="Times New Roman"/>
              </a:rPr>
              <a:t>}</a:t>
            </a:r>
            <a:r>
              <a:rPr sz="2750" b="1" spc="4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750" spc="5" dirty="0">
                <a:latin typeface="Calibri"/>
                <a:cs typeface="Calibri"/>
              </a:rPr>
              <a:t>and</a:t>
            </a:r>
            <a:endParaRPr sz="2750" dirty="0">
              <a:latin typeface="Calibri"/>
              <a:cs typeface="Calibri"/>
            </a:endParaRPr>
          </a:p>
          <a:p>
            <a:pPr marL="695960">
              <a:lnSpc>
                <a:spcPct val="100000"/>
              </a:lnSpc>
              <a:spcBef>
                <a:spcPts val="80"/>
              </a:spcBef>
            </a:pPr>
            <a:r>
              <a:rPr sz="2750" b="1" spc="20" dirty="0">
                <a:solidFill>
                  <a:srgbClr val="0000FF"/>
                </a:solidFill>
                <a:latin typeface="Times New Roman"/>
                <a:cs typeface="Times New Roman"/>
              </a:rPr>
              <a:t>{</a:t>
            </a:r>
            <a:r>
              <a:rPr sz="2750" b="1" i="1" spc="2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775" b="1" spc="30" baseline="-18018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2750" b="1" i="1" spc="20" dirty="0">
                <a:solidFill>
                  <a:srgbClr val="0000FF"/>
                </a:solidFill>
                <a:latin typeface="Times New Roman"/>
                <a:cs typeface="Times New Roman"/>
              </a:rPr>
              <a:t>, </a:t>
            </a:r>
            <a:r>
              <a:rPr sz="2750" b="1" i="1" spc="5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775" b="1" spc="7" baseline="-18018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750" b="1" i="1" spc="5" dirty="0">
                <a:solidFill>
                  <a:srgbClr val="0000FF"/>
                </a:solidFill>
                <a:latin typeface="Times New Roman"/>
                <a:cs typeface="Times New Roman"/>
              </a:rPr>
              <a:t>,…,i</a:t>
            </a:r>
            <a:r>
              <a:rPr sz="2775" b="1" spc="7" baseline="-18018" dirty="0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sz="2750" b="1" i="1" spc="5" dirty="0">
                <a:solidFill>
                  <a:srgbClr val="0000FF"/>
                </a:solidFill>
                <a:latin typeface="Times New Roman"/>
                <a:cs typeface="Times New Roman"/>
              </a:rPr>
              <a:t>, </a:t>
            </a:r>
            <a:r>
              <a:rPr sz="2750" b="1" i="1" dirty="0">
                <a:solidFill>
                  <a:srgbClr val="0000FF"/>
                </a:solidFill>
                <a:latin typeface="Times New Roman"/>
                <a:cs typeface="Times New Roman"/>
              </a:rPr>
              <a:t>j</a:t>
            </a:r>
            <a:r>
              <a:rPr sz="2750" b="1" dirty="0">
                <a:solidFill>
                  <a:srgbClr val="0000FF"/>
                </a:solidFill>
                <a:latin typeface="Times New Roman"/>
                <a:cs typeface="Times New Roman"/>
              </a:rPr>
              <a:t>} </a:t>
            </a:r>
            <a:r>
              <a:rPr sz="2750" spc="-20" dirty="0">
                <a:latin typeface="Calibri"/>
                <a:cs typeface="Calibri"/>
              </a:rPr>
              <a:t>will </a:t>
            </a:r>
            <a:r>
              <a:rPr sz="2750" spc="-5" dirty="0">
                <a:latin typeface="Calibri"/>
                <a:cs typeface="Calibri"/>
              </a:rPr>
              <a:t>be</a:t>
            </a:r>
            <a:r>
              <a:rPr sz="2750" spc="26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“frequent”</a:t>
            </a:r>
            <a:endParaRPr sz="27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4150" dirty="0">
              <a:latin typeface="Calibri"/>
              <a:cs typeface="Calibri"/>
            </a:endParaRPr>
          </a:p>
          <a:p>
            <a:pPr marL="4824730">
              <a:lnSpc>
                <a:spcPct val="100000"/>
              </a:lnSpc>
              <a:spcBef>
                <a:spcPts val="5"/>
              </a:spcBef>
            </a:pPr>
            <a:r>
              <a:rPr sz="3525" spc="75" baseline="-35460" dirty="0">
                <a:latin typeface="Times New Roman"/>
                <a:cs typeface="Times New Roman"/>
              </a:rPr>
              <a:t>conf(</a:t>
            </a:r>
            <a:r>
              <a:rPr sz="3525" i="1" spc="75" baseline="-35460" dirty="0">
                <a:latin typeface="Times New Roman"/>
                <a:cs typeface="Times New Roman"/>
              </a:rPr>
              <a:t>I </a:t>
            </a:r>
            <a:r>
              <a:rPr sz="3525" spc="135" baseline="-35460" dirty="0">
                <a:latin typeface="Symbol"/>
                <a:cs typeface="Symbol"/>
              </a:rPr>
              <a:t></a:t>
            </a:r>
            <a:r>
              <a:rPr sz="3525" spc="135" baseline="-35460" dirty="0">
                <a:latin typeface="Times New Roman"/>
                <a:cs typeface="Times New Roman"/>
              </a:rPr>
              <a:t> </a:t>
            </a:r>
            <a:r>
              <a:rPr sz="3525" i="1" spc="127" baseline="-35460" dirty="0">
                <a:latin typeface="Times New Roman"/>
                <a:cs typeface="Times New Roman"/>
              </a:rPr>
              <a:t>j</a:t>
            </a:r>
            <a:r>
              <a:rPr sz="3525" spc="127" baseline="-35460" dirty="0">
                <a:latin typeface="Times New Roman"/>
                <a:cs typeface="Times New Roman"/>
              </a:rPr>
              <a:t>) </a:t>
            </a:r>
            <a:r>
              <a:rPr sz="3525" spc="75" baseline="-35460" dirty="0">
                <a:latin typeface="Symbol"/>
                <a:cs typeface="Symbol"/>
              </a:rPr>
              <a:t></a:t>
            </a:r>
            <a:r>
              <a:rPr sz="3525" spc="75" baseline="-35460" dirty="0">
                <a:latin typeface="Times New Roman"/>
                <a:cs typeface="Times New Roman"/>
              </a:rPr>
              <a:t> </a:t>
            </a:r>
            <a:r>
              <a:rPr sz="2350" spc="45" dirty="0">
                <a:latin typeface="Times New Roman"/>
                <a:cs typeface="Times New Roman"/>
              </a:rPr>
              <a:t>support(</a:t>
            </a:r>
            <a:r>
              <a:rPr sz="2350" i="1" spc="45" dirty="0">
                <a:latin typeface="Times New Roman"/>
                <a:cs typeface="Times New Roman"/>
              </a:rPr>
              <a:t>I </a:t>
            </a:r>
            <a:r>
              <a:rPr sz="2350" spc="70" dirty="0">
                <a:latin typeface="Symbol"/>
                <a:cs typeface="Symbol"/>
              </a:rPr>
              <a:t></a:t>
            </a:r>
            <a:r>
              <a:rPr sz="2350" spc="-145" dirty="0">
                <a:latin typeface="Times New Roman"/>
                <a:cs typeface="Times New Roman"/>
              </a:rPr>
              <a:t> </a:t>
            </a:r>
            <a:r>
              <a:rPr sz="2350" i="1" spc="85" dirty="0">
                <a:latin typeface="Times New Roman"/>
                <a:cs typeface="Times New Roman"/>
              </a:rPr>
              <a:t>j</a:t>
            </a:r>
            <a:r>
              <a:rPr sz="2350" spc="85" dirty="0">
                <a:latin typeface="Times New Roman"/>
                <a:cs typeface="Times New Roman"/>
              </a:rPr>
              <a:t>)</a:t>
            </a:r>
            <a:endParaRPr sz="2350" dirty="0">
              <a:latin typeface="Times New Roman"/>
              <a:cs typeface="Times New Roman"/>
            </a:endParaRPr>
          </a:p>
          <a:p>
            <a:pPr marR="302895" algn="r">
              <a:lnSpc>
                <a:spcPct val="100000"/>
              </a:lnSpc>
              <a:spcBef>
                <a:spcPts val="495"/>
              </a:spcBef>
            </a:pPr>
            <a:r>
              <a:rPr sz="2350" spc="45" dirty="0">
                <a:latin typeface="Times New Roman"/>
                <a:cs typeface="Times New Roman"/>
              </a:rPr>
              <a:t>support(</a:t>
            </a:r>
            <a:r>
              <a:rPr sz="2350" i="1" spc="45" dirty="0">
                <a:latin typeface="Times New Roman"/>
                <a:cs typeface="Times New Roman"/>
              </a:rPr>
              <a:t>I</a:t>
            </a:r>
            <a:r>
              <a:rPr sz="2350" i="1" spc="-300" dirty="0">
                <a:latin typeface="Times New Roman"/>
                <a:cs typeface="Times New Roman"/>
              </a:rPr>
              <a:t> </a:t>
            </a:r>
            <a:r>
              <a:rPr sz="2350" spc="30" dirty="0">
                <a:latin typeface="Times New Roman"/>
                <a:cs typeface="Times New Roman"/>
              </a:rPr>
              <a:t>)</a:t>
            </a:r>
            <a:endParaRPr sz="2350" dirty="0">
              <a:latin typeface="Times New Roman"/>
              <a:cs typeface="Times New Roman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DB887B-A212-4460-8F88-BC1170D9FDF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6091301" cy="5857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243913"/>
            <a:ext cx="7977505" cy="506412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10" dirty="0">
                <a:solidFill>
                  <a:srgbClr val="FF0066"/>
                </a:solidFill>
                <a:latin typeface="Calibri"/>
                <a:cs typeface="Calibri"/>
              </a:rPr>
              <a:t>Step </a:t>
            </a:r>
            <a:r>
              <a:rPr sz="3200" b="1" spc="15" dirty="0">
                <a:solidFill>
                  <a:srgbClr val="FF0066"/>
                </a:solidFill>
                <a:latin typeface="Calibri"/>
                <a:cs typeface="Calibri"/>
              </a:rPr>
              <a:t>1: </a:t>
            </a:r>
            <a:r>
              <a:rPr sz="3200" spc="25" dirty="0">
                <a:latin typeface="Calibri"/>
                <a:cs typeface="Calibri"/>
              </a:rPr>
              <a:t>Find </a:t>
            </a:r>
            <a:r>
              <a:rPr sz="3200" spc="15" dirty="0">
                <a:latin typeface="Calibri"/>
                <a:cs typeface="Calibri"/>
              </a:rPr>
              <a:t>all </a:t>
            </a:r>
            <a:r>
              <a:rPr sz="3200" dirty="0">
                <a:latin typeface="Calibri"/>
                <a:cs typeface="Calibri"/>
              </a:rPr>
              <a:t>frequent </a:t>
            </a:r>
            <a:r>
              <a:rPr sz="3200" spc="-5" dirty="0">
                <a:latin typeface="Calibri"/>
                <a:cs typeface="Calibri"/>
              </a:rPr>
              <a:t>itemsets</a:t>
            </a:r>
            <a:r>
              <a:rPr sz="3200" spc="-310" dirty="0">
                <a:latin typeface="Calibri"/>
                <a:cs typeface="Calibri"/>
              </a:rPr>
              <a:t> </a:t>
            </a:r>
            <a:r>
              <a:rPr sz="3200" b="1" i="1" spc="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  <a:p>
            <a:pPr marL="276860" marR="3705225" lvl="1" indent="-276860" algn="r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276860" algn="l"/>
              </a:tabLst>
            </a:pPr>
            <a:r>
              <a:rPr sz="2750" spc="-5" dirty="0">
                <a:latin typeface="Calibri"/>
                <a:cs typeface="Calibri"/>
              </a:rPr>
              <a:t>(we </a:t>
            </a:r>
            <a:r>
              <a:rPr sz="2750" spc="-20" dirty="0">
                <a:latin typeface="Calibri"/>
                <a:cs typeface="Calibri"/>
              </a:rPr>
              <a:t>will explain  this</a:t>
            </a:r>
            <a:r>
              <a:rPr sz="2750" spc="-35" dirty="0">
                <a:latin typeface="Calibri"/>
                <a:cs typeface="Calibri"/>
              </a:rPr>
              <a:t> </a:t>
            </a:r>
            <a:r>
              <a:rPr sz="2750" spc="-30" dirty="0">
                <a:latin typeface="Calibri"/>
                <a:cs typeface="Calibri"/>
              </a:rPr>
              <a:t>next)</a:t>
            </a:r>
            <a:endParaRPr sz="2750">
              <a:latin typeface="Calibri"/>
              <a:cs typeface="Calibri"/>
            </a:endParaRPr>
          </a:p>
          <a:p>
            <a:pPr marL="336550" marR="3685540" indent="-337185" algn="r">
              <a:lnSpc>
                <a:spcPct val="100000"/>
              </a:lnSpc>
              <a:spcBef>
                <a:spcPts val="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5" dirty="0">
                <a:solidFill>
                  <a:srgbClr val="FF0066"/>
                </a:solidFill>
                <a:latin typeface="Calibri"/>
                <a:cs typeface="Calibri"/>
              </a:rPr>
              <a:t>Step </a:t>
            </a:r>
            <a:r>
              <a:rPr sz="3200" b="1" spc="15" dirty="0">
                <a:solidFill>
                  <a:srgbClr val="FF0066"/>
                </a:solidFill>
                <a:latin typeface="Calibri"/>
                <a:cs typeface="Calibri"/>
              </a:rPr>
              <a:t>2: </a:t>
            </a:r>
            <a:r>
              <a:rPr sz="3200" b="1" spc="10" dirty="0">
                <a:latin typeface="Calibri"/>
                <a:cs typeface="Calibri"/>
              </a:rPr>
              <a:t>Rule</a:t>
            </a:r>
            <a:r>
              <a:rPr sz="3200" b="1" spc="-17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generation</a:t>
            </a:r>
            <a:endParaRPr sz="320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5" dirty="0">
                <a:latin typeface="Calibri"/>
                <a:cs typeface="Calibri"/>
              </a:rPr>
              <a:t>For </a:t>
            </a:r>
            <a:r>
              <a:rPr sz="2750" dirty="0">
                <a:latin typeface="Calibri"/>
                <a:cs typeface="Calibri"/>
              </a:rPr>
              <a:t>every </a:t>
            </a:r>
            <a:r>
              <a:rPr sz="2750" spc="-20" dirty="0">
                <a:latin typeface="Calibri"/>
                <a:cs typeface="Calibri"/>
              </a:rPr>
              <a:t>subset </a:t>
            </a:r>
            <a:r>
              <a:rPr sz="2750" b="1" i="1" spc="20" dirty="0">
                <a:latin typeface="Times New Roman"/>
                <a:cs typeface="Times New Roman"/>
              </a:rPr>
              <a:t>A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b="1" i="1" spc="-10" dirty="0">
                <a:latin typeface="Times New Roman"/>
                <a:cs typeface="Times New Roman"/>
              </a:rPr>
              <a:t>I</a:t>
            </a:r>
            <a:r>
              <a:rPr sz="2750" spc="-10" dirty="0">
                <a:latin typeface="Calibri"/>
                <a:cs typeface="Calibri"/>
              </a:rPr>
              <a:t>, </a:t>
            </a:r>
            <a:r>
              <a:rPr sz="2750" spc="-20" dirty="0">
                <a:latin typeface="Calibri"/>
                <a:cs typeface="Calibri"/>
              </a:rPr>
              <a:t>generate </a:t>
            </a:r>
            <a:r>
              <a:rPr sz="2750" spc="10" dirty="0">
                <a:latin typeface="Calibri"/>
                <a:cs typeface="Calibri"/>
              </a:rPr>
              <a:t>a </a:t>
            </a:r>
            <a:r>
              <a:rPr sz="2750" spc="-10" dirty="0">
                <a:latin typeface="Calibri"/>
                <a:cs typeface="Calibri"/>
              </a:rPr>
              <a:t>rule </a:t>
            </a:r>
            <a:r>
              <a:rPr sz="2750" b="1" i="1" spc="20" dirty="0">
                <a:solidFill>
                  <a:srgbClr val="0000FF"/>
                </a:solidFill>
                <a:latin typeface="Times New Roman"/>
                <a:cs typeface="Times New Roman"/>
              </a:rPr>
              <a:t>A </a:t>
            </a:r>
            <a:r>
              <a:rPr sz="2750" b="1" i="1" spc="30" dirty="0">
                <a:solidFill>
                  <a:srgbClr val="0000FF"/>
                </a:solidFill>
                <a:latin typeface="Times New Roman"/>
                <a:cs typeface="Times New Roman"/>
              </a:rPr>
              <a:t>→ </a:t>
            </a:r>
            <a:r>
              <a:rPr sz="2750" b="1" i="1" spc="10" dirty="0">
                <a:solidFill>
                  <a:srgbClr val="0000FF"/>
                </a:solidFill>
                <a:latin typeface="Times New Roman"/>
                <a:cs typeface="Times New Roman"/>
              </a:rPr>
              <a:t>I </a:t>
            </a:r>
            <a:r>
              <a:rPr sz="2750" b="1" i="1" spc="5" dirty="0">
                <a:solidFill>
                  <a:srgbClr val="0000FF"/>
                </a:solidFill>
                <a:latin typeface="Times New Roman"/>
                <a:cs typeface="Times New Roman"/>
              </a:rPr>
              <a:t>\</a:t>
            </a:r>
            <a:r>
              <a:rPr sz="2750" b="1" i="1" spc="-1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750" b="1" i="1" spc="2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750">
              <a:latin typeface="Times New Roman"/>
              <a:cs typeface="Times New Roman"/>
            </a:endParaRPr>
          </a:p>
          <a:p>
            <a:pPr marL="899160" lvl="2" indent="-229235">
              <a:lnSpc>
                <a:spcPct val="100000"/>
              </a:lnSpc>
              <a:spcBef>
                <a:spcPts val="655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spc="5" dirty="0">
                <a:latin typeface="Calibri"/>
                <a:cs typeface="Calibri"/>
              </a:rPr>
              <a:t>Since </a:t>
            </a:r>
            <a:r>
              <a:rPr sz="2400" b="1" i="1" dirty="0">
                <a:latin typeface="Times New Roman"/>
                <a:cs typeface="Times New Roman"/>
              </a:rPr>
              <a:t>I </a:t>
            </a:r>
            <a:r>
              <a:rPr sz="2400" spc="-15" dirty="0">
                <a:latin typeface="Calibri"/>
                <a:cs typeface="Calibri"/>
              </a:rPr>
              <a:t>is </a:t>
            </a:r>
            <a:r>
              <a:rPr sz="2400" spc="5" dirty="0">
                <a:latin typeface="Calibri"/>
                <a:cs typeface="Calibri"/>
              </a:rPr>
              <a:t>frequent, </a:t>
            </a:r>
            <a:r>
              <a:rPr sz="2400" b="1" i="1" dirty="0">
                <a:latin typeface="Times New Roman"/>
                <a:cs typeface="Times New Roman"/>
              </a:rPr>
              <a:t>A </a:t>
            </a:r>
            <a:r>
              <a:rPr sz="2400" spc="-15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also</a:t>
            </a:r>
            <a:r>
              <a:rPr sz="2400" spc="-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frequent</a:t>
            </a:r>
            <a:endParaRPr sz="2400">
              <a:latin typeface="Calibri"/>
              <a:cs typeface="Calibri"/>
            </a:endParaRPr>
          </a:p>
          <a:p>
            <a:pPr marL="899160" lvl="2" indent="-229235">
              <a:lnSpc>
                <a:spcPct val="100000"/>
              </a:lnSpc>
              <a:spcBef>
                <a:spcPts val="575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b="1" spc="-25" dirty="0">
                <a:solidFill>
                  <a:srgbClr val="0000FF"/>
                </a:solidFill>
                <a:latin typeface="Calibri"/>
                <a:cs typeface="Calibri"/>
              </a:rPr>
              <a:t>Variant 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1: </a:t>
            </a:r>
            <a:r>
              <a:rPr sz="2400" spc="-10" dirty="0">
                <a:latin typeface="Calibri"/>
                <a:cs typeface="Calibri"/>
              </a:rPr>
              <a:t>Single </a:t>
            </a:r>
            <a:r>
              <a:rPr sz="2400" dirty="0">
                <a:latin typeface="Calibri"/>
                <a:cs typeface="Calibri"/>
              </a:rPr>
              <a:t>pass </a:t>
            </a:r>
            <a:r>
              <a:rPr sz="2400" spc="5" dirty="0">
                <a:latin typeface="Calibri"/>
                <a:cs typeface="Calibri"/>
              </a:rPr>
              <a:t>to </a:t>
            </a:r>
            <a:r>
              <a:rPr sz="2400" spc="10" dirty="0">
                <a:latin typeface="Calibri"/>
                <a:cs typeface="Calibri"/>
              </a:rPr>
              <a:t>compute </a:t>
            </a:r>
            <a:r>
              <a:rPr sz="2400" spc="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rule</a:t>
            </a:r>
            <a:r>
              <a:rPr sz="2400" spc="-27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confidence</a:t>
            </a:r>
            <a:endParaRPr sz="2400">
              <a:latin typeface="Calibri"/>
              <a:cs typeface="Calibri"/>
            </a:endParaRPr>
          </a:p>
          <a:p>
            <a:pPr marL="1118235" lvl="3" indent="-191135">
              <a:lnSpc>
                <a:spcPct val="100000"/>
              </a:lnSpc>
              <a:spcBef>
                <a:spcPts val="525"/>
              </a:spcBef>
              <a:buClr>
                <a:srgbClr val="6BB76C"/>
              </a:buClr>
              <a:buFont typeface="Wingdings"/>
              <a:buChar char=""/>
              <a:tabLst>
                <a:tab pos="1118870" algn="l"/>
              </a:tabLst>
            </a:pPr>
            <a:r>
              <a:rPr sz="2000" spc="10" dirty="0">
                <a:latin typeface="Arial"/>
                <a:cs typeface="Arial"/>
              </a:rPr>
              <a:t>confidence(</a:t>
            </a:r>
            <a:r>
              <a:rPr sz="2000" b="1" i="1" spc="10" dirty="0">
                <a:latin typeface="Arial"/>
                <a:cs typeface="Arial"/>
              </a:rPr>
              <a:t>A,B</a:t>
            </a:r>
            <a:r>
              <a:rPr sz="2000" b="1" i="1" spc="10" dirty="0">
                <a:solidFill>
                  <a:srgbClr val="0000FF"/>
                </a:solidFill>
                <a:latin typeface="Arial"/>
                <a:cs typeface="Arial"/>
              </a:rPr>
              <a:t>→</a:t>
            </a:r>
            <a:r>
              <a:rPr sz="2000" b="1" i="1" spc="10" dirty="0">
                <a:latin typeface="Arial"/>
                <a:cs typeface="Arial"/>
              </a:rPr>
              <a:t>C,D</a:t>
            </a:r>
            <a:r>
              <a:rPr sz="2000" spc="10" dirty="0">
                <a:latin typeface="Arial"/>
                <a:cs typeface="Arial"/>
              </a:rPr>
              <a:t>)</a:t>
            </a:r>
            <a:r>
              <a:rPr sz="2000" spc="-190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=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support(</a:t>
            </a:r>
            <a:r>
              <a:rPr sz="2000" b="1" spc="10" dirty="0">
                <a:latin typeface="Arial"/>
                <a:cs typeface="Arial"/>
              </a:rPr>
              <a:t>A,B,C,D</a:t>
            </a:r>
            <a:r>
              <a:rPr sz="2000" spc="10" dirty="0">
                <a:latin typeface="Arial"/>
                <a:cs typeface="Arial"/>
              </a:rPr>
              <a:t>)</a:t>
            </a:r>
            <a:r>
              <a:rPr sz="2000" spc="-185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/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support(</a:t>
            </a:r>
            <a:r>
              <a:rPr sz="2000" b="1" spc="20" dirty="0">
                <a:latin typeface="Arial"/>
                <a:cs typeface="Arial"/>
              </a:rPr>
              <a:t>A,B</a:t>
            </a:r>
            <a:r>
              <a:rPr sz="2000" spc="2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899160" lvl="2" indent="-229235">
              <a:lnSpc>
                <a:spcPct val="100000"/>
              </a:lnSpc>
              <a:spcBef>
                <a:spcPts val="505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b="1" spc="-25" dirty="0">
                <a:solidFill>
                  <a:srgbClr val="0000FF"/>
                </a:solidFill>
                <a:latin typeface="Calibri"/>
                <a:cs typeface="Calibri"/>
              </a:rPr>
              <a:t>Variant</a:t>
            </a:r>
            <a:r>
              <a:rPr sz="240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2:</a:t>
            </a:r>
            <a:endParaRPr sz="2400">
              <a:latin typeface="Calibri"/>
              <a:cs typeface="Calibri"/>
            </a:endParaRPr>
          </a:p>
          <a:p>
            <a:pPr marL="1118235" lvl="3" indent="-191135">
              <a:lnSpc>
                <a:spcPct val="100000"/>
              </a:lnSpc>
              <a:spcBef>
                <a:spcPts val="520"/>
              </a:spcBef>
              <a:buClr>
                <a:srgbClr val="6BB76C"/>
              </a:buClr>
              <a:buFont typeface="Wingdings"/>
              <a:buChar char=""/>
              <a:tabLst>
                <a:tab pos="1118870" algn="l"/>
              </a:tabLst>
            </a:pPr>
            <a:r>
              <a:rPr sz="2000" b="1" spc="10" dirty="0">
                <a:solidFill>
                  <a:srgbClr val="008000"/>
                </a:solidFill>
                <a:latin typeface="Calibri"/>
                <a:cs typeface="Calibri"/>
              </a:rPr>
              <a:t>Observation: </a:t>
            </a:r>
            <a:r>
              <a:rPr sz="2000" spc="10" dirty="0">
                <a:latin typeface="Calibri"/>
                <a:cs typeface="Calibri"/>
              </a:rPr>
              <a:t>If </a:t>
            </a:r>
            <a:r>
              <a:rPr sz="2000" b="1" spc="5" dirty="0">
                <a:latin typeface="Calibri"/>
                <a:cs typeface="Calibri"/>
              </a:rPr>
              <a:t>A,B,C</a:t>
            </a:r>
            <a:r>
              <a:rPr sz="2000" b="1" spc="5" dirty="0">
                <a:solidFill>
                  <a:srgbClr val="0000FF"/>
                </a:solidFill>
                <a:latin typeface="Times New Roman"/>
                <a:cs typeface="Times New Roman"/>
              </a:rPr>
              <a:t>→</a:t>
            </a:r>
            <a:r>
              <a:rPr sz="2000" b="1" spc="5" dirty="0">
                <a:latin typeface="Calibri"/>
                <a:cs typeface="Calibri"/>
              </a:rPr>
              <a:t>D </a:t>
            </a:r>
            <a:r>
              <a:rPr sz="2000" spc="-5" dirty="0">
                <a:latin typeface="Calibri"/>
                <a:cs typeface="Calibri"/>
              </a:rPr>
              <a:t>is below </a:t>
            </a:r>
            <a:r>
              <a:rPr sz="2000" spc="-15" dirty="0">
                <a:latin typeface="Calibri"/>
                <a:cs typeface="Calibri"/>
              </a:rPr>
              <a:t>confidence, </a:t>
            </a:r>
            <a:r>
              <a:rPr sz="2000" spc="-5" dirty="0">
                <a:latin typeface="Calibri"/>
                <a:cs typeface="Calibri"/>
              </a:rPr>
              <a:t>then </a:t>
            </a:r>
            <a:r>
              <a:rPr sz="2000" spc="25" dirty="0">
                <a:latin typeface="Calibri"/>
                <a:cs typeface="Calibri"/>
              </a:rPr>
              <a:t>so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-210" dirty="0">
                <a:latin typeface="Calibri"/>
                <a:cs typeface="Calibri"/>
              </a:rPr>
              <a:t> </a:t>
            </a:r>
            <a:r>
              <a:rPr sz="2000" b="1" spc="5" dirty="0">
                <a:latin typeface="Calibri"/>
                <a:cs typeface="Calibri"/>
              </a:rPr>
              <a:t>A,B</a:t>
            </a:r>
            <a:r>
              <a:rPr sz="2000" b="1" spc="5" dirty="0">
                <a:solidFill>
                  <a:srgbClr val="0000FF"/>
                </a:solidFill>
                <a:latin typeface="Times New Roman"/>
                <a:cs typeface="Times New Roman"/>
              </a:rPr>
              <a:t>→</a:t>
            </a:r>
            <a:r>
              <a:rPr sz="2000" b="1" spc="5" dirty="0">
                <a:latin typeface="Calibri"/>
                <a:cs typeface="Calibri"/>
              </a:rPr>
              <a:t>C,D</a:t>
            </a:r>
            <a:endParaRPr sz="2000">
              <a:latin typeface="Calibri"/>
              <a:cs typeface="Calibri"/>
            </a:endParaRPr>
          </a:p>
          <a:p>
            <a:pPr marL="1118235" lvl="3" indent="-191135">
              <a:lnSpc>
                <a:spcPct val="100000"/>
              </a:lnSpc>
              <a:spcBef>
                <a:spcPts val="455"/>
              </a:spcBef>
              <a:buClr>
                <a:srgbClr val="6BB76C"/>
              </a:buClr>
              <a:buFont typeface="Wingdings"/>
              <a:buChar char=""/>
              <a:tabLst>
                <a:tab pos="1118870" algn="l"/>
              </a:tabLst>
            </a:pPr>
            <a:r>
              <a:rPr sz="2000" dirty="0">
                <a:latin typeface="Calibri"/>
                <a:cs typeface="Calibri"/>
              </a:rPr>
              <a:t>Can </a:t>
            </a:r>
            <a:r>
              <a:rPr sz="2000" spc="-10" dirty="0">
                <a:latin typeface="Calibri"/>
                <a:cs typeface="Calibri"/>
              </a:rPr>
              <a:t>generate </a:t>
            </a:r>
            <a:r>
              <a:rPr sz="2000" spc="5" dirty="0">
                <a:latin typeface="Calibri"/>
                <a:cs typeface="Calibri"/>
              </a:rPr>
              <a:t>“bigger” </a:t>
            </a:r>
            <a:r>
              <a:rPr sz="2000" spc="-10" dirty="0">
                <a:latin typeface="Calibri"/>
                <a:cs typeface="Calibri"/>
              </a:rPr>
              <a:t>rules from </a:t>
            </a:r>
            <a:r>
              <a:rPr sz="2000" spc="10" dirty="0">
                <a:latin typeface="Calibri"/>
                <a:cs typeface="Calibri"/>
              </a:rPr>
              <a:t>smaller</a:t>
            </a:r>
            <a:r>
              <a:rPr sz="2000" dirty="0">
                <a:latin typeface="Calibri"/>
                <a:cs typeface="Calibri"/>
              </a:rPr>
              <a:t> ones!</a:t>
            </a:r>
            <a:endParaRPr sz="200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68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b="1" spc="15" dirty="0">
                <a:solidFill>
                  <a:srgbClr val="0000FF"/>
                </a:solidFill>
                <a:latin typeface="Calibri"/>
                <a:cs typeface="Calibri"/>
              </a:rPr>
              <a:t>Output the </a:t>
            </a:r>
            <a:r>
              <a:rPr sz="2750" b="1" spc="10" dirty="0">
                <a:solidFill>
                  <a:srgbClr val="0000FF"/>
                </a:solidFill>
                <a:latin typeface="Calibri"/>
                <a:cs typeface="Calibri"/>
              </a:rPr>
              <a:t>rules </a:t>
            </a:r>
            <a:r>
              <a:rPr sz="2750" b="1" spc="15" dirty="0">
                <a:solidFill>
                  <a:srgbClr val="0000FF"/>
                </a:solidFill>
                <a:latin typeface="Calibri"/>
                <a:cs typeface="Calibri"/>
              </a:rPr>
              <a:t>above the </a:t>
            </a:r>
            <a:r>
              <a:rPr sz="2750" b="1" spc="10" dirty="0">
                <a:solidFill>
                  <a:srgbClr val="0000FF"/>
                </a:solidFill>
                <a:latin typeface="Calibri"/>
                <a:cs typeface="Calibri"/>
              </a:rPr>
              <a:t>confidence</a:t>
            </a:r>
            <a:r>
              <a:rPr sz="2750" b="1" spc="1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50" b="1" spc="15" dirty="0">
                <a:solidFill>
                  <a:srgbClr val="0000FF"/>
                </a:solidFill>
                <a:latin typeface="Calibri"/>
                <a:cs typeface="Calibri"/>
              </a:rPr>
              <a:t>threshold</a:t>
            </a:r>
            <a:endParaRPr sz="27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7025" y="1095375"/>
            <a:ext cx="2466975" cy="5334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CB8371-9EF0-4FCE-82CD-BC8940A60F2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2119376" cy="57626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1422" y="1308988"/>
            <a:ext cx="19259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2750" spc="20" dirty="0">
                <a:solidFill>
                  <a:srgbClr val="000000"/>
                </a:solidFill>
              </a:rPr>
              <a:t>B</a:t>
            </a:r>
            <a:r>
              <a:rPr sz="2775" spc="30" baseline="-18018" dirty="0">
                <a:solidFill>
                  <a:srgbClr val="000000"/>
                </a:solidFill>
              </a:rPr>
              <a:t>1 </a:t>
            </a:r>
            <a:r>
              <a:rPr sz="2750" spc="10" dirty="0">
                <a:solidFill>
                  <a:srgbClr val="000000"/>
                </a:solidFill>
              </a:rPr>
              <a:t>= </a:t>
            </a:r>
            <a:r>
              <a:rPr sz="2750" spc="15" dirty="0">
                <a:solidFill>
                  <a:srgbClr val="000000"/>
                </a:solidFill>
              </a:rPr>
              <a:t>{m, </a:t>
            </a:r>
            <a:r>
              <a:rPr sz="2750" spc="-10" dirty="0">
                <a:solidFill>
                  <a:srgbClr val="000000"/>
                </a:solidFill>
              </a:rPr>
              <a:t>c,</a:t>
            </a:r>
            <a:r>
              <a:rPr sz="2750" spc="-245" dirty="0">
                <a:solidFill>
                  <a:srgbClr val="000000"/>
                </a:solidFill>
              </a:rPr>
              <a:t> </a:t>
            </a:r>
            <a:r>
              <a:rPr sz="2750" spc="15" dirty="0">
                <a:solidFill>
                  <a:srgbClr val="000000"/>
                </a:solidFill>
              </a:rPr>
              <a:t>b}</a:t>
            </a:r>
            <a:endParaRPr sz="2750"/>
          </a:p>
        </p:txBody>
      </p:sp>
      <p:sp>
        <p:nvSpPr>
          <p:cNvPr id="4" name="object 4"/>
          <p:cNvSpPr txBox="1"/>
          <p:nvPr/>
        </p:nvSpPr>
        <p:spPr>
          <a:xfrm>
            <a:off x="4135754" y="1255775"/>
            <a:ext cx="2216150" cy="144716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0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2 </a:t>
            </a:r>
            <a:r>
              <a:rPr sz="2750" b="1" spc="10" dirty="0">
                <a:latin typeface="Calibri"/>
                <a:cs typeface="Calibri"/>
              </a:rPr>
              <a:t>= </a:t>
            </a:r>
            <a:r>
              <a:rPr sz="2750" b="1" spc="15" dirty="0">
                <a:latin typeface="Calibri"/>
                <a:cs typeface="Calibri"/>
              </a:rPr>
              <a:t>{m, </a:t>
            </a:r>
            <a:r>
              <a:rPr sz="2750" b="1" spc="10" dirty="0">
                <a:latin typeface="Calibri"/>
                <a:cs typeface="Calibri"/>
              </a:rPr>
              <a:t>p,</a:t>
            </a:r>
            <a:r>
              <a:rPr sz="2750" b="1" spc="-215" dirty="0">
                <a:latin typeface="Calibri"/>
                <a:cs typeface="Calibri"/>
              </a:rPr>
              <a:t> </a:t>
            </a:r>
            <a:r>
              <a:rPr sz="2750" b="1" spc="-10" dirty="0">
                <a:latin typeface="Calibri"/>
                <a:cs typeface="Calibri"/>
              </a:rPr>
              <a:t>j}</a:t>
            </a:r>
            <a:endParaRPr sz="27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55"/>
              </a:spcBef>
            </a:pPr>
            <a:r>
              <a:rPr sz="2750" b="1" spc="25" dirty="0">
                <a:latin typeface="Calibri"/>
                <a:cs typeface="Calibri"/>
              </a:rPr>
              <a:t>B</a:t>
            </a:r>
            <a:r>
              <a:rPr sz="2775" b="1" spc="37" baseline="-18018" dirty="0">
                <a:latin typeface="Calibri"/>
                <a:cs typeface="Calibri"/>
              </a:rPr>
              <a:t>4</a:t>
            </a:r>
            <a:r>
              <a:rPr sz="2750" b="1" spc="25" dirty="0">
                <a:latin typeface="Calibri"/>
                <a:cs typeface="Calibri"/>
              </a:rPr>
              <a:t>= </a:t>
            </a:r>
            <a:r>
              <a:rPr sz="2750" b="1" spc="5" dirty="0">
                <a:latin typeface="Calibri"/>
                <a:cs typeface="Calibri"/>
              </a:rPr>
              <a:t>{c,</a:t>
            </a:r>
            <a:r>
              <a:rPr sz="2750" b="1" spc="-5" dirty="0">
                <a:latin typeface="Calibri"/>
                <a:cs typeface="Calibri"/>
              </a:rPr>
              <a:t> </a:t>
            </a:r>
            <a:r>
              <a:rPr sz="2750" b="1" spc="-10" dirty="0">
                <a:latin typeface="Calibri"/>
                <a:cs typeface="Calibri"/>
              </a:rPr>
              <a:t>j}</a:t>
            </a:r>
            <a:endParaRPr sz="27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380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6 </a:t>
            </a:r>
            <a:r>
              <a:rPr sz="2750" b="1" spc="10" dirty="0">
                <a:latin typeface="Calibri"/>
                <a:cs typeface="Calibri"/>
              </a:rPr>
              <a:t>= </a:t>
            </a:r>
            <a:r>
              <a:rPr sz="2750" b="1" spc="15" dirty="0">
                <a:latin typeface="Calibri"/>
                <a:cs typeface="Calibri"/>
              </a:rPr>
              <a:t>{m, </a:t>
            </a:r>
            <a:r>
              <a:rPr sz="2750" b="1" spc="-10" dirty="0">
                <a:latin typeface="Calibri"/>
                <a:cs typeface="Calibri"/>
              </a:rPr>
              <a:t>c, </a:t>
            </a:r>
            <a:r>
              <a:rPr sz="2750" b="1" spc="10" dirty="0">
                <a:latin typeface="Calibri"/>
                <a:cs typeface="Calibri"/>
              </a:rPr>
              <a:t>b,</a:t>
            </a:r>
            <a:r>
              <a:rPr sz="2750" b="1" spc="-165" dirty="0">
                <a:latin typeface="Calibri"/>
                <a:cs typeface="Calibri"/>
              </a:rPr>
              <a:t> </a:t>
            </a:r>
            <a:r>
              <a:rPr sz="2750" b="1" spc="-10" dirty="0">
                <a:latin typeface="Calibri"/>
                <a:cs typeface="Calibri"/>
              </a:rPr>
              <a:t>j}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6262" y="1742059"/>
            <a:ext cx="7855584" cy="321373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670560">
              <a:lnSpc>
                <a:spcPct val="100000"/>
              </a:lnSpc>
              <a:spcBef>
                <a:spcPts val="475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3 </a:t>
            </a:r>
            <a:r>
              <a:rPr sz="2750" b="1" spc="10" dirty="0">
                <a:latin typeface="Calibri"/>
                <a:cs typeface="Calibri"/>
              </a:rPr>
              <a:t>= </a:t>
            </a:r>
            <a:r>
              <a:rPr sz="2750" b="1" spc="15" dirty="0">
                <a:latin typeface="Calibri"/>
                <a:cs typeface="Calibri"/>
              </a:rPr>
              <a:t>{m, </a:t>
            </a:r>
            <a:r>
              <a:rPr sz="2750" b="1" spc="-10" dirty="0">
                <a:latin typeface="Calibri"/>
                <a:cs typeface="Calibri"/>
              </a:rPr>
              <a:t>c, </a:t>
            </a:r>
            <a:r>
              <a:rPr sz="2750" b="1" spc="10" dirty="0">
                <a:latin typeface="Calibri"/>
                <a:cs typeface="Calibri"/>
              </a:rPr>
              <a:t>b,</a:t>
            </a:r>
            <a:r>
              <a:rPr sz="2750" b="1" spc="-95" dirty="0">
                <a:latin typeface="Calibri"/>
                <a:cs typeface="Calibri"/>
              </a:rPr>
              <a:t> </a:t>
            </a:r>
            <a:r>
              <a:rPr sz="2750" b="1" spc="15" dirty="0">
                <a:latin typeface="Calibri"/>
                <a:cs typeface="Calibri"/>
              </a:rPr>
              <a:t>n}</a:t>
            </a:r>
            <a:endParaRPr sz="2750">
              <a:latin typeface="Calibri"/>
              <a:cs typeface="Calibri"/>
            </a:endParaRPr>
          </a:p>
          <a:p>
            <a:pPr marL="670560">
              <a:lnSpc>
                <a:spcPct val="100000"/>
              </a:lnSpc>
              <a:spcBef>
                <a:spcPts val="380"/>
              </a:spcBef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5 </a:t>
            </a:r>
            <a:r>
              <a:rPr sz="2750" b="1" spc="10" dirty="0">
                <a:latin typeface="Calibri"/>
                <a:cs typeface="Calibri"/>
              </a:rPr>
              <a:t>= </a:t>
            </a:r>
            <a:r>
              <a:rPr sz="2750" b="1" spc="15" dirty="0">
                <a:latin typeface="Calibri"/>
                <a:cs typeface="Calibri"/>
              </a:rPr>
              <a:t>{m, </a:t>
            </a:r>
            <a:r>
              <a:rPr sz="2750" b="1" spc="10" dirty="0">
                <a:latin typeface="Calibri"/>
                <a:cs typeface="Calibri"/>
              </a:rPr>
              <a:t>p,</a:t>
            </a:r>
            <a:r>
              <a:rPr sz="2750" b="1" spc="-185" dirty="0">
                <a:latin typeface="Calibri"/>
                <a:cs typeface="Calibri"/>
              </a:rPr>
              <a:t> </a:t>
            </a:r>
            <a:r>
              <a:rPr sz="2750" b="1" spc="15" dirty="0">
                <a:latin typeface="Calibri"/>
                <a:cs typeface="Calibri"/>
              </a:rPr>
              <a:t>b}</a:t>
            </a:r>
            <a:endParaRPr sz="2750">
              <a:latin typeface="Calibri"/>
              <a:cs typeface="Calibri"/>
            </a:endParaRPr>
          </a:p>
          <a:p>
            <a:pPr marL="670560">
              <a:lnSpc>
                <a:spcPts val="3115"/>
              </a:lnSpc>
              <a:spcBef>
                <a:spcPts val="380"/>
              </a:spcBef>
              <a:tabLst>
                <a:tab pos="3597275" algn="l"/>
              </a:tabLst>
            </a:pP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7  </a:t>
            </a:r>
            <a:r>
              <a:rPr sz="2750" b="1" spc="10" dirty="0">
                <a:latin typeface="Calibri"/>
                <a:cs typeface="Calibri"/>
              </a:rPr>
              <a:t>= </a:t>
            </a:r>
            <a:r>
              <a:rPr sz="2750" b="1" spc="5" dirty="0">
                <a:latin typeface="Calibri"/>
                <a:cs typeface="Calibri"/>
              </a:rPr>
              <a:t>{c,</a:t>
            </a:r>
            <a:r>
              <a:rPr sz="2750" b="1" spc="-155" dirty="0">
                <a:latin typeface="Calibri"/>
                <a:cs typeface="Calibri"/>
              </a:rPr>
              <a:t> </a:t>
            </a:r>
            <a:r>
              <a:rPr sz="2750" b="1" spc="10" dirty="0">
                <a:latin typeface="Calibri"/>
                <a:cs typeface="Calibri"/>
              </a:rPr>
              <a:t>b,</a:t>
            </a:r>
            <a:r>
              <a:rPr sz="2750" b="1" spc="15" dirty="0">
                <a:latin typeface="Calibri"/>
                <a:cs typeface="Calibri"/>
              </a:rPr>
              <a:t> </a:t>
            </a:r>
            <a:r>
              <a:rPr sz="2750" b="1" spc="-10" dirty="0">
                <a:latin typeface="Calibri"/>
                <a:cs typeface="Calibri"/>
              </a:rPr>
              <a:t>j}	</a:t>
            </a:r>
            <a:r>
              <a:rPr sz="2750" b="1" spc="20" dirty="0">
                <a:latin typeface="Calibri"/>
                <a:cs typeface="Calibri"/>
              </a:rPr>
              <a:t>B</a:t>
            </a:r>
            <a:r>
              <a:rPr sz="2775" b="1" spc="30" baseline="-18018" dirty="0">
                <a:latin typeface="Calibri"/>
                <a:cs typeface="Calibri"/>
              </a:rPr>
              <a:t>8 </a:t>
            </a:r>
            <a:r>
              <a:rPr sz="2750" b="1" spc="10" dirty="0">
                <a:latin typeface="Calibri"/>
                <a:cs typeface="Calibri"/>
              </a:rPr>
              <a:t>= </a:t>
            </a:r>
            <a:r>
              <a:rPr sz="2750" b="1" spc="15" dirty="0">
                <a:latin typeface="Calibri"/>
                <a:cs typeface="Calibri"/>
              </a:rPr>
              <a:t>{b,</a:t>
            </a:r>
            <a:r>
              <a:rPr sz="2750" b="1" spc="-240" dirty="0">
                <a:latin typeface="Calibri"/>
                <a:cs typeface="Calibri"/>
              </a:rPr>
              <a:t> </a:t>
            </a:r>
            <a:r>
              <a:rPr sz="2750" b="1" spc="-10" dirty="0">
                <a:latin typeface="Calibri"/>
                <a:cs typeface="Calibri"/>
              </a:rPr>
              <a:t>c}</a:t>
            </a:r>
            <a:endParaRPr sz="2750">
              <a:latin typeface="Calibri"/>
              <a:cs typeface="Calibri"/>
            </a:endParaRPr>
          </a:p>
          <a:p>
            <a:pPr marL="374650" indent="-324485">
              <a:lnSpc>
                <a:spcPts val="3465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75285" algn="l"/>
              </a:tabLst>
            </a:pP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Support</a:t>
            </a:r>
            <a:r>
              <a:rPr sz="32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threshold</a:t>
            </a:r>
            <a:r>
              <a:rPr sz="3200" b="1" spc="-1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i="1" spc="10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3200" b="1" i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00" b="1" i="1" spc="15" dirty="0">
                <a:solidFill>
                  <a:srgbClr val="0000FF"/>
                </a:solidFill>
                <a:latin typeface="Times New Roman"/>
                <a:cs typeface="Times New Roman"/>
              </a:rPr>
              <a:t>=</a:t>
            </a:r>
            <a:r>
              <a:rPr sz="3200" b="1" i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00" b="1" i="1" spc="25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3200" spc="25" dirty="0">
                <a:latin typeface="Calibri"/>
                <a:cs typeface="Calibri"/>
              </a:rPr>
              <a:t>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b="1" spc="15" dirty="0">
                <a:solidFill>
                  <a:srgbClr val="008000"/>
                </a:solidFill>
                <a:latin typeface="Calibri"/>
                <a:cs typeface="Calibri"/>
              </a:rPr>
              <a:t>confidence</a:t>
            </a:r>
            <a:r>
              <a:rPr sz="3200" b="1" spc="-25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b="1" i="1" spc="10" dirty="0">
                <a:solidFill>
                  <a:srgbClr val="008000"/>
                </a:solidFill>
                <a:latin typeface="Times New Roman"/>
                <a:cs typeface="Times New Roman"/>
              </a:rPr>
              <a:t>c</a:t>
            </a:r>
            <a:r>
              <a:rPr sz="3200" b="1" i="1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3200" b="1" i="1" spc="15" dirty="0">
                <a:solidFill>
                  <a:srgbClr val="008000"/>
                </a:solidFill>
                <a:latin typeface="Times New Roman"/>
                <a:cs typeface="Times New Roman"/>
              </a:rPr>
              <a:t>=</a:t>
            </a:r>
            <a:r>
              <a:rPr sz="3200" b="1" i="1" spc="-15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3200" b="1" i="1" spc="30" dirty="0">
                <a:solidFill>
                  <a:srgbClr val="008000"/>
                </a:solidFill>
                <a:latin typeface="Times New Roman"/>
                <a:cs typeface="Times New Roman"/>
              </a:rPr>
              <a:t>0.75</a:t>
            </a:r>
            <a:endParaRPr sz="3200">
              <a:latin typeface="Times New Roman"/>
              <a:cs typeface="Times New Roman"/>
            </a:endParaRPr>
          </a:p>
          <a:p>
            <a:pPr marL="374650" indent="-324485">
              <a:lnSpc>
                <a:spcPts val="3645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75285" algn="l"/>
              </a:tabLst>
            </a:pPr>
            <a:r>
              <a:rPr sz="3200" b="1" spc="-5" dirty="0">
                <a:solidFill>
                  <a:srgbClr val="FF0066"/>
                </a:solidFill>
                <a:latin typeface="Calibri"/>
                <a:cs typeface="Calibri"/>
              </a:rPr>
              <a:t>Step </a:t>
            </a:r>
            <a:r>
              <a:rPr sz="3200" b="1" spc="15" dirty="0">
                <a:solidFill>
                  <a:srgbClr val="FF0066"/>
                </a:solidFill>
                <a:latin typeface="Calibri"/>
                <a:cs typeface="Calibri"/>
              </a:rPr>
              <a:t>1) </a:t>
            </a:r>
            <a:r>
              <a:rPr sz="3200" b="1" spc="20" dirty="0">
                <a:solidFill>
                  <a:srgbClr val="FF0066"/>
                </a:solidFill>
                <a:latin typeface="Calibri"/>
                <a:cs typeface="Calibri"/>
              </a:rPr>
              <a:t>Find </a:t>
            </a:r>
            <a:r>
              <a:rPr sz="3200" b="1" spc="15" dirty="0">
                <a:solidFill>
                  <a:srgbClr val="FF0066"/>
                </a:solidFill>
                <a:latin typeface="Calibri"/>
                <a:cs typeface="Calibri"/>
              </a:rPr>
              <a:t>frequent</a:t>
            </a:r>
            <a:r>
              <a:rPr sz="3200" b="1" spc="-43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FF0066"/>
                </a:solidFill>
                <a:latin typeface="Calibri"/>
                <a:cs typeface="Calibri"/>
              </a:rPr>
              <a:t>itemsets:</a:t>
            </a:r>
            <a:endParaRPr sz="3200">
              <a:latin typeface="Calibri"/>
              <a:cs typeface="Calibri"/>
            </a:endParaRPr>
          </a:p>
          <a:p>
            <a:pPr marL="670560" lvl="1" indent="-276860">
              <a:lnSpc>
                <a:spcPts val="3080"/>
              </a:lnSpc>
              <a:spcBef>
                <a:spcPts val="440"/>
              </a:spcBef>
              <a:buClr>
                <a:srgbClr val="5FB5CC"/>
              </a:buClr>
              <a:buFont typeface="Wingdings"/>
              <a:buChar char=""/>
              <a:tabLst>
                <a:tab pos="670560" algn="l"/>
              </a:tabLst>
            </a:pPr>
            <a:r>
              <a:rPr sz="2750" b="1" spc="20" dirty="0">
                <a:latin typeface="Calibri"/>
                <a:cs typeface="Calibri"/>
              </a:rPr>
              <a:t>{b,m} </a:t>
            </a:r>
            <a:r>
              <a:rPr sz="2750" b="1" spc="15" dirty="0">
                <a:latin typeface="Calibri"/>
                <a:cs typeface="Calibri"/>
              </a:rPr>
              <a:t>{b,c} </a:t>
            </a:r>
            <a:r>
              <a:rPr sz="2750" b="1" spc="10" dirty="0">
                <a:latin typeface="Calibri"/>
                <a:cs typeface="Calibri"/>
              </a:rPr>
              <a:t>{c,m} </a:t>
            </a:r>
            <a:r>
              <a:rPr sz="2750" b="1" spc="5" dirty="0">
                <a:latin typeface="Calibri"/>
                <a:cs typeface="Calibri"/>
              </a:rPr>
              <a:t>{c,j}</a:t>
            </a:r>
            <a:r>
              <a:rPr sz="2750" b="1" spc="90" dirty="0">
                <a:latin typeface="Calibri"/>
                <a:cs typeface="Calibri"/>
              </a:rPr>
              <a:t> </a:t>
            </a:r>
            <a:r>
              <a:rPr sz="2750" b="1" spc="15" dirty="0">
                <a:latin typeface="Calibri"/>
                <a:cs typeface="Calibri"/>
              </a:rPr>
              <a:t>{m,c,b}</a:t>
            </a:r>
            <a:endParaRPr sz="2750">
              <a:latin typeface="Calibri"/>
              <a:cs typeface="Calibri"/>
            </a:endParaRPr>
          </a:p>
          <a:p>
            <a:pPr marL="374650" indent="-324485">
              <a:lnSpc>
                <a:spcPts val="3620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75285" algn="l"/>
              </a:tabLst>
            </a:pPr>
            <a:r>
              <a:rPr sz="3200" b="1" spc="-5" dirty="0">
                <a:solidFill>
                  <a:srgbClr val="FF0066"/>
                </a:solidFill>
                <a:latin typeface="Calibri"/>
                <a:cs typeface="Calibri"/>
              </a:rPr>
              <a:t>Step </a:t>
            </a:r>
            <a:r>
              <a:rPr sz="3200" b="1" spc="15" dirty="0">
                <a:solidFill>
                  <a:srgbClr val="FF0066"/>
                </a:solidFill>
                <a:latin typeface="Calibri"/>
                <a:cs typeface="Calibri"/>
              </a:rPr>
              <a:t>2) </a:t>
            </a:r>
            <a:r>
              <a:rPr sz="3200" b="1" spc="-10" dirty="0">
                <a:solidFill>
                  <a:srgbClr val="FF0066"/>
                </a:solidFill>
                <a:latin typeface="Calibri"/>
                <a:cs typeface="Calibri"/>
              </a:rPr>
              <a:t>Generate</a:t>
            </a:r>
            <a:r>
              <a:rPr sz="3200" b="1" spc="-18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FF0066"/>
                </a:solidFill>
                <a:latin typeface="Calibri"/>
                <a:cs typeface="Calibri"/>
              </a:rPr>
              <a:t>rules: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38530" y="5029579"/>
          <a:ext cx="7145655" cy="12642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5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3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294">
                <a:tc>
                  <a:txBody>
                    <a:bodyPr/>
                    <a:lstStyle/>
                    <a:p>
                      <a:pPr marL="307975" indent="-276860">
                        <a:lnSpc>
                          <a:spcPts val="3050"/>
                        </a:lnSpc>
                        <a:buClr>
                          <a:srgbClr val="5FB5CC"/>
                        </a:buClr>
                        <a:buFont typeface="Wingdings"/>
                        <a:buChar char=""/>
                        <a:tabLst>
                          <a:tab pos="308610" algn="l"/>
                        </a:tabLst>
                      </a:pPr>
                      <a:r>
                        <a:rPr sz="2750" b="1" strike="sngStrike" spc="15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2750" b="1" strike="sngStrike" spc="15" dirty="0">
                          <a:solidFill>
                            <a:srgbClr val="0063E1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2750" b="1" strike="sngStrike" spc="1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2750" strike="sngStrike" spc="1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750" strike="sngStrike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b="1" i="1" strike="sngStrike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50" strike="sngStrike" spc="-5" dirty="0">
                          <a:latin typeface="Calibri"/>
                          <a:cs typeface="Calibri"/>
                        </a:rPr>
                        <a:t>=4/6 </a:t>
                      </a:r>
                      <a:r>
                        <a:rPr sz="2750" strike="sngStrike" spc="-220" dirty="0">
                          <a:latin typeface="Calibri"/>
                          <a:cs typeface="Calibri"/>
                        </a:rPr>
                        <a:t> 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3050"/>
                        </a:lnSpc>
                      </a:pPr>
                      <a:r>
                        <a:rPr sz="2750" b="1" spc="5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2750" b="1" spc="5" dirty="0">
                          <a:solidFill>
                            <a:srgbClr val="0063E1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2750" b="1" spc="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2750" spc="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7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b="1" i="1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50" spc="-5" dirty="0">
                          <a:latin typeface="Calibri"/>
                          <a:cs typeface="Calibri"/>
                        </a:rPr>
                        <a:t>=5/6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>
                        <a:lnSpc>
                          <a:spcPts val="3050"/>
                        </a:lnSpc>
                      </a:pPr>
                      <a:r>
                        <a:rPr sz="2750" b="1" strike="sngStrike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b="1" strike="sngStrike" spc="10" dirty="0">
                          <a:latin typeface="Calibri"/>
                          <a:cs typeface="Calibri"/>
                        </a:rPr>
                        <a:t>b,c</a:t>
                      </a:r>
                      <a:r>
                        <a:rPr sz="2750" b="1" strike="sngStrike" spc="10" dirty="0">
                          <a:solidFill>
                            <a:srgbClr val="0063E1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2750" b="1" strike="sngStrike" spc="1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2750" strike="sngStrike" spc="1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750" strike="sngStrike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b="1" i="1" strike="sngStrike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50" strike="sngStrike" spc="-5" dirty="0">
                          <a:latin typeface="Calibri"/>
                          <a:cs typeface="Calibri"/>
                        </a:rPr>
                        <a:t>=3/5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29">
                <a:tc>
                  <a:txBody>
                    <a:bodyPr/>
                    <a:lstStyle/>
                    <a:p>
                      <a:pPr marL="307975" indent="-276860">
                        <a:lnSpc>
                          <a:spcPct val="100000"/>
                        </a:lnSpc>
                        <a:spcBef>
                          <a:spcPts val="30"/>
                        </a:spcBef>
                        <a:buClr>
                          <a:srgbClr val="5FB5CC"/>
                        </a:buClr>
                        <a:buFont typeface="Wingdings"/>
                        <a:buChar char=""/>
                        <a:tabLst>
                          <a:tab pos="308610" algn="l"/>
                        </a:tabLst>
                      </a:pPr>
                      <a:r>
                        <a:rPr sz="2750" b="1" spc="1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2750" b="1" spc="15" dirty="0">
                          <a:solidFill>
                            <a:srgbClr val="0063E1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2750" b="1" spc="15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2750" spc="1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7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b="1" i="1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50" spc="-5" dirty="0">
                          <a:latin typeface="Calibri"/>
                          <a:cs typeface="Calibri"/>
                        </a:rPr>
                        <a:t>=4/5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R="42164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750" dirty="0">
                          <a:latin typeface="Calibri"/>
                          <a:cs typeface="Calibri"/>
                        </a:rPr>
                        <a:t>…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ts val="3155"/>
                        </a:lnSpc>
                        <a:spcBef>
                          <a:spcPts val="30"/>
                        </a:spcBef>
                      </a:pPr>
                      <a:r>
                        <a:rPr sz="2750" b="1" spc="10" dirty="0">
                          <a:latin typeface="Calibri"/>
                          <a:cs typeface="Calibri"/>
                        </a:rPr>
                        <a:t>b,m</a:t>
                      </a:r>
                      <a:r>
                        <a:rPr sz="2750" b="1" spc="10" dirty="0">
                          <a:solidFill>
                            <a:srgbClr val="0063E1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2750" b="1" spc="1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2750" spc="1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7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b="1" i="1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50" spc="-5" dirty="0">
                          <a:latin typeface="Calibri"/>
                          <a:cs typeface="Calibri"/>
                        </a:rPr>
                        <a:t>=3/4</a:t>
                      </a:r>
                      <a:endParaRPr sz="2750">
                        <a:latin typeface="Calibri"/>
                        <a:cs typeface="Calibri"/>
                      </a:endParaRPr>
                    </a:p>
                    <a:p>
                      <a:pPr marL="405765">
                        <a:lnSpc>
                          <a:spcPts val="3155"/>
                        </a:lnSpc>
                      </a:pPr>
                      <a:r>
                        <a:rPr sz="2750" b="1" strike="sngStrike" spc="1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2750" b="1" strike="sngStrike" spc="10" dirty="0">
                          <a:solidFill>
                            <a:srgbClr val="0063E1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2750" b="1" strike="sngStrike" spc="10" dirty="0">
                          <a:latin typeface="Calibri"/>
                          <a:cs typeface="Calibri"/>
                        </a:rPr>
                        <a:t>c,m</a:t>
                      </a:r>
                      <a:r>
                        <a:rPr sz="2750" strike="sngStrike" spc="1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750" strike="sngStrike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b="1" i="1" strike="sngStrike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50" strike="sngStrike" spc="-5" dirty="0">
                          <a:latin typeface="Calibri"/>
                          <a:cs typeface="Calibri"/>
                        </a:rPr>
                        <a:t>=3/6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4425" y="5191188"/>
            <a:ext cx="2138426" cy="1571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62625" y="5210238"/>
            <a:ext cx="2290826" cy="15716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38825" y="6048375"/>
            <a:ext cx="2290826" cy="157162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A99FD11-02B9-4A3B-B6B7-F62C9F9B51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33311"/>
            <a:ext cx="5824601" cy="5857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347787"/>
            <a:ext cx="7963534" cy="46456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6550" marR="1156970" indent="-324485">
              <a:lnSpc>
                <a:spcPct val="100000"/>
              </a:lnSpc>
              <a:spcBef>
                <a:spcPts val="12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150" dirty="0">
                <a:latin typeface="Calibri"/>
                <a:cs typeface="Calibri"/>
              </a:rPr>
              <a:t>To </a:t>
            </a:r>
            <a:r>
              <a:rPr sz="3200" b="1" spc="5" dirty="0">
                <a:latin typeface="Calibri"/>
                <a:cs typeface="Calibri"/>
              </a:rPr>
              <a:t>reduce </a:t>
            </a:r>
            <a:r>
              <a:rPr sz="3200" b="1" spc="10" dirty="0">
                <a:latin typeface="Calibri"/>
                <a:cs typeface="Calibri"/>
              </a:rPr>
              <a:t>the number of rules, we</a:t>
            </a:r>
            <a:r>
              <a:rPr sz="3200" b="1" spc="-27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can  </a:t>
            </a:r>
            <a:r>
              <a:rPr sz="3200" b="1" spc="-5" dirty="0">
                <a:latin typeface="Calibri"/>
                <a:cs typeface="Calibri"/>
              </a:rPr>
              <a:t>post-process </a:t>
            </a:r>
            <a:r>
              <a:rPr sz="3200" b="1" spc="20" dirty="0">
                <a:latin typeface="Calibri"/>
                <a:cs typeface="Calibri"/>
              </a:rPr>
              <a:t>them </a:t>
            </a:r>
            <a:r>
              <a:rPr sz="3200" b="1" spc="5" dirty="0">
                <a:latin typeface="Calibri"/>
                <a:cs typeface="Calibri"/>
              </a:rPr>
              <a:t>and </a:t>
            </a:r>
            <a:r>
              <a:rPr sz="3200" b="1" spc="10" dirty="0">
                <a:latin typeface="Calibri"/>
                <a:cs typeface="Calibri"/>
              </a:rPr>
              <a:t>only</a:t>
            </a:r>
            <a:r>
              <a:rPr sz="3200" b="1" spc="-295" dirty="0">
                <a:latin typeface="Calibri"/>
                <a:cs typeface="Calibri"/>
              </a:rPr>
              <a:t> </a:t>
            </a:r>
            <a:r>
              <a:rPr sz="3200" b="1" spc="5" dirty="0">
                <a:latin typeface="Calibri"/>
                <a:cs typeface="Calibri"/>
              </a:rPr>
              <a:t>output:</a:t>
            </a:r>
            <a:endParaRPr sz="320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3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b="1" spc="-5" dirty="0">
                <a:solidFill>
                  <a:srgbClr val="0000FF"/>
                </a:solidFill>
                <a:latin typeface="Calibri"/>
                <a:cs typeface="Calibri"/>
              </a:rPr>
              <a:t>Maximal </a:t>
            </a:r>
            <a:r>
              <a:rPr sz="2750" b="1" spc="20" dirty="0">
                <a:solidFill>
                  <a:srgbClr val="0000FF"/>
                </a:solidFill>
                <a:latin typeface="Calibri"/>
                <a:cs typeface="Calibri"/>
              </a:rPr>
              <a:t>frequent</a:t>
            </a:r>
            <a:r>
              <a:rPr sz="2750" b="1" spc="1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50" b="1" spc="20" dirty="0">
                <a:solidFill>
                  <a:srgbClr val="0000FF"/>
                </a:solidFill>
                <a:latin typeface="Calibri"/>
                <a:cs typeface="Calibri"/>
              </a:rPr>
              <a:t>itemsets:</a:t>
            </a:r>
            <a:endParaRPr sz="2750">
              <a:latin typeface="Calibri"/>
              <a:cs typeface="Calibri"/>
            </a:endParaRPr>
          </a:p>
          <a:p>
            <a:pPr marL="632460">
              <a:lnSpc>
                <a:spcPct val="100000"/>
              </a:lnSpc>
              <a:spcBef>
                <a:spcPts val="80"/>
              </a:spcBef>
            </a:pPr>
            <a:r>
              <a:rPr sz="2750" spc="15" dirty="0">
                <a:latin typeface="Calibri"/>
                <a:cs typeface="Calibri"/>
              </a:rPr>
              <a:t>No </a:t>
            </a:r>
            <a:r>
              <a:rPr sz="2750" dirty="0">
                <a:latin typeface="Calibri"/>
                <a:cs typeface="Calibri"/>
              </a:rPr>
              <a:t>immediate </a:t>
            </a:r>
            <a:r>
              <a:rPr sz="2750" spc="-25" dirty="0">
                <a:latin typeface="Calibri"/>
                <a:cs typeface="Calibri"/>
              </a:rPr>
              <a:t>superset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-8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frequent</a:t>
            </a:r>
            <a:endParaRPr sz="2750">
              <a:latin typeface="Calibri"/>
              <a:cs typeface="Calibri"/>
            </a:endParaRPr>
          </a:p>
          <a:p>
            <a:pPr marL="899160" lvl="2" indent="-229235">
              <a:lnSpc>
                <a:spcPct val="100000"/>
              </a:lnSpc>
              <a:spcBef>
                <a:spcPts val="655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spc="-20" dirty="0">
                <a:latin typeface="Calibri"/>
                <a:cs typeface="Calibri"/>
              </a:rPr>
              <a:t>Gives </a:t>
            </a:r>
            <a:r>
              <a:rPr sz="2400" spc="5" dirty="0">
                <a:latin typeface="Calibri"/>
                <a:cs typeface="Calibri"/>
              </a:rPr>
              <a:t>more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pruning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675"/>
              </a:spcBef>
            </a:pPr>
            <a:r>
              <a:rPr sz="2750" b="1" spc="15" dirty="0">
                <a:latin typeface="Calibri"/>
                <a:cs typeface="Calibri"/>
              </a:rPr>
              <a:t>or</a:t>
            </a:r>
            <a:endParaRPr sz="275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b="1" spc="20" dirty="0">
                <a:solidFill>
                  <a:srgbClr val="0000FF"/>
                </a:solidFill>
                <a:latin typeface="Calibri"/>
                <a:cs typeface="Calibri"/>
              </a:rPr>
              <a:t>Closed</a:t>
            </a:r>
            <a:r>
              <a:rPr sz="275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50" b="1" spc="20" dirty="0">
                <a:solidFill>
                  <a:srgbClr val="0000FF"/>
                </a:solidFill>
                <a:latin typeface="Calibri"/>
                <a:cs typeface="Calibri"/>
              </a:rPr>
              <a:t>itemsets:</a:t>
            </a:r>
            <a:endParaRPr sz="2750">
              <a:latin typeface="Calibri"/>
              <a:cs typeface="Calibri"/>
            </a:endParaRPr>
          </a:p>
          <a:p>
            <a:pPr marL="632460">
              <a:lnSpc>
                <a:spcPct val="100000"/>
              </a:lnSpc>
              <a:spcBef>
                <a:spcPts val="80"/>
              </a:spcBef>
            </a:pPr>
            <a:r>
              <a:rPr sz="2750" spc="15" dirty="0">
                <a:latin typeface="Calibri"/>
                <a:cs typeface="Calibri"/>
              </a:rPr>
              <a:t>No </a:t>
            </a:r>
            <a:r>
              <a:rPr sz="2750" dirty="0">
                <a:latin typeface="Calibri"/>
                <a:cs typeface="Calibri"/>
              </a:rPr>
              <a:t>immediate </a:t>
            </a:r>
            <a:r>
              <a:rPr sz="2750" spc="-25" dirty="0">
                <a:latin typeface="Calibri"/>
                <a:cs typeface="Calibri"/>
              </a:rPr>
              <a:t>superset </a:t>
            </a:r>
            <a:r>
              <a:rPr sz="2750" spc="5" dirty="0">
                <a:latin typeface="Calibri"/>
                <a:cs typeface="Calibri"/>
              </a:rPr>
              <a:t>has </a:t>
            </a:r>
            <a:r>
              <a:rPr sz="2750" spc="-10" dirty="0">
                <a:latin typeface="Calibri"/>
                <a:cs typeface="Calibri"/>
              </a:rPr>
              <a:t>the </a:t>
            </a:r>
            <a:r>
              <a:rPr sz="2750" spc="15" dirty="0">
                <a:latin typeface="Calibri"/>
                <a:cs typeface="Calibri"/>
              </a:rPr>
              <a:t>same </a:t>
            </a:r>
            <a:r>
              <a:rPr sz="2750" spc="-5" dirty="0">
                <a:latin typeface="Calibri"/>
                <a:cs typeface="Calibri"/>
              </a:rPr>
              <a:t>support </a:t>
            </a:r>
            <a:r>
              <a:rPr sz="2750" dirty="0">
                <a:latin typeface="Calibri"/>
                <a:cs typeface="Calibri"/>
              </a:rPr>
              <a:t>(&gt;</a:t>
            </a:r>
            <a:r>
              <a:rPr sz="2750" spc="32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0)</a:t>
            </a:r>
            <a:endParaRPr sz="2750">
              <a:latin typeface="Calibri"/>
              <a:cs typeface="Calibri"/>
            </a:endParaRPr>
          </a:p>
          <a:p>
            <a:pPr marL="899160" marR="1235075" lvl="2" indent="-229235">
              <a:lnSpc>
                <a:spcPts val="2850"/>
              </a:lnSpc>
              <a:spcBef>
                <a:spcPts val="700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dirty="0">
                <a:latin typeface="Calibri"/>
                <a:cs typeface="Calibri"/>
              </a:rPr>
              <a:t>Stores </a:t>
            </a:r>
            <a:r>
              <a:rPr sz="2400" spc="5" dirty="0">
                <a:latin typeface="Calibri"/>
                <a:cs typeface="Calibri"/>
              </a:rPr>
              <a:t>not </a:t>
            </a:r>
            <a:r>
              <a:rPr sz="2400" spc="-5" dirty="0">
                <a:latin typeface="Calibri"/>
                <a:cs typeface="Calibri"/>
              </a:rPr>
              <a:t>only </a:t>
            </a:r>
            <a:r>
              <a:rPr sz="2400" spc="5" dirty="0">
                <a:latin typeface="Calibri"/>
                <a:cs typeface="Calibri"/>
              </a:rPr>
              <a:t>frequent </a:t>
            </a:r>
            <a:r>
              <a:rPr sz="2400" spc="-10" dirty="0">
                <a:latin typeface="Calibri"/>
                <a:cs typeface="Calibri"/>
              </a:rPr>
              <a:t>information, </a:t>
            </a:r>
            <a:r>
              <a:rPr sz="2400" spc="5" dirty="0">
                <a:latin typeface="Calibri"/>
                <a:cs typeface="Calibri"/>
              </a:rPr>
              <a:t>but</a:t>
            </a:r>
            <a:r>
              <a:rPr sz="2400" spc="-36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exact  </a:t>
            </a:r>
            <a:r>
              <a:rPr sz="2400" spc="5" dirty="0">
                <a:latin typeface="Calibri"/>
                <a:cs typeface="Calibri"/>
              </a:rPr>
              <a:t>supports/counts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770FD-CBEF-47B2-B3C9-CFCE74B54A7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6338951" cy="5762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009052" y="1643380"/>
            <a:ext cx="45529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35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22642" y="1758632"/>
          <a:ext cx="5238749" cy="38249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3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310">
                <a:tc gridSpan="2">
                  <a:txBody>
                    <a:bodyPr/>
                    <a:lstStyle/>
                    <a:p>
                      <a:pPr marL="355600">
                        <a:lnSpc>
                          <a:spcPts val="3065"/>
                        </a:lnSpc>
                      </a:pPr>
                      <a:r>
                        <a:rPr sz="32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Support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3065"/>
                        </a:lnSpc>
                      </a:pPr>
                      <a:r>
                        <a:rPr sz="3200" b="1" spc="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Maximal(s=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3065"/>
                        </a:lnSpc>
                        <a:tabLst>
                          <a:tab pos="558165" algn="l"/>
                        </a:tabLst>
                      </a:pPr>
                      <a:r>
                        <a:rPr sz="3200" b="1" spc="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32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)	</a:t>
                      </a:r>
                      <a:r>
                        <a:rPr sz="3200" b="1" spc="1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3200" b="1" spc="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32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32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pPr marL="31750">
                        <a:lnSpc>
                          <a:spcPts val="3365"/>
                        </a:lnSpc>
                      </a:pPr>
                      <a:r>
                        <a:rPr sz="3200" b="1" dirty="0">
                          <a:latin typeface="Calibri"/>
                          <a:cs typeface="Calibri"/>
                        </a:rPr>
                        <a:t>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3365"/>
                        </a:lnSpc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4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3365"/>
                        </a:lnSpc>
                      </a:pPr>
                      <a:r>
                        <a:rPr sz="3200" spc="30" dirty="0">
                          <a:latin typeface="Calibri"/>
                          <a:cs typeface="Calibri"/>
                        </a:rPr>
                        <a:t>No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ts val="3365"/>
                        </a:lnSpc>
                      </a:pPr>
                      <a:r>
                        <a:rPr sz="3200" spc="30" dirty="0">
                          <a:latin typeface="Calibri"/>
                          <a:cs typeface="Calibri"/>
                        </a:rPr>
                        <a:t>No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18">
                <a:tc>
                  <a:txBody>
                    <a:bodyPr/>
                    <a:lstStyle/>
                    <a:p>
                      <a:pPr marL="31750">
                        <a:lnSpc>
                          <a:spcPts val="3360"/>
                        </a:lnSpc>
                      </a:pPr>
                      <a:r>
                        <a:rPr sz="3200" b="1" dirty="0">
                          <a:latin typeface="Calibri"/>
                          <a:cs typeface="Calibri"/>
                        </a:rPr>
                        <a:t>B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3360"/>
                        </a:lnSpc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5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3360"/>
                        </a:lnSpc>
                      </a:pPr>
                      <a:r>
                        <a:rPr sz="3200" spc="30" dirty="0">
                          <a:latin typeface="Calibri"/>
                          <a:cs typeface="Calibri"/>
                        </a:rPr>
                        <a:t>No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60"/>
                        </a:lnSpc>
                      </a:pPr>
                      <a:r>
                        <a:rPr sz="3200" spc="-75" dirty="0">
                          <a:latin typeface="Calibri"/>
                          <a:cs typeface="Calibri"/>
                        </a:rPr>
                        <a:t>Yes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59">
                <a:tc>
                  <a:txBody>
                    <a:bodyPr/>
                    <a:lstStyle/>
                    <a:p>
                      <a:pPr marL="31750">
                        <a:lnSpc>
                          <a:spcPts val="3400"/>
                        </a:lnSpc>
                      </a:pPr>
                      <a:r>
                        <a:rPr sz="3200" b="1" dirty="0">
                          <a:latin typeface="Calibri"/>
                          <a:cs typeface="Calibri"/>
                        </a:rPr>
                        <a:t>C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3400"/>
                        </a:lnSpc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3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ts val="3400"/>
                        </a:lnSpc>
                      </a:pPr>
                      <a:r>
                        <a:rPr sz="3200" spc="30" dirty="0">
                          <a:latin typeface="Calibri"/>
                          <a:cs typeface="Calibri"/>
                        </a:rPr>
                        <a:t>No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ts val="3400"/>
                        </a:lnSpc>
                      </a:pPr>
                      <a:r>
                        <a:rPr sz="3200" spc="30" dirty="0">
                          <a:latin typeface="Calibri"/>
                          <a:cs typeface="Calibri"/>
                        </a:rPr>
                        <a:t>No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290">
                <a:tc>
                  <a:txBody>
                    <a:bodyPr/>
                    <a:lstStyle/>
                    <a:p>
                      <a:pPr marL="31750">
                        <a:lnSpc>
                          <a:spcPts val="3360"/>
                        </a:lnSpc>
                      </a:pPr>
                      <a:r>
                        <a:rPr sz="3200" b="1" spc="5" dirty="0">
                          <a:latin typeface="Calibri"/>
                          <a:cs typeface="Calibri"/>
                        </a:rPr>
                        <a:t>AB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3360"/>
                        </a:lnSpc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4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3360"/>
                        </a:lnSpc>
                      </a:pPr>
                      <a:r>
                        <a:rPr sz="3200" spc="-75" dirty="0">
                          <a:latin typeface="Calibri"/>
                          <a:cs typeface="Calibri"/>
                        </a:rPr>
                        <a:t>Yes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60"/>
                        </a:lnSpc>
                      </a:pPr>
                      <a:r>
                        <a:rPr sz="3200" spc="-75" dirty="0">
                          <a:latin typeface="Calibri"/>
                          <a:cs typeface="Calibri"/>
                        </a:rPr>
                        <a:t>Yes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513">
                <a:tc>
                  <a:txBody>
                    <a:bodyPr/>
                    <a:lstStyle/>
                    <a:p>
                      <a:pPr marL="31750">
                        <a:lnSpc>
                          <a:spcPts val="3365"/>
                        </a:lnSpc>
                      </a:pPr>
                      <a:r>
                        <a:rPr sz="3200" b="1" spc="5" dirty="0">
                          <a:latin typeface="Calibri"/>
                          <a:cs typeface="Calibri"/>
                        </a:rPr>
                        <a:t>AC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3365"/>
                        </a:lnSpc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3365"/>
                        </a:lnSpc>
                      </a:pPr>
                      <a:r>
                        <a:rPr sz="3200" spc="30" dirty="0">
                          <a:latin typeface="Calibri"/>
                          <a:cs typeface="Calibri"/>
                        </a:rPr>
                        <a:t>No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ts val="3365"/>
                        </a:lnSpc>
                      </a:pPr>
                      <a:r>
                        <a:rPr sz="3200" spc="30" dirty="0">
                          <a:latin typeface="Calibri"/>
                          <a:cs typeface="Calibri"/>
                        </a:rPr>
                        <a:t>No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6473">
                <a:tc>
                  <a:txBody>
                    <a:bodyPr/>
                    <a:lstStyle/>
                    <a:p>
                      <a:pPr marL="31750">
                        <a:lnSpc>
                          <a:spcPts val="3365"/>
                        </a:lnSpc>
                      </a:pPr>
                      <a:r>
                        <a:rPr sz="3200" b="1" dirty="0">
                          <a:latin typeface="Calibri"/>
                          <a:cs typeface="Calibri"/>
                        </a:rPr>
                        <a:t>BC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3365"/>
                        </a:lnSpc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3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3365"/>
                        </a:lnSpc>
                      </a:pPr>
                      <a:r>
                        <a:rPr sz="3200" spc="-75" dirty="0">
                          <a:latin typeface="Calibri"/>
                          <a:cs typeface="Calibri"/>
                        </a:rPr>
                        <a:t>Yes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65"/>
                        </a:lnSpc>
                      </a:pPr>
                      <a:r>
                        <a:rPr sz="3200" spc="-75" dirty="0">
                          <a:latin typeface="Calibri"/>
                          <a:cs typeface="Calibri"/>
                        </a:rPr>
                        <a:t>Yes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31750">
                        <a:lnSpc>
                          <a:spcPts val="3365"/>
                        </a:lnSpc>
                      </a:pPr>
                      <a:r>
                        <a:rPr sz="3200" b="1" spc="10" dirty="0">
                          <a:latin typeface="Calibri"/>
                          <a:cs typeface="Calibri"/>
                        </a:rPr>
                        <a:t>ABC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3365"/>
                        </a:lnSpc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3365"/>
                        </a:lnSpc>
                      </a:pPr>
                      <a:r>
                        <a:rPr sz="3200" spc="30" dirty="0">
                          <a:latin typeface="Calibri"/>
                          <a:cs typeface="Calibri"/>
                        </a:rPr>
                        <a:t>No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65"/>
                        </a:lnSpc>
                      </a:pPr>
                      <a:r>
                        <a:rPr sz="3200" spc="-75" dirty="0">
                          <a:latin typeface="Calibri"/>
                          <a:cs typeface="Calibri"/>
                        </a:rPr>
                        <a:t>Yes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715125" y="1244282"/>
            <a:ext cx="1431290" cy="85407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0"/>
              </a:spcBef>
            </a:pPr>
            <a:r>
              <a:rPr sz="1800" b="0" spc="10" dirty="0">
                <a:solidFill>
                  <a:srgbClr val="008000"/>
                </a:solidFill>
                <a:latin typeface="Arial"/>
                <a:cs typeface="Arial"/>
              </a:rPr>
              <a:t>Frequent, </a:t>
            </a:r>
            <a:r>
              <a:rPr sz="1800" b="0" spc="30" dirty="0">
                <a:solidFill>
                  <a:srgbClr val="008000"/>
                </a:solidFill>
                <a:latin typeface="Arial"/>
                <a:cs typeface="Arial"/>
              </a:rPr>
              <a:t>but  </a:t>
            </a:r>
            <a:r>
              <a:rPr sz="1800" b="0" dirty="0">
                <a:solidFill>
                  <a:srgbClr val="008000"/>
                </a:solidFill>
                <a:latin typeface="Arial"/>
                <a:cs typeface="Arial"/>
              </a:rPr>
              <a:t>superset BC  also</a:t>
            </a:r>
            <a:r>
              <a:rPr sz="1800" b="0" spc="-5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b="0" spc="10" dirty="0">
                <a:solidFill>
                  <a:srgbClr val="008000"/>
                </a:solidFill>
                <a:latin typeface="Arial"/>
                <a:cs typeface="Arial"/>
              </a:rPr>
              <a:t>frequent.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43426" y="1905253"/>
            <a:ext cx="2611755" cy="1989455"/>
          </a:xfrm>
          <a:custGeom>
            <a:avLst/>
            <a:gdLst/>
            <a:ahLst/>
            <a:cxnLst/>
            <a:rect l="l" t="t" r="r" b="b"/>
            <a:pathLst>
              <a:path w="2611754" h="1989454">
                <a:moveTo>
                  <a:pt x="2460498" y="1982089"/>
                </a:moveTo>
                <a:lnTo>
                  <a:pt x="1984984" y="1574419"/>
                </a:lnTo>
                <a:lnTo>
                  <a:pt x="1992033" y="1566164"/>
                </a:lnTo>
                <a:lnTo>
                  <a:pt x="2006600" y="1549146"/>
                </a:lnTo>
                <a:lnTo>
                  <a:pt x="1924050" y="1528445"/>
                </a:lnTo>
                <a:lnTo>
                  <a:pt x="1957070" y="1607058"/>
                </a:lnTo>
                <a:lnTo>
                  <a:pt x="1978774" y="1581683"/>
                </a:lnTo>
                <a:lnTo>
                  <a:pt x="2454275" y="1989328"/>
                </a:lnTo>
                <a:lnTo>
                  <a:pt x="2460498" y="1982089"/>
                </a:lnTo>
                <a:close/>
              </a:path>
              <a:path w="2611754" h="1989454">
                <a:moveTo>
                  <a:pt x="2516251" y="894715"/>
                </a:moveTo>
                <a:lnTo>
                  <a:pt x="2512822" y="885952"/>
                </a:lnTo>
                <a:lnTo>
                  <a:pt x="69100" y="1848535"/>
                </a:lnTo>
                <a:lnTo>
                  <a:pt x="56896" y="1817497"/>
                </a:lnTo>
                <a:lnTo>
                  <a:pt x="0" y="1880870"/>
                </a:lnTo>
                <a:lnTo>
                  <a:pt x="84836" y="1888490"/>
                </a:lnTo>
                <a:lnTo>
                  <a:pt x="74434" y="1862074"/>
                </a:lnTo>
                <a:lnTo>
                  <a:pt x="72593" y="1857400"/>
                </a:lnTo>
                <a:lnTo>
                  <a:pt x="2516251" y="894715"/>
                </a:lnTo>
                <a:close/>
              </a:path>
              <a:path w="2611754" h="1989454">
                <a:moveTo>
                  <a:pt x="2611501" y="9017"/>
                </a:moveTo>
                <a:lnTo>
                  <a:pt x="2608072" y="0"/>
                </a:lnTo>
                <a:lnTo>
                  <a:pt x="88468" y="963447"/>
                </a:lnTo>
                <a:lnTo>
                  <a:pt x="76581" y="932307"/>
                </a:lnTo>
                <a:lnTo>
                  <a:pt x="19050" y="995045"/>
                </a:lnTo>
                <a:lnTo>
                  <a:pt x="103759" y="1003427"/>
                </a:lnTo>
                <a:lnTo>
                  <a:pt x="93611" y="976884"/>
                </a:lnTo>
                <a:lnTo>
                  <a:pt x="91871" y="972350"/>
                </a:lnTo>
                <a:lnTo>
                  <a:pt x="2611501" y="9017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42100" y="2420937"/>
            <a:ext cx="1926589" cy="2653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008000"/>
                </a:solidFill>
                <a:latin typeface="Arial"/>
                <a:cs typeface="Arial"/>
              </a:rPr>
              <a:t>Frequent,</a:t>
            </a:r>
            <a:r>
              <a:rPr sz="1800" spc="-24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spc="5" dirty="0">
                <a:solidFill>
                  <a:srgbClr val="008000"/>
                </a:solidFill>
                <a:latin typeface="Arial"/>
                <a:cs typeface="Arial"/>
              </a:rPr>
              <a:t>and</a:t>
            </a:r>
            <a:endParaRPr sz="1800">
              <a:latin typeface="Arial"/>
              <a:cs typeface="Arial"/>
            </a:endParaRPr>
          </a:p>
          <a:p>
            <a:pPr marL="48895" marR="149225">
              <a:lnSpc>
                <a:spcPct val="100800"/>
              </a:lnSpc>
            </a:pPr>
            <a:r>
              <a:rPr sz="1800" spc="-5" dirty="0">
                <a:solidFill>
                  <a:srgbClr val="008000"/>
                </a:solidFill>
                <a:latin typeface="Arial"/>
                <a:cs typeface="Arial"/>
              </a:rPr>
              <a:t>its </a:t>
            </a:r>
            <a:r>
              <a:rPr sz="1800" spc="15" dirty="0">
                <a:solidFill>
                  <a:srgbClr val="008000"/>
                </a:solidFill>
                <a:latin typeface="Arial"/>
                <a:cs typeface="Arial"/>
              </a:rPr>
              <a:t>only</a:t>
            </a:r>
            <a:r>
              <a:rPr sz="1800" spc="-18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spc="5" dirty="0">
                <a:solidFill>
                  <a:srgbClr val="008000"/>
                </a:solidFill>
                <a:latin typeface="Arial"/>
                <a:cs typeface="Arial"/>
              </a:rPr>
              <a:t>superset,  </a:t>
            </a:r>
            <a:r>
              <a:rPr sz="1800" spc="-30" dirty="0">
                <a:solidFill>
                  <a:srgbClr val="008000"/>
                </a:solidFill>
                <a:latin typeface="Arial"/>
                <a:cs typeface="Arial"/>
              </a:rPr>
              <a:t>ABC, </a:t>
            </a:r>
            <a:r>
              <a:rPr sz="1800" spc="5" dirty="0">
                <a:solidFill>
                  <a:srgbClr val="008000"/>
                </a:solidFill>
                <a:latin typeface="Arial"/>
                <a:cs typeface="Arial"/>
              </a:rPr>
              <a:t>not</a:t>
            </a:r>
            <a:r>
              <a:rPr sz="1800" spc="9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spc="5" dirty="0">
                <a:solidFill>
                  <a:srgbClr val="008000"/>
                </a:solidFill>
                <a:latin typeface="Arial"/>
                <a:cs typeface="Arial"/>
              </a:rPr>
              <a:t>freq.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Superset</a:t>
            </a:r>
            <a:r>
              <a:rPr sz="1800" spc="-4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BC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5" dirty="0">
                <a:solidFill>
                  <a:srgbClr val="008000"/>
                </a:solidFill>
                <a:latin typeface="Arial"/>
                <a:cs typeface="Arial"/>
              </a:rPr>
              <a:t>has </a:t>
            </a:r>
            <a:r>
              <a:rPr sz="1800" spc="-10" dirty="0">
                <a:solidFill>
                  <a:srgbClr val="008000"/>
                </a:solidFill>
                <a:latin typeface="Arial"/>
                <a:cs typeface="Arial"/>
              </a:rPr>
              <a:t>same</a:t>
            </a:r>
            <a:r>
              <a:rPr sz="1800" spc="-6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spc="15" dirty="0">
                <a:solidFill>
                  <a:srgbClr val="008000"/>
                </a:solidFill>
                <a:latin typeface="Arial"/>
                <a:cs typeface="Arial"/>
              </a:rPr>
              <a:t>support.</a:t>
            </a:r>
            <a:endParaRPr sz="1800">
              <a:latin typeface="Arial"/>
              <a:cs typeface="Arial"/>
            </a:endParaRPr>
          </a:p>
          <a:p>
            <a:pPr marL="165100" marR="106680">
              <a:lnSpc>
                <a:spcPct val="100899"/>
              </a:lnSpc>
              <a:spcBef>
                <a:spcPts val="1385"/>
              </a:spcBef>
            </a:pPr>
            <a:r>
              <a:rPr sz="1800" spc="-15" dirty="0">
                <a:solidFill>
                  <a:srgbClr val="008000"/>
                </a:solidFill>
                <a:latin typeface="Arial"/>
                <a:cs typeface="Arial"/>
              </a:rPr>
              <a:t>Its </a:t>
            </a:r>
            <a:r>
              <a:rPr sz="1800" spc="15" dirty="0">
                <a:solidFill>
                  <a:srgbClr val="008000"/>
                </a:solidFill>
                <a:latin typeface="Arial"/>
                <a:cs typeface="Arial"/>
              </a:rPr>
              <a:t>only </a:t>
            </a:r>
            <a:r>
              <a:rPr sz="1800" spc="10" dirty="0">
                <a:solidFill>
                  <a:srgbClr val="008000"/>
                </a:solidFill>
                <a:latin typeface="Arial"/>
                <a:cs typeface="Arial"/>
              </a:rPr>
              <a:t>super-  </a:t>
            </a:r>
            <a:r>
              <a:rPr sz="1800" spc="-5" dirty="0">
                <a:solidFill>
                  <a:srgbClr val="008000"/>
                </a:solidFill>
                <a:latin typeface="Arial"/>
                <a:cs typeface="Arial"/>
              </a:rPr>
              <a:t>set, </a:t>
            </a:r>
            <a:r>
              <a:rPr sz="1800" spc="-25" dirty="0">
                <a:solidFill>
                  <a:srgbClr val="008000"/>
                </a:solidFill>
                <a:latin typeface="Arial"/>
                <a:cs typeface="Arial"/>
              </a:rPr>
              <a:t>ABC, </a:t>
            </a:r>
            <a:r>
              <a:rPr sz="1800" spc="5" dirty="0">
                <a:solidFill>
                  <a:srgbClr val="008000"/>
                </a:solidFill>
                <a:latin typeface="Arial"/>
                <a:cs typeface="Arial"/>
              </a:rPr>
              <a:t>has  smaller</a:t>
            </a:r>
            <a:r>
              <a:rPr sz="1800" spc="-12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spc="15" dirty="0">
                <a:solidFill>
                  <a:srgbClr val="008000"/>
                </a:solidFill>
                <a:latin typeface="Arial"/>
                <a:cs typeface="Arial"/>
              </a:rPr>
              <a:t>support.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96076" y="4767198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2925"/>
                </a:lnTo>
                <a:lnTo>
                  <a:pt x="63500" y="42925"/>
                </a:lnTo>
                <a:lnTo>
                  <a:pt x="63500" y="33400"/>
                </a:lnTo>
                <a:lnTo>
                  <a:pt x="76200" y="33400"/>
                </a:lnTo>
                <a:lnTo>
                  <a:pt x="76200" y="0"/>
                </a:lnTo>
                <a:close/>
              </a:path>
              <a:path w="457200" h="76200">
                <a:moveTo>
                  <a:pt x="76200" y="33400"/>
                </a:moveTo>
                <a:lnTo>
                  <a:pt x="63500" y="33400"/>
                </a:lnTo>
                <a:lnTo>
                  <a:pt x="63500" y="42925"/>
                </a:lnTo>
                <a:lnTo>
                  <a:pt x="76200" y="42925"/>
                </a:lnTo>
                <a:lnTo>
                  <a:pt x="76200" y="33400"/>
                </a:lnTo>
                <a:close/>
              </a:path>
              <a:path w="457200" h="76200">
                <a:moveTo>
                  <a:pt x="457200" y="33400"/>
                </a:moveTo>
                <a:lnTo>
                  <a:pt x="76200" y="33400"/>
                </a:lnTo>
                <a:lnTo>
                  <a:pt x="76200" y="42925"/>
                </a:lnTo>
                <a:lnTo>
                  <a:pt x="457200" y="42925"/>
                </a:lnTo>
                <a:lnTo>
                  <a:pt x="457200" y="334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C189EB7-467C-41FF-B790-C61360B394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2202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5133975"/>
            </a:xfrm>
            <a:custGeom>
              <a:avLst/>
              <a:gdLst/>
              <a:ahLst/>
              <a:cxnLst/>
              <a:rect l="l" t="t" r="r" b="b"/>
              <a:pathLst>
                <a:path w="9144000" h="5133975">
                  <a:moveTo>
                    <a:pt x="9144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144000" y="51339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86286"/>
              <a:ext cx="9144000" cy="138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4450"/>
              <a:ext cx="9144000" cy="47625"/>
            </a:xfrm>
            <a:custGeom>
              <a:avLst/>
              <a:gdLst/>
              <a:ahLst/>
              <a:cxnLst/>
              <a:rect l="l" t="t" r="r" b="b"/>
              <a:pathLst>
                <a:path w="9144000" h="47625">
                  <a:moveTo>
                    <a:pt x="9144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44000" y="476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FC8D84B-8AF9-4ABB-AF8C-ED978638D2A0}"/>
              </a:ext>
            </a:extLst>
          </p:cNvPr>
          <p:cNvSpPr txBox="1"/>
          <p:nvPr/>
        </p:nvSpPr>
        <p:spPr>
          <a:xfrm>
            <a:off x="304800" y="2383133"/>
            <a:ext cx="8839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b="1" dirty="0">
                <a:solidFill>
                  <a:srgbClr val="FFC000"/>
                </a:solidFill>
                <a:latin typeface="Palatino Linotype" panose="02040502050505030304" pitchFamily="18" charset="0"/>
              </a:rPr>
              <a:t>Finding Frequent </a:t>
            </a:r>
            <a:r>
              <a:rPr lang="en-AU" sz="4800" b="1" dirty="0" err="1">
                <a:solidFill>
                  <a:srgbClr val="FFC000"/>
                </a:solidFill>
                <a:latin typeface="Palatino Linotype" panose="02040502050505030304" pitchFamily="18" charset="0"/>
              </a:rPr>
              <a:t>Itemsets</a:t>
            </a:r>
            <a:endParaRPr lang="en-AU" sz="4800" b="1" dirty="0">
              <a:solidFill>
                <a:srgbClr val="FFC000"/>
              </a:solidFill>
              <a:latin typeface="Palatino Linotype" panose="02040502050505030304" pitchFamily="18" charset="0"/>
            </a:endParaRPr>
          </a:p>
          <a:p>
            <a:pPr algn="ctr"/>
            <a:endParaRPr lang="en-AU" sz="32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4477394-F8B3-4339-99BD-4D6289F316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672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7300976" cy="5762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8739" y="1300162"/>
            <a:ext cx="6511290" cy="53422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72490" indent="-324485">
              <a:lnSpc>
                <a:spcPts val="3645"/>
              </a:lnSpc>
              <a:spcBef>
                <a:spcPts val="12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872490" algn="l"/>
              </a:tabLst>
            </a:pP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Back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sz="3200" b="1" spc="20" dirty="0">
                <a:solidFill>
                  <a:srgbClr val="0000FF"/>
                </a:solidFill>
                <a:latin typeface="Calibri"/>
                <a:cs typeface="Calibri"/>
              </a:rPr>
              <a:t>finding </a:t>
            </a: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frequent</a:t>
            </a:r>
            <a:r>
              <a:rPr sz="3200" b="1" spc="-5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itemsets</a:t>
            </a:r>
            <a:endParaRPr sz="3200">
              <a:latin typeface="Calibri"/>
              <a:cs typeface="Calibri"/>
            </a:endParaRPr>
          </a:p>
          <a:p>
            <a:pPr marL="872490" marR="121285" indent="-324485">
              <a:lnSpc>
                <a:spcPts val="3460"/>
              </a:lnSpc>
              <a:spcBef>
                <a:spcPts val="24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872490" algn="l"/>
              </a:tabLst>
            </a:pPr>
            <a:r>
              <a:rPr sz="3200" spc="-30" dirty="0">
                <a:latin typeface="Calibri"/>
                <a:cs typeface="Calibri"/>
              </a:rPr>
              <a:t>Typically, </a:t>
            </a:r>
            <a:r>
              <a:rPr sz="3200" spc="-5" dirty="0">
                <a:latin typeface="Calibri"/>
                <a:cs typeface="Calibri"/>
              </a:rPr>
              <a:t>data </a:t>
            </a:r>
            <a:r>
              <a:rPr sz="3200" spc="5" dirty="0">
                <a:latin typeface="Calibri"/>
                <a:cs typeface="Calibri"/>
              </a:rPr>
              <a:t>is </a:t>
            </a:r>
            <a:r>
              <a:rPr sz="3200" spc="-5" dirty="0">
                <a:latin typeface="Calibri"/>
                <a:cs typeface="Calibri"/>
              </a:rPr>
              <a:t>kept </a:t>
            </a:r>
            <a:r>
              <a:rPr sz="3200" spc="10" dirty="0">
                <a:latin typeface="Calibri"/>
                <a:cs typeface="Calibri"/>
              </a:rPr>
              <a:t>in </a:t>
            </a:r>
            <a:r>
              <a:rPr sz="3200" spc="15" dirty="0">
                <a:latin typeface="Calibri"/>
                <a:cs typeface="Calibri"/>
              </a:rPr>
              <a:t>flat </a:t>
            </a:r>
            <a:r>
              <a:rPr sz="3200" dirty="0">
                <a:latin typeface="Calibri"/>
                <a:cs typeface="Calibri"/>
              </a:rPr>
              <a:t>files  </a:t>
            </a:r>
            <a:r>
              <a:rPr sz="3200" spc="-5" dirty="0">
                <a:latin typeface="Calibri"/>
                <a:cs typeface="Calibri"/>
              </a:rPr>
              <a:t>rather </a:t>
            </a:r>
            <a:r>
              <a:rPr sz="3200" spc="15" dirty="0">
                <a:latin typeface="Calibri"/>
                <a:cs typeface="Calibri"/>
              </a:rPr>
              <a:t>than </a:t>
            </a:r>
            <a:r>
              <a:rPr sz="3200" spc="10" dirty="0">
                <a:latin typeface="Calibri"/>
                <a:cs typeface="Calibri"/>
              </a:rPr>
              <a:t>in a </a:t>
            </a:r>
            <a:r>
              <a:rPr sz="3200" spc="15" dirty="0">
                <a:latin typeface="Calibri"/>
                <a:cs typeface="Calibri"/>
              </a:rPr>
              <a:t>database</a:t>
            </a:r>
            <a:r>
              <a:rPr sz="3200" spc="-4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system:</a:t>
            </a:r>
            <a:endParaRPr sz="3200">
              <a:latin typeface="Calibri"/>
              <a:cs typeface="Calibri"/>
            </a:endParaRPr>
          </a:p>
          <a:p>
            <a:pPr marL="1167765" lvl="1" indent="-276860">
              <a:lnSpc>
                <a:spcPct val="100000"/>
              </a:lnSpc>
              <a:spcBef>
                <a:spcPts val="380"/>
              </a:spcBef>
              <a:buClr>
                <a:srgbClr val="5FB5CC"/>
              </a:buClr>
              <a:buFont typeface="Wingdings"/>
              <a:buChar char=""/>
              <a:tabLst>
                <a:tab pos="1168400" algn="l"/>
              </a:tabLst>
            </a:pPr>
            <a:r>
              <a:rPr sz="2750" spc="5" dirty="0">
                <a:latin typeface="Calibri"/>
                <a:cs typeface="Calibri"/>
              </a:rPr>
              <a:t>Stored </a:t>
            </a:r>
            <a:r>
              <a:rPr sz="2750" spc="30" dirty="0">
                <a:latin typeface="Calibri"/>
                <a:cs typeface="Calibri"/>
              </a:rPr>
              <a:t>on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disk</a:t>
            </a:r>
            <a:endParaRPr sz="2750">
              <a:latin typeface="Calibri"/>
              <a:cs typeface="Calibri"/>
            </a:endParaRPr>
          </a:p>
          <a:p>
            <a:pPr marL="1167765" lvl="1" indent="-276860">
              <a:lnSpc>
                <a:spcPct val="100000"/>
              </a:lnSpc>
              <a:spcBef>
                <a:spcPts val="384"/>
              </a:spcBef>
              <a:buClr>
                <a:srgbClr val="5FB5CC"/>
              </a:buClr>
              <a:buFont typeface="Wingdings"/>
              <a:buChar char=""/>
              <a:tabLst>
                <a:tab pos="1168400" algn="l"/>
              </a:tabLst>
            </a:pPr>
            <a:r>
              <a:rPr sz="2750" spc="5" dirty="0">
                <a:latin typeface="Calibri"/>
                <a:cs typeface="Calibri"/>
              </a:rPr>
              <a:t>Stored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basket-by-basket</a:t>
            </a:r>
            <a:endParaRPr sz="2750">
              <a:latin typeface="Calibri"/>
              <a:cs typeface="Calibri"/>
            </a:endParaRPr>
          </a:p>
          <a:p>
            <a:pPr marL="1167765" marR="991869" lvl="1" indent="-276860">
              <a:lnSpc>
                <a:spcPts val="3080"/>
              </a:lnSpc>
              <a:spcBef>
                <a:spcPts val="665"/>
              </a:spcBef>
              <a:buClr>
                <a:srgbClr val="5FB5CC"/>
              </a:buClr>
              <a:buFont typeface="Wingdings"/>
              <a:buChar char=""/>
              <a:tabLst>
                <a:tab pos="1168400" algn="l"/>
              </a:tabLst>
            </a:pPr>
            <a:r>
              <a:rPr sz="2750" spc="-15" dirty="0">
                <a:latin typeface="Calibri"/>
                <a:cs typeface="Calibri"/>
              </a:rPr>
              <a:t>Baskets </a:t>
            </a:r>
            <a:r>
              <a:rPr sz="2750" spc="15" dirty="0">
                <a:latin typeface="Calibri"/>
                <a:cs typeface="Calibri"/>
              </a:rPr>
              <a:t>are </a:t>
            </a:r>
            <a:r>
              <a:rPr sz="2750" b="1" spc="5" dirty="0">
                <a:solidFill>
                  <a:srgbClr val="FF0066"/>
                </a:solidFill>
                <a:latin typeface="Calibri"/>
                <a:cs typeface="Calibri"/>
              </a:rPr>
              <a:t>small </a:t>
            </a:r>
            <a:r>
              <a:rPr sz="2750" spc="-10" dirty="0">
                <a:latin typeface="Calibri"/>
                <a:cs typeface="Calibri"/>
              </a:rPr>
              <a:t>but </a:t>
            </a:r>
            <a:r>
              <a:rPr sz="2750" spc="-5" dirty="0">
                <a:latin typeface="Calibri"/>
                <a:cs typeface="Calibri"/>
              </a:rPr>
              <a:t>we have  many </a:t>
            </a:r>
            <a:r>
              <a:rPr sz="2750" spc="-15" dirty="0">
                <a:latin typeface="Calibri"/>
                <a:cs typeface="Calibri"/>
              </a:rPr>
              <a:t>baskets </a:t>
            </a:r>
            <a:r>
              <a:rPr sz="2750" spc="5" dirty="0">
                <a:latin typeface="Calibri"/>
                <a:cs typeface="Calibri"/>
              </a:rPr>
              <a:t>and </a:t>
            </a:r>
            <a:r>
              <a:rPr sz="2750" spc="-5" dirty="0">
                <a:latin typeface="Calibri"/>
                <a:cs typeface="Calibri"/>
              </a:rPr>
              <a:t>many</a:t>
            </a:r>
            <a:r>
              <a:rPr sz="2750" spc="35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items</a:t>
            </a:r>
            <a:endParaRPr sz="2750">
              <a:latin typeface="Calibri"/>
              <a:cs typeface="Calibri"/>
            </a:endParaRPr>
          </a:p>
          <a:p>
            <a:pPr marL="1435100" lvl="2" indent="-229235">
              <a:lnSpc>
                <a:spcPts val="2755"/>
              </a:lnSpc>
              <a:spcBef>
                <a:spcPts val="210"/>
              </a:spcBef>
              <a:buClr>
                <a:srgbClr val="E66C7C"/>
              </a:buClr>
              <a:buFont typeface="Wingdings"/>
              <a:buChar char=""/>
              <a:tabLst>
                <a:tab pos="1435100" algn="l"/>
              </a:tabLst>
            </a:pPr>
            <a:r>
              <a:rPr sz="2400" dirty="0">
                <a:latin typeface="Calibri"/>
                <a:cs typeface="Calibri"/>
              </a:rPr>
              <a:t>Expand </a:t>
            </a:r>
            <a:r>
              <a:rPr sz="2400" spc="-5" dirty="0">
                <a:latin typeface="Calibri"/>
                <a:cs typeface="Calibri"/>
              </a:rPr>
              <a:t>baskets into </a:t>
            </a:r>
            <a:r>
              <a:rPr sz="2400" spc="-20" dirty="0">
                <a:latin typeface="Calibri"/>
                <a:cs typeface="Calibri"/>
              </a:rPr>
              <a:t>pairs, </a:t>
            </a:r>
            <a:r>
              <a:rPr sz="2400" spc="-5" dirty="0">
                <a:latin typeface="Calibri"/>
                <a:cs typeface="Calibri"/>
              </a:rPr>
              <a:t>triples,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1435100">
              <a:lnSpc>
                <a:spcPts val="2755"/>
              </a:lnSpc>
            </a:pPr>
            <a:r>
              <a:rPr sz="2400" spc="-15" dirty="0">
                <a:latin typeface="Calibri"/>
                <a:cs typeface="Calibri"/>
              </a:rPr>
              <a:t>as you </a:t>
            </a:r>
            <a:r>
              <a:rPr sz="2400" spc="-10" dirty="0">
                <a:latin typeface="Calibri"/>
                <a:cs typeface="Calibri"/>
              </a:rPr>
              <a:t>read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baskets</a:t>
            </a:r>
            <a:endParaRPr sz="2400">
              <a:latin typeface="Calibri"/>
              <a:cs typeface="Calibri"/>
            </a:endParaRPr>
          </a:p>
          <a:p>
            <a:pPr marL="1435100" marR="897255" lvl="2" indent="-229235">
              <a:lnSpc>
                <a:spcPts val="2630"/>
              </a:lnSpc>
              <a:spcBef>
                <a:spcPts val="575"/>
              </a:spcBef>
              <a:buClr>
                <a:srgbClr val="E66C7C"/>
              </a:buClr>
              <a:buFont typeface="Wingdings"/>
              <a:buChar char=""/>
              <a:tabLst>
                <a:tab pos="1435100" algn="l"/>
              </a:tabLst>
            </a:pPr>
            <a:r>
              <a:rPr sz="2400" spc="20" dirty="0">
                <a:latin typeface="Calibri"/>
                <a:cs typeface="Calibri"/>
              </a:rPr>
              <a:t>Use </a:t>
            </a:r>
            <a:r>
              <a:rPr sz="2400" b="1" i="1" dirty="0">
                <a:solidFill>
                  <a:srgbClr val="FF0066"/>
                </a:solidFill>
                <a:latin typeface="Calibri"/>
                <a:cs typeface="Calibri"/>
              </a:rPr>
              <a:t>k </a:t>
            </a:r>
            <a:r>
              <a:rPr sz="2400" spc="10" dirty="0">
                <a:latin typeface="Calibri"/>
                <a:cs typeface="Calibri"/>
              </a:rPr>
              <a:t>nested</a:t>
            </a:r>
            <a:r>
              <a:rPr sz="2400" spc="-40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loops </a:t>
            </a:r>
            <a:r>
              <a:rPr sz="2400" spc="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generate </a:t>
            </a:r>
            <a:r>
              <a:rPr sz="2400" spc="-20" dirty="0">
                <a:latin typeface="Calibri"/>
                <a:cs typeface="Calibri"/>
              </a:rPr>
              <a:t>all  </a:t>
            </a:r>
            <a:r>
              <a:rPr sz="2400" spc="10" dirty="0">
                <a:latin typeface="Calibri"/>
                <a:cs typeface="Calibri"/>
              </a:rPr>
              <a:t>sets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-15" dirty="0">
                <a:latin typeface="Calibri"/>
                <a:cs typeface="Calibri"/>
              </a:rPr>
              <a:t>size</a:t>
            </a:r>
            <a:r>
              <a:rPr sz="2400" spc="-15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66"/>
                </a:solidFill>
                <a:latin typeface="Calibri"/>
                <a:cs typeface="Calibri"/>
              </a:rPr>
              <a:t>k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1550" b="1" dirty="0">
                <a:solidFill>
                  <a:srgbClr val="008000"/>
                </a:solidFill>
                <a:latin typeface="Arial"/>
                <a:cs typeface="Arial"/>
              </a:rPr>
              <a:t>Note: </a:t>
            </a:r>
            <a:r>
              <a:rPr sz="1550" spc="60" dirty="0">
                <a:solidFill>
                  <a:srgbClr val="008000"/>
                </a:solidFill>
                <a:latin typeface="Arial"/>
                <a:cs typeface="Arial"/>
              </a:rPr>
              <a:t>We </a:t>
            </a:r>
            <a:r>
              <a:rPr sz="1550" dirty="0">
                <a:solidFill>
                  <a:srgbClr val="008000"/>
                </a:solidFill>
                <a:latin typeface="Arial"/>
                <a:cs typeface="Arial"/>
              </a:rPr>
              <a:t>want </a:t>
            </a:r>
            <a:r>
              <a:rPr sz="1550" spc="15" dirty="0">
                <a:solidFill>
                  <a:srgbClr val="008000"/>
                </a:solidFill>
                <a:latin typeface="Arial"/>
                <a:cs typeface="Arial"/>
              </a:rPr>
              <a:t>to </a:t>
            </a:r>
            <a:r>
              <a:rPr sz="1550" spc="5" dirty="0">
                <a:solidFill>
                  <a:srgbClr val="008000"/>
                </a:solidFill>
                <a:latin typeface="Arial"/>
                <a:cs typeface="Arial"/>
              </a:rPr>
              <a:t>find </a:t>
            </a:r>
            <a:r>
              <a:rPr sz="1550" dirty="0">
                <a:solidFill>
                  <a:srgbClr val="008000"/>
                </a:solidFill>
                <a:latin typeface="Arial"/>
                <a:cs typeface="Arial"/>
              </a:rPr>
              <a:t>frequent </a:t>
            </a:r>
            <a:r>
              <a:rPr sz="1550" spc="15" dirty="0">
                <a:solidFill>
                  <a:srgbClr val="008000"/>
                </a:solidFill>
                <a:latin typeface="Arial"/>
                <a:cs typeface="Arial"/>
              </a:rPr>
              <a:t>itemsets. </a:t>
            </a:r>
            <a:r>
              <a:rPr sz="1550" spc="-95" dirty="0">
                <a:solidFill>
                  <a:srgbClr val="008000"/>
                </a:solidFill>
                <a:latin typeface="Arial"/>
                <a:cs typeface="Arial"/>
              </a:rPr>
              <a:t>To </a:t>
            </a:r>
            <a:r>
              <a:rPr sz="1550" dirty="0">
                <a:solidFill>
                  <a:srgbClr val="008000"/>
                </a:solidFill>
                <a:latin typeface="Arial"/>
                <a:cs typeface="Arial"/>
              </a:rPr>
              <a:t>find </a:t>
            </a:r>
            <a:r>
              <a:rPr sz="1550" spc="-20" dirty="0">
                <a:solidFill>
                  <a:srgbClr val="008000"/>
                </a:solidFill>
                <a:latin typeface="Arial"/>
                <a:cs typeface="Arial"/>
              </a:rPr>
              <a:t>them, </a:t>
            </a:r>
            <a:r>
              <a:rPr sz="1550" spc="5" dirty="0">
                <a:solidFill>
                  <a:srgbClr val="008000"/>
                </a:solidFill>
                <a:latin typeface="Arial"/>
                <a:cs typeface="Arial"/>
              </a:rPr>
              <a:t>we </a:t>
            </a:r>
            <a:r>
              <a:rPr sz="1550" spc="10" dirty="0">
                <a:solidFill>
                  <a:srgbClr val="008000"/>
                </a:solidFill>
                <a:latin typeface="Arial"/>
                <a:cs typeface="Arial"/>
              </a:rPr>
              <a:t>have</a:t>
            </a:r>
            <a:r>
              <a:rPr sz="1550" spc="-22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008000"/>
                </a:solidFill>
                <a:latin typeface="Arial"/>
                <a:cs typeface="Arial"/>
              </a:rPr>
              <a:t>to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550" dirty="0">
                <a:solidFill>
                  <a:srgbClr val="008000"/>
                </a:solidFill>
                <a:latin typeface="Arial"/>
                <a:cs typeface="Arial"/>
              </a:rPr>
              <a:t>count </a:t>
            </a:r>
            <a:r>
              <a:rPr sz="1550" spc="-15" dirty="0">
                <a:solidFill>
                  <a:srgbClr val="008000"/>
                </a:solidFill>
                <a:latin typeface="Arial"/>
                <a:cs typeface="Arial"/>
              </a:rPr>
              <a:t>them. </a:t>
            </a:r>
            <a:r>
              <a:rPr sz="1550" spc="-95" dirty="0">
                <a:solidFill>
                  <a:srgbClr val="008000"/>
                </a:solidFill>
                <a:latin typeface="Arial"/>
                <a:cs typeface="Arial"/>
              </a:rPr>
              <a:t>To </a:t>
            </a:r>
            <a:r>
              <a:rPr sz="1550" dirty="0">
                <a:solidFill>
                  <a:srgbClr val="008000"/>
                </a:solidFill>
                <a:latin typeface="Arial"/>
                <a:cs typeface="Arial"/>
              </a:rPr>
              <a:t>count </a:t>
            </a:r>
            <a:r>
              <a:rPr sz="1550" spc="-15" dirty="0">
                <a:solidFill>
                  <a:srgbClr val="008000"/>
                </a:solidFill>
                <a:latin typeface="Arial"/>
                <a:cs typeface="Arial"/>
              </a:rPr>
              <a:t>them, </a:t>
            </a:r>
            <a:r>
              <a:rPr sz="1550" spc="5" dirty="0">
                <a:solidFill>
                  <a:srgbClr val="008000"/>
                </a:solidFill>
                <a:latin typeface="Arial"/>
                <a:cs typeface="Arial"/>
              </a:rPr>
              <a:t>we </a:t>
            </a:r>
            <a:r>
              <a:rPr sz="1550" spc="15" dirty="0">
                <a:solidFill>
                  <a:srgbClr val="008000"/>
                </a:solidFill>
                <a:latin typeface="Arial"/>
                <a:cs typeface="Arial"/>
              </a:rPr>
              <a:t>have to </a:t>
            </a:r>
            <a:r>
              <a:rPr sz="1550" spc="-5" dirty="0">
                <a:solidFill>
                  <a:srgbClr val="008000"/>
                </a:solidFill>
                <a:latin typeface="Arial"/>
                <a:cs typeface="Arial"/>
              </a:rPr>
              <a:t>enumerate</a:t>
            </a:r>
            <a:r>
              <a:rPr sz="1550" spc="7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550" spc="-15" dirty="0">
                <a:solidFill>
                  <a:srgbClr val="008000"/>
                </a:solidFill>
                <a:latin typeface="Arial"/>
                <a:cs typeface="Arial"/>
              </a:rPr>
              <a:t>them.</a:t>
            </a:r>
            <a:endParaRPr sz="155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77163" y="1371600"/>
          <a:ext cx="1371600" cy="44195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63">
                <a:tc>
                  <a:txBody>
                    <a:bodyPr/>
                    <a:lstStyle/>
                    <a:p>
                      <a:pPr marR="665480" algn="r">
                        <a:lnSpc>
                          <a:spcPts val="1435"/>
                        </a:lnSpc>
                        <a:spcBef>
                          <a:spcPts val="265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665480" algn="r">
                        <a:lnSpc>
                          <a:spcPts val="1435"/>
                        </a:lnSpc>
                        <a:spcBef>
                          <a:spcPts val="265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665480" algn="r">
                        <a:lnSpc>
                          <a:spcPts val="1430"/>
                        </a:lnSpc>
                        <a:spcBef>
                          <a:spcPts val="270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665480" algn="r">
                        <a:lnSpc>
                          <a:spcPts val="1430"/>
                        </a:lnSpc>
                        <a:spcBef>
                          <a:spcPts val="270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74">
                <a:tc>
                  <a:txBody>
                    <a:bodyPr/>
                    <a:lstStyle/>
                    <a:p>
                      <a:pPr marR="665480" algn="r">
                        <a:lnSpc>
                          <a:spcPts val="1390"/>
                        </a:lnSpc>
                        <a:spcBef>
                          <a:spcPts val="270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425">
                <a:tc>
                  <a:txBody>
                    <a:bodyPr/>
                    <a:lstStyle/>
                    <a:p>
                      <a:pPr marR="665480" algn="r">
                        <a:lnSpc>
                          <a:spcPts val="1425"/>
                        </a:lnSpc>
                        <a:spcBef>
                          <a:spcPts val="315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665480" algn="r">
                        <a:lnSpc>
                          <a:spcPts val="1420"/>
                        </a:lnSpc>
                        <a:spcBef>
                          <a:spcPts val="280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74">
                <a:tc>
                  <a:txBody>
                    <a:bodyPr/>
                    <a:lstStyle/>
                    <a:p>
                      <a:pPr marR="665480" algn="r">
                        <a:lnSpc>
                          <a:spcPts val="1380"/>
                        </a:lnSpc>
                        <a:spcBef>
                          <a:spcPts val="280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425">
                <a:tc>
                  <a:txBody>
                    <a:bodyPr/>
                    <a:lstStyle/>
                    <a:p>
                      <a:pPr marR="665480" algn="r">
                        <a:lnSpc>
                          <a:spcPts val="1415"/>
                        </a:lnSpc>
                        <a:spcBef>
                          <a:spcPts val="320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665480" algn="r">
                        <a:lnSpc>
                          <a:spcPts val="1415"/>
                        </a:lnSpc>
                        <a:spcBef>
                          <a:spcPts val="285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61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665480" algn="r">
                        <a:lnSpc>
                          <a:spcPts val="1410"/>
                        </a:lnSpc>
                        <a:spcBef>
                          <a:spcPts val="290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74">
                <a:tc>
                  <a:txBody>
                    <a:bodyPr/>
                    <a:lstStyle/>
                    <a:p>
                      <a:pPr marR="665480" algn="r">
                        <a:lnSpc>
                          <a:spcPts val="1370"/>
                        </a:lnSpc>
                        <a:spcBef>
                          <a:spcPts val="290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811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R="68897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latin typeface="Corbel"/>
                          <a:cs typeface="Corbel"/>
                        </a:rPr>
                        <a:t>Etc.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831965" y="5822632"/>
            <a:ext cx="2159635" cy="672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065" marR="5080" algn="ctr">
              <a:lnSpc>
                <a:spcPct val="100600"/>
              </a:lnSpc>
              <a:spcBef>
                <a:spcPts val="114"/>
              </a:spcBef>
            </a:pPr>
            <a:r>
              <a:rPr sz="1400" spc="25" dirty="0">
                <a:solidFill>
                  <a:srgbClr val="008000"/>
                </a:solidFill>
                <a:latin typeface="Arial"/>
                <a:cs typeface="Arial"/>
              </a:rPr>
              <a:t>Items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are </a:t>
            </a:r>
            <a:r>
              <a:rPr sz="1400" spc="5" dirty="0">
                <a:solidFill>
                  <a:srgbClr val="008000"/>
                </a:solidFill>
                <a:latin typeface="Arial"/>
                <a:cs typeface="Arial"/>
              </a:rPr>
              <a:t>positive</a:t>
            </a:r>
            <a:r>
              <a:rPr sz="1400" spc="-29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integers, 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and </a:t>
            </a:r>
            <a:r>
              <a:rPr sz="1400" spc="5" dirty="0">
                <a:solidFill>
                  <a:srgbClr val="008000"/>
                </a:solidFill>
                <a:latin typeface="Arial"/>
                <a:cs typeface="Arial"/>
              </a:rPr>
              <a:t>boundaries </a:t>
            </a:r>
            <a:r>
              <a:rPr sz="1400" spc="15" dirty="0">
                <a:solidFill>
                  <a:srgbClr val="008000"/>
                </a:solidFill>
                <a:latin typeface="Arial"/>
                <a:cs typeface="Arial"/>
              </a:rPr>
              <a:t>between 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baskets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are</a:t>
            </a:r>
            <a:r>
              <a:rPr sz="1400" spc="-12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008000"/>
                </a:solidFill>
                <a:latin typeface="Arial"/>
                <a:cs typeface="Arial"/>
              </a:rPr>
              <a:t>–1.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6B0EC-6F6B-4FBE-AEE9-096B9246FE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33311"/>
            <a:ext cx="4900676" cy="5762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347787"/>
            <a:ext cx="6040120" cy="328358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36550" marR="982980" indent="-324485">
              <a:lnSpc>
                <a:spcPts val="3829"/>
              </a:lnSpc>
              <a:spcBef>
                <a:spcPts val="26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20" dirty="0">
                <a:latin typeface="Calibri"/>
                <a:cs typeface="Calibri"/>
              </a:rPr>
              <a:t>The </a:t>
            </a:r>
            <a:r>
              <a:rPr sz="3200" spc="10" dirty="0">
                <a:latin typeface="Calibri"/>
                <a:cs typeface="Calibri"/>
              </a:rPr>
              <a:t>true cost </a:t>
            </a:r>
            <a:r>
              <a:rPr sz="3200" spc="20" dirty="0">
                <a:latin typeface="Calibri"/>
                <a:cs typeface="Calibri"/>
              </a:rPr>
              <a:t>of mining</a:t>
            </a:r>
            <a:r>
              <a:rPr sz="3200" spc="-500" dirty="0">
                <a:latin typeface="Calibri"/>
                <a:cs typeface="Calibri"/>
              </a:rPr>
              <a:t> </a:t>
            </a:r>
            <a:r>
              <a:rPr sz="3200" spc="30" dirty="0">
                <a:latin typeface="Calibri"/>
                <a:cs typeface="Calibri"/>
              </a:rPr>
              <a:t>disk-  </a:t>
            </a:r>
            <a:r>
              <a:rPr sz="3200" dirty="0">
                <a:latin typeface="Calibri"/>
                <a:cs typeface="Calibri"/>
              </a:rPr>
              <a:t>resident </a:t>
            </a:r>
            <a:r>
              <a:rPr sz="3200" spc="-5" dirty="0">
                <a:latin typeface="Calibri"/>
                <a:cs typeface="Calibri"/>
              </a:rPr>
              <a:t>data </a:t>
            </a:r>
            <a:r>
              <a:rPr sz="3200" spc="5" dirty="0">
                <a:latin typeface="Calibri"/>
                <a:cs typeface="Calibri"/>
              </a:rPr>
              <a:t>is </a:t>
            </a:r>
            <a:r>
              <a:rPr sz="3200" spc="25" dirty="0">
                <a:latin typeface="Calibri"/>
                <a:cs typeface="Calibri"/>
              </a:rPr>
              <a:t>usually </a:t>
            </a:r>
            <a:r>
              <a:rPr sz="3200" spc="10" dirty="0">
                <a:latin typeface="Calibri"/>
                <a:cs typeface="Calibri"/>
              </a:rPr>
              <a:t>the  </a:t>
            </a: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number </a:t>
            </a:r>
            <a:r>
              <a:rPr sz="3200" b="1" spc="5" dirty="0">
                <a:solidFill>
                  <a:srgbClr val="008000"/>
                </a:solidFill>
                <a:latin typeface="Calibri"/>
                <a:cs typeface="Calibri"/>
              </a:rPr>
              <a:t>of </a:t>
            </a: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disk</a:t>
            </a:r>
            <a:r>
              <a:rPr sz="3200" b="1" spc="-229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8000"/>
                </a:solidFill>
                <a:latin typeface="Calibri"/>
                <a:cs typeface="Calibri"/>
              </a:rPr>
              <a:t>I/Os</a:t>
            </a:r>
            <a:endParaRPr sz="3200">
              <a:latin typeface="Calibri"/>
              <a:cs typeface="Calibri"/>
            </a:endParaRPr>
          </a:p>
          <a:p>
            <a:pPr marL="336550" marR="5080" indent="-324485">
              <a:lnSpc>
                <a:spcPct val="100000"/>
              </a:lnSpc>
              <a:spcBef>
                <a:spcPts val="249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10" dirty="0">
                <a:latin typeface="Calibri"/>
                <a:cs typeface="Calibri"/>
              </a:rPr>
              <a:t>In </a:t>
            </a:r>
            <a:r>
              <a:rPr sz="3200" spc="-5" dirty="0">
                <a:latin typeface="Calibri"/>
                <a:cs typeface="Calibri"/>
              </a:rPr>
              <a:t>practice, </a:t>
            </a:r>
            <a:r>
              <a:rPr sz="3200" spc="10" dirty="0">
                <a:latin typeface="Calibri"/>
                <a:cs typeface="Calibri"/>
              </a:rPr>
              <a:t>association-rule  algorithms </a:t>
            </a:r>
            <a:r>
              <a:rPr sz="3200" spc="-10" dirty="0">
                <a:latin typeface="Calibri"/>
                <a:cs typeface="Calibri"/>
              </a:rPr>
              <a:t>read </a:t>
            </a:r>
            <a:r>
              <a:rPr sz="3200" spc="5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data </a:t>
            </a:r>
            <a:r>
              <a:rPr sz="3200" spc="10" dirty="0">
                <a:latin typeface="Calibri"/>
                <a:cs typeface="Calibri"/>
              </a:rPr>
              <a:t>in</a:t>
            </a:r>
            <a:r>
              <a:rPr sz="3200" spc="-240" dirty="0">
                <a:latin typeface="Calibri"/>
                <a:cs typeface="Calibri"/>
              </a:rPr>
              <a:t> </a:t>
            </a:r>
            <a:r>
              <a:rPr sz="3200" b="1" i="1" spc="10" dirty="0">
                <a:solidFill>
                  <a:srgbClr val="0000FF"/>
                </a:solidFill>
                <a:latin typeface="Calibri"/>
                <a:cs typeface="Calibri"/>
              </a:rPr>
              <a:t>passes</a:t>
            </a:r>
            <a:endParaRPr sz="3200">
              <a:latin typeface="Calibri"/>
              <a:cs typeface="Calibri"/>
            </a:endParaRPr>
          </a:p>
          <a:p>
            <a:pPr marL="336550">
              <a:lnSpc>
                <a:spcPts val="3825"/>
              </a:lnSpc>
            </a:pPr>
            <a:r>
              <a:rPr sz="3200" spc="10" dirty="0">
                <a:latin typeface="Calibri"/>
                <a:cs typeface="Calibri"/>
              </a:rPr>
              <a:t>– </a:t>
            </a:r>
            <a:r>
              <a:rPr sz="3200" spc="15" dirty="0">
                <a:latin typeface="Calibri"/>
                <a:cs typeface="Calibri"/>
              </a:rPr>
              <a:t>all </a:t>
            </a:r>
            <a:r>
              <a:rPr sz="3200" spc="5" dirty="0">
                <a:latin typeface="Calibri"/>
                <a:cs typeface="Calibri"/>
              </a:rPr>
              <a:t>baskets </a:t>
            </a:r>
            <a:r>
              <a:rPr sz="3200" spc="-10" dirty="0">
                <a:latin typeface="Calibri"/>
                <a:cs typeface="Calibri"/>
              </a:rPr>
              <a:t>read </a:t>
            </a:r>
            <a:r>
              <a:rPr sz="3200" spc="10" dirty="0">
                <a:latin typeface="Calibri"/>
                <a:cs typeface="Calibri"/>
              </a:rPr>
              <a:t>in</a:t>
            </a:r>
            <a:r>
              <a:rPr sz="3200" spc="-31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turn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4362" y="4933569"/>
            <a:ext cx="5538470" cy="1500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00800"/>
              </a:lnSpc>
              <a:spcBef>
                <a:spcPts val="10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-70" dirty="0">
                <a:latin typeface="Calibri"/>
                <a:cs typeface="Calibri"/>
              </a:rPr>
              <a:t>We </a:t>
            </a:r>
            <a:r>
              <a:rPr sz="3200" dirty="0">
                <a:latin typeface="Calibri"/>
                <a:cs typeface="Calibri"/>
              </a:rPr>
              <a:t>measure </a:t>
            </a:r>
            <a:r>
              <a:rPr sz="3200" spc="10" dirty="0">
                <a:latin typeface="Calibri"/>
                <a:cs typeface="Calibri"/>
              </a:rPr>
              <a:t>the cost </a:t>
            </a:r>
            <a:r>
              <a:rPr sz="3200" spc="25" dirty="0">
                <a:latin typeface="Calibri"/>
                <a:cs typeface="Calibri"/>
              </a:rPr>
              <a:t>by </a:t>
            </a:r>
            <a:r>
              <a:rPr sz="3200" spc="10" dirty="0">
                <a:latin typeface="Calibri"/>
                <a:cs typeface="Calibri"/>
              </a:rPr>
              <a:t>the  </a:t>
            </a:r>
            <a:r>
              <a:rPr sz="3200" b="1" spc="10" dirty="0">
                <a:solidFill>
                  <a:srgbClr val="FF0066"/>
                </a:solidFill>
                <a:latin typeface="Calibri"/>
                <a:cs typeface="Calibri"/>
              </a:rPr>
              <a:t>number </a:t>
            </a:r>
            <a:r>
              <a:rPr sz="3200" b="1" spc="5" dirty="0">
                <a:solidFill>
                  <a:srgbClr val="FF0066"/>
                </a:solidFill>
                <a:latin typeface="Calibri"/>
                <a:cs typeface="Calibri"/>
              </a:rPr>
              <a:t>of passes </a:t>
            </a:r>
            <a:r>
              <a:rPr sz="3200" spc="25" dirty="0">
                <a:latin typeface="Calibri"/>
                <a:cs typeface="Calibri"/>
              </a:rPr>
              <a:t>an</a:t>
            </a:r>
            <a:r>
              <a:rPr sz="3200" spc="-300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algorithm  </a:t>
            </a:r>
            <a:r>
              <a:rPr sz="3200" spc="-5" dirty="0">
                <a:latin typeface="Calibri"/>
                <a:cs typeface="Calibri"/>
              </a:rPr>
              <a:t>makes </a:t>
            </a:r>
            <a:r>
              <a:rPr sz="3200" dirty="0">
                <a:latin typeface="Calibri"/>
                <a:cs typeface="Calibri"/>
              </a:rPr>
              <a:t>over </a:t>
            </a:r>
            <a:r>
              <a:rPr sz="3200" spc="5" dirty="0">
                <a:latin typeface="Calibri"/>
                <a:cs typeface="Calibri"/>
              </a:rPr>
              <a:t>the</a:t>
            </a:r>
            <a:r>
              <a:rPr sz="3200" spc="-18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315263" y="1371600"/>
          <a:ext cx="1371600" cy="44195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63">
                <a:tc>
                  <a:txBody>
                    <a:bodyPr/>
                    <a:lstStyle/>
                    <a:p>
                      <a:pPr marR="666750" algn="r">
                        <a:lnSpc>
                          <a:spcPts val="1435"/>
                        </a:lnSpc>
                        <a:spcBef>
                          <a:spcPts val="265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666750" algn="r">
                        <a:lnSpc>
                          <a:spcPts val="1435"/>
                        </a:lnSpc>
                        <a:spcBef>
                          <a:spcPts val="265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666750" algn="r">
                        <a:lnSpc>
                          <a:spcPts val="1430"/>
                        </a:lnSpc>
                        <a:spcBef>
                          <a:spcPts val="270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666750" algn="r">
                        <a:lnSpc>
                          <a:spcPts val="1430"/>
                        </a:lnSpc>
                        <a:spcBef>
                          <a:spcPts val="270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74">
                <a:tc>
                  <a:txBody>
                    <a:bodyPr/>
                    <a:lstStyle/>
                    <a:p>
                      <a:pPr marR="666750" algn="r">
                        <a:lnSpc>
                          <a:spcPts val="1390"/>
                        </a:lnSpc>
                        <a:spcBef>
                          <a:spcPts val="270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425">
                <a:tc>
                  <a:txBody>
                    <a:bodyPr/>
                    <a:lstStyle/>
                    <a:p>
                      <a:pPr marR="666750" algn="r">
                        <a:lnSpc>
                          <a:spcPts val="1425"/>
                        </a:lnSpc>
                        <a:spcBef>
                          <a:spcPts val="315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666750" algn="r">
                        <a:lnSpc>
                          <a:spcPts val="1420"/>
                        </a:lnSpc>
                        <a:spcBef>
                          <a:spcPts val="280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74">
                <a:tc>
                  <a:txBody>
                    <a:bodyPr/>
                    <a:lstStyle/>
                    <a:p>
                      <a:pPr marR="666750" algn="r">
                        <a:lnSpc>
                          <a:spcPts val="1380"/>
                        </a:lnSpc>
                        <a:spcBef>
                          <a:spcPts val="280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425">
                <a:tc>
                  <a:txBody>
                    <a:bodyPr/>
                    <a:lstStyle/>
                    <a:p>
                      <a:pPr marR="666750" algn="r">
                        <a:lnSpc>
                          <a:spcPts val="1415"/>
                        </a:lnSpc>
                        <a:spcBef>
                          <a:spcPts val="320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666750" algn="r">
                        <a:lnSpc>
                          <a:spcPts val="1415"/>
                        </a:lnSpc>
                        <a:spcBef>
                          <a:spcPts val="285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61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666750" algn="r">
                        <a:lnSpc>
                          <a:spcPts val="1410"/>
                        </a:lnSpc>
                        <a:spcBef>
                          <a:spcPts val="290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74">
                <a:tc>
                  <a:txBody>
                    <a:bodyPr/>
                    <a:lstStyle/>
                    <a:p>
                      <a:pPr marR="666750" algn="r">
                        <a:lnSpc>
                          <a:spcPts val="1370"/>
                        </a:lnSpc>
                        <a:spcBef>
                          <a:spcPts val="290"/>
                        </a:spcBef>
                      </a:pPr>
                      <a:r>
                        <a:rPr sz="1200" spc="5" dirty="0">
                          <a:latin typeface="Corbel"/>
                          <a:cs typeface="Corbel"/>
                        </a:rPr>
                        <a:t>Item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811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R="6915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latin typeface="Corbel"/>
                          <a:cs typeface="Corbel"/>
                        </a:rPr>
                        <a:t>Etc.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868159" y="5822632"/>
            <a:ext cx="2164715" cy="672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ctr">
              <a:lnSpc>
                <a:spcPct val="100600"/>
              </a:lnSpc>
              <a:spcBef>
                <a:spcPts val="114"/>
              </a:spcBef>
            </a:pPr>
            <a:r>
              <a:rPr sz="1400" spc="25" dirty="0">
                <a:solidFill>
                  <a:srgbClr val="008000"/>
                </a:solidFill>
                <a:latin typeface="Arial"/>
                <a:cs typeface="Arial"/>
              </a:rPr>
              <a:t>Items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are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positive</a:t>
            </a:r>
            <a:r>
              <a:rPr sz="1400" spc="-32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integers, 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and </a:t>
            </a:r>
            <a:r>
              <a:rPr sz="1400" spc="5" dirty="0">
                <a:solidFill>
                  <a:srgbClr val="008000"/>
                </a:solidFill>
                <a:latin typeface="Arial"/>
                <a:cs typeface="Arial"/>
              </a:rPr>
              <a:t>boundaries </a:t>
            </a:r>
            <a:r>
              <a:rPr sz="1400" spc="15" dirty="0">
                <a:solidFill>
                  <a:srgbClr val="008000"/>
                </a:solidFill>
                <a:latin typeface="Arial"/>
                <a:cs typeface="Arial"/>
              </a:rPr>
              <a:t>between 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baskets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are</a:t>
            </a:r>
            <a:r>
              <a:rPr sz="1400" spc="-12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008000"/>
                </a:solidFill>
                <a:latin typeface="Arial"/>
                <a:cs typeface="Arial"/>
              </a:rPr>
              <a:t>–1.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C4CC622-9EE5-41EE-B1A3-1679F117222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6281801" cy="5762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347787"/>
            <a:ext cx="7183755" cy="33959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6550" marR="403225" indent="-337185">
              <a:lnSpc>
                <a:spcPts val="3835"/>
              </a:lnSpc>
              <a:spcBef>
                <a:spcPts val="12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-5" dirty="0">
                <a:solidFill>
                  <a:srgbClr val="FF0066"/>
                </a:solidFill>
                <a:latin typeface="Calibri"/>
                <a:cs typeface="Calibri"/>
              </a:rPr>
              <a:t>For </a:t>
            </a:r>
            <a:r>
              <a:rPr sz="3200" dirty="0">
                <a:solidFill>
                  <a:srgbClr val="FF0066"/>
                </a:solidFill>
                <a:latin typeface="Calibri"/>
                <a:cs typeface="Calibri"/>
              </a:rPr>
              <a:t>many </a:t>
            </a:r>
            <a:r>
              <a:rPr sz="3200" spc="-5" dirty="0">
                <a:solidFill>
                  <a:srgbClr val="FF0066"/>
                </a:solidFill>
                <a:latin typeface="Calibri"/>
                <a:cs typeface="Calibri"/>
              </a:rPr>
              <a:t>frequent-itemset</a:t>
            </a:r>
            <a:r>
              <a:rPr sz="3200" spc="-20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spc="10" dirty="0">
                <a:solidFill>
                  <a:srgbClr val="FF0066"/>
                </a:solidFill>
                <a:latin typeface="Calibri"/>
                <a:cs typeface="Calibri"/>
              </a:rPr>
              <a:t>algorithms,</a:t>
            </a:r>
            <a:endParaRPr sz="3200">
              <a:latin typeface="Calibri"/>
              <a:cs typeface="Calibri"/>
            </a:endParaRPr>
          </a:p>
          <a:p>
            <a:pPr marR="397510" algn="ctr">
              <a:lnSpc>
                <a:spcPts val="3835"/>
              </a:lnSpc>
            </a:pPr>
            <a:r>
              <a:rPr sz="3200" b="1" spc="10" dirty="0">
                <a:solidFill>
                  <a:srgbClr val="FF0066"/>
                </a:solidFill>
                <a:latin typeface="Calibri"/>
                <a:cs typeface="Calibri"/>
              </a:rPr>
              <a:t>main-memory </a:t>
            </a:r>
            <a:r>
              <a:rPr sz="3200" spc="5" dirty="0">
                <a:solidFill>
                  <a:srgbClr val="FF0066"/>
                </a:solidFill>
                <a:latin typeface="Calibri"/>
                <a:cs typeface="Calibri"/>
              </a:rPr>
              <a:t>is </a:t>
            </a:r>
            <a:r>
              <a:rPr sz="3200" spc="10" dirty="0">
                <a:solidFill>
                  <a:srgbClr val="FF0066"/>
                </a:solidFill>
                <a:latin typeface="Calibri"/>
                <a:cs typeface="Calibri"/>
              </a:rPr>
              <a:t>the </a:t>
            </a:r>
            <a:r>
              <a:rPr sz="3200" spc="5" dirty="0">
                <a:solidFill>
                  <a:srgbClr val="FF0066"/>
                </a:solidFill>
                <a:latin typeface="Calibri"/>
                <a:cs typeface="Calibri"/>
              </a:rPr>
              <a:t>critical</a:t>
            </a:r>
            <a:r>
              <a:rPr sz="3200" spc="-34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66"/>
                </a:solidFill>
                <a:latin typeface="Calibri"/>
                <a:cs typeface="Calibri"/>
              </a:rPr>
              <a:t>resource</a:t>
            </a:r>
            <a:endParaRPr sz="3200">
              <a:latin typeface="Calibri"/>
              <a:cs typeface="Calibri"/>
            </a:endParaRPr>
          </a:p>
          <a:p>
            <a:pPr marL="632460" marR="5080" lvl="1" indent="-276860">
              <a:lnSpc>
                <a:spcPct val="102400"/>
              </a:lnSpc>
              <a:spcBef>
                <a:spcPts val="66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5" dirty="0">
                <a:latin typeface="Calibri"/>
                <a:cs typeface="Calibri"/>
              </a:rPr>
              <a:t>As we </a:t>
            </a:r>
            <a:r>
              <a:rPr sz="2750" spc="10" dirty="0">
                <a:latin typeface="Calibri"/>
                <a:cs typeface="Calibri"/>
              </a:rPr>
              <a:t>read </a:t>
            </a:r>
            <a:r>
              <a:rPr sz="2750" spc="-20" dirty="0">
                <a:latin typeface="Calibri"/>
                <a:cs typeface="Calibri"/>
              </a:rPr>
              <a:t>baskets, </a:t>
            </a:r>
            <a:r>
              <a:rPr sz="2750" spc="-5" dirty="0">
                <a:latin typeface="Calibri"/>
                <a:cs typeface="Calibri"/>
              </a:rPr>
              <a:t>we </a:t>
            </a:r>
            <a:r>
              <a:rPr sz="2750" spc="-15" dirty="0">
                <a:latin typeface="Calibri"/>
                <a:cs typeface="Calibri"/>
              </a:rPr>
              <a:t>need </a:t>
            </a:r>
            <a:r>
              <a:rPr sz="2750" spc="-5" dirty="0">
                <a:latin typeface="Calibri"/>
                <a:cs typeface="Calibri"/>
              </a:rPr>
              <a:t>to </a:t>
            </a:r>
            <a:r>
              <a:rPr sz="2750" spc="10" dirty="0">
                <a:latin typeface="Calibri"/>
                <a:cs typeface="Calibri"/>
              </a:rPr>
              <a:t>count  </a:t>
            </a:r>
            <a:r>
              <a:rPr sz="2750" spc="-10" dirty="0">
                <a:latin typeface="Calibri"/>
                <a:cs typeface="Calibri"/>
              </a:rPr>
              <a:t>something, </a:t>
            </a:r>
            <a:r>
              <a:rPr sz="2750" spc="-20" dirty="0">
                <a:latin typeface="Calibri"/>
                <a:cs typeface="Calibri"/>
              </a:rPr>
              <a:t>e.g., </a:t>
            </a:r>
            <a:r>
              <a:rPr sz="2750" spc="5" dirty="0">
                <a:latin typeface="Calibri"/>
                <a:cs typeface="Calibri"/>
              </a:rPr>
              <a:t>occurrences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15" dirty="0">
                <a:latin typeface="Calibri"/>
                <a:cs typeface="Calibri"/>
              </a:rPr>
              <a:t>pairs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items</a:t>
            </a:r>
            <a:endParaRPr sz="2750">
              <a:latin typeface="Calibri"/>
              <a:cs typeface="Calibri"/>
            </a:endParaRPr>
          </a:p>
          <a:p>
            <a:pPr marL="632460" marR="119380" lvl="1" indent="-276860">
              <a:lnSpc>
                <a:spcPct val="102400"/>
              </a:lnSpc>
              <a:spcBef>
                <a:spcPts val="68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dirty="0">
                <a:latin typeface="Calibri"/>
                <a:cs typeface="Calibri"/>
              </a:rPr>
              <a:t>The </a:t>
            </a:r>
            <a:r>
              <a:rPr sz="2750" spc="-5" dirty="0">
                <a:latin typeface="Calibri"/>
                <a:cs typeface="Calibri"/>
              </a:rPr>
              <a:t>number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25" dirty="0">
                <a:latin typeface="Calibri"/>
                <a:cs typeface="Calibri"/>
              </a:rPr>
              <a:t>different </a:t>
            </a:r>
            <a:r>
              <a:rPr sz="2750" spc="-20" dirty="0">
                <a:latin typeface="Calibri"/>
                <a:cs typeface="Calibri"/>
              </a:rPr>
              <a:t>things </a:t>
            </a:r>
            <a:r>
              <a:rPr sz="2750" spc="-5" dirty="0">
                <a:latin typeface="Calibri"/>
                <a:cs typeface="Calibri"/>
              </a:rPr>
              <a:t>we </a:t>
            </a:r>
            <a:r>
              <a:rPr sz="2750" spc="25" dirty="0">
                <a:latin typeface="Calibri"/>
                <a:cs typeface="Calibri"/>
              </a:rPr>
              <a:t>can </a:t>
            </a:r>
            <a:r>
              <a:rPr sz="2750" spc="10" dirty="0">
                <a:latin typeface="Calibri"/>
                <a:cs typeface="Calibri"/>
              </a:rPr>
              <a:t>count  </a:t>
            </a:r>
            <a:r>
              <a:rPr sz="2750" spc="-15" dirty="0">
                <a:latin typeface="Calibri"/>
                <a:cs typeface="Calibri"/>
              </a:rPr>
              <a:t>is limited </a:t>
            </a:r>
            <a:r>
              <a:rPr sz="2750" spc="-5" dirty="0">
                <a:latin typeface="Calibri"/>
                <a:cs typeface="Calibri"/>
              </a:rPr>
              <a:t>by </a:t>
            </a:r>
            <a:r>
              <a:rPr sz="2750" spc="15" dirty="0">
                <a:latin typeface="Calibri"/>
                <a:cs typeface="Calibri"/>
              </a:rPr>
              <a:t>main</a:t>
            </a:r>
            <a:r>
              <a:rPr sz="2750" spc="36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memory</a:t>
            </a:r>
            <a:endParaRPr sz="275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68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10" dirty="0">
                <a:latin typeface="Calibri"/>
                <a:cs typeface="Calibri"/>
              </a:rPr>
              <a:t>Swapping </a:t>
            </a:r>
            <a:r>
              <a:rPr sz="2750" dirty="0">
                <a:latin typeface="Calibri"/>
                <a:cs typeface="Calibri"/>
              </a:rPr>
              <a:t>counts </a:t>
            </a:r>
            <a:r>
              <a:rPr sz="2750" spc="-20" dirty="0">
                <a:latin typeface="Calibri"/>
                <a:cs typeface="Calibri"/>
              </a:rPr>
              <a:t>in/out </a:t>
            </a:r>
            <a:r>
              <a:rPr sz="2750" spc="-15" dirty="0">
                <a:latin typeface="Calibri"/>
                <a:cs typeface="Calibri"/>
              </a:rPr>
              <a:t>is </a:t>
            </a:r>
            <a:r>
              <a:rPr sz="2750" spc="10" dirty="0">
                <a:latin typeface="Calibri"/>
                <a:cs typeface="Calibri"/>
              </a:rPr>
              <a:t>a</a:t>
            </a:r>
            <a:r>
              <a:rPr sz="2750" spc="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disaster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6D60D-F124-40F4-BD71-54C7B427DF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5529326" cy="5857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76262" y="1347787"/>
            <a:ext cx="8159115" cy="3789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74650" marR="648335" indent="-324485">
              <a:lnSpc>
                <a:spcPct val="100000"/>
              </a:lnSpc>
              <a:spcBef>
                <a:spcPts val="12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75285" algn="l"/>
              </a:tabLst>
            </a:pPr>
            <a:r>
              <a:rPr sz="3200" b="1" spc="5" dirty="0">
                <a:latin typeface="Calibri"/>
                <a:cs typeface="Calibri"/>
              </a:rPr>
              <a:t>The </a:t>
            </a:r>
            <a:r>
              <a:rPr sz="3200" b="1" spc="-5" dirty="0">
                <a:latin typeface="Calibri"/>
                <a:cs typeface="Calibri"/>
              </a:rPr>
              <a:t>hardest </a:t>
            </a:r>
            <a:r>
              <a:rPr sz="3200" b="1" dirty="0">
                <a:latin typeface="Calibri"/>
                <a:cs typeface="Calibri"/>
              </a:rPr>
              <a:t>problem </a:t>
            </a:r>
            <a:r>
              <a:rPr sz="3200" b="1" spc="5" dirty="0">
                <a:latin typeface="Calibri"/>
                <a:cs typeface="Calibri"/>
              </a:rPr>
              <a:t>often turns out </a:t>
            </a:r>
            <a:r>
              <a:rPr sz="3200" b="1" spc="10" dirty="0">
                <a:latin typeface="Calibri"/>
                <a:cs typeface="Calibri"/>
              </a:rPr>
              <a:t>to</a:t>
            </a:r>
            <a:r>
              <a:rPr sz="3200" b="1" spc="-385" dirty="0">
                <a:latin typeface="Calibri"/>
                <a:cs typeface="Calibri"/>
              </a:rPr>
              <a:t> </a:t>
            </a:r>
            <a:r>
              <a:rPr sz="3200" b="1" spc="10" dirty="0">
                <a:latin typeface="Calibri"/>
                <a:cs typeface="Calibri"/>
              </a:rPr>
              <a:t>be  </a:t>
            </a:r>
            <a:r>
              <a:rPr sz="3200" b="1" spc="20" dirty="0">
                <a:latin typeface="Calibri"/>
                <a:cs typeface="Calibri"/>
              </a:rPr>
              <a:t>finding</a:t>
            </a:r>
            <a:r>
              <a:rPr sz="3200" b="1" spc="-165" dirty="0">
                <a:latin typeface="Calibri"/>
                <a:cs typeface="Calibri"/>
              </a:rPr>
              <a:t> </a:t>
            </a:r>
            <a:r>
              <a:rPr sz="3200" b="1" spc="10" dirty="0">
                <a:latin typeface="Calibri"/>
                <a:cs typeface="Calibri"/>
              </a:rPr>
              <a:t>the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spc="15" dirty="0">
                <a:latin typeface="Calibri"/>
                <a:cs typeface="Calibri"/>
              </a:rPr>
              <a:t>frequent</a:t>
            </a:r>
            <a:r>
              <a:rPr sz="3200" b="1" spc="-260" dirty="0"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Calibri"/>
                <a:cs typeface="Calibri"/>
              </a:rPr>
              <a:t>pairs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latin typeface="Calibri"/>
                <a:cs typeface="Calibri"/>
              </a:rPr>
              <a:t>of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spc="5" dirty="0">
                <a:latin typeface="Calibri"/>
                <a:cs typeface="Calibri"/>
              </a:rPr>
              <a:t>items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i="1" spc="5" dirty="0">
                <a:latin typeface="Times New Roman"/>
                <a:cs typeface="Times New Roman"/>
              </a:rPr>
              <a:t>{i</a:t>
            </a:r>
            <a:r>
              <a:rPr sz="3150" b="1" i="1" spc="7" baseline="-19841" dirty="0">
                <a:latin typeface="Times New Roman"/>
                <a:cs typeface="Times New Roman"/>
              </a:rPr>
              <a:t>1</a:t>
            </a:r>
            <a:r>
              <a:rPr sz="3200" b="1" i="1" spc="5" dirty="0">
                <a:latin typeface="Times New Roman"/>
                <a:cs typeface="Times New Roman"/>
              </a:rPr>
              <a:t>,</a:t>
            </a:r>
            <a:r>
              <a:rPr sz="3200" b="1" i="1" spc="-35" dirty="0">
                <a:latin typeface="Times New Roman"/>
                <a:cs typeface="Times New Roman"/>
              </a:rPr>
              <a:t> </a:t>
            </a:r>
            <a:r>
              <a:rPr sz="3200" b="1" i="1" spc="5" dirty="0">
                <a:latin typeface="Times New Roman"/>
                <a:cs typeface="Times New Roman"/>
              </a:rPr>
              <a:t>i</a:t>
            </a:r>
            <a:r>
              <a:rPr sz="3150" b="1" i="1" spc="7" baseline="-19841" dirty="0">
                <a:latin typeface="Times New Roman"/>
                <a:cs typeface="Times New Roman"/>
              </a:rPr>
              <a:t>2</a:t>
            </a:r>
            <a:r>
              <a:rPr sz="3200" b="1" i="1" spc="5" dirty="0"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670560" lvl="1" indent="-276860">
              <a:lnSpc>
                <a:spcPct val="100000"/>
              </a:lnSpc>
              <a:spcBef>
                <a:spcPts val="730"/>
              </a:spcBef>
              <a:buClr>
                <a:srgbClr val="5FB5CC"/>
              </a:buClr>
              <a:buFont typeface="Wingdings"/>
              <a:buChar char=""/>
              <a:tabLst>
                <a:tab pos="670560" algn="l"/>
              </a:tabLst>
            </a:pPr>
            <a:r>
              <a:rPr sz="2750" b="1" spc="10" dirty="0">
                <a:solidFill>
                  <a:srgbClr val="0000FF"/>
                </a:solidFill>
                <a:latin typeface="Calibri"/>
                <a:cs typeface="Calibri"/>
              </a:rPr>
              <a:t>Why? </a:t>
            </a:r>
            <a:r>
              <a:rPr sz="2750" spc="-5" dirty="0">
                <a:latin typeface="Calibri"/>
                <a:cs typeface="Calibri"/>
              </a:rPr>
              <a:t>Freq. </a:t>
            </a:r>
            <a:r>
              <a:rPr sz="2750" spc="-15" dirty="0">
                <a:latin typeface="Calibri"/>
                <a:cs typeface="Calibri"/>
              </a:rPr>
              <a:t>pairs </a:t>
            </a:r>
            <a:r>
              <a:rPr sz="2750" spc="15" dirty="0">
                <a:latin typeface="Calibri"/>
                <a:cs typeface="Calibri"/>
              </a:rPr>
              <a:t>are </a:t>
            </a:r>
            <a:r>
              <a:rPr sz="2750" spc="30" dirty="0">
                <a:latin typeface="Calibri"/>
                <a:cs typeface="Calibri"/>
              </a:rPr>
              <a:t>common, </a:t>
            </a:r>
            <a:r>
              <a:rPr sz="2750" spc="-10" dirty="0">
                <a:latin typeface="Calibri"/>
                <a:cs typeface="Calibri"/>
              </a:rPr>
              <a:t>freq. </a:t>
            </a:r>
            <a:r>
              <a:rPr sz="2750" spc="-15" dirty="0">
                <a:latin typeface="Calibri"/>
                <a:cs typeface="Calibri"/>
              </a:rPr>
              <a:t>triples </a:t>
            </a:r>
            <a:r>
              <a:rPr sz="2750" spc="15" dirty="0">
                <a:latin typeface="Calibri"/>
                <a:cs typeface="Calibri"/>
              </a:rPr>
              <a:t>are</a:t>
            </a:r>
            <a:r>
              <a:rPr sz="2750" spc="-15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rare</a:t>
            </a:r>
            <a:endParaRPr sz="2750">
              <a:latin typeface="Calibri"/>
              <a:cs typeface="Calibri"/>
            </a:endParaRPr>
          </a:p>
          <a:p>
            <a:pPr marL="937260" marR="349885" lvl="2" indent="-229235">
              <a:lnSpc>
                <a:spcPts val="2860"/>
              </a:lnSpc>
              <a:spcBef>
                <a:spcPts val="770"/>
              </a:spcBef>
              <a:buClr>
                <a:srgbClr val="E66C7C"/>
              </a:buClr>
              <a:buFont typeface="Wingdings"/>
              <a:buChar char=""/>
              <a:tabLst>
                <a:tab pos="937894" algn="l"/>
              </a:tabLst>
            </a:pPr>
            <a:r>
              <a:rPr sz="2400" b="1" spc="-30" dirty="0">
                <a:solidFill>
                  <a:srgbClr val="0000FF"/>
                </a:solidFill>
                <a:latin typeface="Calibri"/>
                <a:cs typeface="Calibri"/>
              </a:rPr>
              <a:t>Why? </a:t>
            </a:r>
            <a:r>
              <a:rPr sz="2400" spc="-10" dirty="0">
                <a:latin typeface="Calibri"/>
                <a:cs typeface="Calibri"/>
              </a:rPr>
              <a:t>Probability </a:t>
            </a:r>
            <a:r>
              <a:rPr sz="2400" dirty="0">
                <a:latin typeface="Calibri"/>
                <a:cs typeface="Calibri"/>
              </a:rPr>
              <a:t>of being </a:t>
            </a:r>
            <a:r>
              <a:rPr sz="2400" spc="5" dirty="0">
                <a:latin typeface="Calibri"/>
                <a:cs typeface="Calibri"/>
              </a:rPr>
              <a:t>frequent </a:t>
            </a:r>
            <a:r>
              <a:rPr sz="2400" spc="-15" dirty="0">
                <a:latin typeface="Calibri"/>
                <a:cs typeface="Calibri"/>
              </a:rPr>
              <a:t>drops </a:t>
            </a:r>
            <a:r>
              <a:rPr sz="2400" spc="-5" dirty="0">
                <a:latin typeface="Calibri"/>
                <a:cs typeface="Calibri"/>
              </a:rPr>
              <a:t>exponentially  with </a:t>
            </a:r>
            <a:r>
              <a:rPr sz="2400" spc="-10" dirty="0">
                <a:latin typeface="Calibri"/>
                <a:cs typeface="Calibri"/>
              </a:rPr>
              <a:t>size; </a:t>
            </a:r>
            <a:r>
              <a:rPr sz="2400" spc="10" dirty="0">
                <a:latin typeface="Calibri"/>
                <a:cs typeface="Calibri"/>
              </a:rPr>
              <a:t>number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10" dirty="0">
                <a:latin typeface="Calibri"/>
                <a:cs typeface="Calibri"/>
              </a:rPr>
              <a:t>sets </a:t>
            </a:r>
            <a:r>
              <a:rPr sz="2400" spc="-20" dirty="0">
                <a:latin typeface="Calibri"/>
                <a:cs typeface="Calibri"/>
              </a:rPr>
              <a:t>grows </a:t>
            </a:r>
            <a:r>
              <a:rPr sz="2400" spc="5" dirty="0">
                <a:latin typeface="Calibri"/>
                <a:cs typeface="Calibri"/>
              </a:rPr>
              <a:t>more </a:t>
            </a:r>
            <a:r>
              <a:rPr sz="2400" spc="-5" dirty="0">
                <a:latin typeface="Calibri"/>
                <a:cs typeface="Calibri"/>
              </a:rPr>
              <a:t>slowly with</a:t>
            </a:r>
            <a:r>
              <a:rPr sz="2400" spc="-36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Clr>
                <a:srgbClr val="E66C7C"/>
              </a:buClr>
              <a:buFont typeface="Wingdings"/>
              <a:buChar char=""/>
            </a:pPr>
            <a:endParaRPr sz="3050">
              <a:latin typeface="Calibri"/>
              <a:cs typeface="Calibri"/>
            </a:endParaRPr>
          </a:p>
          <a:p>
            <a:pPr marL="374650" indent="-324485">
              <a:lnSpc>
                <a:spcPts val="3835"/>
              </a:lnSpc>
              <a:spcBef>
                <a:spcPts val="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75285" algn="l"/>
              </a:tabLst>
            </a:pPr>
            <a:r>
              <a:rPr sz="3200" b="1" spc="-10" dirty="0">
                <a:solidFill>
                  <a:srgbClr val="008000"/>
                </a:solidFill>
                <a:latin typeface="Calibri"/>
                <a:cs typeface="Calibri"/>
              </a:rPr>
              <a:t>Let’s </a:t>
            </a:r>
            <a:r>
              <a:rPr sz="3200" b="1" spc="-5" dirty="0">
                <a:solidFill>
                  <a:srgbClr val="008000"/>
                </a:solidFill>
                <a:latin typeface="Calibri"/>
                <a:cs typeface="Calibri"/>
              </a:rPr>
              <a:t>first concentrate </a:t>
            </a: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on </a:t>
            </a:r>
            <a:r>
              <a:rPr sz="3200" b="1" spc="-10" dirty="0">
                <a:solidFill>
                  <a:srgbClr val="008000"/>
                </a:solidFill>
                <a:latin typeface="Calibri"/>
                <a:cs typeface="Calibri"/>
              </a:rPr>
              <a:t>pairs, </a:t>
            </a:r>
            <a:r>
              <a:rPr sz="3200" b="1" spc="15" dirty="0">
                <a:solidFill>
                  <a:srgbClr val="008000"/>
                </a:solidFill>
                <a:latin typeface="Calibri"/>
                <a:cs typeface="Calibri"/>
              </a:rPr>
              <a:t>then </a:t>
            </a:r>
            <a:r>
              <a:rPr sz="3200" b="1" spc="-5" dirty="0">
                <a:solidFill>
                  <a:srgbClr val="008000"/>
                </a:solidFill>
                <a:latin typeface="Calibri"/>
                <a:cs typeface="Calibri"/>
              </a:rPr>
              <a:t>extend</a:t>
            </a:r>
            <a:r>
              <a:rPr sz="3200" b="1" spc="-5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endParaRPr sz="3200">
              <a:latin typeface="Calibri"/>
              <a:cs typeface="Calibri"/>
            </a:endParaRPr>
          </a:p>
          <a:p>
            <a:pPr marL="374650">
              <a:lnSpc>
                <a:spcPts val="3835"/>
              </a:lnSpc>
            </a:pPr>
            <a:r>
              <a:rPr sz="3200" b="1" spc="5" dirty="0">
                <a:solidFill>
                  <a:srgbClr val="008000"/>
                </a:solidFill>
                <a:latin typeface="Calibri"/>
                <a:cs typeface="Calibri"/>
              </a:rPr>
              <a:t>larger</a:t>
            </a:r>
            <a:r>
              <a:rPr sz="3200" b="1" spc="-15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sets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0C61D-2F97-4053-86E5-CACF055DB2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5529326" cy="5857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243913"/>
            <a:ext cx="8408035" cy="539813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 algn="just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The</a:t>
            </a:r>
            <a:r>
              <a:rPr sz="3200" b="1" spc="-3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D50092"/>
                </a:solidFill>
                <a:latin typeface="Calibri"/>
                <a:cs typeface="Calibri"/>
              </a:rPr>
              <a:t>approach:</a:t>
            </a:r>
            <a:endParaRPr sz="3200">
              <a:latin typeface="Calibri"/>
              <a:cs typeface="Calibri"/>
            </a:endParaRPr>
          </a:p>
          <a:p>
            <a:pPr marL="632460" lvl="1" indent="-276860" algn="just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20" dirty="0">
                <a:latin typeface="Calibri"/>
                <a:cs typeface="Calibri"/>
              </a:rPr>
              <a:t>We </a:t>
            </a:r>
            <a:r>
              <a:rPr sz="2750" spc="-10" dirty="0">
                <a:latin typeface="Calibri"/>
                <a:cs typeface="Calibri"/>
              </a:rPr>
              <a:t>always </a:t>
            </a:r>
            <a:r>
              <a:rPr sz="2750" spc="-15" dirty="0">
                <a:latin typeface="Calibri"/>
                <a:cs typeface="Calibri"/>
              </a:rPr>
              <a:t>need </a:t>
            </a:r>
            <a:r>
              <a:rPr sz="2750" spc="-5" dirty="0">
                <a:latin typeface="Calibri"/>
                <a:cs typeface="Calibri"/>
              </a:rPr>
              <a:t>to </a:t>
            </a:r>
            <a:r>
              <a:rPr sz="2750" spc="-25" dirty="0">
                <a:latin typeface="Calibri"/>
                <a:cs typeface="Calibri"/>
              </a:rPr>
              <a:t>“generate” </a:t>
            </a:r>
            <a:r>
              <a:rPr sz="2750" dirty="0">
                <a:latin typeface="Calibri"/>
                <a:cs typeface="Calibri"/>
              </a:rPr>
              <a:t>all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5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itemsets</a:t>
            </a:r>
            <a:endParaRPr sz="2750">
              <a:latin typeface="Calibri"/>
              <a:cs typeface="Calibri"/>
            </a:endParaRPr>
          </a:p>
          <a:p>
            <a:pPr marL="632460" marR="5080" lvl="1" indent="-276860" algn="just">
              <a:lnSpc>
                <a:spcPct val="102400"/>
              </a:lnSpc>
              <a:spcBef>
                <a:spcPts val="67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5" dirty="0">
                <a:latin typeface="Calibri"/>
                <a:cs typeface="Calibri"/>
              </a:rPr>
              <a:t>But we would </a:t>
            </a:r>
            <a:r>
              <a:rPr sz="2750" dirty="0">
                <a:latin typeface="Calibri"/>
                <a:cs typeface="Calibri"/>
              </a:rPr>
              <a:t>only </a:t>
            </a:r>
            <a:r>
              <a:rPr sz="2750" spc="-30" dirty="0">
                <a:latin typeface="Calibri"/>
                <a:cs typeface="Calibri"/>
              </a:rPr>
              <a:t>like </a:t>
            </a:r>
            <a:r>
              <a:rPr sz="2750" spc="-5" dirty="0">
                <a:latin typeface="Calibri"/>
                <a:cs typeface="Calibri"/>
              </a:rPr>
              <a:t>to </a:t>
            </a:r>
            <a:r>
              <a:rPr sz="2750" spc="10" dirty="0">
                <a:latin typeface="Calibri"/>
                <a:cs typeface="Calibri"/>
              </a:rPr>
              <a:t>count </a:t>
            </a:r>
            <a:r>
              <a:rPr sz="2750" spc="-20" dirty="0">
                <a:latin typeface="Calibri"/>
                <a:cs typeface="Calibri"/>
              </a:rPr>
              <a:t>(keep </a:t>
            </a:r>
            <a:r>
              <a:rPr sz="2750" spc="-5" dirty="0">
                <a:latin typeface="Calibri"/>
                <a:cs typeface="Calibri"/>
              </a:rPr>
              <a:t>track </a:t>
            </a:r>
            <a:r>
              <a:rPr sz="2750" spc="35" dirty="0">
                <a:latin typeface="Calibri"/>
                <a:cs typeface="Calibri"/>
              </a:rPr>
              <a:t>of) </a:t>
            </a:r>
            <a:r>
              <a:rPr sz="2750" dirty="0">
                <a:latin typeface="Calibri"/>
                <a:cs typeface="Calibri"/>
              </a:rPr>
              <a:t>only  </a:t>
            </a:r>
            <a:r>
              <a:rPr sz="2750" spc="-5" dirty="0">
                <a:latin typeface="Calibri"/>
                <a:cs typeface="Calibri"/>
              </a:rPr>
              <a:t>those </a:t>
            </a:r>
            <a:r>
              <a:rPr sz="2750" spc="-15" dirty="0">
                <a:latin typeface="Calibri"/>
                <a:cs typeface="Calibri"/>
              </a:rPr>
              <a:t>itemsets </a:t>
            </a:r>
            <a:r>
              <a:rPr sz="2750" spc="-5" dirty="0">
                <a:latin typeface="Calibri"/>
                <a:cs typeface="Calibri"/>
              </a:rPr>
              <a:t>that </a:t>
            </a:r>
            <a:r>
              <a:rPr sz="2750" spc="-10" dirty="0">
                <a:latin typeface="Calibri"/>
                <a:cs typeface="Calibri"/>
              </a:rPr>
              <a:t>in the end </a:t>
            </a:r>
            <a:r>
              <a:rPr sz="2750" spc="-5" dirty="0">
                <a:latin typeface="Calibri"/>
                <a:cs typeface="Calibri"/>
              </a:rPr>
              <a:t>turn </a:t>
            </a:r>
            <a:r>
              <a:rPr sz="2750" spc="10" dirty="0">
                <a:latin typeface="Calibri"/>
                <a:cs typeface="Calibri"/>
              </a:rPr>
              <a:t>out </a:t>
            </a:r>
            <a:r>
              <a:rPr sz="2750" spc="-5" dirty="0">
                <a:latin typeface="Calibri"/>
                <a:cs typeface="Calibri"/>
              </a:rPr>
              <a:t>to be</a:t>
            </a:r>
            <a:r>
              <a:rPr sz="2750" spc="48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frequent</a:t>
            </a:r>
            <a:endParaRPr sz="2750">
              <a:latin typeface="Calibri"/>
              <a:cs typeface="Calibri"/>
            </a:endParaRPr>
          </a:p>
          <a:p>
            <a:pPr marL="336550" indent="-324485" algn="just">
              <a:lnSpc>
                <a:spcPts val="3770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5" dirty="0">
                <a:latin typeface="Calibri"/>
                <a:cs typeface="Calibri"/>
              </a:rPr>
              <a:t>Scenario:</a:t>
            </a:r>
            <a:endParaRPr sz="3200">
              <a:latin typeface="Calibri"/>
              <a:cs typeface="Calibri"/>
            </a:endParaRPr>
          </a:p>
          <a:p>
            <a:pPr marL="632460" lvl="1" indent="-276860" algn="just">
              <a:lnSpc>
                <a:spcPct val="100000"/>
              </a:lnSpc>
              <a:spcBef>
                <a:spcPts val="81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dirty="0">
                <a:latin typeface="Calibri"/>
                <a:cs typeface="Calibri"/>
              </a:rPr>
              <a:t>Imagine </a:t>
            </a:r>
            <a:r>
              <a:rPr sz="2750" spc="-5" dirty="0">
                <a:latin typeface="Calibri"/>
                <a:cs typeface="Calibri"/>
              </a:rPr>
              <a:t>we </a:t>
            </a:r>
            <a:r>
              <a:rPr sz="2750" spc="5" dirty="0">
                <a:latin typeface="Calibri"/>
                <a:cs typeface="Calibri"/>
              </a:rPr>
              <a:t>aim </a:t>
            </a:r>
            <a:r>
              <a:rPr sz="2750" spc="-5" dirty="0">
                <a:latin typeface="Calibri"/>
                <a:cs typeface="Calibri"/>
              </a:rPr>
              <a:t>to </a:t>
            </a:r>
            <a:r>
              <a:rPr sz="2750" spc="-20" dirty="0">
                <a:latin typeface="Calibri"/>
                <a:cs typeface="Calibri"/>
              </a:rPr>
              <a:t>identify </a:t>
            </a:r>
            <a:r>
              <a:rPr sz="2750" spc="-15" dirty="0">
                <a:latin typeface="Calibri"/>
                <a:cs typeface="Calibri"/>
              </a:rPr>
              <a:t>frequent</a:t>
            </a:r>
            <a:r>
              <a:rPr sz="2750" spc="13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pairs</a:t>
            </a:r>
            <a:endParaRPr sz="2750">
              <a:latin typeface="Calibri"/>
              <a:cs typeface="Calibri"/>
            </a:endParaRPr>
          </a:p>
          <a:p>
            <a:pPr marL="632460" lvl="1" indent="-276860" algn="just">
              <a:lnSpc>
                <a:spcPct val="100000"/>
              </a:lnSpc>
              <a:spcBef>
                <a:spcPts val="68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20" dirty="0">
                <a:latin typeface="Calibri"/>
                <a:cs typeface="Calibri"/>
              </a:rPr>
              <a:t>We will </a:t>
            </a:r>
            <a:r>
              <a:rPr sz="2750" spc="-15" dirty="0">
                <a:latin typeface="Calibri"/>
                <a:cs typeface="Calibri"/>
              </a:rPr>
              <a:t>need </a:t>
            </a:r>
            <a:r>
              <a:rPr sz="2750" spc="-10" dirty="0">
                <a:latin typeface="Calibri"/>
                <a:cs typeface="Calibri"/>
              </a:rPr>
              <a:t>to enumerate </a:t>
            </a:r>
            <a:r>
              <a:rPr sz="2750" dirty="0">
                <a:latin typeface="Calibri"/>
                <a:cs typeface="Calibri"/>
              </a:rPr>
              <a:t>all </a:t>
            </a:r>
            <a:r>
              <a:rPr sz="2750" spc="-20" dirty="0">
                <a:latin typeface="Calibri"/>
                <a:cs typeface="Calibri"/>
              </a:rPr>
              <a:t>pairs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7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items</a:t>
            </a:r>
            <a:endParaRPr sz="2750">
              <a:latin typeface="Calibri"/>
              <a:cs typeface="Calibri"/>
            </a:endParaRPr>
          </a:p>
          <a:p>
            <a:pPr marL="899160" lvl="2" indent="-229235" algn="just">
              <a:lnSpc>
                <a:spcPct val="100000"/>
              </a:lnSpc>
              <a:spcBef>
                <a:spcPts val="650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spc="5" dirty="0">
                <a:latin typeface="Calibri"/>
                <a:cs typeface="Calibri"/>
              </a:rPr>
              <a:t>For </a:t>
            </a:r>
            <a:r>
              <a:rPr sz="2400" spc="-10" dirty="0">
                <a:latin typeface="Calibri"/>
                <a:cs typeface="Calibri"/>
              </a:rPr>
              <a:t>every </a:t>
            </a:r>
            <a:r>
              <a:rPr sz="2400" spc="-5" dirty="0">
                <a:latin typeface="Calibri"/>
                <a:cs typeface="Calibri"/>
              </a:rPr>
              <a:t>basket, enumerate </a:t>
            </a:r>
            <a:r>
              <a:rPr sz="2400" spc="-20" dirty="0">
                <a:latin typeface="Calibri"/>
                <a:cs typeface="Calibri"/>
              </a:rPr>
              <a:t>all </a:t>
            </a:r>
            <a:r>
              <a:rPr sz="2400" spc="-30" dirty="0">
                <a:latin typeface="Calibri"/>
                <a:cs typeface="Calibri"/>
              </a:rPr>
              <a:t>pairs </a:t>
            </a:r>
            <a:r>
              <a:rPr sz="2400" dirty="0">
                <a:latin typeface="Calibri"/>
                <a:cs typeface="Calibri"/>
              </a:rPr>
              <a:t>of items </a:t>
            </a:r>
            <a:r>
              <a:rPr sz="2400" spc="-15" dirty="0">
                <a:latin typeface="Calibri"/>
                <a:cs typeface="Calibri"/>
              </a:rPr>
              <a:t>in </a:t>
            </a:r>
            <a:r>
              <a:rPr sz="2400" spc="-5" dirty="0">
                <a:latin typeface="Calibri"/>
                <a:cs typeface="Calibri"/>
              </a:rPr>
              <a:t>that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basket</a:t>
            </a:r>
            <a:endParaRPr sz="2400">
              <a:latin typeface="Calibri"/>
              <a:cs typeface="Calibri"/>
            </a:endParaRPr>
          </a:p>
          <a:p>
            <a:pPr marL="632460" marR="304800" lvl="1" indent="-276860" algn="just">
              <a:lnSpc>
                <a:spcPct val="102400"/>
              </a:lnSpc>
              <a:spcBef>
                <a:spcPts val="60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b="1" spc="15" dirty="0">
                <a:latin typeface="Calibri"/>
                <a:cs typeface="Calibri"/>
              </a:rPr>
              <a:t>But, </a:t>
            </a:r>
            <a:r>
              <a:rPr sz="2750" spc="-15" dirty="0">
                <a:latin typeface="Calibri"/>
                <a:cs typeface="Calibri"/>
              </a:rPr>
              <a:t>rather </a:t>
            </a:r>
            <a:r>
              <a:rPr sz="2750" spc="-5" dirty="0">
                <a:latin typeface="Calibri"/>
                <a:cs typeface="Calibri"/>
              </a:rPr>
              <a:t>than </a:t>
            </a:r>
            <a:r>
              <a:rPr sz="2750" spc="-25" dirty="0">
                <a:latin typeface="Calibri"/>
                <a:cs typeface="Calibri"/>
              </a:rPr>
              <a:t>keeping </a:t>
            </a:r>
            <a:r>
              <a:rPr sz="2750" spc="10" dirty="0">
                <a:latin typeface="Calibri"/>
                <a:cs typeface="Calibri"/>
              </a:rPr>
              <a:t>a count </a:t>
            </a:r>
            <a:r>
              <a:rPr sz="2750" spc="-15" dirty="0">
                <a:latin typeface="Calibri"/>
                <a:cs typeface="Calibri"/>
              </a:rPr>
              <a:t>for </a:t>
            </a:r>
            <a:r>
              <a:rPr sz="2750" dirty="0">
                <a:latin typeface="Calibri"/>
                <a:cs typeface="Calibri"/>
              </a:rPr>
              <a:t>every </a:t>
            </a:r>
            <a:r>
              <a:rPr sz="2750" spc="-50" dirty="0">
                <a:latin typeface="Calibri"/>
                <a:cs typeface="Calibri"/>
              </a:rPr>
              <a:t>pair, </a:t>
            </a:r>
            <a:r>
              <a:rPr sz="2750" spc="-5" dirty="0">
                <a:latin typeface="Calibri"/>
                <a:cs typeface="Calibri"/>
              </a:rPr>
              <a:t>we  </a:t>
            </a:r>
            <a:r>
              <a:rPr sz="2750" spc="5" dirty="0">
                <a:latin typeface="Calibri"/>
                <a:cs typeface="Calibri"/>
              </a:rPr>
              <a:t>hope </a:t>
            </a:r>
            <a:r>
              <a:rPr sz="2750" spc="-10" dirty="0">
                <a:latin typeface="Calibri"/>
                <a:cs typeface="Calibri"/>
              </a:rPr>
              <a:t>to discard </a:t>
            </a:r>
            <a:r>
              <a:rPr sz="2750" spc="10" dirty="0">
                <a:latin typeface="Calibri"/>
                <a:cs typeface="Calibri"/>
              </a:rPr>
              <a:t>a </a:t>
            </a:r>
            <a:r>
              <a:rPr sz="2750" spc="5" dirty="0">
                <a:latin typeface="Calibri"/>
                <a:cs typeface="Calibri"/>
              </a:rPr>
              <a:t>lot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20" dirty="0">
                <a:latin typeface="Calibri"/>
                <a:cs typeface="Calibri"/>
              </a:rPr>
              <a:t>pairs </a:t>
            </a:r>
            <a:r>
              <a:rPr sz="2750" spc="5" dirty="0">
                <a:latin typeface="Calibri"/>
                <a:cs typeface="Calibri"/>
              </a:rPr>
              <a:t>and </a:t>
            </a:r>
            <a:r>
              <a:rPr sz="2750" dirty="0">
                <a:latin typeface="Calibri"/>
                <a:cs typeface="Calibri"/>
              </a:rPr>
              <a:t>only </a:t>
            </a:r>
            <a:r>
              <a:rPr sz="2750" spc="-25" dirty="0">
                <a:latin typeface="Calibri"/>
                <a:cs typeface="Calibri"/>
              </a:rPr>
              <a:t>keep </a:t>
            </a:r>
            <a:r>
              <a:rPr sz="2750" spc="-5" dirty="0">
                <a:latin typeface="Calibri"/>
                <a:cs typeface="Calibri"/>
              </a:rPr>
              <a:t>track </a:t>
            </a:r>
            <a:r>
              <a:rPr sz="2750" spc="25" dirty="0">
                <a:latin typeface="Calibri"/>
                <a:cs typeface="Calibri"/>
              </a:rPr>
              <a:t>of 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ones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that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will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in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end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turn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out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be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frequent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CDA81-C29C-477A-99D0-F5F54E8529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3986276" cy="5857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8962" y="1300162"/>
            <a:ext cx="7643495" cy="52273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1950" indent="-324485">
              <a:lnSpc>
                <a:spcPts val="3645"/>
              </a:lnSpc>
              <a:spcBef>
                <a:spcPts val="12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62585" algn="l"/>
              </a:tabLst>
            </a:pPr>
            <a:r>
              <a:rPr sz="3200" b="1" spc="5" dirty="0">
                <a:solidFill>
                  <a:srgbClr val="008000"/>
                </a:solidFill>
                <a:latin typeface="Calibri"/>
                <a:cs typeface="Calibri"/>
              </a:rPr>
              <a:t>Naïve </a:t>
            </a:r>
            <a:r>
              <a:rPr sz="3200" b="1" spc="-10" dirty="0">
                <a:solidFill>
                  <a:srgbClr val="008000"/>
                </a:solidFill>
                <a:latin typeface="Calibri"/>
                <a:cs typeface="Calibri"/>
              </a:rPr>
              <a:t>approach </a:t>
            </a: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to </a:t>
            </a:r>
            <a:r>
              <a:rPr sz="3200" b="1" spc="20" dirty="0">
                <a:solidFill>
                  <a:srgbClr val="008000"/>
                </a:solidFill>
                <a:latin typeface="Calibri"/>
                <a:cs typeface="Calibri"/>
              </a:rPr>
              <a:t>finding </a:t>
            </a:r>
            <a:r>
              <a:rPr sz="3200" b="1" spc="15" dirty="0">
                <a:solidFill>
                  <a:srgbClr val="008000"/>
                </a:solidFill>
                <a:latin typeface="Calibri"/>
                <a:cs typeface="Calibri"/>
              </a:rPr>
              <a:t>frequent</a:t>
            </a:r>
            <a:r>
              <a:rPr sz="3200" b="1" spc="-5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8000"/>
                </a:solidFill>
                <a:latin typeface="Calibri"/>
                <a:cs typeface="Calibri"/>
              </a:rPr>
              <a:t>pairs</a:t>
            </a:r>
            <a:endParaRPr sz="3200">
              <a:latin typeface="Calibri"/>
              <a:cs typeface="Calibri"/>
            </a:endParaRPr>
          </a:p>
          <a:p>
            <a:pPr marL="361950" marR="504190" indent="-324485">
              <a:lnSpc>
                <a:spcPts val="3460"/>
              </a:lnSpc>
              <a:spcBef>
                <a:spcPts val="24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62585" algn="l"/>
              </a:tabLst>
            </a:pPr>
            <a:r>
              <a:rPr sz="3200" spc="-15" dirty="0">
                <a:latin typeface="Calibri"/>
                <a:cs typeface="Calibri"/>
              </a:rPr>
              <a:t>Read </a:t>
            </a:r>
            <a:r>
              <a:rPr sz="3200" spc="5" dirty="0">
                <a:latin typeface="Calibri"/>
                <a:cs typeface="Calibri"/>
              </a:rPr>
              <a:t>file </a:t>
            </a:r>
            <a:r>
              <a:rPr sz="3200" spc="10" dirty="0">
                <a:latin typeface="Calibri"/>
                <a:cs typeface="Calibri"/>
              </a:rPr>
              <a:t>once, </a:t>
            </a:r>
            <a:r>
              <a:rPr sz="3200" spc="15" dirty="0">
                <a:latin typeface="Calibri"/>
                <a:cs typeface="Calibri"/>
              </a:rPr>
              <a:t>counting </a:t>
            </a:r>
            <a:r>
              <a:rPr sz="3200" spc="10" dirty="0">
                <a:latin typeface="Calibri"/>
                <a:cs typeface="Calibri"/>
              </a:rPr>
              <a:t>in main</a:t>
            </a:r>
            <a:r>
              <a:rPr sz="3200" spc="-40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memory  </a:t>
            </a:r>
            <a:r>
              <a:rPr sz="3200" spc="10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occurrences </a:t>
            </a:r>
            <a:r>
              <a:rPr sz="3200" spc="20" dirty="0">
                <a:latin typeface="Calibri"/>
                <a:cs typeface="Calibri"/>
              </a:rPr>
              <a:t>of </a:t>
            </a:r>
            <a:r>
              <a:rPr sz="3200" spc="5" dirty="0">
                <a:latin typeface="Calibri"/>
                <a:cs typeface="Calibri"/>
              </a:rPr>
              <a:t>each</a:t>
            </a:r>
            <a:r>
              <a:rPr sz="3200" spc="-254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pair:</a:t>
            </a:r>
            <a:endParaRPr sz="3200">
              <a:latin typeface="Calibri"/>
              <a:cs typeface="Calibri"/>
            </a:endParaRPr>
          </a:p>
          <a:p>
            <a:pPr marL="657860" lvl="1" indent="-276860">
              <a:lnSpc>
                <a:spcPts val="3155"/>
              </a:lnSpc>
              <a:spcBef>
                <a:spcPts val="380"/>
              </a:spcBef>
              <a:buClr>
                <a:srgbClr val="5FB5CC"/>
              </a:buClr>
              <a:buFont typeface="Wingdings"/>
              <a:buChar char=""/>
              <a:tabLst>
                <a:tab pos="657860" algn="l"/>
              </a:tabLst>
            </a:pPr>
            <a:r>
              <a:rPr sz="2750" dirty="0">
                <a:latin typeface="Calibri"/>
                <a:cs typeface="Calibri"/>
              </a:rPr>
              <a:t>From </a:t>
            </a:r>
            <a:r>
              <a:rPr sz="2750" spc="10" dirty="0">
                <a:latin typeface="Calibri"/>
                <a:cs typeface="Calibri"/>
              </a:rPr>
              <a:t>each </a:t>
            </a:r>
            <a:r>
              <a:rPr sz="2750" spc="-15" dirty="0">
                <a:latin typeface="Calibri"/>
                <a:cs typeface="Calibri"/>
              </a:rPr>
              <a:t>basket </a:t>
            </a:r>
            <a:r>
              <a:rPr sz="2750" b="1" i="1" spc="15" dirty="0">
                <a:latin typeface="Calibri"/>
                <a:cs typeface="Calibri"/>
              </a:rPr>
              <a:t>b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b="1" i="1" spc="30" dirty="0">
                <a:latin typeface="Calibri"/>
                <a:cs typeface="Calibri"/>
              </a:rPr>
              <a:t>n</a:t>
            </a:r>
            <a:r>
              <a:rPr sz="2775" b="1" i="1" spc="44" baseline="-18018" dirty="0">
                <a:latin typeface="Calibri"/>
                <a:cs typeface="Calibri"/>
              </a:rPr>
              <a:t>b </a:t>
            </a:r>
            <a:r>
              <a:rPr sz="2750" spc="-10" dirty="0">
                <a:latin typeface="Calibri"/>
                <a:cs typeface="Calibri"/>
              </a:rPr>
              <a:t>items, </a:t>
            </a:r>
            <a:r>
              <a:rPr sz="2750" spc="-20" dirty="0">
                <a:latin typeface="Calibri"/>
                <a:cs typeface="Calibri"/>
              </a:rPr>
              <a:t>generate</a:t>
            </a:r>
            <a:r>
              <a:rPr sz="2750" spc="4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its</a:t>
            </a:r>
            <a:endParaRPr sz="2750">
              <a:latin typeface="Calibri"/>
              <a:cs typeface="Calibri"/>
            </a:endParaRPr>
          </a:p>
          <a:p>
            <a:pPr marL="657860">
              <a:lnSpc>
                <a:spcPts val="3155"/>
              </a:lnSpc>
            </a:pPr>
            <a:r>
              <a:rPr sz="2750" b="1" i="1" spc="20" dirty="0">
                <a:latin typeface="Calibri"/>
                <a:cs typeface="Calibri"/>
              </a:rPr>
              <a:t>n</a:t>
            </a:r>
            <a:r>
              <a:rPr sz="2775" b="1" i="1" spc="30" baseline="-18018" dirty="0">
                <a:latin typeface="Calibri"/>
                <a:cs typeface="Calibri"/>
              </a:rPr>
              <a:t>b</a:t>
            </a:r>
            <a:r>
              <a:rPr sz="2750" b="1" i="1" spc="20" dirty="0">
                <a:latin typeface="Calibri"/>
                <a:cs typeface="Calibri"/>
              </a:rPr>
              <a:t>(n</a:t>
            </a:r>
            <a:r>
              <a:rPr sz="2775" b="1" i="1" spc="30" baseline="-18018" dirty="0">
                <a:latin typeface="Calibri"/>
                <a:cs typeface="Calibri"/>
              </a:rPr>
              <a:t>b</a:t>
            </a:r>
            <a:r>
              <a:rPr sz="2750" b="1" i="1" spc="20" dirty="0">
                <a:latin typeface="Calibri"/>
                <a:cs typeface="Calibri"/>
              </a:rPr>
              <a:t>-1)/2 </a:t>
            </a:r>
            <a:r>
              <a:rPr sz="2750" spc="-15" dirty="0">
                <a:latin typeface="Calibri"/>
                <a:cs typeface="Calibri"/>
              </a:rPr>
              <a:t>pairs </a:t>
            </a:r>
            <a:r>
              <a:rPr sz="2750" spc="-5" dirty="0">
                <a:latin typeface="Calibri"/>
                <a:cs typeface="Calibri"/>
              </a:rPr>
              <a:t>by </a:t>
            </a:r>
            <a:r>
              <a:rPr sz="2750" spc="-10" dirty="0">
                <a:latin typeface="Calibri"/>
                <a:cs typeface="Calibri"/>
              </a:rPr>
              <a:t>two </a:t>
            </a:r>
            <a:r>
              <a:rPr sz="2750" spc="-15" dirty="0">
                <a:latin typeface="Calibri"/>
                <a:cs typeface="Calibri"/>
              </a:rPr>
              <a:t>nested</a:t>
            </a:r>
            <a:r>
              <a:rPr sz="2750" spc="459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loops</a:t>
            </a:r>
            <a:endParaRPr sz="2750">
              <a:latin typeface="Calibri"/>
              <a:cs typeface="Calibri"/>
            </a:endParaRPr>
          </a:p>
          <a:p>
            <a:pPr marL="657860" lvl="1" indent="-276860">
              <a:lnSpc>
                <a:spcPts val="3115"/>
              </a:lnSpc>
              <a:spcBef>
                <a:spcPts val="380"/>
              </a:spcBef>
              <a:buClr>
                <a:srgbClr val="5FB5CC"/>
              </a:buClr>
              <a:buFont typeface="Wingdings"/>
              <a:buChar char=""/>
              <a:tabLst>
                <a:tab pos="657860" algn="l"/>
              </a:tabLst>
            </a:pPr>
            <a:r>
              <a:rPr sz="2750" spc="15" dirty="0">
                <a:latin typeface="Calibri"/>
                <a:cs typeface="Calibri"/>
              </a:rPr>
              <a:t>A </a:t>
            </a:r>
            <a:r>
              <a:rPr sz="2750" spc="-5" dirty="0">
                <a:latin typeface="Calibri"/>
                <a:cs typeface="Calibri"/>
              </a:rPr>
              <a:t>data structure </a:t>
            </a:r>
            <a:r>
              <a:rPr sz="2750" spc="-15" dirty="0">
                <a:latin typeface="Calibri"/>
                <a:cs typeface="Calibri"/>
              </a:rPr>
              <a:t>then </a:t>
            </a:r>
            <a:r>
              <a:rPr sz="2750" spc="-20" dirty="0">
                <a:latin typeface="Calibri"/>
                <a:cs typeface="Calibri"/>
              </a:rPr>
              <a:t>keeps </a:t>
            </a:r>
            <a:r>
              <a:rPr sz="2750" spc="10" dirty="0">
                <a:latin typeface="Calibri"/>
                <a:cs typeface="Calibri"/>
              </a:rPr>
              <a:t>count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dirty="0">
                <a:latin typeface="Calibri"/>
                <a:cs typeface="Calibri"/>
              </a:rPr>
              <a:t>every</a:t>
            </a:r>
            <a:r>
              <a:rPr sz="2750" spc="50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pair</a:t>
            </a:r>
            <a:endParaRPr sz="2750">
              <a:latin typeface="Calibri"/>
              <a:cs typeface="Calibri"/>
            </a:endParaRPr>
          </a:p>
          <a:p>
            <a:pPr marL="361950" indent="-324485">
              <a:lnSpc>
                <a:spcPts val="3654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62585" algn="l"/>
              </a:tabLst>
            </a:pP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Fails </a:t>
            </a:r>
            <a:r>
              <a:rPr sz="3200" b="1" spc="20" dirty="0">
                <a:solidFill>
                  <a:srgbClr val="0000FF"/>
                </a:solidFill>
                <a:latin typeface="Calibri"/>
                <a:cs typeface="Calibri"/>
              </a:rPr>
              <a:t>if </a:t>
            </a:r>
            <a:r>
              <a:rPr sz="3200" b="1" spc="-5" dirty="0">
                <a:solidFill>
                  <a:srgbClr val="0000FF"/>
                </a:solidFill>
                <a:latin typeface="Calibri"/>
                <a:cs typeface="Calibri"/>
              </a:rPr>
              <a:t>(#items)</a:t>
            </a:r>
            <a:r>
              <a:rPr sz="3150" b="1" spc="-7" baseline="26455" dirty="0">
                <a:solidFill>
                  <a:srgbClr val="0000FF"/>
                </a:solidFill>
                <a:latin typeface="Calibri"/>
                <a:cs typeface="Calibri"/>
              </a:rPr>
              <a:t>2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exceeds </a:t>
            </a: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main</a:t>
            </a:r>
            <a:r>
              <a:rPr sz="3200" b="1" spc="-2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memory</a:t>
            </a:r>
            <a:endParaRPr sz="3200">
              <a:latin typeface="Calibri"/>
              <a:cs typeface="Calibri"/>
            </a:endParaRPr>
          </a:p>
          <a:p>
            <a:pPr marL="657860" lvl="1" indent="-276860">
              <a:lnSpc>
                <a:spcPts val="3150"/>
              </a:lnSpc>
              <a:spcBef>
                <a:spcPts val="440"/>
              </a:spcBef>
              <a:buClr>
                <a:srgbClr val="5FB5CC"/>
              </a:buClr>
              <a:buFont typeface="Wingdings"/>
              <a:buChar char=""/>
              <a:tabLst>
                <a:tab pos="657860" algn="l"/>
              </a:tabLst>
            </a:pPr>
            <a:r>
              <a:rPr sz="2750" b="1" spc="10" dirty="0">
                <a:solidFill>
                  <a:srgbClr val="FF0066"/>
                </a:solidFill>
                <a:latin typeface="Calibri"/>
                <a:cs typeface="Calibri"/>
              </a:rPr>
              <a:t>Remember: </a:t>
            </a:r>
            <a:r>
              <a:rPr sz="2750" spc="-10" dirty="0">
                <a:latin typeface="Calibri"/>
                <a:cs typeface="Calibri"/>
              </a:rPr>
              <a:t>#items </a:t>
            </a:r>
            <a:r>
              <a:rPr sz="2750" spc="25" dirty="0">
                <a:latin typeface="Calibri"/>
                <a:cs typeface="Calibri"/>
              </a:rPr>
              <a:t>can</a:t>
            </a:r>
            <a:r>
              <a:rPr sz="2750" spc="22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be</a:t>
            </a:r>
            <a:endParaRPr sz="2750">
              <a:latin typeface="Calibri"/>
              <a:cs typeface="Calibri"/>
            </a:endParaRPr>
          </a:p>
          <a:p>
            <a:pPr marL="657860">
              <a:lnSpc>
                <a:spcPts val="3150"/>
              </a:lnSpc>
            </a:pPr>
            <a:r>
              <a:rPr sz="2750" spc="20" dirty="0">
                <a:latin typeface="Calibri"/>
                <a:cs typeface="Calibri"/>
              </a:rPr>
              <a:t>100K </a:t>
            </a:r>
            <a:r>
              <a:rPr sz="2750" dirty="0">
                <a:latin typeface="Calibri"/>
                <a:cs typeface="Calibri"/>
              </a:rPr>
              <a:t>(Wal-Mart) </a:t>
            </a:r>
            <a:r>
              <a:rPr sz="2750" spc="25" dirty="0">
                <a:latin typeface="Calibri"/>
                <a:cs typeface="Calibri"/>
              </a:rPr>
              <a:t>or </a:t>
            </a:r>
            <a:r>
              <a:rPr sz="2750" spc="20" dirty="0">
                <a:latin typeface="Calibri"/>
                <a:cs typeface="Calibri"/>
              </a:rPr>
              <a:t>10B </a:t>
            </a:r>
            <a:r>
              <a:rPr sz="2750" spc="-15" dirty="0">
                <a:latin typeface="Calibri"/>
                <a:cs typeface="Calibri"/>
              </a:rPr>
              <a:t>(Web</a:t>
            </a:r>
            <a:r>
              <a:rPr sz="2750" spc="17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pages)</a:t>
            </a:r>
            <a:endParaRPr sz="2750">
              <a:latin typeface="Calibri"/>
              <a:cs typeface="Calibri"/>
            </a:endParaRPr>
          </a:p>
          <a:p>
            <a:pPr marL="924560" lvl="2" indent="-229235">
              <a:lnSpc>
                <a:spcPct val="100000"/>
              </a:lnSpc>
              <a:spcBef>
                <a:spcPts val="355"/>
              </a:spcBef>
              <a:buClr>
                <a:srgbClr val="E66C7C"/>
              </a:buClr>
              <a:buFont typeface="Wingdings"/>
              <a:buChar char=""/>
              <a:tabLst>
                <a:tab pos="925194" algn="l"/>
              </a:tabLst>
            </a:pPr>
            <a:r>
              <a:rPr sz="2400" spc="10" dirty="0">
                <a:latin typeface="Calibri"/>
                <a:cs typeface="Calibri"/>
              </a:rPr>
              <a:t>Suppose </a:t>
            </a:r>
            <a:r>
              <a:rPr sz="2400" spc="-5" dirty="0">
                <a:latin typeface="Calibri"/>
                <a:cs typeface="Calibri"/>
              </a:rPr>
              <a:t>10</a:t>
            </a:r>
            <a:r>
              <a:rPr sz="2325" spc="-7" baseline="26881" dirty="0">
                <a:latin typeface="Calibri"/>
                <a:cs typeface="Calibri"/>
              </a:rPr>
              <a:t>5 </a:t>
            </a:r>
            <a:r>
              <a:rPr sz="2400" spc="5" dirty="0">
                <a:latin typeface="Calibri"/>
                <a:cs typeface="Calibri"/>
              </a:rPr>
              <a:t>items, </a:t>
            </a:r>
            <a:r>
              <a:rPr sz="2400" spc="10" dirty="0">
                <a:latin typeface="Calibri"/>
                <a:cs typeface="Calibri"/>
              </a:rPr>
              <a:t>counts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4-byte</a:t>
            </a:r>
            <a:r>
              <a:rPr sz="2400" spc="-1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integers</a:t>
            </a:r>
            <a:endParaRPr sz="2400">
              <a:latin typeface="Calibri"/>
              <a:cs typeface="Calibri"/>
            </a:endParaRPr>
          </a:p>
          <a:p>
            <a:pPr marL="924560" lvl="2" indent="-229235">
              <a:lnSpc>
                <a:spcPct val="100000"/>
              </a:lnSpc>
              <a:spcBef>
                <a:spcPts val="275"/>
              </a:spcBef>
              <a:buClr>
                <a:srgbClr val="E66C7C"/>
              </a:buClr>
              <a:buFont typeface="Wingdings"/>
              <a:buChar char=""/>
              <a:tabLst>
                <a:tab pos="925194" algn="l"/>
              </a:tabLst>
            </a:pPr>
            <a:r>
              <a:rPr sz="2400" spc="10" dirty="0">
                <a:latin typeface="Calibri"/>
                <a:cs typeface="Calibri"/>
              </a:rPr>
              <a:t>Number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-30" dirty="0">
                <a:latin typeface="Calibri"/>
                <a:cs typeface="Calibri"/>
              </a:rPr>
              <a:t>pairs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5" dirty="0">
                <a:latin typeface="Calibri"/>
                <a:cs typeface="Calibri"/>
              </a:rPr>
              <a:t>items: 10</a:t>
            </a:r>
            <a:r>
              <a:rPr sz="2325" spc="7" baseline="26881" dirty="0">
                <a:latin typeface="Calibri"/>
                <a:cs typeface="Calibri"/>
              </a:rPr>
              <a:t>5</a:t>
            </a:r>
            <a:r>
              <a:rPr sz="2400" spc="5" dirty="0">
                <a:latin typeface="Calibri"/>
                <a:cs typeface="Calibri"/>
              </a:rPr>
              <a:t>(10</a:t>
            </a:r>
            <a:r>
              <a:rPr sz="2325" spc="7" baseline="26881" dirty="0">
                <a:latin typeface="Calibri"/>
                <a:cs typeface="Calibri"/>
              </a:rPr>
              <a:t>5</a:t>
            </a:r>
            <a:r>
              <a:rPr sz="2400" spc="5" dirty="0">
                <a:latin typeface="Calibri"/>
                <a:cs typeface="Calibri"/>
              </a:rPr>
              <a:t>-1)/2 </a:t>
            </a:r>
            <a:r>
              <a:rPr sz="2400" dirty="0">
                <a:latin typeface="Symbol"/>
                <a:cs typeface="Symbol"/>
              </a:rPr>
              <a:t>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5*10</a:t>
            </a:r>
            <a:r>
              <a:rPr sz="2325" spc="-15" baseline="26881" dirty="0">
                <a:latin typeface="Calibri"/>
                <a:cs typeface="Calibri"/>
              </a:rPr>
              <a:t>9</a:t>
            </a:r>
            <a:endParaRPr sz="2325" baseline="26881">
              <a:latin typeface="Calibri"/>
              <a:cs typeface="Calibri"/>
            </a:endParaRPr>
          </a:p>
          <a:p>
            <a:pPr marL="924560" lvl="2" indent="-229235">
              <a:lnSpc>
                <a:spcPct val="100000"/>
              </a:lnSpc>
              <a:spcBef>
                <a:spcPts val="275"/>
              </a:spcBef>
              <a:buClr>
                <a:srgbClr val="E66C7C"/>
              </a:buClr>
              <a:buFont typeface="Wingdings"/>
              <a:buChar char=""/>
              <a:tabLst>
                <a:tab pos="925194" algn="l"/>
              </a:tabLst>
            </a:pPr>
            <a:r>
              <a:rPr sz="2400" spc="-5" dirty="0">
                <a:latin typeface="Calibri"/>
                <a:cs typeface="Calibri"/>
              </a:rPr>
              <a:t>Therefore, </a:t>
            </a:r>
            <a:r>
              <a:rPr sz="2400" dirty="0">
                <a:latin typeface="Calibri"/>
                <a:cs typeface="Calibri"/>
              </a:rPr>
              <a:t>2*10</a:t>
            </a:r>
            <a:r>
              <a:rPr sz="2325" baseline="26881" dirty="0">
                <a:latin typeface="Calibri"/>
                <a:cs typeface="Calibri"/>
              </a:rPr>
              <a:t>10 </a:t>
            </a:r>
            <a:r>
              <a:rPr sz="2400" dirty="0">
                <a:latin typeface="Calibri"/>
                <a:cs typeface="Calibri"/>
              </a:rPr>
              <a:t>(20 </a:t>
            </a:r>
            <a:r>
              <a:rPr sz="2400" spc="-15" dirty="0">
                <a:latin typeface="Calibri"/>
                <a:cs typeface="Calibri"/>
              </a:rPr>
              <a:t>gigabytes)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10" dirty="0">
                <a:latin typeface="Calibri"/>
                <a:cs typeface="Calibri"/>
              </a:rPr>
              <a:t>memory </a:t>
            </a:r>
            <a:r>
              <a:rPr sz="2400" spc="-15" dirty="0">
                <a:latin typeface="Calibri"/>
                <a:cs typeface="Calibri"/>
              </a:rPr>
              <a:t>is</a:t>
            </a:r>
            <a:r>
              <a:rPr sz="2400" spc="-31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needed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4114E-CF87-4940-968F-EA4663A9E5E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33311"/>
            <a:ext cx="6377051" cy="5857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4362" y="1347787"/>
            <a:ext cx="7096759" cy="1003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sz="3200" spc="5" dirty="0">
                <a:solidFill>
                  <a:srgbClr val="008000"/>
                </a:solidFill>
              </a:rPr>
              <a:t>Goal: </a:t>
            </a:r>
            <a:r>
              <a:rPr sz="3200" spc="10" dirty="0">
                <a:solidFill>
                  <a:srgbClr val="008000"/>
                </a:solidFill>
              </a:rPr>
              <a:t>Count the number of occurrences</a:t>
            </a:r>
            <a:r>
              <a:rPr sz="3200" spc="-509" dirty="0">
                <a:solidFill>
                  <a:srgbClr val="008000"/>
                </a:solidFill>
              </a:rPr>
              <a:t> </a:t>
            </a:r>
            <a:r>
              <a:rPr sz="3200" spc="10" dirty="0">
                <a:solidFill>
                  <a:srgbClr val="008000"/>
                </a:solidFill>
              </a:rPr>
              <a:t>of  each pair </a:t>
            </a:r>
            <a:r>
              <a:rPr sz="3200" spc="5" dirty="0">
                <a:solidFill>
                  <a:srgbClr val="008000"/>
                </a:solidFill>
              </a:rPr>
              <a:t>of items</a:t>
            </a:r>
            <a:r>
              <a:rPr sz="3200" spc="-220" dirty="0">
                <a:solidFill>
                  <a:srgbClr val="008000"/>
                </a:solidFill>
              </a:rPr>
              <a:t> </a:t>
            </a:r>
            <a:r>
              <a:rPr sz="3200" i="1" dirty="0">
                <a:solidFill>
                  <a:srgbClr val="008000"/>
                </a:solidFill>
                <a:latin typeface="Calibri"/>
                <a:cs typeface="Calibri"/>
              </a:rPr>
              <a:t>(i,j)</a:t>
            </a:r>
            <a:r>
              <a:rPr sz="3200" dirty="0">
                <a:solidFill>
                  <a:srgbClr val="008000"/>
                </a:solidFill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4362" y="2654045"/>
            <a:ext cx="7609840" cy="32823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13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5" dirty="0">
                <a:solidFill>
                  <a:srgbClr val="0000FF"/>
                </a:solidFill>
                <a:latin typeface="Calibri"/>
                <a:cs typeface="Calibri"/>
              </a:rPr>
              <a:t>Approach</a:t>
            </a:r>
            <a:r>
              <a:rPr sz="32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1:</a:t>
            </a:r>
            <a:r>
              <a:rPr sz="3200" b="1" spc="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Count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all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pairs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using</a:t>
            </a:r>
            <a:r>
              <a:rPr sz="3200" spc="-15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a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matrix</a:t>
            </a:r>
            <a:endParaRPr sz="3200">
              <a:latin typeface="Calibri"/>
              <a:cs typeface="Calibri"/>
            </a:endParaRPr>
          </a:p>
          <a:p>
            <a:pPr marL="336550" indent="-324485">
              <a:lnSpc>
                <a:spcPts val="3835"/>
              </a:lnSpc>
              <a:spcBef>
                <a:spcPts val="261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5" dirty="0">
                <a:solidFill>
                  <a:srgbClr val="FF0066"/>
                </a:solidFill>
                <a:latin typeface="Calibri"/>
                <a:cs typeface="Calibri"/>
              </a:rPr>
              <a:t>Approach </a:t>
            </a:r>
            <a:r>
              <a:rPr sz="3200" b="1" spc="15" dirty="0">
                <a:solidFill>
                  <a:srgbClr val="FF0066"/>
                </a:solidFill>
                <a:latin typeface="Calibri"/>
                <a:cs typeface="Calibri"/>
              </a:rPr>
              <a:t>2: </a:t>
            </a:r>
            <a:r>
              <a:rPr sz="3200" spc="-30" dirty="0">
                <a:latin typeface="Calibri"/>
                <a:cs typeface="Calibri"/>
              </a:rPr>
              <a:t>Keep </a:t>
            </a:r>
            <a:r>
              <a:rPr sz="3200" spc="10" dirty="0">
                <a:latin typeface="Calibri"/>
                <a:cs typeface="Calibri"/>
              </a:rPr>
              <a:t>a </a:t>
            </a:r>
            <a:r>
              <a:rPr sz="3200" dirty="0">
                <a:latin typeface="Calibri"/>
                <a:cs typeface="Calibri"/>
              </a:rPr>
              <a:t>table </a:t>
            </a:r>
            <a:r>
              <a:rPr sz="3200" spc="20" dirty="0">
                <a:latin typeface="Calibri"/>
                <a:cs typeface="Calibri"/>
              </a:rPr>
              <a:t>of </a:t>
            </a:r>
            <a:r>
              <a:rPr sz="3200" spc="5" dirty="0">
                <a:latin typeface="Calibri"/>
                <a:cs typeface="Calibri"/>
              </a:rPr>
              <a:t>triples </a:t>
            </a:r>
            <a:r>
              <a:rPr sz="3200" spc="10" dirty="0">
                <a:latin typeface="Calibri"/>
                <a:cs typeface="Calibri"/>
              </a:rPr>
              <a:t>[</a:t>
            </a:r>
            <a:r>
              <a:rPr sz="3200" i="1" spc="10" dirty="0">
                <a:latin typeface="Calibri"/>
                <a:cs typeface="Calibri"/>
              </a:rPr>
              <a:t>i</a:t>
            </a:r>
            <a:r>
              <a:rPr sz="3200" spc="10" dirty="0">
                <a:latin typeface="Calibri"/>
                <a:cs typeface="Calibri"/>
              </a:rPr>
              <a:t>, </a:t>
            </a:r>
            <a:r>
              <a:rPr sz="3200" i="1" spc="-10" dirty="0">
                <a:latin typeface="Calibri"/>
                <a:cs typeface="Calibri"/>
              </a:rPr>
              <a:t>j</a:t>
            </a:r>
            <a:r>
              <a:rPr sz="3200" spc="-10" dirty="0">
                <a:latin typeface="Calibri"/>
                <a:cs typeface="Calibri"/>
              </a:rPr>
              <a:t>, </a:t>
            </a:r>
            <a:r>
              <a:rPr sz="3200" i="1" spc="10" dirty="0">
                <a:latin typeface="Calibri"/>
                <a:cs typeface="Calibri"/>
              </a:rPr>
              <a:t>c</a:t>
            </a:r>
            <a:r>
              <a:rPr sz="3200" spc="10" dirty="0">
                <a:latin typeface="Calibri"/>
                <a:cs typeface="Calibri"/>
              </a:rPr>
              <a:t>]</a:t>
            </a:r>
            <a:r>
              <a:rPr sz="3200" spc="-18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=</a:t>
            </a:r>
            <a:endParaRPr sz="3200">
              <a:latin typeface="Calibri"/>
              <a:cs typeface="Calibri"/>
            </a:endParaRPr>
          </a:p>
          <a:p>
            <a:pPr marL="336550">
              <a:lnSpc>
                <a:spcPts val="3835"/>
              </a:lnSpc>
            </a:pPr>
            <a:r>
              <a:rPr sz="3200" spc="5" dirty="0">
                <a:latin typeface="Calibri"/>
                <a:cs typeface="Calibri"/>
              </a:rPr>
              <a:t>“the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count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the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pair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of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items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35" dirty="0">
                <a:latin typeface="Calibri"/>
                <a:cs typeface="Calibri"/>
              </a:rPr>
              <a:t>{</a:t>
            </a:r>
            <a:r>
              <a:rPr sz="3200" i="1" spc="35" dirty="0">
                <a:latin typeface="Calibri"/>
                <a:cs typeface="Calibri"/>
              </a:rPr>
              <a:t>i</a:t>
            </a:r>
            <a:r>
              <a:rPr sz="3200" spc="35" dirty="0">
                <a:latin typeface="Calibri"/>
                <a:cs typeface="Calibri"/>
              </a:rPr>
              <a:t>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j</a:t>
            </a:r>
            <a:r>
              <a:rPr sz="3200" spc="-5" dirty="0">
                <a:latin typeface="Calibri"/>
                <a:cs typeface="Calibri"/>
              </a:rPr>
              <a:t>}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is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i="1" spc="-135" dirty="0">
                <a:latin typeface="Calibri"/>
                <a:cs typeface="Calibri"/>
              </a:rPr>
              <a:t>c</a:t>
            </a:r>
            <a:r>
              <a:rPr sz="3200" spc="-135" dirty="0">
                <a:latin typeface="Calibri"/>
                <a:cs typeface="Calibri"/>
              </a:rPr>
              <a:t>.”</a:t>
            </a:r>
            <a:endParaRPr sz="3200">
              <a:latin typeface="Calibri"/>
              <a:cs typeface="Calibri"/>
            </a:endParaRPr>
          </a:p>
          <a:p>
            <a:pPr marL="632460" marR="190500" lvl="1" indent="-276860">
              <a:lnSpc>
                <a:spcPct val="102499"/>
              </a:lnSpc>
              <a:spcBef>
                <a:spcPts val="66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5" dirty="0">
                <a:latin typeface="Calibri"/>
                <a:cs typeface="Calibri"/>
              </a:rPr>
              <a:t>If </a:t>
            </a:r>
            <a:r>
              <a:rPr sz="2750" spc="-25" dirty="0">
                <a:latin typeface="Calibri"/>
                <a:cs typeface="Calibri"/>
              </a:rPr>
              <a:t>integers </a:t>
            </a:r>
            <a:r>
              <a:rPr sz="2750" spc="5" dirty="0">
                <a:latin typeface="Calibri"/>
                <a:cs typeface="Calibri"/>
              </a:rPr>
              <a:t>and </a:t>
            </a:r>
            <a:r>
              <a:rPr sz="2750" spc="-15" dirty="0">
                <a:latin typeface="Calibri"/>
                <a:cs typeface="Calibri"/>
              </a:rPr>
              <a:t>item ids </a:t>
            </a:r>
            <a:r>
              <a:rPr sz="2750" spc="15" dirty="0">
                <a:latin typeface="Calibri"/>
                <a:cs typeface="Calibri"/>
              </a:rPr>
              <a:t>are 4 </a:t>
            </a:r>
            <a:r>
              <a:rPr sz="2750" spc="-15" dirty="0">
                <a:latin typeface="Calibri"/>
                <a:cs typeface="Calibri"/>
              </a:rPr>
              <a:t>bytes, </a:t>
            </a:r>
            <a:r>
              <a:rPr sz="2750" spc="-5" dirty="0">
                <a:latin typeface="Calibri"/>
                <a:cs typeface="Calibri"/>
              </a:rPr>
              <a:t>we </a:t>
            </a:r>
            <a:r>
              <a:rPr sz="2750" spc="-15" dirty="0">
                <a:latin typeface="Calibri"/>
                <a:cs typeface="Calibri"/>
              </a:rPr>
              <a:t>need  </a:t>
            </a:r>
            <a:r>
              <a:rPr sz="2750" spc="-10" dirty="0">
                <a:latin typeface="Calibri"/>
                <a:cs typeface="Calibri"/>
              </a:rPr>
              <a:t>approximately </a:t>
            </a:r>
            <a:r>
              <a:rPr sz="2750" spc="20" dirty="0">
                <a:latin typeface="Calibri"/>
                <a:cs typeface="Calibri"/>
              </a:rPr>
              <a:t>12 </a:t>
            </a:r>
            <a:r>
              <a:rPr sz="2750" spc="-10" dirty="0">
                <a:latin typeface="Calibri"/>
                <a:cs typeface="Calibri"/>
              </a:rPr>
              <a:t>bytes </a:t>
            </a:r>
            <a:r>
              <a:rPr sz="2750" spc="-15" dirty="0">
                <a:latin typeface="Calibri"/>
                <a:cs typeface="Calibri"/>
              </a:rPr>
              <a:t>for pairs </a:t>
            </a:r>
            <a:r>
              <a:rPr sz="2750" spc="-20" dirty="0">
                <a:latin typeface="Calibri"/>
                <a:cs typeface="Calibri"/>
              </a:rPr>
              <a:t>with </a:t>
            </a:r>
            <a:r>
              <a:rPr sz="2750" spc="10" dirty="0">
                <a:latin typeface="Calibri"/>
                <a:cs typeface="Calibri"/>
              </a:rPr>
              <a:t>count &gt;</a:t>
            </a:r>
            <a:r>
              <a:rPr sz="2750" spc="12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0</a:t>
            </a:r>
            <a:endParaRPr sz="275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10" dirty="0">
                <a:latin typeface="Calibri"/>
                <a:cs typeface="Calibri"/>
              </a:rPr>
              <a:t>Plus </a:t>
            </a:r>
            <a:r>
              <a:rPr sz="2750" spc="20" dirty="0">
                <a:latin typeface="Calibri"/>
                <a:cs typeface="Calibri"/>
              </a:rPr>
              <a:t>some </a:t>
            </a:r>
            <a:r>
              <a:rPr sz="2750" spc="-5" dirty="0">
                <a:latin typeface="Calibri"/>
                <a:cs typeface="Calibri"/>
              </a:rPr>
              <a:t>additional </a:t>
            </a:r>
            <a:r>
              <a:rPr sz="2750" spc="5" dirty="0">
                <a:latin typeface="Calibri"/>
                <a:cs typeface="Calibri"/>
              </a:rPr>
              <a:t>overhead </a:t>
            </a:r>
            <a:r>
              <a:rPr sz="2750" spc="-15" dirty="0">
                <a:latin typeface="Calibri"/>
                <a:cs typeface="Calibri"/>
              </a:rPr>
              <a:t>for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hashtable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63241C-59D8-42C9-B5B5-D12EDB87655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29</a:t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33311"/>
            <a:ext cx="7777226" cy="58578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219200" y="1600263"/>
            <a:ext cx="3362960" cy="3362325"/>
            <a:chOff x="1219200" y="1600263"/>
            <a:chExt cx="3362960" cy="3362325"/>
          </a:xfrm>
        </p:grpSpPr>
        <p:sp>
          <p:nvSpPr>
            <p:cNvPr id="4" name="object 4"/>
            <p:cNvSpPr/>
            <p:nvPr/>
          </p:nvSpPr>
          <p:spPr>
            <a:xfrm>
              <a:off x="1223962" y="1605025"/>
              <a:ext cx="3353435" cy="3352800"/>
            </a:xfrm>
            <a:custGeom>
              <a:avLst/>
              <a:gdLst/>
              <a:ahLst/>
              <a:cxnLst/>
              <a:rect l="l" t="t" r="r" b="b"/>
              <a:pathLst>
                <a:path w="3353435" h="3352800">
                  <a:moveTo>
                    <a:pt x="0" y="0"/>
                  </a:moveTo>
                  <a:lnTo>
                    <a:pt x="0" y="3352673"/>
                  </a:lnTo>
                  <a:lnTo>
                    <a:pt x="3352863" y="3352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3962" y="1605025"/>
              <a:ext cx="3353435" cy="3352800"/>
            </a:xfrm>
            <a:custGeom>
              <a:avLst/>
              <a:gdLst/>
              <a:ahLst/>
              <a:cxnLst/>
              <a:rect l="l" t="t" r="r" b="b"/>
              <a:pathLst>
                <a:path w="3353435" h="3352800">
                  <a:moveTo>
                    <a:pt x="0" y="3352673"/>
                  </a:moveTo>
                  <a:lnTo>
                    <a:pt x="0" y="0"/>
                  </a:lnTo>
                  <a:lnTo>
                    <a:pt x="3352863" y="3352673"/>
                  </a:lnTo>
                  <a:lnTo>
                    <a:pt x="0" y="335267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98549" y="3951287"/>
            <a:ext cx="1486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rbel"/>
                <a:cs typeface="Corbel"/>
              </a:rPr>
              <a:t>4 bytes </a:t>
            </a:r>
            <a:r>
              <a:rPr sz="1800" spc="5" dirty="0">
                <a:latin typeface="Corbel"/>
                <a:cs typeface="Corbel"/>
              </a:rPr>
              <a:t>per</a:t>
            </a:r>
            <a:r>
              <a:rPr sz="1800" spc="-95" dirty="0">
                <a:latin typeface="Corbel"/>
                <a:cs typeface="Corbel"/>
              </a:rPr>
              <a:t> </a:t>
            </a:r>
            <a:r>
              <a:rPr sz="1800" spc="15" dirty="0">
                <a:latin typeface="Corbel"/>
                <a:cs typeface="Corbel"/>
              </a:rPr>
              <a:t>pair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8858" y="4887098"/>
            <a:ext cx="2082164" cy="70675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R="239395" algn="ctr">
              <a:lnSpc>
                <a:spcPct val="100000"/>
              </a:lnSpc>
              <a:spcBef>
                <a:spcPts val="630"/>
              </a:spcBef>
            </a:pPr>
            <a:r>
              <a:rPr sz="1400" spc="25" dirty="0">
                <a:latin typeface="Arial"/>
                <a:cs typeface="Arial"/>
              </a:rPr>
              <a:t>Item</a:t>
            </a:r>
            <a:r>
              <a:rPr sz="1400" spc="-155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i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000" b="1" spc="10" dirty="0">
                <a:solidFill>
                  <a:srgbClr val="0000FF"/>
                </a:solidFill>
                <a:latin typeface="Arial"/>
                <a:cs typeface="Arial"/>
              </a:rPr>
              <a:t>Triangular</a:t>
            </a:r>
            <a:r>
              <a:rPr sz="2000" b="1" spc="-2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Matrix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00396" y="5202237"/>
            <a:ext cx="339915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0" dirty="0">
                <a:solidFill>
                  <a:srgbClr val="0000FF"/>
                </a:solidFill>
                <a:latin typeface="Arial"/>
                <a:cs typeface="Arial"/>
              </a:rPr>
              <a:t>Triples</a:t>
            </a:r>
            <a:r>
              <a:rPr sz="2000" b="1" spc="-1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0000FF"/>
                </a:solidFill>
                <a:latin typeface="Arial"/>
                <a:cs typeface="Arial"/>
              </a:rPr>
              <a:t>(item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0000FF"/>
                </a:solidFill>
                <a:latin typeface="Arial"/>
                <a:cs typeface="Arial"/>
              </a:rPr>
              <a:t>i,</a:t>
            </a:r>
            <a:r>
              <a:rPr sz="2000" b="1" spc="-1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20" dirty="0">
                <a:solidFill>
                  <a:srgbClr val="0000FF"/>
                </a:solidFill>
                <a:latin typeface="Arial"/>
                <a:cs typeface="Arial"/>
              </a:rPr>
              <a:t>item</a:t>
            </a:r>
            <a:r>
              <a:rPr sz="20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20" dirty="0">
                <a:solidFill>
                  <a:srgbClr val="0000FF"/>
                </a:solidFill>
                <a:latin typeface="Arial"/>
                <a:cs typeface="Arial"/>
              </a:rPr>
              <a:t>j,</a:t>
            </a:r>
            <a:r>
              <a:rPr sz="2000" b="1" spc="-1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30" dirty="0">
                <a:solidFill>
                  <a:srgbClr val="0000FF"/>
                </a:solidFill>
                <a:latin typeface="Arial"/>
                <a:cs typeface="Arial"/>
              </a:rPr>
              <a:t>count)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81663" y="1600263"/>
            <a:ext cx="3362325" cy="3362325"/>
            <a:chOff x="5181663" y="1600263"/>
            <a:chExt cx="3362325" cy="3362325"/>
          </a:xfrm>
        </p:grpSpPr>
        <p:sp>
          <p:nvSpPr>
            <p:cNvPr id="10" name="object 10"/>
            <p:cNvSpPr/>
            <p:nvPr/>
          </p:nvSpPr>
          <p:spPr>
            <a:xfrm>
              <a:off x="5186426" y="1605025"/>
              <a:ext cx="3352800" cy="3352800"/>
            </a:xfrm>
            <a:custGeom>
              <a:avLst/>
              <a:gdLst/>
              <a:ahLst/>
              <a:cxnLst/>
              <a:rect l="l" t="t" r="r" b="b"/>
              <a:pathLst>
                <a:path w="3352800" h="3352800">
                  <a:moveTo>
                    <a:pt x="0" y="0"/>
                  </a:moveTo>
                  <a:lnTo>
                    <a:pt x="0" y="3352673"/>
                  </a:lnTo>
                  <a:lnTo>
                    <a:pt x="3352800" y="3352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86426" y="1605025"/>
              <a:ext cx="3352800" cy="3352800"/>
            </a:xfrm>
            <a:custGeom>
              <a:avLst/>
              <a:gdLst/>
              <a:ahLst/>
              <a:cxnLst/>
              <a:rect l="l" t="t" r="r" b="b"/>
              <a:pathLst>
                <a:path w="3352800" h="3352800">
                  <a:moveTo>
                    <a:pt x="0" y="3352673"/>
                  </a:moveTo>
                  <a:lnTo>
                    <a:pt x="0" y="0"/>
                  </a:lnTo>
                  <a:lnTo>
                    <a:pt x="3352800" y="3352673"/>
                  </a:lnTo>
                  <a:lnTo>
                    <a:pt x="0" y="335267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641721" y="3814127"/>
            <a:ext cx="1329690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76200">
              <a:lnSpc>
                <a:spcPct val="100800"/>
              </a:lnSpc>
              <a:spcBef>
                <a:spcPts val="85"/>
              </a:spcBef>
            </a:pPr>
            <a:r>
              <a:rPr sz="1800" spc="5" dirty="0">
                <a:latin typeface="Corbel"/>
                <a:cs typeface="Corbel"/>
              </a:rPr>
              <a:t>12 </a:t>
            </a:r>
            <a:r>
              <a:rPr sz="1800" dirty="0">
                <a:latin typeface="Corbel"/>
                <a:cs typeface="Corbel"/>
              </a:rPr>
              <a:t>bytes </a:t>
            </a:r>
            <a:r>
              <a:rPr sz="1800" spc="5" dirty="0">
                <a:latin typeface="Corbel"/>
                <a:cs typeface="Corbel"/>
              </a:rPr>
              <a:t>per  occurring</a:t>
            </a:r>
            <a:r>
              <a:rPr sz="1800" spc="-160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pair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34063" y="2133663"/>
            <a:ext cx="2066925" cy="2676525"/>
            <a:chOff x="5334063" y="2133663"/>
            <a:chExt cx="2066925" cy="267652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9063" y="4038663"/>
              <a:ext cx="161925" cy="161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4663" y="4495863"/>
              <a:ext cx="161925" cy="1619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0863" y="3124263"/>
              <a:ext cx="161925" cy="1619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63" y="2590863"/>
              <a:ext cx="161925" cy="1619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63" y="3733863"/>
              <a:ext cx="161925" cy="16192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2863" y="4572063"/>
              <a:ext cx="161925" cy="1619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2663" y="4648263"/>
              <a:ext cx="161925" cy="16192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1263" y="3581463"/>
              <a:ext cx="161925" cy="16192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3663" y="2971863"/>
              <a:ext cx="161925" cy="16192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63" y="2133663"/>
              <a:ext cx="161925" cy="16192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63" y="3276663"/>
              <a:ext cx="161925" cy="16192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960435" y="3368233"/>
            <a:ext cx="227965" cy="45783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spc="25" dirty="0">
                <a:latin typeface="Arial"/>
                <a:cs typeface="Arial"/>
              </a:rPr>
              <a:t>Item</a:t>
            </a:r>
            <a:r>
              <a:rPr sz="1400" spc="-2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j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AB7BBC6A-BCC1-48DD-BDE1-3B9493ABED0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9080" cy="2524760"/>
            <a:chOff x="0" y="0"/>
            <a:chExt cx="9149080" cy="2524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50" y="333311"/>
              <a:ext cx="7777226" cy="58578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43876" y="1147825"/>
              <a:ext cx="1500505" cy="1371600"/>
            </a:xfrm>
            <a:custGeom>
              <a:avLst/>
              <a:gdLst/>
              <a:ahLst/>
              <a:cxnLst/>
              <a:rect l="l" t="t" r="r" b="b"/>
              <a:pathLst>
                <a:path w="1500504" h="1371600">
                  <a:moveTo>
                    <a:pt x="0" y="0"/>
                  </a:moveTo>
                  <a:lnTo>
                    <a:pt x="0" y="1371600"/>
                  </a:lnTo>
                  <a:lnTo>
                    <a:pt x="1500124" y="1371600"/>
                  </a:lnTo>
                  <a:lnTo>
                    <a:pt x="1500124" y="1350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43876" y="1147825"/>
              <a:ext cx="1500505" cy="1371600"/>
            </a:xfrm>
            <a:custGeom>
              <a:avLst/>
              <a:gdLst/>
              <a:ahLst/>
              <a:cxnLst/>
              <a:rect l="l" t="t" r="r" b="b"/>
              <a:pathLst>
                <a:path w="1500504" h="1371600">
                  <a:moveTo>
                    <a:pt x="0" y="1371600"/>
                  </a:moveTo>
                  <a:lnTo>
                    <a:pt x="0" y="0"/>
                  </a:lnTo>
                  <a:lnTo>
                    <a:pt x="1500124" y="1350111"/>
                  </a:lnTo>
                </a:path>
                <a:path w="1500504" h="1371600">
                  <a:moveTo>
                    <a:pt x="1500124" y="1371600"/>
                  </a:moveTo>
                  <a:lnTo>
                    <a:pt x="0" y="13716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14362" y="1270888"/>
            <a:ext cx="6128385" cy="2007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80000"/>
              <a:buFont typeface="Wingdings 2"/>
              <a:buChar char=""/>
              <a:tabLst>
                <a:tab pos="337185" algn="l"/>
              </a:tabLst>
            </a:pPr>
            <a:r>
              <a:rPr sz="3000" b="1" spc="-5" dirty="0">
                <a:solidFill>
                  <a:srgbClr val="0000FF"/>
                </a:solidFill>
                <a:latin typeface="Calibri"/>
                <a:cs typeface="Calibri"/>
              </a:rPr>
              <a:t>Approach </a:t>
            </a:r>
            <a:r>
              <a:rPr sz="3000" b="1" spc="-15" dirty="0">
                <a:solidFill>
                  <a:srgbClr val="0000FF"/>
                </a:solidFill>
                <a:latin typeface="Calibri"/>
                <a:cs typeface="Calibri"/>
              </a:rPr>
              <a:t>1: </a:t>
            </a:r>
            <a:r>
              <a:rPr sz="3000" b="1" spc="-20" dirty="0">
                <a:solidFill>
                  <a:srgbClr val="0000FF"/>
                </a:solidFill>
                <a:latin typeface="Calibri"/>
                <a:cs typeface="Calibri"/>
              </a:rPr>
              <a:t>Triangular</a:t>
            </a:r>
            <a:r>
              <a:rPr sz="3000" b="1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00FF"/>
                </a:solidFill>
                <a:latin typeface="Calibri"/>
                <a:cs typeface="Calibri"/>
              </a:rPr>
              <a:t>Matrix</a:t>
            </a:r>
            <a:endParaRPr sz="3000">
              <a:latin typeface="Calibri"/>
              <a:cs typeface="Calibri"/>
            </a:endParaRPr>
          </a:p>
          <a:p>
            <a:pPr marL="632460" lvl="1" indent="-276860">
              <a:lnSpc>
                <a:spcPts val="3100"/>
              </a:lnSpc>
              <a:spcBef>
                <a:spcPts val="3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600" b="1" spc="10" dirty="0">
                <a:latin typeface="Calibri"/>
                <a:cs typeface="Calibri"/>
              </a:rPr>
              <a:t>n </a:t>
            </a:r>
            <a:r>
              <a:rPr sz="2600" spc="10" dirty="0">
                <a:latin typeface="Calibri"/>
                <a:cs typeface="Calibri"/>
              </a:rPr>
              <a:t>= total </a:t>
            </a:r>
            <a:r>
              <a:rPr sz="2600" spc="-10" dirty="0">
                <a:latin typeface="Calibri"/>
                <a:cs typeface="Calibri"/>
              </a:rPr>
              <a:t>number</a:t>
            </a:r>
            <a:r>
              <a:rPr sz="2600" spc="-185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items</a:t>
            </a:r>
            <a:endParaRPr sz="2600">
              <a:latin typeface="Calibri"/>
              <a:cs typeface="Calibri"/>
            </a:endParaRPr>
          </a:p>
          <a:p>
            <a:pPr marL="632460" lvl="1" indent="-276860">
              <a:lnSpc>
                <a:spcPts val="3100"/>
              </a:lnSpc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600" spc="-5" dirty="0">
                <a:latin typeface="Calibri"/>
                <a:cs typeface="Calibri"/>
              </a:rPr>
              <a:t>Count </a:t>
            </a:r>
            <a:r>
              <a:rPr sz="2600" spc="5" dirty="0">
                <a:latin typeface="Calibri"/>
                <a:cs typeface="Calibri"/>
              </a:rPr>
              <a:t>pair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spc="5" dirty="0">
                <a:latin typeface="Calibri"/>
                <a:cs typeface="Calibri"/>
              </a:rPr>
              <a:t>items </a:t>
            </a:r>
            <a:r>
              <a:rPr sz="2600" spc="15" dirty="0">
                <a:latin typeface="Calibri"/>
                <a:cs typeface="Calibri"/>
              </a:rPr>
              <a:t>{</a:t>
            </a:r>
            <a:r>
              <a:rPr sz="2600" i="1" spc="15" dirty="0">
                <a:latin typeface="Calibri"/>
                <a:cs typeface="Calibri"/>
              </a:rPr>
              <a:t>i</a:t>
            </a:r>
            <a:r>
              <a:rPr sz="2600" spc="15" dirty="0">
                <a:latin typeface="Calibri"/>
                <a:cs typeface="Calibri"/>
              </a:rPr>
              <a:t>, </a:t>
            </a:r>
            <a:r>
              <a:rPr sz="2600" i="1" spc="-10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} </a:t>
            </a:r>
            <a:r>
              <a:rPr sz="2600" spc="-5" dirty="0">
                <a:latin typeface="Calibri"/>
                <a:cs typeface="Calibri"/>
              </a:rPr>
              <a:t>only </a:t>
            </a:r>
            <a:r>
              <a:rPr sz="2600" spc="5" dirty="0">
                <a:latin typeface="Calibri"/>
                <a:cs typeface="Calibri"/>
              </a:rPr>
              <a:t>if</a:t>
            </a:r>
            <a:r>
              <a:rPr sz="2600" spc="-160" dirty="0">
                <a:latin typeface="Calibri"/>
                <a:cs typeface="Calibri"/>
              </a:rPr>
              <a:t> </a:t>
            </a:r>
            <a:r>
              <a:rPr sz="2600" i="1" spc="-5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&lt;</a:t>
            </a:r>
            <a:r>
              <a:rPr sz="2600" i="1" spc="-5" dirty="0">
                <a:latin typeface="Calibri"/>
                <a:cs typeface="Calibri"/>
              </a:rPr>
              <a:t>j</a:t>
            </a:r>
            <a:endParaRPr sz="260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3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600" spc="-30" dirty="0">
                <a:latin typeface="Calibri"/>
                <a:cs typeface="Calibri"/>
              </a:rPr>
              <a:t>Keep </a:t>
            </a:r>
            <a:r>
              <a:rPr sz="2600" spc="5" dirty="0">
                <a:latin typeface="Calibri"/>
                <a:cs typeface="Calibri"/>
              </a:rPr>
              <a:t>pair </a:t>
            </a:r>
            <a:r>
              <a:rPr sz="2600" dirty="0">
                <a:latin typeface="Calibri"/>
                <a:cs typeface="Calibri"/>
              </a:rPr>
              <a:t>counts </a:t>
            </a:r>
            <a:r>
              <a:rPr sz="2600" spc="10" dirty="0">
                <a:latin typeface="Calibri"/>
                <a:cs typeface="Calibri"/>
              </a:rPr>
              <a:t>in </a:t>
            </a:r>
            <a:r>
              <a:rPr sz="2600" spc="-15" dirty="0">
                <a:latin typeface="Calibri"/>
                <a:cs typeface="Calibri"/>
              </a:rPr>
              <a:t>lexicographic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order:</a:t>
            </a:r>
            <a:endParaRPr sz="2600">
              <a:latin typeface="Calibri"/>
              <a:cs typeface="Calibri"/>
            </a:endParaRPr>
          </a:p>
          <a:p>
            <a:pPr marL="899160" lvl="2" indent="-229235">
              <a:lnSpc>
                <a:spcPct val="100000"/>
              </a:lnSpc>
              <a:spcBef>
                <a:spcPts val="35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150" spc="5" dirty="0">
                <a:solidFill>
                  <a:srgbClr val="008000"/>
                </a:solidFill>
                <a:latin typeface="Calibri"/>
                <a:cs typeface="Calibri"/>
              </a:rPr>
              <a:t>{1,2}, {1,3},…, </a:t>
            </a:r>
            <a:r>
              <a:rPr sz="2150" spc="10" dirty="0">
                <a:solidFill>
                  <a:srgbClr val="008000"/>
                </a:solidFill>
                <a:latin typeface="Calibri"/>
                <a:cs typeface="Calibri"/>
              </a:rPr>
              <a:t>{1,</a:t>
            </a:r>
            <a:r>
              <a:rPr sz="2150" i="1" spc="10" dirty="0">
                <a:solidFill>
                  <a:srgbClr val="008000"/>
                </a:solidFill>
                <a:latin typeface="Calibri"/>
                <a:cs typeface="Calibri"/>
              </a:rPr>
              <a:t>n</a:t>
            </a:r>
            <a:r>
              <a:rPr sz="2150" spc="10" dirty="0">
                <a:solidFill>
                  <a:srgbClr val="008000"/>
                </a:solidFill>
                <a:latin typeface="Calibri"/>
                <a:cs typeface="Calibri"/>
              </a:rPr>
              <a:t>}, </a:t>
            </a:r>
            <a:r>
              <a:rPr sz="2150" spc="5" dirty="0">
                <a:solidFill>
                  <a:srgbClr val="008000"/>
                </a:solidFill>
                <a:latin typeface="Calibri"/>
                <a:cs typeface="Calibri"/>
              </a:rPr>
              <a:t>{2,3}, {2,4},…,{2,</a:t>
            </a:r>
            <a:r>
              <a:rPr sz="2150" i="1" spc="5" dirty="0">
                <a:solidFill>
                  <a:srgbClr val="008000"/>
                </a:solidFill>
                <a:latin typeface="Calibri"/>
                <a:cs typeface="Calibri"/>
              </a:rPr>
              <a:t>n</a:t>
            </a:r>
            <a:r>
              <a:rPr sz="2150" spc="5" dirty="0">
                <a:solidFill>
                  <a:srgbClr val="008000"/>
                </a:solidFill>
                <a:latin typeface="Calibri"/>
                <a:cs typeface="Calibri"/>
              </a:rPr>
              <a:t>},</a:t>
            </a:r>
            <a:r>
              <a:rPr sz="2150" spc="35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8000"/>
                </a:solidFill>
                <a:latin typeface="Calibri"/>
                <a:cs typeface="Calibri"/>
              </a:rPr>
              <a:t>{3,4},…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362" y="5763418"/>
            <a:ext cx="7703820" cy="769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6550" marR="5080" indent="-324485">
              <a:lnSpc>
                <a:spcPct val="79300"/>
              </a:lnSpc>
              <a:spcBef>
                <a:spcPts val="95"/>
              </a:spcBef>
            </a:pPr>
            <a:r>
              <a:rPr sz="2400" dirty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400" dirty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3000" spc="-15" dirty="0">
                <a:latin typeface="Calibri"/>
                <a:cs typeface="Calibri"/>
              </a:rPr>
              <a:t>Approach </a:t>
            </a:r>
            <a:r>
              <a:rPr sz="3000" dirty="0">
                <a:latin typeface="Calibri"/>
                <a:cs typeface="Calibri"/>
              </a:rPr>
              <a:t>2 </a:t>
            </a:r>
            <a:r>
              <a:rPr sz="3000" spc="-10" dirty="0">
                <a:latin typeface="Calibri"/>
                <a:cs typeface="Calibri"/>
              </a:rPr>
              <a:t>beats </a:t>
            </a:r>
            <a:r>
              <a:rPr sz="3000" spc="-15" dirty="0">
                <a:latin typeface="Calibri"/>
                <a:cs typeface="Calibri"/>
              </a:rPr>
              <a:t>Approach </a:t>
            </a:r>
            <a:r>
              <a:rPr sz="3000" dirty="0">
                <a:latin typeface="Calibri"/>
                <a:cs typeface="Calibri"/>
              </a:rPr>
              <a:t>1 </a:t>
            </a:r>
            <a:r>
              <a:rPr sz="3000" spc="-10" dirty="0">
                <a:latin typeface="Calibri"/>
                <a:cs typeface="Calibri"/>
              </a:rPr>
              <a:t>if </a:t>
            </a:r>
            <a:r>
              <a:rPr sz="3000" dirty="0">
                <a:latin typeface="Calibri"/>
                <a:cs typeface="Calibri"/>
              </a:rPr>
              <a:t>less </a:t>
            </a:r>
            <a:r>
              <a:rPr sz="3000" spc="-15" dirty="0">
                <a:latin typeface="Calibri"/>
                <a:cs typeface="Calibri"/>
              </a:rPr>
              <a:t>than </a:t>
            </a:r>
            <a:r>
              <a:rPr sz="3000" b="1" spc="-15" dirty="0">
                <a:latin typeface="Calibri"/>
                <a:cs typeface="Calibri"/>
              </a:rPr>
              <a:t>1/3 </a:t>
            </a:r>
            <a:r>
              <a:rPr sz="3000" spc="-5" dirty="0">
                <a:latin typeface="Calibri"/>
                <a:cs typeface="Calibri"/>
              </a:rPr>
              <a:t>of  possible </a:t>
            </a:r>
            <a:r>
              <a:rPr sz="3000" spc="-20" dirty="0">
                <a:latin typeface="Calibri"/>
                <a:cs typeface="Calibri"/>
              </a:rPr>
              <a:t>pairs </a:t>
            </a:r>
            <a:r>
              <a:rPr sz="3000" spc="-15" dirty="0">
                <a:latin typeface="Calibri"/>
                <a:cs typeface="Calibri"/>
              </a:rPr>
              <a:t>actually</a:t>
            </a:r>
            <a:r>
              <a:rPr sz="3000" spc="9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occur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8962" y="3255327"/>
            <a:ext cx="8371205" cy="22383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57860" indent="-276860">
              <a:lnSpc>
                <a:spcPts val="3100"/>
              </a:lnSpc>
              <a:spcBef>
                <a:spcPts val="125"/>
              </a:spcBef>
              <a:buClr>
                <a:srgbClr val="5FB5CC"/>
              </a:buClr>
              <a:buFont typeface="Wingdings"/>
              <a:buChar char=""/>
              <a:tabLst>
                <a:tab pos="657860" algn="l"/>
              </a:tabLst>
            </a:pPr>
            <a:r>
              <a:rPr sz="2600" spc="-10" dirty="0">
                <a:latin typeface="Calibri"/>
                <a:cs typeface="Calibri"/>
              </a:rPr>
              <a:t>Pair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{</a:t>
            </a:r>
            <a:r>
              <a:rPr sz="2600" i="1" spc="5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}</a:t>
            </a:r>
            <a:r>
              <a:rPr sz="2600" spc="5" dirty="0">
                <a:latin typeface="Calibri"/>
                <a:cs typeface="Calibri"/>
              </a:rPr>
              <a:t> 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15" dirty="0">
                <a:latin typeface="Calibri"/>
                <a:cs typeface="Calibri"/>
              </a:rPr>
              <a:t>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position:</a:t>
            </a:r>
            <a:r>
              <a:rPr sz="2600" spc="65" dirty="0">
                <a:latin typeface="Calibri"/>
                <a:cs typeface="Calibri"/>
              </a:rPr>
              <a:t> </a:t>
            </a:r>
            <a:r>
              <a:rPr sz="2600" b="1" spc="5" dirty="0">
                <a:solidFill>
                  <a:srgbClr val="008000"/>
                </a:solidFill>
                <a:latin typeface="Calibri"/>
                <a:cs typeface="Calibri"/>
              </a:rPr>
              <a:t>[n(n</a:t>
            </a:r>
            <a:r>
              <a:rPr sz="2600" b="1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600" b="1" spc="5" dirty="0">
                <a:solidFill>
                  <a:srgbClr val="008000"/>
                </a:solidFill>
                <a:latin typeface="Calibri"/>
                <a:cs typeface="Calibri"/>
              </a:rPr>
              <a:t>-</a:t>
            </a:r>
            <a:r>
              <a:rPr sz="2600" b="1" spc="-4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600" b="1" spc="15" dirty="0">
                <a:solidFill>
                  <a:srgbClr val="008000"/>
                </a:solidFill>
                <a:latin typeface="Calibri"/>
                <a:cs typeface="Calibri"/>
              </a:rPr>
              <a:t>1)</a:t>
            </a:r>
            <a:r>
              <a:rPr sz="2600" b="1" spc="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600" b="1" spc="5" dirty="0">
                <a:solidFill>
                  <a:srgbClr val="008000"/>
                </a:solidFill>
                <a:latin typeface="Calibri"/>
                <a:cs typeface="Calibri"/>
              </a:rPr>
              <a:t>-</a:t>
            </a:r>
            <a:r>
              <a:rPr sz="2600" b="1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600" b="1" spc="10" dirty="0">
                <a:solidFill>
                  <a:srgbClr val="008000"/>
                </a:solidFill>
                <a:latin typeface="Calibri"/>
                <a:cs typeface="Calibri"/>
              </a:rPr>
              <a:t>(n</a:t>
            </a:r>
            <a:r>
              <a:rPr sz="2600" b="1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600" b="1" spc="5" dirty="0">
                <a:solidFill>
                  <a:srgbClr val="008000"/>
                </a:solidFill>
                <a:latin typeface="Calibri"/>
                <a:cs typeface="Calibri"/>
              </a:rPr>
              <a:t>-</a:t>
            </a:r>
            <a:r>
              <a:rPr sz="2600" b="1" spc="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600" b="1" spc="15" dirty="0">
                <a:solidFill>
                  <a:srgbClr val="008000"/>
                </a:solidFill>
                <a:latin typeface="Calibri"/>
                <a:cs typeface="Calibri"/>
              </a:rPr>
              <a:t>i)(n</a:t>
            </a:r>
            <a:r>
              <a:rPr sz="2600" b="1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600" b="1" spc="5" dirty="0">
                <a:solidFill>
                  <a:srgbClr val="008000"/>
                </a:solidFill>
                <a:latin typeface="Calibri"/>
                <a:cs typeface="Calibri"/>
              </a:rPr>
              <a:t>-</a:t>
            </a:r>
            <a:r>
              <a:rPr sz="2600" b="1" spc="-4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600" b="1" spc="5" dirty="0">
                <a:solidFill>
                  <a:srgbClr val="008000"/>
                </a:solidFill>
                <a:latin typeface="Calibri"/>
                <a:cs typeface="Calibri"/>
              </a:rPr>
              <a:t>i</a:t>
            </a:r>
            <a:r>
              <a:rPr sz="2600" b="1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600" b="1" spc="10" dirty="0">
                <a:solidFill>
                  <a:srgbClr val="008000"/>
                </a:solidFill>
                <a:latin typeface="Calibri"/>
                <a:cs typeface="Calibri"/>
              </a:rPr>
              <a:t>+</a:t>
            </a:r>
            <a:r>
              <a:rPr sz="2600" b="1" spc="5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600" b="1" spc="5" dirty="0">
                <a:solidFill>
                  <a:srgbClr val="008000"/>
                </a:solidFill>
                <a:latin typeface="Calibri"/>
                <a:cs typeface="Calibri"/>
              </a:rPr>
              <a:t>1)]/2</a:t>
            </a:r>
            <a:r>
              <a:rPr sz="2600" b="1" spc="-1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600" b="1" spc="10" dirty="0">
                <a:solidFill>
                  <a:srgbClr val="008000"/>
                </a:solidFill>
                <a:latin typeface="Calibri"/>
                <a:cs typeface="Calibri"/>
              </a:rPr>
              <a:t>+</a:t>
            </a:r>
            <a:r>
              <a:rPr sz="2600" b="1" spc="5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600" b="1" spc="45" dirty="0">
                <a:solidFill>
                  <a:srgbClr val="008000"/>
                </a:solidFill>
                <a:latin typeface="Calibri"/>
                <a:cs typeface="Calibri"/>
              </a:rPr>
              <a:t>(j</a:t>
            </a:r>
            <a:r>
              <a:rPr sz="2600" b="1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600" b="1" spc="5" dirty="0">
                <a:solidFill>
                  <a:srgbClr val="008000"/>
                </a:solidFill>
                <a:latin typeface="Calibri"/>
                <a:cs typeface="Calibri"/>
              </a:rPr>
              <a:t>-</a:t>
            </a:r>
            <a:r>
              <a:rPr sz="2600" b="1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600" b="1" spc="20" dirty="0">
                <a:solidFill>
                  <a:srgbClr val="008000"/>
                </a:solidFill>
                <a:latin typeface="Calibri"/>
                <a:cs typeface="Calibri"/>
              </a:rPr>
              <a:t>i)</a:t>
            </a:r>
            <a:endParaRPr sz="2600">
              <a:latin typeface="Calibri"/>
              <a:cs typeface="Calibri"/>
            </a:endParaRPr>
          </a:p>
          <a:p>
            <a:pPr marL="657860" indent="-276860">
              <a:lnSpc>
                <a:spcPts val="3100"/>
              </a:lnSpc>
              <a:buClr>
                <a:srgbClr val="5FB5CC"/>
              </a:buClr>
              <a:buFont typeface="Wingdings"/>
              <a:buChar char=""/>
              <a:tabLst>
                <a:tab pos="657860" algn="l"/>
              </a:tabLst>
            </a:pPr>
            <a:r>
              <a:rPr sz="2600" spc="-40" dirty="0">
                <a:latin typeface="Calibri"/>
                <a:cs typeface="Calibri"/>
              </a:rPr>
              <a:t>Total </a:t>
            </a:r>
            <a:r>
              <a:rPr sz="2600" spc="-10" dirty="0">
                <a:latin typeface="Calibri"/>
                <a:cs typeface="Calibri"/>
              </a:rPr>
              <a:t>number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spc="-15" dirty="0">
                <a:latin typeface="Calibri"/>
                <a:cs typeface="Calibri"/>
              </a:rPr>
              <a:t>pairs </a:t>
            </a:r>
            <a:r>
              <a:rPr sz="2600" b="1" i="1" dirty="0">
                <a:latin typeface="Calibri"/>
                <a:cs typeface="Calibri"/>
              </a:rPr>
              <a:t>n</a:t>
            </a:r>
            <a:r>
              <a:rPr sz="2600" b="1" dirty="0">
                <a:latin typeface="Calibri"/>
                <a:cs typeface="Calibri"/>
              </a:rPr>
              <a:t>(</a:t>
            </a:r>
            <a:r>
              <a:rPr sz="2600" b="1" i="1" dirty="0">
                <a:latin typeface="Calibri"/>
                <a:cs typeface="Calibri"/>
              </a:rPr>
              <a:t>n </a:t>
            </a:r>
            <a:r>
              <a:rPr sz="2600" b="1" spc="10" dirty="0">
                <a:latin typeface="Calibri"/>
                <a:cs typeface="Calibri"/>
              </a:rPr>
              <a:t>–1)/2</a:t>
            </a:r>
            <a:r>
              <a:rPr sz="2600" spc="10" dirty="0">
                <a:latin typeface="Calibri"/>
                <a:cs typeface="Calibri"/>
              </a:rPr>
              <a:t>; total </a:t>
            </a:r>
            <a:r>
              <a:rPr sz="2600" spc="5" dirty="0">
                <a:latin typeface="Calibri"/>
                <a:cs typeface="Calibri"/>
              </a:rPr>
              <a:t>bytes=</a:t>
            </a:r>
            <a:r>
              <a:rPr sz="2600" spc="-305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O</a:t>
            </a:r>
            <a:r>
              <a:rPr sz="2600" b="1" spc="10" dirty="0">
                <a:latin typeface="Calibri"/>
                <a:cs typeface="Calibri"/>
              </a:rPr>
              <a:t>(</a:t>
            </a:r>
            <a:r>
              <a:rPr sz="2600" b="1" i="1" spc="10" dirty="0">
                <a:latin typeface="Calibri"/>
                <a:cs typeface="Calibri"/>
              </a:rPr>
              <a:t>n</a:t>
            </a:r>
            <a:r>
              <a:rPr sz="2550" b="1" spc="15" baseline="24509" dirty="0">
                <a:latin typeface="Calibri"/>
                <a:cs typeface="Calibri"/>
              </a:rPr>
              <a:t>2</a:t>
            </a:r>
            <a:r>
              <a:rPr sz="2600" b="1" spc="1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  <a:p>
            <a:pPr marL="657860" indent="-276860">
              <a:lnSpc>
                <a:spcPct val="100000"/>
              </a:lnSpc>
              <a:spcBef>
                <a:spcPts val="35"/>
              </a:spcBef>
              <a:buClr>
                <a:srgbClr val="5FB5CC"/>
              </a:buClr>
              <a:buFont typeface="Wingdings"/>
              <a:buChar char=""/>
              <a:tabLst>
                <a:tab pos="657860" algn="l"/>
              </a:tabLst>
            </a:pPr>
            <a:r>
              <a:rPr sz="2600" b="1" spc="-5" dirty="0">
                <a:solidFill>
                  <a:srgbClr val="0000FF"/>
                </a:solidFill>
                <a:latin typeface="Calibri"/>
                <a:cs typeface="Calibri"/>
              </a:rPr>
              <a:t>Triangular </a:t>
            </a:r>
            <a:r>
              <a:rPr sz="2600" b="1" spc="5" dirty="0">
                <a:solidFill>
                  <a:srgbClr val="0000FF"/>
                </a:solidFill>
                <a:latin typeface="Calibri"/>
                <a:cs typeface="Calibri"/>
              </a:rPr>
              <a:t>Matrix </a:t>
            </a:r>
            <a:r>
              <a:rPr sz="2600" spc="-15" dirty="0">
                <a:latin typeface="Calibri"/>
                <a:cs typeface="Calibri"/>
              </a:rPr>
              <a:t>requires </a:t>
            </a:r>
            <a:r>
              <a:rPr sz="2600" spc="15" dirty="0">
                <a:latin typeface="Calibri"/>
                <a:cs typeface="Calibri"/>
              </a:rPr>
              <a:t>4 </a:t>
            </a:r>
            <a:r>
              <a:rPr sz="2600" dirty="0">
                <a:latin typeface="Calibri"/>
                <a:cs typeface="Calibri"/>
              </a:rPr>
              <a:t>bytes </a:t>
            </a:r>
            <a:r>
              <a:rPr sz="2600" spc="-10" dirty="0">
                <a:latin typeface="Calibri"/>
                <a:cs typeface="Calibri"/>
              </a:rPr>
              <a:t>per</a:t>
            </a:r>
            <a:r>
              <a:rPr sz="2600" spc="-229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pair</a:t>
            </a:r>
            <a:endParaRPr sz="2600">
              <a:latin typeface="Calibri"/>
              <a:cs typeface="Calibri"/>
            </a:endParaRPr>
          </a:p>
          <a:p>
            <a:pPr marL="361950" indent="-324485">
              <a:lnSpc>
                <a:spcPts val="3265"/>
              </a:lnSpc>
              <a:spcBef>
                <a:spcPts val="1515"/>
              </a:spcBef>
              <a:buClr>
                <a:srgbClr val="EFAC00"/>
              </a:buClr>
              <a:buSzPct val="80000"/>
              <a:buFont typeface="Wingdings 2"/>
              <a:buChar char=""/>
              <a:tabLst>
                <a:tab pos="362585" algn="l"/>
              </a:tabLst>
            </a:pPr>
            <a:r>
              <a:rPr sz="3000" b="1" spc="-5" dirty="0">
                <a:solidFill>
                  <a:srgbClr val="FF0066"/>
                </a:solidFill>
                <a:latin typeface="Calibri"/>
                <a:cs typeface="Calibri"/>
              </a:rPr>
              <a:t>Approach </a:t>
            </a:r>
            <a:r>
              <a:rPr sz="3000" b="1" dirty="0">
                <a:solidFill>
                  <a:srgbClr val="FF0066"/>
                </a:solidFill>
                <a:latin typeface="Calibri"/>
                <a:cs typeface="Calibri"/>
              </a:rPr>
              <a:t>2 </a:t>
            </a:r>
            <a:r>
              <a:rPr sz="3000" spc="5" dirty="0">
                <a:latin typeface="Calibri"/>
                <a:cs typeface="Calibri"/>
              </a:rPr>
              <a:t>uses </a:t>
            </a:r>
            <a:r>
              <a:rPr sz="3000" b="1" spc="-15" dirty="0">
                <a:latin typeface="Calibri"/>
                <a:cs typeface="Calibri"/>
              </a:rPr>
              <a:t>12 </a:t>
            </a:r>
            <a:r>
              <a:rPr sz="3000" b="1" i="1" spc="5" dirty="0">
                <a:latin typeface="Calibri"/>
                <a:cs typeface="Calibri"/>
              </a:rPr>
              <a:t>bytes </a:t>
            </a:r>
            <a:r>
              <a:rPr sz="3000" spc="-5" dirty="0">
                <a:latin typeface="Calibri"/>
                <a:cs typeface="Calibri"/>
              </a:rPr>
              <a:t>per occurring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pair</a:t>
            </a:r>
            <a:endParaRPr sz="3000">
              <a:latin typeface="Calibri"/>
              <a:cs typeface="Calibri"/>
            </a:endParaRPr>
          </a:p>
          <a:p>
            <a:pPr marL="361950">
              <a:lnSpc>
                <a:spcPts val="3265"/>
              </a:lnSpc>
            </a:pPr>
            <a:r>
              <a:rPr sz="3000" i="1" spc="10" dirty="0">
                <a:latin typeface="Calibri"/>
                <a:cs typeface="Calibri"/>
              </a:rPr>
              <a:t>(but</a:t>
            </a:r>
            <a:r>
              <a:rPr sz="3000" i="1" spc="-120" dirty="0">
                <a:latin typeface="Calibri"/>
                <a:cs typeface="Calibri"/>
              </a:rPr>
              <a:t> </a:t>
            </a:r>
            <a:r>
              <a:rPr sz="3000" i="1" spc="10" dirty="0">
                <a:latin typeface="Calibri"/>
                <a:cs typeface="Calibri"/>
              </a:rPr>
              <a:t>only</a:t>
            </a:r>
            <a:r>
              <a:rPr sz="3000" i="1" spc="-75" dirty="0">
                <a:latin typeface="Calibri"/>
                <a:cs typeface="Calibri"/>
              </a:rPr>
              <a:t> </a:t>
            </a:r>
            <a:r>
              <a:rPr sz="3000" i="1" spc="5" dirty="0">
                <a:latin typeface="Calibri"/>
                <a:cs typeface="Calibri"/>
              </a:rPr>
              <a:t>for</a:t>
            </a:r>
            <a:r>
              <a:rPr sz="3000" i="1" spc="-65" dirty="0">
                <a:latin typeface="Calibri"/>
                <a:cs typeface="Calibri"/>
              </a:rPr>
              <a:t> </a:t>
            </a:r>
            <a:r>
              <a:rPr sz="3000" i="1" spc="10" dirty="0">
                <a:latin typeface="Calibri"/>
                <a:cs typeface="Calibri"/>
              </a:rPr>
              <a:t>pairs</a:t>
            </a:r>
            <a:r>
              <a:rPr sz="3000" i="1" spc="-55" dirty="0">
                <a:latin typeface="Calibri"/>
                <a:cs typeface="Calibri"/>
              </a:rPr>
              <a:t> </a:t>
            </a:r>
            <a:r>
              <a:rPr sz="3000" i="1" spc="-5" dirty="0">
                <a:latin typeface="Calibri"/>
                <a:cs typeface="Calibri"/>
              </a:rPr>
              <a:t>with</a:t>
            </a:r>
            <a:r>
              <a:rPr sz="3000" i="1" spc="-55" dirty="0">
                <a:latin typeface="Calibri"/>
                <a:cs typeface="Calibri"/>
              </a:rPr>
              <a:t> </a:t>
            </a:r>
            <a:r>
              <a:rPr sz="3000" i="1" spc="20" dirty="0">
                <a:latin typeface="Calibri"/>
                <a:cs typeface="Calibri"/>
              </a:rPr>
              <a:t>count</a:t>
            </a:r>
            <a:r>
              <a:rPr sz="3000" i="1" spc="-19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&gt; </a:t>
            </a:r>
            <a:r>
              <a:rPr sz="3000" i="1" spc="-10" dirty="0">
                <a:latin typeface="Calibri"/>
                <a:cs typeface="Calibri"/>
              </a:rPr>
              <a:t>0)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17180" y="2509202"/>
            <a:ext cx="5822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"/>
                <a:cs typeface="Arial"/>
              </a:rPr>
              <a:t>Item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21326" y="1616575"/>
            <a:ext cx="281305" cy="5810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"/>
                <a:cs typeface="Arial"/>
              </a:rPr>
              <a:t>Item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j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6377D40-B3BF-4B74-9C06-BDB57D8ED07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2202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5133975"/>
            </a:xfrm>
            <a:custGeom>
              <a:avLst/>
              <a:gdLst/>
              <a:ahLst/>
              <a:cxnLst/>
              <a:rect l="l" t="t" r="r" b="b"/>
              <a:pathLst>
                <a:path w="9144000" h="5133975">
                  <a:moveTo>
                    <a:pt x="9144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144000" y="51339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86286"/>
              <a:ext cx="9144000" cy="138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4450"/>
              <a:ext cx="9144000" cy="47625"/>
            </a:xfrm>
            <a:custGeom>
              <a:avLst/>
              <a:gdLst/>
              <a:ahLst/>
              <a:cxnLst/>
              <a:rect l="l" t="t" r="r" b="b"/>
              <a:pathLst>
                <a:path w="9144000" h="47625">
                  <a:moveTo>
                    <a:pt x="9144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44000" y="476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FC8D84B-8AF9-4ABB-AF8C-ED978638D2A0}"/>
              </a:ext>
            </a:extLst>
          </p:cNvPr>
          <p:cNvSpPr txBox="1"/>
          <p:nvPr/>
        </p:nvSpPr>
        <p:spPr>
          <a:xfrm>
            <a:off x="304800" y="2383133"/>
            <a:ext cx="8839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b="1" dirty="0">
                <a:solidFill>
                  <a:srgbClr val="FFC000"/>
                </a:solidFill>
                <a:latin typeface="Palatino Linotype" panose="02040502050505030304" pitchFamily="18" charset="0"/>
              </a:rPr>
              <a:t>A-Priori Algorithm</a:t>
            </a:r>
          </a:p>
          <a:p>
            <a:pPr algn="ctr"/>
            <a:endParaRPr lang="en-AU" sz="32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5CD88EF-8FB2-49FA-A083-EA2D07B6E2B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891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33311"/>
            <a:ext cx="5672201" cy="5857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347787"/>
            <a:ext cx="7883525" cy="520065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36550" marR="2967990" indent="-324485">
              <a:lnSpc>
                <a:spcPts val="3829"/>
              </a:lnSpc>
              <a:spcBef>
                <a:spcPts val="26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15" dirty="0">
                <a:latin typeface="Calibri"/>
                <a:cs typeface="Calibri"/>
              </a:rPr>
              <a:t>A </a:t>
            </a:r>
            <a:r>
              <a:rPr sz="3200" b="1" dirty="0">
                <a:latin typeface="Calibri"/>
                <a:cs typeface="Calibri"/>
              </a:rPr>
              <a:t>two-pass </a:t>
            </a:r>
            <a:r>
              <a:rPr sz="3200" spc="15" dirty="0">
                <a:latin typeface="Calibri"/>
                <a:cs typeface="Calibri"/>
              </a:rPr>
              <a:t>approach</a:t>
            </a:r>
            <a:r>
              <a:rPr sz="3200" spc="-30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called  </a:t>
            </a:r>
            <a:r>
              <a:rPr sz="3200" b="1" i="1" spc="10" dirty="0">
                <a:solidFill>
                  <a:srgbClr val="0000FF"/>
                </a:solidFill>
                <a:latin typeface="Calibri"/>
                <a:cs typeface="Calibri"/>
              </a:rPr>
              <a:t>A-Priori </a:t>
            </a:r>
            <a:r>
              <a:rPr sz="3200" spc="5" dirty="0">
                <a:latin typeface="Calibri"/>
                <a:cs typeface="Calibri"/>
              </a:rPr>
              <a:t>limits </a:t>
            </a:r>
            <a:r>
              <a:rPr sz="3200" spc="10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need </a:t>
            </a:r>
            <a:r>
              <a:rPr sz="3200" spc="-10" dirty="0">
                <a:latin typeface="Calibri"/>
                <a:cs typeface="Calibri"/>
              </a:rPr>
              <a:t>for  </a:t>
            </a:r>
            <a:r>
              <a:rPr sz="3200" spc="10" dirty="0">
                <a:latin typeface="Calibri"/>
                <a:cs typeface="Calibri"/>
              </a:rPr>
              <a:t>main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memory</a:t>
            </a:r>
            <a:endParaRPr sz="3200">
              <a:latin typeface="Calibri"/>
              <a:cs typeface="Calibri"/>
            </a:endParaRPr>
          </a:p>
          <a:p>
            <a:pPr marL="336550" indent="-324485">
              <a:lnSpc>
                <a:spcPts val="3779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5" dirty="0">
                <a:solidFill>
                  <a:srgbClr val="008000"/>
                </a:solidFill>
                <a:latin typeface="Calibri"/>
                <a:cs typeface="Calibri"/>
              </a:rPr>
              <a:t>Key </a:t>
            </a:r>
            <a:r>
              <a:rPr sz="3200" b="1" spc="15" dirty="0">
                <a:solidFill>
                  <a:srgbClr val="008000"/>
                </a:solidFill>
                <a:latin typeface="Calibri"/>
                <a:cs typeface="Calibri"/>
              </a:rPr>
              <a:t>idea:</a:t>
            </a:r>
            <a:r>
              <a:rPr sz="3200" b="1" spc="-20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b="1" i="1" spc="10" dirty="0">
                <a:solidFill>
                  <a:srgbClr val="FF0066"/>
                </a:solidFill>
                <a:latin typeface="Calibri"/>
                <a:cs typeface="Calibri"/>
              </a:rPr>
              <a:t>monotonicity</a:t>
            </a:r>
            <a:endParaRPr sz="320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5" dirty="0">
                <a:latin typeface="Calibri"/>
                <a:cs typeface="Calibri"/>
              </a:rPr>
              <a:t>If </a:t>
            </a:r>
            <a:r>
              <a:rPr sz="2750" spc="10" dirty="0">
                <a:latin typeface="Calibri"/>
                <a:cs typeface="Calibri"/>
              </a:rPr>
              <a:t>a </a:t>
            </a:r>
            <a:r>
              <a:rPr sz="2750" spc="-15" dirty="0">
                <a:latin typeface="Calibri"/>
                <a:cs typeface="Calibri"/>
              </a:rPr>
              <a:t>set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5" dirty="0">
                <a:latin typeface="Calibri"/>
                <a:cs typeface="Calibri"/>
              </a:rPr>
              <a:t>items </a:t>
            </a:r>
            <a:r>
              <a:rPr sz="2750" b="1" i="1" spc="10" dirty="0">
                <a:latin typeface="Times New Roman"/>
                <a:cs typeface="Times New Roman"/>
              </a:rPr>
              <a:t>I </a:t>
            </a:r>
            <a:r>
              <a:rPr sz="2750" spc="-10" dirty="0">
                <a:latin typeface="Calibri"/>
                <a:cs typeface="Calibri"/>
              </a:rPr>
              <a:t>appears</a:t>
            </a:r>
            <a:r>
              <a:rPr sz="2750" spc="34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at</a:t>
            </a:r>
            <a:endParaRPr sz="2750">
              <a:latin typeface="Calibri"/>
              <a:cs typeface="Calibri"/>
            </a:endParaRPr>
          </a:p>
          <a:p>
            <a:pPr marL="632460">
              <a:lnSpc>
                <a:spcPts val="3265"/>
              </a:lnSpc>
              <a:spcBef>
                <a:spcPts val="80"/>
              </a:spcBef>
            </a:pPr>
            <a:r>
              <a:rPr sz="2750" spc="-10" dirty="0">
                <a:latin typeface="Calibri"/>
                <a:cs typeface="Calibri"/>
              </a:rPr>
              <a:t>least </a:t>
            </a:r>
            <a:r>
              <a:rPr sz="2750" b="1" i="1" spc="10" dirty="0">
                <a:latin typeface="Times New Roman"/>
                <a:cs typeface="Times New Roman"/>
              </a:rPr>
              <a:t>s </a:t>
            </a:r>
            <a:r>
              <a:rPr sz="2750" spc="-10" dirty="0">
                <a:latin typeface="Calibri"/>
                <a:cs typeface="Calibri"/>
              </a:rPr>
              <a:t>times, </a:t>
            </a:r>
            <a:r>
              <a:rPr sz="2750" spc="-5" dirty="0">
                <a:latin typeface="Calibri"/>
                <a:cs typeface="Calibri"/>
              </a:rPr>
              <a:t>so </a:t>
            </a:r>
            <a:r>
              <a:rPr sz="2750" spc="5" dirty="0">
                <a:latin typeface="Calibri"/>
                <a:cs typeface="Calibri"/>
              </a:rPr>
              <a:t>does every </a:t>
            </a:r>
            <a:r>
              <a:rPr sz="2750" b="1" spc="20" dirty="0">
                <a:latin typeface="Calibri"/>
                <a:cs typeface="Calibri"/>
              </a:rPr>
              <a:t>subset </a:t>
            </a:r>
            <a:r>
              <a:rPr sz="2750" b="1" i="1" spc="15" dirty="0">
                <a:latin typeface="Times New Roman"/>
                <a:cs typeface="Times New Roman"/>
              </a:rPr>
              <a:t>J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340" dirty="0">
                <a:latin typeface="Calibri"/>
                <a:cs typeface="Calibri"/>
              </a:rPr>
              <a:t> </a:t>
            </a:r>
            <a:r>
              <a:rPr sz="2750" b="1" i="1" spc="10" dirty="0">
                <a:latin typeface="Times New Roman"/>
                <a:cs typeface="Times New Roman"/>
              </a:rPr>
              <a:t>I</a:t>
            </a:r>
            <a:endParaRPr sz="2750">
              <a:latin typeface="Times New Roman"/>
              <a:cs typeface="Times New Roman"/>
            </a:endParaRPr>
          </a:p>
          <a:p>
            <a:pPr marL="336550" indent="-324485">
              <a:lnSpc>
                <a:spcPts val="3804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dirty="0">
                <a:solidFill>
                  <a:srgbClr val="008000"/>
                </a:solidFill>
                <a:latin typeface="Calibri"/>
                <a:cs typeface="Calibri"/>
              </a:rPr>
              <a:t>Contrapositive </a:t>
            </a:r>
            <a:r>
              <a:rPr sz="3200" b="1" spc="-10" dirty="0">
                <a:solidFill>
                  <a:srgbClr val="008000"/>
                </a:solidFill>
                <a:latin typeface="Calibri"/>
                <a:cs typeface="Calibri"/>
              </a:rPr>
              <a:t>for</a:t>
            </a:r>
            <a:r>
              <a:rPr sz="3200" b="1" spc="-254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8000"/>
                </a:solidFill>
                <a:latin typeface="Calibri"/>
                <a:cs typeface="Calibri"/>
              </a:rPr>
              <a:t>pairs:</a:t>
            </a:r>
            <a:endParaRPr sz="3200">
              <a:latin typeface="Calibri"/>
              <a:cs typeface="Calibri"/>
            </a:endParaRPr>
          </a:p>
          <a:p>
            <a:pPr marL="336550" marR="5080">
              <a:lnSpc>
                <a:spcPct val="100000"/>
              </a:lnSpc>
              <a:spcBef>
                <a:spcPts val="65"/>
              </a:spcBef>
            </a:pPr>
            <a:r>
              <a:rPr sz="3200" spc="10" dirty="0">
                <a:latin typeface="Calibri"/>
                <a:cs typeface="Calibri"/>
              </a:rPr>
              <a:t>If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item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b="1" i="1" spc="5" dirty="0">
                <a:latin typeface="Times New Roman"/>
                <a:cs typeface="Times New Roman"/>
              </a:rPr>
              <a:t>i</a:t>
            </a:r>
            <a:r>
              <a:rPr sz="3200" b="1" i="1" spc="-55" dirty="0">
                <a:latin typeface="Times New Roman"/>
                <a:cs typeface="Times New Roman"/>
              </a:rPr>
              <a:t> </a:t>
            </a:r>
            <a:r>
              <a:rPr sz="3200" spc="15" dirty="0">
                <a:latin typeface="Calibri"/>
                <a:cs typeface="Calibri"/>
              </a:rPr>
              <a:t>does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not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appear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in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b="1" i="1" spc="10" dirty="0">
                <a:latin typeface="Times New Roman"/>
                <a:cs typeface="Times New Roman"/>
              </a:rPr>
              <a:t>s</a:t>
            </a:r>
            <a:r>
              <a:rPr sz="3200" b="1" i="1" spc="-11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Calibri"/>
                <a:cs typeface="Calibri"/>
              </a:rPr>
              <a:t>baskets,</a:t>
            </a:r>
            <a:r>
              <a:rPr sz="3200" spc="-1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no  </a:t>
            </a:r>
            <a:r>
              <a:rPr sz="3200" spc="20" dirty="0">
                <a:latin typeface="Calibri"/>
                <a:cs typeface="Calibri"/>
              </a:rPr>
              <a:t>pair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including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b="1" i="1" spc="5" dirty="0">
                <a:latin typeface="Times New Roman"/>
                <a:cs typeface="Times New Roman"/>
              </a:rPr>
              <a:t>i</a:t>
            </a:r>
            <a:r>
              <a:rPr sz="3200" b="1" i="1" spc="-125" dirty="0">
                <a:latin typeface="Times New Roman"/>
                <a:cs typeface="Times New Roman"/>
              </a:rPr>
              <a:t> </a:t>
            </a:r>
            <a:r>
              <a:rPr sz="3200" spc="15" dirty="0">
                <a:latin typeface="Calibri"/>
                <a:cs typeface="Calibri"/>
              </a:rPr>
              <a:t>can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appear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in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b="1" i="1" spc="10" dirty="0">
                <a:latin typeface="Times New Roman"/>
                <a:cs typeface="Times New Roman"/>
              </a:rPr>
              <a:t>s</a:t>
            </a:r>
            <a:r>
              <a:rPr sz="3200" b="1" i="1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baskets</a:t>
            </a:r>
            <a:endParaRPr sz="3200">
              <a:latin typeface="Calibri"/>
              <a:cs typeface="Calibri"/>
            </a:endParaRPr>
          </a:p>
          <a:p>
            <a:pPr marL="336550" indent="-324485">
              <a:lnSpc>
                <a:spcPct val="100000"/>
              </a:lnSpc>
              <a:spcBef>
                <a:spcPts val="253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25" dirty="0">
                <a:solidFill>
                  <a:srgbClr val="FF0066"/>
                </a:solidFill>
                <a:latin typeface="Calibri"/>
                <a:cs typeface="Calibri"/>
              </a:rPr>
              <a:t>So, </a:t>
            </a:r>
            <a:r>
              <a:rPr sz="3200" b="1" spc="10" dirty="0">
                <a:solidFill>
                  <a:srgbClr val="FF0066"/>
                </a:solidFill>
                <a:latin typeface="Calibri"/>
                <a:cs typeface="Calibri"/>
              </a:rPr>
              <a:t>how </a:t>
            </a:r>
            <a:r>
              <a:rPr sz="3200" b="1" spc="15" dirty="0">
                <a:solidFill>
                  <a:srgbClr val="FF0066"/>
                </a:solidFill>
                <a:latin typeface="Calibri"/>
                <a:cs typeface="Calibri"/>
              </a:rPr>
              <a:t>does </a:t>
            </a:r>
            <a:r>
              <a:rPr sz="3200" b="1" dirty="0">
                <a:solidFill>
                  <a:srgbClr val="FF0066"/>
                </a:solidFill>
                <a:latin typeface="Calibri"/>
                <a:cs typeface="Calibri"/>
              </a:rPr>
              <a:t>A-Priori </a:t>
            </a:r>
            <a:r>
              <a:rPr sz="3200" b="1" spc="20" dirty="0">
                <a:solidFill>
                  <a:srgbClr val="FF0066"/>
                </a:solidFill>
                <a:latin typeface="Calibri"/>
                <a:cs typeface="Calibri"/>
              </a:rPr>
              <a:t>find </a:t>
            </a:r>
            <a:r>
              <a:rPr sz="3200" b="1" spc="10" dirty="0">
                <a:solidFill>
                  <a:srgbClr val="FF0066"/>
                </a:solidFill>
                <a:latin typeface="Calibri"/>
                <a:cs typeface="Calibri"/>
              </a:rPr>
              <a:t>freq.</a:t>
            </a:r>
            <a:r>
              <a:rPr sz="3200" b="1" spc="-395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66"/>
                </a:solidFill>
                <a:latin typeface="Calibri"/>
                <a:cs typeface="Calibri"/>
              </a:rPr>
              <a:t>pairs?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71546" y="1343449"/>
            <a:ext cx="3004217" cy="233841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71A4DD-0A56-4596-862D-2CD165471B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33311"/>
            <a:ext cx="5672201" cy="5857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308988"/>
            <a:ext cx="8452485" cy="1962076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36550" marR="674370" indent="-324485">
              <a:lnSpc>
                <a:spcPts val="3229"/>
              </a:lnSpc>
              <a:spcBef>
                <a:spcPts val="520"/>
              </a:spcBef>
              <a:buClr>
                <a:srgbClr val="EFAC00"/>
              </a:buClr>
              <a:buSzPct val="80000"/>
              <a:buFont typeface="Wingdings 2"/>
              <a:buChar char=""/>
              <a:tabLst>
                <a:tab pos="337185" algn="l"/>
              </a:tabLst>
            </a:pPr>
            <a:r>
              <a:rPr sz="3000" b="1" spc="-20" dirty="0">
                <a:solidFill>
                  <a:srgbClr val="FF0066"/>
                </a:solidFill>
                <a:latin typeface="Calibri"/>
                <a:cs typeface="Calibri"/>
              </a:rPr>
              <a:t>Pass </a:t>
            </a:r>
            <a:r>
              <a:rPr sz="3000" b="1" spc="-15" dirty="0">
                <a:solidFill>
                  <a:srgbClr val="FF0066"/>
                </a:solidFill>
                <a:latin typeface="Calibri"/>
                <a:cs typeface="Calibri"/>
              </a:rPr>
              <a:t>1: </a:t>
            </a:r>
            <a:r>
              <a:rPr sz="3000" spc="-20" dirty="0">
                <a:latin typeface="Calibri"/>
                <a:cs typeface="Calibri"/>
              </a:rPr>
              <a:t>Read baskets </a:t>
            </a:r>
            <a:r>
              <a:rPr sz="3000" spc="-5" dirty="0">
                <a:latin typeface="Calibri"/>
                <a:cs typeface="Calibri"/>
              </a:rPr>
              <a:t>and </a:t>
            </a:r>
            <a:r>
              <a:rPr sz="3000" dirty="0">
                <a:latin typeface="Calibri"/>
                <a:cs typeface="Calibri"/>
              </a:rPr>
              <a:t>count </a:t>
            </a:r>
            <a:r>
              <a:rPr sz="3000" spc="-10" dirty="0">
                <a:latin typeface="Calibri"/>
                <a:cs typeface="Calibri"/>
              </a:rPr>
              <a:t>in main </a:t>
            </a:r>
            <a:r>
              <a:rPr sz="3000" dirty="0">
                <a:latin typeface="Calibri"/>
                <a:cs typeface="Calibri"/>
              </a:rPr>
              <a:t>memory  </a:t>
            </a:r>
            <a:r>
              <a:rPr sz="3000" spc="-1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# </a:t>
            </a:r>
            <a:r>
              <a:rPr sz="3000" spc="-5" dirty="0">
                <a:latin typeface="Calibri"/>
                <a:cs typeface="Calibri"/>
              </a:rPr>
              <a:t>of occurrences of each </a:t>
            </a:r>
            <a:r>
              <a:rPr sz="3000" b="1" spc="-10" dirty="0">
                <a:solidFill>
                  <a:srgbClr val="FF0066"/>
                </a:solidFill>
                <a:latin typeface="Calibri"/>
                <a:cs typeface="Calibri"/>
              </a:rPr>
              <a:t>individual</a:t>
            </a:r>
            <a:r>
              <a:rPr sz="3000" b="1" spc="9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0066"/>
                </a:solidFill>
                <a:latin typeface="Calibri"/>
                <a:cs typeface="Calibri"/>
              </a:rPr>
              <a:t>item</a:t>
            </a:r>
            <a:endParaRPr sz="3000" dirty="0">
              <a:latin typeface="Calibri"/>
              <a:cs typeface="Calibri"/>
            </a:endParaRPr>
          </a:p>
          <a:p>
            <a:pPr marL="899160" lvl="1" indent="-229235">
              <a:lnSpc>
                <a:spcPct val="100000"/>
              </a:lnSpc>
              <a:spcBef>
                <a:spcPts val="285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150" spc="-10" dirty="0">
                <a:latin typeface="Calibri"/>
                <a:cs typeface="Calibri"/>
              </a:rPr>
              <a:t>Requires </a:t>
            </a:r>
            <a:r>
              <a:rPr sz="2150" spc="5" dirty="0">
                <a:latin typeface="Calibri"/>
                <a:cs typeface="Calibri"/>
              </a:rPr>
              <a:t>only </a:t>
            </a:r>
            <a:r>
              <a:rPr sz="2150" spc="-5" dirty="0">
                <a:latin typeface="Calibri"/>
                <a:cs typeface="Calibri"/>
              </a:rPr>
              <a:t>memory </a:t>
            </a:r>
            <a:r>
              <a:rPr sz="2150" dirty="0">
                <a:latin typeface="Calibri"/>
                <a:cs typeface="Calibri"/>
              </a:rPr>
              <a:t>proportional </a:t>
            </a:r>
            <a:r>
              <a:rPr sz="2150" spc="15" dirty="0">
                <a:latin typeface="Calibri"/>
                <a:cs typeface="Calibri"/>
              </a:rPr>
              <a:t>to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#items</a:t>
            </a:r>
          </a:p>
          <a:p>
            <a:pPr marL="336550" indent="-324485">
              <a:lnSpc>
                <a:spcPct val="100000"/>
              </a:lnSpc>
              <a:spcBef>
                <a:spcPts val="1900"/>
              </a:spcBef>
              <a:buClr>
                <a:srgbClr val="EFAC00"/>
              </a:buClr>
              <a:buSzPct val="80000"/>
              <a:buFont typeface="Wingdings 2"/>
              <a:buChar char=""/>
              <a:tabLst>
                <a:tab pos="337185" algn="l"/>
              </a:tabLst>
            </a:pPr>
            <a:r>
              <a:rPr sz="3000" b="1" spc="10" dirty="0">
                <a:solidFill>
                  <a:srgbClr val="008000"/>
                </a:solidFill>
                <a:latin typeface="Calibri"/>
                <a:cs typeface="Calibri"/>
              </a:rPr>
              <a:t>Items </a:t>
            </a:r>
            <a:r>
              <a:rPr sz="3000" b="1" spc="-5" dirty="0">
                <a:solidFill>
                  <a:srgbClr val="008000"/>
                </a:solidFill>
                <a:latin typeface="Calibri"/>
                <a:cs typeface="Calibri"/>
              </a:rPr>
              <a:t>that </a:t>
            </a:r>
            <a:r>
              <a:rPr sz="3000" b="1" spc="-10" dirty="0">
                <a:solidFill>
                  <a:srgbClr val="008000"/>
                </a:solidFill>
                <a:latin typeface="Calibri"/>
                <a:cs typeface="Calibri"/>
              </a:rPr>
              <a:t>appear </a:t>
            </a:r>
            <a:r>
              <a:rPr sz="3000" dirty="0">
                <a:solidFill>
                  <a:srgbClr val="008000"/>
                </a:solidFill>
                <a:latin typeface="Cambria Math"/>
                <a:cs typeface="Cambria Math"/>
              </a:rPr>
              <a:t>≥ 𝒔 </a:t>
            </a:r>
            <a:r>
              <a:rPr sz="3000" b="1" spc="5" dirty="0">
                <a:solidFill>
                  <a:srgbClr val="008000"/>
                </a:solidFill>
                <a:latin typeface="Calibri"/>
                <a:cs typeface="Calibri"/>
              </a:rPr>
              <a:t>times </a:t>
            </a:r>
            <a:r>
              <a:rPr sz="3000" b="1" spc="-5" dirty="0">
                <a:solidFill>
                  <a:srgbClr val="008000"/>
                </a:solidFill>
                <a:latin typeface="Calibri"/>
                <a:cs typeface="Calibri"/>
              </a:rPr>
              <a:t>are </a:t>
            </a:r>
            <a:r>
              <a:rPr sz="3000" b="1" spc="-15" dirty="0">
                <a:solidFill>
                  <a:srgbClr val="008000"/>
                </a:solidFill>
                <a:latin typeface="Calibri"/>
                <a:cs typeface="Calibri"/>
              </a:rPr>
              <a:t>the </a:t>
            </a:r>
            <a:r>
              <a:rPr sz="3000" b="1" u="heavy" spc="-20" dirty="0">
                <a:solidFill>
                  <a:srgbClr val="008000"/>
                </a:solidFill>
                <a:uFill>
                  <a:solidFill>
                    <a:srgbClr val="008000"/>
                  </a:solidFill>
                </a:uFill>
                <a:latin typeface="Calibri"/>
                <a:cs typeface="Calibri"/>
              </a:rPr>
              <a:t>frequent</a:t>
            </a:r>
            <a:r>
              <a:rPr sz="3000" b="1" u="heavy" spc="130" dirty="0">
                <a:solidFill>
                  <a:srgbClr val="008000"/>
                </a:solidFill>
                <a:uFill>
                  <a:solidFill>
                    <a:srgbClr val="008000"/>
                  </a:solidFill>
                </a:uFill>
                <a:latin typeface="Calibri"/>
                <a:cs typeface="Calibri"/>
              </a:rPr>
              <a:t> </a:t>
            </a:r>
            <a:r>
              <a:rPr sz="3000" b="1" u="heavy" spc="5" dirty="0">
                <a:solidFill>
                  <a:srgbClr val="008000"/>
                </a:solidFill>
                <a:uFill>
                  <a:solidFill>
                    <a:srgbClr val="008000"/>
                  </a:solidFill>
                </a:uFill>
                <a:latin typeface="Calibri"/>
                <a:cs typeface="Calibri"/>
              </a:rPr>
              <a:t>items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63E47-EC6C-46CA-96EB-CDDFE769BC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34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7AEF4FF9-41FD-41CB-B315-141EFBD5907F}"/>
              </a:ext>
            </a:extLst>
          </p:cNvPr>
          <p:cNvSpPr txBox="1"/>
          <p:nvPr/>
        </p:nvSpPr>
        <p:spPr>
          <a:xfrm>
            <a:off x="614362" y="1308988"/>
            <a:ext cx="8452485" cy="3278333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36550" marR="678180" indent="-324485">
              <a:lnSpc>
                <a:spcPct val="89700"/>
              </a:lnSpc>
              <a:spcBef>
                <a:spcPts val="2255"/>
              </a:spcBef>
              <a:buClr>
                <a:srgbClr val="EFAC00"/>
              </a:buClr>
              <a:buSzPct val="80000"/>
              <a:buFont typeface="Wingdings 2"/>
              <a:buChar char=""/>
              <a:tabLst>
                <a:tab pos="337185" algn="l"/>
              </a:tabLst>
            </a:pPr>
            <a:r>
              <a:rPr lang="en-AU" sz="3000" b="1" spc="-25" dirty="0">
                <a:solidFill>
                  <a:srgbClr val="0000FF"/>
                </a:solidFill>
                <a:latin typeface="Calibri"/>
                <a:cs typeface="Calibri"/>
              </a:rPr>
              <a:t>P</a:t>
            </a:r>
            <a:r>
              <a:rPr sz="3000" b="1" spc="-25" dirty="0">
                <a:solidFill>
                  <a:srgbClr val="0000FF"/>
                </a:solidFill>
                <a:latin typeface="Calibri"/>
                <a:cs typeface="Calibri"/>
              </a:rPr>
              <a:t>ass 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2: </a:t>
            </a:r>
            <a:r>
              <a:rPr sz="3000" spc="-15" dirty="0">
                <a:latin typeface="Calibri"/>
                <a:cs typeface="Calibri"/>
              </a:rPr>
              <a:t>Read </a:t>
            </a:r>
            <a:r>
              <a:rPr sz="3000" spc="-20" dirty="0">
                <a:latin typeface="Calibri"/>
                <a:cs typeface="Calibri"/>
              </a:rPr>
              <a:t>baskets </a:t>
            </a:r>
            <a:r>
              <a:rPr sz="3000" spc="-25" dirty="0">
                <a:latin typeface="Calibri"/>
                <a:cs typeface="Calibri"/>
              </a:rPr>
              <a:t>again </a:t>
            </a:r>
            <a:r>
              <a:rPr sz="3000" spc="-10" dirty="0">
                <a:latin typeface="Calibri"/>
                <a:cs typeface="Calibri"/>
              </a:rPr>
              <a:t>and </a:t>
            </a:r>
            <a:r>
              <a:rPr sz="3000" spc="-20" dirty="0">
                <a:latin typeface="Calibri"/>
                <a:cs typeface="Calibri"/>
              </a:rPr>
              <a:t>keep </a:t>
            </a:r>
            <a:r>
              <a:rPr sz="3000" spc="-25" dirty="0">
                <a:latin typeface="Calibri"/>
                <a:cs typeface="Calibri"/>
              </a:rPr>
              <a:t>track </a:t>
            </a:r>
            <a:r>
              <a:rPr sz="3000" spc="-5" dirty="0">
                <a:latin typeface="Calibri"/>
                <a:cs typeface="Calibri"/>
              </a:rPr>
              <a:t>of </a:t>
            </a:r>
            <a:r>
              <a:rPr sz="3000" spc="-15" dirty="0">
                <a:latin typeface="Calibri"/>
                <a:cs typeface="Calibri"/>
              </a:rPr>
              <a:t>the  </a:t>
            </a:r>
            <a:r>
              <a:rPr sz="3000" dirty="0">
                <a:latin typeface="Calibri"/>
                <a:cs typeface="Calibri"/>
              </a:rPr>
              <a:t>count </a:t>
            </a:r>
            <a:r>
              <a:rPr sz="3000" spc="-5" dirty="0">
                <a:latin typeface="Calibri"/>
                <a:cs typeface="Calibri"/>
              </a:rPr>
              <a:t>of </a:t>
            </a:r>
            <a:r>
              <a:rPr sz="30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only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those </a:t>
            </a:r>
            <a:r>
              <a:rPr sz="3000" spc="-25" dirty="0">
                <a:latin typeface="Calibri"/>
                <a:cs typeface="Calibri"/>
              </a:rPr>
              <a:t>pairs </a:t>
            </a:r>
            <a:r>
              <a:rPr sz="3000" spc="-15" dirty="0">
                <a:latin typeface="Calibri"/>
                <a:cs typeface="Calibri"/>
              </a:rPr>
              <a:t>where both </a:t>
            </a:r>
            <a:r>
              <a:rPr sz="3000" spc="-5" dirty="0">
                <a:latin typeface="Calibri"/>
                <a:cs typeface="Calibri"/>
              </a:rPr>
              <a:t>elements  </a:t>
            </a:r>
            <a:r>
              <a:rPr sz="3000" spc="-30" dirty="0">
                <a:latin typeface="Calibri"/>
                <a:cs typeface="Calibri"/>
              </a:rPr>
              <a:t>are </a:t>
            </a:r>
            <a:r>
              <a:rPr sz="3000" spc="-10" dirty="0">
                <a:latin typeface="Calibri"/>
                <a:cs typeface="Calibri"/>
              </a:rPr>
              <a:t>frequent </a:t>
            </a:r>
            <a:r>
              <a:rPr sz="3000" spc="-20" dirty="0">
                <a:latin typeface="Calibri"/>
                <a:cs typeface="Calibri"/>
              </a:rPr>
              <a:t>(from </a:t>
            </a:r>
            <a:r>
              <a:rPr sz="3000" spc="-10" dirty="0">
                <a:latin typeface="Calibri"/>
                <a:cs typeface="Calibri"/>
              </a:rPr>
              <a:t>Pass</a:t>
            </a:r>
            <a:r>
              <a:rPr sz="3000" spc="8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1)</a:t>
            </a:r>
            <a:endParaRPr sz="3000" dirty="0">
              <a:latin typeface="Calibri"/>
              <a:cs typeface="Calibri"/>
            </a:endParaRPr>
          </a:p>
          <a:p>
            <a:pPr marL="632460" marR="12700" lvl="1" indent="-276860">
              <a:lnSpc>
                <a:spcPct val="90300"/>
              </a:lnSpc>
              <a:spcBef>
                <a:spcPts val="63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600" spc="-20" dirty="0">
                <a:latin typeface="Calibri"/>
                <a:cs typeface="Calibri"/>
              </a:rPr>
              <a:t>Requires </a:t>
            </a:r>
            <a:r>
              <a:rPr sz="2600" dirty="0">
                <a:latin typeface="Calibri"/>
                <a:cs typeface="Calibri"/>
              </a:rPr>
              <a:t>memory </a:t>
            </a:r>
            <a:r>
              <a:rPr sz="2600" spc="-10" dirty="0">
                <a:latin typeface="Calibri"/>
                <a:cs typeface="Calibri"/>
              </a:rPr>
              <a:t>(for </a:t>
            </a:r>
            <a:r>
              <a:rPr sz="2600" dirty="0">
                <a:latin typeface="Calibri"/>
                <a:cs typeface="Calibri"/>
              </a:rPr>
              <a:t>counts) </a:t>
            </a:r>
            <a:r>
              <a:rPr sz="2600" spc="-15" dirty="0">
                <a:latin typeface="Calibri"/>
                <a:cs typeface="Calibri"/>
              </a:rPr>
              <a:t>proportional </a:t>
            </a:r>
            <a:r>
              <a:rPr sz="2600" spc="20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square </a:t>
            </a:r>
            <a:r>
              <a:rPr sz="2600" spc="-5" dirty="0">
                <a:latin typeface="Calibri"/>
                <a:cs typeface="Calibri"/>
              </a:rPr>
              <a:t>of  </a:t>
            </a:r>
            <a:r>
              <a:rPr sz="2600" spc="5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number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spc="45" dirty="0">
                <a:latin typeface="Calibri"/>
                <a:cs typeface="Calibri"/>
              </a:rPr>
              <a:t> </a:t>
            </a:r>
            <a:r>
              <a:rPr sz="2600" b="1" spc="15" dirty="0">
                <a:solidFill>
                  <a:srgbClr val="008000"/>
                </a:solidFill>
                <a:latin typeface="Calibri"/>
                <a:cs typeface="Calibri"/>
              </a:rPr>
              <a:t>frequent</a:t>
            </a:r>
            <a:r>
              <a:rPr sz="2600" b="1" spc="-2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items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(not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square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of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total</a:t>
            </a:r>
            <a:r>
              <a:rPr sz="2600" spc="-140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#</a:t>
            </a:r>
            <a:r>
              <a:rPr sz="2600" spc="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of  </a:t>
            </a:r>
            <a:r>
              <a:rPr sz="2600" spc="10" dirty="0">
                <a:latin typeface="Calibri"/>
                <a:cs typeface="Calibri"/>
              </a:rPr>
              <a:t>items)</a:t>
            </a:r>
            <a:endParaRPr sz="2600" dirty="0">
              <a:latin typeface="Calibri"/>
              <a:cs typeface="Calibri"/>
            </a:endParaRPr>
          </a:p>
          <a:p>
            <a:pPr marL="632460" marR="282575" lvl="1" indent="-276860">
              <a:lnSpc>
                <a:spcPts val="2780"/>
              </a:lnSpc>
              <a:spcBef>
                <a:spcPts val="71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600" dirty="0">
                <a:latin typeface="Calibri"/>
                <a:cs typeface="Calibri"/>
              </a:rPr>
              <a:t>Plus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a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list</a:t>
            </a:r>
            <a:r>
              <a:rPr sz="2600" spc="-1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of</a:t>
            </a:r>
            <a:r>
              <a:rPr sz="2600" spc="30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frequent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items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25" dirty="0">
                <a:latin typeface="Calibri"/>
                <a:cs typeface="Calibri"/>
              </a:rPr>
              <a:t>(so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know</a:t>
            </a:r>
            <a:r>
              <a:rPr sz="2600" spc="5" dirty="0">
                <a:latin typeface="Calibri"/>
                <a:cs typeface="Calibri"/>
              </a:rPr>
              <a:t> what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must  </a:t>
            </a:r>
            <a:r>
              <a:rPr sz="2600" spc="-5" dirty="0">
                <a:latin typeface="Calibri"/>
                <a:cs typeface="Calibri"/>
              </a:rPr>
              <a:t>be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counted)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E642F-D442-44D5-9A12-66EBC3B2BF5F}"/>
              </a:ext>
            </a:extLst>
          </p:cNvPr>
          <p:cNvSpPr txBox="1"/>
          <p:nvPr/>
        </p:nvSpPr>
        <p:spPr>
          <a:xfrm>
            <a:off x="614362" y="228600"/>
            <a:ext cx="6777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A-Priori Algorithm – (3)</a:t>
            </a:r>
            <a:endParaRPr lang="en-US" sz="40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72692-5F08-4CA0-913D-5C2F898DEF3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2641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23786"/>
            <a:ext cx="8091551" cy="58578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09863" y="1523936"/>
            <a:ext cx="2066925" cy="3133725"/>
            <a:chOff x="2209863" y="1523936"/>
            <a:chExt cx="2066925" cy="3133725"/>
          </a:xfrm>
        </p:grpSpPr>
        <p:sp>
          <p:nvSpPr>
            <p:cNvPr id="4" name="object 4"/>
            <p:cNvSpPr/>
            <p:nvPr/>
          </p:nvSpPr>
          <p:spPr>
            <a:xfrm>
              <a:off x="2214626" y="1528699"/>
              <a:ext cx="2057400" cy="3124200"/>
            </a:xfrm>
            <a:custGeom>
              <a:avLst/>
              <a:gdLst/>
              <a:ahLst/>
              <a:cxnLst/>
              <a:rect l="l" t="t" r="r" b="b"/>
              <a:pathLst>
                <a:path w="2057400" h="3124200">
                  <a:moveTo>
                    <a:pt x="2057400" y="0"/>
                  </a:moveTo>
                  <a:lnTo>
                    <a:pt x="0" y="0"/>
                  </a:lnTo>
                  <a:lnTo>
                    <a:pt x="0" y="3124200"/>
                  </a:lnTo>
                  <a:lnTo>
                    <a:pt x="2057400" y="31242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14626" y="1528699"/>
              <a:ext cx="2057400" cy="3124200"/>
            </a:xfrm>
            <a:custGeom>
              <a:avLst/>
              <a:gdLst/>
              <a:ahLst/>
              <a:cxnLst/>
              <a:rect l="l" t="t" r="r" b="b"/>
              <a:pathLst>
                <a:path w="2057400" h="3124200">
                  <a:moveTo>
                    <a:pt x="0" y="3124200"/>
                  </a:moveTo>
                  <a:lnTo>
                    <a:pt x="2057400" y="3124200"/>
                  </a:lnTo>
                  <a:lnTo>
                    <a:pt x="2057400" y="0"/>
                  </a:lnTo>
                  <a:lnTo>
                    <a:pt x="0" y="0"/>
                  </a:lnTo>
                  <a:lnTo>
                    <a:pt x="0" y="3124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257863" y="1523936"/>
            <a:ext cx="1990725" cy="3133725"/>
            <a:chOff x="5257863" y="1523936"/>
            <a:chExt cx="1990725" cy="3133725"/>
          </a:xfrm>
        </p:grpSpPr>
        <p:sp>
          <p:nvSpPr>
            <p:cNvPr id="7" name="object 7"/>
            <p:cNvSpPr/>
            <p:nvPr/>
          </p:nvSpPr>
          <p:spPr>
            <a:xfrm>
              <a:off x="5262626" y="1528699"/>
              <a:ext cx="1981200" cy="3124200"/>
            </a:xfrm>
            <a:custGeom>
              <a:avLst/>
              <a:gdLst/>
              <a:ahLst/>
              <a:cxnLst/>
              <a:rect l="l" t="t" r="r" b="b"/>
              <a:pathLst>
                <a:path w="1981200" h="3124200">
                  <a:moveTo>
                    <a:pt x="1981200" y="0"/>
                  </a:moveTo>
                  <a:lnTo>
                    <a:pt x="0" y="0"/>
                  </a:lnTo>
                  <a:lnTo>
                    <a:pt x="0" y="3124200"/>
                  </a:lnTo>
                  <a:lnTo>
                    <a:pt x="1981200" y="3124200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62626" y="1528699"/>
              <a:ext cx="1981200" cy="3124200"/>
            </a:xfrm>
            <a:custGeom>
              <a:avLst/>
              <a:gdLst/>
              <a:ahLst/>
              <a:cxnLst/>
              <a:rect l="l" t="t" r="r" b="b"/>
              <a:pathLst>
                <a:path w="1981200" h="3124200">
                  <a:moveTo>
                    <a:pt x="0" y="3124200"/>
                  </a:moveTo>
                  <a:lnTo>
                    <a:pt x="1981200" y="3124200"/>
                  </a:lnTo>
                  <a:lnTo>
                    <a:pt x="1981200" y="0"/>
                  </a:lnTo>
                  <a:lnTo>
                    <a:pt x="0" y="0"/>
                  </a:lnTo>
                  <a:lnTo>
                    <a:pt x="0" y="3124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2290826" y="1605025"/>
            <a:ext cx="1905000" cy="685800"/>
          </a:xfrm>
          <a:custGeom>
            <a:avLst/>
            <a:gdLst/>
            <a:ahLst/>
            <a:cxnLst/>
            <a:rect l="l" t="t" r="r" b="b"/>
            <a:pathLst>
              <a:path w="1905000" h="685800">
                <a:moveTo>
                  <a:pt x="1905000" y="0"/>
                </a:moveTo>
                <a:lnTo>
                  <a:pt x="0" y="0"/>
                </a:lnTo>
                <a:lnTo>
                  <a:pt x="0" y="685800"/>
                </a:lnTo>
                <a:lnTo>
                  <a:pt x="1905000" y="685800"/>
                </a:lnTo>
                <a:lnTo>
                  <a:pt x="1905000" y="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90826" y="1600231"/>
            <a:ext cx="1905000" cy="6908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98755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565"/>
              </a:spcBef>
            </a:pPr>
            <a:r>
              <a:rPr sz="1800" spc="-15" dirty="0">
                <a:latin typeface="Arial"/>
                <a:cs typeface="Arial"/>
              </a:rPr>
              <a:t>Item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10" dirty="0">
                <a:latin typeface="Arial"/>
                <a:cs typeface="Arial"/>
              </a:rPr>
              <a:t>counts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30754" y="4754562"/>
            <a:ext cx="994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Arial"/>
                <a:cs typeface="Arial"/>
              </a:rPr>
              <a:t>Pass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82055" y="4754562"/>
            <a:ext cx="994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Arial"/>
                <a:cs typeface="Arial"/>
              </a:rPr>
              <a:t>Pass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338826" y="1600231"/>
            <a:ext cx="1828800" cy="46228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665"/>
              </a:spcBef>
            </a:pPr>
            <a:r>
              <a:rPr sz="1800" b="0" spc="10" dirty="0">
                <a:solidFill>
                  <a:srgbClr val="000000"/>
                </a:solidFill>
                <a:latin typeface="Arial"/>
                <a:cs typeface="Arial"/>
              </a:rPr>
              <a:t>Frequent</a:t>
            </a:r>
            <a:r>
              <a:rPr sz="1800" b="0" spc="-1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b="0" spc="-10" dirty="0">
                <a:solidFill>
                  <a:srgbClr val="000000"/>
                </a:solidFill>
                <a:latin typeface="Arial"/>
                <a:cs typeface="Arial"/>
              </a:rPr>
              <a:t>items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71950" y="1600200"/>
            <a:ext cx="1162050" cy="676275"/>
          </a:xfrm>
          <a:custGeom>
            <a:avLst/>
            <a:gdLst/>
            <a:ahLst/>
            <a:cxnLst/>
            <a:rect l="l" t="t" r="r" b="b"/>
            <a:pathLst>
              <a:path w="1162050" h="676275">
                <a:moveTo>
                  <a:pt x="0" y="676275"/>
                </a:moveTo>
                <a:lnTo>
                  <a:pt x="1162050" y="457200"/>
                </a:lnTo>
              </a:path>
              <a:path w="1162050" h="676275">
                <a:moveTo>
                  <a:pt x="19050" y="0"/>
                </a:moveTo>
                <a:lnTo>
                  <a:pt x="1162050" y="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887919" y="2584043"/>
            <a:ext cx="281305" cy="14065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35" dirty="0">
                <a:solidFill>
                  <a:srgbClr val="008000"/>
                </a:solidFill>
                <a:latin typeface="Arial"/>
                <a:cs typeface="Arial"/>
              </a:rPr>
              <a:t>Main</a:t>
            </a:r>
            <a:r>
              <a:rPr sz="1800" spc="8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008000"/>
                </a:solidFill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38826" y="2166873"/>
            <a:ext cx="1828800" cy="2181225"/>
          </a:xfrm>
          <a:prstGeom prst="rect">
            <a:avLst/>
          </a:prstGeom>
          <a:solidFill>
            <a:srgbClr val="FFD25D"/>
          </a:solidFill>
          <a:ln w="9525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650">
              <a:latin typeface="Times New Roman"/>
              <a:cs typeface="Times New Roman"/>
            </a:endParaRPr>
          </a:p>
          <a:p>
            <a:pPr marL="187960" marR="185420" indent="6985" algn="ctr">
              <a:lnSpc>
                <a:spcPct val="100800"/>
              </a:lnSpc>
            </a:pPr>
            <a:r>
              <a:rPr sz="1800" spc="5" dirty="0">
                <a:latin typeface="Arial"/>
                <a:cs typeface="Arial"/>
              </a:rPr>
              <a:t>Counts </a:t>
            </a:r>
            <a:r>
              <a:rPr sz="1800" spc="-15" dirty="0">
                <a:latin typeface="Arial"/>
                <a:cs typeface="Arial"/>
              </a:rPr>
              <a:t>of  </a:t>
            </a:r>
            <a:r>
              <a:rPr sz="1800" spc="-5" dirty="0">
                <a:latin typeface="Arial"/>
                <a:cs typeface="Arial"/>
              </a:rPr>
              <a:t>pairs </a:t>
            </a:r>
            <a:r>
              <a:rPr sz="1800" spc="-15" dirty="0">
                <a:latin typeface="Arial"/>
                <a:cs typeface="Arial"/>
              </a:rPr>
              <a:t>of  </a:t>
            </a:r>
            <a:r>
              <a:rPr sz="1800" spc="10" dirty="0">
                <a:latin typeface="Arial"/>
                <a:cs typeface="Arial"/>
              </a:rPr>
              <a:t>frequent</a:t>
            </a:r>
            <a:r>
              <a:rPr sz="1800" spc="-1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items  </a:t>
            </a:r>
            <a:r>
              <a:rPr sz="1800" spc="5" dirty="0">
                <a:latin typeface="Arial"/>
                <a:cs typeface="Arial"/>
              </a:rPr>
              <a:t>(candidate  </a:t>
            </a:r>
            <a:r>
              <a:rPr sz="1800" spc="-5" dirty="0">
                <a:latin typeface="Arial"/>
                <a:cs typeface="Arial"/>
              </a:rPr>
              <a:t>pairs)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0695" y="5543436"/>
            <a:ext cx="877316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20" dirty="0">
                <a:solidFill>
                  <a:srgbClr val="008000"/>
                </a:solidFill>
                <a:latin typeface="Arial"/>
                <a:cs typeface="Arial"/>
              </a:rPr>
              <a:t>Green</a:t>
            </a:r>
            <a:r>
              <a:rPr sz="1400" spc="-12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30" dirty="0">
                <a:solidFill>
                  <a:srgbClr val="008000"/>
                </a:solidFill>
                <a:latin typeface="Arial"/>
                <a:cs typeface="Arial"/>
              </a:rPr>
              <a:t>box</a:t>
            </a:r>
            <a:r>
              <a:rPr sz="1400" spc="-12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represents</a:t>
            </a:r>
            <a:r>
              <a:rPr sz="1400" spc="-12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the</a:t>
            </a:r>
            <a:r>
              <a:rPr sz="1400" spc="-4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8000"/>
                </a:solidFill>
                <a:latin typeface="Arial"/>
                <a:cs typeface="Arial"/>
              </a:rPr>
              <a:t>amount</a:t>
            </a:r>
            <a:r>
              <a:rPr sz="1400" spc="-2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008000"/>
                </a:solidFill>
                <a:latin typeface="Arial"/>
                <a:cs typeface="Arial"/>
              </a:rPr>
              <a:t>of</a:t>
            </a:r>
            <a:r>
              <a:rPr sz="1400" spc="-2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available</a:t>
            </a:r>
            <a:r>
              <a:rPr sz="1400" spc="3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8000"/>
                </a:solidFill>
                <a:latin typeface="Arial"/>
                <a:cs typeface="Arial"/>
              </a:rPr>
              <a:t>main</a:t>
            </a:r>
            <a:r>
              <a:rPr sz="1400" spc="3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08000"/>
                </a:solidFill>
                <a:latin typeface="Arial"/>
                <a:cs typeface="Arial"/>
              </a:rPr>
              <a:t>memory.</a:t>
            </a:r>
            <a:r>
              <a:rPr sz="1400" spc="-17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08000"/>
                </a:solidFill>
                <a:latin typeface="Arial"/>
                <a:cs typeface="Arial"/>
              </a:rPr>
              <a:t>Smaller</a:t>
            </a:r>
            <a:r>
              <a:rPr sz="1400" spc="-10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008000"/>
                </a:solidFill>
                <a:latin typeface="Arial"/>
                <a:cs typeface="Arial"/>
              </a:rPr>
              <a:t>boxes</a:t>
            </a:r>
            <a:r>
              <a:rPr sz="1400" spc="-12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008000"/>
                </a:solidFill>
                <a:latin typeface="Arial"/>
                <a:cs typeface="Arial"/>
              </a:rPr>
              <a:t>represent</a:t>
            </a:r>
            <a:r>
              <a:rPr sz="1400" spc="-17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how</a:t>
            </a:r>
            <a:r>
              <a:rPr sz="1400" spc="-5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the</a:t>
            </a:r>
            <a:r>
              <a:rPr sz="1400" spc="3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008000"/>
                </a:solidFill>
                <a:latin typeface="Arial"/>
                <a:cs typeface="Arial"/>
              </a:rPr>
              <a:t>memory</a:t>
            </a:r>
            <a:r>
              <a:rPr sz="1400" spc="-12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8000"/>
                </a:solidFill>
                <a:latin typeface="Arial"/>
                <a:cs typeface="Arial"/>
              </a:rPr>
              <a:t>is</a:t>
            </a:r>
            <a:r>
              <a:rPr sz="1400" spc="-4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008000"/>
                </a:solidFill>
                <a:latin typeface="Arial"/>
                <a:cs typeface="Arial"/>
              </a:rPr>
              <a:t>used.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332AD0B-444B-4AE6-884B-E0328FA8357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36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23786"/>
            <a:ext cx="4262501" cy="4619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300162"/>
            <a:ext cx="4495800" cy="488569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36550" marR="5080" indent="-324485">
              <a:lnSpc>
                <a:spcPct val="89900"/>
              </a:lnSpc>
              <a:spcBef>
                <a:spcPts val="51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-55" dirty="0">
                <a:latin typeface="Calibri"/>
                <a:cs typeface="Calibri"/>
              </a:rPr>
              <a:t>You </a:t>
            </a:r>
            <a:r>
              <a:rPr sz="3200" spc="10" dirty="0">
                <a:latin typeface="Calibri"/>
                <a:cs typeface="Calibri"/>
              </a:rPr>
              <a:t>can </a:t>
            </a:r>
            <a:r>
              <a:rPr sz="3200" spc="20" dirty="0">
                <a:latin typeface="Calibri"/>
                <a:cs typeface="Calibri"/>
              </a:rPr>
              <a:t>use </a:t>
            </a:r>
            <a:r>
              <a:rPr sz="3200" spc="5" dirty="0">
                <a:latin typeface="Calibri"/>
                <a:cs typeface="Calibri"/>
              </a:rPr>
              <a:t>the  </a:t>
            </a:r>
            <a:r>
              <a:rPr sz="3200" spc="15" dirty="0">
                <a:latin typeface="Calibri"/>
                <a:cs typeface="Calibri"/>
              </a:rPr>
              <a:t>triangular </a:t>
            </a:r>
            <a:r>
              <a:rPr sz="3200" spc="5" dirty="0">
                <a:latin typeface="Calibri"/>
                <a:cs typeface="Calibri"/>
              </a:rPr>
              <a:t>matrix  method </a:t>
            </a:r>
            <a:r>
              <a:rPr sz="3200" spc="10" dirty="0">
                <a:latin typeface="Calibri"/>
                <a:cs typeface="Calibri"/>
              </a:rPr>
              <a:t>with </a:t>
            </a:r>
            <a:r>
              <a:rPr sz="3200" b="1" i="1" spc="15" dirty="0">
                <a:solidFill>
                  <a:srgbClr val="FF0066"/>
                </a:solidFill>
                <a:latin typeface="Calibri"/>
                <a:cs typeface="Calibri"/>
              </a:rPr>
              <a:t>n </a:t>
            </a:r>
            <a:r>
              <a:rPr sz="3200" spc="10" dirty="0">
                <a:latin typeface="Calibri"/>
                <a:cs typeface="Calibri"/>
              </a:rPr>
              <a:t>=</a:t>
            </a:r>
            <a:r>
              <a:rPr sz="3200" spc="-18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number  </a:t>
            </a:r>
            <a:r>
              <a:rPr sz="3200" spc="20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frequent</a:t>
            </a:r>
            <a:r>
              <a:rPr sz="3200" spc="-17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items</a:t>
            </a:r>
            <a:endParaRPr sz="3200">
              <a:latin typeface="Calibri"/>
              <a:cs typeface="Calibri"/>
            </a:endParaRPr>
          </a:p>
          <a:p>
            <a:pPr marL="632460" marR="60960" lvl="1" indent="-276860">
              <a:lnSpc>
                <a:spcPts val="3000"/>
              </a:lnSpc>
              <a:spcBef>
                <a:spcPts val="79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dirty="0">
                <a:latin typeface="Calibri"/>
                <a:cs typeface="Calibri"/>
              </a:rPr>
              <a:t>May </a:t>
            </a:r>
            <a:r>
              <a:rPr sz="2750" spc="-10" dirty="0">
                <a:latin typeface="Calibri"/>
                <a:cs typeface="Calibri"/>
              </a:rPr>
              <a:t>save </a:t>
            </a:r>
            <a:r>
              <a:rPr sz="2750" spc="5" dirty="0">
                <a:latin typeface="Calibri"/>
                <a:cs typeface="Calibri"/>
              </a:rPr>
              <a:t>space </a:t>
            </a:r>
            <a:r>
              <a:rPr sz="2750" spc="15" dirty="0">
                <a:latin typeface="Calibri"/>
                <a:cs typeface="Calibri"/>
              </a:rPr>
              <a:t>compared  </a:t>
            </a:r>
            <a:r>
              <a:rPr sz="2750" spc="-20" dirty="0">
                <a:latin typeface="Calibri"/>
                <a:cs typeface="Calibri"/>
              </a:rPr>
              <a:t>with </a:t>
            </a:r>
            <a:r>
              <a:rPr sz="2750" spc="-5" dirty="0">
                <a:latin typeface="Calibri"/>
                <a:cs typeface="Calibri"/>
              </a:rPr>
              <a:t>storing</a:t>
            </a:r>
            <a:r>
              <a:rPr sz="2750" spc="26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triples</a:t>
            </a:r>
            <a:endParaRPr sz="2750">
              <a:latin typeface="Calibri"/>
              <a:cs typeface="Calibri"/>
            </a:endParaRPr>
          </a:p>
          <a:p>
            <a:pPr marL="336550" marR="70485" indent="-324485">
              <a:lnSpc>
                <a:spcPts val="3460"/>
              </a:lnSpc>
              <a:spcBef>
                <a:spcPts val="1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20" dirty="0">
                <a:solidFill>
                  <a:srgbClr val="FF0066"/>
                </a:solidFill>
                <a:latin typeface="Calibri"/>
                <a:cs typeface="Calibri"/>
              </a:rPr>
              <a:t>Trick: </a:t>
            </a:r>
            <a:r>
              <a:rPr sz="3200" dirty="0">
                <a:latin typeface="Calibri"/>
                <a:cs typeface="Calibri"/>
              </a:rPr>
              <a:t>re-number  frequent </a:t>
            </a:r>
            <a:r>
              <a:rPr sz="3200" spc="-5" dirty="0">
                <a:latin typeface="Calibri"/>
                <a:cs typeface="Calibri"/>
              </a:rPr>
              <a:t>items </a:t>
            </a:r>
            <a:r>
              <a:rPr sz="3200" spc="20" dirty="0">
                <a:latin typeface="Calibri"/>
                <a:cs typeface="Calibri"/>
              </a:rPr>
              <a:t>1,2,…  </a:t>
            </a:r>
            <a:r>
              <a:rPr sz="3200" spc="30" dirty="0">
                <a:latin typeface="Calibri"/>
                <a:cs typeface="Calibri"/>
              </a:rPr>
              <a:t>and </a:t>
            </a:r>
            <a:r>
              <a:rPr sz="3200" spc="-15" dirty="0">
                <a:latin typeface="Calibri"/>
                <a:cs typeface="Calibri"/>
              </a:rPr>
              <a:t>keep </a:t>
            </a:r>
            <a:r>
              <a:rPr sz="3200" spc="1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table</a:t>
            </a:r>
            <a:r>
              <a:rPr sz="3200" spc="-2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relating</a:t>
            </a:r>
            <a:endParaRPr sz="3200">
              <a:latin typeface="Calibri"/>
              <a:cs typeface="Calibri"/>
            </a:endParaRPr>
          </a:p>
          <a:p>
            <a:pPr marL="336550">
              <a:lnSpc>
                <a:spcPts val="3200"/>
              </a:lnSpc>
            </a:pPr>
            <a:r>
              <a:rPr sz="3200" spc="10" dirty="0">
                <a:latin typeface="Calibri"/>
                <a:cs typeface="Calibri"/>
              </a:rPr>
              <a:t>new </a:t>
            </a:r>
            <a:r>
              <a:rPr sz="3200" dirty="0">
                <a:latin typeface="Calibri"/>
                <a:cs typeface="Calibri"/>
              </a:rPr>
              <a:t>numbers </a:t>
            </a:r>
            <a:r>
              <a:rPr sz="3200" spc="-10" dirty="0">
                <a:latin typeface="Calibri"/>
                <a:cs typeface="Calibri"/>
              </a:rPr>
              <a:t>to</a:t>
            </a:r>
            <a:r>
              <a:rPr sz="3200" spc="-200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original</a:t>
            </a:r>
            <a:endParaRPr sz="3200">
              <a:latin typeface="Calibri"/>
              <a:cs typeface="Calibri"/>
            </a:endParaRPr>
          </a:p>
          <a:p>
            <a:pPr marL="336550">
              <a:lnSpc>
                <a:spcPts val="3645"/>
              </a:lnSpc>
            </a:pPr>
            <a:r>
              <a:rPr sz="3200" spc="-5" dirty="0">
                <a:latin typeface="Calibri"/>
                <a:cs typeface="Calibri"/>
              </a:rPr>
              <a:t>item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numbers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57863" y="2171763"/>
            <a:ext cx="3762375" cy="3133725"/>
            <a:chOff x="5257863" y="2171763"/>
            <a:chExt cx="3762375" cy="3133725"/>
          </a:xfrm>
        </p:grpSpPr>
        <p:sp>
          <p:nvSpPr>
            <p:cNvPr id="5" name="object 5"/>
            <p:cNvSpPr/>
            <p:nvPr/>
          </p:nvSpPr>
          <p:spPr>
            <a:xfrm>
              <a:off x="5262626" y="2176526"/>
              <a:ext cx="1524000" cy="3124200"/>
            </a:xfrm>
            <a:custGeom>
              <a:avLst/>
              <a:gdLst/>
              <a:ahLst/>
              <a:cxnLst/>
              <a:rect l="l" t="t" r="r" b="b"/>
              <a:pathLst>
                <a:path w="1524000" h="3124200">
                  <a:moveTo>
                    <a:pt x="1524000" y="0"/>
                  </a:moveTo>
                  <a:lnTo>
                    <a:pt x="0" y="0"/>
                  </a:lnTo>
                  <a:lnTo>
                    <a:pt x="0" y="3124200"/>
                  </a:lnTo>
                  <a:lnTo>
                    <a:pt x="1524000" y="312420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62626" y="2176526"/>
              <a:ext cx="1524000" cy="3124200"/>
            </a:xfrm>
            <a:custGeom>
              <a:avLst/>
              <a:gdLst/>
              <a:ahLst/>
              <a:cxnLst/>
              <a:rect l="l" t="t" r="r" b="b"/>
              <a:pathLst>
                <a:path w="1524000" h="3124200">
                  <a:moveTo>
                    <a:pt x="0" y="3124200"/>
                  </a:moveTo>
                  <a:lnTo>
                    <a:pt x="1524000" y="3124200"/>
                  </a:lnTo>
                  <a:lnTo>
                    <a:pt x="1524000" y="0"/>
                  </a:lnTo>
                  <a:lnTo>
                    <a:pt x="0" y="0"/>
                  </a:lnTo>
                  <a:lnTo>
                    <a:pt x="0" y="3124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34276" y="2176526"/>
              <a:ext cx="1981200" cy="3124200"/>
            </a:xfrm>
            <a:custGeom>
              <a:avLst/>
              <a:gdLst/>
              <a:ahLst/>
              <a:cxnLst/>
              <a:rect l="l" t="t" r="r" b="b"/>
              <a:pathLst>
                <a:path w="1981200" h="3124200">
                  <a:moveTo>
                    <a:pt x="1981200" y="0"/>
                  </a:moveTo>
                  <a:lnTo>
                    <a:pt x="0" y="0"/>
                  </a:lnTo>
                  <a:lnTo>
                    <a:pt x="0" y="3124200"/>
                  </a:lnTo>
                  <a:lnTo>
                    <a:pt x="1981200" y="3124200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34276" y="2176526"/>
              <a:ext cx="1981200" cy="3124200"/>
            </a:xfrm>
            <a:custGeom>
              <a:avLst/>
              <a:gdLst/>
              <a:ahLst/>
              <a:cxnLst/>
              <a:rect l="l" t="t" r="r" b="b"/>
              <a:pathLst>
                <a:path w="1981200" h="3124200">
                  <a:moveTo>
                    <a:pt x="0" y="3124200"/>
                  </a:moveTo>
                  <a:lnTo>
                    <a:pt x="1981200" y="3124200"/>
                  </a:lnTo>
                  <a:lnTo>
                    <a:pt x="1981200" y="0"/>
                  </a:lnTo>
                  <a:lnTo>
                    <a:pt x="0" y="0"/>
                  </a:lnTo>
                  <a:lnTo>
                    <a:pt x="0" y="3124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38826" y="2252726"/>
            <a:ext cx="1371600" cy="68580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</a:ln>
        </p:spPr>
        <p:txBody>
          <a:bodyPr vert="horz" wrap="square" lIns="0" tIns="18986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495"/>
              </a:spcBef>
            </a:pPr>
            <a:r>
              <a:rPr sz="1800" spc="-15" dirty="0">
                <a:latin typeface="Arial"/>
                <a:cs typeface="Arial"/>
              </a:rPr>
              <a:t>Item </a:t>
            </a:r>
            <a:r>
              <a:rPr sz="1800" spc="10" dirty="0">
                <a:latin typeface="Arial"/>
                <a:cs typeface="Arial"/>
              </a:rPr>
              <a:t>counts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34609" y="5365115"/>
            <a:ext cx="9956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Arial"/>
                <a:cs typeface="Arial"/>
              </a:rPr>
              <a:t>Pass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78801" y="5356859"/>
            <a:ext cx="99441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25" dirty="0">
                <a:latin typeface="Arial"/>
                <a:cs typeface="Arial"/>
              </a:rPr>
              <a:t>Pass</a:t>
            </a:r>
            <a:r>
              <a:rPr sz="2400" b="1" spc="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696075" y="2247963"/>
            <a:ext cx="2248535" cy="923925"/>
            <a:chOff x="6696075" y="2247963"/>
            <a:chExt cx="2248535" cy="923925"/>
          </a:xfrm>
        </p:grpSpPr>
        <p:sp>
          <p:nvSpPr>
            <p:cNvPr id="13" name="object 13"/>
            <p:cNvSpPr/>
            <p:nvPr/>
          </p:nvSpPr>
          <p:spPr>
            <a:xfrm>
              <a:off x="7110476" y="2252726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1828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828800" y="9144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10476" y="2252726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914400"/>
                  </a:moveTo>
                  <a:lnTo>
                    <a:pt x="1828800" y="9144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05600" y="2933700"/>
              <a:ext cx="400050" cy="228600"/>
            </a:xfrm>
            <a:custGeom>
              <a:avLst/>
              <a:gdLst/>
              <a:ahLst/>
              <a:cxnLst/>
              <a:rect l="l" t="t" r="r" b="b"/>
              <a:pathLst>
                <a:path w="400050" h="228600">
                  <a:moveTo>
                    <a:pt x="0" y="0"/>
                  </a:moveTo>
                  <a:lnTo>
                    <a:pt x="400050" y="228600"/>
                  </a:lnTo>
                </a:path>
              </a:pathLst>
            </a:custGeom>
            <a:ln w="1905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262494" y="3525297"/>
            <a:ext cx="1532890" cy="808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989"/>
              </a:lnSpc>
            </a:pPr>
            <a:r>
              <a:rPr sz="1800" spc="5" dirty="0">
                <a:latin typeface="Arial"/>
                <a:cs typeface="Arial"/>
              </a:rPr>
              <a:t>Counts </a:t>
            </a:r>
            <a:r>
              <a:rPr sz="1800" spc="-15" dirty="0">
                <a:latin typeface="Arial"/>
                <a:cs typeface="Arial"/>
              </a:rPr>
              <a:t>of</a:t>
            </a:r>
            <a:r>
              <a:rPr sz="1800" spc="-1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pairs</a:t>
            </a:r>
            <a:endParaRPr sz="1800">
              <a:latin typeface="Arial"/>
              <a:cs typeface="Arial"/>
            </a:endParaRPr>
          </a:p>
          <a:p>
            <a:pPr marL="209550" marR="201930" algn="ctr">
              <a:lnSpc>
                <a:spcPct val="100800"/>
              </a:lnSpc>
            </a:pPr>
            <a:r>
              <a:rPr sz="1800" spc="-15" dirty="0">
                <a:latin typeface="Arial"/>
                <a:cs typeface="Arial"/>
              </a:rPr>
              <a:t>of </a:t>
            </a:r>
            <a:r>
              <a:rPr sz="1800" spc="10" dirty="0">
                <a:latin typeface="Arial"/>
                <a:cs typeface="Arial"/>
              </a:rPr>
              <a:t>frequent  </a:t>
            </a:r>
            <a:r>
              <a:rPr sz="1800" spc="-10" dirty="0">
                <a:latin typeface="Arial"/>
                <a:cs typeface="Arial"/>
              </a:rPr>
              <a:t>items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705600" y="2238375"/>
            <a:ext cx="1477010" cy="934085"/>
            <a:chOff x="6705600" y="2238375"/>
            <a:chExt cx="1477010" cy="934085"/>
          </a:xfrm>
        </p:grpSpPr>
        <p:sp>
          <p:nvSpPr>
            <p:cNvPr id="18" name="object 18"/>
            <p:cNvSpPr/>
            <p:nvPr/>
          </p:nvSpPr>
          <p:spPr>
            <a:xfrm>
              <a:off x="6715125" y="2247900"/>
              <a:ext cx="390525" cy="0"/>
            </a:xfrm>
            <a:custGeom>
              <a:avLst/>
              <a:gdLst/>
              <a:ahLst/>
              <a:cxnLst/>
              <a:rect l="l" t="t" r="r" b="b"/>
              <a:pathLst>
                <a:path w="390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ln w="1905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77275" y="2252725"/>
              <a:ext cx="0" cy="914400"/>
            </a:xfrm>
            <a:custGeom>
              <a:avLst/>
              <a:gdLst/>
              <a:ahLst/>
              <a:cxnLst/>
              <a:rect l="l" t="t" r="r" b="b"/>
              <a:pathLst>
                <a:path h="914400">
                  <a:moveTo>
                    <a:pt x="0" y="0"/>
                  </a:moveTo>
                  <a:lnTo>
                    <a:pt x="0" y="914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096188" y="2257488"/>
            <a:ext cx="1076325" cy="923925"/>
          </a:xfrm>
          <a:prstGeom prst="rect">
            <a:avLst/>
          </a:prstGeom>
          <a:solidFill>
            <a:srgbClr val="99CCFF"/>
          </a:solidFill>
        </p:spPr>
        <p:txBody>
          <a:bodyPr vert="horz" wrap="square" lIns="0" tIns="111125" rIns="0" bIns="0" rtlCol="0">
            <a:spAutoFit/>
          </a:bodyPr>
          <a:lstStyle/>
          <a:p>
            <a:pPr marL="290195" marR="47625" indent="-200025">
              <a:lnSpc>
                <a:spcPct val="100800"/>
              </a:lnSpc>
              <a:spcBef>
                <a:spcPts val="875"/>
              </a:spcBef>
            </a:pPr>
            <a:r>
              <a:rPr sz="1800" spc="20" dirty="0">
                <a:latin typeface="Arial"/>
                <a:cs typeface="Arial"/>
              </a:rPr>
              <a:t>F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30" dirty="0">
                <a:latin typeface="Arial"/>
                <a:cs typeface="Arial"/>
              </a:rPr>
              <a:t>e</a:t>
            </a:r>
            <a:r>
              <a:rPr sz="1800" spc="45" dirty="0">
                <a:latin typeface="Arial"/>
                <a:cs typeface="Arial"/>
              </a:rPr>
              <a:t>qu</a:t>
            </a:r>
            <a:r>
              <a:rPr sz="1800" spc="-30" dirty="0">
                <a:latin typeface="Arial"/>
                <a:cs typeface="Arial"/>
              </a:rPr>
              <a:t>e</a:t>
            </a:r>
            <a:r>
              <a:rPr sz="1800" spc="45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t  </a:t>
            </a:r>
            <a:r>
              <a:rPr sz="1800" spc="-5" dirty="0">
                <a:latin typeface="Arial"/>
                <a:cs typeface="Arial"/>
              </a:rPr>
              <a:t>items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82038" y="2257488"/>
            <a:ext cx="752475" cy="923925"/>
          </a:xfrm>
          <a:prstGeom prst="rect">
            <a:avLst/>
          </a:prstGeom>
          <a:solidFill>
            <a:srgbClr val="99CCFF"/>
          </a:solidFill>
        </p:spPr>
        <p:txBody>
          <a:bodyPr vert="horz" wrap="square" lIns="0" tIns="16510" rIns="0" bIns="0" rtlCol="0">
            <a:spAutoFit/>
          </a:bodyPr>
          <a:lstStyle/>
          <a:p>
            <a:pPr marL="167005" marR="148590" indent="28575" algn="just">
              <a:lnSpc>
                <a:spcPct val="100899"/>
              </a:lnSpc>
              <a:spcBef>
                <a:spcPts val="130"/>
              </a:spcBef>
            </a:pPr>
            <a:r>
              <a:rPr sz="1800" spc="20" dirty="0">
                <a:latin typeface="Arial"/>
                <a:cs typeface="Arial"/>
              </a:rPr>
              <a:t>Old  </a:t>
            </a:r>
            <a:r>
              <a:rPr sz="1800" spc="-30" dirty="0">
                <a:latin typeface="Arial"/>
                <a:cs typeface="Arial"/>
              </a:rPr>
              <a:t>i</a:t>
            </a:r>
            <a:r>
              <a:rPr sz="1800" spc="20" dirty="0">
                <a:latin typeface="Arial"/>
                <a:cs typeface="Arial"/>
              </a:rPr>
              <a:t>t</a:t>
            </a:r>
            <a:r>
              <a:rPr sz="1800" spc="-30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m  </a:t>
            </a:r>
            <a:r>
              <a:rPr sz="1800" spc="-30" dirty="0">
                <a:latin typeface="Arial"/>
                <a:cs typeface="Arial"/>
              </a:rPr>
              <a:t>IDs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20188" y="3550731"/>
            <a:ext cx="281305" cy="14065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35" dirty="0">
                <a:solidFill>
                  <a:srgbClr val="008000"/>
                </a:solidFill>
                <a:latin typeface="Arial"/>
                <a:cs typeface="Arial"/>
              </a:rPr>
              <a:t>Main</a:t>
            </a:r>
            <a:r>
              <a:rPr sz="1800" spc="7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8000"/>
                </a:solidFill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91426" y="3205226"/>
            <a:ext cx="1847850" cy="1981200"/>
          </a:xfrm>
          <a:custGeom>
            <a:avLst/>
            <a:gdLst/>
            <a:ahLst/>
            <a:cxnLst/>
            <a:rect l="l" t="t" r="r" b="b"/>
            <a:pathLst>
              <a:path w="1847850" h="1981200">
                <a:moveTo>
                  <a:pt x="0" y="1981200"/>
                </a:moveTo>
                <a:lnTo>
                  <a:pt x="1847850" y="1981200"/>
                </a:lnTo>
                <a:lnTo>
                  <a:pt x="1847850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096188" y="3190938"/>
            <a:ext cx="1838325" cy="1990725"/>
          </a:xfrm>
          <a:prstGeom prst="rect">
            <a:avLst/>
          </a:prstGeom>
          <a:solidFill>
            <a:srgbClr val="FFD25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Times New Roman"/>
              <a:cs typeface="Times New Roman"/>
            </a:endParaRPr>
          </a:p>
          <a:p>
            <a:pPr marL="194310" marR="188595" indent="-48260" algn="ctr">
              <a:lnSpc>
                <a:spcPct val="100899"/>
              </a:lnSpc>
              <a:spcBef>
                <a:spcPts val="5"/>
              </a:spcBef>
            </a:pPr>
            <a:r>
              <a:rPr sz="1800" spc="10" dirty="0">
                <a:latin typeface="Arial"/>
                <a:cs typeface="Arial"/>
              </a:rPr>
              <a:t>Counts </a:t>
            </a:r>
            <a:r>
              <a:rPr sz="1800" spc="-15" dirty="0">
                <a:latin typeface="Arial"/>
                <a:cs typeface="Arial"/>
              </a:rPr>
              <a:t>of  </a:t>
            </a:r>
            <a:r>
              <a:rPr sz="1800" spc="-5" dirty="0">
                <a:latin typeface="Arial"/>
                <a:cs typeface="Arial"/>
              </a:rPr>
              <a:t>pairs </a:t>
            </a:r>
            <a:r>
              <a:rPr sz="1800" spc="-15" dirty="0">
                <a:latin typeface="Arial"/>
                <a:cs typeface="Arial"/>
              </a:rPr>
              <a:t>of  </a:t>
            </a:r>
            <a:r>
              <a:rPr sz="1800" spc="10" dirty="0">
                <a:latin typeface="Arial"/>
                <a:cs typeface="Arial"/>
              </a:rPr>
              <a:t>frequent</a:t>
            </a:r>
            <a:r>
              <a:rPr sz="1800" spc="-1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items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CF026AC4-466E-406C-8BB3-62181122DE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37</a:t>
            </a:fld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5157851" cy="5762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8962" y="1347787"/>
            <a:ext cx="7686675" cy="28905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1950" indent="-324485">
              <a:lnSpc>
                <a:spcPts val="3835"/>
              </a:lnSpc>
              <a:spcBef>
                <a:spcPts val="12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62585" algn="l"/>
              </a:tabLst>
            </a:pPr>
            <a:r>
              <a:rPr sz="3200" b="1" spc="-10" dirty="0">
                <a:latin typeface="Calibri"/>
                <a:cs typeface="Calibri"/>
              </a:rPr>
              <a:t>For </a:t>
            </a:r>
            <a:r>
              <a:rPr sz="3200" b="1" spc="10" dirty="0">
                <a:latin typeface="Calibri"/>
                <a:cs typeface="Calibri"/>
              </a:rPr>
              <a:t>each </a:t>
            </a:r>
            <a:r>
              <a:rPr sz="3200" b="1" i="1" spc="20" dirty="0">
                <a:solidFill>
                  <a:srgbClr val="FF0066"/>
                </a:solidFill>
                <a:latin typeface="Calibri"/>
                <a:cs typeface="Calibri"/>
              </a:rPr>
              <a:t>k</a:t>
            </a:r>
            <a:r>
              <a:rPr sz="3200" b="1" spc="20" dirty="0">
                <a:latin typeface="Calibri"/>
                <a:cs typeface="Calibri"/>
              </a:rPr>
              <a:t>, </a:t>
            </a:r>
            <a:r>
              <a:rPr sz="3200" b="1" spc="10" dirty="0">
                <a:latin typeface="Calibri"/>
                <a:cs typeface="Calibri"/>
              </a:rPr>
              <a:t>we </a:t>
            </a:r>
            <a:r>
              <a:rPr sz="3200" b="1" spc="5" dirty="0">
                <a:latin typeface="Calibri"/>
                <a:cs typeface="Calibri"/>
              </a:rPr>
              <a:t>construct </a:t>
            </a:r>
            <a:r>
              <a:rPr sz="3200" b="1" spc="10" dirty="0">
                <a:latin typeface="Calibri"/>
                <a:cs typeface="Calibri"/>
              </a:rPr>
              <a:t>two sets</a:t>
            </a:r>
            <a:r>
              <a:rPr sz="3200" b="1" spc="-509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of</a:t>
            </a:r>
            <a:endParaRPr sz="3200">
              <a:latin typeface="Calibri"/>
              <a:cs typeface="Calibri"/>
            </a:endParaRPr>
          </a:p>
          <a:p>
            <a:pPr marL="361950">
              <a:lnSpc>
                <a:spcPts val="3835"/>
              </a:lnSpc>
            </a:pPr>
            <a:r>
              <a:rPr sz="3200" b="1" i="1" spc="20" dirty="0">
                <a:solidFill>
                  <a:srgbClr val="FF0066"/>
                </a:solidFill>
                <a:latin typeface="Calibri"/>
                <a:cs typeface="Calibri"/>
              </a:rPr>
              <a:t>k</a:t>
            </a:r>
            <a:r>
              <a:rPr sz="3200" b="1" spc="20" dirty="0">
                <a:solidFill>
                  <a:srgbClr val="FF0066"/>
                </a:solidFill>
                <a:latin typeface="Calibri"/>
                <a:cs typeface="Calibri"/>
              </a:rPr>
              <a:t>-</a:t>
            </a:r>
            <a:r>
              <a:rPr sz="3200" b="1" i="1" spc="20" dirty="0">
                <a:solidFill>
                  <a:srgbClr val="FF0066"/>
                </a:solidFill>
                <a:latin typeface="Calibri"/>
                <a:cs typeface="Calibri"/>
              </a:rPr>
              <a:t>tuples </a:t>
            </a:r>
            <a:r>
              <a:rPr sz="3200" spc="-5" dirty="0">
                <a:latin typeface="Calibri"/>
                <a:cs typeface="Calibri"/>
              </a:rPr>
              <a:t>(sets </a:t>
            </a:r>
            <a:r>
              <a:rPr sz="3200" spc="20" dirty="0">
                <a:latin typeface="Calibri"/>
                <a:cs typeface="Calibri"/>
              </a:rPr>
              <a:t>of </a:t>
            </a:r>
            <a:r>
              <a:rPr sz="3200" spc="-5" dirty="0">
                <a:latin typeface="Calibri"/>
                <a:cs typeface="Calibri"/>
              </a:rPr>
              <a:t>size</a:t>
            </a:r>
            <a:r>
              <a:rPr sz="3200" spc="-325" dirty="0">
                <a:latin typeface="Calibri"/>
                <a:cs typeface="Calibri"/>
              </a:rPr>
              <a:t> </a:t>
            </a:r>
            <a:r>
              <a:rPr sz="3200" i="1" spc="15" dirty="0">
                <a:latin typeface="Calibri"/>
                <a:cs typeface="Calibri"/>
              </a:rPr>
              <a:t>k</a:t>
            </a:r>
            <a:r>
              <a:rPr sz="3200" spc="15" dirty="0">
                <a:latin typeface="Calibri"/>
                <a:cs typeface="Calibri"/>
              </a:rPr>
              <a:t>):</a:t>
            </a:r>
            <a:endParaRPr sz="3200">
              <a:latin typeface="Calibri"/>
              <a:cs typeface="Calibri"/>
            </a:endParaRPr>
          </a:p>
          <a:p>
            <a:pPr marL="657860" marR="30480" indent="-276860">
              <a:lnSpc>
                <a:spcPct val="102400"/>
              </a:lnSpc>
              <a:spcBef>
                <a:spcPts val="660"/>
              </a:spcBef>
              <a:buClr>
                <a:srgbClr val="5FB5CC"/>
              </a:buClr>
              <a:buFont typeface="Wingdings"/>
              <a:buChar char=""/>
              <a:tabLst>
                <a:tab pos="657860" algn="l"/>
              </a:tabLst>
            </a:pPr>
            <a:r>
              <a:rPr sz="2750" b="1" i="1" dirty="0">
                <a:latin typeface="Calibri"/>
                <a:cs typeface="Calibri"/>
              </a:rPr>
              <a:t>C</a:t>
            </a:r>
            <a:r>
              <a:rPr sz="2775" b="1" i="1" baseline="-18018" dirty="0">
                <a:latin typeface="Calibri"/>
                <a:cs typeface="Calibri"/>
              </a:rPr>
              <a:t>k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b="1" i="1" spc="25" dirty="0">
                <a:solidFill>
                  <a:srgbClr val="FF0066"/>
                </a:solidFill>
                <a:latin typeface="Calibri"/>
                <a:cs typeface="Calibri"/>
              </a:rPr>
              <a:t>candidate </a:t>
            </a:r>
            <a:r>
              <a:rPr sz="2750" b="1" i="1" spc="15" dirty="0">
                <a:latin typeface="Calibri"/>
                <a:cs typeface="Calibri"/>
              </a:rPr>
              <a:t>k-tuples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-5" dirty="0">
                <a:latin typeface="Calibri"/>
                <a:cs typeface="Calibri"/>
              </a:rPr>
              <a:t>those that might be  </a:t>
            </a:r>
            <a:r>
              <a:rPr sz="2750" spc="-15" dirty="0">
                <a:latin typeface="Calibri"/>
                <a:cs typeface="Calibri"/>
              </a:rPr>
              <a:t>frequent </a:t>
            </a:r>
            <a:r>
              <a:rPr sz="2750" spc="-20" dirty="0">
                <a:latin typeface="Calibri"/>
                <a:cs typeface="Calibri"/>
              </a:rPr>
              <a:t>sets </a:t>
            </a:r>
            <a:r>
              <a:rPr sz="2750" spc="-5" dirty="0">
                <a:latin typeface="Calibri"/>
                <a:cs typeface="Calibri"/>
              </a:rPr>
              <a:t>(support </a:t>
            </a:r>
            <a:r>
              <a:rPr sz="2750" b="1" u="heavy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&gt;</a:t>
            </a:r>
            <a:r>
              <a:rPr sz="2750" b="1" spc="10" dirty="0">
                <a:latin typeface="Calibri"/>
                <a:cs typeface="Calibri"/>
              </a:rPr>
              <a:t> </a:t>
            </a:r>
            <a:r>
              <a:rPr sz="2750" b="1" spc="15" dirty="0">
                <a:latin typeface="Calibri"/>
                <a:cs typeface="Calibri"/>
              </a:rPr>
              <a:t>s</a:t>
            </a:r>
            <a:r>
              <a:rPr sz="2750" spc="15" dirty="0">
                <a:latin typeface="Calibri"/>
                <a:cs typeface="Calibri"/>
              </a:rPr>
              <a:t>) </a:t>
            </a:r>
            <a:r>
              <a:rPr sz="2750" spc="-5" dirty="0">
                <a:latin typeface="Calibri"/>
                <a:cs typeface="Calibri"/>
              </a:rPr>
              <a:t>based </a:t>
            </a:r>
            <a:r>
              <a:rPr sz="2750" spc="30" dirty="0">
                <a:latin typeface="Calibri"/>
                <a:cs typeface="Calibri"/>
              </a:rPr>
              <a:t>on </a:t>
            </a:r>
            <a:r>
              <a:rPr sz="2750" dirty="0">
                <a:latin typeface="Calibri"/>
                <a:cs typeface="Calibri"/>
              </a:rPr>
              <a:t>information  </a:t>
            </a:r>
            <a:r>
              <a:rPr sz="2750" spc="-5" dirty="0">
                <a:latin typeface="Calibri"/>
                <a:cs typeface="Calibri"/>
              </a:rPr>
              <a:t>from </a:t>
            </a:r>
            <a:r>
              <a:rPr sz="2750" spc="-15" dirty="0">
                <a:latin typeface="Calibri"/>
                <a:cs typeface="Calibri"/>
              </a:rPr>
              <a:t>the </a:t>
            </a:r>
            <a:r>
              <a:rPr sz="2750" spc="-5" dirty="0">
                <a:latin typeface="Calibri"/>
                <a:cs typeface="Calibri"/>
              </a:rPr>
              <a:t>pass </a:t>
            </a:r>
            <a:r>
              <a:rPr sz="2750" spc="-15" dirty="0">
                <a:latin typeface="Calibri"/>
                <a:cs typeface="Calibri"/>
              </a:rPr>
              <a:t>for</a:t>
            </a:r>
            <a:r>
              <a:rPr sz="2750" spc="365" dirty="0">
                <a:latin typeface="Calibri"/>
                <a:cs typeface="Calibri"/>
              </a:rPr>
              <a:t> </a:t>
            </a:r>
            <a:r>
              <a:rPr sz="2750" b="1" i="1" spc="5" dirty="0">
                <a:latin typeface="Calibri"/>
                <a:cs typeface="Calibri"/>
              </a:rPr>
              <a:t>k</a:t>
            </a:r>
            <a:r>
              <a:rPr sz="2750" b="1" spc="5" dirty="0">
                <a:latin typeface="Calibri"/>
                <a:cs typeface="Calibri"/>
              </a:rPr>
              <a:t>–1</a:t>
            </a:r>
            <a:endParaRPr sz="2750">
              <a:latin typeface="Calibri"/>
              <a:cs typeface="Calibri"/>
            </a:endParaRPr>
          </a:p>
          <a:p>
            <a:pPr marL="657860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57860" algn="l"/>
              </a:tabLst>
            </a:pPr>
            <a:r>
              <a:rPr sz="2750" b="1" i="1" spc="25" dirty="0">
                <a:latin typeface="Calibri"/>
                <a:cs typeface="Calibri"/>
              </a:rPr>
              <a:t>L</a:t>
            </a:r>
            <a:r>
              <a:rPr sz="2775" b="1" i="1" spc="37" baseline="-18018" dirty="0">
                <a:latin typeface="Calibri"/>
                <a:cs typeface="Calibri"/>
              </a:rPr>
              <a:t>k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-10" dirty="0">
                <a:latin typeface="Calibri"/>
                <a:cs typeface="Calibri"/>
              </a:rPr>
              <a:t>the </a:t>
            </a:r>
            <a:r>
              <a:rPr sz="2750" spc="-15" dirty="0">
                <a:latin typeface="Calibri"/>
                <a:cs typeface="Calibri"/>
              </a:rPr>
              <a:t>set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10" dirty="0">
                <a:latin typeface="Calibri"/>
                <a:cs typeface="Calibri"/>
              </a:rPr>
              <a:t>truly </a:t>
            </a:r>
            <a:r>
              <a:rPr sz="2750" spc="-15" dirty="0">
                <a:latin typeface="Calibri"/>
                <a:cs typeface="Calibri"/>
              </a:rPr>
              <a:t>frequent</a:t>
            </a:r>
            <a:r>
              <a:rPr sz="2750" spc="345" dirty="0">
                <a:latin typeface="Calibri"/>
                <a:cs typeface="Calibri"/>
              </a:rPr>
              <a:t> </a:t>
            </a:r>
            <a:r>
              <a:rPr sz="2750" b="1" i="1" spc="-15" dirty="0">
                <a:latin typeface="Calibri"/>
                <a:cs typeface="Calibri"/>
              </a:rPr>
              <a:t>k</a:t>
            </a:r>
            <a:r>
              <a:rPr sz="2750" spc="-15" dirty="0">
                <a:latin typeface="Calibri"/>
                <a:cs typeface="Calibri"/>
              </a:rPr>
              <a:t>-tuples</a:t>
            </a:r>
            <a:endParaRPr sz="27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95475" y="5004434"/>
            <a:ext cx="1219200" cy="1529715"/>
            <a:chOff x="1395475" y="5004434"/>
            <a:chExt cx="1219200" cy="1529715"/>
          </a:xfrm>
        </p:grpSpPr>
        <p:sp>
          <p:nvSpPr>
            <p:cNvPr id="5" name="object 5"/>
            <p:cNvSpPr/>
            <p:nvPr/>
          </p:nvSpPr>
          <p:spPr>
            <a:xfrm>
              <a:off x="1624075" y="5614987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0" y="914400"/>
                  </a:lnTo>
                  <a:lnTo>
                    <a:pt x="762000" y="604862"/>
                  </a:lnTo>
                  <a:lnTo>
                    <a:pt x="762000" y="3095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24075" y="5614987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914400"/>
                  </a:moveTo>
                  <a:lnTo>
                    <a:pt x="762000" y="604862"/>
                  </a:lnTo>
                  <a:lnTo>
                    <a:pt x="762000" y="309537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5475" y="6034087"/>
              <a:ext cx="228473" cy="76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6075" y="6034087"/>
              <a:ext cx="228473" cy="762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2596" y="5004434"/>
              <a:ext cx="179705" cy="763270"/>
            </a:xfrm>
            <a:custGeom>
              <a:avLst/>
              <a:gdLst/>
              <a:ahLst/>
              <a:cxnLst/>
              <a:rect l="l" t="t" r="r" b="b"/>
              <a:pathLst>
                <a:path w="179705" h="763270">
                  <a:moveTo>
                    <a:pt x="0" y="680758"/>
                  </a:moveTo>
                  <a:lnTo>
                    <a:pt x="22478" y="762952"/>
                  </a:lnTo>
                  <a:lnTo>
                    <a:pt x="70082" y="701624"/>
                  </a:lnTo>
                  <a:lnTo>
                    <a:pt x="39496" y="701624"/>
                  </a:lnTo>
                  <a:lnTo>
                    <a:pt x="30225" y="699744"/>
                  </a:lnTo>
                  <a:lnTo>
                    <a:pt x="32713" y="687306"/>
                  </a:lnTo>
                  <a:lnTo>
                    <a:pt x="0" y="680758"/>
                  </a:lnTo>
                  <a:close/>
                </a:path>
                <a:path w="179705" h="763270">
                  <a:moveTo>
                    <a:pt x="32713" y="687306"/>
                  </a:moveTo>
                  <a:lnTo>
                    <a:pt x="30225" y="699744"/>
                  </a:lnTo>
                  <a:lnTo>
                    <a:pt x="39496" y="701624"/>
                  </a:lnTo>
                  <a:lnTo>
                    <a:pt x="41989" y="689163"/>
                  </a:lnTo>
                  <a:lnTo>
                    <a:pt x="32713" y="687306"/>
                  </a:lnTo>
                  <a:close/>
                </a:path>
                <a:path w="179705" h="763270">
                  <a:moveTo>
                    <a:pt x="41989" y="689163"/>
                  </a:moveTo>
                  <a:lnTo>
                    <a:pt x="39496" y="701624"/>
                  </a:lnTo>
                  <a:lnTo>
                    <a:pt x="70082" y="701624"/>
                  </a:lnTo>
                  <a:lnTo>
                    <a:pt x="74675" y="695705"/>
                  </a:lnTo>
                  <a:lnTo>
                    <a:pt x="41989" y="689163"/>
                  </a:lnTo>
                  <a:close/>
                </a:path>
                <a:path w="179705" h="763270">
                  <a:moveTo>
                    <a:pt x="170179" y="0"/>
                  </a:moveTo>
                  <a:lnTo>
                    <a:pt x="32713" y="687306"/>
                  </a:lnTo>
                  <a:lnTo>
                    <a:pt x="41989" y="689163"/>
                  </a:lnTo>
                  <a:lnTo>
                    <a:pt x="179450" y="1904"/>
                  </a:lnTo>
                  <a:lnTo>
                    <a:pt x="1701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900548" y="5156453"/>
            <a:ext cx="1219200" cy="1377950"/>
            <a:chOff x="4900548" y="5156453"/>
            <a:chExt cx="1219200" cy="1377950"/>
          </a:xfrm>
        </p:grpSpPr>
        <p:sp>
          <p:nvSpPr>
            <p:cNvPr id="11" name="object 11"/>
            <p:cNvSpPr/>
            <p:nvPr/>
          </p:nvSpPr>
          <p:spPr>
            <a:xfrm>
              <a:off x="5129275" y="5614987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0" y="914400"/>
                  </a:lnTo>
                  <a:lnTo>
                    <a:pt x="762000" y="604862"/>
                  </a:lnTo>
                  <a:lnTo>
                    <a:pt x="762000" y="3095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29275" y="5614987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914400"/>
                  </a:moveTo>
                  <a:lnTo>
                    <a:pt x="762000" y="604862"/>
                  </a:lnTo>
                  <a:lnTo>
                    <a:pt x="762000" y="309537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1148" y="6034087"/>
              <a:ext cx="228600" cy="76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00548" y="6034087"/>
              <a:ext cx="228600" cy="762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342127" y="5156453"/>
              <a:ext cx="172720" cy="535305"/>
            </a:xfrm>
            <a:custGeom>
              <a:avLst/>
              <a:gdLst/>
              <a:ahLst/>
              <a:cxnLst/>
              <a:rect l="l" t="t" r="r" b="b"/>
              <a:pathLst>
                <a:path w="172720" h="535304">
                  <a:moveTo>
                    <a:pt x="0" y="451002"/>
                  </a:moveTo>
                  <a:lnTo>
                    <a:pt x="15748" y="534733"/>
                  </a:lnTo>
                  <a:lnTo>
                    <a:pt x="70486" y="474980"/>
                  </a:lnTo>
                  <a:lnTo>
                    <a:pt x="37719" y="474980"/>
                  </a:lnTo>
                  <a:lnTo>
                    <a:pt x="28575" y="472363"/>
                  </a:lnTo>
                  <a:lnTo>
                    <a:pt x="32059" y="460159"/>
                  </a:lnTo>
                  <a:lnTo>
                    <a:pt x="0" y="451002"/>
                  </a:lnTo>
                  <a:close/>
                </a:path>
                <a:path w="172720" h="535304">
                  <a:moveTo>
                    <a:pt x="32059" y="460159"/>
                  </a:moveTo>
                  <a:lnTo>
                    <a:pt x="28575" y="472363"/>
                  </a:lnTo>
                  <a:lnTo>
                    <a:pt x="37719" y="474980"/>
                  </a:lnTo>
                  <a:lnTo>
                    <a:pt x="41208" y="462772"/>
                  </a:lnTo>
                  <a:lnTo>
                    <a:pt x="32059" y="460159"/>
                  </a:lnTo>
                  <a:close/>
                </a:path>
                <a:path w="172720" h="535304">
                  <a:moveTo>
                    <a:pt x="41208" y="462772"/>
                  </a:moveTo>
                  <a:lnTo>
                    <a:pt x="37719" y="474980"/>
                  </a:lnTo>
                  <a:lnTo>
                    <a:pt x="70486" y="474980"/>
                  </a:lnTo>
                  <a:lnTo>
                    <a:pt x="73279" y="471932"/>
                  </a:lnTo>
                  <a:lnTo>
                    <a:pt x="41208" y="462772"/>
                  </a:lnTo>
                  <a:close/>
                </a:path>
                <a:path w="172720" h="535304">
                  <a:moveTo>
                    <a:pt x="163449" y="0"/>
                  </a:moveTo>
                  <a:lnTo>
                    <a:pt x="32059" y="460159"/>
                  </a:lnTo>
                  <a:lnTo>
                    <a:pt x="41208" y="462772"/>
                  </a:lnTo>
                  <a:lnTo>
                    <a:pt x="172720" y="2667"/>
                  </a:lnTo>
                  <a:lnTo>
                    <a:pt x="163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500748" y="5233289"/>
            <a:ext cx="1600200" cy="1148715"/>
            <a:chOff x="6500748" y="5233289"/>
            <a:chExt cx="1600200" cy="1148715"/>
          </a:xfrm>
        </p:grpSpPr>
        <p:sp>
          <p:nvSpPr>
            <p:cNvPr id="17" name="object 17"/>
            <p:cNvSpPr/>
            <p:nvPr/>
          </p:nvSpPr>
          <p:spPr>
            <a:xfrm>
              <a:off x="6729475" y="5767387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11430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1143000" y="6096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99CC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729475" y="5767387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0" y="609600"/>
                  </a:moveTo>
                  <a:lnTo>
                    <a:pt x="1143000" y="6096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72348" y="6034087"/>
              <a:ext cx="228600" cy="76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00748" y="6034087"/>
              <a:ext cx="228600" cy="762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235824" y="5233289"/>
              <a:ext cx="107950" cy="534670"/>
            </a:xfrm>
            <a:custGeom>
              <a:avLst/>
              <a:gdLst/>
              <a:ahLst/>
              <a:cxnLst/>
              <a:rect l="l" t="t" r="r" b="b"/>
              <a:pathLst>
                <a:path w="107950" h="534670">
                  <a:moveTo>
                    <a:pt x="0" y="453275"/>
                  </a:moveTo>
                  <a:lnTo>
                    <a:pt x="27050" y="534098"/>
                  </a:lnTo>
                  <a:lnTo>
                    <a:pt x="70008" y="471906"/>
                  </a:lnTo>
                  <a:lnTo>
                    <a:pt x="40640" y="471906"/>
                  </a:lnTo>
                  <a:lnTo>
                    <a:pt x="31242" y="470560"/>
                  </a:lnTo>
                  <a:lnTo>
                    <a:pt x="33036" y="457992"/>
                  </a:lnTo>
                  <a:lnTo>
                    <a:pt x="0" y="453275"/>
                  </a:lnTo>
                  <a:close/>
                </a:path>
                <a:path w="107950" h="534670">
                  <a:moveTo>
                    <a:pt x="33036" y="457992"/>
                  </a:moveTo>
                  <a:lnTo>
                    <a:pt x="31242" y="470560"/>
                  </a:lnTo>
                  <a:lnTo>
                    <a:pt x="40640" y="471906"/>
                  </a:lnTo>
                  <a:lnTo>
                    <a:pt x="42438" y="459334"/>
                  </a:lnTo>
                  <a:lnTo>
                    <a:pt x="33036" y="457992"/>
                  </a:lnTo>
                  <a:close/>
                </a:path>
                <a:path w="107950" h="534670">
                  <a:moveTo>
                    <a:pt x="42438" y="459334"/>
                  </a:moveTo>
                  <a:lnTo>
                    <a:pt x="40640" y="471906"/>
                  </a:lnTo>
                  <a:lnTo>
                    <a:pt x="70008" y="471906"/>
                  </a:lnTo>
                  <a:lnTo>
                    <a:pt x="75438" y="464045"/>
                  </a:lnTo>
                  <a:lnTo>
                    <a:pt x="42438" y="459334"/>
                  </a:lnTo>
                  <a:close/>
                </a:path>
                <a:path w="107950" h="534670">
                  <a:moveTo>
                    <a:pt x="98425" y="0"/>
                  </a:moveTo>
                  <a:lnTo>
                    <a:pt x="33036" y="457992"/>
                  </a:lnTo>
                  <a:lnTo>
                    <a:pt x="42438" y="459334"/>
                  </a:lnTo>
                  <a:lnTo>
                    <a:pt x="107950" y="1397"/>
                  </a:lnTo>
                  <a:lnTo>
                    <a:pt x="984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919476" y="5233289"/>
            <a:ext cx="1600200" cy="1148715"/>
            <a:chOff x="2919476" y="5233289"/>
            <a:chExt cx="1600200" cy="1148715"/>
          </a:xfrm>
        </p:grpSpPr>
        <p:sp>
          <p:nvSpPr>
            <p:cNvPr id="23" name="object 23"/>
            <p:cNvSpPr/>
            <p:nvPr/>
          </p:nvSpPr>
          <p:spPr>
            <a:xfrm>
              <a:off x="3148076" y="5767387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11430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1143000" y="6096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99CC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48076" y="5767387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0" y="609600"/>
                  </a:moveTo>
                  <a:lnTo>
                    <a:pt x="1143000" y="6096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19476" y="6034087"/>
              <a:ext cx="228473" cy="762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90949" y="6034087"/>
              <a:ext cx="228600" cy="762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654425" y="5233289"/>
              <a:ext cx="107950" cy="534670"/>
            </a:xfrm>
            <a:custGeom>
              <a:avLst/>
              <a:gdLst/>
              <a:ahLst/>
              <a:cxnLst/>
              <a:rect l="l" t="t" r="r" b="b"/>
              <a:pathLst>
                <a:path w="107950" h="534670">
                  <a:moveTo>
                    <a:pt x="0" y="453275"/>
                  </a:moveTo>
                  <a:lnTo>
                    <a:pt x="27050" y="534098"/>
                  </a:lnTo>
                  <a:lnTo>
                    <a:pt x="70008" y="471906"/>
                  </a:lnTo>
                  <a:lnTo>
                    <a:pt x="40639" y="471906"/>
                  </a:lnTo>
                  <a:lnTo>
                    <a:pt x="31241" y="470560"/>
                  </a:lnTo>
                  <a:lnTo>
                    <a:pt x="33036" y="457992"/>
                  </a:lnTo>
                  <a:lnTo>
                    <a:pt x="0" y="453275"/>
                  </a:lnTo>
                  <a:close/>
                </a:path>
                <a:path w="107950" h="534670">
                  <a:moveTo>
                    <a:pt x="33036" y="457992"/>
                  </a:moveTo>
                  <a:lnTo>
                    <a:pt x="31241" y="470560"/>
                  </a:lnTo>
                  <a:lnTo>
                    <a:pt x="40639" y="471906"/>
                  </a:lnTo>
                  <a:lnTo>
                    <a:pt x="42438" y="459334"/>
                  </a:lnTo>
                  <a:lnTo>
                    <a:pt x="33036" y="457992"/>
                  </a:lnTo>
                  <a:close/>
                </a:path>
                <a:path w="107950" h="534670">
                  <a:moveTo>
                    <a:pt x="42438" y="459334"/>
                  </a:moveTo>
                  <a:lnTo>
                    <a:pt x="40639" y="471906"/>
                  </a:lnTo>
                  <a:lnTo>
                    <a:pt x="70008" y="471906"/>
                  </a:lnTo>
                  <a:lnTo>
                    <a:pt x="75437" y="464045"/>
                  </a:lnTo>
                  <a:lnTo>
                    <a:pt x="42438" y="459334"/>
                  </a:lnTo>
                  <a:close/>
                </a:path>
                <a:path w="107950" h="534670">
                  <a:moveTo>
                    <a:pt x="98425" y="0"/>
                  </a:moveTo>
                  <a:lnTo>
                    <a:pt x="33036" y="457992"/>
                  </a:lnTo>
                  <a:lnTo>
                    <a:pt x="42438" y="459334"/>
                  </a:lnTo>
                  <a:lnTo>
                    <a:pt x="107950" y="1397"/>
                  </a:lnTo>
                  <a:lnTo>
                    <a:pt x="984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58148" y="6034087"/>
            <a:ext cx="228600" cy="7620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918527" y="4601781"/>
            <a:ext cx="568960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42875">
              <a:lnSpc>
                <a:spcPct val="100800"/>
              </a:lnSpc>
              <a:spcBef>
                <a:spcPts val="85"/>
              </a:spcBef>
            </a:pPr>
            <a:r>
              <a:rPr sz="1800" spc="-15" dirty="0">
                <a:solidFill>
                  <a:srgbClr val="008000"/>
                </a:solidFill>
                <a:latin typeface="Arial"/>
                <a:cs typeface="Arial"/>
              </a:rPr>
              <a:t>All  </a:t>
            </a:r>
            <a:r>
              <a:rPr sz="1800" spc="-30" dirty="0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sz="1800" spc="20" dirty="0">
                <a:solidFill>
                  <a:srgbClr val="008000"/>
                </a:solidFill>
                <a:latin typeface="Arial"/>
                <a:cs typeface="Arial"/>
              </a:rPr>
              <a:t>t</a:t>
            </a:r>
            <a:r>
              <a:rPr sz="1800" spc="-30" dirty="0">
                <a:solidFill>
                  <a:srgbClr val="008000"/>
                </a:solidFill>
                <a:latin typeface="Arial"/>
                <a:cs typeface="Arial"/>
              </a:rPr>
              <a:t>e</a:t>
            </a: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ms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62253" y="5309615"/>
            <a:ext cx="109855" cy="610235"/>
          </a:xfrm>
          <a:custGeom>
            <a:avLst/>
            <a:gdLst/>
            <a:ahLst/>
            <a:cxnLst/>
            <a:rect l="l" t="t" r="r" b="b"/>
            <a:pathLst>
              <a:path w="109855" h="610235">
                <a:moveTo>
                  <a:pt x="0" y="529831"/>
                </a:moveTo>
                <a:lnTo>
                  <a:pt x="28359" y="610171"/>
                </a:lnTo>
                <a:lnTo>
                  <a:pt x="69969" y="547751"/>
                </a:lnTo>
                <a:lnTo>
                  <a:pt x="40957" y="547751"/>
                </a:lnTo>
                <a:lnTo>
                  <a:pt x="31508" y="546569"/>
                </a:lnTo>
                <a:lnTo>
                  <a:pt x="33084" y="533965"/>
                </a:lnTo>
                <a:lnTo>
                  <a:pt x="0" y="529831"/>
                </a:lnTo>
                <a:close/>
              </a:path>
              <a:path w="109855" h="610235">
                <a:moveTo>
                  <a:pt x="33084" y="533965"/>
                </a:moveTo>
                <a:lnTo>
                  <a:pt x="31508" y="546569"/>
                </a:lnTo>
                <a:lnTo>
                  <a:pt x="40957" y="547751"/>
                </a:lnTo>
                <a:lnTo>
                  <a:pt x="42533" y="535146"/>
                </a:lnTo>
                <a:lnTo>
                  <a:pt x="33084" y="533965"/>
                </a:lnTo>
                <a:close/>
              </a:path>
              <a:path w="109855" h="610235">
                <a:moveTo>
                  <a:pt x="42533" y="535146"/>
                </a:moveTo>
                <a:lnTo>
                  <a:pt x="40957" y="547751"/>
                </a:lnTo>
                <a:lnTo>
                  <a:pt x="69969" y="547751"/>
                </a:lnTo>
                <a:lnTo>
                  <a:pt x="75615" y="539280"/>
                </a:lnTo>
                <a:lnTo>
                  <a:pt x="42533" y="535146"/>
                </a:lnTo>
                <a:close/>
              </a:path>
              <a:path w="109855" h="610235">
                <a:moveTo>
                  <a:pt x="99834" y="0"/>
                </a:moveTo>
                <a:lnTo>
                  <a:pt x="33084" y="533965"/>
                </a:lnTo>
                <a:lnTo>
                  <a:pt x="42533" y="535146"/>
                </a:lnTo>
                <a:lnTo>
                  <a:pt x="109283" y="1143"/>
                </a:lnTo>
                <a:lnTo>
                  <a:pt x="998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273678" y="4341177"/>
            <a:ext cx="885825" cy="8534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7625" marR="30480" indent="-9525" algn="just">
              <a:lnSpc>
                <a:spcPct val="100800"/>
              </a:lnSpc>
              <a:spcBef>
                <a:spcPts val="85"/>
              </a:spcBef>
            </a:pPr>
            <a:r>
              <a:rPr sz="1800" spc="-15" dirty="0">
                <a:solidFill>
                  <a:srgbClr val="008000"/>
                </a:solidFill>
                <a:latin typeface="Arial"/>
                <a:cs typeface="Arial"/>
              </a:rPr>
              <a:t>All</a:t>
            </a:r>
            <a:r>
              <a:rPr sz="1800" spc="-7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8000"/>
                </a:solidFill>
                <a:latin typeface="Arial"/>
                <a:cs typeface="Arial"/>
              </a:rPr>
              <a:t>pairs  </a:t>
            </a:r>
            <a:r>
              <a:rPr sz="1800" spc="-15" dirty="0">
                <a:solidFill>
                  <a:srgbClr val="008000"/>
                </a:solidFill>
                <a:latin typeface="Arial"/>
                <a:cs typeface="Arial"/>
              </a:rPr>
              <a:t>of</a:t>
            </a:r>
            <a:r>
              <a:rPr sz="1800" spc="-4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8000"/>
                </a:solidFill>
                <a:latin typeface="Arial"/>
                <a:cs typeface="Arial"/>
              </a:rPr>
              <a:t>items  </a:t>
            </a:r>
            <a:r>
              <a:rPr sz="1800" spc="-5" dirty="0">
                <a:solidFill>
                  <a:srgbClr val="008000"/>
                </a:solidFill>
                <a:latin typeface="Arial"/>
                <a:cs typeface="Arial"/>
              </a:rPr>
              <a:t>from</a:t>
            </a:r>
            <a:r>
              <a:rPr sz="1800" spc="-2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008000"/>
                </a:solidFill>
                <a:latin typeface="Arial"/>
                <a:cs typeface="Arial"/>
              </a:rPr>
              <a:t>L</a:t>
            </a:r>
            <a:r>
              <a:rPr sz="1800" spc="-22" baseline="-18518" dirty="0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29739" y="5933852"/>
            <a:ext cx="53975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25" dirty="0">
                <a:latin typeface="Arial"/>
                <a:cs typeface="Arial"/>
              </a:rPr>
              <a:t>F</a:t>
            </a:r>
            <a:r>
              <a:rPr sz="1800" spc="-30" dirty="0">
                <a:latin typeface="Arial"/>
                <a:cs typeface="Arial"/>
              </a:rPr>
              <a:t>i</a:t>
            </a:r>
            <a:r>
              <a:rPr sz="1800" spc="45" dirty="0">
                <a:latin typeface="Arial"/>
                <a:cs typeface="Arial"/>
              </a:rPr>
              <a:t>l</a:t>
            </a:r>
            <a:r>
              <a:rPr sz="1800" spc="20" dirty="0">
                <a:latin typeface="Arial"/>
                <a:cs typeface="Arial"/>
              </a:rPr>
              <a:t>t</a:t>
            </a:r>
            <a:r>
              <a:rPr sz="1800" spc="-30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13480" y="5934804"/>
            <a:ext cx="101282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30" dirty="0">
                <a:latin typeface="Arial"/>
                <a:cs typeface="Arial"/>
              </a:rPr>
              <a:t>Co</a:t>
            </a:r>
            <a:r>
              <a:rPr sz="1800" spc="45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spc="20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45" dirty="0">
                <a:latin typeface="Arial"/>
                <a:cs typeface="Arial"/>
              </a:rPr>
              <a:t>u</a:t>
            </a:r>
            <a:r>
              <a:rPr sz="1800" dirty="0">
                <a:latin typeface="Arial"/>
                <a:cs typeface="Arial"/>
              </a:rPr>
              <a:t>ct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238750" y="5933852"/>
            <a:ext cx="53911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20" dirty="0">
                <a:latin typeface="Arial"/>
                <a:cs typeface="Arial"/>
              </a:rPr>
              <a:t>F</a:t>
            </a:r>
            <a:r>
              <a:rPr sz="1800" spc="-30" dirty="0">
                <a:latin typeface="Arial"/>
                <a:cs typeface="Arial"/>
              </a:rPr>
              <a:t>i</a:t>
            </a:r>
            <a:r>
              <a:rPr sz="1800" spc="45" dirty="0">
                <a:latin typeface="Arial"/>
                <a:cs typeface="Arial"/>
              </a:rPr>
              <a:t>l</a:t>
            </a:r>
            <a:r>
              <a:rPr sz="1800" spc="20" dirty="0">
                <a:latin typeface="Arial"/>
                <a:cs typeface="Arial"/>
              </a:rPr>
              <a:t>t</a:t>
            </a:r>
            <a:r>
              <a:rPr sz="1800" spc="-30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98309" y="5934804"/>
            <a:ext cx="1014094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5" dirty="0">
                <a:latin typeface="Arial"/>
                <a:cs typeface="Arial"/>
              </a:rPr>
              <a:t>C</a:t>
            </a:r>
            <a:r>
              <a:rPr sz="1800" spc="-30" dirty="0">
                <a:latin typeface="Arial"/>
                <a:cs typeface="Arial"/>
              </a:rPr>
              <a:t>o</a:t>
            </a:r>
            <a:r>
              <a:rPr sz="1800" spc="45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spc="20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45" dirty="0">
                <a:latin typeface="Arial"/>
                <a:cs typeface="Arial"/>
              </a:rPr>
              <a:t>u</a:t>
            </a:r>
            <a:r>
              <a:rPr sz="1800" dirty="0">
                <a:latin typeface="Arial"/>
                <a:cs typeface="Arial"/>
              </a:rPr>
              <a:t>ct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09967" y="5965284"/>
            <a:ext cx="273050" cy="313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5" dirty="0">
                <a:latin typeface="Arial"/>
                <a:cs typeface="Arial"/>
              </a:rPr>
              <a:t>C</a:t>
            </a:r>
            <a:r>
              <a:rPr sz="1800" baseline="-18518" dirty="0">
                <a:latin typeface="Arial"/>
                <a:cs typeface="Arial"/>
              </a:rPr>
              <a:t>1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88335" y="5965284"/>
            <a:ext cx="234315" cy="313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30" dirty="0">
                <a:latin typeface="Arial"/>
                <a:cs typeface="Arial"/>
              </a:rPr>
              <a:t>L</a:t>
            </a:r>
            <a:r>
              <a:rPr sz="1800" baseline="-18518" dirty="0">
                <a:latin typeface="Arial"/>
                <a:cs typeface="Arial"/>
              </a:rPr>
              <a:t>1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95240" y="5965284"/>
            <a:ext cx="273050" cy="313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5" dirty="0">
                <a:latin typeface="Arial"/>
                <a:cs typeface="Arial"/>
              </a:rPr>
              <a:t>C</a:t>
            </a:r>
            <a:r>
              <a:rPr sz="1800" baseline="-18518" dirty="0">
                <a:latin typeface="Arial"/>
                <a:cs typeface="Arial"/>
              </a:rPr>
              <a:t>2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196965" y="5965284"/>
            <a:ext cx="234950" cy="313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30" dirty="0">
                <a:latin typeface="Arial"/>
                <a:cs typeface="Arial"/>
              </a:rPr>
              <a:t>L</a:t>
            </a:r>
            <a:r>
              <a:rPr sz="1800" baseline="-18518" dirty="0">
                <a:latin typeface="Arial"/>
                <a:cs typeface="Arial"/>
              </a:rPr>
              <a:t>2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180451" y="5965284"/>
            <a:ext cx="272415" cy="313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30" dirty="0">
                <a:latin typeface="Arial"/>
                <a:cs typeface="Arial"/>
              </a:rPr>
              <a:t>C</a:t>
            </a:r>
            <a:r>
              <a:rPr sz="1800" baseline="-18518" dirty="0">
                <a:latin typeface="Arial"/>
                <a:cs typeface="Arial"/>
              </a:rPr>
              <a:t>3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37454" y="4449127"/>
            <a:ext cx="903605" cy="5772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123825">
              <a:lnSpc>
                <a:spcPct val="100899"/>
              </a:lnSpc>
              <a:spcBef>
                <a:spcPts val="80"/>
              </a:spcBef>
            </a:pPr>
            <a:r>
              <a:rPr sz="1800" spc="5" dirty="0">
                <a:solidFill>
                  <a:srgbClr val="008000"/>
                </a:solidFill>
                <a:latin typeface="Arial"/>
                <a:cs typeface="Arial"/>
              </a:rPr>
              <a:t>Count  </a:t>
            </a:r>
            <a:r>
              <a:rPr sz="1800" spc="20" dirty="0">
                <a:solidFill>
                  <a:srgbClr val="008000"/>
                </a:solidFill>
                <a:latin typeface="Arial"/>
                <a:cs typeface="Arial"/>
              </a:rPr>
              <a:t>the</a:t>
            </a:r>
            <a:r>
              <a:rPr sz="1800" spc="-14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8000"/>
                </a:solidFill>
                <a:latin typeface="Arial"/>
                <a:cs typeface="Arial"/>
              </a:rPr>
              <a:t>pairs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68159" y="4525581"/>
            <a:ext cx="1002030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209550">
              <a:lnSpc>
                <a:spcPct val="100800"/>
              </a:lnSpc>
              <a:spcBef>
                <a:spcPts val="85"/>
              </a:spcBef>
            </a:pPr>
            <a:r>
              <a:rPr sz="1800" spc="-140" dirty="0">
                <a:solidFill>
                  <a:srgbClr val="008000"/>
                </a:solidFill>
                <a:latin typeface="Arial"/>
                <a:cs typeface="Arial"/>
              </a:rPr>
              <a:t>To </a:t>
            </a:r>
            <a:r>
              <a:rPr sz="1800" spc="20" dirty="0">
                <a:solidFill>
                  <a:srgbClr val="008000"/>
                </a:solidFill>
                <a:latin typeface="Arial"/>
                <a:cs typeface="Arial"/>
              </a:rPr>
              <a:t>be  </a:t>
            </a:r>
            <a:r>
              <a:rPr sz="1800" spc="-30" dirty="0">
                <a:solidFill>
                  <a:srgbClr val="008000"/>
                </a:solidFill>
                <a:latin typeface="Arial"/>
                <a:cs typeface="Arial"/>
              </a:rPr>
              <a:t>e</a:t>
            </a:r>
            <a:r>
              <a:rPr sz="1800" spc="-75" dirty="0">
                <a:solidFill>
                  <a:srgbClr val="008000"/>
                </a:solidFill>
                <a:latin typeface="Arial"/>
                <a:cs typeface="Arial"/>
              </a:rPr>
              <a:t>x</a:t>
            </a:r>
            <a:r>
              <a:rPr sz="1800" spc="45" dirty="0">
                <a:solidFill>
                  <a:srgbClr val="008000"/>
                </a:solidFill>
                <a:latin typeface="Arial"/>
                <a:cs typeface="Arial"/>
              </a:rPr>
              <a:t>p</a:t>
            </a:r>
            <a:r>
              <a:rPr sz="1800" spc="50" dirty="0">
                <a:solidFill>
                  <a:srgbClr val="008000"/>
                </a:solidFill>
                <a:latin typeface="Arial"/>
                <a:cs typeface="Arial"/>
              </a:rPr>
              <a:t>l</a:t>
            </a:r>
            <a:r>
              <a:rPr sz="1800" spc="-30" dirty="0">
                <a:solidFill>
                  <a:srgbClr val="008000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sz="1800" spc="45" dirty="0">
                <a:solidFill>
                  <a:srgbClr val="008000"/>
                </a:solidFill>
                <a:latin typeface="Arial"/>
                <a:cs typeface="Arial"/>
              </a:rPr>
              <a:t>n</a:t>
            </a:r>
            <a:r>
              <a:rPr sz="1800" spc="-30" dirty="0">
                <a:solidFill>
                  <a:srgbClr val="008000"/>
                </a:solidFill>
                <a:latin typeface="Arial"/>
                <a:cs typeface="Arial"/>
              </a:rPr>
              <a:t>e</a:t>
            </a: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83079" y="4417377"/>
            <a:ext cx="949325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52400">
              <a:lnSpc>
                <a:spcPct val="100800"/>
              </a:lnSpc>
              <a:spcBef>
                <a:spcPts val="85"/>
              </a:spcBef>
            </a:pPr>
            <a:r>
              <a:rPr sz="1800" spc="5" dirty="0">
                <a:solidFill>
                  <a:srgbClr val="008000"/>
                </a:solidFill>
                <a:latin typeface="Arial"/>
                <a:cs typeface="Arial"/>
              </a:rPr>
              <a:t>Count  </a:t>
            </a:r>
            <a:r>
              <a:rPr sz="1800" spc="20" dirty="0">
                <a:solidFill>
                  <a:srgbClr val="008000"/>
                </a:solidFill>
                <a:latin typeface="Arial"/>
                <a:cs typeface="Arial"/>
              </a:rPr>
              <a:t>the</a:t>
            </a:r>
            <a:r>
              <a:rPr sz="1800" spc="-15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8000"/>
                </a:solidFill>
                <a:latin typeface="Arial"/>
                <a:cs typeface="Arial"/>
              </a:rPr>
              <a:t>items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D68C4243-17FE-4F6F-9AAF-B90376B039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38</a:t>
            </a:fld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171575"/>
            <a:chOff x="0" y="0"/>
            <a:chExt cx="9144000" cy="11715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99426"/>
              <a:ext cx="9144000" cy="11048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019175"/>
              <a:ext cx="9144000" cy="47625"/>
            </a:xfrm>
            <a:custGeom>
              <a:avLst/>
              <a:gdLst/>
              <a:ahLst/>
              <a:cxnLst/>
              <a:rect l="l" t="t" r="r" b="b"/>
              <a:pathLst>
                <a:path w="9144000" h="47625">
                  <a:moveTo>
                    <a:pt x="9144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44000" y="476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5105400" cy="1019175"/>
            </a:xfrm>
            <a:custGeom>
              <a:avLst/>
              <a:gdLst/>
              <a:ahLst/>
              <a:cxnLst/>
              <a:rect l="l" t="t" r="r" b="b"/>
              <a:pathLst>
                <a:path w="5105400" h="1019175">
                  <a:moveTo>
                    <a:pt x="0" y="1019175"/>
                  </a:moveTo>
                  <a:lnTo>
                    <a:pt x="5105400" y="1019175"/>
                  </a:lnTo>
                  <a:lnTo>
                    <a:pt x="5105400" y="0"/>
                  </a:lnTo>
                  <a:lnTo>
                    <a:pt x="0" y="0"/>
                  </a:lnTo>
                  <a:lnTo>
                    <a:pt x="0" y="10191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" y="333311"/>
              <a:ext cx="2119376" cy="57626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05400" y="0"/>
              <a:ext cx="4038600" cy="1171575"/>
            </a:xfrm>
            <a:custGeom>
              <a:avLst/>
              <a:gdLst/>
              <a:ahLst/>
              <a:cxnLst/>
              <a:rect l="l" t="t" r="r" b="b"/>
              <a:pathLst>
                <a:path w="4038600" h="1171575">
                  <a:moveTo>
                    <a:pt x="4038600" y="0"/>
                  </a:moveTo>
                  <a:lnTo>
                    <a:pt x="0" y="0"/>
                  </a:lnTo>
                  <a:lnTo>
                    <a:pt x="0" y="1171575"/>
                  </a:lnTo>
                  <a:lnTo>
                    <a:pt x="4038600" y="1171575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8962" y="1243913"/>
            <a:ext cx="7862570" cy="421513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619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62585" algn="l"/>
              </a:tabLst>
            </a:pP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Hypothetical </a:t>
            </a:r>
            <a:r>
              <a:rPr sz="3200" b="1" spc="-5" dirty="0">
                <a:solidFill>
                  <a:srgbClr val="0000FF"/>
                </a:solidFill>
                <a:latin typeface="Calibri"/>
                <a:cs typeface="Calibri"/>
              </a:rPr>
              <a:t>steps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of the </a:t>
            </a: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A-Priori</a:t>
            </a:r>
            <a:r>
              <a:rPr sz="3200" b="1" spc="-4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algorithm</a:t>
            </a:r>
            <a:endParaRPr sz="3200">
              <a:latin typeface="Calibri"/>
              <a:cs typeface="Calibri"/>
            </a:endParaRPr>
          </a:p>
          <a:p>
            <a:pPr marL="657860" lvl="1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57860" algn="l"/>
              </a:tabLst>
            </a:pPr>
            <a:r>
              <a:rPr sz="2750" spc="25" dirty="0">
                <a:latin typeface="Calibri"/>
                <a:cs typeface="Calibri"/>
              </a:rPr>
              <a:t>C</a:t>
            </a:r>
            <a:r>
              <a:rPr sz="2775" spc="37" baseline="-18018" dirty="0">
                <a:latin typeface="Calibri"/>
                <a:cs typeface="Calibri"/>
              </a:rPr>
              <a:t>1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5" dirty="0">
                <a:latin typeface="Calibri"/>
                <a:cs typeface="Calibri"/>
              </a:rPr>
              <a:t>{ {b} </a:t>
            </a:r>
            <a:r>
              <a:rPr sz="2750" spc="25" dirty="0">
                <a:latin typeface="Calibri"/>
                <a:cs typeface="Calibri"/>
              </a:rPr>
              <a:t>{c} </a:t>
            </a:r>
            <a:r>
              <a:rPr sz="2750" spc="15" dirty="0">
                <a:latin typeface="Calibri"/>
                <a:cs typeface="Calibri"/>
              </a:rPr>
              <a:t>{j} </a:t>
            </a:r>
            <a:r>
              <a:rPr sz="2750" spc="30" dirty="0">
                <a:latin typeface="Calibri"/>
                <a:cs typeface="Calibri"/>
              </a:rPr>
              <a:t>{m} </a:t>
            </a:r>
            <a:r>
              <a:rPr sz="2750" spc="5" dirty="0">
                <a:latin typeface="Calibri"/>
                <a:cs typeface="Calibri"/>
              </a:rPr>
              <a:t>{n} {p}</a:t>
            </a:r>
            <a:r>
              <a:rPr sz="2750" spc="-24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}</a:t>
            </a:r>
            <a:endParaRPr sz="2750">
              <a:latin typeface="Calibri"/>
              <a:cs typeface="Calibri"/>
            </a:endParaRPr>
          </a:p>
          <a:p>
            <a:pPr marL="657860" lvl="1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57860" algn="l"/>
              </a:tabLst>
            </a:pPr>
            <a:r>
              <a:rPr sz="2750" spc="5" dirty="0">
                <a:latin typeface="Calibri"/>
                <a:cs typeface="Calibri"/>
              </a:rPr>
              <a:t>Count </a:t>
            </a:r>
            <a:r>
              <a:rPr sz="2750" spc="-10" dirty="0">
                <a:latin typeface="Calibri"/>
                <a:cs typeface="Calibri"/>
              </a:rPr>
              <a:t>the </a:t>
            </a:r>
            <a:r>
              <a:rPr sz="2750" spc="-5" dirty="0">
                <a:latin typeface="Calibri"/>
                <a:cs typeface="Calibri"/>
              </a:rPr>
              <a:t>support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15" dirty="0">
                <a:latin typeface="Calibri"/>
                <a:cs typeface="Calibri"/>
              </a:rPr>
              <a:t>itemsets </a:t>
            </a:r>
            <a:r>
              <a:rPr sz="2750" spc="-10" dirty="0">
                <a:latin typeface="Calibri"/>
                <a:cs typeface="Calibri"/>
              </a:rPr>
              <a:t>in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C</a:t>
            </a:r>
            <a:r>
              <a:rPr sz="2775" spc="30" baseline="-18018" dirty="0">
                <a:latin typeface="Calibri"/>
                <a:cs typeface="Calibri"/>
              </a:rPr>
              <a:t>1</a:t>
            </a:r>
            <a:endParaRPr sz="2775" baseline="-18018">
              <a:latin typeface="Calibri"/>
              <a:cs typeface="Calibri"/>
            </a:endParaRPr>
          </a:p>
          <a:p>
            <a:pPr marL="657860" lvl="1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57860" algn="l"/>
              </a:tabLst>
            </a:pPr>
            <a:r>
              <a:rPr sz="2750" spc="-5" dirty="0">
                <a:latin typeface="Calibri"/>
                <a:cs typeface="Calibri"/>
              </a:rPr>
              <a:t>Prune </a:t>
            </a:r>
            <a:r>
              <a:rPr sz="2750" spc="-10" dirty="0">
                <a:latin typeface="Calibri"/>
                <a:cs typeface="Calibri"/>
              </a:rPr>
              <a:t>non-frequent. </a:t>
            </a:r>
            <a:r>
              <a:rPr sz="2750" spc="-20" dirty="0">
                <a:latin typeface="Calibri"/>
                <a:cs typeface="Calibri"/>
              </a:rPr>
              <a:t>We </a:t>
            </a:r>
            <a:r>
              <a:rPr sz="2750" spc="-15" dirty="0">
                <a:latin typeface="Calibri"/>
                <a:cs typeface="Calibri"/>
              </a:rPr>
              <a:t>get: </a:t>
            </a:r>
            <a:r>
              <a:rPr sz="2750" spc="25" dirty="0">
                <a:latin typeface="Calibri"/>
                <a:cs typeface="Calibri"/>
              </a:rPr>
              <a:t>L</a:t>
            </a:r>
            <a:r>
              <a:rPr sz="2775" spc="37" baseline="-18018" dirty="0">
                <a:latin typeface="Calibri"/>
                <a:cs typeface="Calibri"/>
              </a:rPr>
              <a:t>1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5" dirty="0">
                <a:latin typeface="Calibri"/>
                <a:cs typeface="Calibri"/>
              </a:rPr>
              <a:t>{ </a:t>
            </a:r>
            <a:r>
              <a:rPr sz="2750" spc="-10" dirty="0">
                <a:latin typeface="Calibri"/>
                <a:cs typeface="Calibri"/>
              </a:rPr>
              <a:t>b, </a:t>
            </a:r>
            <a:r>
              <a:rPr sz="2750" spc="20" dirty="0">
                <a:latin typeface="Calibri"/>
                <a:cs typeface="Calibri"/>
              </a:rPr>
              <a:t>c, </a:t>
            </a:r>
            <a:r>
              <a:rPr sz="2750" spc="5" dirty="0">
                <a:latin typeface="Calibri"/>
                <a:cs typeface="Calibri"/>
              </a:rPr>
              <a:t>j, </a:t>
            </a:r>
            <a:r>
              <a:rPr sz="2750" spc="20" dirty="0">
                <a:latin typeface="Calibri"/>
                <a:cs typeface="Calibri"/>
              </a:rPr>
              <a:t>m</a:t>
            </a:r>
            <a:r>
              <a:rPr sz="2750" spc="-12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}</a:t>
            </a:r>
            <a:endParaRPr sz="2750">
              <a:latin typeface="Calibri"/>
              <a:cs typeface="Calibri"/>
            </a:endParaRPr>
          </a:p>
          <a:p>
            <a:pPr marL="657860" lvl="1" indent="-276860">
              <a:lnSpc>
                <a:spcPct val="100000"/>
              </a:lnSpc>
              <a:spcBef>
                <a:spcPts val="680"/>
              </a:spcBef>
              <a:buClr>
                <a:srgbClr val="5FB5CC"/>
              </a:buClr>
              <a:buFont typeface="Wingdings"/>
              <a:buChar char=""/>
              <a:tabLst>
                <a:tab pos="657860" algn="l"/>
              </a:tabLst>
            </a:pPr>
            <a:r>
              <a:rPr sz="2750" spc="-15" dirty="0">
                <a:latin typeface="Calibri"/>
                <a:cs typeface="Calibri"/>
              </a:rPr>
              <a:t>Generate </a:t>
            </a:r>
            <a:r>
              <a:rPr sz="2750" spc="30" dirty="0">
                <a:latin typeface="Calibri"/>
                <a:cs typeface="Calibri"/>
              </a:rPr>
              <a:t>C</a:t>
            </a:r>
            <a:r>
              <a:rPr sz="2775" spc="44" baseline="-18018" dirty="0">
                <a:latin typeface="Calibri"/>
                <a:cs typeface="Calibri"/>
              </a:rPr>
              <a:t>2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5" dirty="0">
                <a:latin typeface="Calibri"/>
                <a:cs typeface="Calibri"/>
              </a:rPr>
              <a:t>{ </a:t>
            </a:r>
            <a:r>
              <a:rPr sz="2750" spc="10" dirty="0">
                <a:latin typeface="Calibri"/>
                <a:cs typeface="Calibri"/>
              </a:rPr>
              <a:t>{b,c} </a:t>
            </a:r>
            <a:r>
              <a:rPr sz="2750" spc="5" dirty="0">
                <a:latin typeface="Calibri"/>
                <a:cs typeface="Calibri"/>
              </a:rPr>
              <a:t>{b,j} </a:t>
            </a:r>
            <a:r>
              <a:rPr sz="2750" spc="10" dirty="0">
                <a:latin typeface="Calibri"/>
                <a:cs typeface="Calibri"/>
              </a:rPr>
              <a:t>{b,m} </a:t>
            </a:r>
            <a:r>
              <a:rPr sz="2750" spc="15" dirty="0">
                <a:latin typeface="Calibri"/>
                <a:cs typeface="Calibri"/>
              </a:rPr>
              <a:t>{c,j} </a:t>
            </a:r>
            <a:r>
              <a:rPr sz="2750" spc="25" dirty="0">
                <a:latin typeface="Calibri"/>
                <a:cs typeface="Calibri"/>
              </a:rPr>
              <a:t>{c,m} </a:t>
            </a:r>
            <a:r>
              <a:rPr sz="2750" spc="20" dirty="0">
                <a:latin typeface="Calibri"/>
                <a:cs typeface="Calibri"/>
              </a:rPr>
              <a:t>{j,m}</a:t>
            </a:r>
            <a:r>
              <a:rPr sz="2750" spc="-4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}</a:t>
            </a:r>
            <a:endParaRPr sz="2750">
              <a:latin typeface="Calibri"/>
              <a:cs typeface="Calibri"/>
            </a:endParaRPr>
          </a:p>
          <a:p>
            <a:pPr marL="657860" lvl="1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57860" algn="l"/>
              </a:tabLst>
            </a:pPr>
            <a:r>
              <a:rPr sz="2750" spc="5" dirty="0">
                <a:latin typeface="Calibri"/>
                <a:cs typeface="Calibri"/>
              </a:rPr>
              <a:t>Count </a:t>
            </a:r>
            <a:r>
              <a:rPr sz="2750" spc="-15" dirty="0">
                <a:latin typeface="Calibri"/>
                <a:cs typeface="Calibri"/>
              </a:rPr>
              <a:t>the </a:t>
            </a:r>
            <a:r>
              <a:rPr sz="2750" spc="-5" dirty="0">
                <a:latin typeface="Calibri"/>
                <a:cs typeface="Calibri"/>
              </a:rPr>
              <a:t>support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15" dirty="0">
                <a:latin typeface="Calibri"/>
                <a:cs typeface="Calibri"/>
              </a:rPr>
              <a:t>itemsets </a:t>
            </a:r>
            <a:r>
              <a:rPr sz="2750" spc="-10" dirty="0">
                <a:latin typeface="Calibri"/>
                <a:cs typeface="Calibri"/>
              </a:rPr>
              <a:t>in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C</a:t>
            </a:r>
            <a:r>
              <a:rPr sz="2775" spc="30" baseline="-18018" dirty="0">
                <a:latin typeface="Calibri"/>
                <a:cs typeface="Calibri"/>
              </a:rPr>
              <a:t>2</a:t>
            </a:r>
            <a:endParaRPr sz="2775" baseline="-18018">
              <a:latin typeface="Calibri"/>
              <a:cs typeface="Calibri"/>
            </a:endParaRPr>
          </a:p>
          <a:p>
            <a:pPr marL="657860" lvl="1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57860" algn="l"/>
              </a:tabLst>
            </a:pPr>
            <a:r>
              <a:rPr sz="2750" spc="-5" dirty="0">
                <a:latin typeface="Calibri"/>
                <a:cs typeface="Calibri"/>
              </a:rPr>
              <a:t>Prune </a:t>
            </a:r>
            <a:r>
              <a:rPr sz="2750" spc="-10" dirty="0">
                <a:latin typeface="Calibri"/>
                <a:cs typeface="Calibri"/>
              </a:rPr>
              <a:t>non-frequent. </a:t>
            </a:r>
            <a:r>
              <a:rPr sz="2750" spc="30" dirty="0">
                <a:latin typeface="Calibri"/>
                <a:cs typeface="Calibri"/>
              </a:rPr>
              <a:t>L</a:t>
            </a:r>
            <a:r>
              <a:rPr sz="2775" spc="44" baseline="-18018" dirty="0">
                <a:latin typeface="Calibri"/>
                <a:cs typeface="Calibri"/>
              </a:rPr>
              <a:t>2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5" dirty="0">
                <a:latin typeface="Calibri"/>
                <a:cs typeface="Calibri"/>
              </a:rPr>
              <a:t>{ </a:t>
            </a:r>
            <a:r>
              <a:rPr sz="2750" spc="10" dirty="0">
                <a:latin typeface="Calibri"/>
                <a:cs typeface="Calibri"/>
              </a:rPr>
              <a:t>{b,m} {b,c} </a:t>
            </a:r>
            <a:r>
              <a:rPr sz="2750" spc="25" dirty="0">
                <a:latin typeface="Calibri"/>
                <a:cs typeface="Calibri"/>
              </a:rPr>
              <a:t>{c,m} </a:t>
            </a:r>
            <a:r>
              <a:rPr sz="2750" spc="15" dirty="0">
                <a:latin typeface="Calibri"/>
                <a:cs typeface="Calibri"/>
              </a:rPr>
              <a:t>{c,j}</a:t>
            </a:r>
            <a:r>
              <a:rPr sz="2750" spc="-37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}</a:t>
            </a:r>
            <a:endParaRPr sz="2750">
              <a:latin typeface="Calibri"/>
              <a:cs typeface="Calibri"/>
            </a:endParaRPr>
          </a:p>
          <a:p>
            <a:pPr marL="657860" lvl="1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57860" algn="l"/>
              </a:tabLst>
            </a:pPr>
            <a:r>
              <a:rPr sz="2750" spc="-15" dirty="0">
                <a:latin typeface="Calibri"/>
                <a:cs typeface="Calibri"/>
              </a:rPr>
              <a:t>Generate </a:t>
            </a:r>
            <a:r>
              <a:rPr sz="2750" spc="25" dirty="0">
                <a:latin typeface="Calibri"/>
                <a:cs typeface="Calibri"/>
              </a:rPr>
              <a:t>C</a:t>
            </a:r>
            <a:r>
              <a:rPr sz="2775" spc="37" baseline="-18018" dirty="0">
                <a:latin typeface="Calibri"/>
                <a:cs typeface="Calibri"/>
              </a:rPr>
              <a:t>3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5" dirty="0">
                <a:latin typeface="Calibri"/>
                <a:cs typeface="Calibri"/>
              </a:rPr>
              <a:t>{ </a:t>
            </a:r>
            <a:r>
              <a:rPr sz="2750" spc="10" dirty="0">
                <a:latin typeface="Calibri"/>
                <a:cs typeface="Calibri"/>
              </a:rPr>
              <a:t>{b,c,m} </a:t>
            </a:r>
            <a:r>
              <a:rPr sz="2750" spc="5" dirty="0">
                <a:latin typeface="Calibri"/>
                <a:cs typeface="Calibri"/>
              </a:rPr>
              <a:t>{b,c,j} </a:t>
            </a:r>
            <a:r>
              <a:rPr sz="2750" spc="10" dirty="0">
                <a:latin typeface="Calibri"/>
                <a:cs typeface="Calibri"/>
              </a:rPr>
              <a:t>{b,m,j} </a:t>
            </a:r>
            <a:r>
              <a:rPr sz="2750" spc="15" dirty="0">
                <a:latin typeface="Calibri"/>
                <a:cs typeface="Calibri"/>
              </a:rPr>
              <a:t>{c,m,j}</a:t>
            </a:r>
            <a:r>
              <a:rPr sz="2750" spc="10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}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2180" y="5515927"/>
            <a:ext cx="543179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4325" indent="-276860">
              <a:lnSpc>
                <a:spcPct val="100000"/>
              </a:lnSpc>
              <a:spcBef>
                <a:spcPts val="125"/>
              </a:spcBef>
              <a:buClr>
                <a:srgbClr val="5FB5CC"/>
              </a:buClr>
              <a:buFont typeface="Wingdings"/>
              <a:buChar char=""/>
              <a:tabLst>
                <a:tab pos="314960" algn="l"/>
              </a:tabLst>
            </a:pPr>
            <a:r>
              <a:rPr sz="2750" spc="5" dirty="0">
                <a:latin typeface="Calibri"/>
                <a:cs typeface="Calibri"/>
              </a:rPr>
              <a:t>Count </a:t>
            </a:r>
            <a:r>
              <a:rPr sz="2750" spc="-15" dirty="0">
                <a:latin typeface="Calibri"/>
                <a:cs typeface="Calibri"/>
              </a:rPr>
              <a:t>the </a:t>
            </a:r>
            <a:r>
              <a:rPr sz="2750" spc="-5" dirty="0">
                <a:latin typeface="Calibri"/>
                <a:cs typeface="Calibri"/>
              </a:rPr>
              <a:t>support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15" dirty="0">
                <a:latin typeface="Calibri"/>
                <a:cs typeface="Calibri"/>
              </a:rPr>
              <a:t>itemsets </a:t>
            </a:r>
            <a:r>
              <a:rPr sz="2750" spc="-10" dirty="0">
                <a:latin typeface="Calibri"/>
                <a:cs typeface="Calibri"/>
              </a:rPr>
              <a:t>in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C</a:t>
            </a:r>
            <a:r>
              <a:rPr sz="2775" spc="30" baseline="-18018" dirty="0">
                <a:latin typeface="Calibri"/>
                <a:cs typeface="Calibri"/>
              </a:rPr>
              <a:t>3</a:t>
            </a:r>
            <a:endParaRPr sz="2775" baseline="-18018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64201" y="23431"/>
            <a:ext cx="3779520" cy="11017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 marR="215900">
              <a:lnSpc>
                <a:spcPct val="102899"/>
              </a:lnSpc>
              <a:spcBef>
                <a:spcPts val="75"/>
              </a:spcBef>
            </a:pPr>
            <a:r>
              <a:rPr sz="1400" b="1" spc="-10" dirty="0">
                <a:solidFill>
                  <a:srgbClr val="008000"/>
                </a:solidFill>
                <a:latin typeface="Arial"/>
                <a:cs typeface="Arial"/>
              </a:rPr>
              <a:t>** </a:t>
            </a:r>
            <a:r>
              <a:rPr sz="1400" dirty="0">
                <a:solidFill>
                  <a:srgbClr val="008000"/>
                </a:solidFill>
                <a:latin typeface="Arial"/>
                <a:cs typeface="Arial"/>
              </a:rPr>
              <a:t>Note here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we </a:t>
            </a:r>
            <a:r>
              <a:rPr sz="1400" spc="5" dirty="0">
                <a:solidFill>
                  <a:srgbClr val="008000"/>
                </a:solidFill>
                <a:latin typeface="Arial"/>
                <a:cs typeface="Arial"/>
              </a:rPr>
              <a:t>generate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new </a:t>
            </a:r>
            <a:r>
              <a:rPr sz="1400" spc="5" dirty="0">
                <a:solidFill>
                  <a:srgbClr val="008000"/>
                </a:solidFill>
                <a:latin typeface="Arial"/>
                <a:cs typeface="Arial"/>
              </a:rPr>
              <a:t>candidates</a:t>
            </a:r>
            <a:r>
              <a:rPr sz="1400" spc="-28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008000"/>
                </a:solidFill>
                <a:latin typeface="Arial"/>
                <a:cs typeface="Arial"/>
              </a:rPr>
              <a:t>by  </a:t>
            </a:r>
            <a:r>
              <a:rPr sz="1400" dirty="0">
                <a:solidFill>
                  <a:srgbClr val="008000"/>
                </a:solidFill>
                <a:latin typeface="Arial"/>
                <a:cs typeface="Arial"/>
              </a:rPr>
              <a:t>generating </a:t>
            </a:r>
            <a:r>
              <a:rPr sz="1400" spc="15" dirty="0">
                <a:solidFill>
                  <a:srgbClr val="008000"/>
                </a:solidFill>
                <a:latin typeface="Arial"/>
                <a:cs typeface="Arial"/>
              </a:rPr>
              <a:t>C</a:t>
            </a:r>
            <a:r>
              <a:rPr sz="1350" spc="22" baseline="-18518" dirty="0">
                <a:solidFill>
                  <a:srgbClr val="008000"/>
                </a:solidFill>
                <a:latin typeface="Arial"/>
                <a:cs typeface="Arial"/>
              </a:rPr>
              <a:t>k </a:t>
            </a:r>
            <a:r>
              <a:rPr sz="1400" spc="25" dirty="0">
                <a:solidFill>
                  <a:srgbClr val="008000"/>
                </a:solidFill>
                <a:latin typeface="Arial"/>
                <a:cs typeface="Arial"/>
              </a:rPr>
              <a:t>from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L</a:t>
            </a:r>
            <a:r>
              <a:rPr sz="1350" spc="15" baseline="-18518" dirty="0">
                <a:solidFill>
                  <a:srgbClr val="008000"/>
                </a:solidFill>
                <a:latin typeface="Arial"/>
                <a:cs typeface="Arial"/>
              </a:rPr>
              <a:t>k-1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and</a:t>
            </a:r>
            <a:r>
              <a:rPr sz="1400" spc="-24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008000"/>
                </a:solidFill>
                <a:latin typeface="Arial"/>
                <a:cs typeface="Arial"/>
              </a:rPr>
              <a:t>L</a:t>
            </a:r>
            <a:r>
              <a:rPr sz="1350" spc="37" baseline="-18518" dirty="0">
                <a:solidFill>
                  <a:srgbClr val="008000"/>
                </a:solidFill>
                <a:latin typeface="Arial"/>
                <a:cs typeface="Arial"/>
              </a:rPr>
              <a:t>1</a:t>
            </a:r>
            <a:r>
              <a:rPr sz="1400" spc="25" dirty="0">
                <a:solidFill>
                  <a:srgbClr val="008000"/>
                </a:solidFill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 marL="38100" marR="30480" indent="47625">
              <a:lnSpc>
                <a:spcPts val="1650"/>
              </a:lnSpc>
              <a:spcBef>
                <a:spcPts val="55"/>
              </a:spcBef>
            </a:pPr>
            <a:r>
              <a:rPr sz="1400" spc="5" dirty="0">
                <a:solidFill>
                  <a:srgbClr val="008000"/>
                </a:solidFill>
                <a:latin typeface="Arial"/>
                <a:cs typeface="Arial"/>
              </a:rPr>
              <a:t>But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one </a:t>
            </a:r>
            <a:r>
              <a:rPr sz="1400" spc="5" dirty="0">
                <a:solidFill>
                  <a:srgbClr val="008000"/>
                </a:solidFill>
                <a:latin typeface="Arial"/>
                <a:cs typeface="Arial"/>
              </a:rPr>
              <a:t>can </a:t>
            </a:r>
            <a:r>
              <a:rPr sz="1400" spc="30" dirty="0">
                <a:solidFill>
                  <a:srgbClr val="008000"/>
                </a:solidFill>
                <a:latin typeface="Arial"/>
                <a:cs typeface="Arial"/>
              </a:rPr>
              <a:t>be </a:t>
            </a:r>
            <a:r>
              <a:rPr sz="1400" spc="15" dirty="0">
                <a:solidFill>
                  <a:srgbClr val="008000"/>
                </a:solidFill>
                <a:latin typeface="Arial"/>
                <a:cs typeface="Arial"/>
              </a:rPr>
              <a:t>more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careful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with </a:t>
            </a:r>
            <a:r>
              <a:rPr sz="1400" dirty="0">
                <a:solidFill>
                  <a:srgbClr val="008000"/>
                </a:solidFill>
                <a:latin typeface="Arial"/>
                <a:cs typeface="Arial"/>
              </a:rPr>
              <a:t>candidate  generation. </a:t>
            </a:r>
            <a:r>
              <a:rPr sz="1400" spc="30" dirty="0">
                <a:solidFill>
                  <a:srgbClr val="008000"/>
                </a:solidFill>
                <a:latin typeface="Arial"/>
                <a:cs typeface="Arial"/>
              </a:rPr>
              <a:t>For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example,</a:t>
            </a:r>
            <a:r>
              <a:rPr sz="1400" spc="-29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8000"/>
                </a:solidFill>
                <a:latin typeface="Arial"/>
                <a:cs typeface="Arial"/>
              </a:rPr>
              <a:t>in </a:t>
            </a:r>
            <a:r>
              <a:rPr sz="1400" spc="30" dirty="0">
                <a:solidFill>
                  <a:srgbClr val="008000"/>
                </a:solidFill>
                <a:latin typeface="Arial"/>
                <a:cs typeface="Arial"/>
              </a:rPr>
              <a:t>C</a:t>
            </a:r>
            <a:r>
              <a:rPr sz="1350" spc="44" baseline="-18518" dirty="0">
                <a:solidFill>
                  <a:srgbClr val="008000"/>
                </a:solidFill>
                <a:latin typeface="Arial"/>
                <a:cs typeface="Arial"/>
              </a:rPr>
              <a:t>3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we </a:t>
            </a:r>
            <a:r>
              <a:rPr sz="1400" dirty="0">
                <a:solidFill>
                  <a:srgbClr val="008000"/>
                </a:solidFill>
                <a:latin typeface="Arial"/>
                <a:cs typeface="Arial"/>
              </a:rPr>
              <a:t>know </a:t>
            </a:r>
            <a:r>
              <a:rPr sz="1400" spc="5" dirty="0">
                <a:solidFill>
                  <a:srgbClr val="008000"/>
                </a:solidFill>
                <a:latin typeface="Arial"/>
                <a:cs typeface="Arial"/>
              </a:rPr>
              <a:t>{b,m,j}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400" dirty="0">
                <a:solidFill>
                  <a:srgbClr val="008000"/>
                </a:solidFill>
                <a:latin typeface="Arial"/>
                <a:cs typeface="Arial"/>
              </a:rPr>
              <a:t>cannot</a:t>
            </a:r>
            <a:r>
              <a:rPr sz="1400" spc="-4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30" dirty="0">
                <a:solidFill>
                  <a:srgbClr val="008000"/>
                </a:solidFill>
                <a:latin typeface="Arial"/>
                <a:cs typeface="Arial"/>
              </a:rPr>
              <a:t>be</a:t>
            </a:r>
            <a:r>
              <a:rPr sz="1400" spc="-6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008000"/>
                </a:solidFill>
                <a:latin typeface="Arial"/>
                <a:cs typeface="Arial"/>
              </a:rPr>
              <a:t>frequent</a:t>
            </a:r>
            <a:r>
              <a:rPr sz="1400" spc="-18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since</a:t>
            </a:r>
            <a:r>
              <a:rPr sz="1400" spc="-7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08000"/>
                </a:solidFill>
                <a:latin typeface="Arial"/>
                <a:cs typeface="Arial"/>
              </a:rPr>
              <a:t>{m,j}</a:t>
            </a:r>
            <a:r>
              <a:rPr sz="1400" spc="-4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8000"/>
                </a:solidFill>
                <a:latin typeface="Arial"/>
                <a:cs typeface="Arial"/>
              </a:rPr>
              <a:t>is</a:t>
            </a:r>
            <a:r>
              <a:rPr sz="1400" spc="2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08000"/>
                </a:solidFill>
                <a:latin typeface="Arial"/>
                <a:cs typeface="Arial"/>
              </a:rPr>
              <a:t>not</a:t>
            </a:r>
            <a:r>
              <a:rPr sz="1400" spc="-4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008000"/>
                </a:solidFill>
                <a:latin typeface="Arial"/>
                <a:cs typeface="Arial"/>
              </a:rPr>
              <a:t>frequent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53026" y="5491226"/>
            <a:ext cx="2895600" cy="0"/>
          </a:xfrm>
          <a:custGeom>
            <a:avLst/>
            <a:gdLst/>
            <a:ahLst/>
            <a:cxnLst/>
            <a:rect l="l" t="t" r="r" b="b"/>
            <a:pathLst>
              <a:path w="2895600">
                <a:moveTo>
                  <a:pt x="0" y="0"/>
                </a:moveTo>
                <a:lnTo>
                  <a:pt x="2895600" y="0"/>
                </a:lnTo>
              </a:path>
            </a:pathLst>
          </a:custGeom>
          <a:ln w="28575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54214" y="5436870"/>
            <a:ext cx="254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solidFill>
                  <a:srgbClr val="008000"/>
                </a:solidFill>
                <a:latin typeface="Arial"/>
                <a:cs typeface="Arial"/>
              </a:rPr>
              <a:t>**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7580" y="6066565"/>
            <a:ext cx="5361305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45"/>
              </a:lnSpc>
            </a:pPr>
            <a:r>
              <a:rPr sz="2750" spc="10" dirty="0">
                <a:solidFill>
                  <a:srgbClr val="5FB5CC"/>
                </a:solidFill>
                <a:latin typeface="Wingdings"/>
                <a:cs typeface="Wingdings"/>
              </a:rPr>
              <a:t></a:t>
            </a:r>
            <a:r>
              <a:rPr sz="2750" spc="10" dirty="0">
                <a:solidFill>
                  <a:srgbClr val="5FB5CC"/>
                </a:solidFill>
                <a:latin typeface="Times New Roman"/>
                <a:cs typeface="Times New Roman"/>
              </a:rPr>
              <a:t> </a:t>
            </a:r>
            <a:r>
              <a:rPr sz="2750" spc="-5" dirty="0">
                <a:latin typeface="Calibri"/>
                <a:cs typeface="Calibri"/>
              </a:rPr>
              <a:t>Prune </a:t>
            </a:r>
            <a:r>
              <a:rPr sz="2750" spc="-10" dirty="0">
                <a:latin typeface="Calibri"/>
                <a:cs typeface="Calibri"/>
              </a:rPr>
              <a:t>non-frequent. </a:t>
            </a:r>
            <a:r>
              <a:rPr sz="2750" spc="30" dirty="0">
                <a:latin typeface="Calibri"/>
                <a:cs typeface="Calibri"/>
              </a:rPr>
              <a:t>L</a:t>
            </a:r>
            <a:r>
              <a:rPr sz="2775" spc="44" baseline="-18018" dirty="0">
                <a:latin typeface="Calibri"/>
                <a:cs typeface="Calibri"/>
              </a:rPr>
              <a:t>3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5" dirty="0">
                <a:latin typeface="Calibri"/>
                <a:cs typeface="Calibri"/>
              </a:rPr>
              <a:t>{ </a:t>
            </a:r>
            <a:r>
              <a:rPr sz="2750" spc="10" dirty="0">
                <a:latin typeface="Calibri"/>
                <a:cs typeface="Calibri"/>
              </a:rPr>
              <a:t>{b,c,m}</a:t>
            </a:r>
            <a:r>
              <a:rPr sz="2750" spc="-14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}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E7DEC15-0F56-46A1-9A79-0DD0C453C8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39</a:t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23786"/>
            <a:ext cx="8139176" cy="5857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4362" y="1308988"/>
            <a:ext cx="8235950" cy="481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6550" indent="-324485">
              <a:lnSpc>
                <a:spcPts val="3415"/>
              </a:lnSpc>
              <a:spcBef>
                <a:spcPts val="105"/>
              </a:spcBef>
              <a:buClr>
                <a:srgbClr val="EFAC00"/>
              </a:buClr>
              <a:buSzPct val="80000"/>
              <a:buFont typeface="Wingdings 2"/>
              <a:buChar char=""/>
              <a:tabLst>
                <a:tab pos="337185" algn="l"/>
              </a:tabLst>
            </a:pPr>
            <a:r>
              <a:rPr sz="3000" spc="-15" dirty="0">
                <a:latin typeface="Calibri"/>
                <a:cs typeface="Calibri"/>
              </a:rPr>
              <a:t>One </a:t>
            </a:r>
            <a:r>
              <a:rPr sz="3000" dirty="0">
                <a:latin typeface="Calibri"/>
                <a:cs typeface="Calibri"/>
              </a:rPr>
              <a:t>pass </a:t>
            </a:r>
            <a:r>
              <a:rPr sz="3000" spc="-35" dirty="0">
                <a:latin typeface="Calibri"/>
                <a:cs typeface="Calibri"/>
              </a:rPr>
              <a:t>for </a:t>
            </a:r>
            <a:r>
              <a:rPr sz="3000" spc="-5" dirty="0">
                <a:latin typeface="Calibri"/>
                <a:cs typeface="Calibri"/>
              </a:rPr>
              <a:t>each </a:t>
            </a:r>
            <a:r>
              <a:rPr sz="3000" b="1" i="1" dirty="0">
                <a:latin typeface="Calibri"/>
                <a:cs typeface="Calibri"/>
              </a:rPr>
              <a:t>k </a:t>
            </a:r>
            <a:r>
              <a:rPr sz="3000" spc="-5" dirty="0">
                <a:latin typeface="Calibri"/>
                <a:cs typeface="Calibri"/>
              </a:rPr>
              <a:t>(itemset</a:t>
            </a:r>
            <a:r>
              <a:rPr sz="3000" spc="3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size)</a:t>
            </a:r>
            <a:endParaRPr sz="3000">
              <a:latin typeface="Calibri"/>
              <a:cs typeface="Calibri"/>
            </a:endParaRPr>
          </a:p>
          <a:p>
            <a:pPr marL="336550" marR="1976755" indent="-324485">
              <a:lnSpc>
                <a:spcPts val="3229"/>
              </a:lnSpc>
              <a:spcBef>
                <a:spcPts val="229"/>
              </a:spcBef>
              <a:buClr>
                <a:srgbClr val="EFAC00"/>
              </a:buClr>
              <a:buSzPct val="80000"/>
              <a:buFont typeface="Wingdings 2"/>
              <a:buChar char=""/>
              <a:tabLst>
                <a:tab pos="337185" algn="l"/>
              </a:tabLst>
            </a:pPr>
            <a:r>
              <a:rPr sz="3000" spc="5" dirty="0">
                <a:latin typeface="Calibri"/>
                <a:cs typeface="Calibri"/>
              </a:rPr>
              <a:t>Needs </a:t>
            </a:r>
            <a:r>
              <a:rPr sz="3000" spc="-25" dirty="0">
                <a:latin typeface="Calibri"/>
                <a:cs typeface="Calibri"/>
              </a:rPr>
              <a:t>room </a:t>
            </a:r>
            <a:r>
              <a:rPr sz="3000" spc="-10" dirty="0">
                <a:latin typeface="Calibri"/>
                <a:cs typeface="Calibri"/>
              </a:rPr>
              <a:t>in main </a:t>
            </a:r>
            <a:r>
              <a:rPr sz="3000" dirty="0">
                <a:latin typeface="Calibri"/>
                <a:cs typeface="Calibri"/>
              </a:rPr>
              <a:t>memory </a:t>
            </a:r>
            <a:r>
              <a:rPr sz="3000" spc="-20" dirty="0">
                <a:latin typeface="Calibri"/>
                <a:cs typeface="Calibri"/>
              </a:rPr>
              <a:t>to </a:t>
            </a:r>
            <a:r>
              <a:rPr sz="3000" dirty="0">
                <a:latin typeface="Calibri"/>
                <a:cs typeface="Calibri"/>
              </a:rPr>
              <a:t>count  each </a:t>
            </a:r>
            <a:r>
              <a:rPr sz="3000" spc="-10" dirty="0">
                <a:latin typeface="Calibri"/>
                <a:cs typeface="Calibri"/>
              </a:rPr>
              <a:t>candidate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b="1" i="1" spc="-10" dirty="0">
                <a:latin typeface="Calibri"/>
                <a:cs typeface="Calibri"/>
              </a:rPr>
              <a:t>k</a:t>
            </a:r>
            <a:r>
              <a:rPr sz="3000" spc="-10" dirty="0">
                <a:latin typeface="Calibri"/>
                <a:cs typeface="Calibri"/>
              </a:rPr>
              <a:t>–tuple</a:t>
            </a:r>
            <a:endParaRPr sz="3000">
              <a:latin typeface="Calibri"/>
              <a:cs typeface="Calibri"/>
            </a:endParaRPr>
          </a:p>
          <a:p>
            <a:pPr marL="336550" marR="5080" indent="-324485">
              <a:lnSpc>
                <a:spcPts val="3229"/>
              </a:lnSpc>
              <a:buClr>
                <a:srgbClr val="EFAC00"/>
              </a:buClr>
              <a:buSzPct val="80000"/>
              <a:buFont typeface="Wingdings 2"/>
              <a:buChar char=""/>
              <a:tabLst>
                <a:tab pos="337185" algn="l"/>
              </a:tabLst>
            </a:pPr>
            <a:r>
              <a:rPr sz="3000" spc="-40" dirty="0">
                <a:latin typeface="Calibri"/>
                <a:cs typeface="Calibri"/>
              </a:rPr>
              <a:t>For </a:t>
            </a:r>
            <a:r>
              <a:rPr sz="3000" spc="-10" dirty="0">
                <a:latin typeface="Calibri"/>
                <a:cs typeface="Calibri"/>
              </a:rPr>
              <a:t>typical </a:t>
            </a:r>
            <a:r>
              <a:rPr sz="3000" spc="-20" dirty="0">
                <a:latin typeface="Calibri"/>
                <a:cs typeface="Calibri"/>
              </a:rPr>
              <a:t>market-basket </a:t>
            </a:r>
            <a:r>
              <a:rPr sz="3000" spc="-15" dirty="0">
                <a:latin typeface="Calibri"/>
                <a:cs typeface="Calibri"/>
              </a:rPr>
              <a:t>data </a:t>
            </a:r>
            <a:r>
              <a:rPr sz="3000" spc="-10" dirty="0">
                <a:latin typeface="Calibri"/>
                <a:cs typeface="Calibri"/>
              </a:rPr>
              <a:t>and reasonable  </a:t>
            </a:r>
            <a:r>
              <a:rPr sz="3000" dirty="0">
                <a:latin typeface="Calibri"/>
                <a:cs typeface="Calibri"/>
              </a:rPr>
              <a:t>support </a:t>
            </a:r>
            <a:r>
              <a:rPr sz="3000" spc="-5" dirty="0">
                <a:latin typeface="Calibri"/>
                <a:cs typeface="Calibri"/>
              </a:rPr>
              <a:t>(e.g., 1%), </a:t>
            </a:r>
            <a:r>
              <a:rPr sz="3000" b="1" i="1" dirty="0">
                <a:latin typeface="Calibri"/>
                <a:cs typeface="Calibri"/>
              </a:rPr>
              <a:t>k </a:t>
            </a:r>
            <a:r>
              <a:rPr sz="3000" b="1" dirty="0">
                <a:latin typeface="Calibri"/>
                <a:cs typeface="Calibri"/>
              </a:rPr>
              <a:t>= 2 </a:t>
            </a:r>
            <a:r>
              <a:rPr sz="3000" spc="-20" dirty="0">
                <a:latin typeface="Calibri"/>
                <a:cs typeface="Calibri"/>
              </a:rPr>
              <a:t>requires </a:t>
            </a:r>
            <a:r>
              <a:rPr sz="3000" spc="-15" dirty="0">
                <a:latin typeface="Calibri"/>
                <a:cs typeface="Calibri"/>
              </a:rPr>
              <a:t>the </a:t>
            </a:r>
            <a:r>
              <a:rPr sz="3000" spc="5" dirty="0">
                <a:latin typeface="Calibri"/>
                <a:cs typeface="Calibri"/>
              </a:rPr>
              <a:t>most</a:t>
            </a:r>
            <a:r>
              <a:rPr sz="3000" spc="1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memory</a:t>
            </a:r>
            <a:endParaRPr sz="3000">
              <a:latin typeface="Calibri"/>
              <a:cs typeface="Calibri"/>
            </a:endParaRPr>
          </a:p>
          <a:p>
            <a:pPr marL="336550" indent="-324485">
              <a:lnSpc>
                <a:spcPct val="100000"/>
              </a:lnSpc>
              <a:spcBef>
                <a:spcPts val="1910"/>
              </a:spcBef>
              <a:buClr>
                <a:srgbClr val="EFAC00"/>
              </a:buClr>
              <a:buSzPct val="80000"/>
              <a:buFont typeface="Wingdings 2"/>
              <a:buChar char=""/>
              <a:tabLst>
                <a:tab pos="337185" algn="l"/>
              </a:tabLst>
            </a:pPr>
            <a:r>
              <a:rPr sz="3000" b="1" spc="-25" dirty="0">
                <a:solidFill>
                  <a:srgbClr val="D50092"/>
                </a:solidFill>
                <a:latin typeface="Calibri"/>
                <a:cs typeface="Calibri"/>
              </a:rPr>
              <a:t>Many </a:t>
            </a:r>
            <a:r>
              <a:rPr sz="3000" b="1" spc="-5" dirty="0">
                <a:solidFill>
                  <a:srgbClr val="D50092"/>
                </a:solidFill>
                <a:latin typeface="Calibri"/>
                <a:cs typeface="Calibri"/>
              </a:rPr>
              <a:t>possible</a:t>
            </a:r>
            <a:r>
              <a:rPr sz="3000" b="1" spc="7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D50092"/>
                </a:solidFill>
                <a:latin typeface="Calibri"/>
                <a:cs typeface="Calibri"/>
              </a:rPr>
              <a:t>extensions:</a:t>
            </a:r>
            <a:endParaRPr sz="300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33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600" spc="5" dirty="0">
                <a:solidFill>
                  <a:srgbClr val="0000FF"/>
                </a:solidFill>
                <a:latin typeface="Calibri"/>
                <a:cs typeface="Calibri"/>
              </a:rPr>
              <a:t>Association </a:t>
            </a:r>
            <a:r>
              <a:rPr sz="2600" spc="-10" dirty="0">
                <a:solidFill>
                  <a:srgbClr val="0000FF"/>
                </a:solidFill>
                <a:latin typeface="Calibri"/>
                <a:cs typeface="Calibri"/>
              </a:rPr>
              <a:t>rules </a:t>
            </a:r>
            <a:r>
              <a:rPr sz="2600" spc="15" dirty="0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sz="2600" spc="-1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FF"/>
                </a:solidFill>
                <a:latin typeface="Calibri"/>
                <a:cs typeface="Calibri"/>
              </a:rPr>
              <a:t>intervals:</a:t>
            </a:r>
            <a:endParaRPr sz="2600">
              <a:latin typeface="Calibri"/>
              <a:cs typeface="Calibri"/>
            </a:endParaRPr>
          </a:p>
          <a:p>
            <a:pPr marL="899160" lvl="2" indent="-229235">
              <a:lnSpc>
                <a:spcPct val="100000"/>
              </a:lnSpc>
              <a:spcBef>
                <a:spcPts val="334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150" spc="-5" dirty="0">
                <a:latin typeface="Calibri"/>
                <a:cs typeface="Calibri"/>
              </a:rPr>
              <a:t>For example: </a:t>
            </a:r>
            <a:r>
              <a:rPr sz="2150" spc="5" dirty="0">
                <a:latin typeface="Calibri"/>
                <a:cs typeface="Calibri"/>
              </a:rPr>
              <a:t>Men </a:t>
            </a:r>
            <a:r>
              <a:rPr sz="2150" spc="-5" dirty="0">
                <a:latin typeface="Calibri"/>
                <a:cs typeface="Calibri"/>
              </a:rPr>
              <a:t>over </a:t>
            </a:r>
            <a:r>
              <a:rPr sz="2150" spc="20" dirty="0">
                <a:latin typeface="Calibri"/>
                <a:cs typeface="Calibri"/>
              </a:rPr>
              <a:t>65 </a:t>
            </a:r>
            <a:r>
              <a:rPr sz="2150" spc="5" dirty="0">
                <a:latin typeface="Calibri"/>
                <a:cs typeface="Calibri"/>
              </a:rPr>
              <a:t>have </a:t>
            </a:r>
            <a:r>
              <a:rPr sz="2150" spc="10" dirty="0">
                <a:latin typeface="Calibri"/>
                <a:cs typeface="Calibri"/>
              </a:rPr>
              <a:t>2</a:t>
            </a:r>
            <a:r>
              <a:rPr sz="2150" spc="3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cars</a:t>
            </a:r>
            <a:endParaRPr sz="215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27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600" spc="5" dirty="0">
                <a:solidFill>
                  <a:srgbClr val="0000FF"/>
                </a:solidFill>
                <a:latin typeface="Calibri"/>
                <a:cs typeface="Calibri"/>
              </a:rPr>
              <a:t>Association </a:t>
            </a:r>
            <a:r>
              <a:rPr sz="2600" spc="-10" dirty="0">
                <a:solidFill>
                  <a:srgbClr val="0000FF"/>
                </a:solidFill>
                <a:latin typeface="Calibri"/>
                <a:cs typeface="Calibri"/>
              </a:rPr>
              <a:t>rules </a:t>
            </a:r>
            <a:r>
              <a:rPr sz="2600" dirty="0">
                <a:solidFill>
                  <a:srgbClr val="0000FF"/>
                </a:solidFill>
                <a:latin typeface="Calibri"/>
                <a:cs typeface="Calibri"/>
              </a:rPr>
              <a:t>when </a:t>
            </a:r>
            <a:r>
              <a:rPr sz="2600" spc="5" dirty="0">
                <a:solidFill>
                  <a:srgbClr val="0000FF"/>
                </a:solidFill>
                <a:latin typeface="Calibri"/>
                <a:cs typeface="Calibri"/>
              </a:rPr>
              <a:t>items </a:t>
            </a:r>
            <a:r>
              <a:rPr sz="2600" spc="10" dirty="0">
                <a:solidFill>
                  <a:srgbClr val="0000FF"/>
                </a:solidFill>
                <a:latin typeface="Calibri"/>
                <a:cs typeface="Calibri"/>
              </a:rPr>
              <a:t>are in a</a:t>
            </a:r>
            <a:r>
              <a:rPr sz="2600" spc="-3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0000FF"/>
                </a:solidFill>
                <a:latin typeface="Calibri"/>
                <a:cs typeface="Calibri"/>
              </a:rPr>
              <a:t>taxonomy</a:t>
            </a:r>
            <a:endParaRPr sz="2600">
              <a:latin typeface="Calibri"/>
              <a:cs typeface="Calibri"/>
            </a:endParaRPr>
          </a:p>
          <a:p>
            <a:pPr marL="899160" lvl="2" indent="-229235">
              <a:lnSpc>
                <a:spcPct val="100000"/>
              </a:lnSpc>
              <a:spcBef>
                <a:spcPts val="409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150" dirty="0">
                <a:latin typeface="Calibri"/>
                <a:cs typeface="Calibri"/>
              </a:rPr>
              <a:t>Bread, </a:t>
            </a:r>
            <a:r>
              <a:rPr sz="2150" spc="5" dirty="0">
                <a:latin typeface="Calibri"/>
                <a:cs typeface="Calibri"/>
              </a:rPr>
              <a:t>Butter </a:t>
            </a:r>
            <a:r>
              <a:rPr sz="2150" spc="25" dirty="0">
                <a:solidFill>
                  <a:srgbClr val="0063E1"/>
                </a:solidFill>
                <a:latin typeface="Times New Roman"/>
                <a:cs typeface="Times New Roman"/>
              </a:rPr>
              <a:t>→</a:t>
            </a:r>
            <a:r>
              <a:rPr sz="2150" spc="120" dirty="0">
                <a:solidFill>
                  <a:srgbClr val="0063E1"/>
                </a:solidFill>
                <a:latin typeface="Times New Roman"/>
                <a:cs typeface="Times New Roman"/>
              </a:rPr>
              <a:t> </a:t>
            </a:r>
            <a:r>
              <a:rPr sz="2150" spc="5" dirty="0">
                <a:latin typeface="Calibri"/>
                <a:cs typeface="Calibri"/>
              </a:rPr>
              <a:t>FruitJam</a:t>
            </a:r>
            <a:endParaRPr sz="2150">
              <a:latin typeface="Calibri"/>
              <a:cs typeface="Calibri"/>
            </a:endParaRPr>
          </a:p>
          <a:p>
            <a:pPr marL="899160" lvl="2" indent="-229235">
              <a:lnSpc>
                <a:spcPct val="100000"/>
              </a:lnSpc>
              <a:spcBef>
                <a:spcPts val="270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150" spc="-10" dirty="0">
                <a:latin typeface="Calibri"/>
                <a:cs typeface="Calibri"/>
              </a:rPr>
              <a:t>BakedGoods, </a:t>
            </a:r>
            <a:r>
              <a:rPr sz="2150" spc="5" dirty="0">
                <a:latin typeface="Calibri"/>
                <a:cs typeface="Calibri"/>
              </a:rPr>
              <a:t>MilkProduct </a:t>
            </a:r>
            <a:r>
              <a:rPr sz="2150" spc="25" dirty="0">
                <a:solidFill>
                  <a:srgbClr val="0063E1"/>
                </a:solidFill>
                <a:latin typeface="Times New Roman"/>
                <a:cs typeface="Times New Roman"/>
              </a:rPr>
              <a:t>→</a:t>
            </a:r>
            <a:r>
              <a:rPr sz="2150" spc="-25" dirty="0">
                <a:solidFill>
                  <a:srgbClr val="0063E1"/>
                </a:solidFill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Calibri"/>
                <a:cs typeface="Calibri"/>
              </a:rPr>
              <a:t>PreservedGoods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7580" y="6159604"/>
            <a:ext cx="5965825" cy="40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85"/>
              </a:lnSpc>
            </a:pPr>
            <a:r>
              <a:rPr sz="2600" spc="10" dirty="0">
                <a:solidFill>
                  <a:srgbClr val="5FB5CC"/>
                </a:solidFill>
                <a:latin typeface="Wingdings"/>
                <a:cs typeface="Wingdings"/>
              </a:rPr>
              <a:t></a:t>
            </a:r>
            <a:r>
              <a:rPr sz="2600" spc="10" dirty="0">
                <a:solidFill>
                  <a:srgbClr val="5FB5CC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FF"/>
                </a:solidFill>
                <a:latin typeface="Calibri"/>
                <a:cs typeface="Calibri"/>
              </a:rPr>
              <a:t>Lower </a:t>
            </a:r>
            <a:r>
              <a:rPr sz="2600" spc="5" dirty="0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sz="2600" spc="-10" dirty="0">
                <a:solidFill>
                  <a:srgbClr val="0000FF"/>
                </a:solidFill>
                <a:latin typeface="Calibri"/>
                <a:cs typeface="Calibri"/>
              </a:rPr>
              <a:t>support </a:t>
            </a:r>
            <a:r>
              <a:rPr sz="2600" b="1" i="1" spc="10" dirty="0">
                <a:solidFill>
                  <a:srgbClr val="0000FF"/>
                </a:solidFill>
                <a:latin typeface="Calibri"/>
                <a:cs typeface="Calibri"/>
              </a:rPr>
              <a:t>s </a:t>
            </a:r>
            <a:r>
              <a:rPr sz="2600" spc="15" dirty="0">
                <a:solidFill>
                  <a:srgbClr val="0000FF"/>
                </a:solidFill>
                <a:latin typeface="Calibri"/>
                <a:cs typeface="Calibri"/>
              </a:rPr>
              <a:t>as </a:t>
            </a:r>
            <a:r>
              <a:rPr sz="2600" spc="5" dirty="0">
                <a:solidFill>
                  <a:srgbClr val="0000FF"/>
                </a:solidFill>
                <a:latin typeface="Calibri"/>
                <a:cs typeface="Calibri"/>
              </a:rPr>
              <a:t>itemset </a:t>
            </a:r>
            <a:r>
              <a:rPr sz="2600" spc="-5" dirty="0">
                <a:solidFill>
                  <a:srgbClr val="0000FF"/>
                </a:solidFill>
                <a:latin typeface="Calibri"/>
                <a:cs typeface="Calibri"/>
              </a:rPr>
              <a:t>gets</a:t>
            </a:r>
            <a:r>
              <a:rPr sz="2600" spc="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0000FF"/>
                </a:solidFill>
                <a:latin typeface="Calibri"/>
                <a:cs typeface="Calibri"/>
              </a:rPr>
              <a:t>bigger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3D8574-AC51-4F44-B8D4-366EA7EC1AF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40</a:t>
            </a:fld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A8AE47-B72F-41F1-969A-693B03A4F2A7}"/>
              </a:ext>
            </a:extLst>
          </p:cNvPr>
          <p:cNvSpPr txBox="1"/>
          <p:nvPr/>
        </p:nvSpPr>
        <p:spPr>
          <a:xfrm>
            <a:off x="614362" y="228600"/>
            <a:ext cx="6777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 Problem</a:t>
            </a:r>
            <a:endParaRPr lang="en-US" sz="40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E1CDAC-24F0-4ADF-A022-405A35CED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" y="1219200"/>
            <a:ext cx="4305300" cy="3667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17DF4C-44BA-467D-B75B-F385C69AF4C5}"/>
              </a:ext>
            </a:extLst>
          </p:cNvPr>
          <p:cNvSpPr txBox="1"/>
          <p:nvPr/>
        </p:nvSpPr>
        <p:spPr>
          <a:xfrm>
            <a:off x="5387278" y="1219200"/>
            <a:ext cx="3142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/>
              <a:t>Support Threshold, s = 2</a:t>
            </a:r>
            <a:endParaRPr lang="en-US" sz="28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946B9-C827-4281-BD16-0CE1D6E77A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55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Words>3168</Words>
  <Application>Microsoft Office PowerPoint</Application>
  <PresentationFormat>On-screen Show (4:3)</PresentationFormat>
  <Paragraphs>457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3" baseType="lpstr">
      <vt:lpstr>Arial</vt:lpstr>
      <vt:lpstr>Calibri</vt:lpstr>
      <vt:lpstr>Cambria Math</vt:lpstr>
      <vt:lpstr>Corbel</vt:lpstr>
      <vt:lpstr>Lucida Sans Unicode</vt:lpstr>
      <vt:lpstr>Palatino Linotype</vt:lpstr>
      <vt:lpstr>Symbol</vt:lpstr>
      <vt:lpstr>Tahoma</vt:lpstr>
      <vt:lpstr>Times New Roman</vt:lpstr>
      <vt:lpstr>Wingdings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Supermarket shelf management – Market-basket model:</vt:lpstr>
      <vt:lpstr>If-then rules about the contents of baskets</vt:lpstr>
      <vt:lpstr>PowerPoint Presentation</vt:lpstr>
      <vt:lpstr>PowerPoint Presentation</vt:lpstr>
      <vt:lpstr>B1 = {m, c, b}</vt:lpstr>
      <vt:lpstr>PowerPoint Presentation</vt:lpstr>
      <vt:lpstr>PowerPoint Presentation</vt:lpstr>
      <vt:lpstr>B1 = {m, c, b}</vt:lpstr>
      <vt:lpstr>PowerPoint Presentation</vt:lpstr>
      <vt:lpstr>Frequent, but  superset BC  also frequent.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Goal: Count the number of occurrences of  each pair of items (i,j):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Frequent items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Rezwan</dc:creator>
  <cp:lastModifiedBy>Dr. Mohammad Rezwanul Huq</cp:lastModifiedBy>
  <cp:revision>5</cp:revision>
  <dcterms:created xsi:type="dcterms:W3CDTF">2021-11-10T17:16:30Z</dcterms:created>
  <dcterms:modified xsi:type="dcterms:W3CDTF">2021-11-10T21:29:44Z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2021-04-01T00:00:00Z</vt:filetime>
  </property>
  <property fmtid="{D5CDD505-2E9C-101B-9397-08002B2CF9AE}" pid="3" name="LastSaved">
    <vt:filetime>2021-11-10T00:00:00Z</vt:filetime>
  </property>
</Properties>
</file>