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91" r:id="rId3"/>
    <p:sldId id="292" r:id="rId4"/>
    <p:sldId id="293" r:id="rId5"/>
    <p:sldId id="330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28" r:id="rId14"/>
    <p:sldId id="332" r:id="rId15"/>
    <p:sldId id="333" r:id="rId16"/>
    <p:sldId id="334" r:id="rId17"/>
    <p:sldId id="335" r:id="rId18"/>
    <p:sldId id="336" r:id="rId19"/>
    <p:sldId id="337" r:id="rId20"/>
    <p:sldId id="341" r:id="rId21"/>
    <p:sldId id="342" r:id="rId22"/>
    <p:sldId id="338" r:id="rId23"/>
    <p:sldId id="339" r:id="rId2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64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E18D3-2C79-4BA8-AEEA-6B4314CE6FA3}" type="datetimeFigureOut">
              <a:rPr lang="en-US" smtClean="0"/>
              <a:t>07-Jun-26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721B7-94EB-4D13-ADD4-339AD8D95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34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721B7-94EB-4D13-ADD4-339AD8D958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80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721B7-94EB-4D13-ADD4-339AD8D958B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25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721B7-94EB-4D13-ADD4-339AD8D958B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587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07-Jun-26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07-Jun-26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07-Jun-26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07-Jun-26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07-Jun-26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99426"/>
            <a:ext cx="9144000" cy="11048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19175"/>
            <a:ext cx="9144000" cy="47625"/>
          </a:xfrm>
          <a:custGeom>
            <a:avLst/>
            <a:gdLst/>
            <a:ahLst/>
            <a:cxnLst/>
            <a:rect l="l" t="t" r="r" b="b"/>
            <a:pathLst>
              <a:path w="9144000" h="47625">
                <a:moveTo>
                  <a:pt x="9144000" y="0"/>
                </a:moveTo>
                <a:lnTo>
                  <a:pt x="0" y="0"/>
                </a:lnTo>
                <a:lnTo>
                  <a:pt x="0" y="47625"/>
                </a:lnTo>
                <a:lnTo>
                  <a:pt x="9144000" y="47625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1019175"/>
          </a:xfrm>
          <a:custGeom>
            <a:avLst/>
            <a:gdLst/>
            <a:ahLst/>
            <a:cxnLst/>
            <a:rect l="l" t="t" r="r" b="b"/>
            <a:pathLst>
              <a:path w="9144000" h="1019175">
                <a:moveTo>
                  <a:pt x="9144000" y="0"/>
                </a:moveTo>
                <a:lnTo>
                  <a:pt x="0" y="0"/>
                </a:lnTo>
                <a:lnTo>
                  <a:pt x="0" y="1019175"/>
                </a:lnTo>
                <a:lnTo>
                  <a:pt x="9144000" y="1019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8530" y="1716064"/>
            <a:ext cx="3696970" cy="544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2117695"/>
            <a:ext cx="7790180" cy="4448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4672" y="6713609"/>
            <a:ext cx="523875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07-Jun-26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IhqwBAuun-vJHYHxES7QqblVvfnEyUDj?usp=sharing" TargetMode="Externa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2202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13300" y="5224398"/>
            <a:ext cx="4330700" cy="11174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Dr. Mohammad Rezwanul Huq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Associate Professor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East West University</a:t>
            </a:r>
            <a:endParaRPr sz="2000" dirty="0">
              <a:latin typeface="Corbel"/>
              <a:cs typeface="Corbe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8D84B-8AF9-4ABB-AF8C-ED978638D2A0}"/>
              </a:ext>
            </a:extLst>
          </p:cNvPr>
          <p:cNvSpPr txBox="1"/>
          <p:nvPr/>
        </p:nvSpPr>
        <p:spPr>
          <a:xfrm>
            <a:off x="304800" y="1905000"/>
            <a:ext cx="883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CSE488: Big Data Analytics</a:t>
            </a:r>
          </a:p>
          <a:p>
            <a:pPr algn="ctr"/>
            <a:endParaRPr lang="en-AU" sz="32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  <a:p>
            <a:pPr algn="ctr"/>
            <a:r>
              <a:rPr lang="en-AU" sz="3600" dirty="0">
                <a:solidFill>
                  <a:srgbClr val="00B0F0"/>
                </a:solidFill>
                <a:latin typeface="Palatino Linotype" panose="02040502050505030304" pitchFamily="18" charset="0"/>
              </a:rPr>
              <a:t>Lecture 3: </a:t>
            </a:r>
          </a:p>
          <a:p>
            <a:pPr algn="ctr"/>
            <a:r>
              <a:rPr lang="en-AU" sz="3600" dirty="0">
                <a:solidFill>
                  <a:srgbClr val="00B0F0"/>
                </a:solidFill>
                <a:latin typeface="Palatino Linotype" panose="02040502050505030304" pitchFamily="18" charset="0"/>
              </a:rPr>
              <a:t>MapReduce Programming Model</a:t>
            </a:r>
            <a:endParaRPr lang="en-US" sz="3600" dirty="0">
              <a:solidFill>
                <a:srgbClr val="00B0F0"/>
              </a:solidFill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352361"/>
            <a:ext cx="7520051" cy="5381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300162"/>
            <a:ext cx="7996555" cy="498157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36550" marR="1287780" indent="-324485">
              <a:lnSpc>
                <a:spcPts val="3450"/>
              </a:lnSpc>
              <a:spcBef>
                <a:spcPts val="56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5" dirty="0">
                <a:latin typeface="Calibri"/>
                <a:cs typeface="Calibri"/>
              </a:rPr>
              <a:t>MapReduce </a:t>
            </a:r>
            <a:r>
              <a:rPr sz="3200" b="1" spc="20" dirty="0">
                <a:latin typeface="Calibri"/>
                <a:cs typeface="Calibri"/>
              </a:rPr>
              <a:t>is </a:t>
            </a:r>
            <a:r>
              <a:rPr sz="3200" b="1" spc="10" dirty="0">
                <a:latin typeface="Calibri"/>
                <a:cs typeface="Calibri"/>
              </a:rPr>
              <a:t>a </a:t>
            </a:r>
            <a:r>
              <a:rPr sz="3200" b="1" spc="5" dirty="0">
                <a:solidFill>
                  <a:srgbClr val="00AF50"/>
                </a:solidFill>
                <a:latin typeface="Calibri"/>
                <a:cs typeface="Calibri"/>
              </a:rPr>
              <a:t>style </a:t>
            </a:r>
            <a:r>
              <a:rPr sz="3200" b="1" spc="10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3200" b="1" spc="-3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AF50"/>
                </a:solidFill>
                <a:latin typeface="Calibri"/>
                <a:cs typeface="Calibri"/>
              </a:rPr>
              <a:t>programming  </a:t>
            </a:r>
            <a:r>
              <a:rPr sz="3200" b="1" spc="15" dirty="0">
                <a:latin typeface="Calibri"/>
                <a:cs typeface="Calibri"/>
              </a:rPr>
              <a:t>designed</a:t>
            </a:r>
            <a:r>
              <a:rPr sz="3200" b="1" spc="-135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for:</a:t>
            </a:r>
            <a:endParaRPr sz="3200" dirty="0">
              <a:latin typeface="Calibri"/>
              <a:cs typeface="Calibri"/>
            </a:endParaRPr>
          </a:p>
          <a:p>
            <a:pPr marL="822960" lvl="1" indent="-515620">
              <a:lnSpc>
                <a:spcPct val="100000"/>
              </a:lnSpc>
              <a:spcBef>
                <a:spcPts val="395"/>
              </a:spcBef>
              <a:buClr>
                <a:srgbClr val="5FB5CC"/>
              </a:buClr>
              <a:buAutoNum type="arabicPeriod"/>
              <a:tabLst>
                <a:tab pos="822960" algn="l"/>
                <a:tab pos="823594" algn="l"/>
              </a:tabLst>
            </a:pPr>
            <a:r>
              <a:rPr sz="2750" spc="-35" dirty="0">
                <a:latin typeface="Calibri"/>
                <a:cs typeface="Calibri"/>
              </a:rPr>
              <a:t>Easy </a:t>
            </a:r>
            <a:r>
              <a:rPr sz="2750" spc="-15" dirty="0">
                <a:latin typeface="Calibri"/>
                <a:cs typeface="Calibri"/>
              </a:rPr>
              <a:t>parallel</a:t>
            </a:r>
            <a:r>
              <a:rPr sz="2750" spc="33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programming</a:t>
            </a:r>
            <a:endParaRPr sz="2750" dirty="0">
              <a:latin typeface="Calibri"/>
              <a:cs typeface="Calibri"/>
            </a:endParaRPr>
          </a:p>
          <a:p>
            <a:pPr marL="822960" marR="195580" lvl="1" indent="-514984">
              <a:lnSpc>
                <a:spcPts val="3000"/>
              </a:lnSpc>
              <a:spcBef>
                <a:spcPts val="730"/>
              </a:spcBef>
              <a:buClr>
                <a:srgbClr val="5FB5CC"/>
              </a:buClr>
              <a:buAutoNum type="arabicPeriod"/>
              <a:tabLst>
                <a:tab pos="822960" algn="l"/>
                <a:tab pos="823594" algn="l"/>
              </a:tabLst>
            </a:pPr>
            <a:r>
              <a:rPr sz="2750" spc="-25" dirty="0">
                <a:latin typeface="Calibri"/>
                <a:cs typeface="Calibri"/>
              </a:rPr>
              <a:t>Invisible </a:t>
            </a:r>
            <a:r>
              <a:rPr sz="2750" spc="5" dirty="0">
                <a:latin typeface="Calibri"/>
                <a:cs typeface="Calibri"/>
              </a:rPr>
              <a:t>management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10" dirty="0">
                <a:latin typeface="Calibri"/>
                <a:cs typeface="Calibri"/>
              </a:rPr>
              <a:t>hardware </a:t>
            </a:r>
            <a:r>
              <a:rPr sz="2750" spc="5" dirty="0">
                <a:latin typeface="Calibri"/>
                <a:cs typeface="Calibri"/>
              </a:rPr>
              <a:t>and </a:t>
            </a:r>
            <a:r>
              <a:rPr sz="2750" dirty="0">
                <a:latin typeface="Calibri"/>
                <a:cs typeface="Calibri"/>
              </a:rPr>
              <a:t>software  </a:t>
            </a:r>
            <a:r>
              <a:rPr sz="2750" spc="-20" dirty="0">
                <a:latin typeface="Calibri"/>
                <a:cs typeface="Calibri"/>
              </a:rPr>
              <a:t>failures</a:t>
            </a:r>
            <a:endParaRPr sz="2750" dirty="0">
              <a:latin typeface="Calibri"/>
              <a:cs typeface="Calibri"/>
            </a:endParaRPr>
          </a:p>
          <a:p>
            <a:pPr marL="822960" lvl="1" indent="-515620">
              <a:lnSpc>
                <a:spcPct val="100000"/>
              </a:lnSpc>
              <a:spcBef>
                <a:spcPts val="334"/>
              </a:spcBef>
              <a:buClr>
                <a:srgbClr val="5FB5CC"/>
              </a:buClr>
              <a:buAutoNum type="arabicPeriod"/>
              <a:tabLst>
                <a:tab pos="822960" algn="l"/>
                <a:tab pos="823594" algn="l"/>
              </a:tabLst>
            </a:pPr>
            <a:r>
              <a:rPr sz="2750" spc="-35" dirty="0">
                <a:latin typeface="Calibri"/>
                <a:cs typeface="Calibri"/>
              </a:rPr>
              <a:t>Easy </a:t>
            </a:r>
            <a:r>
              <a:rPr sz="2750" spc="5" dirty="0">
                <a:latin typeface="Calibri"/>
                <a:cs typeface="Calibri"/>
              </a:rPr>
              <a:t>management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5" dirty="0">
                <a:latin typeface="Calibri"/>
                <a:cs typeface="Calibri"/>
              </a:rPr>
              <a:t>very-large-scale</a:t>
            </a:r>
            <a:r>
              <a:rPr sz="2750" spc="50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data</a:t>
            </a:r>
            <a:endParaRPr sz="275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5FB5CC"/>
              </a:buClr>
              <a:buFont typeface="Calibri"/>
              <a:buAutoNum type="arabicPeriod"/>
            </a:pPr>
            <a:endParaRPr sz="3000" dirty="0">
              <a:latin typeface="Calibri"/>
              <a:cs typeface="Calibri"/>
            </a:endParaRPr>
          </a:p>
          <a:p>
            <a:pPr marL="336550" marR="5080" indent="-324485">
              <a:lnSpc>
                <a:spcPct val="90600"/>
              </a:lnSpc>
              <a:spcBef>
                <a:spcPts val="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10" dirty="0">
                <a:latin typeface="Calibri"/>
                <a:cs typeface="Calibri"/>
              </a:rPr>
              <a:t>It </a:t>
            </a:r>
            <a:r>
              <a:rPr sz="3200" spc="30" dirty="0">
                <a:latin typeface="Calibri"/>
                <a:cs typeface="Calibri"/>
              </a:rPr>
              <a:t>has </a:t>
            </a:r>
            <a:r>
              <a:rPr sz="3200" spc="-10" dirty="0">
                <a:latin typeface="Calibri"/>
                <a:cs typeface="Calibri"/>
              </a:rPr>
              <a:t>several </a:t>
            </a:r>
            <a:r>
              <a:rPr sz="3200" spc="5" dirty="0">
                <a:solidFill>
                  <a:srgbClr val="00AF50"/>
                </a:solidFill>
                <a:latin typeface="Calibri"/>
                <a:cs typeface="Calibri"/>
              </a:rPr>
              <a:t>implementations</a:t>
            </a:r>
            <a:r>
              <a:rPr sz="3200" spc="5" dirty="0">
                <a:latin typeface="Calibri"/>
                <a:cs typeface="Calibri"/>
              </a:rPr>
              <a:t>, </a:t>
            </a:r>
            <a:r>
              <a:rPr sz="3200" spc="25" dirty="0">
                <a:latin typeface="Calibri"/>
                <a:cs typeface="Calibri"/>
              </a:rPr>
              <a:t>including  </a:t>
            </a:r>
            <a:r>
              <a:rPr sz="3200" spc="30" dirty="0">
                <a:latin typeface="Calibri"/>
                <a:cs typeface="Calibri"/>
              </a:rPr>
              <a:t>Hadoop, </a:t>
            </a:r>
            <a:r>
              <a:rPr sz="3200" spc="25" dirty="0">
                <a:latin typeface="Calibri"/>
                <a:cs typeface="Calibri"/>
              </a:rPr>
              <a:t>Spark </a:t>
            </a:r>
            <a:r>
              <a:rPr sz="3200" spc="10" dirty="0">
                <a:latin typeface="Calibri"/>
                <a:cs typeface="Calibri"/>
              </a:rPr>
              <a:t>(used in </a:t>
            </a:r>
            <a:r>
              <a:rPr sz="3200" spc="5" dirty="0">
                <a:latin typeface="Calibri"/>
                <a:cs typeface="Calibri"/>
              </a:rPr>
              <a:t>this </a:t>
            </a:r>
            <a:r>
              <a:rPr sz="3200" spc="10" dirty="0">
                <a:latin typeface="Calibri"/>
                <a:cs typeface="Calibri"/>
              </a:rPr>
              <a:t>class), </a:t>
            </a:r>
            <a:r>
              <a:rPr sz="3200" spc="20" dirty="0">
                <a:latin typeface="Calibri"/>
                <a:cs typeface="Calibri"/>
              </a:rPr>
              <a:t>Flink, </a:t>
            </a:r>
            <a:r>
              <a:rPr sz="3200" spc="30" dirty="0">
                <a:latin typeface="Calibri"/>
                <a:cs typeface="Calibri"/>
              </a:rPr>
              <a:t>and  </a:t>
            </a:r>
            <a:r>
              <a:rPr sz="3200" spc="10" dirty="0">
                <a:latin typeface="Calibri"/>
                <a:cs typeface="Calibri"/>
              </a:rPr>
              <a:t>the </a:t>
            </a:r>
            <a:r>
              <a:rPr sz="3200" spc="15" dirty="0">
                <a:latin typeface="Calibri"/>
                <a:cs typeface="Calibri"/>
              </a:rPr>
              <a:t>original Google </a:t>
            </a:r>
            <a:r>
              <a:rPr sz="3200" dirty="0">
                <a:latin typeface="Calibri"/>
                <a:cs typeface="Calibri"/>
              </a:rPr>
              <a:t>implementation </a:t>
            </a:r>
            <a:r>
              <a:rPr sz="3200" spc="10" dirty="0">
                <a:latin typeface="Calibri"/>
                <a:cs typeface="Calibri"/>
              </a:rPr>
              <a:t>just</a:t>
            </a:r>
            <a:r>
              <a:rPr sz="3200" spc="-49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called  </a:t>
            </a:r>
            <a:r>
              <a:rPr sz="3200" spc="5" dirty="0">
                <a:latin typeface="Calibri"/>
                <a:cs typeface="Calibri"/>
              </a:rPr>
              <a:t>“MapReduce”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704960" y="6713609"/>
            <a:ext cx="19050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5491226" cy="5762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4362" y="1270888"/>
            <a:ext cx="350266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1" i="0" dirty="0">
                <a:latin typeface="Calibri"/>
                <a:cs typeface="Calibri"/>
              </a:rPr>
              <a:t>3 </a:t>
            </a:r>
            <a:r>
              <a:rPr sz="3000" b="1" i="0" spc="-10" dirty="0">
                <a:latin typeface="Calibri"/>
                <a:cs typeface="Calibri"/>
              </a:rPr>
              <a:t>steps </a:t>
            </a:r>
            <a:r>
              <a:rPr sz="3000" b="1" i="0" spc="10" dirty="0">
                <a:latin typeface="Calibri"/>
                <a:cs typeface="Calibri"/>
              </a:rPr>
              <a:t>of</a:t>
            </a:r>
            <a:r>
              <a:rPr sz="3000" b="1" i="0" spc="-145" dirty="0">
                <a:latin typeface="Calibri"/>
                <a:cs typeface="Calibri"/>
              </a:rPr>
              <a:t> </a:t>
            </a:r>
            <a:r>
              <a:rPr sz="3000" b="1" i="0" spc="-15" dirty="0">
                <a:latin typeface="Calibri"/>
                <a:cs typeface="Calibri"/>
              </a:rPr>
              <a:t>MapReduce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362" y="1633791"/>
            <a:ext cx="8300084" cy="438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37185" algn="l"/>
              </a:tabLst>
            </a:pP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Map:</a:t>
            </a:r>
            <a:endParaRPr sz="300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3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600" spc="-5" dirty="0">
                <a:latin typeface="Calibri"/>
                <a:cs typeface="Calibri"/>
              </a:rPr>
              <a:t>Apply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user-written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i="1" spc="15" dirty="0">
                <a:solidFill>
                  <a:srgbClr val="FF0000"/>
                </a:solidFill>
                <a:latin typeface="Calibri"/>
                <a:cs typeface="Calibri"/>
              </a:rPr>
              <a:t>Map</a:t>
            </a:r>
            <a:r>
              <a:rPr sz="2600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15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600" i="1" spc="-1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15" dirty="0">
                <a:latin typeface="Calibri"/>
                <a:cs typeface="Calibri"/>
              </a:rPr>
              <a:t>to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each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input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element</a:t>
            </a:r>
            <a:endParaRPr sz="260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110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150" i="1" spc="15" dirty="0">
                <a:solidFill>
                  <a:srgbClr val="FF0000"/>
                </a:solidFill>
                <a:latin typeface="Calibri"/>
                <a:cs typeface="Calibri"/>
              </a:rPr>
              <a:t>Mapper </a:t>
            </a:r>
            <a:r>
              <a:rPr sz="2150" spc="5" dirty="0">
                <a:latin typeface="Calibri"/>
                <a:cs typeface="Calibri"/>
              </a:rPr>
              <a:t>applies </a:t>
            </a:r>
            <a:r>
              <a:rPr sz="2150" spc="10" dirty="0">
                <a:latin typeface="Calibri"/>
                <a:cs typeface="Calibri"/>
              </a:rPr>
              <a:t>the </a:t>
            </a:r>
            <a:r>
              <a:rPr sz="2150" spc="20" dirty="0">
                <a:latin typeface="Calibri"/>
                <a:cs typeface="Calibri"/>
              </a:rPr>
              <a:t>Map </a:t>
            </a:r>
            <a:r>
              <a:rPr sz="2150" spc="5" dirty="0">
                <a:latin typeface="Calibri"/>
                <a:cs typeface="Calibri"/>
              </a:rPr>
              <a:t>function </a:t>
            </a:r>
            <a:r>
              <a:rPr sz="2150" spc="15" dirty="0">
                <a:latin typeface="Calibri"/>
                <a:cs typeface="Calibri"/>
              </a:rPr>
              <a:t>to </a:t>
            </a:r>
            <a:r>
              <a:rPr sz="2150" spc="10" dirty="0">
                <a:latin typeface="Calibri"/>
                <a:cs typeface="Calibri"/>
              </a:rPr>
              <a:t>a single</a:t>
            </a:r>
            <a:r>
              <a:rPr sz="2150" spc="204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element</a:t>
            </a:r>
            <a:endParaRPr sz="2150">
              <a:latin typeface="Calibri"/>
              <a:cs typeface="Calibri"/>
            </a:endParaRPr>
          </a:p>
          <a:p>
            <a:pPr marL="1118235" lvl="3" indent="-191135">
              <a:lnSpc>
                <a:spcPts val="2200"/>
              </a:lnSpc>
              <a:spcBef>
                <a:spcPts val="45"/>
              </a:spcBef>
              <a:buClr>
                <a:srgbClr val="6BB76C"/>
              </a:buClr>
              <a:buFont typeface="Wingdings"/>
              <a:buChar char=""/>
              <a:tabLst>
                <a:tab pos="1118870" algn="l"/>
              </a:tabLst>
            </a:pPr>
            <a:r>
              <a:rPr sz="1850" spc="5" dirty="0">
                <a:latin typeface="Calibri"/>
                <a:cs typeface="Calibri"/>
              </a:rPr>
              <a:t>Many mappers grouped </a:t>
            </a:r>
            <a:r>
              <a:rPr sz="1850" spc="15" dirty="0">
                <a:latin typeface="Calibri"/>
                <a:cs typeface="Calibri"/>
              </a:rPr>
              <a:t>in </a:t>
            </a:r>
            <a:r>
              <a:rPr sz="1850" spc="10" dirty="0">
                <a:latin typeface="Calibri"/>
                <a:cs typeface="Calibri"/>
              </a:rPr>
              <a:t>a </a:t>
            </a:r>
            <a:r>
              <a:rPr sz="1850" i="1" spc="5" dirty="0">
                <a:solidFill>
                  <a:srgbClr val="FF0000"/>
                </a:solidFill>
                <a:latin typeface="Calibri"/>
                <a:cs typeface="Calibri"/>
              </a:rPr>
              <a:t>Map task </a:t>
            </a:r>
            <a:r>
              <a:rPr sz="1850" spc="5" dirty="0">
                <a:latin typeface="Calibri"/>
                <a:cs typeface="Calibri"/>
              </a:rPr>
              <a:t>(the unit </a:t>
            </a:r>
            <a:r>
              <a:rPr sz="1850" dirty="0">
                <a:latin typeface="Calibri"/>
                <a:cs typeface="Calibri"/>
              </a:rPr>
              <a:t>of</a:t>
            </a:r>
            <a:r>
              <a:rPr sz="1850" spc="3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parallelism)</a:t>
            </a:r>
            <a:endParaRPr sz="1850">
              <a:latin typeface="Calibri"/>
              <a:cs typeface="Calibri"/>
            </a:endParaRPr>
          </a:p>
          <a:p>
            <a:pPr marL="632460" lvl="1" indent="-276860">
              <a:lnSpc>
                <a:spcPts val="2815"/>
              </a:lnSpc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output of </a:t>
            </a:r>
            <a:r>
              <a:rPr sz="2600" spc="5" dirty="0">
                <a:latin typeface="Calibri"/>
                <a:cs typeface="Calibri"/>
              </a:rPr>
              <a:t>the </a:t>
            </a:r>
            <a:r>
              <a:rPr sz="2600" spc="20" dirty="0">
                <a:latin typeface="Calibri"/>
                <a:cs typeface="Calibri"/>
              </a:rPr>
              <a:t>Map </a:t>
            </a:r>
            <a:r>
              <a:rPr sz="2600" spc="5" dirty="0">
                <a:latin typeface="Calibri"/>
                <a:cs typeface="Calibri"/>
              </a:rPr>
              <a:t>function is </a:t>
            </a:r>
            <a:r>
              <a:rPr sz="2600" spc="10" dirty="0">
                <a:latin typeface="Calibri"/>
                <a:cs typeface="Calibri"/>
              </a:rPr>
              <a:t>a </a:t>
            </a:r>
            <a:r>
              <a:rPr sz="2600" spc="5" dirty="0">
                <a:latin typeface="Calibri"/>
                <a:cs typeface="Calibri"/>
              </a:rPr>
              <a:t>set </a:t>
            </a:r>
            <a:r>
              <a:rPr sz="2600" spc="-10" dirty="0">
                <a:latin typeface="Calibri"/>
                <a:cs typeface="Calibri"/>
              </a:rPr>
              <a:t>of </a:t>
            </a:r>
            <a:r>
              <a:rPr sz="2600" spc="20" dirty="0">
                <a:latin typeface="Calibri"/>
                <a:cs typeface="Calibri"/>
              </a:rPr>
              <a:t>0, 1, </a:t>
            </a:r>
            <a:r>
              <a:rPr sz="2600" spc="-10" dirty="0">
                <a:latin typeface="Calibri"/>
                <a:cs typeface="Calibri"/>
              </a:rPr>
              <a:t>or</a:t>
            </a:r>
            <a:r>
              <a:rPr sz="2600" spc="-3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endParaRPr sz="2600">
              <a:latin typeface="Calibri"/>
              <a:cs typeface="Calibri"/>
            </a:endParaRPr>
          </a:p>
          <a:p>
            <a:pPr marL="632460">
              <a:lnSpc>
                <a:spcPts val="2465"/>
              </a:lnSpc>
            </a:pPr>
            <a:r>
              <a:rPr sz="2600" i="1" spc="10" dirty="0">
                <a:solidFill>
                  <a:srgbClr val="FF0000"/>
                </a:solidFill>
                <a:latin typeface="Calibri"/>
                <a:cs typeface="Calibri"/>
              </a:rPr>
              <a:t>key-value</a:t>
            </a:r>
            <a:r>
              <a:rPr sz="2600" i="1" spc="-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10" dirty="0">
                <a:solidFill>
                  <a:srgbClr val="FF0000"/>
                </a:solidFill>
                <a:latin typeface="Calibri"/>
                <a:cs typeface="Calibri"/>
              </a:rPr>
              <a:t>pairs</a:t>
            </a:r>
            <a:r>
              <a:rPr sz="2600" spc="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336550" indent="-324485">
              <a:lnSpc>
                <a:spcPts val="3229"/>
              </a:lnSpc>
              <a:buClr>
                <a:srgbClr val="EFAC00"/>
              </a:buClr>
              <a:buSzPct val="80000"/>
              <a:buFont typeface="Wingdings 2"/>
              <a:buChar char=""/>
              <a:tabLst>
                <a:tab pos="337185" algn="l"/>
              </a:tabLst>
            </a:pP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Group by </a:t>
            </a:r>
            <a:r>
              <a:rPr sz="3000" b="1" spc="-30" dirty="0">
                <a:solidFill>
                  <a:srgbClr val="0000FF"/>
                </a:solidFill>
                <a:latin typeface="Calibri"/>
                <a:cs typeface="Calibri"/>
              </a:rPr>
              <a:t>key: </a:t>
            </a:r>
            <a:r>
              <a:rPr sz="3000" spc="-10" dirty="0">
                <a:latin typeface="Calibri"/>
                <a:cs typeface="Calibri"/>
              </a:rPr>
              <a:t>Sort </a:t>
            </a:r>
            <a:r>
              <a:rPr sz="3000" spc="-5" dirty="0">
                <a:latin typeface="Calibri"/>
                <a:cs typeface="Calibri"/>
              </a:rPr>
              <a:t>and</a:t>
            </a:r>
            <a:r>
              <a:rPr sz="3000" spc="1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shuffle</a:t>
            </a:r>
            <a:endParaRPr sz="3000">
              <a:latin typeface="Calibri"/>
              <a:cs typeface="Calibri"/>
            </a:endParaRPr>
          </a:p>
          <a:p>
            <a:pPr marL="632460" marR="1427480" lvl="1" indent="-276860">
              <a:lnSpc>
                <a:spcPct val="79400"/>
              </a:lnSpc>
              <a:spcBef>
                <a:spcPts val="67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600" spc="10" dirty="0">
                <a:latin typeface="Calibri"/>
                <a:cs typeface="Calibri"/>
              </a:rPr>
              <a:t>System</a:t>
            </a:r>
            <a:r>
              <a:rPr sz="2600" spc="-45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sorts </a:t>
            </a:r>
            <a:r>
              <a:rPr sz="2600" spc="10" dirty="0">
                <a:latin typeface="Calibri"/>
                <a:cs typeface="Calibri"/>
              </a:rPr>
              <a:t>all </a:t>
            </a:r>
            <a:r>
              <a:rPr sz="2600" spc="5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key-value </a:t>
            </a:r>
            <a:r>
              <a:rPr sz="2600" spc="-15" dirty="0">
                <a:latin typeface="Calibri"/>
                <a:cs typeface="Calibri"/>
              </a:rPr>
              <a:t>pairs </a:t>
            </a:r>
            <a:r>
              <a:rPr sz="2600" spc="-5" dirty="0">
                <a:latin typeface="Calibri"/>
                <a:cs typeface="Calibri"/>
              </a:rPr>
              <a:t>by </a:t>
            </a:r>
            <a:r>
              <a:rPr sz="2600" spc="-50" dirty="0">
                <a:latin typeface="Calibri"/>
                <a:cs typeface="Calibri"/>
              </a:rPr>
              <a:t>key, </a:t>
            </a:r>
            <a:r>
              <a:rPr sz="2600" spc="5" dirty="0">
                <a:latin typeface="Calibri"/>
                <a:cs typeface="Calibri"/>
              </a:rPr>
              <a:t>and  </a:t>
            </a:r>
            <a:r>
              <a:rPr sz="2600" spc="-5" dirty="0">
                <a:latin typeface="Calibri"/>
                <a:cs typeface="Calibri"/>
              </a:rPr>
              <a:t>outputs </a:t>
            </a:r>
            <a:r>
              <a:rPr sz="2600" spc="5" dirty="0">
                <a:latin typeface="Calibri"/>
                <a:cs typeface="Calibri"/>
              </a:rPr>
              <a:t>key-(list </a:t>
            </a:r>
            <a:r>
              <a:rPr sz="2600" spc="-10" dirty="0">
                <a:latin typeface="Calibri"/>
                <a:cs typeface="Calibri"/>
              </a:rPr>
              <a:t>of </a:t>
            </a:r>
            <a:r>
              <a:rPr sz="2600" spc="-5" dirty="0">
                <a:latin typeface="Calibri"/>
                <a:cs typeface="Calibri"/>
              </a:rPr>
              <a:t>values)</a:t>
            </a:r>
            <a:r>
              <a:rPr sz="2600" spc="-229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pairs</a:t>
            </a:r>
            <a:endParaRPr sz="2600">
              <a:latin typeface="Calibri"/>
              <a:cs typeface="Calibri"/>
            </a:endParaRPr>
          </a:p>
          <a:p>
            <a:pPr marL="336550" indent="-324485">
              <a:lnSpc>
                <a:spcPts val="2860"/>
              </a:lnSpc>
              <a:buClr>
                <a:srgbClr val="EFAC00"/>
              </a:buClr>
              <a:buSzPct val="80000"/>
              <a:buFont typeface="Wingdings 2"/>
              <a:buChar char=""/>
              <a:tabLst>
                <a:tab pos="337185" algn="l"/>
              </a:tabLst>
            </a:pPr>
            <a:r>
              <a:rPr sz="3000" b="1" spc="-20" dirty="0">
                <a:solidFill>
                  <a:srgbClr val="0000FF"/>
                </a:solidFill>
                <a:latin typeface="Calibri"/>
                <a:cs typeface="Calibri"/>
              </a:rPr>
              <a:t>Reduce:</a:t>
            </a:r>
            <a:endParaRPr sz="3000">
              <a:latin typeface="Calibri"/>
              <a:cs typeface="Calibri"/>
            </a:endParaRPr>
          </a:p>
          <a:p>
            <a:pPr marL="632460" marR="1318895" lvl="1" indent="-276860">
              <a:lnSpc>
                <a:spcPct val="79500"/>
              </a:lnSpc>
              <a:spcBef>
                <a:spcPts val="66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600" spc="5" dirty="0">
                <a:latin typeface="Calibri"/>
                <a:cs typeface="Calibri"/>
              </a:rPr>
              <a:t>User-written</a:t>
            </a:r>
            <a:r>
              <a:rPr sz="2600" spc="-175" dirty="0">
                <a:latin typeface="Calibri"/>
                <a:cs typeface="Calibri"/>
              </a:rPr>
              <a:t> </a:t>
            </a:r>
            <a:r>
              <a:rPr sz="2600" i="1" spc="5" dirty="0">
                <a:solidFill>
                  <a:srgbClr val="FF0000"/>
                </a:solidFill>
                <a:latin typeface="Calibri"/>
                <a:cs typeface="Calibri"/>
              </a:rPr>
              <a:t>Reduce</a:t>
            </a:r>
            <a:r>
              <a:rPr sz="2600" i="1" spc="-1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15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600" i="1" spc="-1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applied</a:t>
            </a:r>
            <a:r>
              <a:rPr sz="2600" spc="45" dirty="0">
                <a:latin typeface="Calibri"/>
                <a:cs typeface="Calibri"/>
              </a:rPr>
              <a:t> </a:t>
            </a:r>
            <a:r>
              <a:rPr sz="2600" spc="20" dirty="0">
                <a:latin typeface="Calibri"/>
                <a:cs typeface="Calibri"/>
              </a:rPr>
              <a:t>to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each  </a:t>
            </a:r>
            <a:r>
              <a:rPr sz="2600" spc="5" dirty="0">
                <a:latin typeface="Calibri"/>
                <a:cs typeface="Calibri"/>
              </a:rPr>
              <a:t>key-(list </a:t>
            </a:r>
            <a:r>
              <a:rPr sz="2600" spc="-10" dirty="0">
                <a:latin typeface="Calibri"/>
                <a:cs typeface="Calibri"/>
              </a:rPr>
              <a:t>of</a:t>
            </a:r>
            <a:r>
              <a:rPr sz="2600" spc="-18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values)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10" y="6086475"/>
            <a:ext cx="8977630" cy="771525"/>
            <a:chOff x="47610" y="6086475"/>
            <a:chExt cx="8977630" cy="7715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10" y="6086475"/>
              <a:ext cx="8977405" cy="762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250" y="6143625"/>
              <a:ext cx="8882126" cy="7143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62" y="6100762"/>
              <a:ext cx="8915400" cy="6858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0962" y="6100762"/>
            <a:ext cx="8915400" cy="68580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249554">
              <a:lnSpc>
                <a:spcPct val="100000"/>
              </a:lnSpc>
              <a:spcBef>
                <a:spcPts val="1140"/>
              </a:spcBef>
            </a:pP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Outline </a:t>
            </a:r>
            <a:r>
              <a:rPr sz="2400" spc="-5" dirty="0">
                <a:solidFill>
                  <a:srgbClr val="FFFFFF"/>
                </a:solidFill>
                <a:latin typeface="Corbel"/>
                <a:cs typeface="Corbel"/>
              </a:rPr>
              <a:t>stays the </a:t>
            </a:r>
            <a:r>
              <a:rPr sz="2400" spc="10" dirty="0">
                <a:solidFill>
                  <a:srgbClr val="FFFFFF"/>
                </a:solidFill>
                <a:latin typeface="Corbel"/>
                <a:cs typeface="Corbel"/>
              </a:rPr>
              <a:t>same, </a:t>
            </a:r>
            <a:r>
              <a:rPr sz="2400" b="1" spc="-25" dirty="0">
                <a:solidFill>
                  <a:srgbClr val="FFFFFF"/>
                </a:solidFill>
                <a:latin typeface="Corbel"/>
                <a:cs typeface="Corbel"/>
              </a:rPr>
              <a:t>Map </a:t>
            </a:r>
            <a:r>
              <a:rPr sz="2400" spc="5" dirty="0">
                <a:solidFill>
                  <a:srgbClr val="FFFFFF"/>
                </a:solidFill>
                <a:latin typeface="Corbel"/>
                <a:cs typeface="Corbel"/>
              </a:rPr>
              <a:t>and </a:t>
            </a:r>
            <a:r>
              <a:rPr sz="2400" b="1" spc="-25" dirty="0">
                <a:solidFill>
                  <a:srgbClr val="FFFFFF"/>
                </a:solidFill>
                <a:latin typeface="Corbel"/>
                <a:cs typeface="Corbel"/>
              </a:rPr>
              <a:t>Reduce </a:t>
            </a: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change </a:t>
            </a:r>
            <a:r>
              <a:rPr sz="2400" spc="-5" dirty="0">
                <a:solidFill>
                  <a:srgbClr val="FFFFFF"/>
                </a:solidFill>
                <a:latin typeface="Corbel"/>
                <a:cs typeface="Corbel"/>
              </a:rPr>
              <a:t>to </a:t>
            </a:r>
            <a:r>
              <a:rPr sz="2400" spc="-20" dirty="0">
                <a:solidFill>
                  <a:srgbClr val="FFFFFF"/>
                </a:solidFill>
                <a:latin typeface="Corbel"/>
                <a:cs typeface="Corbel"/>
              </a:rPr>
              <a:t>fit </a:t>
            </a:r>
            <a:r>
              <a:rPr sz="2400" spc="-5" dirty="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r>
              <a:rPr sz="2400" spc="-19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orbel"/>
                <a:cs typeface="Corbel"/>
              </a:rPr>
              <a:t>problem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5843651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4780" y="1369483"/>
            <a:ext cx="7628077" cy="51196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3362" y="1757426"/>
            <a:ext cx="1676400" cy="1143000"/>
          </a:xfrm>
          <a:prstGeom prst="rect">
            <a:avLst/>
          </a:prstGeom>
          <a:solidFill>
            <a:srgbClr val="5FB5CC"/>
          </a:solidFill>
          <a:ln w="47999">
            <a:solidFill>
              <a:srgbClr val="448494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735"/>
              </a:spcBef>
            </a:pPr>
            <a:r>
              <a:rPr sz="1800" b="1" spc="-5" dirty="0">
                <a:solidFill>
                  <a:srgbClr val="FFFFFF"/>
                </a:solidFill>
                <a:latin typeface="Corbel"/>
                <a:cs typeface="Corbel"/>
              </a:rPr>
              <a:t>MAP:</a:t>
            </a:r>
            <a:endParaRPr sz="1800" dirty="0">
              <a:latin typeface="Corbel"/>
              <a:cs typeface="Corbel"/>
            </a:endParaRPr>
          </a:p>
          <a:p>
            <a:pPr marL="214629" marR="210820" indent="-3175" algn="ctr">
              <a:lnSpc>
                <a:spcPct val="100600"/>
              </a:lnSpc>
              <a:spcBef>
                <a:spcPts val="30"/>
              </a:spcBef>
            </a:pP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Read </a:t>
            </a:r>
            <a:r>
              <a:rPr sz="1400" dirty="0">
                <a:solidFill>
                  <a:srgbClr val="FFFFFF"/>
                </a:solidFill>
                <a:latin typeface="Corbel"/>
                <a:cs typeface="Corbel"/>
              </a:rPr>
              <a:t>input and  </a:t>
            </a:r>
            <a:r>
              <a:rPr sz="1400" spc="-5" dirty="0">
                <a:solidFill>
                  <a:srgbClr val="FFFFFF"/>
                </a:solidFill>
                <a:latin typeface="Corbel"/>
                <a:cs typeface="Corbel"/>
              </a:rPr>
              <a:t>produces </a:t>
            </a:r>
            <a:r>
              <a:rPr sz="1400" spc="10" dirty="0">
                <a:solidFill>
                  <a:srgbClr val="FFFFFF"/>
                </a:solidFill>
                <a:latin typeface="Corbel"/>
                <a:cs typeface="Corbel"/>
              </a:rPr>
              <a:t>a </a:t>
            </a:r>
            <a:r>
              <a:rPr sz="1400" spc="5" dirty="0">
                <a:solidFill>
                  <a:srgbClr val="FFFFFF"/>
                </a:solidFill>
                <a:latin typeface="Corbel"/>
                <a:cs typeface="Corbel"/>
              </a:rPr>
              <a:t>set</a:t>
            </a:r>
            <a:r>
              <a:rPr sz="1400" spc="-1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orbel"/>
                <a:cs typeface="Corbel"/>
              </a:rPr>
              <a:t>of  </a:t>
            </a:r>
            <a:r>
              <a:rPr sz="1400" spc="-5" dirty="0">
                <a:solidFill>
                  <a:srgbClr val="FFFFFF"/>
                </a:solidFill>
                <a:latin typeface="Corbel"/>
                <a:cs typeface="Corbel"/>
              </a:rPr>
              <a:t>key-value</a:t>
            </a:r>
            <a:r>
              <a:rPr sz="14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pairs</a:t>
            </a:r>
            <a:endParaRPr sz="1400" dirty="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362" y="3433826"/>
            <a:ext cx="1676400" cy="1371600"/>
          </a:xfrm>
          <a:prstGeom prst="rect">
            <a:avLst/>
          </a:prstGeom>
          <a:solidFill>
            <a:srgbClr val="EFAC00"/>
          </a:solidFill>
          <a:ln w="47999">
            <a:solidFill>
              <a:srgbClr val="AF7D00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55"/>
              </a:spcBef>
            </a:pPr>
            <a:r>
              <a:rPr sz="1800" b="1" spc="-15" dirty="0">
                <a:solidFill>
                  <a:srgbClr val="FFFFFF"/>
                </a:solidFill>
                <a:latin typeface="Corbel"/>
                <a:cs typeface="Corbel"/>
              </a:rPr>
              <a:t>Group by</a:t>
            </a:r>
            <a:r>
              <a:rPr sz="1800" b="1" spc="10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orbel"/>
                <a:cs typeface="Corbel"/>
              </a:rPr>
              <a:t>key:</a:t>
            </a:r>
            <a:endParaRPr sz="1800">
              <a:latin typeface="Corbel"/>
              <a:cs typeface="Corbel"/>
            </a:endParaRPr>
          </a:p>
          <a:p>
            <a:pPr marL="90805" marR="100965" algn="ctr">
              <a:lnSpc>
                <a:spcPts val="1730"/>
              </a:lnSpc>
              <a:spcBef>
                <a:spcPts val="55"/>
              </a:spcBef>
            </a:pPr>
            <a:r>
              <a:rPr sz="1400" spc="-15" dirty="0">
                <a:solidFill>
                  <a:srgbClr val="FFFFFF"/>
                </a:solidFill>
                <a:latin typeface="Corbel"/>
                <a:cs typeface="Corbel"/>
              </a:rPr>
              <a:t>Collect all </a:t>
            </a: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pairs </a:t>
            </a:r>
            <a:r>
              <a:rPr sz="1400" spc="15" dirty="0">
                <a:solidFill>
                  <a:srgbClr val="FFFFFF"/>
                </a:solidFill>
                <a:latin typeface="Corbel"/>
                <a:cs typeface="Corbel"/>
              </a:rPr>
              <a:t>with  same</a:t>
            </a:r>
            <a:r>
              <a:rPr sz="1400" spc="-9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rbel"/>
                <a:cs typeface="Corbel"/>
              </a:rPr>
              <a:t>key</a:t>
            </a:r>
            <a:endParaRPr sz="1400">
              <a:latin typeface="Corbel"/>
              <a:cs typeface="Corbel"/>
            </a:endParaRPr>
          </a:p>
          <a:p>
            <a:pPr marL="119380" marR="117475" algn="ctr">
              <a:lnSpc>
                <a:spcPts val="1430"/>
              </a:lnSpc>
              <a:spcBef>
                <a:spcPts val="10"/>
              </a:spcBef>
            </a:pPr>
            <a:r>
              <a:rPr sz="1200" b="1" spc="-5" dirty="0">
                <a:solidFill>
                  <a:srgbClr val="FFFFFF"/>
                </a:solidFill>
                <a:latin typeface="Corbel"/>
                <a:cs typeface="Corbel"/>
              </a:rPr>
              <a:t>(Hash </a:t>
            </a:r>
            <a:r>
              <a:rPr sz="1200" b="1" spc="5" dirty="0">
                <a:solidFill>
                  <a:srgbClr val="FFFFFF"/>
                </a:solidFill>
                <a:latin typeface="Corbel"/>
                <a:cs typeface="Corbel"/>
              </a:rPr>
              <a:t>merge,</a:t>
            </a:r>
            <a:r>
              <a:rPr sz="1200" b="1" spc="-1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orbel"/>
                <a:cs typeface="Corbel"/>
              </a:rPr>
              <a:t>Shuffle,  </a:t>
            </a:r>
            <a:r>
              <a:rPr sz="1200" b="1" dirty="0">
                <a:solidFill>
                  <a:srgbClr val="FFFFFF"/>
                </a:solidFill>
                <a:latin typeface="Corbel"/>
                <a:cs typeface="Corbel"/>
              </a:rPr>
              <a:t>Sort,</a:t>
            </a:r>
            <a:r>
              <a:rPr sz="1200" b="1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orbel"/>
                <a:cs typeface="Corbel"/>
              </a:rPr>
              <a:t>Partition)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362" y="4957762"/>
            <a:ext cx="1676400" cy="1143000"/>
          </a:xfrm>
          <a:prstGeom prst="rect">
            <a:avLst/>
          </a:prstGeom>
          <a:solidFill>
            <a:srgbClr val="6BB76C"/>
          </a:solidFill>
          <a:ln w="47999">
            <a:solidFill>
              <a:srgbClr val="4D854E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770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Reduce:</a:t>
            </a:r>
            <a:endParaRPr sz="1800">
              <a:latin typeface="Corbel"/>
              <a:cs typeface="Corbel"/>
            </a:endParaRPr>
          </a:p>
          <a:p>
            <a:pPr marL="224790" marR="228600" algn="just">
              <a:lnSpc>
                <a:spcPct val="100600"/>
              </a:lnSpc>
              <a:spcBef>
                <a:spcPts val="30"/>
              </a:spcBef>
            </a:pPr>
            <a:r>
              <a:rPr sz="1400" spc="-15" dirty="0">
                <a:solidFill>
                  <a:srgbClr val="FFFFFF"/>
                </a:solidFill>
                <a:latin typeface="Corbel"/>
                <a:cs typeface="Corbel"/>
              </a:rPr>
              <a:t>Collect all </a:t>
            </a:r>
            <a:r>
              <a:rPr sz="1400" spc="-5" dirty="0">
                <a:solidFill>
                  <a:srgbClr val="FFFFFF"/>
                </a:solidFill>
                <a:latin typeface="Corbel"/>
                <a:cs typeface="Corbel"/>
              </a:rPr>
              <a:t>values  </a:t>
            </a: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belonging </a:t>
            </a:r>
            <a:r>
              <a:rPr sz="1400" spc="20" dirty="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sz="1400" spc="-10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Corbel"/>
                <a:cs typeface="Corbel"/>
              </a:rPr>
              <a:t>the  </a:t>
            </a: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key </a:t>
            </a:r>
            <a:r>
              <a:rPr sz="1400" dirty="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sz="1400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orbel"/>
                <a:cs typeface="Corbel"/>
              </a:rPr>
              <a:t>output</a:t>
            </a:r>
            <a:endParaRPr sz="1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56288-4385-4E0E-BBA0-506828F12279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MapReduce: Formal Representation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0A9B5B5E-FCAB-4376-AD38-1BD4898CED4F}"/>
              </a:ext>
            </a:extLst>
          </p:cNvPr>
          <p:cNvSpPr txBox="1"/>
          <p:nvPr/>
        </p:nvSpPr>
        <p:spPr>
          <a:xfrm>
            <a:off x="614362" y="1243913"/>
            <a:ext cx="8148638" cy="5237971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solidFill>
                  <a:srgbClr val="0070C0"/>
                </a:solidFill>
                <a:latin typeface="Calibri"/>
                <a:cs typeface="Calibri"/>
              </a:rPr>
              <a:t>Input</a:t>
            </a:r>
            <a:r>
              <a:rPr lang="en-AU" sz="2800" dirty="0">
                <a:latin typeface="Calibri"/>
                <a:cs typeface="Calibri"/>
              </a:rPr>
              <a:t>: a set of key-value pairs</a:t>
            </a:r>
          </a:p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latin typeface="Calibri"/>
                <a:cs typeface="Calibri"/>
              </a:rPr>
              <a:t>Programmer specifies two methods: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solidFill>
                  <a:srgbClr val="00B050"/>
                </a:solidFill>
                <a:latin typeface="Calibri"/>
                <a:cs typeface="Calibri"/>
              </a:rPr>
              <a:t>Map (k, v) </a:t>
            </a:r>
            <a:r>
              <a:rPr lang="en-AU" sz="2800" dirty="0">
                <a:latin typeface="Calibri"/>
                <a:cs typeface="Calibri"/>
                <a:sym typeface="Wingdings" panose="05000000000000000000" pitchFamily="2" charset="2"/>
              </a:rPr>
              <a:t> &lt;k’, v’&gt;*</a:t>
            </a:r>
          </a:p>
          <a:p>
            <a:pPr marL="1250950" lvl="2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latin typeface="Calibri"/>
                <a:cs typeface="Calibri"/>
                <a:sym typeface="Wingdings" panose="05000000000000000000" pitchFamily="2" charset="2"/>
              </a:rPr>
              <a:t>Takes a key-value pair and outputs a set of key-value pairs</a:t>
            </a:r>
          </a:p>
          <a:p>
            <a:pPr marL="1250950" lvl="2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latin typeface="Calibri"/>
                <a:cs typeface="Calibri"/>
                <a:sym typeface="Wingdings" panose="05000000000000000000" pitchFamily="2" charset="2"/>
              </a:rPr>
              <a:t>There is one Map call for every </a:t>
            </a:r>
            <a:r>
              <a:rPr lang="en-AU" sz="2800" dirty="0">
                <a:solidFill>
                  <a:srgbClr val="00B050"/>
                </a:solidFill>
                <a:latin typeface="Calibri"/>
                <a:cs typeface="Calibri"/>
                <a:sym typeface="Wingdings" panose="05000000000000000000" pitchFamily="2" charset="2"/>
              </a:rPr>
              <a:t>(k, v)</a:t>
            </a:r>
            <a:r>
              <a:rPr lang="en-AU" sz="2800" dirty="0">
                <a:latin typeface="Calibri"/>
                <a:cs typeface="Calibri"/>
                <a:sym typeface="Wingdings" panose="05000000000000000000" pitchFamily="2" charset="2"/>
              </a:rPr>
              <a:t> pair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solidFill>
                  <a:schemeClr val="accent2"/>
                </a:solidFill>
                <a:latin typeface="Calibri"/>
                <a:cs typeface="Calibri"/>
                <a:sym typeface="Wingdings" panose="05000000000000000000" pitchFamily="2" charset="2"/>
              </a:rPr>
              <a:t>Reduce (k’, &lt;v’&gt;*) </a:t>
            </a:r>
            <a:r>
              <a:rPr lang="en-AU" sz="2800" dirty="0">
                <a:latin typeface="Calibri"/>
                <a:cs typeface="Calibri"/>
                <a:sym typeface="Wingdings" panose="05000000000000000000" pitchFamily="2" charset="2"/>
              </a:rPr>
              <a:t> &lt;k’, v’’&gt;*</a:t>
            </a:r>
          </a:p>
          <a:p>
            <a:pPr marL="1250950" lvl="2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latin typeface="Calibri"/>
                <a:cs typeface="Calibri"/>
                <a:sym typeface="Wingdings" panose="05000000000000000000" pitchFamily="2" charset="2"/>
              </a:rPr>
              <a:t>All values v’ with the same key k’ are reduced together</a:t>
            </a:r>
          </a:p>
          <a:p>
            <a:pPr marL="1250950" lvl="2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latin typeface="Calibri"/>
                <a:cs typeface="Calibri"/>
                <a:sym typeface="Wingdings" panose="05000000000000000000" pitchFamily="2" charset="2"/>
              </a:rPr>
              <a:t>There is one Reduce function call per unique k’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32AE6-944E-4BD1-BE8C-F803EEC667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43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5776976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300" y="1485900"/>
            <a:ext cx="6572250" cy="44100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5492" y="6114097"/>
            <a:ext cx="75965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FF"/>
                </a:solidFill>
                <a:latin typeface="Corbel"/>
                <a:cs typeface="Corbel"/>
              </a:rPr>
              <a:t>All </a:t>
            </a:r>
            <a:r>
              <a:rPr sz="2400" b="1" spc="-5" dirty="0">
                <a:solidFill>
                  <a:srgbClr val="0000FF"/>
                </a:solidFill>
                <a:latin typeface="Corbel"/>
                <a:cs typeface="Corbel"/>
              </a:rPr>
              <a:t>phases </a:t>
            </a:r>
            <a:r>
              <a:rPr sz="2400" b="1" spc="-20" dirty="0">
                <a:solidFill>
                  <a:srgbClr val="0000FF"/>
                </a:solidFill>
                <a:latin typeface="Corbel"/>
                <a:cs typeface="Corbel"/>
              </a:rPr>
              <a:t>are </a:t>
            </a:r>
            <a:r>
              <a:rPr sz="2400" b="1" spc="-10" dirty="0">
                <a:solidFill>
                  <a:srgbClr val="0000FF"/>
                </a:solidFill>
                <a:latin typeface="Corbel"/>
                <a:cs typeface="Corbel"/>
              </a:rPr>
              <a:t>distributed </a:t>
            </a:r>
            <a:r>
              <a:rPr sz="2400" b="1" spc="-5" dirty="0">
                <a:solidFill>
                  <a:srgbClr val="0000FF"/>
                </a:solidFill>
                <a:latin typeface="Corbel"/>
                <a:cs typeface="Corbel"/>
              </a:rPr>
              <a:t>with </a:t>
            </a:r>
            <a:r>
              <a:rPr sz="2400" b="1" spc="-15" dirty="0">
                <a:solidFill>
                  <a:srgbClr val="0000FF"/>
                </a:solidFill>
                <a:latin typeface="Corbel"/>
                <a:cs typeface="Corbel"/>
              </a:rPr>
              <a:t>many </a:t>
            </a:r>
            <a:r>
              <a:rPr sz="2400" b="1" dirty="0">
                <a:solidFill>
                  <a:srgbClr val="0000FF"/>
                </a:solidFill>
                <a:latin typeface="Corbel"/>
                <a:cs typeface="Corbel"/>
              </a:rPr>
              <a:t>tasks </a:t>
            </a:r>
            <a:r>
              <a:rPr sz="2400" b="1" spc="5" dirty="0">
                <a:solidFill>
                  <a:srgbClr val="0000FF"/>
                </a:solidFill>
                <a:latin typeface="Corbel"/>
                <a:cs typeface="Corbel"/>
              </a:rPr>
              <a:t>doing </a:t>
            </a:r>
            <a:r>
              <a:rPr sz="2400" b="1" spc="-5" dirty="0">
                <a:solidFill>
                  <a:srgbClr val="0000FF"/>
                </a:solidFill>
                <a:latin typeface="Corbel"/>
                <a:cs typeface="Corbel"/>
              </a:rPr>
              <a:t>the</a:t>
            </a:r>
            <a:r>
              <a:rPr sz="2400" b="1" spc="105" dirty="0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orbel"/>
                <a:cs typeface="Corbel"/>
              </a:rPr>
              <a:t>work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4862576" cy="57626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410013" y="2524188"/>
            <a:ext cx="466725" cy="466725"/>
            <a:chOff x="3410013" y="2524188"/>
            <a:chExt cx="466725" cy="466725"/>
          </a:xfrm>
        </p:grpSpPr>
        <p:sp>
          <p:nvSpPr>
            <p:cNvPr id="4" name="object 4"/>
            <p:cNvSpPr/>
            <p:nvPr/>
          </p:nvSpPr>
          <p:spPr>
            <a:xfrm>
              <a:off x="3414776" y="25289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99C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14776" y="25289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410013" y="3209988"/>
            <a:ext cx="466725" cy="466725"/>
            <a:chOff x="3410013" y="3209988"/>
            <a:chExt cx="466725" cy="466725"/>
          </a:xfrm>
        </p:grpSpPr>
        <p:sp>
          <p:nvSpPr>
            <p:cNvPr id="7" name="object 7"/>
            <p:cNvSpPr/>
            <p:nvPr/>
          </p:nvSpPr>
          <p:spPr>
            <a:xfrm>
              <a:off x="3414776" y="32147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99C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14776" y="32147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162613" y="2676588"/>
            <a:ext cx="466725" cy="466725"/>
            <a:chOff x="5162613" y="2676588"/>
            <a:chExt cx="466725" cy="466725"/>
          </a:xfrm>
        </p:grpSpPr>
        <p:sp>
          <p:nvSpPr>
            <p:cNvPr id="10" name="object 10"/>
            <p:cNvSpPr/>
            <p:nvPr/>
          </p:nvSpPr>
          <p:spPr>
            <a:xfrm>
              <a:off x="5167376" y="26813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C99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67376" y="26813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410013" y="3895788"/>
            <a:ext cx="466725" cy="466725"/>
            <a:chOff x="3410013" y="3895788"/>
            <a:chExt cx="466725" cy="466725"/>
          </a:xfrm>
        </p:grpSpPr>
        <p:sp>
          <p:nvSpPr>
            <p:cNvPr id="13" name="object 13"/>
            <p:cNvSpPr/>
            <p:nvPr/>
          </p:nvSpPr>
          <p:spPr>
            <a:xfrm>
              <a:off x="3414776" y="39005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99C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14776" y="39005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410013" y="4581588"/>
            <a:ext cx="466725" cy="466725"/>
            <a:chOff x="3410013" y="4581588"/>
            <a:chExt cx="466725" cy="466725"/>
          </a:xfrm>
        </p:grpSpPr>
        <p:sp>
          <p:nvSpPr>
            <p:cNvPr id="16" name="object 16"/>
            <p:cNvSpPr/>
            <p:nvPr/>
          </p:nvSpPr>
          <p:spPr>
            <a:xfrm>
              <a:off x="3414776" y="45863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99C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14776" y="45863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162613" y="3514788"/>
            <a:ext cx="466725" cy="466725"/>
            <a:chOff x="5162613" y="3514788"/>
            <a:chExt cx="466725" cy="466725"/>
          </a:xfrm>
        </p:grpSpPr>
        <p:sp>
          <p:nvSpPr>
            <p:cNvPr id="19" name="object 19"/>
            <p:cNvSpPr/>
            <p:nvPr/>
          </p:nvSpPr>
          <p:spPr>
            <a:xfrm>
              <a:off x="5167376" y="35195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C99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67376" y="35195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162613" y="4352988"/>
            <a:ext cx="466725" cy="466725"/>
            <a:chOff x="5162613" y="4352988"/>
            <a:chExt cx="466725" cy="466725"/>
          </a:xfrm>
        </p:grpSpPr>
        <p:sp>
          <p:nvSpPr>
            <p:cNvPr id="22" name="object 22"/>
            <p:cNvSpPr/>
            <p:nvPr/>
          </p:nvSpPr>
          <p:spPr>
            <a:xfrm>
              <a:off x="5167376" y="43577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C99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67376" y="43577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2195448" y="2719323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1143000" y="0"/>
                </a:moveTo>
                <a:lnTo>
                  <a:pt x="1143000" y="76200"/>
                </a:lnTo>
                <a:lnTo>
                  <a:pt x="1209548" y="42925"/>
                </a:lnTo>
                <a:lnTo>
                  <a:pt x="1155700" y="42925"/>
                </a:lnTo>
                <a:lnTo>
                  <a:pt x="1155700" y="33400"/>
                </a:lnTo>
                <a:lnTo>
                  <a:pt x="1209802" y="33400"/>
                </a:lnTo>
                <a:lnTo>
                  <a:pt x="1143000" y="0"/>
                </a:lnTo>
                <a:close/>
              </a:path>
              <a:path w="1219200" h="76200">
                <a:moveTo>
                  <a:pt x="114300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1143000" y="42925"/>
                </a:lnTo>
                <a:lnTo>
                  <a:pt x="1143000" y="33400"/>
                </a:lnTo>
                <a:close/>
              </a:path>
              <a:path w="1219200" h="76200">
                <a:moveTo>
                  <a:pt x="1209802" y="33400"/>
                </a:moveTo>
                <a:lnTo>
                  <a:pt x="1155700" y="33400"/>
                </a:lnTo>
                <a:lnTo>
                  <a:pt x="1155700" y="42925"/>
                </a:lnTo>
                <a:lnTo>
                  <a:pt x="1209548" y="42925"/>
                </a:lnTo>
                <a:lnTo>
                  <a:pt x="1219200" y="38100"/>
                </a:lnTo>
                <a:lnTo>
                  <a:pt x="1209802" y="33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195448" y="3405123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1143000" y="0"/>
                </a:moveTo>
                <a:lnTo>
                  <a:pt x="1143000" y="76200"/>
                </a:lnTo>
                <a:lnTo>
                  <a:pt x="1209548" y="42925"/>
                </a:lnTo>
                <a:lnTo>
                  <a:pt x="1155700" y="42925"/>
                </a:lnTo>
                <a:lnTo>
                  <a:pt x="1155700" y="33400"/>
                </a:lnTo>
                <a:lnTo>
                  <a:pt x="1209802" y="33400"/>
                </a:lnTo>
                <a:lnTo>
                  <a:pt x="1143000" y="0"/>
                </a:lnTo>
                <a:close/>
              </a:path>
              <a:path w="1219200" h="76200">
                <a:moveTo>
                  <a:pt x="114300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1143000" y="42925"/>
                </a:lnTo>
                <a:lnTo>
                  <a:pt x="1143000" y="33400"/>
                </a:lnTo>
                <a:close/>
              </a:path>
              <a:path w="1219200" h="76200">
                <a:moveTo>
                  <a:pt x="1209802" y="33400"/>
                </a:moveTo>
                <a:lnTo>
                  <a:pt x="1155700" y="33400"/>
                </a:lnTo>
                <a:lnTo>
                  <a:pt x="1155700" y="42925"/>
                </a:lnTo>
                <a:lnTo>
                  <a:pt x="1209548" y="42925"/>
                </a:lnTo>
                <a:lnTo>
                  <a:pt x="1219200" y="38100"/>
                </a:lnTo>
                <a:lnTo>
                  <a:pt x="1209802" y="33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195448" y="4091051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1143000" y="0"/>
                </a:moveTo>
                <a:lnTo>
                  <a:pt x="1143000" y="76200"/>
                </a:lnTo>
                <a:lnTo>
                  <a:pt x="1209802" y="42799"/>
                </a:lnTo>
                <a:lnTo>
                  <a:pt x="1155700" y="42799"/>
                </a:lnTo>
                <a:lnTo>
                  <a:pt x="1155827" y="33274"/>
                </a:lnTo>
                <a:lnTo>
                  <a:pt x="1209548" y="33274"/>
                </a:lnTo>
                <a:lnTo>
                  <a:pt x="1143000" y="0"/>
                </a:lnTo>
                <a:close/>
              </a:path>
              <a:path w="1219200" h="76200">
                <a:moveTo>
                  <a:pt x="114300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1143000" y="42799"/>
                </a:lnTo>
                <a:lnTo>
                  <a:pt x="1143000" y="33274"/>
                </a:lnTo>
                <a:close/>
              </a:path>
              <a:path w="1219200" h="76200">
                <a:moveTo>
                  <a:pt x="1209548" y="33274"/>
                </a:moveTo>
                <a:lnTo>
                  <a:pt x="1155827" y="33274"/>
                </a:lnTo>
                <a:lnTo>
                  <a:pt x="1155700" y="42799"/>
                </a:lnTo>
                <a:lnTo>
                  <a:pt x="1209802" y="42799"/>
                </a:lnTo>
                <a:lnTo>
                  <a:pt x="1219200" y="38100"/>
                </a:lnTo>
                <a:lnTo>
                  <a:pt x="1209548" y="33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95448" y="4776723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1143000" y="0"/>
                </a:moveTo>
                <a:lnTo>
                  <a:pt x="1143000" y="76200"/>
                </a:lnTo>
                <a:lnTo>
                  <a:pt x="1209548" y="42925"/>
                </a:lnTo>
                <a:lnTo>
                  <a:pt x="1155700" y="42925"/>
                </a:lnTo>
                <a:lnTo>
                  <a:pt x="1155827" y="33400"/>
                </a:lnTo>
                <a:lnTo>
                  <a:pt x="1209802" y="33400"/>
                </a:lnTo>
                <a:lnTo>
                  <a:pt x="1143000" y="0"/>
                </a:lnTo>
                <a:close/>
              </a:path>
              <a:path w="1219200" h="76200">
                <a:moveTo>
                  <a:pt x="114300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1143000" y="42925"/>
                </a:lnTo>
                <a:lnTo>
                  <a:pt x="1143000" y="33400"/>
                </a:lnTo>
                <a:close/>
              </a:path>
              <a:path w="1219200" h="76200">
                <a:moveTo>
                  <a:pt x="1209802" y="33400"/>
                </a:moveTo>
                <a:lnTo>
                  <a:pt x="1155827" y="33400"/>
                </a:lnTo>
                <a:lnTo>
                  <a:pt x="1155700" y="42925"/>
                </a:lnTo>
                <a:lnTo>
                  <a:pt x="1209548" y="42925"/>
                </a:lnTo>
                <a:lnTo>
                  <a:pt x="1219200" y="38100"/>
                </a:lnTo>
                <a:lnTo>
                  <a:pt x="1209802" y="33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869309" y="2719450"/>
            <a:ext cx="1297940" cy="977265"/>
          </a:xfrm>
          <a:custGeom>
            <a:avLst/>
            <a:gdLst/>
            <a:ahLst/>
            <a:cxnLst/>
            <a:rect l="l" t="t" r="r" b="b"/>
            <a:pathLst>
              <a:path w="1297939" h="977264">
                <a:moveTo>
                  <a:pt x="1297940" y="38100"/>
                </a:moveTo>
                <a:lnTo>
                  <a:pt x="1288288" y="33274"/>
                </a:lnTo>
                <a:lnTo>
                  <a:pt x="1221740" y="0"/>
                </a:lnTo>
                <a:lnTo>
                  <a:pt x="1221740" y="33274"/>
                </a:lnTo>
                <a:lnTo>
                  <a:pt x="2540" y="33274"/>
                </a:lnTo>
                <a:lnTo>
                  <a:pt x="2540" y="38138"/>
                </a:lnTo>
                <a:lnTo>
                  <a:pt x="0" y="42037"/>
                </a:lnTo>
                <a:lnTo>
                  <a:pt x="606425" y="434428"/>
                </a:lnTo>
                <a:lnTo>
                  <a:pt x="635" y="719582"/>
                </a:lnTo>
                <a:lnTo>
                  <a:pt x="2603" y="723836"/>
                </a:lnTo>
                <a:lnTo>
                  <a:pt x="1778" y="728472"/>
                </a:lnTo>
                <a:lnTo>
                  <a:pt x="1222108" y="943940"/>
                </a:lnTo>
                <a:lnTo>
                  <a:pt x="1216279" y="976757"/>
                </a:lnTo>
                <a:lnTo>
                  <a:pt x="1297940" y="952373"/>
                </a:lnTo>
                <a:lnTo>
                  <a:pt x="1289545" y="946150"/>
                </a:lnTo>
                <a:lnTo>
                  <a:pt x="1229614" y="901700"/>
                </a:lnTo>
                <a:lnTo>
                  <a:pt x="1223772" y="934542"/>
                </a:lnTo>
                <a:lnTo>
                  <a:pt x="17995" y="721779"/>
                </a:lnTo>
                <a:lnTo>
                  <a:pt x="615784" y="440486"/>
                </a:lnTo>
                <a:lnTo>
                  <a:pt x="1231455" y="838847"/>
                </a:lnTo>
                <a:lnTo>
                  <a:pt x="1213358" y="866775"/>
                </a:lnTo>
                <a:lnTo>
                  <a:pt x="1297940" y="876173"/>
                </a:lnTo>
                <a:lnTo>
                  <a:pt x="1279969" y="845705"/>
                </a:lnTo>
                <a:lnTo>
                  <a:pt x="1254760" y="802894"/>
                </a:lnTo>
                <a:lnTo>
                  <a:pt x="1236649" y="830834"/>
                </a:lnTo>
                <a:lnTo>
                  <a:pt x="625957" y="435698"/>
                </a:lnTo>
                <a:lnTo>
                  <a:pt x="1231049" y="150964"/>
                </a:lnTo>
                <a:lnTo>
                  <a:pt x="1245235" y="181102"/>
                </a:lnTo>
                <a:lnTo>
                  <a:pt x="1280096" y="136906"/>
                </a:lnTo>
                <a:lnTo>
                  <a:pt x="1297940" y="114300"/>
                </a:lnTo>
                <a:lnTo>
                  <a:pt x="1212850" y="112268"/>
                </a:lnTo>
                <a:lnTo>
                  <a:pt x="1226985" y="142328"/>
                </a:lnTo>
                <a:lnTo>
                  <a:pt x="616597" y="429641"/>
                </a:lnTo>
                <a:lnTo>
                  <a:pt x="18745" y="42799"/>
                </a:lnTo>
                <a:lnTo>
                  <a:pt x="1221740" y="42799"/>
                </a:lnTo>
                <a:lnTo>
                  <a:pt x="1221740" y="76200"/>
                </a:lnTo>
                <a:lnTo>
                  <a:pt x="1288542" y="42799"/>
                </a:lnTo>
                <a:lnTo>
                  <a:pt x="129794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870325" y="4124578"/>
            <a:ext cx="1297305" cy="695325"/>
          </a:xfrm>
          <a:custGeom>
            <a:avLst/>
            <a:gdLst/>
            <a:ahLst/>
            <a:cxnLst/>
            <a:rect l="l" t="t" r="r" b="b"/>
            <a:pathLst>
              <a:path w="1297304" h="695325">
                <a:moveTo>
                  <a:pt x="1296924" y="537972"/>
                </a:moveTo>
                <a:lnTo>
                  <a:pt x="1216914" y="509016"/>
                </a:lnTo>
                <a:lnTo>
                  <a:pt x="1220800" y="542124"/>
                </a:lnTo>
                <a:lnTo>
                  <a:pt x="1016" y="685546"/>
                </a:lnTo>
                <a:lnTo>
                  <a:pt x="2159" y="695071"/>
                </a:lnTo>
                <a:lnTo>
                  <a:pt x="1221905" y="551522"/>
                </a:lnTo>
                <a:lnTo>
                  <a:pt x="1225804" y="584708"/>
                </a:lnTo>
                <a:lnTo>
                  <a:pt x="1292860" y="540639"/>
                </a:lnTo>
                <a:lnTo>
                  <a:pt x="1296924" y="537972"/>
                </a:lnTo>
                <a:close/>
              </a:path>
              <a:path w="1297304" h="695325">
                <a:moveTo>
                  <a:pt x="1296924" y="461645"/>
                </a:moveTo>
                <a:lnTo>
                  <a:pt x="1280871" y="445008"/>
                </a:lnTo>
                <a:lnTo>
                  <a:pt x="1237869" y="400431"/>
                </a:lnTo>
                <a:lnTo>
                  <a:pt x="1226731" y="431927"/>
                </a:lnTo>
                <a:lnTo>
                  <a:pt x="3175" y="0"/>
                </a:lnTo>
                <a:lnTo>
                  <a:pt x="0" y="9017"/>
                </a:lnTo>
                <a:lnTo>
                  <a:pt x="1223606" y="440791"/>
                </a:lnTo>
                <a:lnTo>
                  <a:pt x="1212469" y="472313"/>
                </a:lnTo>
                <a:lnTo>
                  <a:pt x="1296924" y="461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24448" y="2871851"/>
            <a:ext cx="1066800" cy="76200"/>
          </a:xfrm>
          <a:custGeom>
            <a:avLst/>
            <a:gdLst/>
            <a:ahLst/>
            <a:cxnLst/>
            <a:rect l="l" t="t" r="r" b="b"/>
            <a:pathLst>
              <a:path w="1066800" h="76200">
                <a:moveTo>
                  <a:pt x="990600" y="0"/>
                </a:moveTo>
                <a:lnTo>
                  <a:pt x="990600" y="76200"/>
                </a:lnTo>
                <a:lnTo>
                  <a:pt x="1057402" y="42799"/>
                </a:lnTo>
                <a:lnTo>
                  <a:pt x="1003300" y="42799"/>
                </a:lnTo>
                <a:lnTo>
                  <a:pt x="1003300" y="33274"/>
                </a:lnTo>
                <a:lnTo>
                  <a:pt x="1057148" y="33274"/>
                </a:lnTo>
                <a:lnTo>
                  <a:pt x="990600" y="0"/>
                </a:lnTo>
                <a:close/>
              </a:path>
              <a:path w="1066800" h="76200">
                <a:moveTo>
                  <a:pt x="99060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990600" y="42799"/>
                </a:lnTo>
                <a:lnTo>
                  <a:pt x="990600" y="33274"/>
                </a:lnTo>
                <a:close/>
              </a:path>
              <a:path w="1066800" h="76200">
                <a:moveTo>
                  <a:pt x="1057148" y="33274"/>
                </a:moveTo>
                <a:lnTo>
                  <a:pt x="1003300" y="33274"/>
                </a:lnTo>
                <a:lnTo>
                  <a:pt x="1003300" y="42799"/>
                </a:lnTo>
                <a:lnTo>
                  <a:pt x="1057402" y="42799"/>
                </a:lnTo>
                <a:lnTo>
                  <a:pt x="1066800" y="38100"/>
                </a:lnTo>
                <a:lnTo>
                  <a:pt x="1057148" y="33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624448" y="3710051"/>
            <a:ext cx="1066800" cy="76200"/>
          </a:xfrm>
          <a:custGeom>
            <a:avLst/>
            <a:gdLst/>
            <a:ahLst/>
            <a:cxnLst/>
            <a:rect l="l" t="t" r="r" b="b"/>
            <a:pathLst>
              <a:path w="1066800" h="76200">
                <a:moveTo>
                  <a:pt x="990600" y="0"/>
                </a:moveTo>
                <a:lnTo>
                  <a:pt x="990600" y="76200"/>
                </a:lnTo>
                <a:lnTo>
                  <a:pt x="1057402" y="42799"/>
                </a:lnTo>
                <a:lnTo>
                  <a:pt x="1003300" y="42799"/>
                </a:lnTo>
                <a:lnTo>
                  <a:pt x="1003300" y="33274"/>
                </a:lnTo>
                <a:lnTo>
                  <a:pt x="1057148" y="33274"/>
                </a:lnTo>
                <a:lnTo>
                  <a:pt x="990600" y="0"/>
                </a:lnTo>
                <a:close/>
              </a:path>
              <a:path w="1066800" h="76200">
                <a:moveTo>
                  <a:pt x="99060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990600" y="42799"/>
                </a:lnTo>
                <a:lnTo>
                  <a:pt x="990600" y="33274"/>
                </a:lnTo>
                <a:close/>
              </a:path>
              <a:path w="1066800" h="76200">
                <a:moveTo>
                  <a:pt x="1057148" y="33274"/>
                </a:moveTo>
                <a:lnTo>
                  <a:pt x="1003300" y="33274"/>
                </a:lnTo>
                <a:lnTo>
                  <a:pt x="1003300" y="42799"/>
                </a:lnTo>
                <a:lnTo>
                  <a:pt x="1057402" y="42799"/>
                </a:lnTo>
                <a:lnTo>
                  <a:pt x="1066800" y="38100"/>
                </a:lnTo>
                <a:lnTo>
                  <a:pt x="1057148" y="33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24448" y="4548123"/>
            <a:ext cx="1066800" cy="76200"/>
          </a:xfrm>
          <a:custGeom>
            <a:avLst/>
            <a:gdLst/>
            <a:ahLst/>
            <a:cxnLst/>
            <a:rect l="l" t="t" r="r" b="b"/>
            <a:pathLst>
              <a:path w="1066800" h="76200">
                <a:moveTo>
                  <a:pt x="990600" y="0"/>
                </a:moveTo>
                <a:lnTo>
                  <a:pt x="990600" y="76200"/>
                </a:lnTo>
                <a:lnTo>
                  <a:pt x="1057148" y="42925"/>
                </a:lnTo>
                <a:lnTo>
                  <a:pt x="1003300" y="42925"/>
                </a:lnTo>
                <a:lnTo>
                  <a:pt x="1003300" y="33400"/>
                </a:lnTo>
                <a:lnTo>
                  <a:pt x="1057402" y="33400"/>
                </a:lnTo>
                <a:lnTo>
                  <a:pt x="990600" y="0"/>
                </a:lnTo>
                <a:close/>
              </a:path>
              <a:path w="1066800" h="76200">
                <a:moveTo>
                  <a:pt x="99060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990600" y="42925"/>
                </a:lnTo>
                <a:lnTo>
                  <a:pt x="990600" y="33400"/>
                </a:lnTo>
                <a:close/>
              </a:path>
              <a:path w="1066800" h="76200">
                <a:moveTo>
                  <a:pt x="1057402" y="33400"/>
                </a:moveTo>
                <a:lnTo>
                  <a:pt x="1003300" y="33400"/>
                </a:lnTo>
                <a:lnTo>
                  <a:pt x="1003300" y="42925"/>
                </a:lnTo>
                <a:lnTo>
                  <a:pt x="1057148" y="42925"/>
                </a:lnTo>
                <a:lnTo>
                  <a:pt x="1066800" y="38100"/>
                </a:lnTo>
                <a:lnTo>
                  <a:pt x="1057402" y="33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337178" y="5367020"/>
            <a:ext cx="86169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0" dirty="0">
                <a:latin typeface="Corbel"/>
                <a:cs typeface="Corbel"/>
              </a:rPr>
              <a:t>M</a:t>
            </a:r>
            <a:r>
              <a:rPr sz="1800" spc="15" dirty="0">
                <a:latin typeface="Corbel"/>
                <a:cs typeface="Corbel"/>
              </a:rPr>
              <a:t>app</a:t>
            </a:r>
            <a:r>
              <a:rPr sz="1800" dirty="0">
                <a:latin typeface="Corbel"/>
                <a:cs typeface="Corbel"/>
              </a:rPr>
              <a:t>ers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91684" y="5367020"/>
            <a:ext cx="8991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rbel"/>
                <a:cs typeface="Corbel"/>
              </a:rPr>
              <a:t>Reducers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61999" y="3492817"/>
            <a:ext cx="523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Corbel"/>
                <a:cs typeface="Corbel"/>
              </a:rPr>
              <a:t>I</a:t>
            </a:r>
            <a:r>
              <a:rPr sz="1800" spc="20" dirty="0">
                <a:latin typeface="Corbel"/>
                <a:cs typeface="Corbel"/>
              </a:rPr>
              <a:t>n</a:t>
            </a:r>
            <a:r>
              <a:rPr sz="1800" spc="15" dirty="0">
                <a:latin typeface="Corbel"/>
                <a:cs typeface="Corbel"/>
              </a:rPr>
              <a:t>p</a:t>
            </a:r>
            <a:r>
              <a:rPr sz="1800" spc="-35" dirty="0">
                <a:latin typeface="Corbel"/>
                <a:cs typeface="Corbel"/>
              </a:rPr>
              <a:t>u</a:t>
            </a:r>
            <a:r>
              <a:rPr sz="1800" dirty="0">
                <a:latin typeface="Corbel"/>
                <a:cs typeface="Corbel"/>
              </a:rPr>
              <a:t>t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982841" y="3492817"/>
            <a:ext cx="706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0" dirty="0">
                <a:latin typeface="Corbel"/>
                <a:cs typeface="Corbel"/>
              </a:rPr>
              <a:t>O</a:t>
            </a:r>
            <a:r>
              <a:rPr sz="1800" spc="-30" dirty="0">
                <a:latin typeface="Corbel"/>
                <a:cs typeface="Corbel"/>
              </a:rPr>
              <a:t>ut</a:t>
            </a:r>
            <a:r>
              <a:rPr sz="1800" spc="15" dirty="0">
                <a:latin typeface="Corbel"/>
                <a:cs typeface="Corbel"/>
              </a:rPr>
              <a:t>p</a:t>
            </a:r>
            <a:r>
              <a:rPr sz="1800" spc="-30" dirty="0">
                <a:latin typeface="Corbel"/>
                <a:cs typeface="Corbel"/>
              </a:rPr>
              <a:t>u</a:t>
            </a:r>
            <a:r>
              <a:rPr sz="1800" dirty="0">
                <a:latin typeface="Corbel"/>
                <a:cs typeface="Corbel"/>
              </a:rPr>
              <a:t>t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868039" y="2754629"/>
            <a:ext cx="1299210" cy="2064385"/>
          </a:xfrm>
          <a:custGeom>
            <a:avLst/>
            <a:gdLst/>
            <a:ahLst/>
            <a:cxnLst/>
            <a:rect l="l" t="t" r="r" b="b"/>
            <a:pathLst>
              <a:path w="1299210" h="2064385">
                <a:moveTo>
                  <a:pt x="1299210" y="155321"/>
                </a:moveTo>
                <a:lnTo>
                  <a:pt x="1217676" y="179705"/>
                </a:lnTo>
                <a:lnTo>
                  <a:pt x="1240548" y="204038"/>
                </a:lnTo>
                <a:lnTo>
                  <a:pt x="618007" y="789940"/>
                </a:lnTo>
                <a:lnTo>
                  <a:pt x="7620" y="0"/>
                </a:lnTo>
                <a:lnTo>
                  <a:pt x="127" y="5715"/>
                </a:lnTo>
                <a:lnTo>
                  <a:pt x="611085" y="796442"/>
                </a:lnTo>
                <a:lnTo>
                  <a:pt x="392226" y="1002423"/>
                </a:lnTo>
                <a:lnTo>
                  <a:pt x="6858" y="685038"/>
                </a:lnTo>
                <a:lnTo>
                  <a:pt x="889" y="692277"/>
                </a:lnTo>
                <a:lnTo>
                  <a:pt x="385330" y="1008913"/>
                </a:lnTo>
                <a:lnTo>
                  <a:pt x="635" y="1370965"/>
                </a:lnTo>
                <a:lnTo>
                  <a:pt x="3873" y="1374457"/>
                </a:lnTo>
                <a:lnTo>
                  <a:pt x="5207" y="1378966"/>
                </a:lnTo>
                <a:lnTo>
                  <a:pt x="605701" y="1202410"/>
                </a:lnTo>
                <a:lnTo>
                  <a:pt x="0" y="2057527"/>
                </a:lnTo>
                <a:lnTo>
                  <a:pt x="3873" y="2060257"/>
                </a:lnTo>
                <a:lnTo>
                  <a:pt x="6731" y="2064004"/>
                </a:lnTo>
                <a:lnTo>
                  <a:pt x="867333" y="1405928"/>
                </a:lnTo>
                <a:lnTo>
                  <a:pt x="1237424" y="1710715"/>
                </a:lnTo>
                <a:lnTo>
                  <a:pt x="1216279" y="1736471"/>
                </a:lnTo>
                <a:lnTo>
                  <a:pt x="1299210" y="1755394"/>
                </a:lnTo>
                <a:lnTo>
                  <a:pt x="1282979" y="1718818"/>
                </a:lnTo>
                <a:lnTo>
                  <a:pt x="1264666" y="1677543"/>
                </a:lnTo>
                <a:lnTo>
                  <a:pt x="1243431" y="1703400"/>
                </a:lnTo>
                <a:lnTo>
                  <a:pt x="875042" y="1400035"/>
                </a:lnTo>
                <a:lnTo>
                  <a:pt x="1002271" y="1302753"/>
                </a:lnTo>
                <a:lnTo>
                  <a:pt x="1248867" y="1621866"/>
                </a:lnTo>
                <a:lnTo>
                  <a:pt x="1222502" y="1642237"/>
                </a:lnTo>
                <a:lnTo>
                  <a:pt x="1299210" y="1679194"/>
                </a:lnTo>
                <a:lnTo>
                  <a:pt x="1289939" y="1631950"/>
                </a:lnTo>
                <a:lnTo>
                  <a:pt x="1282827" y="1595628"/>
                </a:lnTo>
                <a:lnTo>
                  <a:pt x="1256385" y="1616062"/>
                </a:lnTo>
                <a:lnTo>
                  <a:pt x="1009815" y="1296987"/>
                </a:lnTo>
                <a:lnTo>
                  <a:pt x="1241628" y="1119720"/>
                </a:lnTo>
                <a:lnTo>
                  <a:pt x="1261872" y="1146175"/>
                </a:lnTo>
                <a:lnTo>
                  <a:pt x="1282242" y="1104392"/>
                </a:lnTo>
                <a:lnTo>
                  <a:pt x="1299210" y="1069594"/>
                </a:lnTo>
                <a:lnTo>
                  <a:pt x="1215644" y="1085723"/>
                </a:lnTo>
                <a:lnTo>
                  <a:pt x="1235849" y="1112151"/>
                </a:lnTo>
                <a:lnTo>
                  <a:pt x="1003998" y="1289469"/>
                </a:lnTo>
                <a:lnTo>
                  <a:pt x="996454" y="1279715"/>
                </a:lnTo>
                <a:lnTo>
                  <a:pt x="996454" y="1295234"/>
                </a:lnTo>
                <a:lnTo>
                  <a:pt x="867511" y="1393837"/>
                </a:lnTo>
                <a:lnTo>
                  <a:pt x="859815" y="1387500"/>
                </a:lnTo>
                <a:lnTo>
                  <a:pt x="859815" y="1399730"/>
                </a:lnTo>
                <a:lnTo>
                  <a:pt x="25704" y="2037626"/>
                </a:lnTo>
                <a:lnTo>
                  <a:pt x="618388" y="1200899"/>
                </a:lnTo>
                <a:lnTo>
                  <a:pt x="859815" y="1399730"/>
                </a:lnTo>
                <a:lnTo>
                  <a:pt x="859815" y="1387500"/>
                </a:lnTo>
                <a:lnTo>
                  <a:pt x="627341" y="1196047"/>
                </a:lnTo>
                <a:lnTo>
                  <a:pt x="865682" y="1125969"/>
                </a:lnTo>
                <a:lnTo>
                  <a:pt x="996454" y="1295234"/>
                </a:lnTo>
                <a:lnTo>
                  <a:pt x="996454" y="1279715"/>
                </a:lnTo>
                <a:lnTo>
                  <a:pt x="875449" y="1123099"/>
                </a:lnTo>
                <a:lnTo>
                  <a:pt x="1227531" y="1019568"/>
                </a:lnTo>
                <a:lnTo>
                  <a:pt x="1236980" y="1051560"/>
                </a:lnTo>
                <a:lnTo>
                  <a:pt x="1284909" y="1006856"/>
                </a:lnTo>
                <a:lnTo>
                  <a:pt x="1299210" y="993521"/>
                </a:lnTo>
                <a:lnTo>
                  <a:pt x="1215390" y="978408"/>
                </a:lnTo>
                <a:lnTo>
                  <a:pt x="1224838" y="1010437"/>
                </a:lnTo>
                <a:lnTo>
                  <a:pt x="869213" y="1115034"/>
                </a:lnTo>
                <a:lnTo>
                  <a:pt x="859459" y="1102423"/>
                </a:lnTo>
                <a:lnTo>
                  <a:pt x="859459" y="1117904"/>
                </a:lnTo>
                <a:lnTo>
                  <a:pt x="629196" y="1185646"/>
                </a:lnTo>
                <a:lnTo>
                  <a:pt x="764349" y="994829"/>
                </a:lnTo>
                <a:lnTo>
                  <a:pt x="859459" y="1117904"/>
                </a:lnTo>
                <a:lnTo>
                  <a:pt x="859459" y="1102423"/>
                </a:lnTo>
                <a:lnTo>
                  <a:pt x="770077" y="986751"/>
                </a:lnTo>
                <a:lnTo>
                  <a:pt x="1259052" y="296430"/>
                </a:lnTo>
                <a:lnTo>
                  <a:pt x="1286256" y="315722"/>
                </a:lnTo>
                <a:lnTo>
                  <a:pt x="1291666" y="280543"/>
                </a:lnTo>
                <a:lnTo>
                  <a:pt x="1299210" y="231521"/>
                </a:lnTo>
                <a:lnTo>
                  <a:pt x="1224153" y="271653"/>
                </a:lnTo>
                <a:lnTo>
                  <a:pt x="1251331" y="290944"/>
                </a:lnTo>
                <a:lnTo>
                  <a:pt x="764019" y="978903"/>
                </a:lnTo>
                <a:lnTo>
                  <a:pt x="758291" y="971499"/>
                </a:lnTo>
                <a:lnTo>
                  <a:pt x="758291" y="986993"/>
                </a:lnTo>
                <a:lnTo>
                  <a:pt x="616521" y="1187145"/>
                </a:lnTo>
                <a:lnTo>
                  <a:pt x="607580" y="1179791"/>
                </a:lnTo>
                <a:lnTo>
                  <a:pt x="607580" y="1191996"/>
                </a:lnTo>
                <a:lnTo>
                  <a:pt x="21551" y="1364361"/>
                </a:lnTo>
                <a:lnTo>
                  <a:pt x="392709" y="1015009"/>
                </a:lnTo>
                <a:lnTo>
                  <a:pt x="607580" y="1191996"/>
                </a:lnTo>
                <a:lnTo>
                  <a:pt x="607580" y="1179791"/>
                </a:lnTo>
                <a:lnTo>
                  <a:pt x="399618" y="1008507"/>
                </a:lnTo>
                <a:lnTo>
                  <a:pt x="616915" y="803986"/>
                </a:lnTo>
                <a:lnTo>
                  <a:pt x="758291" y="986993"/>
                </a:lnTo>
                <a:lnTo>
                  <a:pt x="758291" y="971499"/>
                </a:lnTo>
                <a:lnTo>
                  <a:pt x="623836" y="797471"/>
                </a:lnTo>
                <a:lnTo>
                  <a:pt x="1247013" y="210908"/>
                </a:lnTo>
                <a:lnTo>
                  <a:pt x="1269873" y="235204"/>
                </a:lnTo>
                <a:lnTo>
                  <a:pt x="1284516" y="195326"/>
                </a:lnTo>
                <a:lnTo>
                  <a:pt x="1299210" y="1553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3871340" y="1857057"/>
            <a:ext cx="950594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93675" marR="5080" indent="-181610">
              <a:lnSpc>
                <a:spcPct val="100800"/>
              </a:lnSpc>
              <a:spcBef>
                <a:spcPts val="85"/>
              </a:spcBef>
            </a:pPr>
            <a:r>
              <a:rPr sz="1800" i="0" spc="20" dirty="0">
                <a:latin typeface="Corbel"/>
                <a:cs typeface="Corbel"/>
              </a:rPr>
              <a:t>k</a:t>
            </a:r>
            <a:r>
              <a:rPr sz="1800" i="0" dirty="0">
                <a:latin typeface="Corbel"/>
                <a:cs typeface="Corbel"/>
              </a:rPr>
              <a:t>e</a:t>
            </a:r>
            <a:r>
              <a:rPr sz="1800" i="0" spc="40" dirty="0">
                <a:latin typeface="Corbel"/>
                <a:cs typeface="Corbel"/>
              </a:rPr>
              <a:t>y</a:t>
            </a:r>
            <a:r>
              <a:rPr sz="1800" i="0" dirty="0">
                <a:latin typeface="Corbel"/>
                <a:cs typeface="Corbel"/>
              </a:rPr>
              <a:t>-v</a:t>
            </a:r>
            <a:r>
              <a:rPr sz="1800" i="0" spc="10" dirty="0">
                <a:latin typeface="Corbel"/>
                <a:cs typeface="Corbel"/>
              </a:rPr>
              <a:t>a</a:t>
            </a:r>
            <a:r>
              <a:rPr sz="1800" i="0" spc="30" dirty="0">
                <a:latin typeface="Corbel"/>
                <a:cs typeface="Corbel"/>
              </a:rPr>
              <a:t>l</a:t>
            </a:r>
            <a:r>
              <a:rPr sz="1800" i="0" spc="-30" dirty="0">
                <a:latin typeface="Corbel"/>
                <a:cs typeface="Corbel"/>
              </a:rPr>
              <a:t>u</a:t>
            </a:r>
            <a:r>
              <a:rPr sz="1800" i="0" dirty="0">
                <a:latin typeface="Corbel"/>
                <a:cs typeface="Corbel"/>
              </a:rPr>
              <a:t>e  </a:t>
            </a:r>
            <a:r>
              <a:rPr sz="1800" i="0" spc="10" dirty="0">
                <a:latin typeface="Corbel"/>
                <a:cs typeface="Corbel"/>
              </a:rPr>
              <a:t>pairs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6062726" cy="5857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4362" y="1347787"/>
            <a:ext cx="447294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i="0" dirty="0">
                <a:solidFill>
                  <a:srgbClr val="0000FF"/>
                </a:solidFill>
                <a:latin typeface="Calibri"/>
                <a:cs typeface="Calibri"/>
              </a:rPr>
              <a:t>Example MapReduce</a:t>
            </a:r>
            <a:r>
              <a:rPr b="1" i="0" spc="-2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i="0" spc="5" dirty="0">
                <a:solidFill>
                  <a:srgbClr val="0000FF"/>
                </a:solidFill>
                <a:latin typeface="Calibri"/>
                <a:cs typeface="Calibri"/>
              </a:rPr>
              <a:t>task: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4362" y="1833880"/>
            <a:ext cx="7782559" cy="4150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6550" indent="-324485">
              <a:lnSpc>
                <a:spcPts val="3835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-70" dirty="0">
                <a:latin typeface="Calibri"/>
                <a:cs typeface="Calibri"/>
              </a:rPr>
              <a:t>We </a:t>
            </a:r>
            <a:r>
              <a:rPr sz="3200" spc="-5" dirty="0">
                <a:latin typeface="Calibri"/>
                <a:cs typeface="Calibri"/>
              </a:rPr>
              <a:t>have </a:t>
            </a:r>
            <a:r>
              <a:rPr sz="3200" spc="10" dirty="0">
                <a:latin typeface="Calibri"/>
                <a:cs typeface="Calibri"/>
              </a:rPr>
              <a:t>a </a:t>
            </a:r>
            <a:r>
              <a:rPr sz="3200" spc="20" dirty="0">
                <a:latin typeface="Calibri"/>
                <a:cs typeface="Calibri"/>
              </a:rPr>
              <a:t>huge </a:t>
            </a:r>
            <a:r>
              <a:rPr sz="3200" spc="-20" dirty="0">
                <a:latin typeface="Calibri"/>
                <a:cs typeface="Calibri"/>
              </a:rPr>
              <a:t>text</a:t>
            </a:r>
            <a:r>
              <a:rPr sz="3200" spc="-17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document</a:t>
            </a:r>
            <a:endParaRPr sz="3200">
              <a:latin typeface="Calibri"/>
              <a:cs typeface="Calibri"/>
            </a:endParaRPr>
          </a:p>
          <a:p>
            <a:pPr marL="336550" marR="2078989" indent="-324485">
              <a:lnSpc>
                <a:spcPts val="3900"/>
              </a:lnSpc>
              <a:spcBef>
                <a:spcPts val="7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25" dirty="0">
                <a:latin typeface="Calibri"/>
                <a:cs typeface="Calibri"/>
              </a:rPr>
              <a:t>Count </a:t>
            </a:r>
            <a:r>
              <a:rPr sz="3200" spc="10" dirty="0">
                <a:latin typeface="Calibri"/>
                <a:cs typeface="Calibri"/>
              </a:rPr>
              <a:t>the </a:t>
            </a:r>
            <a:r>
              <a:rPr sz="3200" spc="15" dirty="0">
                <a:latin typeface="Calibri"/>
                <a:cs typeface="Calibri"/>
              </a:rPr>
              <a:t>number </a:t>
            </a:r>
            <a:r>
              <a:rPr sz="3200" spc="20" dirty="0">
                <a:latin typeface="Calibri"/>
                <a:cs typeface="Calibri"/>
              </a:rPr>
              <a:t>of </a:t>
            </a:r>
            <a:r>
              <a:rPr sz="3200" spc="-10" dirty="0">
                <a:latin typeface="Calibri"/>
                <a:cs typeface="Calibri"/>
              </a:rPr>
              <a:t>times</a:t>
            </a:r>
            <a:r>
              <a:rPr sz="3200" spc="-42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each  </a:t>
            </a:r>
            <a:r>
              <a:rPr sz="3200" spc="10" dirty="0">
                <a:latin typeface="Calibri"/>
                <a:cs typeface="Calibri"/>
              </a:rPr>
              <a:t>distinct </a:t>
            </a:r>
            <a:r>
              <a:rPr sz="3200" dirty="0">
                <a:latin typeface="Calibri"/>
                <a:cs typeface="Calibri"/>
              </a:rPr>
              <a:t>word </a:t>
            </a:r>
            <a:r>
              <a:rPr sz="3200" spc="10" dirty="0">
                <a:latin typeface="Calibri"/>
                <a:cs typeface="Calibri"/>
              </a:rPr>
              <a:t>appears in the</a:t>
            </a:r>
            <a:r>
              <a:rPr sz="3200" spc="-509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file</a:t>
            </a:r>
            <a:endParaRPr sz="3200">
              <a:latin typeface="Calibri"/>
              <a:cs typeface="Calibri"/>
            </a:endParaRPr>
          </a:p>
          <a:p>
            <a:pPr marL="336550" indent="-324485">
              <a:lnSpc>
                <a:spcPct val="100000"/>
              </a:lnSpc>
              <a:spcBef>
                <a:spcPts val="24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5" dirty="0">
                <a:solidFill>
                  <a:srgbClr val="008000"/>
                </a:solidFill>
                <a:latin typeface="Calibri"/>
                <a:cs typeface="Calibri"/>
              </a:rPr>
              <a:t>Many </a:t>
            </a: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applications of</a:t>
            </a:r>
            <a:r>
              <a:rPr sz="3200" b="1" spc="-3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this:</a:t>
            </a:r>
            <a:endParaRPr sz="320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10" dirty="0">
                <a:latin typeface="Calibri"/>
                <a:cs typeface="Calibri"/>
              </a:rPr>
              <a:t>Analyze web </a:t>
            </a:r>
            <a:r>
              <a:rPr sz="2750" spc="-5" dirty="0">
                <a:latin typeface="Calibri"/>
                <a:cs typeface="Calibri"/>
              </a:rPr>
              <a:t>server </a:t>
            </a:r>
            <a:r>
              <a:rPr sz="2750" dirty="0">
                <a:latin typeface="Calibri"/>
                <a:cs typeface="Calibri"/>
              </a:rPr>
              <a:t>logs </a:t>
            </a:r>
            <a:r>
              <a:rPr sz="2750" spc="-10" dirty="0">
                <a:latin typeface="Calibri"/>
                <a:cs typeface="Calibri"/>
              </a:rPr>
              <a:t>to </a:t>
            </a:r>
            <a:r>
              <a:rPr sz="2750" spc="-15" dirty="0">
                <a:latin typeface="Calibri"/>
                <a:cs typeface="Calibri"/>
              </a:rPr>
              <a:t>find </a:t>
            </a:r>
            <a:r>
              <a:rPr sz="2750" spc="-5" dirty="0">
                <a:latin typeface="Calibri"/>
                <a:cs typeface="Calibri"/>
              </a:rPr>
              <a:t>popular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URLs</a:t>
            </a:r>
            <a:endParaRPr sz="275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10" dirty="0">
                <a:latin typeface="Calibri"/>
                <a:cs typeface="Calibri"/>
              </a:rPr>
              <a:t>Statistical </a:t>
            </a:r>
            <a:r>
              <a:rPr sz="2750" spc="5" dirty="0">
                <a:latin typeface="Calibri"/>
                <a:cs typeface="Calibri"/>
              </a:rPr>
              <a:t>machine</a:t>
            </a:r>
            <a:r>
              <a:rPr sz="2750" spc="26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translation:</a:t>
            </a:r>
            <a:endParaRPr sz="2750">
              <a:latin typeface="Calibri"/>
              <a:cs typeface="Calibri"/>
            </a:endParaRPr>
          </a:p>
          <a:p>
            <a:pPr marL="899160" marR="5080" lvl="2" indent="-229235">
              <a:lnSpc>
                <a:spcPts val="2850"/>
              </a:lnSpc>
              <a:spcBef>
                <a:spcPts val="77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spc="5" dirty="0">
                <a:latin typeface="Calibri"/>
                <a:cs typeface="Calibri"/>
              </a:rPr>
              <a:t>Need to </a:t>
            </a:r>
            <a:r>
              <a:rPr sz="2400" spc="10" dirty="0">
                <a:latin typeface="Calibri"/>
                <a:cs typeface="Calibri"/>
              </a:rPr>
              <a:t>count number </a:t>
            </a:r>
            <a:r>
              <a:rPr sz="2400" dirty="0">
                <a:latin typeface="Calibri"/>
                <a:cs typeface="Calibri"/>
              </a:rPr>
              <a:t>of times </a:t>
            </a:r>
            <a:r>
              <a:rPr sz="2400" spc="-10" dirty="0">
                <a:latin typeface="Calibri"/>
                <a:cs typeface="Calibri"/>
              </a:rPr>
              <a:t>every </a:t>
            </a:r>
            <a:r>
              <a:rPr sz="2400" spc="-5" dirty="0">
                <a:latin typeface="Calibri"/>
                <a:cs typeface="Calibri"/>
              </a:rPr>
              <a:t>5-word</a:t>
            </a:r>
            <a:r>
              <a:rPr sz="2400" spc="-33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sequence  </a:t>
            </a:r>
            <a:r>
              <a:rPr sz="2400" spc="-5" dirty="0">
                <a:latin typeface="Calibri"/>
                <a:cs typeface="Calibri"/>
              </a:rPr>
              <a:t>occurs </a:t>
            </a:r>
            <a:r>
              <a:rPr sz="2400" spc="-15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large </a:t>
            </a:r>
            <a:r>
              <a:rPr sz="2400" spc="5" dirty="0">
                <a:latin typeface="Calibri"/>
                <a:cs typeface="Calibri"/>
              </a:rPr>
              <a:t>corpus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8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documents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6805676" cy="5857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3857" y="6139497"/>
            <a:ext cx="1552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8000"/>
                </a:solidFill>
                <a:latin typeface="Arial"/>
                <a:cs typeface="Arial"/>
              </a:rPr>
              <a:t>Big</a:t>
            </a:r>
            <a:r>
              <a:rPr sz="1800" b="1" spc="-8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00"/>
                </a:solidFill>
                <a:latin typeface="Arial"/>
                <a:cs typeface="Arial"/>
              </a:rPr>
              <a:t>document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86051" y="3471862"/>
            <a:ext cx="1600200" cy="2590800"/>
          </a:xfrm>
          <a:custGeom>
            <a:avLst/>
            <a:gdLst/>
            <a:ahLst/>
            <a:cxnLst/>
            <a:rect l="l" t="t" r="r" b="b"/>
            <a:pathLst>
              <a:path w="1600200" h="2590800">
                <a:moveTo>
                  <a:pt x="1600200" y="0"/>
                </a:moveTo>
                <a:lnTo>
                  <a:pt x="0" y="0"/>
                </a:lnTo>
                <a:lnTo>
                  <a:pt x="0" y="2590800"/>
                </a:lnTo>
                <a:lnTo>
                  <a:pt x="1600200" y="2590800"/>
                </a:lnTo>
                <a:lnTo>
                  <a:pt x="1600200" y="0"/>
                </a:lnTo>
                <a:close/>
              </a:path>
            </a:pathLst>
          </a:custGeom>
          <a:solidFill>
            <a:srgbClr val="5FB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67251" y="3471862"/>
            <a:ext cx="1600200" cy="2590800"/>
          </a:xfrm>
          <a:custGeom>
            <a:avLst/>
            <a:gdLst/>
            <a:ahLst/>
            <a:cxnLst/>
            <a:rect l="l" t="t" r="r" b="b"/>
            <a:pathLst>
              <a:path w="1600200" h="2590800">
                <a:moveTo>
                  <a:pt x="1600200" y="0"/>
                </a:moveTo>
                <a:lnTo>
                  <a:pt x="0" y="0"/>
                </a:lnTo>
                <a:lnTo>
                  <a:pt x="0" y="2590800"/>
                </a:lnTo>
                <a:lnTo>
                  <a:pt x="1600200" y="2590800"/>
                </a:lnTo>
                <a:lnTo>
                  <a:pt x="1600200" y="0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48451" y="3471862"/>
            <a:ext cx="1600200" cy="2590800"/>
          </a:xfrm>
          <a:prstGeom prst="rect">
            <a:avLst/>
          </a:prstGeom>
          <a:solidFill>
            <a:srgbClr val="6BB76C"/>
          </a:solidFill>
          <a:ln w="47999">
            <a:solidFill>
              <a:srgbClr val="4D854E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Times New Roman"/>
              <a:cs typeface="Times New Roman"/>
            </a:endParaRPr>
          </a:p>
          <a:p>
            <a:pPr marL="396240">
              <a:lnSpc>
                <a:spcPct val="100000"/>
              </a:lnSpc>
            </a:pP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(crew,</a:t>
            </a:r>
            <a:r>
              <a:rPr sz="18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2)</a:t>
            </a:r>
            <a:endParaRPr sz="1800">
              <a:latin typeface="Corbel"/>
              <a:cs typeface="Corbel"/>
            </a:endParaRPr>
          </a:p>
          <a:p>
            <a:pPr marL="358140">
              <a:lnSpc>
                <a:spcPct val="100000"/>
              </a:lnSpc>
              <a:spcBef>
                <a:spcPts val="20"/>
              </a:spcBef>
            </a:pPr>
            <a:r>
              <a:rPr sz="1800" spc="5" dirty="0">
                <a:solidFill>
                  <a:srgbClr val="FFFFFF"/>
                </a:solidFill>
                <a:latin typeface="Corbel"/>
                <a:cs typeface="Corbel"/>
              </a:rPr>
              <a:t>(space,</a:t>
            </a:r>
            <a:r>
              <a:rPr sz="1800" spc="-9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orbel"/>
                <a:cs typeface="Corbel"/>
              </a:rPr>
              <a:t>1)</a:t>
            </a:r>
            <a:endParaRPr sz="1800">
              <a:latin typeface="Corbel"/>
              <a:cs typeface="Corbel"/>
            </a:endParaRPr>
          </a:p>
          <a:p>
            <a:pPr marL="472440">
              <a:lnSpc>
                <a:spcPct val="100000"/>
              </a:lnSpc>
              <a:spcBef>
                <a:spcPts val="20"/>
              </a:spcBef>
            </a:pP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(the,</a:t>
            </a:r>
            <a:r>
              <a:rPr sz="18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3)</a:t>
            </a:r>
            <a:endParaRPr sz="1800">
              <a:latin typeface="Corbel"/>
              <a:cs typeface="Corbel"/>
            </a:endParaRPr>
          </a:p>
          <a:p>
            <a:pPr marL="300355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orbel"/>
                <a:cs typeface="Corbel"/>
              </a:rPr>
              <a:t>(shuttle,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orbel"/>
                <a:cs typeface="Corbel"/>
              </a:rPr>
              <a:t>1)</a:t>
            </a:r>
            <a:endParaRPr sz="1800">
              <a:latin typeface="Corbel"/>
              <a:cs typeface="Corbel"/>
            </a:endParaRPr>
          </a:p>
          <a:p>
            <a:pPr algn="ctr">
              <a:lnSpc>
                <a:spcPts val="2130"/>
              </a:lnSpc>
              <a:spcBef>
                <a:spcPts val="20"/>
              </a:spcBef>
            </a:pP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(recently,</a:t>
            </a:r>
            <a:r>
              <a:rPr sz="1800" spc="-1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orbel"/>
                <a:cs typeface="Corbel"/>
              </a:rPr>
              <a:t>1)</a:t>
            </a:r>
            <a:endParaRPr sz="1800">
              <a:latin typeface="Corbel"/>
              <a:cs typeface="Corbel"/>
            </a:endParaRPr>
          </a:p>
          <a:p>
            <a:pPr marL="3175" algn="ctr">
              <a:lnSpc>
                <a:spcPts val="2130"/>
              </a:lnSpc>
            </a:pP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…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6051" y="2062226"/>
            <a:ext cx="1600200" cy="1143000"/>
          </a:xfrm>
          <a:prstGeom prst="rect">
            <a:avLst/>
          </a:prstGeom>
          <a:solidFill>
            <a:srgbClr val="5FB5CC"/>
          </a:solidFill>
          <a:ln w="47999">
            <a:solidFill>
              <a:srgbClr val="448494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sz="1800" b="1" dirty="0">
                <a:solidFill>
                  <a:srgbClr val="FFFFFF"/>
                </a:solidFill>
                <a:latin typeface="Corbel"/>
                <a:cs typeface="Corbel"/>
              </a:rPr>
              <a:t>MAP:</a:t>
            </a:r>
            <a:endParaRPr sz="1800">
              <a:latin typeface="Corbel"/>
              <a:cs typeface="Corbel"/>
            </a:endParaRPr>
          </a:p>
          <a:p>
            <a:pPr marL="172720" marR="181610" indent="4445" algn="ctr">
              <a:lnSpc>
                <a:spcPct val="100600"/>
              </a:lnSpc>
              <a:spcBef>
                <a:spcPts val="35"/>
              </a:spcBef>
            </a:pP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Read </a:t>
            </a:r>
            <a:r>
              <a:rPr sz="1400" dirty="0">
                <a:solidFill>
                  <a:srgbClr val="FFFFFF"/>
                </a:solidFill>
                <a:latin typeface="Corbel"/>
                <a:cs typeface="Corbel"/>
              </a:rPr>
              <a:t>input and  </a:t>
            </a:r>
            <a:r>
              <a:rPr sz="1400" spc="-5" dirty="0">
                <a:solidFill>
                  <a:srgbClr val="FFFFFF"/>
                </a:solidFill>
                <a:latin typeface="Corbel"/>
                <a:cs typeface="Corbel"/>
              </a:rPr>
              <a:t>produces </a:t>
            </a:r>
            <a:r>
              <a:rPr sz="1400" spc="10" dirty="0">
                <a:solidFill>
                  <a:srgbClr val="FFFFFF"/>
                </a:solidFill>
                <a:latin typeface="Corbel"/>
                <a:cs typeface="Corbel"/>
              </a:rPr>
              <a:t>a </a:t>
            </a:r>
            <a:r>
              <a:rPr sz="1400" dirty="0">
                <a:solidFill>
                  <a:srgbClr val="FFFFFF"/>
                </a:solidFill>
                <a:latin typeface="Corbel"/>
                <a:cs typeface="Corbel"/>
              </a:rPr>
              <a:t>set</a:t>
            </a:r>
            <a:r>
              <a:rPr sz="1400" spc="-1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400" dirty="0">
                <a:solidFill>
                  <a:srgbClr val="FFFFFF"/>
                </a:solidFill>
                <a:latin typeface="Corbel"/>
                <a:cs typeface="Corbel"/>
              </a:rPr>
              <a:t>of  </a:t>
            </a:r>
            <a:r>
              <a:rPr sz="1400" spc="-5" dirty="0">
                <a:solidFill>
                  <a:srgbClr val="FFFFFF"/>
                </a:solidFill>
                <a:latin typeface="Corbel"/>
                <a:cs typeface="Corbel"/>
              </a:rPr>
              <a:t>key-value</a:t>
            </a:r>
            <a:r>
              <a:rPr sz="14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pairs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7251" y="2062226"/>
            <a:ext cx="1600200" cy="1143000"/>
          </a:xfrm>
          <a:prstGeom prst="rect">
            <a:avLst/>
          </a:prstGeom>
          <a:solidFill>
            <a:srgbClr val="EFAC00"/>
          </a:solidFill>
          <a:ln w="47999">
            <a:solidFill>
              <a:srgbClr val="AF7D00"/>
            </a:solidFill>
          </a:ln>
        </p:spPr>
        <p:txBody>
          <a:bodyPr vert="horz" wrap="square" lIns="0" tIns="20066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580"/>
              </a:spcBef>
            </a:pPr>
            <a:r>
              <a:rPr sz="1800" b="1" spc="-15" dirty="0">
                <a:solidFill>
                  <a:srgbClr val="FFFFFF"/>
                </a:solidFill>
                <a:latin typeface="Corbel"/>
                <a:cs typeface="Corbel"/>
              </a:rPr>
              <a:t>Group by</a:t>
            </a:r>
            <a:r>
              <a:rPr sz="1800" b="1" spc="10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orbel"/>
                <a:cs typeface="Corbel"/>
              </a:rPr>
              <a:t>key:</a:t>
            </a:r>
            <a:endParaRPr sz="1800">
              <a:latin typeface="Corbel"/>
              <a:cs typeface="Corbel"/>
            </a:endParaRPr>
          </a:p>
          <a:p>
            <a:pPr marL="241300" marR="248920" algn="ctr">
              <a:lnSpc>
                <a:spcPts val="1730"/>
              </a:lnSpc>
              <a:spcBef>
                <a:spcPts val="55"/>
              </a:spcBef>
            </a:pPr>
            <a:r>
              <a:rPr sz="1400" spc="-15" dirty="0">
                <a:solidFill>
                  <a:srgbClr val="FFFFFF"/>
                </a:solidFill>
                <a:latin typeface="Corbel"/>
                <a:cs typeface="Corbel"/>
              </a:rPr>
              <a:t>Collect all </a:t>
            </a: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pairs  </a:t>
            </a:r>
            <a:r>
              <a:rPr sz="1400" spc="15" dirty="0">
                <a:solidFill>
                  <a:srgbClr val="FFFFFF"/>
                </a:solidFill>
                <a:latin typeface="Corbel"/>
                <a:cs typeface="Corbel"/>
              </a:rPr>
              <a:t>with same</a:t>
            </a:r>
            <a:r>
              <a:rPr sz="1400" spc="-204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key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48451" y="2062226"/>
            <a:ext cx="1600200" cy="1143000"/>
          </a:xfrm>
          <a:prstGeom prst="rect">
            <a:avLst/>
          </a:prstGeom>
          <a:solidFill>
            <a:srgbClr val="6BB76C"/>
          </a:solidFill>
          <a:ln w="47999">
            <a:solidFill>
              <a:srgbClr val="4D854E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735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Reduce:</a:t>
            </a:r>
            <a:endParaRPr sz="1800">
              <a:latin typeface="Corbel"/>
              <a:cs typeface="Corbel"/>
            </a:endParaRPr>
          </a:p>
          <a:p>
            <a:pPr marL="195580" marR="182880" indent="-10160" algn="just">
              <a:lnSpc>
                <a:spcPct val="100600"/>
              </a:lnSpc>
              <a:spcBef>
                <a:spcPts val="35"/>
              </a:spcBef>
            </a:pPr>
            <a:r>
              <a:rPr sz="1400" spc="-15" dirty="0">
                <a:solidFill>
                  <a:srgbClr val="FFFFFF"/>
                </a:solidFill>
                <a:latin typeface="Corbel"/>
                <a:cs typeface="Corbel"/>
              </a:rPr>
              <a:t>Collect all </a:t>
            </a:r>
            <a:r>
              <a:rPr sz="1400" spc="-5" dirty="0">
                <a:solidFill>
                  <a:srgbClr val="FFFFFF"/>
                </a:solidFill>
                <a:latin typeface="Corbel"/>
                <a:cs typeface="Corbel"/>
              </a:rPr>
              <a:t>values  </a:t>
            </a: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belonging </a:t>
            </a:r>
            <a:r>
              <a:rPr sz="1400" spc="20" dirty="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sz="1400" spc="-10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Corbel"/>
                <a:cs typeface="Corbel"/>
              </a:rPr>
              <a:t>the  </a:t>
            </a:r>
            <a:r>
              <a:rPr sz="1400" spc="-5" dirty="0">
                <a:solidFill>
                  <a:srgbClr val="FFFFFF"/>
                </a:solidFill>
                <a:latin typeface="Corbel"/>
                <a:cs typeface="Corbel"/>
              </a:rPr>
              <a:t>key </a:t>
            </a:r>
            <a:r>
              <a:rPr sz="1400" dirty="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sz="1400" spc="-8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Corbel"/>
                <a:cs typeface="Corbel"/>
              </a:rPr>
              <a:t>output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3479" y="6139497"/>
            <a:ext cx="12534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8000"/>
                </a:solidFill>
                <a:latin typeface="Arial"/>
                <a:cs typeface="Arial"/>
              </a:rPr>
              <a:t>(key,</a:t>
            </a:r>
            <a:r>
              <a:rPr sz="1800" b="1" spc="6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00"/>
                </a:solidFill>
                <a:latin typeface="Arial"/>
                <a:cs typeface="Arial"/>
              </a:rPr>
              <a:t>value)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08276" y="1436687"/>
            <a:ext cx="1741805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03200" marR="5080" indent="-191135">
              <a:lnSpc>
                <a:spcPct val="100800"/>
              </a:lnSpc>
              <a:spcBef>
                <a:spcPts val="85"/>
              </a:spcBef>
            </a:pPr>
            <a:r>
              <a:rPr sz="1800" b="1" i="0" spc="-5" dirty="0">
                <a:latin typeface="Arial"/>
                <a:cs typeface="Arial"/>
              </a:rPr>
              <a:t>Provided </a:t>
            </a:r>
            <a:r>
              <a:rPr sz="1800" b="1" i="0" spc="10" dirty="0">
                <a:latin typeface="Arial"/>
                <a:cs typeface="Arial"/>
              </a:rPr>
              <a:t>by</a:t>
            </a:r>
            <a:r>
              <a:rPr sz="1800" b="1" i="0" spc="-95" dirty="0">
                <a:latin typeface="Arial"/>
                <a:cs typeface="Arial"/>
              </a:rPr>
              <a:t> </a:t>
            </a:r>
            <a:r>
              <a:rPr sz="1800" b="1" i="0" spc="5" dirty="0">
                <a:latin typeface="Arial"/>
                <a:cs typeface="Arial"/>
              </a:rPr>
              <a:t>the  </a:t>
            </a:r>
            <a:r>
              <a:rPr sz="1800" b="1" i="0" spc="-15" dirty="0">
                <a:latin typeface="Arial"/>
                <a:cs typeface="Arial"/>
              </a:rPr>
              <a:t>programmer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19825" y="1436687"/>
            <a:ext cx="1746885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03200" marR="5080" indent="-191135">
              <a:lnSpc>
                <a:spcPct val="100800"/>
              </a:lnSpc>
              <a:spcBef>
                <a:spcPts val="85"/>
              </a:spcBef>
            </a:pPr>
            <a:r>
              <a:rPr sz="1800" b="1" dirty="0">
                <a:latin typeface="Arial"/>
                <a:cs typeface="Arial"/>
              </a:rPr>
              <a:t>Provided </a:t>
            </a:r>
            <a:r>
              <a:rPr sz="1800" b="1" spc="10" dirty="0">
                <a:latin typeface="Arial"/>
                <a:cs typeface="Arial"/>
              </a:rPr>
              <a:t>by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the  </a:t>
            </a:r>
            <a:r>
              <a:rPr sz="1800" b="1" spc="-15" dirty="0">
                <a:latin typeface="Arial"/>
                <a:cs typeface="Arial"/>
              </a:rPr>
              <a:t>programmer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38315" y="6139497"/>
            <a:ext cx="12534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8000"/>
                </a:solidFill>
                <a:latin typeface="Arial"/>
                <a:cs typeface="Arial"/>
              </a:rPr>
              <a:t>(key,</a:t>
            </a:r>
            <a:r>
              <a:rPr sz="1800" b="1" spc="6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00"/>
                </a:solidFill>
                <a:latin typeface="Arial"/>
                <a:cs typeface="Arial"/>
              </a:rPr>
              <a:t>value)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26584" y="6139497"/>
            <a:ext cx="12573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5" dirty="0">
                <a:solidFill>
                  <a:srgbClr val="008000"/>
                </a:solidFill>
                <a:latin typeface="Arial"/>
                <a:cs typeface="Arial"/>
              </a:rPr>
              <a:t>(key,</a:t>
            </a:r>
            <a:r>
              <a:rPr sz="1800" b="1" spc="6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00"/>
                </a:solidFill>
                <a:latin typeface="Arial"/>
                <a:cs typeface="Arial"/>
              </a:rPr>
              <a:t>value)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81825" y="3181226"/>
            <a:ext cx="810260" cy="3248660"/>
            <a:chOff x="7981825" y="3181226"/>
            <a:chExt cx="810260" cy="3248660"/>
          </a:xfrm>
        </p:grpSpPr>
        <p:sp>
          <p:nvSpPr>
            <p:cNvPr id="16" name="object 16"/>
            <p:cNvSpPr/>
            <p:nvPr/>
          </p:nvSpPr>
          <p:spPr>
            <a:xfrm>
              <a:off x="8234425" y="3205162"/>
              <a:ext cx="371475" cy="2686050"/>
            </a:xfrm>
            <a:custGeom>
              <a:avLst/>
              <a:gdLst/>
              <a:ahLst/>
              <a:cxnLst/>
              <a:rect l="l" t="t" r="r" b="b"/>
              <a:pathLst>
                <a:path w="371475" h="2686050">
                  <a:moveTo>
                    <a:pt x="0" y="2686050"/>
                  </a:moveTo>
                  <a:lnTo>
                    <a:pt x="371475" y="26860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6860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05825" y="3205225"/>
              <a:ext cx="762000" cy="3200400"/>
            </a:xfrm>
            <a:custGeom>
              <a:avLst/>
              <a:gdLst/>
              <a:ahLst/>
              <a:cxnLst/>
              <a:rect l="l" t="t" r="r" b="b"/>
              <a:pathLst>
                <a:path w="762000" h="3200400">
                  <a:moveTo>
                    <a:pt x="571500" y="0"/>
                  </a:moveTo>
                  <a:lnTo>
                    <a:pt x="190500" y="0"/>
                  </a:lnTo>
                  <a:lnTo>
                    <a:pt x="190500" y="2819336"/>
                  </a:lnTo>
                  <a:lnTo>
                    <a:pt x="0" y="2819336"/>
                  </a:lnTo>
                  <a:lnTo>
                    <a:pt x="381000" y="3200336"/>
                  </a:lnTo>
                  <a:lnTo>
                    <a:pt x="762000" y="2819336"/>
                  </a:lnTo>
                  <a:lnTo>
                    <a:pt x="571500" y="2819336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E66C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05825" y="3205225"/>
              <a:ext cx="762000" cy="3200400"/>
            </a:xfrm>
            <a:custGeom>
              <a:avLst/>
              <a:gdLst/>
              <a:ahLst/>
              <a:cxnLst/>
              <a:rect l="l" t="t" r="r" b="b"/>
              <a:pathLst>
                <a:path w="762000" h="3200400">
                  <a:moveTo>
                    <a:pt x="0" y="2819336"/>
                  </a:moveTo>
                  <a:lnTo>
                    <a:pt x="190500" y="2819336"/>
                  </a:lnTo>
                  <a:lnTo>
                    <a:pt x="190500" y="0"/>
                  </a:lnTo>
                  <a:lnTo>
                    <a:pt x="571500" y="0"/>
                  </a:lnTo>
                  <a:lnTo>
                    <a:pt x="571500" y="2819336"/>
                  </a:lnTo>
                  <a:lnTo>
                    <a:pt x="762000" y="2819336"/>
                  </a:lnTo>
                  <a:lnTo>
                    <a:pt x="381000" y="3200336"/>
                  </a:lnTo>
                  <a:lnTo>
                    <a:pt x="0" y="2819336"/>
                  </a:lnTo>
                  <a:close/>
                </a:path>
              </a:pathLst>
            </a:custGeom>
            <a:ln w="47999">
              <a:solidFill>
                <a:srgbClr val="A94D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277605" y="3261359"/>
            <a:ext cx="328295" cy="2573655"/>
          </a:xfrm>
          <a:prstGeom prst="rect">
            <a:avLst/>
          </a:prstGeom>
        </p:spPr>
        <p:txBody>
          <a:bodyPr vert="vert270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700" b="1" spc="-525" baseline="6172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spc="-350" dirty="0">
                <a:latin typeface="Corbel"/>
                <a:cs typeface="Corbel"/>
              </a:rPr>
              <a:t>S</a:t>
            </a:r>
            <a:r>
              <a:rPr sz="2700" b="1" spc="-525" baseline="6172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0" dirty="0">
                <a:latin typeface="Corbel"/>
                <a:cs typeface="Corbel"/>
              </a:rPr>
              <a:t>e</a:t>
            </a:r>
            <a:r>
              <a:rPr sz="2700" b="1" spc="-525" baseline="6172" dirty="0">
                <a:solidFill>
                  <a:srgbClr val="FFFFFF"/>
                </a:solidFill>
                <a:latin typeface="Corbel"/>
                <a:cs typeface="Corbel"/>
              </a:rPr>
              <a:t>l</a:t>
            </a:r>
            <a:r>
              <a:rPr sz="1800" spc="-350" dirty="0">
                <a:latin typeface="Corbel"/>
                <a:cs typeface="Corbel"/>
              </a:rPr>
              <a:t>q</a:t>
            </a:r>
            <a:r>
              <a:rPr sz="2700" b="1" spc="-525" baseline="6172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50" dirty="0">
                <a:latin typeface="Corbel"/>
                <a:cs typeface="Corbel"/>
              </a:rPr>
              <a:t>ue</a:t>
            </a:r>
            <a:r>
              <a:rPr sz="2700" spc="-525" baseline="6172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350" dirty="0">
                <a:latin typeface="Corbel"/>
                <a:cs typeface="Corbel"/>
              </a:rPr>
              <a:t>n</a:t>
            </a:r>
            <a:r>
              <a:rPr sz="2700" spc="-525" baseline="6172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350" dirty="0">
                <a:latin typeface="Corbel"/>
                <a:cs typeface="Corbel"/>
              </a:rPr>
              <a:t>ti</a:t>
            </a:r>
            <a:r>
              <a:rPr sz="2700" spc="-525" baseline="6172" dirty="0">
                <a:solidFill>
                  <a:srgbClr val="FFFFFF"/>
                </a:solidFill>
                <a:latin typeface="Corbel"/>
                <a:cs typeface="Corbel"/>
              </a:rPr>
              <a:t>q</a:t>
            </a:r>
            <a:r>
              <a:rPr sz="1800" spc="-350" dirty="0">
                <a:latin typeface="Corbel"/>
                <a:cs typeface="Corbel"/>
              </a:rPr>
              <a:t>a</a:t>
            </a:r>
            <a:r>
              <a:rPr sz="2700" spc="-525" baseline="6172" dirty="0">
                <a:solidFill>
                  <a:srgbClr val="FFFFFF"/>
                </a:solidFill>
                <a:latin typeface="Corbel"/>
                <a:cs typeface="Corbel"/>
              </a:rPr>
              <a:t>u</a:t>
            </a:r>
            <a:r>
              <a:rPr sz="1800" spc="-350" dirty="0">
                <a:latin typeface="Corbel"/>
                <a:cs typeface="Corbel"/>
              </a:rPr>
              <a:t>ll</a:t>
            </a:r>
            <a:r>
              <a:rPr sz="2700" spc="-525" baseline="6172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350" dirty="0">
                <a:latin typeface="Corbel"/>
                <a:cs typeface="Corbel"/>
              </a:rPr>
              <a:t>y</a:t>
            </a:r>
            <a:r>
              <a:rPr sz="2700" spc="-525" baseline="6172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0" dirty="0">
                <a:latin typeface="Corbel"/>
                <a:cs typeface="Corbel"/>
              </a:rPr>
              <a:t>r</a:t>
            </a:r>
            <a:r>
              <a:rPr sz="2700" spc="-525" baseline="6172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0" dirty="0">
                <a:latin typeface="Corbel"/>
                <a:cs typeface="Corbel"/>
              </a:rPr>
              <a:t>e</a:t>
            </a:r>
            <a:r>
              <a:rPr sz="2700" spc="-525" baseline="6172" dirty="0">
                <a:solidFill>
                  <a:srgbClr val="FFFFFF"/>
                </a:solidFill>
                <a:latin typeface="Corbel"/>
                <a:cs typeface="Corbel"/>
              </a:rPr>
              <a:t>ia</a:t>
            </a:r>
            <a:r>
              <a:rPr sz="1800" spc="-350" dirty="0">
                <a:latin typeface="Corbel"/>
                <a:cs typeface="Corbel"/>
              </a:rPr>
              <a:t>a</a:t>
            </a:r>
            <a:r>
              <a:rPr sz="2700" spc="-525" baseline="6172" dirty="0">
                <a:solidFill>
                  <a:srgbClr val="FFFFFF"/>
                </a:solidFill>
                <a:latin typeface="Corbel"/>
                <a:cs typeface="Corbel"/>
              </a:rPr>
              <a:t>l</a:t>
            </a:r>
            <a:r>
              <a:rPr sz="1800" spc="-350" dirty="0">
                <a:latin typeface="Corbel"/>
                <a:cs typeface="Corbel"/>
              </a:rPr>
              <a:t>d</a:t>
            </a:r>
            <a:r>
              <a:rPr sz="1800" spc="-345" dirty="0">
                <a:latin typeface="Corbel"/>
                <a:cs typeface="Corbel"/>
              </a:rPr>
              <a:t> </a:t>
            </a:r>
            <a:r>
              <a:rPr sz="1800" spc="-390" dirty="0">
                <a:latin typeface="Corbel"/>
                <a:cs typeface="Corbel"/>
              </a:rPr>
              <a:t>t</a:t>
            </a:r>
            <a:r>
              <a:rPr sz="2700" spc="-585" baseline="6172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390" dirty="0">
                <a:latin typeface="Corbel"/>
                <a:cs typeface="Corbel"/>
              </a:rPr>
              <a:t>h</a:t>
            </a:r>
            <a:r>
              <a:rPr sz="2700" spc="-585" baseline="6172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390" dirty="0">
                <a:latin typeface="Corbel"/>
                <a:cs typeface="Corbel"/>
              </a:rPr>
              <a:t>e</a:t>
            </a:r>
            <a:r>
              <a:rPr sz="2700" spc="-585" baseline="6172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390" dirty="0">
                <a:latin typeface="Corbel"/>
                <a:cs typeface="Corbel"/>
              </a:rPr>
              <a:t>d</a:t>
            </a:r>
            <a:r>
              <a:rPr sz="2700" spc="-585" baseline="6172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390" dirty="0">
                <a:latin typeface="Corbel"/>
                <a:cs typeface="Corbel"/>
              </a:rPr>
              <a:t>a</a:t>
            </a:r>
            <a:r>
              <a:rPr sz="2700" spc="-585" baseline="6172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2700" spc="-315" baseline="6172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5" dirty="0">
                <a:latin typeface="Corbel"/>
                <a:cs typeface="Corbel"/>
              </a:rPr>
              <a:t>ta</a:t>
            </a:r>
            <a:endParaRPr sz="1800" dirty="0">
              <a:latin typeface="Corbel"/>
              <a:cs typeface="Corbe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47875" y="3857561"/>
            <a:ext cx="3853179" cy="1719580"/>
            <a:chOff x="2047875" y="3857561"/>
            <a:chExt cx="3853179" cy="171958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7875" y="5114988"/>
              <a:ext cx="1814576" cy="15716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09851" y="5167375"/>
              <a:ext cx="1676400" cy="1905"/>
            </a:xfrm>
            <a:custGeom>
              <a:avLst/>
              <a:gdLst/>
              <a:ahLst/>
              <a:cxnLst/>
              <a:rect l="l" t="t" r="r" b="b"/>
              <a:pathLst>
                <a:path w="1676400" h="1904">
                  <a:moveTo>
                    <a:pt x="0" y="0"/>
                  </a:moveTo>
                  <a:lnTo>
                    <a:pt x="1676400" y="1524"/>
                  </a:lnTo>
                </a:path>
              </a:pathLst>
            </a:custGeom>
            <a:ln w="48500">
              <a:solidFill>
                <a:srgbClr val="C547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6450" y="4571936"/>
              <a:ext cx="1814576" cy="15716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6450" y="4009961"/>
              <a:ext cx="1814576" cy="15716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7650" y="5105463"/>
              <a:ext cx="1814576" cy="15716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6225" y="4324286"/>
              <a:ext cx="1814576" cy="15716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0" y="3857561"/>
              <a:ext cx="309562" cy="82391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891026" y="3891025"/>
              <a:ext cx="152400" cy="685800"/>
            </a:xfrm>
            <a:custGeom>
              <a:avLst/>
              <a:gdLst/>
              <a:ahLst/>
              <a:cxnLst/>
              <a:rect l="l" t="t" r="r" b="b"/>
              <a:pathLst>
                <a:path w="152400" h="685800">
                  <a:moveTo>
                    <a:pt x="0" y="0"/>
                  </a:moveTo>
                  <a:lnTo>
                    <a:pt x="152400" y="685800"/>
                  </a:lnTo>
                </a:path>
              </a:pathLst>
            </a:custGeom>
            <a:ln w="47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0000" y="4524438"/>
              <a:ext cx="309562" cy="105251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891026" y="4576825"/>
              <a:ext cx="152400" cy="914400"/>
            </a:xfrm>
            <a:custGeom>
              <a:avLst/>
              <a:gdLst/>
              <a:ahLst/>
              <a:cxnLst/>
              <a:rect l="l" t="t" r="r" b="b"/>
              <a:pathLst>
                <a:path w="152400" h="914400">
                  <a:moveTo>
                    <a:pt x="0" y="914400"/>
                  </a:moveTo>
                  <a:lnTo>
                    <a:pt x="152400" y="0"/>
                  </a:lnTo>
                </a:path>
              </a:pathLst>
            </a:custGeom>
            <a:ln w="47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3800" y="4524311"/>
              <a:ext cx="385762" cy="67151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814826" y="4576825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0" y="533400"/>
                  </a:moveTo>
                  <a:lnTo>
                    <a:pt x="228600" y="0"/>
                  </a:lnTo>
                </a:path>
              </a:pathLst>
            </a:custGeom>
            <a:ln w="47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3800" y="4152836"/>
              <a:ext cx="385762" cy="52863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814826" y="4195825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0" y="0"/>
                  </a:moveTo>
                  <a:lnTo>
                    <a:pt x="228600" y="381000"/>
                  </a:lnTo>
                </a:path>
              </a:pathLst>
            </a:custGeom>
            <a:ln w="47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2162051" y="3447862"/>
          <a:ext cx="1600200" cy="259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375"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(The,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L="401320">
                        <a:lnSpc>
                          <a:spcPts val="2035"/>
                        </a:lnSpc>
                        <a:spcBef>
                          <a:spcPts val="15"/>
                        </a:spcBef>
                      </a:pPr>
                      <a:r>
                        <a:rPr sz="1800" spc="-1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(crew,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43815" marB="0">
                    <a:lnL w="53975">
                      <a:solidFill>
                        <a:srgbClr val="448494"/>
                      </a:solidFill>
                      <a:prstDash val="solid"/>
                    </a:lnL>
                    <a:lnR w="53975">
                      <a:solidFill>
                        <a:srgbClr val="448494"/>
                      </a:solidFill>
                      <a:prstDash val="solid"/>
                    </a:lnR>
                    <a:lnT w="53975">
                      <a:solidFill>
                        <a:srgbClr val="448494"/>
                      </a:solidFill>
                      <a:prstDash val="solid"/>
                    </a:lnT>
                    <a:lnB w="53975">
                      <a:solidFill>
                        <a:srgbClr val="C54746"/>
                      </a:solidFill>
                      <a:prstDash val="solid"/>
                    </a:lnB>
                    <a:solidFill>
                      <a:srgbClr val="5FB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1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(of,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L="468630">
                        <a:lnSpc>
                          <a:spcPts val="2105"/>
                        </a:lnSpc>
                        <a:spcBef>
                          <a:spcPts val="2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(the,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5080" marB="0">
                    <a:lnL w="53975">
                      <a:solidFill>
                        <a:srgbClr val="448494"/>
                      </a:solidFill>
                      <a:prstDash val="solid"/>
                    </a:lnL>
                    <a:lnR w="53975">
                      <a:solidFill>
                        <a:srgbClr val="448494"/>
                      </a:solidFill>
                      <a:prstDash val="solid"/>
                    </a:lnR>
                    <a:lnT w="53975">
                      <a:solidFill>
                        <a:srgbClr val="C54746"/>
                      </a:solidFill>
                      <a:prstDash val="solid"/>
                    </a:lnT>
                    <a:lnB w="53975">
                      <a:solidFill>
                        <a:srgbClr val="C547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354330">
                        <a:lnSpc>
                          <a:spcPts val="2105"/>
                        </a:lnSpc>
                      </a:pP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(space,</a:t>
                      </a:r>
                      <a:r>
                        <a:rPr sz="1800" spc="-9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L="297180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(shuttle,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53975">
                      <a:solidFill>
                        <a:srgbClr val="448494"/>
                      </a:solidFill>
                      <a:prstDash val="solid"/>
                    </a:lnL>
                    <a:lnR w="53975">
                      <a:solidFill>
                        <a:srgbClr val="448494"/>
                      </a:solidFill>
                      <a:prstDash val="solid"/>
                    </a:lnR>
                    <a:lnT w="53975">
                      <a:solidFill>
                        <a:srgbClr val="C54746"/>
                      </a:solidFill>
                      <a:prstDash val="solid"/>
                    </a:lnT>
                    <a:lnB w="53975">
                      <a:solidFill>
                        <a:srgbClr val="C547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524">
                <a:tc>
                  <a:txBody>
                    <a:bodyPr/>
                    <a:lstStyle/>
                    <a:p>
                      <a:pPr marR="5715" algn="ctr">
                        <a:lnSpc>
                          <a:spcPts val="214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(Endeavor,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R="317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(recently,</a:t>
                      </a:r>
                      <a:r>
                        <a:rPr sz="1800" spc="-9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….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53975">
                      <a:solidFill>
                        <a:srgbClr val="448494"/>
                      </a:solidFill>
                      <a:prstDash val="solid"/>
                    </a:lnL>
                    <a:lnR w="53975">
                      <a:solidFill>
                        <a:srgbClr val="448494"/>
                      </a:solidFill>
                      <a:prstDash val="solid"/>
                    </a:lnR>
                    <a:lnT w="53975">
                      <a:solidFill>
                        <a:srgbClr val="C54746"/>
                      </a:solidFill>
                      <a:prstDash val="solid"/>
                    </a:lnT>
                    <a:lnB w="53975">
                      <a:solidFill>
                        <a:srgbClr val="44849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4143251" y="3447862"/>
          <a:ext cx="1600200" cy="259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5700">
                <a:tc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(crew,</a:t>
                      </a:r>
                      <a:r>
                        <a:rPr sz="1800" spc="-114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L="4032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(crew,</a:t>
                      </a:r>
                      <a:r>
                        <a:rPr sz="1800" spc="-114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L="3562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(space,</a:t>
                      </a:r>
                      <a:r>
                        <a:rPr sz="1800" spc="-9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43815" marB="0">
                    <a:lnL w="53975">
                      <a:solidFill>
                        <a:srgbClr val="AF7D00"/>
                      </a:solidFill>
                      <a:prstDash val="solid"/>
                    </a:lnL>
                    <a:lnR w="53975">
                      <a:solidFill>
                        <a:srgbClr val="AF7D00"/>
                      </a:solidFill>
                      <a:prstDash val="solid"/>
                    </a:lnR>
                    <a:lnT w="53975">
                      <a:solidFill>
                        <a:srgbClr val="AF7D00"/>
                      </a:solidFill>
                      <a:prstDash val="solid"/>
                    </a:lnT>
                    <a:lnB w="53975">
                      <a:solidFill>
                        <a:srgbClr val="C54746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470534">
                        <a:lnSpc>
                          <a:spcPts val="1905"/>
                        </a:lnSpc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(the,</a:t>
                      </a:r>
                      <a:r>
                        <a:rPr sz="1800" spc="-10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 dirty="0">
                        <a:latin typeface="Corbel"/>
                        <a:cs typeface="Corbel"/>
                      </a:endParaRPr>
                    </a:p>
                    <a:p>
                      <a:pPr marL="470534">
                        <a:lnSpc>
                          <a:spcPts val="2135"/>
                        </a:lnSpc>
                        <a:spcBef>
                          <a:spcPts val="15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(the,</a:t>
                      </a:r>
                      <a:r>
                        <a:rPr sz="1800" spc="-10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 dirty="0">
                        <a:latin typeface="Corbel"/>
                        <a:cs typeface="Corbel"/>
                      </a:endParaRPr>
                    </a:p>
                    <a:p>
                      <a:pPr marL="470534">
                        <a:lnSpc>
                          <a:spcPts val="1995"/>
                        </a:lnSpc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(the,</a:t>
                      </a:r>
                      <a:r>
                        <a:rPr sz="1800" spc="-10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53975">
                      <a:solidFill>
                        <a:srgbClr val="AF7D00"/>
                      </a:solidFill>
                      <a:prstDash val="solid"/>
                    </a:lnL>
                    <a:lnR w="53975">
                      <a:solidFill>
                        <a:srgbClr val="AF7D00"/>
                      </a:solidFill>
                      <a:prstDash val="solid"/>
                    </a:lnR>
                    <a:lnT w="53975">
                      <a:solidFill>
                        <a:srgbClr val="C54746"/>
                      </a:solidFill>
                      <a:prstDash val="solid"/>
                    </a:lnT>
                    <a:lnB w="53975">
                      <a:solidFill>
                        <a:srgbClr val="C547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04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(shuttle,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 dirty="0">
                        <a:latin typeface="Corbel"/>
                        <a:cs typeface="Corbel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(recently,</a:t>
                      </a:r>
                      <a:r>
                        <a:rPr sz="1800" spc="-9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1)</a:t>
                      </a:r>
                      <a:endParaRPr sz="1800" dirty="0">
                        <a:latin typeface="Corbel"/>
                        <a:cs typeface="Corbe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…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6985" marB="0">
                    <a:lnL w="53975">
                      <a:solidFill>
                        <a:srgbClr val="AF7D00"/>
                      </a:solidFill>
                      <a:prstDash val="solid"/>
                    </a:lnL>
                    <a:lnR w="53975">
                      <a:solidFill>
                        <a:srgbClr val="AF7D00"/>
                      </a:solidFill>
                      <a:prstDash val="solid"/>
                    </a:lnR>
                    <a:lnT w="53975">
                      <a:solidFill>
                        <a:srgbClr val="C54746"/>
                      </a:solidFill>
                      <a:prstDash val="solid"/>
                    </a:lnT>
                    <a:lnB w="53975">
                      <a:solidFill>
                        <a:srgbClr val="AF7D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7" name="object 37"/>
          <p:cNvGrpSpPr/>
          <p:nvPr/>
        </p:nvGrpSpPr>
        <p:grpSpPr>
          <a:xfrm>
            <a:off x="95250" y="5076888"/>
            <a:ext cx="1814830" cy="157480"/>
            <a:chOff x="95250" y="5076888"/>
            <a:chExt cx="1814830" cy="157480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0" y="5076888"/>
              <a:ext cx="1814576" cy="15716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57162" y="5129276"/>
              <a:ext cx="1677035" cy="1905"/>
            </a:xfrm>
            <a:custGeom>
              <a:avLst/>
              <a:gdLst/>
              <a:ahLst/>
              <a:cxnLst/>
              <a:rect l="l" t="t" r="r" b="b"/>
              <a:pathLst>
                <a:path w="1677035" h="1904">
                  <a:moveTo>
                    <a:pt x="0" y="0"/>
                  </a:moveTo>
                  <a:lnTo>
                    <a:pt x="1676463" y="1524"/>
                  </a:lnTo>
                </a:path>
              </a:pathLst>
            </a:custGeom>
            <a:ln w="48500">
              <a:solidFill>
                <a:srgbClr val="C547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0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" y="4514786"/>
            <a:ext cx="1814576" cy="15716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" y="3971861"/>
            <a:ext cx="1814576" cy="157162"/>
          </a:xfrm>
          <a:prstGeom prst="rect">
            <a:avLst/>
          </a:prstGeom>
        </p:spPr>
      </p:pic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209362" y="3447862"/>
          <a:ext cx="1600200" cy="26288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3275">
                <a:tc>
                  <a:txBody>
                    <a:bodyPr/>
                    <a:lstStyle/>
                    <a:p>
                      <a:pPr marL="86995" marR="73025" algn="just">
                        <a:lnSpc>
                          <a:spcPts val="1350"/>
                        </a:lnSpc>
                        <a:spcBef>
                          <a:spcPts val="225"/>
                        </a:spcBef>
                      </a:pPr>
                      <a:r>
                        <a:rPr sz="1100" spc="25" dirty="0">
                          <a:latin typeface="Arial Narrow"/>
                          <a:cs typeface="Arial Narrow"/>
                        </a:rPr>
                        <a:t>The </a:t>
                      </a:r>
                      <a:r>
                        <a:rPr sz="1100" spc="5" dirty="0">
                          <a:latin typeface="Arial Narrow"/>
                          <a:cs typeface="Arial Narrow"/>
                        </a:rPr>
                        <a:t>crew </a:t>
                      </a:r>
                      <a:r>
                        <a:rPr sz="1100" spc="10" dirty="0">
                          <a:latin typeface="Arial Narrow"/>
                          <a:cs typeface="Arial Narrow"/>
                        </a:rPr>
                        <a:t>of </a:t>
                      </a:r>
                      <a:r>
                        <a:rPr sz="1100" dirty="0">
                          <a:latin typeface="Arial Narrow"/>
                          <a:cs typeface="Arial Narrow"/>
                        </a:rPr>
                        <a:t>the </a:t>
                      </a:r>
                      <a:r>
                        <a:rPr sz="1100" spc="-5" dirty="0">
                          <a:latin typeface="Arial Narrow"/>
                          <a:cs typeface="Arial Narrow"/>
                        </a:rPr>
                        <a:t>space  </a:t>
                      </a:r>
                      <a:r>
                        <a:rPr sz="1100" dirty="0">
                          <a:latin typeface="Arial Narrow"/>
                          <a:cs typeface="Arial Narrow"/>
                        </a:rPr>
                        <a:t>shuttle </a:t>
                      </a:r>
                      <a:r>
                        <a:rPr sz="1100" spc="-10" dirty="0">
                          <a:latin typeface="Arial Narrow"/>
                          <a:cs typeface="Arial Narrow"/>
                        </a:rPr>
                        <a:t>Endeavor </a:t>
                      </a:r>
                      <a:r>
                        <a:rPr sz="1100" spc="5" dirty="0">
                          <a:latin typeface="Arial Narrow"/>
                          <a:cs typeface="Arial Narrow"/>
                        </a:rPr>
                        <a:t>recently  returned </a:t>
                      </a:r>
                      <a:r>
                        <a:rPr sz="1100" spc="-10" dirty="0">
                          <a:latin typeface="Arial Narrow"/>
                          <a:cs typeface="Arial Narrow"/>
                        </a:rPr>
                        <a:t>to </a:t>
                      </a:r>
                      <a:r>
                        <a:rPr sz="1100" spc="-5" dirty="0">
                          <a:latin typeface="Arial Narrow"/>
                          <a:cs typeface="Arial Narrow"/>
                        </a:rPr>
                        <a:t>Earth</a:t>
                      </a:r>
                      <a:r>
                        <a:rPr sz="1100" spc="10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spc="20" dirty="0">
                          <a:latin typeface="Arial Narrow"/>
                          <a:cs typeface="Arial Narrow"/>
                        </a:rPr>
                        <a:t>as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</a:txBody>
                  <a:tcPr marL="0" marR="0" marT="2857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C547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86995" marR="76835" algn="just">
                        <a:lnSpc>
                          <a:spcPct val="996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 Narrow"/>
                          <a:cs typeface="Arial Narrow"/>
                        </a:rPr>
                        <a:t>ambassadors, harbingers</a:t>
                      </a:r>
                      <a:r>
                        <a:rPr sz="1100" spc="-114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spc="15" dirty="0">
                          <a:latin typeface="Arial Narrow"/>
                          <a:cs typeface="Arial Narrow"/>
                        </a:rPr>
                        <a:t>of  </a:t>
                      </a:r>
                      <a:r>
                        <a:rPr sz="1100" spc="10" dirty="0">
                          <a:latin typeface="Arial Narrow"/>
                          <a:cs typeface="Arial Narrow"/>
                        </a:rPr>
                        <a:t>a </a:t>
                      </a:r>
                      <a:r>
                        <a:rPr sz="1100" spc="20" dirty="0">
                          <a:latin typeface="Arial Narrow"/>
                          <a:cs typeface="Arial Narrow"/>
                        </a:rPr>
                        <a:t>new </a:t>
                      </a:r>
                      <a:r>
                        <a:rPr sz="1100" spc="-15" dirty="0">
                          <a:latin typeface="Arial Narrow"/>
                          <a:cs typeface="Arial Narrow"/>
                        </a:rPr>
                        <a:t>era </a:t>
                      </a:r>
                      <a:r>
                        <a:rPr sz="1100" spc="10" dirty="0">
                          <a:latin typeface="Arial Narrow"/>
                          <a:cs typeface="Arial Narrow"/>
                        </a:rPr>
                        <a:t>of space  </a:t>
                      </a:r>
                      <a:r>
                        <a:rPr sz="1100" spc="5" dirty="0">
                          <a:latin typeface="Arial Narrow"/>
                          <a:cs typeface="Arial Narrow"/>
                        </a:rPr>
                        <a:t>exploration. </a:t>
                      </a:r>
                      <a:r>
                        <a:rPr sz="1100" dirty="0">
                          <a:latin typeface="Arial Narrow"/>
                          <a:cs typeface="Arial Narrow"/>
                        </a:rPr>
                        <a:t>Scientists</a:t>
                      </a:r>
                      <a:r>
                        <a:rPr sz="1100" spc="18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spc="15" dirty="0">
                          <a:latin typeface="Arial Narrow"/>
                          <a:cs typeface="Arial Narrow"/>
                        </a:rPr>
                        <a:t>at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C54746"/>
                      </a:solidFill>
                      <a:prstDash val="solid"/>
                    </a:lnT>
                    <a:lnB w="53975">
                      <a:solidFill>
                        <a:srgbClr val="C547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86995">
                        <a:lnSpc>
                          <a:spcPts val="1055"/>
                        </a:lnSpc>
                      </a:pPr>
                      <a:r>
                        <a:rPr sz="1100" spc="5" dirty="0">
                          <a:latin typeface="Arial Narrow"/>
                          <a:cs typeface="Arial Narrow"/>
                        </a:rPr>
                        <a:t>NASA  </a:t>
                      </a:r>
                      <a:r>
                        <a:rPr sz="1100" spc="10" dirty="0">
                          <a:latin typeface="Arial Narrow"/>
                          <a:cs typeface="Arial Narrow"/>
                        </a:rPr>
                        <a:t>are  </a:t>
                      </a:r>
                      <a:r>
                        <a:rPr sz="1100" spc="-5" dirty="0">
                          <a:latin typeface="Arial Narrow"/>
                          <a:cs typeface="Arial Narrow"/>
                        </a:rPr>
                        <a:t>saying  </a:t>
                      </a:r>
                      <a:r>
                        <a:rPr sz="1100" spc="5" dirty="0">
                          <a:latin typeface="Arial Narrow"/>
                          <a:cs typeface="Arial Narrow"/>
                        </a:rPr>
                        <a:t>that</a:t>
                      </a:r>
                      <a:r>
                        <a:rPr sz="1100" spc="15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dirty="0">
                          <a:latin typeface="Arial Narrow"/>
                          <a:cs typeface="Arial Narrow"/>
                        </a:rPr>
                        <a:t>the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  <a:p>
                      <a:pPr marL="86995" marR="83820">
                        <a:lnSpc>
                          <a:spcPts val="1280"/>
                        </a:lnSpc>
                        <a:spcBef>
                          <a:spcPts val="105"/>
                        </a:spcBef>
                      </a:pPr>
                      <a:r>
                        <a:rPr sz="1100" spc="10" dirty="0">
                          <a:latin typeface="Arial Narrow"/>
                          <a:cs typeface="Arial Narrow"/>
                        </a:rPr>
                        <a:t>recent assembly of </a:t>
                      </a:r>
                      <a:r>
                        <a:rPr sz="1100" dirty="0">
                          <a:latin typeface="Arial Narrow"/>
                          <a:cs typeface="Arial Narrow"/>
                        </a:rPr>
                        <a:t>the  Dextre</a:t>
                      </a:r>
                      <a:r>
                        <a:rPr sz="1100" spc="-25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spc="15" dirty="0">
                          <a:latin typeface="Arial Narrow"/>
                          <a:cs typeface="Arial Narrow"/>
                        </a:rPr>
                        <a:t>bot</a:t>
                      </a:r>
                      <a:r>
                        <a:rPr sz="1100" spc="-65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spc="15" dirty="0">
                          <a:latin typeface="Arial Narrow"/>
                          <a:cs typeface="Arial Narrow"/>
                        </a:rPr>
                        <a:t>is</a:t>
                      </a:r>
                      <a:r>
                        <a:rPr sz="1100" spc="-45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dirty="0">
                          <a:latin typeface="Arial Narrow"/>
                          <a:cs typeface="Arial Narrow"/>
                        </a:rPr>
                        <a:t>the</a:t>
                      </a:r>
                      <a:r>
                        <a:rPr sz="1100" spc="-25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spc="-5" dirty="0">
                          <a:latin typeface="Arial Narrow"/>
                          <a:cs typeface="Arial Narrow"/>
                        </a:rPr>
                        <a:t>first</a:t>
                      </a:r>
                      <a:r>
                        <a:rPr sz="1100" spc="-65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dirty="0">
                          <a:latin typeface="Arial Narrow"/>
                          <a:cs typeface="Arial Narrow"/>
                        </a:rPr>
                        <a:t>step</a:t>
                      </a:r>
                      <a:r>
                        <a:rPr sz="1100" spc="-2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spc="20" dirty="0">
                          <a:latin typeface="Arial Narrow"/>
                          <a:cs typeface="Arial Narrow"/>
                        </a:rPr>
                        <a:t>in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C54746"/>
                      </a:solidFill>
                      <a:prstDash val="solid"/>
                    </a:lnT>
                    <a:lnB w="53975">
                      <a:solidFill>
                        <a:srgbClr val="C547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0724">
                <a:tc>
                  <a:txBody>
                    <a:bodyPr/>
                    <a:lstStyle/>
                    <a:p>
                      <a:pPr marL="86995">
                        <a:lnSpc>
                          <a:spcPts val="590"/>
                        </a:lnSpc>
                      </a:pPr>
                      <a:r>
                        <a:rPr sz="1100" spc="10" dirty="0">
                          <a:latin typeface="Arial Narrow"/>
                          <a:cs typeface="Arial Narrow"/>
                        </a:rPr>
                        <a:t>a   </a:t>
                      </a:r>
                      <a:r>
                        <a:rPr sz="1100" dirty="0">
                          <a:latin typeface="Arial Narrow"/>
                          <a:cs typeface="Arial Narrow"/>
                        </a:rPr>
                        <a:t>long-term  </a:t>
                      </a:r>
                      <a:r>
                        <a:rPr sz="1100" spc="13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spc="-5" dirty="0">
                          <a:latin typeface="Arial Narrow"/>
                          <a:cs typeface="Arial Narrow"/>
                        </a:rPr>
                        <a:t>space-based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  <a:p>
                      <a:pPr marL="86995">
                        <a:lnSpc>
                          <a:spcPts val="1300"/>
                        </a:lnSpc>
                        <a:tabLst>
                          <a:tab pos="906780" algn="l"/>
                        </a:tabLst>
                      </a:pPr>
                      <a:r>
                        <a:rPr sz="1100" spc="5" dirty="0">
                          <a:latin typeface="Arial Narrow"/>
                          <a:cs typeface="Arial Narrow"/>
                        </a:rPr>
                        <a:t>man/mache	</a:t>
                      </a:r>
                      <a:r>
                        <a:rPr sz="1100" spc="-5" dirty="0">
                          <a:latin typeface="Arial Narrow"/>
                          <a:cs typeface="Arial Narrow"/>
                        </a:rPr>
                        <a:t>partnership.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spc="5" dirty="0">
                          <a:latin typeface="Arial Narrow"/>
                          <a:cs typeface="Arial Narrow"/>
                        </a:rPr>
                        <a:t>'"The </a:t>
                      </a:r>
                      <a:r>
                        <a:rPr sz="1100" spc="10" dirty="0">
                          <a:latin typeface="Arial Narrow"/>
                          <a:cs typeface="Arial Narrow"/>
                        </a:rPr>
                        <a:t>work </a:t>
                      </a:r>
                      <a:r>
                        <a:rPr sz="1100" spc="5" dirty="0">
                          <a:latin typeface="Arial Narrow"/>
                          <a:cs typeface="Arial Narrow"/>
                        </a:rPr>
                        <a:t>we're doing</a:t>
                      </a:r>
                      <a:r>
                        <a:rPr sz="1100" spc="-15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spc="20" dirty="0">
                          <a:latin typeface="Arial Narrow"/>
                          <a:cs typeface="Arial Narrow"/>
                        </a:rPr>
                        <a:t>now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  <a:p>
                      <a:pPr marL="86995">
                        <a:lnSpc>
                          <a:spcPts val="13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 Narrow"/>
                          <a:cs typeface="Arial Narrow"/>
                        </a:rPr>
                        <a:t>-- the </a:t>
                      </a:r>
                      <a:r>
                        <a:rPr sz="1100" spc="5" dirty="0">
                          <a:latin typeface="Arial Narrow"/>
                          <a:cs typeface="Arial Narrow"/>
                        </a:rPr>
                        <a:t>robotics </a:t>
                      </a:r>
                      <a:r>
                        <a:rPr sz="1100" spc="-15" dirty="0">
                          <a:latin typeface="Arial Narrow"/>
                          <a:cs typeface="Arial Narrow"/>
                        </a:rPr>
                        <a:t>we're </a:t>
                      </a:r>
                      <a:r>
                        <a:rPr sz="1100" dirty="0">
                          <a:latin typeface="Arial Narrow"/>
                          <a:cs typeface="Arial Narrow"/>
                        </a:rPr>
                        <a:t>doing  </a:t>
                      </a:r>
                      <a:r>
                        <a:rPr sz="1100" spc="5" dirty="0">
                          <a:latin typeface="Arial Narrow"/>
                          <a:cs typeface="Arial Narrow"/>
                        </a:rPr>
                        <a:t>-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  <a:p>
                      <a:pPr marL="86995">
                        <a:lnSpc>
                          <a:spcPts val="1300"/>
                        </a:lnSpc>
                      </a:pPr>
                      <a:r>
                        <a:rPr sz="1100" spc="5" dirty="0">
                          <a:latin typeface="Arial Narrow"/>
                          <a:cs typeface="Arial Narrow"/>
                        </a:rPr>
                        <a:t>-  </a:t>
                      </a:r>
                      <a:r>
                        <a:rPr sz="1100" spc="15" dirty="0">
                          <a:latin typeface="Arial Narrow"/>
                          <a:cs typeface="Arial Narrow"/>
                        </a:rPr>
                        <a:t>is  what  </a:t>
                      </a:r>
                      <a:r>
                        <a:rPr sz="1100" dirty="0">
                          <a:latin typeface="Arial Narrow"/>
                          <a:cs typeface="Arial Narrow"/>
                        </a:rPr>
                        <a:t>we're   </a:t>
                      </a:r>
                      <a:r>
                        <a:rPr sz="1100" spc="15" dirty="0">
                          <a:latin typeface="Arial Narrow"/>
                          <a:cs typeface="Arial Narrow"/>
                        </a:rPr>
                        <a:t>going </a:t>
                      </a:r>
                      <a:r>
                        <a:rPr sz="1100" spc="95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spc="-30" dirty="0">
                          <a:latin typeface="Arial Narrow"/>
                          <a:cs typeface="Arial Narrow"/>
                        </a:rPr>
                        <a:t>to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spc="20" dirty="0">
                          <a:latin typeface="Arial Narrow"/>
                          <a:cs typeface="Arial Narrow"/>
                        </a:rPr>
                        <a:t>need</a:t>
                      </a:r>
                      <a:r>
                        <a:rPr sz="1100" spc="-10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100" spc="-10" dirty="0">
                          <a:latin typeface="Arial Narrow"/>
                          <a:cs typeface="Arial Narrow"/>
                        </a:rPr>
                        <a:t>……………………..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C54746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7472426" cy="5857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23900" y="1805241"/>
            <a:ext cx="7508240" cy="1250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Courier New"/>
                <a:cs typeface="Courier New"/>
              </a:rPr>
              <a:t>map(key,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value):</a:t>
            </a:r>
            <a:endParaRPr sz="2000" dirty="0">
              <a:latin typeface="Courier New"/>
              <a:cs typeface="Courier New"/>
            </a:endParaRPr>
          </a:p>
          <a:p>
            <a:pPr marL="336550" marR="5080" indent="-324485">
              <a:lnSpc>
                <a:spcPct val="100000"/>
              </a:lnSpc>
              <a:spcBef>
                <a:spcPts val="5"/>
              </a:spcBef>
            </a:pPr>
            <a:r>
              <a:rPr sz="2000" spc="15" dirty="0">
                <a:latin typeface="Courier New"/>
                <a:cs typeface="Courier New"/>
              </a:rPr>
              <a:t># </a:t>
            </a:r>
            <a:r>
              <a:rPr sz="2000" spc="5" dirty="0">
                <a:latin typeface="Courier New"/>
                <a:cs typeface="Courier New"/>
              </a:rPr>
              <a:t>key: </a:t>
            </a:r>
            <a:r>
              <a:rPr sz="2000" dirty="0">
                <a:latin typeface="Courier New"/>
                <a:cs typeface="Courier New"/>
              </a:rPr>
              <a:t>document name; value: </a:t>
            </a:r>
            <a:r>
              <a:rPr sz="2000" spc="5" dirty="0">
                <a:latin typeface="Courier New"/>
                <a:cs typeface="Courier New"/>
              </a:rPr>
              <a:t>text of the</a:t>
            </a:r>
            <a:r>
              <a:rPr sz="2000" spc="-1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document  </a:t>
            </a:r>
            <a:r>
              <a:rPr sz="2000" spc="5" dirty="0">
                <a:latin typeface="Courier New"/>
                <a:cs typeface="Courier New"/>
              </a:rPr>
              <a:t>for each word </a:t>
            </a:r>
            <a:r>
              <a:rPr sz="2000" spc="15" dirty="0">
                <a:latin typeface="Courier New"/>
                <a:cs typeface="Courier New"/>
              </a:rPr>
              <a:t>w </a:t>
            </a:r>
            <a:r>
              <a:rPr sz="2000" spc="5" dirty="0">
                <a:latin typeface="Courier New"/>
                <a:cs typeface="Courier New"/>
              </a:rPr>
              <a:t>in</a:t>
            </a:r>
            <a:r>
              <a:rPr sz="2000" spc="-1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value:</a:t>
            </a:r>
          </a:p>
          <a:p>
            <a:pPr marL="81343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ourier New"/>
                <a:cs typeface="Courier New"/>
              </a:rPr>
              <a:t>emit(w,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5" dirty="0">
                <a:latin typeface="Courier New"/>
                <a:cs typeface="Courier New"/>
              </a:rPr>
              <a:t>1)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975" y="3819842"/>
            <a:ext cx="6897370" cy="1860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Courier New"/>
                <a:cs typeface="Courier New"/>
              </a:rPr>
              <a:t>reduce(key,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values):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15" dirty="0">
                <a:latin typeface="Courier New"/>
                <a:cs typeface="Courier New"/>
              </a:rPr>
              <a:t># </a:t>
            </a:r>
            <a:r>
              <a:rPr sz="2000" spc="5" dirty="0">
                <a:latin typeface="Courier New"/>
                <a:cs typeface="Courier New"/>
              </a:rPr>
              <a:t>key: </a:t>
            </a:r>
            <a:r>
              <a:rPr sz="2000" spc="15" dirty="0">
                <a:latin typeface="Courier New"/>
                <a:cs typeface="Courier New"/>
              </a:rPr>
              <a:t>a </a:t>
            </a:r>
            <a:r>
              <a:rPr sz="2000" dirty="0">
                <a:latin typeface="Courier New"/>
                <a:cs typeface="Courier New"/>
              </a:rPr>
              <a:t>word; value: </a:t>
            </a:r>
            <a:r>
              <a:rPr sz="2000" spc="5" dirty="0">
                <a:latin typeface="Courier New"/>
                <a:cs typeface="Courier New"/>
              </a:rPr>
              <a:t>an </a:t>
            </a:r>
            <a:r>
              <a:rPr sz="2000" dirty="0">
                <a:latin typeface="Courier New"/>
                <a:cs typeface="Courier New"/>
              </a:rPr>
              <a:t>iterator </a:t>
            </a:r>
            <a:r>
              <a:rPr sz="2000" spc="5" dirty="0">
                <a:latin typeface="Courier New"/>
                <a:cs typeface="Courier New"/>
              </a:rPr>
              <a:t>over</a:t>
            </a:r>
            <a:r>
              <a:rPr sz="2000" spc="-1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counts</a:t>
            </a:r>
          </a:p>
          <a:p>
            <a:pPr marL="927735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result </a:t>
            </a:r>
            <a:r>
              <a:rPr sz="2000" spc="15" dirty="0">
                <a:latin typeface="Courier New"/>
                <a:cs typeface="Courier New"/>
              </a:rPr>
              <a:t>=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15" dirty="0">
                <a:latin typeface="Courier New"/>
                <a:cs typeface="Courier New"/>
              </a:rPr>
              <a:t>0</a:t>
            </a:r>
            <a:endParaRPr sz="2000" dirty="0">
              <a:latin typeface="Courier New"/>
              <a:cs typeface="Courier New"/>
            </a:endParaRPr>
          </a:p>
          <a:p>
            <a:pPr marL="1843405" marR="1837689" indent="-915669">
              <a:lnSpc>
                <a:spcPct val="100000"/>
              </a:lnSpc>
              <a:spcBef>
                <a:spcPts val="5"/>
              </a:spcBef>
            </a:pPr>
            <a:r>
              <a:rPr sz="2000" spc="5" dirty="0">
                <a:latin typeface="Courier New"/>
                <a:cs typeface="Courier New"/>
              </a:rPr>
              <a:t>for each </a:t>
            </a:r>
            <a:r>
              <a:rPr sz="2000" dirty="0">
                <a:latin typeface="Courier New"/>
                <a:cs typeface="Courier New"/>
              </a:rPr>
              <a:t>count </a:t>
            </a:r>
            <a:r>
              <a:rPr sz="2000" spc="15" dirty="0">
                <a:latin typeface="Courier New"/>
                <a:cs typeface="Courier New"/>
              </a:rPr>
              <a:t>v </a:t>
            </a:r>
            <a:r>
              <a:rPr sz="2000" spc="5" dirty="0">
                <a:latin typeface="Courier New"/>
                <a:cs typeface="Courier New"/>
              </a:rPr>
              <a:t>in</a:t>
            </a:r>
            <a:r>
              <a:rPr sz="2000" spc="-1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values:  result </a:t>
            </a:r>
            <a:r>
              <a:rPr sz="2000" spc="5" dirty="0">
                <a:latin typeface="Courier New"/>
                <a:cs typeface="Courier New"/>
              </a:rPr>
              <a:t>+=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15" dirty="0">
                <a:latin typeface="Courier New"/>
                <a:cs typeface="Courier New"/>
              </a:rPr>
              <a:t>v</a:t>
            </a:r>
            <a:endParaRPr sz="2000" dirty="0">
              <a:latin typeface="Courier New"/>
              <a:cs typeface="Courier New"/>
            </a:endParaRPr>
          </a:p>
          <a:p>
            <a:pPr marL="92773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emit(key,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result)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6358001" cy="5762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4362" y="1347787"/>
            <a:ext cx="664464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i="0" dirty="0">
                <a:solidFill>
                  <a:srgbClr val="0000FF"/>
                </a:solidFill>
                <a:latin typeface="Calibri"/>
                <a:cs typeface="Calibri"/>
              </a:rPr>
              <a:t>MapReduce </a:t>
            </a:r>
            <a:r>
              <a:rPr b="1" i="0" spc="-5" dirty="0">
                <a:solidFill>
                  <a:srgbClr val="0000FF"/>
                </a:solidFill>
                <a:latin typeface="Calibri"/>
                <a:cs typeface="Calibri"/>
              </a:rPr>
              <a:t>environment </a:t>
            </a:r>
            <a:r>
              <a:rPr b="1" i="0" dirty="0">
                <a:solidFill>
                  <a:srgbClr val="0000FF"/>
                </a:solidFill>
                <a:latin typeface="Calibri"/>
                <a:cs typeface="Calibri"/>
              </a:rPr>
              <a:t>takes </a:t>
            </a:r>
            <a:r>
              <a:rPr b="1" i="0" spc="-5" dirty="0">
                <a:solidFill>
                  <a:srgbClr val="0000FF"/>
                </a:solidFill>
                <a:latin typeface="Calibri"/>
                <a:cs typeface="Calibri"/>
              </a:rPr>
              <a:t>care</a:t>
            </a:r>
            <a:r>
              <a:rPr b="1" i="0" spc="-4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i="0" spc="10" dirty="0">
                <a:solidFill>
                  <a:srgbClr val="0000FF"/>
                </a:solidFill>
                <a:latin typeface="Calibri"/>
                <a:cs typeface="Calibri"/>
              </a:rPr>
              <a:t>of: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4362" y="1833880"/>
            <a:ext cx="7678420" cy="396112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6550" indent="-324485">
              <a:lnSpc>
                <a:spcPts val="3835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Partitioning </a:t>
            </a:r>
            <a:r>
              <a:rPr sz="3200" spc="5" dirty="0">
                <a:latin typeface="Calibri"/>
                <a:cs typeface="Calibri"/>
              </a:rPr>
              <a:t>the </a:t>
            </a:r>
            <a:r>
              <a:rPr sz="3200" spc="25" dirty="0">
                <a:latin typeface="Calibri"/>
                <a:cs typeface="Calibri"/>
              </a:rPr>
              <a:t>input</a:t>
            </a:r>
            <a:r>
              <a:rPr sz="3200" spc="-3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marL="336550" marR="5080" indent="-324485">
              <a:lnSpc>
                <a:spcPts val="3900"/>
              </a:lnSpc>
              <a:spcBef>
                <a:spcPts val="7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Scheduling </a:t>
            </a:r>
            <a:r>
              <a:rPr sz="3200" spc="10" dirty="0">
                <a:latin typeface="Calibri"/>
                <a:cs typeface="Calibri"/>
              </a:rPr>
              <a:t>the </a:t>
            </a:r>
            <a:r>
              <a:rPr sz="3200" spc="-25" dirty="0">
                <a:latin typeface="Calibri"/>
                <a:cs typeface="Calibri"/>
              </a:rPr>
              <a:t>program’s </a:t>
            </a:r>
            <a:r>
              <a:rPr sz="3200" spc="-10" dirty="0">
                <a:latin typeface="Calibri"/>
                <a:cs typeface="Calibri"/>
              </a:rPr>
              <a:t>execution </a:t>
            </a:r>
            <a:r>
              <a:rPr sz="3200" spc="5" dirty="0">
                <a:latin typeface="Calibri"/>
                <a:cs typeface="Calibri"/>
              </a:rPr>
              <a:t>across</a:t>
            </a:r>
            <a:r>
              <a:rPr sz="3200" spc="-45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a  </a:t>
            </a:r>
            <a:r>
              <a:rPr sz="3200" dirty="0">
                <a:latin typeface="Calibri"/>
                <a:cs typeface="Calibri"/>
              </a:rPr>
              <a:t>set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machines</a:t>
            </a:r>
            <a:endParaRPr sz="3200">
              <a:latin typeface="Calibri"/>
              <a:cs typeface="Calibri"/>
            </a:endParaRPr>
          </a:p>
          <a:p>
            <a:pPr marL="336550" indent="-324485">
              <a:lnSpc>
                <a:spcPts val="3695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-10" dirty="0">
                <a:latin typeface="Calibri"/>
                <a:cs typeface="Calibri"/>
              </a:rPr>
              <a:t>Performing </a:t>
            </a:r>
            <a:r>
              <a:rPr sz="3200" spc="10" dirty="0">
                <a:latin typeface="Calibri"/>
                <a:cs typeface="Calibri"/>
              </a:rPr>
              <a:t>the </a:t>
            </a:r>
            <a:r>
              <a:rPr sz="3200" b="1" spc="-15" dirty="0">
                <a:solidFill>
                  <a:srgbClr val="0000FF"/>
                </a:solidFill>
                <a:latin typeface="Calibri"/>
                <a:cs typeface="Calibri"/>
              </a:rPr>
              <a:t>group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by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key</a:t>
            </a:r>
            <a:r>
              <a:rPr sz="3200" b="1" spc="-3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step</a:t>
            </a:r>
            <a:endParaRPr sz="320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In practice </a:t>
            </a:r>
            <a:r>
              <a:rPr sz="2750" spc="-20" dirty="0">
                <a:latin typeface="Calibri"/>
                <a:cs typeface="Calibri"/>
              </a:rPr>
              <a:t>this </a:t>
            </a:r>
            <a:r>
              <a:rPr sz="2750" spc="-15" dirty="0">
                <a:latin typeface="Calibri"/>
                <a:cs typeface="Calibri"/>
              </a:rPr>
              <a:t>is is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57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bottleneck</a:t>
            </a:r>
            <a:endParaRPr sz="2750">
              <a:latin typeface="Calibri"/>
              <a:cs typeface="Calibri"/>
            </a:endParaRPr>
          </a:p>
          <a:p>
            <a:pPr marL="336550" indent="-324485">
              <a:lnSpc>
                <a:spcPts val="3835"/>
              </a:lnSpc>
              <a:spcBef>
                <a:spcPts val="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25" dirty="0">
                <a:latin typeface="Calibri"/>
                <a:cs typeface="Calibri"/>
              </a:rPr>
              <a:t>Handling </a:t>
            </a:r>
            <a:r>
              <a:rPr sz="3200" spc="15" dirty="0">
                <a:latin typeface="Calibri"/>
                <a:cs typeface="Calibri"/>
              </a:rPr>
              <a:t>machine</a:t>
            </a:r>
            <a:r>
              <a:rPr sz="3200" spc="-375" dirty="0"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failures</a:t>
            </a:r>
            <a:endParaRPr sz="3200">
              <a:latin typeface="Calibri"/>
              <a:cs typeface="Calibri"/>
            </a:endParaRPr>
          </a:p>
          <a:p>
            <a:pPr marL="336550" indent="-324485">
              <a:lnSpc>
                <a:spcPts val="3829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25" dirty="0">
                <a:latin typeface="Calibri"/>
                <a:cs typeface="Calibri"/>
              </a:rPr>
              <a:t>Managing </a:t>
            </a:r>
            <a:r>
              <a:rPr sz="3200" spc="-10" dirty="0">
                <a:latin typeface="Calibri"/>
                <a:cs typeface="Calibri"/>
              </a:rPr>
              <a:t>required</a:t>
            </a:r>
            <a:r>
              <a:rPr sz="3200" spc="-27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inter-machine</a:t>
            </a:r>
            <a:endParaRPr sz="3200">
              <a:latin typeface="Calibri"/>
              <a:cs typeface="Calibri"/>
            </a:endParaRPr>
          </a:p>
          <a:p>
            <a:pPr marL="336550">
              <a:lnSpc>
                <a:spcPts val="3835"/>
              </a:lnSpc>
            </a:pP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communication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5138801" cy="5857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243913"/>
            <a:ext cx="7338059" cy="3929379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20" dirty="0">
                <a:solidFill>
                  <a:srgbClr val="FF0066"/>
                </a:solidFill>
                <a:latin typeface="Calibri"/>
                <a:cs typeface="Calibri"/>
              </a:rPr>
              <a:t>Map </a:t>
            </a:r>
            <a:r>
              <a:rPr sz="3200" b="1" dirty="0">
                <a:solidFill>
                  <a:srgbClr val="FF0066"/>
                </a:solidFill>
                <a:latin typeface="Calibri"/>
                <a:cs typeface="Calibri"/>
              </a:rPr>
              <a:t>worker</a:t>
            </a:r>
            <a:r>
              <a:rPr sz="3200" b="1" spc="-22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FF0066"/>
                </a:solidFill>
                <a:latin typeface="Calibri"/>
                <a:cs typeface="Calibri"/>
              </a:rPr>
              <a:t>failure</a:t>
            </a:r>
            <a:endParaRPr sz="3200">
              <a:latin typeface="Calibri"/>
              <a:cs typeface="Calibri"/>
            </a:endParaRPr>
          </a:p>
          <a:p>
            <a:pPr marL="632460" marR="904240" lvl="1" indent="-276860">
              <a:lnSpc>
                <a:spcPct val="102400"/>
              </a:lnSpc>
              <a:spcBef>
                <a:spcPts val="66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30" dirty="0">
                <a:latin typeface="Calibri"/>
                <a:cs typeface="Calibri"/>
              </a:rPr>
              <a:t>Map </a:t>
            </a:r>
            <a:r>
              <a:rPr sz="2750" dirty="0">
                <a:latin typeface="Calibri"/>
                <a:cs typeface="Calibri"/>
              </a:rPr>
              <a:t>tasks completed </a:t>
            </a:r>
            <a:r>
              <a:rPr sz="2750" spc="25" dirty="0">
                <a:latin typeface="Calibri"/>
                <a:cs typeface="Calibri"/>
              </a:rPr>
              <a:t>or </a:t>
            </a:r>
            <a:r>
              <a:rPr sz="2750" spc="-10" dirty="0">
                <a:latin typeface="Calibri"/>
                <a:cs typeface="Calibri"/>
              </a:rPr>
              <a:t>in-progress </a:t>
            </a:r>
            <a:r>
              <a:rPr sz="2750" spc="15" dirty="0">
                <a:latin typeface="Calibri"/>
                <a:cs typeface="Calibri"/>
              </a:rPr>
              <a:t>at  </a:t>
            </a:r>
            <a:r>
              <a:rPr sz="2750" spc="-5" dirty="0">
                <a:latin typeface="Calibri"/>
                <a:cs typeface="Calibri"/>
              </a:rPr>
              <a:t>worker </a:t>
            </a:r>
            <a:r>
              <a:rPr sz="2750" spc="15" dirty="0">
                <a:latin typeface="Calibri"/>
                <a:cs typeface="Calibri"/>
              </a:rPr>
              <a:t>are </a:t>
            </a:r>
            <a:r>
              <a:rPr sz="2750" spc="-10" dirty="0">
                <a:latin typeface="Calibri"/>
                <a:cs typeface="Calibri"/>
              </a:rPr>
              <a:t>reset to </a:t>
            </a:r>
            <a:r>
              <a:rPr sz="2750" spc="-20" dirty="0">
                <a:latin typeface="Calibri"/>
                <a:cs typeface="Calibri"/>
              </a:rPr>
              <a:t>idle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37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rescheduled</a:t>
            </a:r>
            <a:endParaRPr sz="2750">
              <a:latin typeface="Calibri"/>
              <a:cs typeface="Calibri"/>
            </a:endParaRPr>
          </a:p>
          <a:p>
            <a:pPr marL="632460" marR="8255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15" dirty="0">
                <a:latin typeface="Calibri"/>
                <a:cs typeface="Calibri"/>
              </a:rPr>
              <a:t>Reduce workers </a:t>
            </a:r>
            <a:r>
              <a:rPr sz="2750" spc="15" dirty="0">
                <a:latin typeface="Calibri"/>
                <a:cs typeface="Calibri"/>
              </a:rPr>
              <a:t>are </a:t>
            </a:r>
            <a:r>
              <a:rPr sz="2750" spc="-15" dirty="0">
                <a:latin typeface="Calibri"/>
                <a:cs typeface="Calibri"/>
              </a:rPr>
              <a:t>notified when </a:t>
            </a:r>
            <a:r>
              <a:rPr sz="2750" spc="30" dirty="0">
                <a:latin typeface="Calibri"/>
                <a:cs typeface="Calibri"/>
              </a:rPr>
              <a:t>map </a:t>
            </a:r>
            <a:r>
              <a:rPr sz="2750" spc="-5" dirty="0">
                <a:latin typeface="Calibri"/>
                <a:cs typeface="Calibri"/>
              </a:rPr>
              <a:t>task </a:t>
            </a:r>
            <a:r>
              <a:rPr sz="2750" spc="-15" dirty="0">
                <a:latin typeface="Calibri"/>
                <a:cs typeface="Calibri"/>
              </a:rPr>
              <a:t>is  rescheduled </a:t>
            </a:r>
            <a:r>
              <a:rPr sz="2750" spc="30" dirty="0">
                <a:latin typeface="Calibri"/>
                <a:cs typeface="Calibri"/>
              </a:rPr>
              <a:t>on </a:t>
            </a:r>
            <a:r>
              <a:rPr sz="2750" spc="-5" dirty="0">
                <a:latin typeface="Calibri"/>
                <a:cs typeface="Calibri"/>
              </a:rPr>
              <a:t>another</a:t>
            </a:r>
            <a:r>
              <a:rPr sz="2750" spc="-17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worker</a:t>
            </a:r>
            <a:endParaRPr sz="2750">
              <a:latin typeface="Calibri"/>
              <a:cs typeface="Calibri"/>
            </a:endParaRPr>
          </a:p>
          <a:p>
            <a:pPr marL="336550" indent="-324485">
              <a:lnSpc>
                <a:spcPct val="100000"/>
              </a:lnSpc>
              <a:spcBef>
                <a:spcPts val="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5" dirty="0">
                <a:solidFill>
                  <a:srgbClr val="FF0066"/>
                </a:solidFill>
                <a:latin typeface="Calibri"/>
                <a:cs typeface="Calibri"/>
              </a:rPr>
              <a:t>Reduce </a:t>
            </a:r>
            <a:r>
              <a:rPr sz="3200" b="1" dirty="0">
                <a:solidFill>
                  <a:srgbClr val="FF0066"/>
                </a:solidFill>
                <a:latin typeface="Calibri"/>
                <a:cs typeface="Calibri"/>
              </a:rPr>
              <a:t>worker</a:t>
            </a:r>
            <a:r>
              <a:rPr sz="3200" b="1" spc="-17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66"/>
                </a:solidFill>
                <a:latin typeface="Calibri"/>
                <a:cs typeface="Calibri"/>
              </a:rPr>
              <a:t>failure</a:t>
            </a:r>
            <a:endParaRPr sz="3200">
              <a:latin typeface="Calibri"/>
              <a:cs typeface="Calibri"/>
            </a:endParaRPr>
          </a:p>
          <a:p>
            <a:pPr marL="632460" marR="5080" lvl="1" indent="-276860">
              <a:lnSpc>
                <a:spcPct val="102400"/>
              </a:lnSpc>
              <a:spcBef>
                <a:spcPts val="66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dirty="0">
                <a:latin typeface="Calibri"/>
                <a:cs typeface="Calibri"/>
              </a:rPr>
              <a:t>Only </a:t>
            </a:r>
            <a:r>
              <a:rPr sz="2750" spc="-15" dirty="0">
                <a:latin typeface="Calibri"/>
                <a:cs typeface="Calibri"/>
              </a:rPr>
              <a:t>in-progress </a:t>
            </a:r>
            <a:r>
              <a:rPr sz="2750" dirty="0">
                <a:latin typeface="Calibri"/>
                <a:cs typeface="Calibri"/>
              </a:rPr>
              <a:t>tasks </a:t>
            </a:r>
            <a:r>
              <a:rPr sz="2750" spc="15" dirty="0">
                <a:latin typeface="Calibri"/>
                <a:cs typeface="Calibri"/>
              </a:rPr>
              <a:t>are </a:t>
            </a:r>
            <a:r>
              <a:rPr sz="2750" spc="-10" dirty="0">
                <a:latin typeface="Calibri"/>
                <a:cs typeface="Calibri"/>
              </a:rPr>
              <a:t>reset </a:t>
            </a:r>
            <a:r>
              <a:rPr sz="2750" spc="-5" dirty="0">
                <a:latin typeface="Calibri"/>
                <a:cs typeface="Calibri"/>
              </a:rPr>
              <a:t>to </a:t>
            </a:r>
            <a:r>
              <a:rPr sz="2750" spc="-20" dirty="0">
                <a:latin typeface="Calibri"/>
                <a:cs typeface="Calibri"/>
              </a:rPr>
              <a:t>idle </a:t>
            </a:r>
            <a:r>
              <a:rPr sz="2750" spc="5" dirty="0">
                <a:latin typeface="Calibri"/>
                <a:cs typeface="Calibri"/>
              </a:rPr>
              <a:t>and </a:t>
            </a:r>
            <a:r>
              <a:rPr sz="2750" spc="-10" dirty="0">
                <a:latin typeface="Calibri"/>
                <a:cs typeface="Calibri"/>
              </a:rPr>
              <a:t>the  </a:t>
            </a:r>
            <a:r>
              <a:rPr sz="2750" dirty="0">
                <a:latin typeface="Calibri"/>
                <a:cs typeface="Calibri"/>
              </a:rPr>
              <a:t>reduce </a:t>
            </a:r>
            <a:r>
              <a:rPr sz="2750" spc="-5" dirty="0">
                <a:latin typeface="Calibri"/>
                <a:cs typeface="Calibri"/>
              </a:rPr>
              <a:t>task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229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restarted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56288-4385-4E0E-BBA0-506828F12279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Application Areas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0A9B5B5E-FCAB-4376-AD38-1BD4898CED4F}"/>
              </a:ext>
            </a:extLst>
          </p:cNvPr>
          <p:cNvSpPr txBox="1"/>
          <p:nvPr/>
        </p:nvSpPr>
        <p:spPr>
          <a:xfrm>
            <a:off x="614362" y="1243913"/>
            <a:ext cx="8301038" cy="5476498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Server log analysis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Finding popular URLs</a:t>
            </a:r>
          </a:p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b="1" dirty="0">
                <a:solidFill>
                  <a:schemeClr val="accent2">
                    <a:lumMod val="75000"/>
                  </a:schemeClr>
                </a:solidFill>
                <a:latin typeface="Calibri"/>
                <a:cs typeface="Calibri"/>
              </a:rPr>
              <a:t>Information Retrieval System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Calculating term frequency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b="1" dirty="0">
                <a:solidFill>
                  <a:schemeClr val="accent4">
                    <a:lumMod val="75000"/>
                  </a:schemeClr>
                </a:solidFill>
                <a:latin typeface="Calibri"/>
                <a:cs typeface="Calibri"/>
              </a:rPr>
              <a:t>Language Model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Calculating n-gram 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Statistical Computation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Calculating mean, variance, max, min etc.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AU" sz="3200" dirty="0">
              <a:latin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32AE6-944E-4BD1-BE8C-F803EEC667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371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56288-4385-4E0E-BBA0-506828F12279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Refinements: Combiners (1)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0A9B5B5E-FCAB-4376-AD38-1BD4898CED4F}"/>
              </a:ext>
            </a:extLst>
          </p:cNvPr>
          <p:cNvSpPr txBox="1"/>
          <p:nvPr/>
        </p:nvSpPr>
        <p:spPr>
          <a:xfrm>
            <a:off x="614362" y="1243913"/>
            <a:ext cx="8301038" cy="51302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Often a Map task will produce many pairs of the following form</a:t>
            </a:r>
          </a:p>
          <a:p>
            <a:pPr marL="12065">
              <a:spcBef>
                <a:spcPts val="944"/>
              </a:spcBef>
              <a:buClr>
                <a:srgbClr val="EFAC00"/>
              </a:buClr>
              <a:buSzPct val="79687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			 (k, v1), (k, v2), … for the same key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Popular words in the word count example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It is possible to save network time by pre-aggregating values in the mapper.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solidFill>
                  <a:schemeClr val="tx2"/>
                </a:solidFill>
                <a:latin typeface="Calibri"/>
                <a:cs typeface="Calibri"/>
              </a:rPr>
              <a:t>Combine (k, list(v1))</a:t>
            </a:r>
            <a:r>
              <a:rPr lang="en-AU" sz="3200" dirty="0">
                <a:latin typeface="Calibri"/>
                <a:cs typeface="Calibri"/>
              </a:rPr>
              <a:t> </a:t>
            </a:r>
            <a:r>
              <a:rPr lang="en-AU" sz="3200" dirty="0">
                <a:latin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AU" sz="3200" dirty="0">
                <a:solidFill>
                  <a:srgbClr val="FF0000"/>
                </a:solidFill>
                <a:latin typeface="Calibri"/>
                <a:cs typeface="Calibri"/>
                <a:sym typeface="Wingdings" panose="05000000000000000000" pitchFamily="2" charset="2"/>
              </a:rPr>
              <a:t>(k, v1’)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b="1" dirty="0">
                <a:latin typeface="Calibri"/>
                <a:cs typeface="Calibri"/>
                <a:sym typeface="Wingdings" panose="05000000000000000000" pitchFamily="2" charset="2"/>
              </a:rPr>
              <a:t>Combiner is usually the same as the reduce function</a:t>
            </a:r>
            <a:endParaRPr lang="en-AU" sz="3200" b="1" dirty="0">
              <a:latin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32AE6-944E-4BD1-BE8C-F803EEC667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198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20EE92-5FC5-4FBE-B107-3E09DED9B536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Refinements: Combiners (2)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D84E87F-C5E9-420D-A045-3F7AF41BD650}"/>
              </a:ext>
            </a:extLst>
          </p:cNvPr>
          <p:cNvSpPr txBox="1"/>
          <p:nvPr/>
        </p:nvSpPr>
        <p:spPr>
          <a:xfrm>
            <a:off x="614362" y="1243913"/>
            <a:ext cx="8301038" cy="2321788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Combiner trick works only if reduce function is commutative and associative.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Example: Sum function</a:t>
            </a:r>
          </a:p>
          <a:p>
            <a:pPr marL="12065">
              <a:spcBef>
                <a:spcPts val="944"/>
              </a:spcBef>
              <a:buClr>
                <a:srgbClr val="EFAC00"/>
              </a:buClr>
              <a:buSzPct val="79687"/>
              <a:tabLst>
                <a:tab pos="337185" algn="l"/>
              </a:tabLst>
            </a:pPr>
            <a:endParaRPr lang="en-AU"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5772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20EE92-5FC5-4FBE-B107-3E09DED9B536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Refinements: Combiners (3)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D84E87F-C5E9-420D-A045-3F7AF41BD650}"/>
              </a:ext>
            </a:extLst>
          </p:cNvPr>
          <p:cNvSpPr txBox="1"/>
          <p:nvPr/>
        </p:nvSpPr>
        <p:spPr>
          <a:xfrm>
            <a:off x="614362" y="1243913"/>
            <a:ext cx="8301038" cy="1221487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How about </a:t>
            </a:r>
            <a:r>
              <a:rPr lang="en-AU" sz="3200" dirty="0">
                <a:solidFill>
                  <a:srgbClr val="00B050"/>
                </a:solidFill>
                <a:latin typeface="Calibri"/>
                <a:cs typeface="Calibri"/>
              </a:rPr>
              <a:t>average</a:t>
            </a:r>
            <a:r>
              <a:rPr lang="en-AU" sz="3200" dirty="0">
                <a:latin typeface="Calibri"/>
                <a:cs typeface="Calibri"/>
              </a:rPr>
              <a:t> function?</a:t>
            </a:r>
          </a:p>
          <a:p>
            <a:pPr marL="12065">
              <a:spcBef>
                <a:spcPts val="944"/>
              </a:spcBef>
              <a:buClr>
                <a:srgbClr val="EFAC00"/>
              </a:buClr>
              <a:buSzPct val="79687"/>
              <a:tabLst>
                <a:tab pos="337185" algn="l"/>
              </a:tabLst>
            </a:pPr>
            <a:endParaRPr lang="en-AU"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7860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20EE92-5FC5-4FBE-B107-3E09DED9B536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Refinements: Partition Function (1)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D84E87F-C5E9-420D-A045-3F7AF41BD650}"/>
              </a:ext>
            </a:extLst>
          </p:cNvPr>
          <p:cNvSpPr txBox="1"/>
          <p:nvPr/>
        </p:nvSpPr>
        <p:spPr>
          <a:xfrm>
            <a:off x="614362" y="1243913"/>
            <a:ext cx="8301038" cy="414536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Want to control how keys get partitioned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The set of keys that go to a single reducer worker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Hadoop uses a default partition function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b="1" dirty="0">
                <a:latin typeface="Calibri"/>
                <a:cs typeface="Calibri"/>
              </a:rPr>
              <a:t>Hash(key) mod R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solidFill>
                  <a:srgbClr val="00B050"/>
                </a:solidFill>
                <a:latin typeface="Calibri"/>
                <a:cs typeface="Calibri"/>
              </a:rPr>
              <a:t>Sometimes useful to override the hash function</a:t>
            </a:r>
          </a:p>
          <a:p>
            <a:pPr marL="12065">
              <a:spcBef>
                <a:spcPts val="944"/>
              </a:spcBef>
              <a:buClr>
                <a:srgbClr val="EFAC00"/>
              </a:buClr>
              <a:buSzPct val="79687"/>
              <a:tabLst>
                <a:tab pos="337185" algn="l"/>
              </a:tabLst>
            </a:pPr>
            <a:endParaRPr lang="en-AU"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2105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20EE92-5FC5-4FBE-B107-3E09DED9B536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Refinements: Partition Function (2)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D84E87F-C5E9-420D-A045-3F7AF41BD650}"/>
              </a:ext>
            </a:extLst>
          </p:cNvPr>
          <p:cNvSpPr txBox="1"/>
          <p:nvPr/>
        </p:nvSpPr>
        <p:spPr>
          <a:xfrm>
            <a:off x="614362" y="1243913"/>
            <a:ext cx="8301038" cy="5176416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latin typeface="Calibri"/>
                <a:cs typeface="Calibri"/>
              </a:rPr>
              <a:t>Consider the following dataset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AU" sz="3200" dirty="0">
              <a:latin typeface="Calibri"/>
              <a:cs typeface="Calibri"/>
            </a:endParaRP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AU" sz="3200" dirty="0">
              <a:latin typeface="Calibri"/>
              <a:cs typeface="Calibri"/>
            </a:endParaRP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AU" sz="3200" dirty="0">
              <a:latin typeface="Calibri"/>
              <a:cs typeface="Calibri"/>
            </a:endParaRP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AU" sz="3200" dirty="0">
              <a:latin typeface="Calibri"/>
              <a:cs typeface="Calibri"/>
            </a:endParaRP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AU" sz="3200" dirty="0">
              <a:latin typeface="Calibri"/>
              <a:cs typeface="Calibri"/>
            </a:endParaRP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latin typeface="Calibri"/>
                <a:cs typeface="Calibri"/>
              </a:rPr>
              <a:t>Find maximum score for both male and female groups.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latin typeface="Calibri"/>
                <a:cs typeface="Calibri"/>
              </a:rPr>
              <a:t>First, write a map function that generates male/female as the key and the score as the value.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1AAC60D-C446-4AD8-B9D7-6DBA23722C0C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94564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91412903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82909568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49908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64017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Gender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Score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104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Alice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787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Bob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365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Chris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686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Dona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193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Elton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86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Fiona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99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578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649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20EE92-5FC5-4FBE-B107-3E09DED9B536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Refinements: Partition Function (3)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D84E87F-C5E9-420D-A045-3F7AF41BD650}"/>
              </a:ext>
            </a:extLst>
          </p:cNvPr>
          <p:cNvSpPr txBox="1"/>
          <p:nvPr/>
        </p:nvSpPr>
        <p:spPr>
          <a:xfrm>
            <a:off x="614362" y="1243913"/>
            <a:ext cx="8301038" cy="613629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065">
              <a:spcBef>
                <a:spcPts val="944"/>
              </a:spcBef>
              <a:buClr>
                <a:srgbClr val="EFAC00"/>
              </a:buClr>
              <a:buSzPct val="79687"/>
              <a:tabLst>
                <a:tab pos="337185" algn="l"/>
              </a:tabLst>
            </a:pPr>
            <a:endParaRPr lang="en-AU" sz="3200" dirty="0">
              <a:latin typeface="Calibri"/>
              <a:cs typeface="Calibri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A7854C71-495F-4F2B-B388-EBB47C10A498}"/>
              </a:ext>
            </a:extLst>
          </p:cNvPr>
          <p:cNvSpPr txBox="1"/>
          <p:nvPr/>
        </p:nvSpPr>
        <p:spPr>
          <a:xfrm>
            <a:off x="228600" y="1243913"/>
            <a:ext cx="8686800" cy="4945584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065">
              <a:spcBef>
                <a:spcPts val="944"/>
              </a:spcBef>
              <a:buClr>
                <a:srgbClr val="EFAC00"/>
              </a:buClr>
              <a:buSzPct val="79687"/>
              <a:tabLst>
                <a:tab pos="337185" algn="l"/>
              </a:tabLst>
            </a:pP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20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CustomPartitioner</a:t>
            </a: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</a:p>
          <a:p>
            <a:pPr marL="12065">
              <a:spcBef>
                <a:spcPts val="944"/>
              </a:spcBef>
              <a:buClr>
                <a:srgbClr val="EFAC00"/>
              </a:buClr>
              <a:buSzPct val="79687"/>
              <a:tabLst>
                <a:tab pos="337185" algn="l"/>
              </a:tabLst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Partitioner&lt;Text, Text&gt;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static int </a:t>
            </a:r>
            <a:r>
              <a:rPr lang="en-US" sz="20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getPartition</a:t>
            </a: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(Text key, Text value,</a:t>
            </a:r>
          </a:p>
          <a:p>
            <a:pPr marL="12065">
              <a:spcBef>
                <a:spcPts val="944"/>
              </a:spcBef>
              <a:buClr>
                <a:srgbClr val="EFAC00"/>
              </a:buClr>
              <a:buSzPct val="79687"/>
              <a:tabLst>
                <a:tab pos="337185" algn="l"/>
              </a:tabLst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</a:t>
            </a: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numReduceTasks</a:t>
            </a: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12065">
              <a:spcBef>
                <a:spcPts val="944"/>
              </a:spcBef>
              <a:buClr>
                <a:srgbClr val="EFAC00"/>
              </a:buClr>
              <a:buSzPct val="79687"/>
              <a:tabLst>
                <a:tab pos="337185" algn="l"/>
              </a:tabLst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sz="20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numReduceTasks</a:t>
            </a: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==0) { return 0; }</a:t>
            </a:r>
          </a:p>
          <a:p>
            <a:pPr marL="12065">
              <a:spcBef>
                <a:spcPts val="944"/>
              </a:spcBef>
              <a:buClr>
                <a:srgbClr val="EFAC00"/>
              </a:buClr>
              <a:buSzPct val="79687"/>
              <a:tabLst>
                <a:tab pos="337185" algn="l"/>
              </a:tabLst>
            </a:pP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sz="20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key.equals</a:t>
            </a: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(new Text(“Male”)) { return 0; }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 { return 1; }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69265" indent="-457200">
              <a:spcBef>
                <a:spcPts val="944"/>
              </a:spcBef>
              <a:buClr>
                <a:srgbClr val="EFAC00"/>
              </a:buClr>
              <a:buSzPct val="79687"/>
              <a:buFont typeface="Arial" panose="020B0604020202020204" pitchFamily="34" charset="0"/>
              <a:buChar char="•"/>
              <a:tabLst>
                <a:tab pos="337185" algn="l"/>
              </a:tabLst>
            </a:pPr>
            <a:r>
              <a:rPr lang="en-US" sz="2800" dirty="0">
                <a:latin typeface="+mj-lt"/>
                <a:cs typeface="Courier New" panose="02070309020205020404" pitchFamily="49" charset="0"/>
              </a:rPr>
              <a:t>Set the number of reduce tasks by using </a:t>
            </a:r>
            <a:r>
              <a:rPr lang="en-US" sz="2800" dirty="0" err="1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job.setNumReduceTasks</a:t>
            </a:r>
            <a:r>
              <a:rPr lang="en-US" sz="2800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(int)</a:t>
            </a:r>
            <a:endParaRPr lang="en-AU" sz="2800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622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BD0F6-8BCB-96CF-6179-FA64E2C9F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078FBB-FB7E-9010-1C36-563DFB7FC05D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Partitioner in </a:t>
            </a:r>
            <a:r>
              <a:rPr lang="en-AU" sz="4000" dirty="0" err="1">
                <a:solidFill>
                  <a:srgbClr val="FFFF00"/>
                </a:solidFill>
                <a:latin typeface="Palatino Linotype" panose="02040502050505030304" pitchFamily="18" charset="0"/>
              </a:rPr>
              <a:t>MRJob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1DA70BD-6E19-0C08-8251-1AE3515FF294}"/>
              </a:ext>
            </a:extLst>
          </p:cNvPr>
          <p:cNvSpPr txBox="1"/>
          <p:nvPr/>
        </p:nvSpPr>
        <p:spPr>
          <a:xfrm>
            <a:off x="614362" y="1243913"/>
            <a:ext cx="8301038" cy="613629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065">
              <a:spcBef>
                <a:spcPts val="944"/>
              </a:spcBef>
              <a:buClr>
                <a:srgbClr val="EFAC00"/>
              </a:buClr>
              <a:buSzPct val="79687"/>
              <a:tabLst>
                <a:tab pos="337185" algn="l"/>
              </a:tabLst>
            </a:pPr>
            <a:endParaRPr lang="en-AU" sz="3200" dirty="0">
              <a:latin typeface="Calibri"/>
              <a:cs typeface="Calibri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BA609165-E09D-9D6A-F495-32292DBE75C1}"/>
              </a:ext>
            </a:extLst>
          </p:cNvPr>
          <p:cNvSpPr txBox="1"/>
          <p:nvPr/>
        </p:nvSpPr>
        <p:spPr>
          <a:xfrm>
            <a:off x="228600" y="1243913"/>
            <a:ext cx="8686800" cy="552073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065">
              <a:spcBef>
                <a:spcPts val="944"/>
              </a:spcBef>
              <a:buClr>
                <a:srgbClr val="EFAC00"/>
              </a:buClr>
              <a:buSzPct val="79687"/>
              <a:tabLst>
                <a:tab pos="337185" algn="l"/>
              </a:tabLst>
            </a:pPr>
            <a:endParaRPr lang="en-AU" sz="2800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BEA3A4-0EAD-D8CA-3BFA-96C8281B4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24" y="1501799"/>
            <a:ext cx="7309338" cy="146990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Ctr="0" compatLnSpc="1">
            <a:prstTxWarp prst="textNoShape">
              <a:avLst/>
            </a:prstTxWarp>
            <a:normAutofit/>
          </a:bodyPr>
          <a:lstStyle/>
          <a:p>
            <a:pPr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sz="3200" b="1" dirty="0">
                <a:solidFill>
                  <a:schemeClr val="hlink"/>
                </a:solidFill>
                <a:latin typeface="Calibri"/>
                <a:cs typeface="Calibri"/>
              </a:rPr>
              <a:t>B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hlink"/>
                </a:solidFill>
                <a:effectLst/>
                <a:latin typeface="Calibri"/>
                <a:ea typeface="+mn-ea"/>
                <a:cs typeface="Calibri"/>
              </a:rPr>
              <a:t>uilt-in Hadoop partitioners you can use:</a:t>
            </a:r>
          </a:p>
          <a:p>
            <a:pPr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hlink"/>
              </a:solidFill>
              <a:effectLst/>
              <a:latin typeface="Calibri"/>
              <a:ea typeface="+mn-ea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B034DB-15BC-1EF8-0996-E6CE9ECF6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506619"/>
              </p:ext>
            </p:extLst>
          </p:nvPr>
        </p:nvGraphicFramePr>
        <p:xfrm>
          <a:off x="614362" y="2415005"/>
          <a:ext cx="7767638" cy="1664767"/>
        </p:xfrm>
        <a:graphic>
          <a:graphicData uri="http://schemas.openxmlformats.org/drawingml/2006/table">
            <a:tbl>
              <a:tblPr/>
              <a:tblGrid>
                <a:gridCol w="3878866">
                  <a:extLst>
                    <a:ext uri="{9D8B030D-6E8A-4147-A177-3AD203B41FA5}">
                      <a16:colId xmlns:a16="http://schemas.microsoft.com/office/drawing/2014/main" val="1806143991"/>
                    </a:ext>
                  </a:extLst>
                </a:gridCol>
                <a:gridCol w="3888772">
                  <a:extLst>
                    <a:ext uri="{9D8B030D-6E8A-4147-A177-3AD203B41FA5}">
                      <a16:colId xmlns:a16="http://schemas.microsoft.com/office/drawing/2014/main" val="3860868006"/>
                    </a:ext>
                  </a:extLst>
                </a:gridCol>
              </a:tblGrid>
              <a:tr h="2694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Partitioner</a:t>
                      </a:r>
                    </a:p>
                  </a:txBody>
                  <a:tcPr marL="61247" marR="61247" marT="30623" marB="30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61247" marR="61247" marT="30623" marB="30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490432"/>
                  </a:ext>
                </a:extLst>
              </a:tr>
              <a:tr h="4532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 err="1">
                          <a:effectLst/>
                          <a:latin typeface="Courier New" panose="02070309020205020404" pitchFamily="49" charset="0"/>
                        </a:rPr>
                        <a:t>HashPartitioner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47" marR="61247" marT="30623" marB="30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Default, uses hash of key</a:t>
                      </a:r>
                    </a:p>
                  </a:txBody>
                  <a:tcPr marL="61247" marR="61247" marT="30623" marB="30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390536"/>
                  </a:ext>
                </a:extLst>
              </a:tr>
              <a:tr h="4532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Courier New" panose="02070309020205020404" pitchFamily="49" charset="0"/>
                        </a:rPr>
                        <a:t>TotalOrderPartitioner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47" marR="61247" marT="30623" marB="30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Guarantees globally sorted output</a:t>
                      </a:r>
                    </a:p>
                  </a:txBody>
                  <a:tcPr marL="61247" marR="61247" marT="30623" marB="30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264981"/>
                  </a:ext>
                </a:extLst>
              </a:tr>
              <a:tr h="4532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Courier New" panose="02070309020205020404" pitchFamily="49" charset="0"/>
                        </a:rPr>
                        <a:t>KeyFieldBasedPartitioner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47" marR="61247" marT="30623" marB="30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Partition by specific fields in key</a:t>
                      </a:r>
                    </a:p>
                  </a:txBody>
                  <a:tcPr marL="61247" marR="61247" marT="30623" marB="30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69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492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4571D-A1D5-1E48-4DE7-BA381CFB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A5AEAC44-F24A-3382-64D8-2EE72D1ABCBE}"/>
              </a:ext>
            </a:extLst>
          </p:cNvPr>
          <p:cNvSpPr txBox="1"/>
          <p:nvPr/>
        </p:nvSpPr>
        <p:spPr>
          <a:xfrm>
            <a:off x="614362" y="1243913"/>
            <a:ext cx="8301038" cy="613629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065">
              <a:spcBef>
                <a:spcPts val="944"/>
              </a:spcBef>
              <a:buClr>
                <a:srgbClr val="EFAC00"/>
              </a:buClr>
              <a:buSzPct val="79687"/>
              <a:tabLst>
                <a:tab pos="337185" algn="l"/>
              </a:tabLst>
            </a:pPr>
            <a:endParaRPr lang="en-AU" sz="3200" dirty="0">
              <a:latin typeface="Calibri"/>
              <a:cs typeface="Calibri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E75F7C-8F63-F205-9934-14076E1ADA1E}"/>
              </a:ext>
            </a:extLst>
          </p:cNvPr>
          <p:cNvGrpSpPr/>
          <p:nvPr/>
        </p:nvGrpSpPr>
        <p:grpSpPr>
          <a:xfrm>
            <a:off x="914400" y="1371600"/>
            <a:ext cx="5324952" cy="5016744"/>
            <a:chOff x="1152047" y="1237944"/>
            <a:chExt cx="6839905" cy="66744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C6385FD-AE9A-0D8F-3B96-BEB425745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2047" y="1237944"/>
              <a:ext cx="6839905" cy="438211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61A554A-D678-3651-2091-865F201E2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2047" y="5626025"/>
              <a:ext cx="6811326" cy="2286319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55C081B-3CF4-8647-3851-6F2590453CCA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Example: Partitioner in </a:t>
            </a:r>
            <a:r>
              <a:rPr lang="en-AU" sz="4000" dirty="0" err="1">
                <a:solidFill>
                  <a:srgbClr val="FFFF00"/>
                </a:solidFill>
                <a:latin typeface="Palatino Linotype" panose="02040502050505030304" pitchFamily="18" charset="0"/>
              </a:rPr>
              <a:t>MRJob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83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20EE92-5FC5-4FBE-B107-3E09DED9B536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Implementations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D84E87F-C5E9-420D-A045-3F7AF41BD650}"/>
              </a:ext>
            </a:extLst>
          </p:cNvPr>
          <p:cNvSpPr txBox="1"/>
          <p:nvPr/>
        </p:nvSpPr>
        <p:spPr>
          <a:xfrm>
            <a:off x="614362" y="1113686"/>
            <a:ext cx="8301038" cy="5591914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400" b="1" dirty="0">
                <a:latin typeface="Calibri"/>
                <a:cs typeface="Calibri"/>
              </a:rPr>
              <a:t>Google MapReduce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400" dirty="0">
                <a:latin typeface="Calibri"/>
                <a:cs typeface="Calibri"/>
              </a:rPr>
              <a:t>Uses Google File System (GFS) for stable storage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400" dirty="0">
                <a:latin typeface="Calibri"/>
                <a:cs typeface="Calibri"/>
              </a:rPr>
              <a:t>Not available outside Google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400" dirty="0">
                <a:latin typeface="Calibri"/>
                <a:cs typeface="Calibri"/>
              </a:rPr>
              <a:t>Download and read these papers: 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400" dirty="0">
                <a:latin typeface="Calibri"/>
                <a:cs typeface="Calibri"/>
                <a:hlinkClick r:id="rId2"/>
              </a:rPr>
              <a:t>https://drive.google.com/drive/folders/1IhqwBAuun-vJHYHxES7QqblVvfnEyUDj?usp=sharing</a:t>
            </a:r>
            <a:endParaRPr lang="en-AU" sz="2400" dirty="0">
              <a:latin typeface="Calibri"/>
              <a:cs typeface="Calibri"/>
            </a:endParaRP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400" b="1" dirty="0">
                <a:latin typeface="Calibri"/>
                <a:cs typeface="Calibri"/>
              </a:rPr>
              <a:t>Hadoop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400" dirty="0">
                <a:latin typeface="Calibri"/>
                <a:cs typeface="Calibri"/>
              </a:rPr>
              <a:t>Open source implementation in Java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400" dirty="0">
                <a:latin typeface="Calibri"/>
                <a:cs typeface="Calibri"/>
              </a:rPr>
              <a:t>Uses HDFS for stable storage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400" b="1" dirty="0">
                <a:latin typeface="Calibri"/>
                <a:cs typeface="Calibri"/>
              </a:rPr>
              <a:t>Hive, Pig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400" dirty="0">
                <a:latin typeface="Calibri"/>
                <a:cs typeface="Calibri"/>
              </a:rPr>
              <a:t>Provide SQL-like abstractions on top of Hadoop MapReduce layer</a:t>
            </a:r>
          </a:p>
        </p:txBody>
      </p:sp>
    </p:spTree>
    <p:extLst>
      <p:ext uri="{BB962C8B-B14F-4D97-AF65-F5344CB8AC3E}">
        <p14:creationId xmlns:p14="http://schemas.microsoft.com/office/powerpoint/2010/main" val="2109664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20EE92-5FC5-4FBE-B107-3E09DED9B536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MapReduce in the Cloud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D84E87F-C5E9-420D-A045-3F7AF41BD650}"/>
              </a:ext>
            </a:extLst>
          </p:cNvPr>
          <p:cNvSpPr txBox="1"/>
          <p:nvPr/>
        </p:nvSpPr>
        <p:spPr>
          <a:xfrm>
            <a:off x="614362" y="1113686"/>
            <a:ext cx="8301038" cy="3045063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Ability to rent computing by the hour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Additional services such as persistent storage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Amazon’s Elastic Compute Cloud (EC2)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solidFill>
                  <a:srgbClr val="00B050"/>
                </a:solidFill>
                <a:latin typeface="Calibri"/>
                <a:cs typeface="Calibri"/>
              </a:rPr>
              <a:t>S3 (stable storage)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solidFill>
                  <a:schemeClr val="tx2"/>
                </a:solidFill>
                <a:latin typeface="Calibri"/>
                <a:cs typeface="Calibri"/>
              </a:rPr>
              <a:t>Elastic Map Reduce (EMR)</a:t>
            </a:r>
          </a:p>
        </p:txBody>
      </p:sp>
    </p:spTree>
    <p:extLst>
      <p:ext uri="{BB962C8B-B14F-4D97-AF65-F5344CB8AC3E}">
        <p14:creationId xmlns:p14="http://schemas.microsoft.com/office/powerpoint/2010/main" val="1931946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1337</TotalTime>
  <Words>1263</Words>
  <Application>Microsoft Office PowerPoint</Application>
  <PresentationFormat>On-screen Show (4:3)</PresentationFormat>
  <Paragraphs>228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Arial Narrow</vt:lpstr>
      <vt:lpstr>Calibri</vt:lpstr>
      <vt:lpstr>Corbel</vt:lpstr>
      <vt:lpstr>Courier New</vt:lpstr>
      <vt:lpstr>Palatino Linotype</vt:lpstr>
      <vt:lpstr>Times New Roman</vt:lpstr>
      <vt:lpstr>Wingdings</vt:lpstr>
      <vt:lpstr>Wingdings 2</vt:lpstr>
      <vt:lpstr>Office Theme</vt:lpstr>
      <vt:lpstr>PowerPoint Presentation</vt:lpstr>
      <vt:lpstr>PowerPoint Presentation</vt:lpstr>
      <vt:lpstr>3 steps of MapReduce</vt:lpstr>
      <vt:lpstr>PowerPoint Presentation</vt:lpstr>
      <vt:lpstr>PowerPoint Presentation</vt:lpstr>
      <vt:lpstr>PowerPoint Presentation</vt:lpstr>
      <vt:lpstr>key-value  pairs</vt:lpstr>
      <vt:lpstr>Example MapReduce task:</vt:lpstr>
      <vt:lpstr>Provided by the  programmer</vt:lpstr>
      <vt:lpstr>PowerPoint Presentation</vt:lpstr>
      <vt:lpstr>MapReduce environment takes care of: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Rezwan</dc:creator>
  <cp:lastModifiedBy>Rezwan Huq</cp:lastModifiedBy>
  <cp:revision>14</cp:revision>
  <dcterms:created xsi:type="dcterms:W3CDTF">2021-10-23T05:40:18Z</dcterms:created>
  <dcterms:modified xsi:type="dcterms:W3CDTF">2026-06-07T04:11:45Z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2021-03-30T00:00:00Z</vt:filetime>
  </property>
  <property fmtid="{D5CDD505-2E9C-101B-9397-08002B2CF9AE}" pid="3" name="LastSaved">
    <vt:filetime>2021-10-23T00:00:00Z</vt:filetime>
  </property>
</Properties>
</file>