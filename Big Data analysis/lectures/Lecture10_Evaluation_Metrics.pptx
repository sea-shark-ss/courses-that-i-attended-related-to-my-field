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348" r:id="rId2"/>
    <p:sldId id="1001" r:id="rId3"/>
    <p:sldId id="359" r:id="rId4"/>
    <p:sldId id="1002" r:id="rId5"/>
    <p:sldId id="1003" r:id="rId6"/>
    <p:sldId id="360" r:id="rId7"/>
    <p:sldId id="1004" r:id="rId8"/>
    <p:sldId id="361" r:id="rId9"/>
    <p:sldId id="362" r:id="rId10"/>
    <p:sldId id="363" r:id="rId11"/>
    <p:sldId id="364" r:id="rId12"/>
    <p:sldId id="373" r:id="rId13"/>
    <p:sldId id="374" r:id="rId1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r. Mohammad Rezwanul Huq" initials="DMRH" lastIdx="1" clrIdx="0">
    <p:extLst>
      <p:ext uri="{19B8F6BF-5375-455C-9EA6-DF929625EA0E}">
        <p15:presenceInfo xmlns:p15="http://schemas.microsoft.com/office/powerpoint/2012/main" userId="Dr. Mohammad Rezwanul Huq"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47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081C4647-674B-45E2-97B4-1E30E2285959}" type="datetimeFigureOut">
              <a:rPr lang="en-US" smtClean="0"/>
              <a:t>1/9/2025</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CAABDEC1-A130-4A18-95C6-FEC4553968A7}" type="slidenum">
              <a:rPr lang="en-US" smtClean="0"/>
              <a:t>‹#›</a:t>
            </a:fld>
            <a:endParaRPr lang="en-US"/>
          </a:p>
        </p:txBody>
      </p:sp>
    </p:spTree>
    <p:extLst>
      <p:ext uri="{BB962C8B-B14F-4D97-AF65-F5344CB8AC3E}">
        <p14:creationId xmlns:p14="http://schemas.microsoft.com/office/powerpoint/2010/main" val="31175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855778C6-BDE7-4397-A4D4-C998853030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eaLnBrk="0" hangingPunct="0">
              <a:defRPr sz="2400">
                <a:solidFill>
                  <a:schemeClr val="tx1"/>
                </a:solidFill>
                <a:latin typeface="Tahoma" panose="020B0604030504040204" pitchFamily="34" charset="0"/>
              </a:defRPr>
            </a:lvl1pPr>
            <a:lvl2pPr marL="742950" indent="-285750" defTabSz="928688" eaLnBrk="0" hangingPunct="0">
              <a:defRPr sz="2400">
                <a:solidFill>
                  <a:schemeClr val="tx1"/>
                </a:solidFill>
                <a:latin typeface="Tahoma" panose="020B0604030504040204" pitchFamily="34" charset="0"/>
              </a:defRPr>
            </a:lvl2pPr>
            <a:lvl3pPr marL="1143000" indent="-228600" defTabSz="928688" eaLnBrk="0" hangingPunct="0">
              <a:defRPr sz="2400">
                <a:solidFill>
                  <a:schemeClr val="tx1"/>
                </a:solidFill>
                <a:latin typeface="Tahoma" panose="020B0604030504040204" pitchFamily="34" charset="0"/>
              </a:defRPr>
            </a:lvl3pPr>
            <a:lvl4pPr marL="1600200" indent="-228600" defTabSz="928688" eaLnBrk="0" hangingPunct="0">
              <a:defRPr sz="2400">
                <a:solidFill>
                  <a:schemeClr val="tx1"/>
                </a:solidFill>
                <a:latin typeface="Tahoma" panose="020B0604030504040204" pitchFamily="34" charset="0"/>
              </a:defRPr>
            </a:lvl4pPr>
            <a:lvl5pPr marL="2057400" indent="-228600" defTabSz="928688" eaLnBrk="0" hangingPunct="0">
              <a:defRPr sz="2400">
                <a:solidFill>
                  <a:schemeClr val="tx1"/>
                </a:solidFill>
                <a:latin typeface="Tahoma" panose="020B0604030504040204" pitchFamily="34" charset="0"/>
              </a:defRPr>
            </a:lvl5pPr>
            <a:lvl6pPr marL="2514600" indent="-228600" algn="ctr" defTabSz="928688"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defTabSz="928688"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defTabSz="928688"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defTabSz="928688" eaLnBrk="0" fontAlgn="base" hangingPunct="0">
              <a:spcBef>
                <a:spcPct val="0"/>
              </a:spcBef>
              <a:spcAft>
                <a:spcPct val="0"/>
              </a:spcAft>
              <a:defRPr sz="2400">
                <a:solidFill>
                  <a:schemeClr val="tx1"/>
                </a:solidFill>
                <a:latin typeface="Tahoma" panose="020B0604030504040204" pitchFamily="34" charset="0"/>
              </a:defRPr>
            </a:lvl9pPr>
          </a:lstStyle>
          <a:p>
            <a:fld id="{05B3DCA9-2EE6-49AE-A741-16CEBDBD1439}" type="slidenum">
              <a:rPr lang="en-US" altLang="en-US" sz="1200">
                <a:latin typeface="Times New Roman" panose="02020603050405020304" pitchFamily="18" charset="0"/>
              </a:rPr>
              <a:pPr/>
              <a:t>2</a:t>
            </a:fld>
            <a:endParaRPr lang="en-US" altLang="en-US" sz="120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6" name="Holder 6"/>
          <p:cNvSpPr>
            <a:spLocks noGrp="1"/>
          </p:cNvSpPr>
          <p:nvPr>
            <p:ph type="sldNum" sz="quarter" idx="7"/>
          </p:nvPr>
        </p:nvSpPr>
        <p:spPr/>
        <p:txBody>
          <a:bodyPr lIns="0" tIns="0" rIns="0" bIns="0"/>
          <a:lstStyle>
            <a:lvl1pPr>
              <a:defRPr sz="900" b="0" i="0">
                <a:solidFill>
                  <a:srgbClr val="3E3E3E"/>
                </a:solidFill>
                <a:latin typeface="Calibri"/>
                <a:cs typeface="Calibri"/>
              </a:defRPr>
            </a:lvl1pPr>
          </a:lstStyle>
          <a:p>
            <a:pPr marL="38100">
              <a:lnSpc>
                <a:spcPts val="955"/>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200" b="1" i="0">
                <a:solidFill>
                  <a:schemeClr val="hlink"/>
                </a:solidFill>
                <a:latin typeface="Calibri"/>
                <a:cs typeface="Calibri"/>
              </a:defRPr>
            </a:lvl1pPr>
          </a:lstStyle>
          <a:p>
            <a:endParaRPr/>
          </a:p>
        </p:txBody>
      </p:sp>
      <p:sp>
        <p:nvSpPr>
          <p:cNvPr id="6" name="Holder 6"/>
          <p:cNvSpPr>
            <a:spLocks noGrp="1"/>
          </p:cNvSpPr>
          <p:nvPr>
            <p:ph type="sldNum" sz="quarter" idx="7"/>
          </p:nvPr>
        </p:nvSpPr>
        <p:spPr/>
        <p:txBody>
          <a:bodyPr lIns="0" tIns="0" rIns="0" bIns="0"/>
          <a:lstStyle>
            <a:lvl1pPr>
              <a:defRPr sz="900" b="0" i="0">
                <a:solidFill>
                  <a:srgbClr val="3E3E3E"/>
                </a:solidFill>
                <a:latin typeface="Calibri"/>
                <a:cs typeface="Calibri"/>
              </a:defRPr>
            </a:lvl1pPr>
          </a:lstStyle>
          <a:p>
            <a:pPr marL="38100">
              <a:lnSpc>
                <a:spcPts val="955"/>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999426"/>
            <a:ext cx="9144000" cy="110489"/>
          </a:xfrm>
          <a:prstGeom prst="rect">
            <a:avLst/>
          </a:prstGeom>
        </p:spPr>
      </p:pic>
      <p:sp>
        <p:nvSpPr>
          <p:cNvPr id="17" name="bg object 17"/>
          <p:cNvSpPr/>
          <p:nvPr/>
        </p:nvSpPr>
        <p:spPr>
          <a:xfrm>
            <a:off x="0" y="1019175"/>
            <a:ext cx="9144000" cy="47625"/>
          </a:xfrm>
          <a:custGeom>
            <a:avLst/>
            <a:gdLst/>
            <a:ahLst/>
            <a:cxnLst/>
            <a:rect l="l" t="t" r="r" b="b"/>
            <a:pathLst>
              <a:path w="9144000" h="47625">
                <a:moveTo>
                  <a:pt x="9144000" y="0"/>
                </a:moveTo>
                <a:lnTo>
                  <a:pt x="0" y="0"/>
                </a:lnTo>
                <a:lnTo>
                  <a:pt x="0" y="47625"/>
                </a:lnTo>
                <a:lnTo>
                  <a:pt x="9144000" y="47625"/>
                </a:lnTo>
                <a:lnTo>
                  <a:pt x="9144000" y="0"/>
                </a:lnTo>
                <a:close/>
              </a:path>
            </a:pathLst>
          </a:custGeom>
          <a:solidFill>
            <a:srgbClr val="FFFFFF"/>
          </a:solidFill>
        </p:spPr>
        <p:txBody>
          <a:bodyPr wrap="square" lIns="0" tIns="0" rIns="0" bIns="0" rtlCol="0"/>
          <a:lstStyle/>
          <a:p>
            <a:endParaRPr/>
          </a:p>
        </p:txBody>
      </p:sp>
      <p:sp>
        <p:nvSpPr>
          <p:cNvPr id="18" name="bg object 18"/>
          <p:cNvSpPr/>
          <p:nvPr/>
        </p:nvSpPr>
        <p:spPr>
          <a:xfrm>
            <a:off x="0" y="0"/>
            <a:ext cx="9144000" cy="1019175"/>
          </a:xfrm>
          <a:custGeom>
            <a:avLst/>
            <a:gdLst/>
            <a:ahLst/>
            <a:cxnLst/>
            <a:rect l="l" t="t" r="r" b="b"/>
            <a:pathLst>
              <a:path w="9144000" h="1019175">
                <a:moveTo>
                  <a:pt x="9144000" y="0"/>
                </a:moveTo>
                <a:lnTo>
                  <a:pt x="0" y="0"/>
                </a:lnTo>
                <a:lnTo>
                  <a:pt x="0" y="1019175"/>
                </a:lnTo>
                <a:lnTo>
                  <a:pt x="9144000" y="1019175"/>
                </a:lnTo>
                <a:lnTo>
                  <a:pt x="9144000" y="0"/>
                </a:lnTo>
                <a:close/>
              </a:path>
            </a:pathLst>
          </a:custGeom>
          <a:solidFill>
            <a:srgbClr val="000000"/>
          </a:solidFill>
        </p:spPr>
        <p:txBody>
          <a:bodyPr wrap="square" lIns="0" tIns="0" rIns="0" bIns="0" rtlCol="0"/>
          <a:lstStyle/>
          <a:p>
            <a:endParaRPr/>
          </a:p>
        </p:txBody>
      </p:sp>
      <p:pic>
        <p:nvPicPr>
          <p:cNvPr id="19" name="bg object 19"/>
          <p:cNvPicPr/>
          <p:nvPr/>
        </p:nvPicPr>
        <p:blipFill>
          <a:blip r:embed="rId3" cstate="print"/>
          <a:stretch>
            <a:fillRect/>
          </a:stretch>
        </p:blipFill>
        <p:spPr>
          <a:xfrm>
            <a:off x="571500" y="333311"/>
            <a:ext cx="6196076" cy="585787"/>
          </a:xfrm>
          <a:prstGeom prst="rect">
            <a:avLst/>
          </a:prstGeom>
        </p:spPr>
      </p:pic>
      <p:pic>
        <p:nvPicPr>
          <p:cNvPr id="20" name="bg object 20"/>
          <p:cNvPicPr/>
          <p:nvPr/>
        </p:nvPicPr>
        <p:blipFill>
          <a:blip r:embed="rId4" cstate="print"/>
          <a:stretch>
            <a:fillRect/>
          </a:stretch>
        </p:blipFill>
        <p:spPr>
          <a:xfrm>
            <a:off x="627062" y="1465262"/>
            <a:ext cx="323850" cy="400367"/>
          </a:xfrm>
          <a:prstGeom prst="rect">
            <a:avLst/>
          </a:prstGeom>
        </p:spPr>
      </p:pic>
      <p:sp>
        <p:nvSpPr>
          <p:cNvPr id="2" name="Holder 2"/>
          <p:cNvSpPr>
            <a:spLocks noGrp="1"/>
          </p:cNvSpPr>
          <p:nvPr>
            <p:ph type="title"/>
          </p:nvPr>
        </p:nvSpPr>
        <p:spPr/>
        <p:txBody>
          <a:bodyPr lIns="0" tIns="0" rIns="0" bIns="0"/>
          <a:lstStyle>
            <a:lvl1pPr>
              <a:defRPr sz="3200" b="0" i="0">
                <a:solidFill>
                  <a:schemeClr val="tx1"/>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7" name="Holder 7"/>
          <p:cNvSpPr>
            <a:spLocks noGrp="1"/>
          </p:cNvSpPr>
          <p:nvPr>
            <p:ph type="sldNum" sz="quarter" idx="7"/>
          </p:nvPr>
        </p:nvSpPr>
        <p:spPr/>
        <p:txBody>
          <a:bodyPr lIns="0" tIns="0" rIns="0" bIns="0"/>
          <a:lstStyle>
            <a:lvl1pPr>
              <a:defRPr sz="900" b="0" i="0">
                <a:solidFill>
                  <a:srgbClr val="3E3E3E"/>
                </a:solidFill>
                <a:latin typeface="Calibri"/>
                <a:cs typeface="Calibri"/>
              </a:defRPr>
            </a:lvl1pPr>
          </a:lstStyle>
          <a:p>
            <a:pPr marL="38100">
              <a:lnSpc>
                <a:spcPts val="955"/>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Calibri"/>
                <a:cs typeface="Calibri"/>
              </a:defRPr>
            </a:lvl1pPr>
          </a:lstStyle>
          <a:p>
            <a:endParaRPr/>
          </a:p>
        </p:txBody>
      </p:sp>
      <p:sp>
        <p:nvSpPr>
          <p:cNvPr id="5" name="Holder 5"/>
          <p:cNvSpPr>
            <a:spLocks noGrp="1"/>
          </p:cNvSpPr>
          <p:nvPr>
            <p:ph type="sldNum" sz="quarter" idx="7"/>
          </p:nvPr>
        </p:nvSpPr>
        <p:spPr/>
        <p:txBody>
          <a:bodyPr lIns="0" tIns="0" rIns="0" bIns="0"/>
          <a:lstStyle>
            <a:lvl1pPr>
              <a:defRPr sz="900" b="0" i="0">
                <a:solidFill>
                  <a:srgbClr val="3E3E3E"/>
                </a:solidFill>
                <a:latin typeface="Calibri"/>
                <a:cs typeface="Calibri"/>
              </a:defRPr>
            </a:lvl1pPr>
          </a:lstStyle>
          <a:p>
            <a:pPr marL="38100">
              <a:lnSpc>
                <a:spcPts val="955"/>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4" name="Holder 4"/>
          <p:cNvSpPr>
            <a:spLocks noGrp="1"/>
          </p:cNvSpPr>
          <p:nvPr>
            <p:ph type="sldNum" sz="quarter" idx="7"/>
          </p:nvPr>
        </p:nvSpPr>
        <p:spPr/>
        <p:txBody>
          <a:bodyPr lIns="0" tIns="0" rIns="0" bIns="0"/>
          <a:lstStyle>
            <a:lvl1pPr>
              <a:defRPr sz="900" b="0" i="0">
                <a:solidFill>
                  <a:srgbClr val="3E3E3E"/>
                </a:solidFill>
                <a:latin typeface="Calibri"/>
                <a:cs typeface="Calibri"/>
              </a:defRPr>
            </a:lvl1pPr>
          </a:lstStyle>
          <a:p>
            <a:pPr marL="38100">
              <a:lnSpc>
                <a:spcPts val="955"/>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999426"/>
            <a:ext cx="9144000" cy="110489"/>
          </a:xfrm>
          <a:prstGeom prst="rect">
            <a:avLst/>
          </a:prstGeom>
        </p:spPr>
      </p:pic>
      <p:sp>
        <p:nvSpPr>
          <p:cNvPr id="17" name="bg object 17"/>
          <p:cNvSpPr/>
          <p:nvPr/>
        </p:nvSpPr>
        <p:spPr>
          <a:xfrm>
            <a:off x="0" y="1019175"/>
            <a:ext cx="9144000" cy="47625"/>
          </a:xfrm>
          <a:custGeom>
            <a:avLst/>
            <a:gdLst/>
            <a:ahLst/>
            <a:cxnLst/>
            <a:rect l="l" t="t" r="r" b="b"/>
            <a:pathLst>
              <a:path w="9144000" h="47625">
                <a:moveTo>
                  <a:pt x="9144000" y="0"/>
                </a:moveTo>
                <a:lnTo>
                  <a:pt x="0" y="0"/>
                </a:lnTo>
                <a:lnTo>
                  <a:pt x="0" y="47625"/>
                </a:lnTo>
                <a:lnTo>
                  <a:pt x="9144000" y="47625"/>
                </a:lnTo>
                <a:lnTo>
                  <a:pt x="9144000" y="0"/>
                </a:lnTo>
                <a:close/>
              </a:path>
            </a:pathLst>
          </a:custGeom>
          <a:solidFill>
            <a:srgbClr val="FFFFFF"/>
          </a:solidFill>
        </p:spPr>
        <p:txBody>
          <a:bodyPr wrap="square" lIns="0" tIns="0" rIns="0" bIns="0" rtlCol="0"/>
          <a:lstStyle/>
          <a:p>
            <a:endParaRPr/>
          </a:p>
        </p:txBody>
      </p:sp>
      <p:sp>
        <p:nvSpPr>
          <p:cNvPr id="18" name="bg object 18"/>
          <p:cNvSpPr/>
          <p:nvPr/>
        </p:nvSpPr>
        <p:spPr>
          <a:xfrm>
            <a:off x="0" y="0"/>
            <a:ext cx="9144000" cy="1019175"/>
          </a:xfrm>
          <a:custGeom>
            <a:avLst/>
            <a:gdLst/>
            <a:ahLst/>
            <a:cxnLst/>
            <a:rect l="l" t="t" r="r" b="b"/>
            <a:pathLst>
              <a:path w="9144000" h="1019175">
                <a:moveTo>
                  <a:pt x="9144000" y="0"/>
                </a:moveTo>
                <a:lnTo>
                  <a:pt x="0" y="0"/>
                </a:lnTo>
                <a:lnTo>
                  <a:pt x="0" y="1019175"/>
                </a:lnTo>
                <a:lnTo>
                  <a:pt x="9144000" y="1019175"/>
                </a:lnTo>
                <a:lnTo>
                  <a:pt x="9144000" y="0"/>
                </a:lnTo>
                <a:close/>
              </a:path>
            </a:pathLst>
          </a:custGeom>
          <a:solidFill>
            <a:srgbClr val="000000"/>
          </a:solidFill>
        </p:spPr>
        <p:txBody>
          <a:bodyPr wrap="square" lIns="0" tIns="0" rIns="0" bIns="0" rtlCol="0"/>
          <a:lstStyle/>
          <a:p>
            <a:endParaRPr/>
          </a:p>
        </p:txBody>
      </p:sp>
      <p:sp>
        <p:nvSpPr>
          <p:cNvPr id="2" name="Holder 2"/>
          <p:cNvSpPr>
            <a:spLocks noGrp="1"/>
          </p:cNvSpPr>
          <p:nvPr>
            <p:ph type="title"/>
          </p:nvPr>
        </p:nvSpPr>
        <p:spPr>
          <a:xfrm>
            <a:off x="938530" y="1347787"/>
            <a:ext cx="7567930" cy="1490345"/>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3" name="Holder 3"/>
          <p:cNvSpPr>
            <a:spLocks noGrp="1"/>
          </p:cNvSpPr>
          <p:nvPr>
            <p:ph type="body" idx="1"/>
          </p:nvPr>
        </p:nvSpPr>
        <p:spPr>
          <a:xfrm>
            <a:off x="938530" y="1347787"/>
            <a:ext cx="7567930" cy="1490345"/>
          </a:xfrm>
          <a:prstGeom prst="rect">
            <a:avLst/>
          </a:prstGeom>
        </p:spPr>
        <p:txBody>
          <a:bodyPr wrap="square" lIns="0" tIns="0" rIns="0" bIns="0">
            <a:spAutoFit/>
          </a:bodyPr>
          <a:lstStyle>
            <a:lvl1pPr>
              <a:defRPr sz="3200" b="1" i="0">
                <a:solidFill>
                  <a:schemeClr val="hlink"/>
                </a:solidFill>
                <a:latin typeface="Calibri"/>
                <a:cs typeface="Calibri"/>
              </a:defRPr>
            </a:lvl1pPr>
          </a:lstStyle>
          <a:p>
            <a:endParaRPr/>
          </a:p>
        </p:txBody>
      </p:sp>
      <p:sp>
        <p:nvSpPr>
          <p:cNvPr id="6" name="Holder 6"/>
          <p:cNvSpPr>
            <a:spLocks noGrp="1"/>
          </p:cNvSpPr>
          <p:nvPr>
            <p:ph type="sldNum" sz="quarter" idx="7"/>
          </p:nvPr>
        </p:nvSpPr>
        <p:spPr>
          <a:xfrm>
            <a:off x="8704960" y="6736715"/>
            <a:ext cx="190500" cy="139700"/>
          </a:xfrm>
          <a:prstGeom prst="rect">
            <a:avLst/>
          </a:prstGeom>
        </p:spPr>
        <p:txBody>
          <a:bodyPr wrap="square" lIns="0" tIns="0" rIns="0" bIns="0">
            <a:spAutoFit/>
          </a:bodyPr>
          <a:lstStyle>
            <a:lvl1pPr>
              <a:defRPr sz="900" b="0" i="0">
                <a:solidFill>
                  <a:srgbClr val="3E3E3E"/>
                </a:solidFill>
                <a:latin typeface="Calibri"/>
                <a:cs typeface="Calibri"/>
              </a:defRPr>
            </a:lvl1pPr>
          </a:lstStyle>
          <a:p>
            <a:pPr marL="38100">
              <a:lnSpc>
                <a:spcPts val="955"/>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2202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0" y="0"/>
              <a:ext cx="9144000" cy="5133975"/>
            </a:xfrm>
            <a:custGeom>
              <a:avLst/>
              <a:gdLst/>
              <a:ahLst/>
              <a:cxnLst/>
              <a:rect l="l" t="t" r="r" b="b"/>
              <a:pathLst>
                <a:path w="9144000" h="5133975">
                  <a:moveTo>
                    <a:pt x="9144000" y="0"/>
                  </a:moveTo>
                  <a:lnTo>
                    <a:pt x="0" y="0"/>
                  </a:lnTo>
                  <a:lnTo>
                    <a:pt x="0" y="5133975"/>
                  </a:lnTo>
                  <a:lnTo>
                    <a:pt x="9144000" y="5133975"/>
                  </a:lnTo>
                  <a:lnTo>
                    <a:pt x="9144000" y="0"/>
                  </a:lnTo>
                  <a:close/>
                </a:path>
              </a:pathLst>
            </a:custGeom>
            <a:solidFill>
              <a:srgbClr val="000000"/>
            </a:solidFill>
          </p:spPr>
          <p:txBody>
            <a:bodyPr wrap="square" lIns="0" tIns="0" rIns="0" bIns="0" rtlCol="0"/>
            <a:lstStyle/>
            <a:p>
              <a:endParaRPr/>
            </a:p>
          </p:txBody>
        </p:sp>
        <p:pic>
          <p:nvPicPr>
            <p:cNvPr id="5" name="object 5"/>
            <p:cNvPicPr/>
            <p:nvPr/>
          </p:nvPicPr>
          <p:blipFill>
            <a:blip r:embed="rId3" cstate="print"/>
            <a:stretch>
              <a:fillRect/>
            </a:stretch>
          </p:blipFill>
          <p:spPr>
            <a:xfrm>
              <a:off x="0" y="5086286"/>
              <a:ext cx="9144000" cy="138112"/>
            </a:xfrm>
            <a:prstGeom prst="rect">
              <a:avLst/>
            </a:prstGeom>
          </p:spPr>
        </p:pic>
        <p:sp>
          <p:nvSpPr>
            <p:cNvPr id="6" name="object 6"/>
            <p:cNvSpPr/>
            <p:nvPr/>
          </p:nvSpPr>
          <p:spPr>
            <a:xfrm>
              <a:off x="0" y="5124450"/>
              <a:ext cx="9144000" cy="47625"/>
            </a:xfrm>
            <a:custGeom>
              <a:avLst/>
              <a:gdLst/>
              <a:ahLst/>
              <a:cxnLst/>
              <a:rect l="l" t="t" r="r" b="b"/>
              <a:pathLst>
                <a:path w="9144000" h="47625">
                  <a:moveTo>
                    <a:pt x="9144000" y="0"/>
                  </a:moveTo>
                  <a:lnTo>
                    <a:pt x="0" y="0"/>
                  </a:lnTo>
                  <a:lnTo>
                    <a:pt x="0" y="47625"/>
                  </a:lnTo>
                  <a:lnTo>
                    <a:pt x="9144000" y="47625"/>
                  </a:lnTo>
                  <a:lnTo>
                    <a:pt x="9144000" y="0"/>
                  </a:lnTo>
                  <a:close/>
                </a:path>
              </a:pathLst>
            </a:custGeom>
            <a:solidFill>
              <a:srgbClr val="FFFFFF"/>
            </a:solidFill>
          </p:spPr>
          <p:txBody>
            <a:bodyPr wrap="square" lIns="0" tIns="0" rIns="0" bIns="0" rtlCol="0"/>
            <a:lstStyle/>
            <a:p>
              <a:endParaRPr/>
            </a:p>
          </p:txBody>
        </p:sp>
      </p:grpSp>
      <p:sp>
        <p:nvSpPr>
          <p:cNvPr id="8" name="object 8"/>
          <p:cNvSpPr txBox="1"/>
          <p:nvPr/>
        </p:nvSpPr>
        <p:spPr>
          <a:xfrm>
            <a:off x="4813300" y="5224398"/>
            <a:ext cx="4330700" cy="1117422"/>
          </a:xfrm>
          <a:prstGeom prst="rect">
            <a:avLst/>
          </a:prstGeom>
        </p:spPr>
        <p:txBody>
          <a:bodyPr vert="horz" wrap="square" lIns="0" tIns="13335" rIns="0" bIns="0" rtlCol="0">
            <a:spAutoFit/>
          </a:bodyPr>
          <a:lstStyle/>
          <a:p>
            <a:pPr marL="12700">
              <a:lnSpc>
                <a:spcPts val="2870"/>
              </a:lnSpc>
            </a:pPr>
            <a:r>
              <a:rPr lang="en-AU" sz="2400" spc="10" dirty="0">
                <a:solidFill>
                  <a:srgbClr val="FFFFFF"/>
                </a:solidFill>
                <a:latin typeface="Corbel"/>
                <a:cs typeface="Corbel"/>
              </a:rPr>
              <a:t>Dr. Mohammad Rezwanul Huq</a:t>
            </a:r>
          </a:p>
          <a:p>
            <a:pPr marL="12700">
              <a:lnSpc>
                <a:spcPts val="2870"/>
              </a:lnSpc>
            </a:pPr>
            <a:r>
              <a:rPr lang="en-AU" sz="2400" spc="10" dirty="0">
                <a:solidFill>
                  <a:srgbClr val="FFFFFF"/>
                </a:solidFill>
                <a:latin typeface="Corbel"/>
                <a:cs typeface="Corbel"/>
              </a:rPr>
              <a:t>Associate Professor</a:t>
            </a:r>
          </a:p>
          <a:p>
            <a:pPr marL="12700">
              <a:lnSpc>
                <a:spcPts val="2870"/>
              </a:lnSpc>
            </a:pPr>
            <a:r>
              <a:rPr lang="en-AU" sz="2400" spc="10" dirty="0">
                <a:solidFill>
                  <a:srgbClr val="FFFFFF"/>
                </a:solidFill>
                <a:latin typeface="Corbel"/>
                <a:cs typeface="Corbel"/>
              </a:rPr>
              <a:t>East West University</a:t>
            </a:r>
            <a:endParaRPr sz="2000" dirty="0">
              <a:latin typeface="Corbel"/>
              <a:cs typeface="Corbel"/>
            </a:endParaRPr>
          </a:p>
        </p:txBody>
      </p:sp>
      <p:sp>
        <p:nvSpPr>
          <p:cNvPr id="11" name="TextBox 10">
            <a:extLst>
              <a:ext uri="{FF2B5EF4-FFF2-40B4-BE49-F238E27FC236}">
                <a16:creationId xmlns:a16="http://schemas.microsoft.com/office/drawing/2014/main" id="{2FC8D84B-8AF9-4ABB-AF8C-ED978638D2A0}"/>
              </a:ext>
            </a:extLst>
          </p:cNvPr>
          <p:cNvSpPr txBox="1"/>
          <p:nvPr/>
        </p:nvSpPr>
        <p:spPr>
          <a:xfrm>
            <a:off x="304800" y="1905000"/>
            <a:ext cx="8839200" cy="2308324"/>
          </a:xfrm>
          <a:prstGeom prst="rect">
            <a:avLst/>
          </a:prstGeom>
          <a:noFill/>
        </p:spPr>
        <p:txBody>
          <a:bodyPr wrap="square" rtlCol="0">
            <a:spAutoFit/>
          </a:bodyPr>
          <a:lstStyle/>
          <a:p>
            <a:pPr algn="ctr"/>
            <a:r>
              <a:rPr lang="en-AU" sz="4000" dirty="0">
                <a:solidFill>
                  <a:srgbClr val="FFFF00"/>
                </a:solidFill>
                <a:latin typeface="Palatino Linotype" panose="02040502050505030304" pitchFamily="18" charset="0"/>
              </a:rPr>
              <a:t>CSE488: Big Data Analytics</a:t>
            </a:r>
          </a:p>
          <a:p>
            <a:pPr algn="ctr"/>
            <a:endParaRPr lang="en-AU" sz="3200" dirty="0">
              <a:solidFill>
                <a:srgbClr val="FFFF00"/>
              </a:solidFill>
              <a:latin typeface="Palatino Linotype" panose="02040502050505030304" pitchFamily="18" charset="0"/>
            </a:endParaRPr>
          </a:p>
          <a:p>
            <a:pPr algn="ctr"/>
            <a:r>
              <a:rPr lang="en-AU" sz="3600" dirty="0">
                <a:solidFill>
                  <a:srgbClr val="00B0F0"/>
                </a:solidFill>
                <a:latin typeface="Palatino Linotype" panose="02040502050505030304" pitchFamily="18" charset="0"/>
              </a:rPr>
              <a:t>Lecture 10 (Continuation): Distance Measures and Clustering Validity Indices </a:t>
            </a:r>
            <a:endParaRPr lang="en-US" sz="3600" dirty="0">
              <a:solidFill>
                <a:srgbClr val="00B0F0"/>
              </a:solidFill>
              <a:latin typeface="Palatino Linotype" panose="0204050205050503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a:extLst>
              <a:ext uri="{FF2B5EF4-FFF2-40B4-BE49-F238E27FC236}">
                <a16:creationId xmlns:a16="http://schemas.microsoft.com/office/drawing/2014/main" id="{EC8C4EEC-D3F3-41B8-A923-CBC114A70839}"/>
              </a:ext>
            </a:extLst>
          </p:cNvPr>
          <p:cNvSpPr>
            <a:spLocks noGrp="1" noChangeArrowheads="1"/>
          </p:cNvSpPr>
          <p:nvPr>
            <p:ph type="body" idx="1"/>
          </p:nvPr>
        </p:nvSpPr>
        <p:spPr>
          <a:xfrm>
            <a:off x="381000" y="1447800"/>
            <a:ext cx="8382000" cy="4375366"/>
          </a:xfrm>
          <a:noFill/>
        </p:spPr>
        <p:txBody>
          <a:bodyPr lIns="92075" tIns="46038" rIns="92075" bIns="46038"/>
          <a:lstStyle/>
          <a:p>
            <a:pPr eaLnBrk="1" hangingPunct="1">
              <a:lnSpc>
                <a:spcPct val="130000"/>
              </a:lnSpc>
            </a:pPr>
            <a:r>
              <a:rPr lang="en-US" altLang="en-US" sz="2400" dirty="0"/>
              <a:t>A </a:t>
            </a:r>
            <a:r>
              <a:rPr lang="en-US" altLang="en-US" sz="2400" u="sng" dirty="0"/>
              <a:t>good clustering</a:t>
            </a:r>
            <a:r>
              <a:rPr lang="en-US" altLang="en-US" sz="2400" dirty="0"/>
              <a:t> method will produce high quality clusters</a:t>
            </a:r>
          </a:p>
          <a:p>
            <a:pPr marL="800100" lvl="1" indent="-342900" eaLnBrk="1" hangingPunct="1">
              <a:lnSpc>
                <a:spcPct val="130000"/>
              </a:lnSpc>
              <a:buFont typeface="Arial" panose="020B0604020202020204" pitchFamily="34" charset="0"/>
              <a:buChar char="•"/>
            </a:pPr>
            <a:r>
              <a:rPr lang="en-US" altLang="en-US" sz="2400" dirty="0"/>
              <a:t>Low Intra-cluster Distance or high </a:t>
            </a:r>
            <a:r>
              <a:rPr lang="en-US" altLang="en-US" sz="2400" u="sng" dirty="0"/>
              <a:t>intra-class</a:t>
            </a:r>
            <a:r>
              <a:rPr lang="en-US" altLang="en-US" sz="2400" dirty="0"/>
              <a:t> similarity: </a:t>
            </a:r>
            <a:r>
              <a:rPr lang="en-US" altLang="en-US" sz="2400" dirty="0">
                <a:solidFill>
                  <a:schemeClr val="hlink"/>
                </a:solidFill>
              </a:rPr>
              <a:t>cohesive</a:t>
            </a:r>
            <a:r>
              <a:rPr lang="en-US" altLang="en-US" sz="2400" dirty="0"/>
              <a:t> within clusters</a:t>
            </a:r>
          </a:p>
          <a:p>
            <a:pPr marL="800100" lvl="1" indent="-342900" eaLnBrk="1" hangingPunct="1">
              <a:lnSpc>
                <a:spcPct val="130000"/>
              </a:lnSpc>
              <a:buFont typeface="Arial" panose="020B0604020202020204" pitchFamily="34" charset="0"/>
              <a:buChar char="•"/>
            </a:pPr>
            <a:r>
              <a:rPr lang="en-US" altLang="en-US" sz="2400" dirty="0"/>
              <a:t>High Inter-Cluster Distance or low </a:t>
            </a:r>
            <a:r>
              <a:rPr lang="en-US" altLang="en-US" sz="2400" u="sng" dirty="0"/>
              <a:t>inter-class</a:t>
            </a:r>
            <a:r>
              <a:rPr lang="en-US" altLang="en-US" sz="2400" dirty="0"/>
              <a:t> similarity: </a:t>
            </a:r>
            <a:r>
              <a:rPr lang="en-US" altLang="en-US" sz="2400" dirty="0">
                <a:solidFill>
                  <a:schemeClr val="hlink"/>
                </a:solidFill>
              </a:rPr>
              <a:t>distinctive/separation</a:t>
            </a:r>
            <a:r>
              <a:rPr lang="en-US" altLang="en-US" sz="2400" dirty="0"/>
              <a:t> between clusters</a:t>
            </a:r>
          </a:p>
          <a:p>
            <a:pPr eaLnBrk="1" hangingPunct="1">
              <a:lnSpc>
                <a:spcPct val="130000"/>
              </a:lnSpc>
            </a:pPr>
            <a:r>
              <a:rPr lang="en-US" altLang="en-US" sz="2400" dirty="0"/>
              <a:t>The </a:t>
            </a:r>
            <a:r>
              <a:rPr lang="en-US" altLang="en-US" sz="2400" u="sng" dirty="0"/>
              <a:t>quality</a:t>
            </a:r>
            <a:r>
              <a:rPr lang="en-US" altLang="en-US" sz="2400" dirty="0"/>
              <a:t> of a clustering method depends on</a:t>
            </a:r>
          </a:p>
          <a:p>
            <a:pPr lvl="1" eaLnBrk="1" hangingPunct="1">
              <a:lnSpc>
                <a:spcPct val="130000"/>
              </a:lnSpc>
            </a:pPr>
            <a:r>
              <a:rPr lang="en-US" altLang="en-US" sz="2400" dirty="0"/>
              <a:t>the similarity measure used by the method </a:t>
            </a:r>
          </a:p>
          <a:p>
            <a:pPr lvl="1" eaLnBrk="1" hangingPunct="1">
              <a:lnSpc>
                <a:spcPct val="130000"/>
              </a:lnSpc>
            </a:pPr>
            <a:r>
              <a:rPr lang="en-US" altLang="en-US" sz="2400" dirty="0"/>
              <a:t>its implementation, and</a:t>
            </a:r>
          </a:p>
          <a:p>
            <a:pPr lvl="1" eaLnBrk="1" hangingPunct="1">
              <a:lnSpc>
                <a:spcPct val="130000"/>
              </a:lnSpc>
            </a:pPr>
            <a:r>
              <a:rPr lang="en-US" altLang="en-US" sz="2400" dirty="0"/>
              <a:t>Its ability to discover some or all of the </a:t>
            </a:r>
            <a:r>
              <a:rPr lang="en-US" altLang="en-US" sz="2400" u="sng" dirty="0"/>
              <a:t>hidden</a:t>
            </a:r>
            <a:r>
              <a:rPr lang="en-US" altLang="en-US" sz="2400" dirty="0"/>
              <a:t> patterns</a:t>
            </a:r>
          </a:p>
        </p:txBody>
      </p:sp>
      <p:sp>
        <p:nvSpPr>
          <p:cNvPr id="10244" name="Slide Number Placeholder 6">
            <a:extLst>
              <a:ext uri="{FF2B5EF4-FFF2-40B4-BE49-F238E27FC236}">
                <a16:creationId xmlns:a16="http://schemas.microsoft.com/office/drawing/2014/main" id="{57EB8CEB-9E5A-41C7-936B-6DE2DE1FC5C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537AD991-1D1D-4193-9DDC-17CB599DB773}" type="slidenum">
              <a:rPr lang="en-US" altLang="en-US" sz="1200"/>
              <a:pPr eaLnBrk="1" hangingPunct="1"/>
              <a:t>2</a:t>
            </a:fld>
            <a:endParaRPr lang="en-US" altLang="en-US" sz="1200"/>
          </a:p>
        </p:txBody>
      </p:sp>
      <p:sp>
        <p:nvSpPr>
          <p:cNvPr id="7" name="TextBox 6">
            <a:extLst>
              <a:ext uri="{FF2B5EF4-FFF2-40B4-BE49-F238E27FC236}">
                <a16:creationId xmlns:a16="http://schemas.microsoft.com/office/drawing/2014/main" id="{D76B03E6-1FF3-4692-A0C8-89B66A1E9846}"/>
              </a:ext>
            </a:extLst>
          </p:cNvPr>
          <p:cNvSpPr txBox="1"/>
          <p:nvPr/>
        </p:nvSpPr>
        <p:spPr>
          <a:xfrm>
            <a:off x="457200" y="152400"/>
            <a:ext cx="8229600" cy="646331"/>
          </a:xfrm>
          <a:prstGeom prst="rect">
            <a:avLst/>
          </a:prstGeom>
          <a:noFill/>
        </p:spPr>
        <p:txBody>
          <a:bodyPr wrap="square" rtlCol="0">
            <a:spAutoFit/>
          </a:bodyPr>
          <a:lstStyle/>
          <a:p>
            <a:r>
              <a:rPr lang="en-US" sz="3600" dirty="0">
                <a:solidFill>
                  <a:srgbClr val="FFFF00"/>
                </a:solidFill>
                <a:latin typeface="Times New Roman" panose="02020603050405020304" pitchFamily="18" charset="0"/>
                <a:cs typeface="Times New Roman" panose="02020603050405020304" pitchFamily="18" charset="0"/>
              </a:rPr>
              <a:t>Measuring Clustering Quality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5C5D21-25A6-4222-B626-8F2C79CE3EE2}"/>
              </a:ext>
            </a:extLst>
          </p:cNvPr>
          <p:cNvSpPr txBox="1"/>
          <p:nvPr/>
        </p:nvSpPr>
        <p:spPr>
          <a:xfrm>
            <a:off x="457200" y="152400"/>
            <a:ext cx="8229600" cy="646331"/>
          </a:xfrm>
          <a:prstGeom prst="rect">
            <a:avLst/>
          </a:prstGeom>
          <a:noFill/>
        </p:spPr>
        <p:txBody>
          <a:bodyPr wrap="square" rtlCol="0">
            <a:spAutoFit/>
          </a:bodyPr>
          <a:lstStyle/>
          <a:p>
            <a:r>
              <a:rPr lang="en-US" sz="3600" dirty="0">
                <a:solidFill>
                  <a:srgbClr val="FFFF00"/>
                </a:solidFill>
                <a:latin typeface="Times New Roman" panose="02020603050405020304" pitchFamily="18" charset="0"/>
                <a:cs typeface="Times New Roman" panose="02020603050405020304" pitchFamily="18" charset="0"/>
              </a:rPr>
              <a:t>Inter-Cluster Distance</a:t>
            </a:r>
          </a:p>
        </p:txBody>
      </p:sp>
      <p:sp>
        <p:nvSpPr>
          <p:cNvPr id="3" name="Rectangle 2">
            <a:extLst>
              <a:ext uri="{FF2B5EF4-FFF2-40B4-BE49-F238E27FC236}">
                <a16:creationId xmlns:a16="http://schemas.microsoft.com/office/drawing/2014/main" id="{FFE7AD0F-A9C1-40DB-B5CF-A9D3C419634A}"/>
              </a:ext>
            </a:extLst>
          </p:cNvPr>
          <p:cNvSpPr/>
          <p:nvPr/>
        </p:nvSpPr>
        <p:spPr>
          <a:xfrm>
            <a:off x="609600" y="2605373"/>
            <a:ext cx="8345424" cy="3104055"/>
          </a:xfrm>
          <a:prstGeom prst="rect">
            <a:avLst/>
          </a:prstGeom>
        </p:spPr>
        <p:txBody>
          <a:bodyPr wrap="square">
            <a:spAutoFit/>
          </a:bodyPr>
          <a:lstStyle/>
          <a:p>
            <a:pPr marL="342900" indent="-342900">
              <a:lnSpc>
                <a:spcPct val="130000"/>
              </a:lnSpc>
              <a:buFont typeface="Arial" panose="020B0604020202020204" pitchFamily="34" charset="0"/>
              <a:buChar char="•"/>
            </a:pPr>
            <a:r>
              <a:rPr lang="en-US" altLang="en-US" sz="2000" dirty="0">
                <a:cs typeface="Tahoma" panose="020B0604030504040204" pitchFamily="34" charset="0"/>
                <a:sym typeface="Symbol" panose="05050102010706020507" pitchFamily="18" charset="2"/>
              </a:rPr>
              <a:t>Single linkage:  </a:t>
            </a:r>
            <a:r>
              <a:rPr lang="en-US" altLang="en-US" dirty="0">
                <a:cs typeface="Tahoma" panose="020B0604030504040204" pitchFamily="34" charset="0"/>
                <a:sym typeface="Symbol" panose="05050102010706020507" pitchFamily="18" charset="2"/>
              </a:rPr>
              <a:t>smallest distance between an element in one cluster and an element in the other, i.e.,  </a:t>
            </a:r>
            <a:r>
              <a:rPr lang="en-US" altLang="en-US" dirty="0" err="1">
                <a:cs typeface="Tahoma" panose="020B0604030504040204" pitchFamily="34" charset="0"/>
                <a:sym typeface="Symbol" panose="05050102010706020507" pitchFamily="18" charset="2"/>
              </a:rPr>
              <a:t>dist</a:t>
            </a:r>
            <a:r>
              <a:rPr lang="en-US" altLang="en-US" dirty="0">
                <a:cs typeface="Tahoma" panose="020B0604030504040204" pitchFamily="34" charset="0"/>
                <a:sym typeface="Symbol" panose="05050102010706020507" pitchFamily="18" charset="2"/>
              </a:rPr>
              <a:t>(K</a:t>
            </a:r>
            <a:r>
              <a:rPr lang="en-US" altLang="en-US" baseline="-25000" dirty="0">
                <a:cs typeface="Tahoma" panose="020B0604030504040204" pitchFamily="34" charset="0"/>
                <a:sym typeface="Symbol" panose="05050102010706020507" pitchFamily="18" charset="2"/>
              </a:rPr>
              <a:t>i</a:t>
            </a:r>
            <a:r>
              <a:rPr lang="en-US" altLang="en-US" dirty="0">
                <a:cs typeface="Tahoma" panose="020B0604030504040204" pitchFamily="34" charset="0"/>
                <a:sym typeface="Symbol" panose="05050102010706020507" pitchFamily="18" charset="2"/>
              </a:rPr>
              <a:t>, </a:t>
            </a:r>
            <a:r>
              <a:rPr lang="en-US" altLang="en-US" dirty="0" err="1">
                <a:cs typeface="Tahoma" panose="020B0604030504040204" pitchFamily="34" charset="0"/>
                <a:sym typeface="Symbol" panose="05050102010706020507" pitchFamily="18" charset="2"/>
              </a:rPr>
              <a:t>K</a:t>
            </a:r>
            <a:r>
              <a:rPr lang="en-US" altLang="en-US" baseline="-25000" dirty="0" err="1">
                <a:cs typeface="Tahoma" panose="020B0604030504040204" pitchFamily="34" charset="0"/>
                <a:sym typeface="Symbol" panose="05050102010706020507" pitchFamily="18" charset="2"/>
              </a:rPr>
              <a:t>j</a:t>
            </a:r>
            <a:r>
              <a:rPr lang="en-US" altLang="en-US" dirty="0">
                <a:cs typeface="Tahoma" panose="020B0604030504040204" pitchFamily="34" charset="0"/>
                <a:sym typeface="Symbol" panose="05050102010706020507" pitchFamily="18" charset="2"/>
              </a:rPr>
              <a:t>) = min(t</a:t>
            </a:r>
            <a:r>
              <a:rPr lang="en-US" altLang="en-US" baseline="-25000" dirty="0">
                <a:cs typeface="Tahoma" panose="020B0604030504040204" pitchFamily="34" charset="0"/>
                <a:sym typeface="Symbol" panose="05050102010706020507" pitchFamily="18" charset="2"/>
              </a:rPr>
              <a:t>ip</a:t>
            </a:r>
            <a:r>
              <a:rPr lang="en-US" altLang="en-US" dirty="0">
                <a:cs typeface="Tahoma" panose="020B0604030504040204" pitchFamily="34" charset="0"/>
                <a:sym typeface="Symbol" panose="05050102010706020507" pitchFamily="18" charset="2"/>
              </a:rPr>
              <a:t>, </a:t>
            </a:r>
            <a:r>
              <a:rPr lang="en-US" altLang="en-US" dirty="0" err="1">
                <a:cs typeface="Tahoma" panose="020B0604030504040204" pitchFamily="34" charset="0"/>
                <a:sym typeface="Symbol" panose="05050102010706020507" pitchFamily="18" charset="2"/>
              </a:rPr>
              <a:t>t</a:t>
            </a:r>
            <a:r>
              <a:rPr lang="en-US" altLang="en-US" baseline="-25000" dirty="0" err="1">
                <a:cs typeface="Tahoma" panose="020B0604030504040204" pitchFamily="34" charset="0"/>
                <a:sym typeface="Symbol" panose="05050102010706020507" pitchFamily="18" charset="2"/>
              </a:rPr>
              <a:t>jq</a:t>
            </a:r>
            <a:r>
              <a:rPr lang="en-US" altLang="en-US" dirty="0">
                <a:cs typeface="Tahoma" panose="020B0604030504040204" pitchFamily="34" charset="0"/>
                <a:sym typeface="Symbol" panose="05050102010706020507" pitchFamily="18" charset="2"/>
              </a:rPr>
              <a:t>)</a:t>
            </a:r>
          </a:p>
          <a:p>
            <a:pPr marL="342900" indent="-342900">
              <a:lnSpc>
                <a:spcPct val="130000"/>
              </a:lnSpc>
              <a:buFont typeface="Arial" panose="020B0604020202020204" pitchFamily="34" charset="0"/>
              <a:buChar char="•"/>
            </a:pPr>
            <a:r>
              <a:rPr lang="en-US" altLang="en-US" sz="2000" dirty="0">
                <a:cs typeface="Tahoma" panose="020B0604030504040204" pitchFamily="34" charset="0"/>
                <a:sym typeface="Symbol" panose="05050102010706020507" pitchFamily="18" charset="2"/>
              </a:rPr>
              <a:t>Complete linkage: </a:t>
            </a:r>
            <a:r>
              <a:rPr lang="en-US" altLang="en-US" dirty="0">
                <a:cs typeface="Tahoma" panose="020B0604030504040204" pitchFamily="34" charset="0"/>
                <a:sym typeface="Symbol" panose="05050102010706020507" pitchFamily="18" charset="2"/>
              </a:rPr>
              <a:t>largest distance between an element in one cluster and an element in the other, i.e.,  </a:t>
            </a:r>
            <a:r>
              <a:rPr lang="en-US" altLang="en-US" dirty="0" err="1">
                <a:cs typeface="Tahoma" panose="020B0604030504040204" pitchFamily="34" charset="0"/>
                <a:sym typeface="Symbol" panose="05050102010706020507" pitchFamily="18" charset="2"/>
              </a:rPr>
              <a:t>dist</a:t>
            </a:r>
            <a:r>
              <a:rPr lang="en-US" altLang="en-US" dirty="0">
                <a:cs typeface="Tahoma" panose="020B0604030504040204" pitchFamily="34" charset="0"/>
                <a:sym typeface="Symbol" panose="05050102010706020507" pitchFamily="18" charset="2"/>
              </a:rPr>
              <a:t>(K</a:t>
            </a:r>
            <a:r>
              <a:rPr lang="en-US" altLang="en-US" baseline="-25000" dirty="0">
                <a:cs typeface="Tahoma" panose="020B0604030504040204" pitchFamily="34" charset="0"/>
                <a:sym typeface="Symbol" panose="05050102010706020507" pitchFamily="18" charset="2"/>
              </a:rPr>
              <a:t>i</a:t>
            </a:r>
            <a:r>
              <a:rPr lang="en-US" altLang="en-US" dirty="0">
                <a:cs typeface="Tahoma" panose="020B0604030504040204" pitchFamily="34" charset="0"/>
                <a:sym typeface="Symbol" panose="05050102010706020507" pitchFamily="18" charset="2"/>
              </a:rPr>
              <a:t>, </a:t>
            </a:r>
            <a:r>
              <a:rPr lang="en-US" altLang="en-US" dirty="0" err="1">
                <a:cs typeface="Tahoma" panose="020B0604030504040204" pitchFamily="34" charset="0"/>
                <a:sym typeface="Symbol" panose="05050102010706020507" pitchFamily="18" charset="2"/>
              </a:rPr>
              <a:t>K</a:t>
            </a:r>
            <a:r>
              <a:rPr lang="en-US" altLang="en-US" baseline="-25000" dirty="0" err="1">
                <a:cs typeface="Tahoma" panose="020B0604030504040204" pitchFamily="34" charset="0"/>
                <a:sym typeface="Symbol" panose="05050102010706020507" pitchFamily="18" charset="2"/>
              </a:rPr>
              <a:t>j</a:t>
            </a:r>
            <a:r>
              <a:rPr lang="en-US" altLang="en-US" dirty="0">
                <a:cs typeface="Tahoma" panose="020B0604030504040204" pitchFamily="34" charset="0"/>
                <a:sym typeface="Symbol" panose="05050102010706020507" pitchFamily="18" charset="2"/>
              </a:rPr>
              <a:t>) = max(t</a:t>
            </a:r>
            <a:r>
              <a:rPr lang="en-US" altLang="en-US" baseline="-25000" dirty="0">
                <a:cs typeface="Tahoma" panose="020B0604030504040204" pitchFamily="34" charset="0"/>
                <a:sym typeface="Symbol" panose="05050102010706020507" pitchFamily="18" charset="2"/>
              </a:rPr>
              <a:t>ip</a:t>
            </a:r>
            <a:r>
              <a:rPr lang="en-US" altLang="en-US" dirty="0">
                <a:cs typeface="Tahoma" panose="020B0604030504040204" pitchFamily="34" charset="0"/>
                <a:sym typeface="Symbol" panose="05050102010706020507" pitchFamily="18" charset="2"/>
              </a:rPr>
              <a:t>, </a:t>
            </a:r>
            <a:r>
              <a:rPr lang="en-US" altLang="en-US" dirty="0" err="1">
                <a:cs typeface="Tahoma" panose="020B0604030504040204" pitchFamily="34" charset="0"/>
                <a:sym typeface="Symbol" panose="05050102010706020507" pitchFamily="18" charset="2"/>
              </a:rPr>
              <a:t>t</a:t>
            </a:r>
            <a:r>
              <a:rPr lang="en-US" altLang="en-US" baseline="-25000" dirty="0" err="1">
                <a:cs typeface="Tahoma" panose="020B0604030504040204" pitchFamily="34" charset="0"/>
                <a:sym typeface="Symbol" panose="05050102010706020507" pitchFamily="18" charset="2"/>
              </a:rPr>
              <a:t>jq</a:t>
            </a:r>
            <a:r>
              <a:rPr lang="en-US" altLang="en-US" dirty="0">
                <a:cs typeface="Tahoma" panose="020B0604030504040204" pitchFamily="34" charset="0"/>
                <a:sym typeface="Symbol" panose="05050102010706020507" pitchFamily="18" charset="2"/>
              </a:rPr>
              <a:t>)</a:t>
            </a:r>
          </a:p>
          <a:p>
            <a:pPr marL="342900" indent="-342900">
              <a:lnSpc>
                <a:spcPct val="130000"/>
              </a:lnSpc>
              <a:buFont typeface="Arial" panose="020B0604020202020204" pitchFamily="34" charset="0"/>
              <a:buChar char="•"/>
            </a:pPr>
            <a:r>
              <a:rPr lang="en-US" altLang="en-US" sz="2000" dirty="0">
                <a:cs typeface="Tahoma" panose="020B0604030504040204" pitchFamily="34" charset="0"/>
                <a:sym typeface="Symbol" panose="05050102010706020507" pitchFamily="18" charset="2"/>
              </a:rPr>
              <a:t>Average Linkage: </a:t>
            </a:r>
            <a:r>
              <a:rPr lang="en-US" altLang="en-US" dirty="0">
                <a:cs typeface="Tahoma" panose="020B0604030504040204" pitchFamily="34" charset="0"/>
                <a:sym typeface="Symbol" panose="05050102010706020507" pitchFamily="18" charset="2"/>
              </a:rPr>
              <a:t>avg distance between an element in one cluster and an element in the other, i.e.,  </a:t>
            </a:r>
            <a:r>
              <a:rPr lang="en-US" altLang="en-US" dirty="0" err="1">
                <a:cs typeface="Tahoma" panose="020B0604030504040204" pitchFamily="34" charset="0"/>
                <a:sym typeface="Symbol" panose="05050102010706020507" pitchFamily="18" charset="2"/>
              </a:rPr>
              <a:t>dist</a:t>
            </a:r>
            <a:r>
              <a:rPr lang="en-US" altLang="en-US" dirty="0">
                <a:cs typeface="Tahoma" panose="020B0604030504040204" pitchFamily="34" charset="0"/>
                <a:sym typeface="Symbol" panose="05050102010706020507" pitchFamily="18" charset="2"/>
              </a:rPr>
              <a:t>(K</a:t>
            </a:r>
            <a:r>
              <a:rPr lang="en-US" altLang="en-US" baseline="-25000" dirty="0">
                <a:cs typeface="Tahoma" panose="020B0604030504040204" pitchFamily="34" charset="0"/>
                <a:sym typeface="Symbol" panose="05050102010706020507" pitchFamily="18" charset="2"/>
              </a:rPr>
              <a:t>i</a:t>
            </a:r>
            <a:r>
              <a:rPr lang="en-US" altLang="en-US" dirty="0">
                <a:cs typeface="Tahoma" panose="020B0604030504040204" pitchFamily="34" charset="0"/>
                <a:sym typeface="Symbol" panose="05050102010706020507" pitchFamily="18" charset="2"/>
              </a:rPr>
              <a:t>, </a:t>
            </a:r>
            <a:r>
              <a:rPr lang="en-US" altLang="en-US" dirty="0" err="1">
                <a:cs typeface="Tahoma" panose="020B0604030504040204" pitchFamily="34" charset="0"/>
                <a:sym typeface="Symbol" panose="05050102010706020507" pitchFamily="18" charset="2"/>
              </a:rPr>
              <a:t>K</a:t>
            </a:r>
            <a:r>
              <a:rPr lang="en-US" altLang="en-US" baseline="-25000" dirty="0" err="1">
                <a:cs typeface="Tahoma" panose="020B0604030504040204" pitchFamily="34" charset="0"/>
                <a:sym typeface="Symbol" panose="05050102010706020507" pitchFamily="18" charset="2"/>
              </a:rPr>
              <a:t>j</a:t>
            </a:r>
            <a:r>
              <a:rPr lang="en-US" altLang="en-US" dirty="0">
                <a:cs typeface="Tahoma" panose="020B0604030504040204" pitchFamily="34" charset="0"/>
                <a:sym typeface="Symbol" panose="05050102010706020507" pitchFamily="18" charset="2"/>
              </a:rPr>
              <a:t>) = avg(t</a:t>
            </a:r>
            <a:r>
              <a:rPr lang="en-US" altLang="en-US" baseline="-25000" dirty="0">
                <a:cs typeface="Tahoma" panose="020B0604030504040204" pitchFamily="34" charset="0"/>
                <a:sym typeface="Symbol" panose="05050102010706020507" pitchFamily="18" charset="2"/>
              </a:rPr>
              <a:t>ip</a:t>
            </a:r>
            <a:r>
              <a:rPr lang="en-US" altLang="en-US" dirty="0">
                <a:cs typeface="Tahoma" panose="020B0604030504040204" pitchFamily="34" charset="0"/>
                <a:sym typeface="Symbol" panose="05050102010706020507" pitchFamily="18" charset="2"/>
              </a:rPr>
              <a:t>, </a:t>
            </a:r>
            <a:r>
              <a:rPr lang="en-US" altLang="en-US" dirty="0" err="1">
                <a:cs typeface="Tahoma" panose="020B0604030504040204" pitchFamily="34" charset="0"/>
                <a:sym typeface="Symbol" panose="05050102010706020507" pitchFamily="18" charset="2"/>
              </a:rPr>
              <a:t>t</a:t>
            </a:r>
            <a:r>
              <a:rPr lang="en-US" altLang="en-US" baseline="-25000" dirty="0" err="1">
                <a:cs typeface="Tahoma" panose="020B0604030504040204" pitchFamily="34" charset="0"/>
                <a:sym typeface="Symbol" panose="05050102010706020507" pitchFamily="18" charset="2"/>
              </a:rPr>
              <a:t>jq</a:t>
            </a:r>
            <a:r>
              <a:rPr lang="en-US" altLang="en-US" dirty="0">
                <a:cs typeface="Tahoma" panose="020B0604030504040204" pitchFamily="34" charset="0"/>
                <a:sym typeface="Symbol" panose="05050102010706020507" pitchFamily="18" charset="2"/>
              </a:rPr>
              <a:t>)</a:t>
            </a:r>
          </a:p>
          <a:p>
            <a:pPr marL="342900" indent="-342900">
              <a:lnSpc>
                <a:spcPct val="130000"/>
              </a:lnSpc>
              <a:buFont typeface="Arial" panose="020B0604020202020204" pitchFamily="34" charset="0"/>
              <a:buChar char="•"/>
            </a:pPr>
            <a:r>
              <a:rPr lang="en-US" altLang="en-US" sz="2000" dirty="0">
                <a:cs typeface="Tahoma" panose="020B0604030504040204" pitchFamily="34" charset="0"/>
                <a:sym typeface="Symbol" panose="05050102010706020507" pitchFamily="18" charset="2"/>
              </a:rPr>
              <a:t>Centroid Linkage: </a:t>
            </a:r>
            <a:r>
              <a:rPr lang="en-US" altLang="en-US" dirty="0">
                <a:cs typeface="Tahoma" panose="020B0604030504040204" pitchFamily="34" charset="0"/>
                <a:sym typeface="Symbol" panose="05050102010706020507" pitchFamily="18" charset="2"/>
              </a:rPr>
              <a:t>distance between the centroids of two clusters, i.e.,  </a:t>
            </a:r>
            <a:r>
              <a:rPr lang="en-US" altLang="en-US" dirty="0" err="1">
                <a:cs typeface="Tahoma" panose="020B0604030504040204" pitchFamily="34" charset="0"/>
                <a:sym typeface="Symbol" panose="05050102010706020507" pitchFamily="18" charset="2"/>
              </a:rPr>
              <a:t>dist</a:t>
            </a:r>
            <a:r>
              <a:rPr lang="en-US" altLang="en-US" dirty="0">
                <a:cs typeface="Tahoma" panose="020B0604030504040204" pitchFamily="34" charset="0"/>
                <a:sym typeface="Symbol" panose="05050102010706020507" pitchFamily="18" charset="2"/>
              </a:rPr>
              <a:t>(K</a:t>
            </a:r>
            <a:r>
              <a:rPr lang="en-US" altLang="en-US" baseline="-25000" dirty="0">
                <a:cs typeface="Tahoma" panose="020B0604030504040204" pitchFamily="34" charset="0"/>
                <a:sym typeface="Symbol" panose="05050102010706020507" pitchFamily="18" charset="2"/>
              </a:rPr>
              <a:t>i</a:t>
            </a:r>
            <a:r>
              <a:rPr lang="en-US" altLang="en-US" dirty="0">
                <a:cs typeface="Tahoma" panose="020B0604030504040204" pitchFamily="34" charset="0"/>
                <a:sym typeface="Symbol" panose="05050102010706020507" pitchFamily="18" charset="2"/>
              </a:rPr>
              <a:t>, </a:t>
            </a:r>
            <a:r>
              <a:rPr lang="en-US" altLang="en-US" dirty="0" err="1">
                <a:cs typeface="Tahoma" panose="020B0604030504040204" pitchFamily="34" charset="0"/>
                <a:sym typeface="Symbol" panose="05050102010706020507" pitchFamily="18" charset="2"/>
              </a:rPr>
              <a:t>K</a:t>
            </a:r>
            <a:r>
              <a:rPr lang="en-US" altLang="en-US" baseline="-25000" dirty="0" err="1">
                <a:cs typeface="Tahoma" panose="020B0604030504040204" pitchFamily="34" charset="0"/>
                <a:sym typeface="Symbol" panose="05050102010706020507" pitchFamily="18" charset="2"/>
              </a:rPr>
              <a:t>j</a:t>
            </a:r>
            <a:r>
              <a:rPr lang="en-US" altLang="en-US" dirty="0">
                <a:cs typeface="Tahoma" panose="020B0604030504040204" pitchFamily="34" charset="0"/>
                <a:sym typeface="Symbol" panose="05050102010706020507" pitchFamily="18" charset="2"/>
              </a:rPr>
              <a:t>) = </a:t>
            </a:r>
            <a:r>
              <a:rPr lang="en-US" altLang="en-US" dirty="0" err="1">
                <a:cs typeface="Tahoma" panose="020B0604030504040204" pitchFamily="34" charset="0"/>
                <a:sym typeface="Symbol" panose="05050102010706020507" pitchFamily="18" charset="2"/>
              </a:rPr>
              <a:t>dist</a:t>
            </a:r>
            <a:r>
              <a:rPr lang="en-US" altLang="en-US" dirty="0">
                <a:cs typeface="Tahoma" panose="020B0604030504040204" pitchFamily="34" charset="0"/>
                <a:sym typeface="Symbol" panose="05050102010706020507" pitchFamily="18" charset="2"/>
              </a:rPr>
              <a:t>(C</a:t>
            </a:r>
            <a:r>
              <a:rPr lang="en-US" altLang="en-US" baseline="-25000" dirty="0">
                <a:cs typeface="Tahoma" panose="020B0604030504040204" pitchFamily="34" charset="0"/>
                <a:sym typeface="Symbol" panose="05050102010706020507" pitchFamily="18" charset="2"/>
              </a:rPr>
              <a:t>i</a:t>
            </a:r>
            <a:r>
              <a:rPr lang="en-US" altLang="en-US" dirty="0">
                <a:cs typeface="Tahoma" panose="020B0604030504040204" pitchFamily="34" charset="0"/>
                <a:sym typeface="Symbol" panose="05050102010706020507" pitchFamily="18" charset="2"/>
              </a:rPr>
              <a:t>, </a:t>
            </a:r>
            <a:r>
              <a:rPr lang="en-US" altLang="en-US" dirty="0" err="1">
                <a:cs typeface="Tahoma" panose="020B0604030504040204" pitchFamily="34" charset="0"/>
                <a:sym typeface="Symbol" panose="05050102010706020507" pitchFamily="18" charset="2"/>
              </a:rPr>
              <a:t>C</a:t>
            </a:r>
            <a:r>
              <a:rPr lang="en-US" altLang="en-US" baseline="-25000" dirty="0" err="1">
                <a:cs typeface="Tahoma" panose="020B0604030504040204" pitchFamily="34" charset="0"/>
                <a:sym typeface="Symbol" panose="05050102010706020507" pitchFamily="18" charset="2"/>
              </a:rPr>
              <a:t>j</a:t>
            </a:r>
            <a:r>
              <a:rPr lang="en-US" altLang="en-US" dirty="0">
                <a:cs typeface="Tahoma" panose="020B0604030504040204" pitchFamily="34" charset="0"/>
                <a:sym typeface="Symbol" panose="05050102010706020507" pitchFamily="18" charset="2"/>
              </a:rPr>
              <a:t>)</a:t>
            </a:r>
          </a:p>
        </p:txBody>
      </p:sp>
      <p:grpSp>
        <p:nvGrpSpPr>
          <p:cNvPr id="4" name="Group 45">
            <a:extLst>
              <a:ext uri="{FF2B5EF4-FFF2-40B4-BE49-F238E27FC236}">
                <a16:creationId xmlns:a16="http://schemas.microsoft.com/office/drawing/2014/main" id="{5DB8615E-FEEA-4E8B-B8DD-4847B90A3735}"/>
              </a:ext>
            </a:extLst>
          </p:cNvPr>
          <p:cNvGrpSpPr>
            <a:grpSpLocks/>
          </p:cNvGrpSpPr>
          <p:nvPr/>
        </p:nvGrpSpPr>
        <p:grpSpPr bwMode="auto">
          <a:xfrm>
            <a:off x="3048000" y="1295400"/>
            <a:ext cx="914400" cy="1066800"/>
            <a:chOff x="6096000" y="152400"/>
            <a:chExt cx="914400" cy="1066800"/>
          </a:xfrm>
        </p:grpSpPr>
        <p:grpSp>
          <p:nvGrpSpPr>
            <p:cNvPr id="5" name="Group 38">
              <a:extLst>
                <a:ext uri="{FF2B5EF4-FFF2-40B4-BE49-F238E27FC236}">
                  <a16:creationId xmlns:a16="http://schemas.microsoft.com/office/drawing/2014/main" id="{2C53575F-7E1A-4A5B-BFB9-9CB18326EB94}"/>
                </a:ext>
              </a:extLst>
            </p:cNvPr>
            <p:cNvGrpSpPr>
              <a:grpSpLocks/>
            </p:cNvGrpSpPr>
            <p:nvPr/>
          </p:nvGrpSpPr>
          <p:grpSpPr bwMode="auto">
            <a:xfrm>
              <a:off x="6096000" y="152400"/>
              <a:ext cx="914400" cy="1066800"/>
              <a:chOff x="6096000" y="152400"/>
              <a:chExt cx="914400" cy="1066800"/>
            </a:xfrm>
          </p:grpSpPr>
          <p:sp>
            <p:nvSpPr>
              <p:cNvPr id="7" name="Oval 6">
                <a:extLst>
                  <a:ext uri="{FF2B5EF4-FFF2-40B4-BE49-F238E27FC236}">
                    <a16:creationId xmlns:a16="http://schemas.microsoft.com/office/drawing/2014/main" id="{48DBF113-499A-4E65-92AB-64F88DBCEFBD}"/>
                  </a:ext>
                </a:extLst>
              </p:cNvPr>
              <p:cNvSpPr/>
              <p:nvPr/>
            </p:nvSpPr>
            <p:spPr bwMode="auto">
              <a:xfrm>
                <a:off x="6096000" y="152400"/>
                <a:ext cx="914400" cy="1066800"/>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nchor="ctr"/>
              <a:lstStyle/>
              <a:p>
                <a:pPr>
                  <a:defRPr/>
                </a:pPr>
                <a:endParaRPr lang="en-US" b="1">
                  <a:ln w="18000">
                    <a:solidFill>
                      <a:schemeClr val="accent2">
                        <a:satMod val="140000"/>
                      </a:schemeClr>
                    </a:solidFill>
                    <a:prstDash val="solid"/>
                    <a:miter lim="800000"/>
                  </a:ln>
                  <a:noFill/>
                  <a:effectLst>
                    <a:outerShdw blurRad="25500" dist="23000" dir="7020000" algn="tl">
                      <a:srgbClr val="000000">
                        <a:alpha val="50000"/>
                      </a:srgbClr>
                    </a:outerShdw>
                  </a:effectLst>
                  <a:latin typeface="Tahoma" pitchFamily="34" charset="0"/>
                </a:endParaRPr>
              </a:p>
            </p:txBody>
          </p:sp>
          <p:sp>
            <p:nvSpPr>
              <p:cNvPr id="8" name="Oval 8">
                <a:extLst>
                  <a:ext uri="{FF2B5EF4-FFF2-40B4-BE49-F238E27FC236}">
                    <a16:creationId xmlns:a16="http://schemas.microsoft.com/office/drawing/2014/main" id="{435C01A3-26C2-4A8D-A3FE-1B5D4FD7603F}"/>
                  </a:ext>
                </a:extLst>
              </p:cNvPr>
              <p:cNvSpPr>
                <a:spLocks noChangeArrowheads="1"/>
              </p:cNvSpPr>
              <p:nvPr/>
            </p:nvSpPr>
            <p:spPr bwMode="auto">
              <a:xfrm>
                <a:off x="63246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9" name="Oval 9">
                <a:extLst>
                  <a:ext uri="{FF2B5EF4-FFF2-40B4-BE49-F238E27FC236}">
                    <a16:creationId xmlns:a16="http://schemas.microsoft.com/office/drawing/2014/main" id="{CA417961-2A7A-4EFD-A16D-0E4EBE323BD1}"/>
                  </a:ext>
                </a:extLst>
              </p:cNvPr>
              <p:cNvSpPr>
                <a:spLocks noChangeArrowheads="1"/>
              </p:cNvSpPr>
              <p:nvPr/>
            </p:nvSpPr>
            <p:spPr bwMode="auto">
              <a:xfrm>
                <a:off x="64770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0" name="Oval 10">
                <a:extLst>
                  <a:ext uri="{FF2B5EF4-FFF2-40B4-BE49-F238E27FC236}">
                    <a16:creationId xmlns:a16="http://schemas.microsoft.com/office/drawing/2014/main" id="{4E0026C1-6722-4B34-B6BD-166B7236D532}"/>
                  </a:ext>
                </a:extLst>
              </p:cNvPr>
              <p:cNvSpPr>
                <a:spLocks noChangeArrowheads="1"/>
              </p:cNvSpPr>
              <p:nvPr/>
            </p:nvSpPr>
            <p:spPr bwMode="auto">
              <a:xfrm>
                <a:off x="6629400" y="838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1" name="Oval 11">
                <a:extLst>
                  <a:ext uri="{FF2B5EF4-FFF2-40B4-BE49-F238E27FC236}">
                    <a16:creationId xmlns:a16="http://schemas.microsoft.com/office/drawing/2014/main" id="{FA959AC3-5F31-4021-B071-8A865B75222C}"/>
                  </a:ext>
                </a:extLst>
              </p:cNvPr>
              <p:cNvSpPr>
                <a:spLocks noChangeArrowheads="1"/>
              </p:cNvSpPr>
              <p:nvPr/>
            </p:nvSpPr>
            <p:spPr bwMode="auto">
              <a:xfrm>
                <a:off x="68580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2" name="Oval 12">
                <a:extLst>
                  <a:ext uri="{FF2B5EF4-FFF2-40B4-BE49-F238E27FC236}">
                    <a16:creationId xmlns:a16="http://schemas.microsoft.com/office/drawing/2014/main" id="{2F62335B-83C0-40D3-B69D-DBD2EF60BBDC}"/>
                  </a:ext>
                </a:extLst>
              </p:cNvPr>
              <p:cNvSpPr>
                <a:spLocks noChangeArrowheads="1"/>
              </p:cNvSpPr>
              <p:nvPr/>
            </p:nvSpPr>
            <p:spPr bwMode="auto">
              <a:xfrm>
                <a:off x="61722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3" name="Oval 13">
                <a:extLst>
                  <a:ext uri="{FF2B5EF4-FFF2-40B4-BE49-F238E27FC236}">
                    <a16:creationId xmlns:a16="http://schemas.microsoft.com/office/drawing/2014/main" id="{7EE53656-A434-44E7-BA7F-82A35E36F020}"/>
                  </a:ext>
                </a:extLst>
              </p:cNvPr>
              <p:cNvSpPr>
                <a:spLocks noChangeArrowheads="1"/>
              </p:cNvSpPr>
              <p:nvPr/>
            </p:nvSpPr>
            <p:spPr bwMode="auto">
              <a:xfrm>
                <a:off x="61722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4" name="Oval 14">
                <a:extLst>
                  <a:ext uri="{FF2B5EF4-FFF2-40B4-BE49-F238E27FC236}">
                    <a16:creationId xmlns:a16="http://schemas.microsoft.com/office/drawing/2014/main" id="{4AE984BF-EC27-4749-8C56-D8938318998E}"/>
                  </a:ext>
                </a:extLst>
              </p:cNvPr>
              <p:cNvSpPr>
                <a:spLocks noChangeArrowheads="1"/>
              </p:cNvSpPr>
              <p:nvPr/>
            </p:nvSpPr>
            <p:spPr bwMode="auto">
              <a:xfrm>
                <a:off x="66294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5" name="Oval 16">
                <a:extLst>
                  <a:ext uri="{FF2B5EF4-FFF2-40B4-BE49-F238E27FC236}">
                    <a16:creationId xmlns:a16="http://schemas.microsoft.com/office/drawing/2014/main" id="{C51D1DD8-6DE4-4444-B006-A934A1427E79}"/>
                  </a:ext>
                </a:extLst>
              </p:cNvPr>
              <p:cNvSpPr>
                <a:spLocks noChangeArrowheads="1"/>
              </p:cNvSpPr>
              <p:nvPr/>
            </p:nvSpPr>
            <p:spPr bwMode="auto">
              <a:xfrm>
                <a:off x="67818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6" name="Oval 17">
                <a:extLst>
                  <a:ext uri="{FF2B5EF4-FFF2-40B4-BE49-F238E27FC236}">
                    <a16:creationId xmlns:a16="http://schemas.microsoft.com/office/drawing/2014/main" id="{5BBE642F-A0A8-41D1-84EC-4AFF55292718}"/>
                  </a:ext>
                </a:extLst>
              </p:cNvPr>
              <p:cNvSpPr>
                <a:spLocks noChangeArrowheads="1"/>
              </p:cNvSpPr>
              <p:nvPr/>
            </p:nvSpPr>
            <p:spPr bwMode="auto">
              <a:xfrm>
                <a:off x="64008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7" name="Oval 18">
                <a:extLst>
                  <a:ext uri="{FF2B5EF4-FFF2-40B4-BE49-F238E27FC236}">
                    <a16:creationId xmlns:a16="http://schemas.microsoft.com/office/drawing/2014/main" id="{CA5C082D-13DE-4E45-B367-5F5F4A7E6515}"/>
                  </a:ext>
                </a:extLst>
              </p:cNvPr>
              <p:cNvSpPr>
                <a:spLocks noChangeArrowheads="1"/>
              </p:cNvSpPr>
              <p:nvPr/>
            </p:nvSpPr>
            <p:spPr bwMode="auto">
              <a:xfrm>
                <a:off x="66294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8" name="Oval 33">
                <a:extLst>
                  <a:ext uri="{FF2B5EF4-FFF2-40B4-BE49-F238E27FC236}">
                    <a16:creationId xmlns:a16="http://schemas.microsoft.com/office/drawing/2014/main" id="{5F0890BC-1EED-4A96-BE69-F6FDE4FE049D}"/>
                  </a:ext>
                </a:extLst>
              </p:cNvPr>
              <p:cNvSpPr>
                <a:spLocks noChangeArrowheads="1"/>
              </p:cNvSpPr>
              <p:nvPr/>
            </p:nvSpPr>
            <p:spPr bwMode="auto">
              <a:xfrm>
                <a:off x="6477000" y="1066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9" name="Oval 34">
                <a:extLst>
                  <a:ext uri="{FF2B5EF4-FFF2-40B4-BE49-F238E27FC236}">
                    <a16:creationId xmlns:a16="http://schemas.microsoft.com/office/drawing/2014/main" id="{CC2C9EF1-D529-4B7A-80B2-4E99AAE60A3C}"/>
                  </a:ext>
                </a:extLst>
              </p:cNvPr>
              <p:cNvSpPr>
                <a:spLocks noChangeArrowheads="1"/>
              </p:cNvSpPr>
              <p:nvPr/>
            </p:nvSpPr>
            <p:spPr bwMode="auto">
              <a:xfrm>
                <a:off x="6477000" y="228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0" name="Oval 35">
                <a:extLst>
                  <a:ext uri="{FF2B5EF4-FFF2-40B4-BE49-F238E27FC236}">
                    <a16:creationId xmlns:a16="http://schemas.microsoft.com/office/drawing/2014/main" id="{0FA56883-8EB8-4E47-BCA2-CF2B1EE12789}"/>
                  </a:ext>
                </a:extLst>
              </p:cNvPr>
              <p:cNvSpPr>
                <a:spLocks noChangeArrowheads="1"/>
              </p:cNvSpPr>
              <p:nvPr/>
            </p:nvSpPr>
            <p:spPr bwMode="auto">
              <a:xfrm>
                <a:off x="62484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1" name="Oval 36">
                <a:extLst>
                  <a:ext uri="{FF2B5EF4-FFF2-40B4-BE49-F238E27FC236}">
                    <a16:creationId xmlns:a16="http://schemas.microsoft.com/office/drawing/2014/main" id="{5ED5A9B8-6067-404B-8C7E-8E948CB7D5EF}"/>
                  </a:ext>
                </a:extLst>
              </p:cNvPr>
              <p:cNvSpPr>
                <a:spLocks noChangeArrowheads="1"/>
              </p:cNvSpPr>
              <p:nvPr/>
            </p:nvSpPr>
            <p:spPr bwMode="auto">
              <a:xfrm>
                <a:off x="67818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sp>
          <p:nvSpPr>
            <p:cNvPr id="6" name="TextBox 43">
              <a:extLst>
                <a:ext uri="{FF2B5EF4-FFF2-40B4-BE49-F238E27FC236}">
                  <a16:creationId xmlns:a16="http://schemas.microsoft.com/office/drawing/2014/main" id="{7A52B0B6-6F3D-46B3-BF99-0F1C68DA5C20}"/>
                </a:ext>
              </a:extLst>
            </p:cNvPr>
            <p:cNvSpPr txBox="1">
              <a:spLocks noChangeArrowheads="1"/>
            </p:cNvSpPr>
            <p:nvPr/>
          </p:nvSpPr>
          <p:spPr bwMode="auto">
            <a:xfrm flipH="1">
              <a:off x="6507481" y="533400"/>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000"/>
                <a:t>X</a:t>
              </a:r>
            </a:p>
          </p:txBody>
        </p:sp>
      </p:grpSp>
      <p:grpSp>
        <p:nvGrpSpPr>
          <p:cNvPr id="22" name="Group 46">
            <a:extLst>
              <a:ext uri="{FF2B5EF4-FFF2-40B4-BE49-F238E27FC236}">
                <a16:creationId xmlns:a16="http://schemas.microsoft.com/office/drawing/2014/main" id="{32796806-FE11-4C0D-8E68-DBDFE668A7E2}"/>
              </a:ext>
            </a:extLst>
          </p:cNvPr>
          <p:cNvGrpSpPr>
            <a:grpSpLocks/>
          </p:cNvGrpSpPr>
          <p:nvPr/>
        </p:nvGrpSpPr>
        <p:grpSpPr bwMode="auto">
          <a:xfrm>
            <a:off x="4876800" y="1447800"/>
            <a:ext cx="1066800" cy="838200"/>
            <a:chOff x="7924800" y="304800"/>
            <a:chExt cx="1066800" cy="838200"/>
          </a:xfrm>
        </p:grpSpPr>
        <p:grpSp>
          <p:nvGrpSpPr>
            <p:cNvPr id="23" name="Group 39">
              <a:extLst>
                <a:ext uri="{FF2B5EF4-FFF2-40B4-BE49-F238E27FC236}">
                  <a16:creationId xmlns:a16="http://schemas.microsoft.com/office/drawing/2014/main" id="{8EFB7A46-0DF2-4DA0-BE88-8FBA45F564BE}"/>
                </a:ext>
              </a:extLst>
            </p:cNvPr>
            <p:cNvGrpSpPr>
              <a:grpSpLocks/>
            </p:cNvGrpSpPr>
            <p:nvPr/>
          </p:nvGrpSpPr>
          <p:grpSpPr bwMode="auto">
            <a:xfrm>
              <a:off x="7924800" y="304800"/>
              <a:ext cx="1066800" cy="838200"/>
              <a:chOff x="7924800" y="304800"/>
              <a:chExt cx="1066800" cy="838200"/>
            </a:xfrm>
          </p:grpSpPr>
          <p:sp>
            <p:nvSpPr>
              <p:cNvPr id="25" name="Oval 24">
                <a:extLst>
                  <a:ext uri="{FF2B5EF4-FFF2-40B4-BE49-F238E27FC236}">
                    <a16:creationId xmlns:a16="http://schemas.microsoft.com/office/drawing/2014/main" id="{B12F1028-048C-45FC-8F54-145AD988BC74}"/>
                  </a:ext>
                </a:extLst>
              </p:cNvPr>
              <p:cNvSpPr/>
              <p:nvPr/>
            </p:nvSpPr>
            <p:spPr bwMode="auto">
              <a:xfrm>
                <a:off x="7924800" y="304800"/>
                <a:ext cx="1066800" cy="838200"/>
              </a:xfrm>
              <a:prstGeom prst="ellipse">
                <a:avLst/>
              </a:prstGeom>
              <a:ln>
                <a:solidFill>
                  <a:schemeClr val="tx2">
                    <a:lumMod val="60000"/>
                    <a:lumOff val="4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a:defRPr/>
                </a:pPr>
                <a:endParaRPr lang="en-US" b="1">
                  <a:ln w="18000">
                    <a:solidFill>
                      <a:schemeClr val="accent2">
                        <a:satMod val="140000"/>
                      </a:schemeClr>
                    </a:solidFill>
                    <a:prstDash val="solid"/>
                    <a:miter lim="800000"/>
                  </a:ln>
                  <a:noFill/>
                  <a:effectLst>
                    <a:outerShdw blurRad="25500" dist="23000" dir="7020000" algn="tl">
                      <a:srgbClr val="000000">
                        <a:alpha val="50000"/>
                      </a:srgbClr>
                    </a:outerShdw>
                  </a:effectLst>
                  <a:latin typeface="Tahoma" pitchFamily="34" charset="0"/>
                </a:endParaRPr>
              </a:p>
            </p:txBody>
          </p:sp>
          <p:sp>
            <p:nvSpPr>
              <p:cNvPr id="26" name="Oval 15">
                <a:extLst>
                  <a:ext uri="{FF2B5EF4-FFF2-40B4-BE49-F238E27FC236}">
                    <a16:creationId xmlns:a16="http://schemas.microsoft.com/office/drawing/2014/main" id="{1016B695-9EF4-4405-AF04-7D8C60BC7E58}"/>
                  </a:ext>
                </a:extLst>
              </p:cNvPr>
              <p:cNvSpPr>
                <a:spLocks noChangeArrowheads="1"/>
              </p:cNvSpPr>
              <p:nvPr/>
            </p:nvSpPr>
            <p:spPr bwMode="auto">
              <a:xfrm>
                <a:off x="83058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solidFill>
                    <a:srgbClr val="0000FF"/>
                  </a:solidFill>
                </a:endParaRPr>
              </a:p>
            </p:txBody>
          </p:sp>
          <p:sp>
            <p:nvSpPr>
              <p:cNvPr id="27" name="Oval 19">
                <a:extLst>
                  <a:ext uri="{FF2B5EF4-FFF2-40B4-BE49-F238E27FC236}">
                    <a16:creationId xmlns:a16="http://schemas.microsoft.com/office/drawing/2014/main" id="{1BDDCBED-252A-46C3-97EF-8B1968D99FC6}"/>
                  </a:ext>
                </a:extLst>
              </p:cNvPr>
              <p:cNvSpPr>
                <a:spLocks noChangeArrowheads="1"/>
              </p:cNvSpPr>
              <p:nvPr/>
            </p:nvSpPr>
            <p:spPr bwMode="auto">
              <a:xfrm>
                <a:off x="84582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solidFill>
                    <a:srgbClr val="0000FF"/>
                  </a:solidFill>
                </a:endParaRPr>
              </a:p>
            </p:txBody>
          </p:sp>
          <p:sp>
            <p:nvSpPr>
              <p:cNvPr id="28" name="Oval 20">
                <a:extLst>
                  <a:ext uri="{FF2B5EF4-FFF2-40B4-BE49-F238E27FC236}">
                    <a16:creationId xmlns:a16="http://schemas.microsoft.com/office/drawing/2014/main" id="{680D3184-232C-4A14-8F39-15FE83195F24}"/>
                  </a:ext>
                </a:extLst>
              </p:cNvPr>
              <p:cNvSpPr>
                <a:spLocks noChangeArrowheads="1"/>
              </p:cNvSpPr>
              <p:nvPr/>
            </p:nvSpPr>
            <p:spPr bwMode="auto">
              <a:xfrm>
                <a:off x="86106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solidFill>
                    <a:srgbClr val="0000FF"/>
                  </a:solidFill>
                </a:endParaRPr>
              </a:p>
            </p:txBody>
          </p:sp>
          <p:sp>
            <p:nvSpPr>
              <p:cNvPr id="29" name="Oval 21">
                <a:extLst>
                  <a:ext uri="{FF2B5EF4-FFF2-40B4-BE49-F238E27FC236}">
                    <a16:creationId xmlns:a16="http://schemas.microsoft.com/office/drawing/2014/main" id="{7DD613B0-98EF-459B-B8AE-91C0D08D89BF}"/>
                  </a:ext>
                </a:extLst>
              </p:cNvPr>
              <p:cNvSpPr>
                <a:spLocks noChangeArrowheads="1"/>
              </p:cNvSpPr>
              <p:nvPr/>
            </p:nvSpPr>
            <p:spPr bwMode="auto">
              <a:xfrm>
                <a:off x="8458200" y="762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solidFill>
                    <a:srgbClr val="0000FF"/>
                  </a:solidFill>
                </a:endParaRPr>
              </a:p>
            </p:txBody>
          </p:sp>
          <p:sp>
            <p:nvSpPr>
              <p:cNvPr id="30" name="Oval 22">
                <a:extLst>
                  <a:ext uri="{FF2B5EF4-FFF2-40B4-BE49-F238E27FC236}">
                    <a16:creationId xmlns:a16="http://schemas.microsoft.com/office/drawing/2014/main" id="{F79ED4F6-9C0E-4307-877D-BAC1043ED678}"/>
                  </a:ext>
                </a:extLst>
              </p:cNvPr>
              <p:cNvSpPr>
                <a:spLocks noChangeArrowheads="1"/>
              </p:cNvSpPr>
              <p:nvPr/>
            </p:nvSpPr>
            <p:spPr bwMode="auto">
              <a:xfrm>
                <a:off x="86106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solidFill>
                    <a:srgbClr val="0000FF"/>
                  </a:solidFill>
                </a:endParaRPr>
              </a:p>
            </p:txBody>
          </p:sp>
          <p:sp>
            <p:nvSpPr>
              <p:cNvPr id="31" name="Oval 23">
                <a:extLst>
                  <a:ext uri="{FF2B5EF4-FFF2-40B4-BE49-F238E27FC236}">
                    <a16:creationId xmlns:a16="http://schemas.microsoft.com/office/drawing/2014/main" id="{ADAD4A60-C697-47F0-8892-F9632BB56553}"/>
                  </a:ext>
                </a:extLst>
              </p:cNvPr>
              <p:cNvSpPr>
                <a:spLocks noChangeArrowheads="1"/>
              </p:cNvSpPr>
              <p:nvPr/>
            </p:nvSpPr>
            <p:spPr bwMode="auto">
              <a:xfrm>
                <a:off x="81534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solidFill>
                    <a:srgbClr val="0000FF"/>
                  </a:solidFill>
                </a:endParaRPr>
              </a:p>
            </p:txBody>
          </p:sp>
          <p:sp>
            <p:nvSpPr>
              <p:cNvPr id="32" name="Oval 24">
                <a:extLst>
                  <a:ext uri="{FF2B5EF4-FFF2-40B4-BE49-F238E27FC236}">
                    <a16:creationId xmlns:a16="http://schemas.microsoft.com/office/drawing/2014/main" id="{D3C30197-5B2B-43B5-9A34-19AB2C7F1292}"/>
                  </a:ext>
                </a:extLst>
              </p:cNvPr>
              <p:cNvSpPr>
                <a:spLocks noChangeArrowheads="1"/>
              </p:cNvSpPr>
              <p:nvPr/>
            </p:nvSpPr>
            <p:spPr bwMode="auto">
              <a:xfrm>
                <a:off x="83058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solidFill>
                    <a:srgbClr val="0000FF"/>
                  </a:solidFill>
                </a:endParaRPr>
              </a:p>
            </p:txBody>
          </p:sp>
          <p:sp>
            <p:nvSpPr>
              <p:cNvPr id="33" name="Oval 25">
                <a:extLst>
                  <a:ext uri="{FF2B5EF4-FFF2-40B4-BE49-F238E27FC236}">
                    <a16:creationId xmlns:a16="http://schemas.microsoft.com/office/drawing/2014/main" id="{6918EB0B-7CE1-4345-AAB9-9CEE38C642F2}"/>
                  </a:ext>
                </a:extLst>
              </p:cNvPr>
              <p:cNvSpPr>
                <a:spLocks noChangeArrowheads="1"/>
              </p:cNvSpPr>
              <p:nvPr/>
            </p:nvSpPr>
            <p:spPr bwMode="auto">
              <a:xfrm>
                <a:off x="80010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solidFill>
                    <a:srgbClr val="0000FF"/>
                  </a:solidFill>
                </a:endParaRPr>
              </a:p>
            </p:txBody>
          </p:sp>
          <p:sp>
            <p:nvSpPr>
              <p:cNvPr id="34" name="Oval 26">
                <a:extLst>
                  <a:ext uri="{FF2B5EF4-FFF2-40B4-BE49-F238E27FC236}">
                    <a16:creationId xmlns:a16="http://schemas.microsoft.com/office/drawing/2014/main" id="{FE3171DC-3DA4-4D0B-924B-F186E62BEECF}"/>
                  </a:ext>
                </a:extLst>
              </p:cNvPr>
              <p:cNvSpPr>
                <a:spLocks noChangeArrowheads="1"/>
              </p:cNvSpPr>
              <p:nvPr/>
            </p:nvSpPr>
            <p:spPr bwMode="auto">
              <a:xfrm>
                <a:off x="84582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b="1">
                  <a:solidFill>
                    <a:srgbClr val="0000FF"/>
                  </a:solidFill>
                </a:endParaRPr>
              </a:p>
            </p:txBody>
          </p:sp>
          <p:sp>
            <p:nvSpPr>
              <p:cNvPr id="35" name="Oval 27">
                <a:extLst>
                  <a:ext uri="{FF2B5EF4-FFF2-40B4-BE49-F238E27FC236}">
                    <a16:creationId xmlns:a16="http://schemas.microsoft.com/office/drawing/2014/main" id="{73E9489E-EAA1-42E0-B665-A38501E23DAD}"/>
                  </a:ext>
                </a:extLst>
              </p:cNvPr>
              <p:cNvSpPr>
                <a:spLocks noChangeArrowheads="1"/>
              </p:cNvSpPr>
              <p:nvPr/>
            </p:nvSpPr>
            <p:spPr bwMode="auto">
              <a:xfrm>
                <a:off x="81534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solidFill>
                    <a:srgbClr val="0000FF"/>
                  </a:solidFill>
                </a:endParaRPr>
              </a:p>
            </p:txBody>
          </p:sp>
          <p:sp>
            <p:nvSpPr>
              <p:cNvPr id="36" name="Oval 28">
                <a:extLst>
                  <a:ext uri="{FF2B5EF4-FFF2-40B4-BE49-F238E27FC236}">
                    <a16:creationId xmlns:a16="http://schemas.microsoft.com/office/drawing/2014/main" id="{3614C7AD-FCA7-475E-BA5F-FCB94BE8BBC5}"/>
                  </a:ext>
                </a:extLst>
              </p:cNvPr>
              <p:cNvSpPr>
                <a:spLocks noChangeArrowheads="1"/>
              </p:cNvSpPr>
              <p:nvPr/>
            </p:nvSpPr>
            <p:spPr bwMode="auto">
              <a:xfrm>
                <a:off x="83058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solidFill>
                    <a:srgbClr val="0000FF"/>
                  </a:solidFill>
                </a:endParaRPr>
              </a:p>
            </p:txBody>
          </p:sp>
          <p:sp>
            <p:nvSpPr>
              <p:cNvPr id="37" name="Oval 29">
                <a:extLst>
                  <a:ext uri="{FF2B5EF4-FFF2-40B4-BE49-F238E27FC236}">
                    <a16:creationId xmlns:a16="http://schemas.microsoft.com/office/drawing/2014/main" id="{5C846DE3-1A13-4DF6-9784-690A37DE0C68}"/>
                  </a:ext>
                </a:extLst>
              </p:cNvPr>
              <p:cNvSpPr>
                <a:spLocks noChangeArrowheads="1"/>
              </p:cNvSpPr>
              <p:nvPr/>
            </p:nvSpPr>
            <p:spPr bwMode="auto">
              <a:xfrm>
                <a:off x="86106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solidFill>
                    <a:srgbClr val="0000FF"/>
                  </a:solidFill>
                </a:endParaRPr>
              </a:p>
            </p:txBody>
          </p:sp>
          <p:sp>
            <p:nvSpPr>
              <p:cNvPr id="38" name="Oval 30">
                <a:extLst>
                  <a:ext uri="{FF2B5EF4-FFF2-40B4-BE49-F238E27FC236}">
                    <a16:creationId xmlns:a16="http://schemas.microsoft.com/office/drawing/2014/main" id="{0F8A73AE-B9B6-4CDA-910D-0068B828F738}"/>
                  </a:ext>
                </a:extLst>
              </p:cNvPr>
              <p:cNvSpPr>
                <a:spLocks noChangeArrowheads="1"/>
              </p:cNvSpPr>
              <p:nvPr/>
            </p:nvSpPr>
            <p:spPr bwMode="auto">
              <a:xfrm>
                <a:off x="87630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solidFill>
                    <a:srgbClr val="0000FF"/>
                  </a:solidFill>
                </a:endParaRPr>
              </a:p>
            </p:txBody>
          </p:sp>
          <p:sp>
            <p:nvSpPr>
              <p:cNvPr id="39" name="Oval 31">
                <a:extLst>
                  <a:ext uri="{FF2B5EF4-FFF2-40B4-BE49-F238E27FC236}">
                    <a16:creationId xmlns:a16="http://schemas.microsoft.com/office/drawing/2014/main" id="{78211890-7D3F-4A4C-8836-BD28537FBE5B}"/>
                  </a:ext>
                </a:extLst>
              </p:cNvPr>
              <p:cNvSpPr>
                <a:spLocks noChangeArrowheads="1"/>
              </p:cNvSpPr>
              <p:nvPr/>
            </p:nvSpPr>
            <p:spPr bwMode="auto">
              <a:xfrm>
                <a:off x="88392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solidFill>
                    <a:srgbClr val="0000FF"/>
                  </a:solidFill>
                </a:endParaRPr>
              </a:p>
            </p:txBody>
          </p:sp>
          <p:sp>
            <p:nvSpPr>
              <p:cNvPr id="40" name="Oval 32">
                <a:extLst>
                  <a:ext uri="{FF2B5EF4-FFF2-40B4-BE49-F238E27FC236}">
                    <a16:creationId xmlns:a16="http://schemas.microsoft.com/office/drawing/2014/main" id="{FE4129B2-E61A-44A5-81B6-85139A04AB1F}"/>
                  </a:ext>
                </a:extLst>
              </p:cNvPr>
              <p:cNvSpPr>
                <a:spLocks noChangeArrowheads="1"/>
              </p:cNvSpPr>
              <p:nvPr/>
            </p:nvSpPr>
            <p:spPr bwMode="auto">
              <a:xfrm>
                <a:off x="86868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solidFill>
                    <a:srgbClr val="0000FF"/>
                  </a:solidFill>
                </a:endParaRPr>
              </a:p>
            </p:txBody>
          </p:sp>
          <p:sp>
            <p:nvSpPr>
              <p:cNvPr id="41" name="Oval 37">
                <a:extLst>
                  <a:ext uri="{FF2B5EF4-FFF2-40B4-BE49-F238E27FC236}">
                    <a16:creationId xmlns:a16="http://schemas.microsoft.com/office/drawing/2014/main" id="{C3DE7B9D-501E-4306-AE84-3BDD8A41FD31}"/>
                  </a:ext>
                </a:extLst>
              </p:cNvPr>
              <p:cNvSpPr>
                <a:spLocks noChangeArrowheads="1"/>
              </p:cNvSpPr>
              <p:nvPr/>
            </p:nvSpPr>
            <p:spPr bwMode="auto">
              <a:xfrm>
                <a:off x="8229600" y="990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solidFill>
                    <a:srgbClr val="0000FF"/>
                  </a:solidFill>
                </a:endParaRPr>
              </a:p>
            </p:txBody>
          </p:sp>
        </p:grpSp>
        <p:sp>
          <p:nvSpPr>
            <p:cNvPr id="24" name="TextBox 44">
              <a:extLst>
                <a:ext uri="{FF2B5EF4-FFF2-40B4-BE49-F238E27FC236}">
                  <a16:creationId xmlns:a16="http://schemas.microsoft.com/office/drawing/2014/main" id="{4A28A0C9-ED00-4B2E-910D-F1B8C30E05D7}"/>
                </a:ext>
              </a:extLst>
            </p:cNvPr>
            <p:cNvSpPr txBox="1">
              <a:spLocks noChangeArrowheads="1"/>
            </p:cNvSpPr>
            <p:nvPr/>
          </p:nvSpPr>
          <p:spPr bwMode="auto">
            <a:xfrm flipH="1">
              <a:off x="8458200" y="591979"/>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000"/>
                <a:t>X</a:t>
              </a:r>
            </a:p>
          </p:txBody>
        </p:sp>
      </p:grpSp>
    </p:spTree>
    <p:extLst>
      <p:ext uri="{BB962C8B-B14F-4D97-AF65-F5344CB8AC3E}">
        <p14:creationId xmlns:p14="http://schemas.microsoft.com/office/powerpoint/2010/main" val="2339459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5C5D21-25A6-4222-B626-8F2C79CE3EE2}"/>
              </a:ext>
            </a:extLst>
          </p:cNvPr>
          <p:cNvSpPr txBox="1"/>
          <p:nvPr/>
        </p:nvSpPr>
        <p:spPr>
          <a:xfrm>
            <a:off x="457200" y="152400"/>
            <a:ext cx="8229600" cy="646331"/>
          </a:xfrm>
          <a:prstGeom prst="rect">
            <a:avLst/>
          </a:prstGeom>
          <a:noFill/>
        </p:spPr>
        <p:txBody>
          <a:bodyPr wrap="square" rtlCol="0">
            <a:spAutoFit/>
          </a:bodyPr>
          <a:lstStyle/>
          <a:p>
            <a:r>
              <a:rPr lang="en-US" sz="3600" dirty="0">
                <a:solidFill>
                  <a:srgbClr val="FFFF00"/>
                </a:solidFill>
                <a:latin typeface="Times New Roman" panose="02020603050405020304" pitchFamily="18" charset="0"/>
                <a:cs typeface="Times New Roman" panose="02020603050405020304" pitchFamily="18" charset="0"/>
              </a:rPr>
              <a:t>Intra-Cluster Distance</a:t>
            </a:r>
          </a:p>
        </p:txBody>
      </p:sp>
      <p:sp>
        <p:nvSpPr>
          <p:cNvPr id="3" name="Rectangle 2">
            <a:extLst>
              <a:ext uri="{FF2B5EF4-FFF2-40B4-BE49-F238E27FC236}">
                <a16:creationId xmlns:a16="http://schemas.microsoft.com/office/drawing/2014/main" id="{FFE7AD0F-A9C1-40DB-B5CF-A9D3C419634A}"/>
              </a:ext>
            </a:extLst>
          </p:cNvPr>
          <p:cNvSpPr/>
          <p:nvPr/>
        </p:nvSpPr>
        <p:spPr>
          <a:xfrm>
            <a:off x="609600" y="2605373"/>
            <a:ext cx="8345424" cy="2308324"/>
          </a:xfrm>
          <a:prstGeom prst="rect">
            <a:avLst/>
          </a:prstGeom>
        </p:spPr>
        <p:txBody>
          <a:bodyPr wrap="square">
            <a:spAutoFit/>
          </a:bodyPr>
          <a:lstStyle/>
          <a:p>
            <a:pPr marL="285750" indent="-285750" fontAlgn="base">
              <a:buFont typeface="Arial" panose="020B0604020202020204" pitchFamily="34" charset="0"/>
              <a:buChar char="•"/>
            </a:pPr>
            <a:r>
              <a:rPr lang="en-US" b="1" dirty="0"/>
              <a:t>Complete diameter linkage distance:</a:t>
            </a:r>
            <a:r>
              <a:rPr lang="en-US" dirty="0"/>
              <a:t> Distance between two farthest objects belonging to cluster a. </a:t>
            </a:r>
            <a:br>
              <a:rPr lang="en-US" dirty="0"/>
            </a:br>
            <a:r>
              <a:rPr lang="en-US" dirty="0"/>
              <a:t> </a:t>
            </a:r>
          </a:p>
          <a:p>
            <a:pPr marL="285750" indent="-285750" fontAlgn="base">
              <a:buFont typeface="Arial" panose="020B0604020202020204" pitchFamily="34" charset="0"/>
              <a:buChar char="•"/>
            </a:pPr>
            <a:r>
              <a:rPr lang="en-US" b="1" dirty="0"/>
              <a:t>Average diameter linkage distance:</a:t>
            </a:r>
            <a:r>
              <a:rPr lang="en-US" dirty="0"/>
              <a:t> Average distance between all the objects belonging to cluster a. </a:t>
            </a:r>
            <a:br>
              <a:rPr lang="en-US" dirty="0"/>
            </a:br>
            <a:r>
              <a:rPr lang="en-US" dirty="0"/>
              <a:t> </a:t>
            </a:r>
          </a:p>
          <a:p>
            <a:pPr marL="285750" indent="-285750" fontAlgn="base">
              <a:buFont typeface="Arial" panose="020B0604020202020204" pitchFamily="34" charset="0"/>
              <a:buChar char="•"/>
            </a:pPr>
            <a:r>
              <a:rPr lang="en-US" b="1" dirty="0"/>
              <a:t>Centroid diameter linkage distance</a:t>
            </a:r>
            <a:r>
              <a:rPr lang="en-US" dirty="0"/>
              <a:t>: Twice the average distance between all the objects and the centroid of the cluster a.</a:t>
            </a:r>
          </a:p>
        </p:txBody>
      </p:sp>
      <p:grpSp>
        <p:nvGrpSpPr>
          <p:cNvPr id="4" name="Group 45">
            <a:extLst>
              <a:ext uri="{FF2B5EF4-FFF2-40B4-BE49-F238E27FC236}">
                <a16:creationId xmlns:a16="http://schemas.microsoft.com/office/drawing/2014/main" id="{5DB8615E-FEEA-4E8B-B8DD-4847B90A3735}"/>
              </a:ext>
            </a:extLst>
          </p:cNvPr>
          <p:cNvGrpSpPr>
            <a:grpSpLocks/>
          </p:cNvGrpSpPr>
          <p:nvPr/>
        </p:nvGrpSpPr>
        <p:grpSpPr bwMode="auto">
          <a:xfrm>
            <a:off x="3657600" y="1295400"/>
            <a:ext cx="914400" cy="1066800"/>
            <a:chOff x="6096000" y="152400"/>
            <a:chExt cx="914400" cy="1066800"/>
          </a:xfrm>
        </p:grpSpPr>
        <p:grpSp>
          <p:nvGrpSpPr>
            <p:cNvPr id="5" name="Group 38">
              <a:extLst>
                <a:ext uri="{FF2B5EF4-FFF2-40B4-BE49-F238E27FC236}">
                  <a16:creationId xmlns:a16="http://schemas.microsoft.com/office/drawing/2014/main" id="{2C53575F-7E1A-4A5B-BFB9-9CB18326EB94}"/>
                </a:ext>
              </a:extLst>
            </p:cNvPr>
            <p:cNvGrpSpPr>
              <a:grpSpLocks/>
            </p:cNvGrpSpPr>
            <p:nvPr/>
          </p:nvGrpSpPr>
          <p:grpSpPr bwMode="auto">
            <a:xfrm>
              <a:off x="6096000" y="152400"/>
              <a:ext cx="914400" cy="1066800"/>
              <a:chOff x="6096000" y="152400"/>
              <a:chExt cx="914400" cy="1066800"/>
            </a:xfrm>
          </p:grpSpPr>
          <p:sp>
            <p:nvSpPr>
              <p:cNvPr id="7" name="Oval 6">
                <a:extLst>
                  <a:ext uri="{FF2B5EF4-FFF2-40B4-BE49-F238E27FC236}">
                    <a16:creationId xmlns:a16="http://schemas.microsoft.com/office/drawing/2014/main" id="{48DBF113-499A-4E65-92AB-64F88DBCEFBD}"/>
                  </a:ext>
                </a:extLst>
              </p:cNvPr>
              <p:cNvSpPr/>
              <p:nvPr/>
            </p:nvSpPr>
            <p:spPr bwMode="auto">
              <a:xfrm>
                <a:off x="6096000" y="152400"/>
                <a:ext cx="914400" cy="1066800"/>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nchor="ctr"/>
              <a:lstStyle/>
              <a:p>
                <a:pPr>
                  <a:defRPr/>
                </a:pPr>
                <a:endParaRPr lang="en-US" b="1">
                  <a:ln w="18000">
                    <a:solidFill>
                      <a:schemeClr val="accent2">
                        <a:satMod val="140000"/>
                      </a:schemeClr>
                    </a:solidFill>
                    <a:prstDash val="solid"/>
                    <a:miter lim="800000"/>
                  </a:ln>
                  <a:noFill/>
                  <a:effectLst>
                    <a:outerShdw blurRad="25500" dist="23000" dir="7020000" algn="tl">
                      <a:srgbClr val="000000">
                        <a:alpha val="50000"/>
                      </a:srgbClr>
                    </a:outerShdw>
                  </a:effectLst>
                  <a:latin typeface="Tahoma" pitchFamily="34" charset="0"/>
                </a:endParaRPr>
              </a:p>
            </p:txBody>
          </p:sp>
          <p:sp>
            <p:nvSpPr>
              <p:cNvPr id="8" name="Oval 8">
                <a:extLst>
                  <a:ext uri="{FF2B5EF4-FFF2-40B4-BE49-F238E27FC236}">
                    <a16:creationId xmlns:a16="http://schemas.microsoft.com/office/drawing/2014/main" id="{435C01A3-26C2-4A8D-A3FE-1B5D4FD7603F}"/>
                  </a:ext>
                </a:extLst>
              </p:cNvPr>
              <p:cNvSpPr>
                <a:spLocks noChangeArrowheads="1"/>
              </p:cNvSpPr>
              <p:nvPr/>
            </p:nvSpPr>
            <p:spPr bwMode="auto">
              <a:xfrm>
                <a:off x="63246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9" name="Oval 9">
                <a:extLst>
                  <a:ext uri="{FF2B5EF4-FFF2-40B4-BE49-F238E27FC236}">
                    <a16:creationId xmlns:a16="http://schemas.microsoft.com/office/drawing/2014/main" id="{CA417961-2A7A-4EFD-A16D-0E4EBE323BD1}"/>
                  </a:ext>
                </a:extLst>
              </p:cNvPr>
              <p:cNvSpPr>
                <a:spLocks noChangeArrowheads="1"/>
              </p:cNvSpPr>
              <p:nvPr/>
            </p:nvSpPr>
            <p:spPr bwMode="auto">
              <a:xfrm>
                <a:off x="64770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0" name="Oval 10">
                <a:extLst>
                  <a:ext uri="{FF2B5EF4-FFF2-40B4-BE49-F238E27FC236}">
                    <a16:creationId xmlns:a16="http://schemas.microsoft.com/office/drawing/2014/main" id="{4E0026C1-6722-4B34-B6BD-166B7236D532}"/>
                  </a:ext>
                </a:extLst>
              </p:cNvPr>
              <p:cNvSpPr>
                <a:spLocks noChangeArrowheads="1"/>
              </p:cNvSpPr>
              <p:nvPr/>
            </p:nvSpPr>
            <p:spPr bwMode="auto">
              <a:xfrm>
                <a:off x="6629400" y="838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1" name="Oval 11">
                <a:extLst>
                  <a:ext uri="{FF2B5EF4-FFF2-40B4-BE49-F238E27FC236}">
                    <a16:creationId xmlns:a16="http://schemas.microsoft.com/office/drawing/2014/main" id="{FA959AC3-5F31-4021-B071-8A865B75222C}"/>
                  </a:ext>
                </a:extLst>
              </p:cNvPr>
              <p:cNvSpPr>
                <a:spLocks noChangeArrowheads="1"/>
              </p:cNvSpPr>
              <p:nvPr/>
            </p:nvSpPr>
            <p:spPr bwMode="auto">
              <a:xfrm>
                <a:off x="68580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2" name="Oval 12">
                <a:extLst>
                  <a:ext uri="{FF2B5EF4-FFF2-40B4-BE49-F238E27FC236}">
                    <a16:creationId xmlns:a16="http://schemas.microsoft.com/office/drawing/2014/main" id="{2F62335B-83C0-40D3-B69D-DBD2EF60BBDC}"/>
                  </a:ext>
                </a:extLst>
              </p:cNvPr>
              <p:cNvSpPr>
                <a:spLocks noChangeArrowheads="1"/>
              </p:cNvSpPr>
              <p:nvPr/>
            </p:nvSpPr>
            <p:spPr bwMode="auto">
              <a:xfrm>
                <a:off x="61722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3" name="Oval 13">
                <a:extLst>
                  <a:ext uri="{FF2B5EF4-FFF2-40B4-BE49-F238E27FC236}">
                    <a16:creationId xmlns:a16="http://schemas.microsoft.com/office/drawing/2014/main" id="{7EE53656-A434-44E7-BA7F-82A35E36F020}"/>
                  </a:ext>
                </a:extLst>
              </p:cNvPr>
              <p:cNvSpPr>
                <a:spLocks noChangeArrowheads="1"/>
              </p:cNvSpPr>
              <p:nvPr/>
            </p:nvSpPr>
            <p:spPr bwMode="auto">
              <a:xfrm>
                <a:off x="61722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4" name="Oval 14">
                <a:extLst>
                  <a:ext uri="{FF2B5EF4-FFF2-40B4-BE49-F238E27FC236}">
                    <a16:creationId xmlns:a16="http://schemas.microsoft.com/office/drawing/2014/main" id="{4AE984BF-EC27-4749-8C56-D8938318998E}"/>
                  </a:ext>
                </a:extLst>
              </p:cNvPr>
              <p:cNvSpPr>
                <a:spLocks noChangeArrowheads="1"/>
              </p:cNvSpPr>
              <p:nvPr/>
            </p:nvSpPr>
            <p:spPr bwMode="auto">
              <a:xfrm>
                <a:off x="66294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5" name="Oval 16">
                <a:extLst>
                  <a:ext uri="{FF2B5EF4-FFF2-40B4-BE49-F238E27FC236}">
                    <a16:creationId xmlns:a16="http://schemas.microsoft.com/office/drawing/2014/main" id="{C51D1DD8-6DE4-4444-B006-A934A1427E79}"/>
                  </a:ext>
                </a:extLst>
              </p:cNvPr>
              <p:cNvSpPr>
                <a:spLocks noChangeArrowheads="1"/>
              </p:cNvSpPr>
              <p:nvPr/>
            </p:nvSpPr>
            <p:spPr bwMode="auto">
              <a:xfrm>
                <a:off x="67818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6" name="Oval 17">
                <a:extLst>
                  <a:ext uri="{FF2B5EF4-FFF2-40B4-BE49-F238E27FC236}">
                    <a16:creationId xmlns:a16="http://schemas.microsoft.com/office/drawing/2014/main" id="{5BBE642F-A0A8-41D1-84EC-4AFF55292718}"/>
                  </a:ext>
                </a:extLst>
              </p:cNvPr>
              <p:cNvSpPr>
                <a:spLocks noChangeArrowheads="1"/>
              </p:cNvSpPr>
              <p:nvPr/>
            </p:nvSpPr>
            <p:spPr bwMode="auto">
              <a:xfrm>
                <a:off x="64008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7" name="Oval 18">
                <a:extLst>
                  <a:ext uri="{FF2B5EF4-FFF2-40B4-BE49-F238E27FC236}">
                    <a16:creationId xmlns:a16="http://schemas.microsoft.com/office/drawing/2014/main" id="{CA5C082D-13DE-4E45-B367-5F5F4A7E6515}"/>
                  </a:ext>
                </a:extLst>
              </p:cNvPr>
              <p:cNvSpPr>
                <a:spLocks noChangeArrowheads="1"/>
              </p:cNvSpPr>
              <p:nvPr/>
            </p:nvSpPr>
            <p:spPr bwMode="auto">
              <a:xfrm>
                <a:off x="66294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8" name="Oval 33">
                <a:extLst>
                  <a:ext uri="{FF2B5EF4-FFF2-40B4-BE49-F238E27FC236}">
                    <a16:creationId xmlns:a16="http://schemas.microsoft.com/office/drawing/2014/main" id="{5F0890BC-1EED-4A96-BE69-F6FDE4FE049D}"/>
                  </a:ext>
                </a:extLst>
              </p:cNvPr>
              <p:cNvSpPr>
                <a:spLocks noChangeArrowheads="1"/>
              </p:cNvSpPr>
              <p:nvPr/>
            </p:nvSpPr>
            <p:spPr bwMode="auto">
              <a:xfrm>
                <a:off x="6477000" y="1066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9" name="Oval 34">
                <a:extLst>
                  <a:ext uri="{FF2B5EF4-FFF2-40B4-BE49-F238E27FC236}">
                    <a16:creationId xmlns:a16="http://schemas.microsoft.com/office/drawing/2014/main" id="{CC2C9EF1-D529-4B7A-80B2-4E99AAE60A3C}"/>
                  </a:ext>
                </a:extLst>
              </p:cNvPr>
              <p:cNvSpPr>
                <a:spLocks noChangeArrowheads="1"/>
              </p:cNvSpPr>
              <p:nvPr/>
            </p:nvSpPr>
            <p:spPr bwMode="auto">
              <a:xfrm>
                <a:off x="6477000" y="228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0" name="Oval 35">
                <a:extLst>
                  <a:ext uri="{FF2B5EF4-FFF2-40B4-BE49-F238E27FC236}">
                    <a16:creationId xmlns:a16="http://schemas.microsoft.com/office/drawing/2014/main" id="{0FA56883-8EB8-4E47-BCA2-CF2B1EE12789}"/>
                  </a:ext>
                </a:extLst>
              </p:cNvPr>
              <p:cNvSpPr>
                <a:spLocks noChangeArrowheads="1"/>
              </p:cNvSpPr>
              <p:nvPr/>
            </p:nvSpPr>
            <p:spPr bwMode="auto">
              <a:xfrm>
                <a:off x="62484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1" name="Oval 36">
                <a:extLst>
                  <a:ext uri="{FF2B5EF4-FFF2-40B4-BE49-F238E27FC236}">
                    <a16:creationId xmlns:a16="http://schemas.microsoft.com/office/drawing/2014/main" id="{5ED5A9B8-6067-404B-8C7E-8E948CB7D5EF}"/>
                  </a:ext>
                </a:extLst>
              </p:cNvPr>
              <p:cNvSpPr>
                <a:spLocks noChangeArrowheads="1"/>
              </p:cNvSpPr>
              <p:nvPr/>
            </p:nvSpPr>
            <p:spPr bwMode="auto">
              <a:xfrm>
                <a:off x="67818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sp>
          <p:nvSpPr>
            <p:cNvPr id="6" name="TextBox 43">
              <a:extLst>
                <a:ext uri="{FF2B5EF4-FFF2-40B4-BE49-F238E27FC236}">
                  <a16:creationId xmlns:a16="http://schemas.microsoft.com/office/drawing/2014/main" id="{7A52B0B6-6F3D-46B3-BF99-0F1C68DA5C20}"/>
                </a:ext>
              </a:extLst>
            </p:cNvPr>
            <p:cNvSpPr txBox="1">
              <a:spLocks noChangeArrowheads="1"/>
            </p:cNvSpPr>
            <p:nvPr/>
          </p:nvSpPr>
          <p:spPr bwMode="auto">
            <a:xfrm flipH="1">
              <a:off x="6507481" y="533400"/>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algn="ctr" eaLnBrk="0" fontAlgn="base" hangingPunct="0">
                <a:spcBef>
                  <a:spcPct val="0"/>
                </a:spcBef>
                <a:spcAft>
                  <a:spcPct val="0"/>
                </a:spcAft>
                <a:defRPr sz="2400">
                  <a:solidFill>
                    <a:schemeClr val="tx1"/>
                  </a:solidFill>
                  <a:latin typeface="Tahoma" panose="020B0604030504040204" pitchFamily="34" charset="0"/>
                </a:defRPr>
              </a:lvl6pPr>
              <a:lvl7pPr marL="2971800" indent="-228600" algn="ctr" eaLnBrk="0" fontAlgn="base" hangingPunct="0">
                <a:spcBef>
                  <a:spcPct val="0"/>
                </a:spcBef>
                <a:spcAft>
                  <a:spcPct val="0"/>
                </a:spcAft>
                <a:defRPr sz="2400">
                  <a:solidFill>
                    <a:schemeClr val="tx1"/>
                  </a:solidFill>
                  <a:latin typeface="Tahoma" panose="020B0604030504040204" pitchFamily="34" charset="0"/>
                </a:defRPr>
              </a:lvl7pPr>
              <a:lvl8pPr marL="3429000" indent="-228600" algn="ctr" eaLnBrk="0" fontAlgn="base" hangingPunct="0">
                <a:spcBef>
                  <a:spcPct val="0"/>
                </a:spcBef>
                <a:spcAft>
                  <a:spcPct val="0"/>
                </a:spcAft>
                <a:defRPr sz="2400">
                  <a:solidFill>
                    <a:schemeClr val="tx1"/>
                  </a:solidFill>
                  <a:latin typeface="Tahoma" panose="020B0604030504040204" pitchFamily="34" charset="0"/>
                </a:defRPr>
              </a:lvl8pPr>
              <a:lvl9pPr marL="3886200" indent="-228600" algn="ctr"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000"/>
                <a:t>X</a:t>
              </a:r>
            </a:p>
          </p:txBody>
        </p:sp>
      </p:grpSp>
    </p:spTree>
    <p:extLst>
      <p:ext uri="{BB962C8B-B14F-4D97-AF65-F5344CB8AC3E}">
        <p14:creationId xmlns:p14="http://schemas.microsoft.com/office/powerpoint/2010/main" val="1495393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138960-1326-417A-B3B7-96A66CF2C6BA}"/>
              </a:ext>
            </a:extLst>
          </p:cNvPr>
          <p:cNvSpPr txBox="1"/>
          <p:nvPr/>
        </p:nvSpPr>
        <p:spPr>
          <a:xfrm>
            <a:off x="457200" y="152400"/>
            <a:ext cx="8229600" cy="646331"/>
          </a:xfrm>
          <a:prstGeom prst="rect">
            <a:avLst/>
          </a:prstGeom>
          <a:noFill/>
        </p:spPr>
        <p:txBody>
          <a:bodyPr wrap="square" rtlCol="0">
            <a:spAutoFit/>
          </a:bodyPr>
          <a:lstStyle/>
          <a:p>
            <a:r>
              <a:rPr lang="en-US" sz="3600" dirty="0">
                <a:solidFill>
                  <a:srgbClr val="FFFF00"/>
                </a:solidFill>
                <a:latin typeface="Times New Roman" panose="02020603050405020304" pitchFamily="18" charset="0"/>
                <a:cs typeface="Times New Roman" panose="02020603050405020304" pitchFamily="18" charset="0"/>
              </a:rPr>
              <a:t>Internal Cluster Validation</a:t>
            </a:r>
          </a:p>
        </p:txBody>
      </p:sp>
      <p:sp>
        <p:nvSpPr>
          <p:cNvPr id="3" name="TextBox 2">
            <a:extLst>
              <a:ext uri="{FF2B5EF4-FFF2-40B4-BE49-F238E27FC236}">
                <a16:creationId xmlns:a16="http://schemas.microsoft.com/office/drawing/2014/main" id="{D2F7D48F-186D-4A3B-8DC7-D9B90FA722F9}"/>
              </a:ext>
            </a:extLst>
          </p:cNvPr>
          <p:cNvSpPr txBox="1"/>
          <p:nvPr/>
        </p:nvSpPr>
        <p:spPr>
          <a:xfrm>
            <a:off x="685800" y="1600200"/>
            <a:ext cx="7696200" cy="1569660"/>
          </a:xfrm>
          <a:prstGeom prst="rect">
            <a:avLst/>
          </a:prstGeom>
          <a:noFill/>
        </p:spPr>
        <p:txBody>
          <a:bodyPr wrap="square" rtlCol="0">
            <a:spAutoFit/>
          </a:bodyPr>
          <a:lstStyle/>
          <a:p>
            <a:r>
              <a:rPr lang="en-US" sz="2400" dirty="0">
                <a:solidFill>
                  <a:schemeClr val="tx2"/>
                </a:solidFill>
                <a:latin typeface="Times New Roman" panose="02020603050405020304" pitchFamily="18" charset="0"/>
                <a:cs typeface="Times New Roman" panose="02020603050405020304" pitchFamily="18" charset="0"/>
              </a:rPr>
              <a:t>Clustering Validity Indices:</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Silhouette Coefficient</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Dunn Index</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DBI</a:t>
            </a:r>
          </a:p>
        </p:txBody>
      </p:sp>
    </p:spTree>
    <p:extLst>
      <p:ext uri="{BB962C8B-B14F-4D97-AF65-F5344CB8AC3E}">
        <p14:creationId xmlns:p14="http://schemas.microsoft.com/office/powerpoint/2010/main" val="1809475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5C5D21-25A6-4222-B626-8F2C79CE3EE2}"/>
              </a:ext>
            </a:extLst>
          </p:cNvPr>
          <p:cNvSpPr txBox="1"/>
          <p:nvPr/>
        </p:nvSpPr>
        <p:spPr>
          <a:xfrm>
            <a:off x="457200" y="152400"/>
            <a:ext cx="8229600" cy="646331"/>
          </a:xfrm>
          <a:prstGeom prst="rect">
            <a:avLst/>
          </a:prstGeom>
          <a:noFill/>
        </p:spPr>
        <p:txBody>
          <a:bodyPr wrap="square" rtlCol="0">
            <a:spAutoFit/>
          </a:bodyPr>
          <a:lstStyle/>
          <a:p>
            <a:r>
              <a:rPr lang="en-US" sz="3600" dirty="0">
                <a:solidFill>
                  <a:srgbClr val="FFFF00"/>
                </a:solidFill>
                <a:latin typeface="Times New Roman" panose="02020603050405020304" pitchFamily="18" charset="0"/>
                <a:cs typeface="Times New Roman" panose="02020603050405020304" pitchFamily="18" charset="0"/>
              </a:rPr>
              <a:t>Silhouette Coefficient</a:t>
            </a:r>
          </a:p>
        </p:txBody>
      </p:sp>
      <p:sp>
        <p:nvSpPr>
          <p:cNvPr id="3" name="Rectangle 2">
            <a:extLst>
              <a:ext uri="{FF2B5EF4-FFF2-40B4-BE49-F238E27FC236}">
                <a16:creationId xmlns:a16="http://schemas.microsoft.com/office/drawing/2014/main" id="{7FD15B99-67FD-43CD-9AFD-A8F4392E2A5A}"/>
              </a:ext>
            </a:extLst>
          </p:cNvPr>
          <p:cNvSpPr/>
          <p:nvPr/>
        </p:nvSpPr>
        <p:spPr>
          <a:xfrm>
            <a:off x="609600" y="1447800"/>
            <a:ext cx="8077200" cy="2862322"/>
          </a:xfrm>
          <a:prstGeom prst="rect">
            <a:avLst/>
          </a:prstGeom>
        </p:spPr>
        <p:txBody>
          <a:bodyPr wrap="square">
            <a:spAutoFit/>
          </a:bodyPr>
          <a:lstStyle/>
          <a:p>
            <a:r>
              <a:rPr lang="en-US" sz="2000" dirty="0">
                <a:solidFill>
                  <a:schemeClr val="tx2"/>
                </a:solidFill>
                <a:latin typeface="Times New Roman" panose="02020603050405020304" pitchFamily="18" charset="0"/>
                <a:cs typeface="Times New Roman" panose="02020603050405020304" pitchFamily="18" charset="0"/>
              </a:rPr>
              <a:t>Silhouette Coefficient </a:t>
            </a:r>
            <a:r>
              <a:rPr lang="en-US" sz="2000" dirty="0">
                <a:solidFill>
                  <a:srgbClr val="292929"/>
                </a:solidFill>
                <a:latin typeface="Times New Roman" panose="02020603050405020304" pitchFamily="18" charset="0"/>
                <a:cs typeface="Times New Roman" panose="02020603050405020304" pitchFamily="18" charset="0"/>
              </a:rPr>
              <a:t>or silhouette score is a metric used to calculate the goodness of a clustering technique. Its value ranges from -1 to 1.</a:t>
            </a:r>
          </a:p>
          <a:p>
            <a:endParaRPr lang="en-US" sz="2000" dirty="0">
              <a:solidFill>
                <a:srgbClr val="292929"/>
              </a:solidFill>
              <a:latin typeface="Times New Roman" panose="02020603050405020304" pitchFamily="18" charset="0"/>
              <a:cs typeface="Times New Roman" panose="02020603050405020304" pitchFamily="18" charset="0"/>
            </a:endParaRPr>
          </a:p>
          <a:p>
            <a:r>
              <a:rPr lang="en-US" sz="2000" dirty="0">
                <a:solidFill>
                  <a:srgbClr val="292929"/>
                </a:solidFill>
                <a:latin typeface="Times New Roman" panose="02020603050405020304" pitchFamily="18" charset="0"/>
                <a:cs typeface="Times New Roman" panose="02020603050405020304" pitchFamily="18" charset="0"/>
              </a:rPr>
              <a:t>1: Means clusters are well apart from each other and clearly distinguished.</a:t>
            </a:r>
          </a:p>
          <a:p>
            <a:endParaRPr lang="en-US" sz="2000" dirty="0">
              <a:solidFill>
                <a:srgbClr val="292929"/>
              </a:solidFill>
              <a:latin typeface="Times New Roman" panose="02020603050405020304" pitchFamily="18" charset="0"/>
              <a:cs typeface="Times New Roman" panose="02020603050405020304" pitchFamily="18" charset="0"/>
            </a:endParaRPr>
          </a:p>
          <a:p>
            <a:r>
              <a:rPr lang="en-US" sz="2000" dirty="0">
                <a:solidFill>
                  <a:srgbClr val="292929"/>
                </a:solidFill>
                <a:latin typeface="Times New Roman" panose="02020603050405020304" pitchFamily="18" charset="0"/>
                <a:cs typeface="Times New Roman" panose="02020603050405020304" pitchFamily="18" charset="0"/>
              </a:rPr>
              <a:t>0: Means clusters are indifferent, or we can say that the distance between clusters is not significant.</a:t>
            </a:r>
          </a:p>
          <a:p>
            <a:endParaRPr lang="en-US" sz="2000" dirty="0">
              <a:solidFill>
                <a:srgbClr val="292929"/>
              </a:solidFill>
              <a:latin typeface="Times New Roman" panose="02020603050405020304" pitchFamily="18" charset="0"/>
              <a:cs typeface="Times New Roman" panose="02020603050405020304" pitchFamily="18" charset="0"/>
            </a:endParaRPr>
          </a:p>
          <a:p>
            <a:r>
              <a:rPr lang="en-US" sz="2000" dirty="0">
                <a:solidFill>
                  <a:srgbClr val="292929"/>
                </a:solidFill>
                <a:latin typeface="Times New Roman" panose="02020603050405020304" pitchFamily="18" charset="0"/>
                <a:cs typeface="Times New Roman" panose="02020603050405020304" pitchFamily="18" charset="0"/>
              </a:rPr>
              <a:t>-1: Means clusters are assigned in the wrong way.</a:t>
            </a:r>
            <a:endParaRPr lang="en-US" sz="2000" b="0" i="0" dirty="0">
              <a:solidFill>
                <a:srgbClr val="292929"/>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BE871309-86ED-4918-9639-5FCAC09AFB32}"/>
              </a:ext>
            </a:extLst>
          </p:cNvPr>
          <p:cNvSpPr/>
          <p:nvPr/>
        </p:nvSpPr>
        <p:spPr>
          <a:xfrm>
            <a:off x="457200" y="4659035"/>
            <a:ext cx="8534400" cy="1569660"/>
          </a:xfrm>
          <a:prstGeom prst="rect">
            <a:avLst/>
          </a:prstGeom>
        </p:spPr>
        <p:txBody>
          <a:bodyPr wrap="square">
            <a:spAutoFit/>
          </a:bodyPr>
          <a:lstStyle/>
          <a:p>
            <a:pPr algn="ctr"/>
            <a:r>
              <a:rPr lang="en-US" sz="2400" b="1" dirty="0">
                <a:solidFill>
                  <a:srgbClr val="292929"/>
                </a:solidFill>
                <a:latin typeface="Courier New" panose="02070309020205020404" pitchFamily="49" charset="0"/>
                <a:cs typeface="Courier New" panose="02070309020205020404" pitchFamily="49" charset="0"/>
              </a:rPr>
              <a:t>Silhouette Score = (b-a)/max(</a:t>
            </a:r>
            <a:r>
              <a:rPr lang="en-US" sz="2400" b="1" dirty="0" err="1">
                <a:solidFill>
                  <a:srgbClr val="292929"/>
                </a:solidFill>
                <a:latin typeface="Courier New" panose="02070309020205020404" pitchFamily="49" charset="0"/>
                <a:cs typeface="Courier New" panose="02070309020205020404" pitchFamily="49" charset="0"/>
              </a:rPr>
              <a:t>a,b</a:t>
            </a:r>
            <a:r>
              <a:rPr lang="en-US" sz="2400" b="1" dirty="0">
                <a:solidFill>
                  <a:srgbClr val="292929"/>
                </a:solidFill>
                <a:latin typeface="Courier New" panose="02070309020205020404" pitchFamily="49" charset="0"/>
                <a:cs typeface="Courier New" panose="02070309020205020404" pitchFamily="49" charset="0"/>
              </a:rPr>
              <a:t>)</a:t>
            </a:r>
          </a:p>
          <a:p>
            <a:endParaRPr lang="en-US" dirty="0">
              <a:solidFill>
                <a:srgbClr val="292929"/>
              </a:solidFill>
              <a:latin typeface="Times New Roman" panose="02020603050405020304" pitchFamily="18" charset="0"/>
              <a:cs typeface="Times New Roman" panose="02020603050405020304" pitchFamily="18" charset="0"/>
            </a:endParaRPr>
          </a:p>
          <a:p>
            <a:r>
              <a:rPr lang="en-US" dirty="0">
                <a:solidFill>
                  <a:srgbClr val="292929"/>
                </a:solidFill>
                <a:latin typeface="Times New Roman" panose="02020603050405020304" pitchFamily="18" charset="0"/>
                <a:cs typeface="Times New Roman" panose="02020603050405020304" pitchFamily="18" charset="0"/>
              </a:rPr>
              <a:t>where, a = average intra-cluster distance </a:t>
            </a:r>
            <a:r>
              <a:rPr lang="en-US" dirty="0" err="1">
                <a:solidFill>
                  <a:srgbClr val="292929"/>
                </a:solidFill>
                <a:latin typeface="Times New Roman" panose="02020603050405020304" pitchFamily="18" charset="0"/>
                <a:cs typeface="Times New Roman" panose="02020603050405020304" pitchFamily="18" charset="0"/>
              </a:rPr>
              <a:t>i.e</a:t>
            </a:r>
            <a:r>
              <a:rPr lang="en-US" dirty="0">
                <a:solidFill>
                  <a:srgbClr val="292929"/>
                </a:solidFill>
                <a:latin typeface="Times New Roman" panose="02020603050405020304" pitchFamily="18" charset="0"/>
                <a:cs typeface="Times New Roman" panose="02020603050405020304" pitchFamily="18" charset="0"/>
              </a:rPr>
              <a:t> the average distance between each point within a cluster.</a:t>
            </a:r>
          </a:p>
          <a:p>
            <a:r>
              <a:rPr lang="en-US" dirty="0">
                <a:solidFill>
                  <a:srgbClr val="292929"/>
                </a:solidFill>
                <a:latin typeface="Times New Roman" panose="02020603050405020304" pitchFamily="18" charset="0"/>
                <a:cs typeface="Times New Roman" panose="02020603050405020304" pitchFamily="18" charset="0"/>
              </a:rPr>
              <a:t>            b = average inter-cluster distance </a:t>
            </a:r>
            <a:r>
              <a:rPr lang="en-US" dirty="0" err="1">
                <a:solidFill>
                  <a:srgbClr val="292929"/>
                </a:solidFill>
                <a:latin typeface="Times New Roman" panose="02020603050405020304" pitchFamily="18" charset="0"/>
                <a:cs typeface="Times New Roman" panose="02020603050405020304" pitchFamily="18" charset="0"/>
              </a:rPr>
              <a:t>i.e</a:t>
            </a:r>
            <a:r>
              <a:rPr lang="en-US" dirty="0">
                <a:solidFill>
                  <a:srgbClr val="292929"/>
                </a:solidFill>
                <a:latin typeface="Times New Roman" panose="02020603050405020304" pitchFamily="18" charset="0"/>
                <a:cs typeface="Times New Roman" panose="02020603050405020304" pitchFamily="18" charset="0"/>
              </a:rPr>
              <a:t> the average distance between all clusters.</a:t>
            </a:r>
            <a:endParaRPr lang="en-US" b="0" i="0" dirty="0">
              <a:solidFill>
                <a:srgbClr val="29292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4994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4344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5C5D21-25A6-4222-B626-8F2C79CE3EE2}"/>
              </a:ext>
            </a:extLst>
          </p:cNvPr>
          <p:cNvSpPr txBox="1"/>
          <p:nvPr/>
        </p:nvSpPr>
        <p:spPr>
          <a:xfrm>
            <a:off x="457200" y="152400"/>
            <a:ext cx="8229600" cy="646331"/>
          </a:xfrm>
          <a:prstGeom prst="rect">
            <a:avLst/>
          </a:prstGeom>
          <a:noFill/>
        </p:spPr>
        <p:txBody>
          <a:bodyPr wrap="square" rtlCol="0">
            <a:spAutoFit/>
          </a:bodyPr>
          <a:lstStyle/>
          <a:p>
            <a:r>
              <a:rPr lang="en-US" sz="3600" dirty="0">
                <a:solidFill>
                  <a:srgbClr val="FFFF00"/>
                </a:solidFill>
                <a:latin typeface="Times New Roman" panose="02020603050405020304" pitchFamily="18" charset="0"/>
                <a:cs typeface="Times New Roman" panose="02020603050405020304" pitchFamily="18" charset="0"/>
              </a:rPr>
              <a:t>Dunn Index</a:t>
            </a:r>
          </a:p>
        </p:txBody>
      </p:sp>
      <p:sp>
        <p:nvSpPr>
          <p:cNvPr id="3" name="Rectangle 2">
            <a:extLst>
              <a:ext uri="{FF2B5EF4-FFF2-40B4-BE49-F238E27FC236}">
                <a16:creationId xmlns:a16="http://schemas.microsoft.com/office/drawing/2014/main" id="{442C81ED-9442-4686-B95D-341AB4483C78}"/>
              </a:ext>
            </a:extLst>
          </p:cNvPr>
          <p:cNvSpPr/>
          <p:nvPr/>
        </p:nvSpPr>
        <p:spPr>
          <a:xfrm>
            <a:off x="457200" y="1457082"/>
            <a:ext cx="8229600" cy="3785652"/>
          </a:xfrm>
          <a:prstGeom prst="rect">
            <a:avLst/>
          </a:prstGeom>
        </p:spPr>
        <p:txBody>
          <a:bodyPr wrap="square">
            <a:spAutoFit/>
          </a:bodyPr>
          <a:lstStyle/>
          <a:p>
            <a:pPr marL="342900" indent="-342900">
              <a:buFont typeface="Arial" panose="020B0604020202020204" pitchFamily="34" charset="0"/>
              <a:buChar char="•"/>
            </a:pPr>
            <a:r>
              <a:rPr lang="en-US" sz="2000" dirty="0">
                <a:solidFill>
                  <a:schemeClr val="tx2"/>
                </a:solidFill>
                <a:latin typeface="Times New Roman" panose="02020603050405020304" pitchFamily="18" charset="0"/>
                <a:cs typeface="Times New Roman" panose="02020603050405020304" pitchFamily="18" charset="0"/>
              </a:rPr>
              <a:t>The Dunn index (DI) </a:t>
            </a:r>
            <a:r>
              <a:rPr lang="en-US" sz="2000" dirty="0">
                <a:solidFill>
                  <a:srgbClr val="273239"/>
                </a:solidFill>
                <a:latin typeface="Times New Roman" panose="02020603050405020304" pitchFamily="18" charset="0"/>
                <a:cs typeface="Times New Roman" panose="02020603050405020304" pitchFamily="18" charset="0"/>
              </a:rPr>
              <a:t>(introduced by J. C. Dunn in 1974), a metric for evaluating clustering algorithms, is an internal evaluation scheme, where the result is based on the clustered data itself. </a:t>
            </a:r>
          </a:p>
          <a:p>
            <a:pPr marL="342900" indent="-342900">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Like all other such indices, the aim of this Dunn index to identify sets of clusters that are compact, with a small variance between members of the cluster, and well separated, where the means of different clusters are sufficiently far apart, as compared to the within cluster variance. </a:t>
            </a:r>
          </a:p>
          <a:p>
            <a:pPr marL="342900" indent="-342900">
              <a:buFont typeface="Arial" panose="020B0604020202020204" pitchFamily="34" charset="0"/>
              <a:buChar char="•"/>
            </a:pPr>
            <a:r>
              <a:rPr lang="en-US" sz="2000" dirty="0">
                <a:solidFill>
                  <a:srgbClr val="FF0000"/>
                </a:solidFill>
                <a:latin typeface="Times New Roman" panose="02020603050405020304" pitchFamily="18" charset="0"/>
                <a:cs typeface="Times New Roman" panose="02020603050405020304" pitchFamily="18" charset="0"/>
              </a:rPr>
              <a:t>Higher the Dunn index value, better is the clustering. </a:t>
            </a:r>
            <a:r>
              <a:rPr lang="en-US" sz="2000" dirty="0">
                <a:solidFill>
                  <a:srgbClr val="273239"/>
                </a:solidFill>
                <a:latin typeface="Times New Roman" panose="02020603050405020304" pitchFamily="18" charset="0"/>
                <a:cs typeface="Times New Roman" panose="02020603050405020304" pitchFamily="18" charset="0"/>
              </a:rPr>
              <a:t>The number of clusters that maximizes Dunn index is taken as the optimal number of clusters k. </a:t>
            </a:r>
          </a:p>
          <a:p>
            <a:pPr marL="342900" indent="-342900">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It also has some drawbacks. As the number of clusters and dimensionality of the data increase, the computational cost also increases. </a:t>
            </a:r>
            <a:endParaRPr lang="en-US" sz="2000" dirty="0">
              <a:latin typeface="Times New Roman" panose="02020603050405020304" pitchFamily="18" charset="0"/>
              <a:cs typeface="Times New Roman" panose="02020603050405020304" pitchFamily="18" charset="0"/>
            </a:endParaRPr>
          </a:p>
        </p:txBody>
      </p:sp>
      <p:pic>
        <p:nvPicPr>
          <p:cNvPr id="1028" name="Picture 4" descr="Lightbox">
            <a:extLst>
              <a:ext uri="{FF2B5EF4-FFF2-40B4-BE49-F238E27FC236}">
                <a16:creationId xmlns:a16="http://schemas.microsoft.com/office/drawing/2014/main" id="{9D9611BD-BA1A-4A54-9C1A-4FDE72CEFE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0" y="5448647"/>
            <a:ext cx="2857500" cy="904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1176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5C5D21-25A6-4222-B626-8F2C79CE3EE2}"/>
              </a:ext>
            </a:extLst>
          </p:cNvPr>
          <p:cNvSpPr txBox="1"/>
          <p:nvPr/>
        </p:nvSpPr>
        <p:spPr>
          <a:xfrm>
            <a:off x="457200" y="152400"/>
            <a:ext cx="8229600" cy="646331"/>
          </a:xfrm>
          <a:prstGeom prst="rect">
            <a:avLst/>
          </a:prstGeom>
          <a:noFill/>
        </p:spPr>
        <p:txBody>
          <a:bodyPr wrap="square" rtlCol="0">
            <a:spAutoFit/>
          </a:bodyPr>
          <a:lstStyle/>
          <a:p>
            <a:r>
              <a:rPr lang="en-US" sz="3600">
                <a:solidFill>
                  <a:srgbClr val="FFFF00"/>
                </a:solidFill>
                <a:latin typeface="Times New Roman" panose="02020603050405020304" pitchFamily="18" charset="0"/>
                <a:cs typeface="Times New Roman" panose="02020603050405020304" pitchFamily="18" charset="0"/>
              </a:rPr>
              <a:t>Dunn Index</a:t>
            </a:r>
            <a:endParaRPr lang="en-US" sz="3600" dirty="0">
              <a:solidFill>
                <a:srgbClr val="FFFF00"/>
              </a:solidFill>
              <a:latin typeface="Times New Roman" panose="02020603050405020304" pitchFamily="18" charset="0"/>
              <a:cs typeface="Times New Roman" panose="02020603050405020304" pitchFamily="18" charset="0"/>
            </a:endParaRPr>
          </a:p>
        </p:txBody>
      </p:sp>
      <p:pic>
        <p:nvPicPr>
          <p:cNvPr id="6146" name="Picture 2" descr="Lightbox">
            <a:extLst>
              <a:ext uri="{FF2B5EF4-FFF2-40B4-BE49-F238E27FC236}">
                <a16:creationId xmlns:a16="http://schemas.microsoft.com/office/drawing/2014/main" id="{BB7D55A5-52FC-44F4-9095-1B5E7FA5CA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3030414"/>
            <a:ext cx="5038222" cy="159543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Lightbox">
            <a:extLst>
              <a:ext uri="{FF2B5EF4-FFF2-40B4-BE49-F238E27FC236}">
                <a16:creationId xmlns:a16="http://schemas.microsoft.com/office/drawing/2014/main" id="{37ED5B8C-4EF0-4C11-AD6B-7A713337A8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752600"/>
            <a:ext cx="5257800" cy="1121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7149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5C5D21-25A6-4222-B626-8F2C79CE3EE2}"/>
              </a:ext>
            </a:extLst>
          </p:cNvPr>
          <p:cNvSpPr txBox="1"/>
          <p:nvPr/>
        </p:nvSpPr>
        <p:spPr>
          <a:xfrm>
            <a:off x="457200" y="152400"/>
            <a:ext cx="8229600" cy="646331"/>
          </a:xfrm>
          <a:prstGeom prst="rect">
            <a:avLst/>
          </a:prstGeom>
          <a:noFill/>
        </p:spPr>
        <p:txBody>
          <a:bodyPr wrap="square" rtlCol="0">
            <a:spAutoFit/>
          </a:bodyPr>
          <a:lstStyle/>
          <a:p>
            <a:r>
              <a:rPr lang="en-US" sz="3600" dirty="0">
                <a:solidFill>
                  <a:srgbClr val="FFFF00"/>
                </a:solidFill>
                <a:latin typeface="Times New Roman" panose="02020603050405020304" pitchFamily="18" charset="0"/>
                <a:cs typeface="Times New Roman" panose="02020603050405020304" pitchFamily="18" charset="0"/>
              </a:rPr>
              <a:t>DB Index</a:t>
            </a:r>
          </a:p>
        </p:txBody>
      </p:sp>
      <p:sp>
        <p:nvSpPr>
          <p:cNvPr id="3" name="Rectangle 2">
            <a:extLst>
              <a:ext uri="{FF2B5EF4-FFF2-40B4-BE49-F238E27FC236}">
                <a16:creationId xmlns:a16="http://schemas.microsoft.com/office/drawing/2014/main" id="{4D9DC906-B79B-4CEE-876A-A68C8DB8354C}"/>
              </a:ext>
            </a:extLst>
          </p:cNvPr>
          <p:cNvSpPr/>
          <p:nvPr/>
        </p:nvSpPr>
        <p:spPr>
          <a:xfrm>
            <a:off x="457200" y="1582341"/>
            <a:ext cx="8229600" cy="2554545"/>
          </a:xfrm>
          <a:prstGeom prst="rect">
            <a:avLst/>
          </a:prstGeom>
        </p:spPr>
        <p:txBody>
          <a:bodyPr wrap="square">
            <a:spAutoFit/>
          </a:bodyPr>
          <a:lstStyle/>
          <a:p>
            <a:pPr marL="342900" indent="-342900">
              <a:buFont typeface="Arial" panose="020B0604020202020204" pitchFamily="34" charset="0"/>
              <a:buChar char="•"/>
            </a:pPr>
            <a:r>
              <a:rPr lang="en-US" sz="2000" dirty="0">
                <a:solidFill>
                  <a:schemeClr val="tx2"/>
                </a:solidFill>
                <a:latin typeface="Times New Roman" panose="02020603050405020304" pitchFamily="18" charset="0"/>
                <a:cs typeface="Times New Roman" panose="02020603050405020304" pitchFamily="18" charset="0"/>
              </a:rPr>
              <a:t>The Davies–Bouldin index (DBI) </a:t>
            </a:r>
            <a:r>
              <a:rPr lang="en-US" sz="2000" dirty="0">
                <a:solidFill>
                  <a:srgbClr val="273239"/>
                </a:solidFill>
                <a:latin typeface="Times New Roman" panose="02020603050405020304" pitchFamily="18" charset="0"/>
                <a:cs typeface="Times New Roman" panose="02020603050405020304" pitchFamily="18" charset="0"/>
              </a:rPr>
              <a:t>(introduced by David L. Davies and Donald W. Bouldin in 1979), a metric for evaluating clustering algorithms, is an internal evaluation scheme, where the validation of how well the clustering has been done is made using quantities and features inherent to the dataset. </a:t>
            </a:r>
          </a:p>
          <a:p>
            <a:pPr marL="342900" indent="-342900">
              <a:buFont typeface="Arial" panose="020B0604020202020204" pitchFamily="34" charset="0"/>
              <a:buChar char="•"/>
            </a:pPr>
            <a:r>
              <a:rPr lang="en-US" sz="2000" dirty="0">
                <a:solidFill>
                  <a:srgbClr val="FF0000"/>
                </a:solidFill>
                <a:latin typeface="Times New Roman" panose="02020603050405020304" pitchFamily="18" charset="0"/>
                <a:cs typeface="Times New Roman" panose="02020603050405020304" pitchFamily="18" charset="0"/>
              </a:rPr>
              <a:t>Lower the DB index value, better is the clustering. </a:t>
            </a:r>
          </a:p>
          <a:p>
            <a:pPr marL="342900" indent="-342900">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It also has a drawback. A good value reported by this method does not imply the best information retrieval.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375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5C5D21-25A6-4222-B626-8F2C79CE3EE2}"/>
              </a:ext>
            </a:extLst>
          </p:cNvPr>
          <p:cNvSpPr txBox="1"/>
          <p:nvPr/>
        </p:nvSpPr>
        <p:spPr>
          <a:xfrm>
            <a:off x="457200" y="152400"/>
            <a:ext cx="8229600" cy="646331"/>
          </a:xfrm>
          <a:prstGeom prst="rect">
            <a:avLst/>
          </a:prstGeom>
          <a:noFill/>
        </p:spPr>
        <p:txBody>
          <a:bodyPr wrap="square" rtlCol="0">
            <a:spAutoFit/>
          </a:bodyPr>
          <a:lstStyle/>
          <a:p>
            <a:r>
              <a:rPr lang="en-US" sz="3600" dirty="0">
                <a:solidFill>
                  <a:srgbClr val="FFFF00"/>
                </a:solidFill>
                <a:latin typeface="Times New Roman" panose="02020603050405020304" pitchFamily="18" charset="0"/>
                <a:cs typeface="Times New Roman" panose="02020603050405020304" pitchFamily="18" charset="0"/>
              </a:rPr>
              <a:t>DB Index</a:t>
            </a:r>
          </a:p>
        </p:txBody>
      </p:sp>
      <p:pic>
        <p:nvPicPr>
          <p:cNvPr id="3" name="Picture 2" descr="Lightbox">
            <a:extLst>
              <a:ext uri="{FF2B5EF4-FFF2-40B4-BE49-F238E27FC236}">
                <a16:creationId xmlns:a16="http://schemas.microsoft.com/office/drawing/2014/main" id="{BACA8869-49DF-4CFA-82EA-E784F98B92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524000"/>
            <a:ext cx="6123215" cy="1143000"/>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Lightbox">
            <a:extLst>
              <a:ext uri="{FF2B5EF4-FFF2-40B4-BE49-F238E27FC236}">
                <a16:creationId xmlns:a16="http://schemas.microsoft.com/office/drawing/2014/main" id="{EFCE7D66-DE17-4EFB-84F1-1E3C78E1B9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3089850"/>
            <a:ext cx="4797591" cy="1519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5083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5C5D21-25A6-4222-B626-8F2C79CE3EE2}"/>
              </a:ext>
            </a:extLst>
          </p:cNvPr>
          <p:cNvSpPr txBox="1"/>
          <p:nvPr/>
        </p:nvSpPr>
        <p:spPr>
          <a:xfrm>
            <a:off x="457200" y="152400"/>
            <a:ext cx="8229600" cy="646331"/>
          </a:xfrm>
          <a:prstGeom prst="rect">
            <a:avLst/>
          </a:prstGeom>
          <a:noFill/>
        </p:spPr>
        <p:txBody>
          <a:bodyPr wrap="square" rtlCol="0">
            <a:spAutoFit/>
          </a:bodyPr>
          <a:lstStyle/>
          <a:p>
            <a:r>
              <a:rPr lang="en-US" sz="3600" dirty="0" err="1">
                <a:solidFill>
                  <a:srgbClr val="FFFF00"/>
                </a:solidFill>
                <a:latin typeface="Times New Roman" panose="02020603050405020304" pitchFamily="18" charset="0"/>
                <a:cs typeface="Times New Roman" panose="02020603050405020304" pitchFamily="18" charset="0"/>
              </a:rPr>
              <a:t>Calinski-Harabasz</a:t>
            </a:r>
            <a:r>
              <a:rPr lang="en-US" sz="3600" dirty="0">
                <a:solidFill>
                  <a:srgbClr val="FFFF00"/>
                </a:solidFill>
                <a:latin typeface="Times New Roman" panose="02020603050405020304" pitchFamily="18" charset="0"/>
                <a:cs typeface="Times New Roman" panose="02020603050405020304" pitchFamily="18" charset="0"/>
              </a:rPr>
              <a:t> Index</a:t>
            </a:r>
          </a:p>
        </p:txBody>
      </p:sp>
      <p:sp>
        <p:nvSpPr>
          <p:cNvPr id="3" name="Rectangle 2">
            <a:extLst>
              <a:ext uri="{FF2B5EF4-FFF2-40B4-BE49-F238E27FC236}">
                <a16:creationId xmlns:a16="http://schemas.microsoft.com/office/drawing/2014/main" id="{4CD19615-DE1F-4F74-AEC4-A7774DD278F3}"/>
              </a:ext>
            </a:extLst>
          </p:cNvPr>
          <p:cNvSpPr/>
          <p:nvPr/>
        </p:nvSpPr>
        <p:spPr>
          <a:xfrm>
            <a:off x="457200" y="1676400"/>
            <a:ext cx="8229600" cy="3785652"/>
          </a:xfrm>
          <a:prstGeom prst="rect">
            <a:avLst/>
          </a:prstGeom>
        </p:spPr>
        <p:txBody>
          <a:bodyPr wrap="square">
            <a:spAutoFit/>
          </a:bodyPr>
          <a:lstStyle/>
          <a:p>
            <a:pPr marL="342900" indent="-342900">
              <a:buFont typeface="Arial" panose="020B0604020202020204" pitchFamily="34" charset="0"/>
              <a:buChar char="•"/>
            </a:pPr>
            <a:r>
              <a:rPr lang="en-US" sz="2000" dirty="0" err="1">
                <a:solidFill>
                  <a:schemeClr val="tx2"/>
                </a:solidFill>
                <a:latin typeface="Times New Roman" panose="02020603050405020304" pitchFamily="18" charset="0"/>
                <a:cs typeface="Times New Roman" panose="02020603050405020304" pitchFamily="18" charset="0"/>
              </a:rPr>
              <a:t>Calinski-Harabasz</a:t>
            </a:r>
            <a:r>
              <a:rPr lang="en-US" sz="2000" dirty="0">
                <a:solidFill>
                  <a:schemeClr val="tx2"/>
                </a:solidFill>
                <a:latin typeface="Times New Roman" panose="02020603050405020304" pitchFamily="18" charset="0"/>
                <a:cs typeface="Times New Roman" panose="02020603050405020304" pitchFamily="18" charset="0"/>
              </a:rPr>
              <a:t> (CH) Index </a:t>
            </a:r>
            <a:r>
              <a:rPr lang="en-US" sz="2000" dirty="0">
                <a:solidFill>
                  <a:srgbClr val="273239"/>
                </a:solidFill>
                <a:latin typeface="Times New Roman" panose="02020603050405020304" pitchFamily="18" charset="0"/>
                <a:cs typeface="Times New Roman" panose="02020603050405020304" pitchFamily="18" charset="0"/>
              </a:rPr>
              <a:t>(introduced by </a:t>
            </a:r>
            <a:r>
              <a:rPr lang="en-US" sz="2000" dirty="0" err="1">
                <a:solidFill>
                  <a:srgbClr val="273239"/>
                </a:solidFill>
                <a:latin typeface="Times New Roman" panose="02020603050405020304" pitchFamily="18" charset="0"/>
                <a:cs typeface="Times New Roman" panose="02020603050405020304" pitchFamily="18" charset="0"/>
              </a:rPr>
              <a:t>Calinski</a:t>
            </a:r>
            <a:r>
              <a:rPr lang="en-US" sz="2000" dirty="0">
                <a:solidFill>
                  <a:srgbClr val="273239"/>
                </a:solidFill>
                <a:latin typeface="Times New Roman" panose="02020603050405020304" pitchFamily="18" charset="0"/>
                <a:cs typeface="Times New Roman" panose="02020603050405020304" pitchFamily="18" charset="0"/>
              </a:rPr>
              <a:t> and </a:t>
            </a:r>
            <a:r>
              <a:rPr lang="en-US" sz="2000" dirty="0" err="1">
                <a:solidFill>
                  <a:srgbClr val="273239"/>
                </a:solidFill>
                <a:latin typeface="Times New Roman" panose="02020603050405020304" pitchFamily="18" charset="0"/>
                <a:cs typeface="Times New Roman" panose="02020603050405020304" pitchFamily="18" charset="0"/>
              </a:rPr>
              <a:t>Harabasz</a:t>
            </a:r>
            <a:r>
              <a:rPr lang="en-US" sz="2000" dirty="0">
                <a:solidFill>
                  <a:srgbClr val="273239"/>
                </a:solidFill>
                <a:latin typeface="Times New Roman" panose="02020603050405020304" pitchFamily="18" charset="0"/>
                <a:cs typeface="Times New Roman" panose="02020603050405020304" pitchFamily="18" charset="0"/>
              </a:rPr>
              <a:t> in 1974) can be used to evaluate the model when ground truth labels are not known where the validation of how well the clustering has been done is made using quantities and features inherent to the dataset. </a:t>
            </a:r>
          </a:p>
          <a:p>
            <a:pPr marL="342900" indent="-342900">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The CH Index (also known as </a:t>
            </a:r>
            <a:r>
              <a:rPr lang="en-US" sz="2000" b="1" dirty="0">
                <a:solidFill>
                  <a:srgbClr val="273239"/>
                </a:solidFill>
                <a:latin typeface="Times New Roman" panose="02020603050405020304" pitchFamily="18" charset="0"/>
                <a:cs typeface="Times New Roman" panose="02020603050405020304" pitchFamily="18" charset="0"/>
              </a:rPr>
              <a:t>Variance ratio criterion</a:t>
            </a:r>
            <a:r>
              <a:rPr lang="en-US" sz="2000" dirty="0">
                <a:solidFill>
                  <a:srgbClr val="273239"/>
                </a:solidFill>
                <a:latin typeface="Times New Roman" panose="02020603050405020304" pitchFamily="18" charset="0"/>
                <a:cs typeface="Times New Roman" panose="02020603050405020304" pitchFamily="18" charset="0"/>
              </a:rPr>
              <a:t>) is a measure of how similar an object is to its own cluster (cohesion) compared to other clusters (separation). </a:t>
            </a:r>
          </a:p>
          <a:p>
            <a:pPr marL="342900" indent="-342900">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Here cohesion is estimated based on the distances from the data points in a cluster to its cluster centroid and separation is based on the distance of the cluster centroids from the global centroid.</a:t>
            </a:r>
          </a:p>
          <a:p>
            <a:pPr marL="342900" indent="-342900">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CH index has a form of </a:t>
            </a:r>
            <a:r>
              <a:rPr lang="en-US" sz="2000" i="1" dirty="0">
                <a:solidFill>
                  <a:srgbClr val="273239"/>
                </a:solidFill>
                <a:latin typeface="Times New Roman" panose="02020603050405020304" pitchFamily="18" charset="0"/>
                <a:cs typeface="Times New Roman" panose="02020603050405020304" pitchFamily="18" charset="0"/>
              </a:rPr>
              <a:t>(a . Separation)/(b . Cohesion) , where a and b are weights.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0844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5C5D21-25A6-4222-B626-8F2C79CE3EE2}"/>
              </a:ext>
            </a:extLst>
          </p:cNvPr>
          <p:cNvSpPr txBox="1"/>
          <p:nvPr/>
        </p:nvSpPr>
        <p:spPr>
          <a:xfrm>
            <a:off x="457200" y="152400"/>
            <a:ext cx="8229600" cy="1200329"/>
          </a:xfrm>
          <a:prstGeom prst="rect">
            <a:avLst/>
          </a:prstGeom>
          <a:noFill/>
        </p:spPr>
        <p:txBody>
          <a:bodyPr wrap="square" rtlCol="0">
            <a:spAutoFit/>
          </a:bodyPr>
          <a:lstStyle/>
          <a:p>
            <a:r>
              <a:rPr lang="en-US" sz="3600" dirty="0" err="1">
                <a:solidFill>
                  <a:srgbClr val="FFFF00"/>
                </a:solidFill>
                <a:latin typeface="Times New Roman" panose="02020603050405020304" pitchFamily="18" charset="0"/>
                <a:cs typeface="Times New Roman" panose="02020603050405020304" pitchFamily="18" charset="0"/>
              </a:rPr>
              <a:t>Calinski-Harabasz</a:t>
            </a:r>
            <a:r>
              <a:rPr lang="en-US" sz="3600" dirty="0">
                <a:solidFill>
                  <a:srgbClr val="FFFF00"/>
                </a:solidFill>
                <a:latin typeface="Times New Roman" panose="02020603050405020304" pitchFamily="18" charset="0"/>
                <a:cs typeface="Times New Roman" panose="02020603050405020304" pitchFamily="18" charset="0"/>
              </a:rPr>
              <a:t> Index</a:t>
            </a:r>
          </a:p>
          <a:p>
            <a:endParaRPr lang="en-US" sz="3600" dirty="0">
              <a:solidFill>
                <a:srgbClr val="FFFF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F6D7BF9-93E9-48A5-8081-F3ADA3F40E95}"/>
              </a:ext>
            </a:extLst>
          </p:cNvPr>
          <p:cNvPicPr>
            <a:picLocks noChangeAspect="1"/>
          </p:cNvPicPr>
          <p:nvPr/>
        </p:nvPicPr>
        <p:blipFill>
          <a:blip r:embed="rId2"/>
          <a:stretch>
            <a:fillRect/>
          </a:stretch>
        </p:blipFill>
        <p:spPr>
          <a:xfrm>
            <a:off x="1447800" y="2163756"/>
            <a:ext cx="5872598" cy="1214490"/>
          </a:xfrm>
          <a:prstGeom prst="rect">
            <a:avLst/>
          </a:prstGeom>
        </p:spPr>
      </p:pic>
      <p:sp>
        <p:nvSpPr>
          <p:cNvPr id="5" name="Rectangle 4">
            <a:extLst>
              <a:ext uri="{FF2B5EF4-FFF2-40B4-BE49-F238E27FC236}">
                <a16:creationId xmlns:a16="http://schemas.microsoft.com/office/drawing/2014/main" id="{93825825-FCDC-4CE4-B2B6-33281FDF7D8A}"/>
              </a:ext>
            </a:extLst>
          </p:cNvPr>
          <p:cNvSpPr/>
          <p:nvPr/>
        </p:nvSpPr>
        <p:spPr>
          <a:xfrm>
            <a:off x="457200" y="1600200"/>
            <a:ext cx="8458200" cy="369332"/>
          </a:xfrm>
          <a:prstGeom prst="rect">
            <a:avLst/>
          </a:prstGeom>
        </p:spPr>
        <p:txBody>
          <a:bodyPr wrap="square">
            <a:spAutoFit/>
          </a:bodyPr>
          <a:lstStyle/>
          <a:p>
            <a:r>
              <a:rPr lang="en-US" dirty="0">
                <a:solidFill>
                  <a:srgbClr val="273239"/>
                </a:solidFill>
                <a:latin typeface="urw-din"/>
              </a:rPr>
              <a:t>The CH index for K number of clusters on a dataset D =[ d</a:t>
            </a:r>
            <a:r>
              <a:rPr lang="en-US" baseline="-25000" dirty="0">
                <a:solidFill>
                  <a:srgbClr val="273239"/>
                </a:solidFill>
                <a:latin typeface="urw-din"/>
              </a:rPr>
              <a:t>1</a:t>
            </a:r>
            <a:r>
              <a:rPr lang="en-US" dirty="0">
                <a:solidFill>
                  <a:srgbClr val="273239"/>
                </a:solidFill>
                <a:latin typeface="urw-din"/>
              </a:rPr>
              <a:t> , d</a:t>
            </a:r>
            <a:r>
              <a:rPr lang="en-US" baseline="-25000" dirty="0">
                <a:solidFill>
                  <a:srgbClr val="273239"/>
                </a:solidFill>
                <a:latin typeface="urw-din"/>
              </a:rPr>
              <a:t>2</a:t>
            </a:r>
            <a:r>
              <a:rPr lang="en-US" dirty="0">
                <a:solidFill>
                  <a:srgbClr val="273239"/>
                </a:solidFill>
                <a:latin typeface="urw-din"/>
              </a:rPr>
              <a:t> , d</a:t>
            </a:r>
            <a:r>
              <a:rPr lang="en-US" baseline="-25000" dirty="0">
                <a:solidFill>
                  <a:srgbClr val="273239"/>
                </a:solidFill>
                <a:latin typeface="urw-din"/>
              </a:rPr>
              <a:t>3</a:t>
            </a:r>
            <a:r>
              <a:rPr lang="en-US" dirty="0">
                <a:solidFill>
                  <a:srgbClr val="273239"/>
                </a:solidFill>
                <a:latin typeface="urw-din"/>
              </a:rPr>
              <a:t> , … </a:t>
            </a:r>
            <a:r>
              <a:rPr lang="en-US" dirty="0" err="1">
                <a:solidFill>
                  <a:srgbClr val="273239"/>
                </a:solidFill>
                <a:latin typeface="urw-din"/>
              </a:rPr>
              <a:t>d</a:t>
            </a:r>
            <a:r>
              <a:rPr lang="en-US" baseline="-25000" dirty="0" err="1">
                <a:solidFill>
                  <a:srgbClr val="273239"/>
                </a:solidFill>
                <a:latin typeface="urw-din"/>
              </a:rPr>
              <a:t>N</a:t>
            </a:r>
            <a:r>
              <a:rPr lang="en-US" dirty="0">
                <a:solidFill>
                  <a:srgbClr val="273239"/>
                </a:solidFill>
                <a:latin typeface="urw-din"/>
              </a:rPr>
              <a:t> ] is defined as,</a:t>
            </a:r>
            <a:endParaRPr lang="en-US" dirty="0"/>
          </a:p>
        </p:txBody>
      </p:sp>
      <p:sp>
        <p:nvSpPr>
          <p:cNvPr id="6" name="Rectangle 5">
            <a:extLst>
              <a:ext uri="{FF2B5EF4-FFF2-40B4-BE49-F238E27FC236}">
                <a16:creationId xmlns:a16="http://schemas.microsoft.com/office/drawing/2014/main" id="{CEF0AEA1-9A20-4DE0-B514-4EC407BE3737}"/>
              </a:ext>
            </a:extLst>
          </p:cNvPr>
          <p:cNvSpPr/>
          <p:nvPr/>
        </p:nvSpPr>
        <p:spPr>
          <a:xfrm>
            <a:off x="685800" y="3553121"/>
            <a:ext cx="7772400" cy="646331"/>
          </a:xfrm>
          <a:prstGeom prst="rect">
            <a:avLst/>
          </a:prstGeom>
        </p:spPr>
        <p:txBody>
          <a:bodyPr wrap="square">
            <a:spAutoFit/>
          </a:bodyPr>
          <a:lstStyle/>
          <a:p>
            <a:r>
              <a:rPr lang="en-US" dirty="0">
                <a:solidFill>
                  <a:srgbClr val="273239"/>
                </a:solidFill>
                <a:latin typeface="urw-din"/>
              </a:rPr>
              <a:t>where, </a:t>
            </a:r>
            <a:r>
              <a:rPr lang="en-US" i="1" dirty="0" err="1">
                <a:solidFill>
                  <a:srgbClr val="273239"/>
                </a:solidFill>
                <a:latin typeface="urw-din"/>
              </a:rPr>
              <a:t>n</a:t>
            </a:r>
            <a:r>
              <a:rPr lang="en-US" i="1" baseline="-25000" dirty="0" err="1">
                <a:solidFill>
                  <a:srgbClr val="273239"/>
                </a:solidFill>
                <a:latin typeface="urw-din"/>
              </a:rPr>
              <a:t>k</a:t>
            </a:r>
            <a:r>
              <a:rPr lang="en-US" baseline="-25000" dirty="0">
                <a:solidFill>
                  <a:srgbClr val="273239"/>
                </a:solidFill>
                <a:latin typeface="urw-din"/>
              </a:rPr>
              <a:t>  </a:t>
            </a:r>
            <a:r>
              <a:rPr lang="en-US" dirty="0">
                <a:solidFill>
                  <a:srgbClr val="273239"/>
                </a:solidFill>
                <a:latin typeface="urw-din"/>
              </a:rPr>
              <a:t>and </a:t>
            </a:r>
            <a:r>
              <a:rPr lang="en-US" i="1" dirty="0">
                <a:solidFill>
                  <a:srgbClr val="273239"/>
                </a:solidFill>
                <a:latin typeface="urw-din"/>
              </a:rPr>
              <a:t>c</a:t>
            </a:r>
            <a:r>
              <a:rPr lang="en-US" i="1" baseline="-25000" dirty="0">
                <a:solidFill>
                  <a:srgbClr val="273239"/>
                </a:solidFill>
                <a:latin typeface="urw-din"/>
              </a:rPr>
              <a:t>k</a:t>
            </a:r>
            <a:r>
              <a:rPr lang="en-US" dirty="0">
                <a:solidFill>
                  <a:srgbClr val="273239"/>
                </a:solidFill>
                <a:latin typeface="urw-din"/>
              </a:rPr>
              <a:t>  are the no. of points and centroid of the </a:t>
            </a:r>
            <a:r>
              <a:rPr lang="en-US" i="1" dirty="0">
                <a:solidFill>
                  <a:srgbClr val="273239"/>
                </a:solidFill>
                <a:latin typeface="urw-din"/>
              </a:rPr>
              <a:t>k</a:t>
            </a:r>
            <a:r>
              <a:rPr lang="en-US" i="1" baseline="30000" dirty="0">
                <a:solidFill>
                  <a:srgbClr val="273239"/>
                </a:solidFill>
                <a:latin typeface="urw-din"/>
              </a:rPr>
              <a:t>th</a:t>
            </a:r>
            <a:r>
              <a:rPr lang="en-US" dirty="0">
                <a:solidFill>
                  <a:srgbClr val="273239"/>
                </a:solidFill>
                <a:latin typeface="urw-din"/>
              </a:rPr>
              <a:t> cluster respectively, c is the global centroid, N is the total no. of data points.</a:t>
            </a:r>
            <a:endParaRPr lang="en-US" dirty="0"/>
          </a:p>
        </p:txBody>
      </p:sp>
    </p:spTree>
    <p:extLst>
      <p:ext uri="{BB962C8B-B14F-4D97-AF65-F5344CB8AC3E}">
        <p14:creationId xmlns:p14="http://schemas.microsoft.com/office/powerpoint/2010/main" val="8743220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8035</TotalTime>
  <Words>901</Words>
  <Application>Microsoft Office PowerPoint</Application>
  <PresentationFormat>On-screen Show (4:3)</PresentationFormat>
  <Paragraphs>64</Paragraphs>
  <Slides>13</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Arial</vt:lpstr>
      <vt:lpstr>Calibri</vt:lpstr>
      <vt:lpstr>Corbel</vt:lpstr>
      <vt:lpstr>Courier New</vt:lpstr>
      <vt:lpstr>Palatino Linotype</vt:lpstr>
      <vt:lpstr>Symbol</vt:lpstr>
      <vt:lpstr>Tahoma</vt:lpstr>
      <vt:lpstr>Times New Roman</vt:lpstr>
      <vt:lpstr>urw-din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Rezwan</dc:creator>
  <cp:lastModifiedBy>Dr. Mohammad Rezwanul Huq</cp:lastModifiedBy>
  <cp:revision>15</cp:revision>
  <dcterms:created xsi:type="dcterms:W3CDTF">2021-12-04T20:03:08Z</dcterms:created>
  <dcterms:modified xsi:type="dcterms:W3CDTF">2025-01-14T10:45:04Z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2021-04-27T00:00:00Z</vt:filetime>
  </property>
  <property fmtid="{D5CDD505-2E9C-101B-9397-08002B2CF9AE}" pid="3" name="LastSaved">
    <vt:filetime>2021-12-04T00:00:00Z</vt:filetime>
  </property>
</Properties>
</file>