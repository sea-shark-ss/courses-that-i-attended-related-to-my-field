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9"/>
  </p:notesMasterIdLst>
  <p:handoutMasterIdLst>
    <p:handoutMasterId r:id="rId60"/>
  </p:handoutMasterIdLst>
  <p:sldIdLst>
    <p:sldId id="348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311" r:id="rId10"/>
    <p:sldId id="270" r:id="rId11"/>
    <p:sldId id="271" r:id="rId12"/>
    <p:sldId id="314" r:id="rId13"/>
    <p:sldId id="272" r:id="rId14"/>
    <p:sldId id="273" r:id="rId15"/>
    <p:sldId id="349" r:id="rId16"/>
    <p:sldId id="274" r:id="rId17"/>
    <p:sldId id="319" r:id="rId18"/>
    <p:sldId id="275" r:id="rId19"/>
    <p:sldId id="276" r:id="rId20"/>
    <p:sldId id="277" r:id="rId21"/>
    <p:sldId id="278" r:id="rId22"/>
    <p:sldId id="279" r:id="rId23"/>
    <p:sldId id="321" r:id="rId24"/>
    <p:sldId id="315" r:id="rId25"/>
    <p:sldId id="317" r:id="rId26"/>
    <p:sldId id="318" r:id="rId27"/>
    <p:sldId id="281" r:id="rId28"/>
    <p:sldId id="312" r:id="rId29"/>
    <p:sldId id="313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1" r:id="rId39"/>
    <p:sldId id="295" r:id="rId40"/>
    <p:sldId id="292" r:id="rId41"/>
    <p:sldId id="293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20" r:id="rId57"/>
    <p:sldId id="310" r:id="rId5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008000"/>
    <a:srgbClr val="0000FF"/>
    <a:srgbClr val="FF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89" autoAdjust="0"/>
    <p:restoredTop sz="93281" autoAdjust="0"/>
  </p:normalViewPr>
  <p:slideViewPr>
    <p:cSldViewPr>
      <p:cViewPr varScale="1">
        <p:scale>
          <a:sx n="71" d="100"/>
          <a:sy n="71" d="100"/>
        </p:scale>
        <p:origin x="134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1" d="100"/>
        <a:sy n="51" d="100"/>
      </p:scale>
      <p:origin x="0" y="642"/>
    </p:cViewPr>
  </p:sorterViewPr>
  <p:notesViewPr>
    <p:cSldViewPr>
      <p:cViewPr varScale="1">
        <p:scale>
          <a:sx n="53" d="100"/>
          <a:sy n="53" d="100"/>
        </p:scale>
        <p:origin x="-1836" y="-8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28C4F-4FE9-4D22-93D8-487A4D01D983}" type="datetimeFigureOut">
              <a:rPr lang="en-US" smtClean="0"/>
              <a:pPr/>
              <a:t>5/6/2023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390F-F66B-4732-9C46-6C80D0575F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96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6:28:33.8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5997 7708 0,'-17'35'47,"-1"-35"-31,18 36-16,-18-19 16,1 19-16,17-1 15,0 18 1,0 0-1,0-18 1,0-17 0,0-1 15,17-17 0,1 18-31,0-18 16,17 0-1,0-18 1,0 1-16,1-36 31,-36 35-15,17-35 0,-17 36-1,18 17 1,-18-18-1,0-17 1,0 17 0,-18-17-1,18 17 1,-17 18 0,17-18-1,-18 18 32,0 0-31,1 0-1,-1 0 1,1 0 0,17 18-1,-36 17 1,36-17-1,-17 53 1,17-36 0,-18-17-16,18-1 15,0 1 63,18-1-62,-1 1-16,1-18 63,0-18-32,-18 1 0,0-1-31,17 1 16,-17-1-16,0 0 15,0 1 1,18-1 0</inkml:trace>
  <inkml:trace contextRef="#ctx0" brushRef="#br0" timeOffset="2616.21">7885 7602 0,'0'0'0,"-18"0"0,-17 0 16,-18 0-16,-18 18 15,36 0 17,0-1-17,35 1 1,0 0 0,0 17-1,0-18 1,0 19-1,0-19 1,17-17 0,-17 18-1,18 0 1,17-1 0,-17-17-1,17 18 16,-17-18-15,-1 0 0,1 0-1,-18-18 1,0-17 0,18 0-1,-18-1 1,0 1-1,0 18 1,0-1 31,-18 18-31,18-18-1,-35 1 1,17 17-16,0 0 31,1 0-15,-1 0-1,18 35 1,-35 0 0,35-17-1,0 17 1,0-17-1,0-1 1,0 1 0,18 17-1,-1-35-15,18 18 16,-35 0 0,18-18-1,0 0 48,-1 0-48,-17-18 1,36 0 0,-19 1-1,1-1 1,-18 0-1,18-17 1,-1 17 0,-17 1-1,0-1 1,0 1 0,0-1-1,-17 18 79,-1 0-94,0 18 31,1-1-31,17 1 16,-18-1-1,18 1 1,0 0 0,0-1-1,0 1 1,0 0 0,0-1 15,0 1 0,18-18-15,-1 0-16,-17 18 15,18-18 1,0 0 31,-18-18-32,17-35 1,-17 35 0,0-17-1,0 0 1,-17 35 0,17-18-16,-18 1 15,-17-1 1,17 0 15,18 1-15,-18 17-1,1 0 17,-1 17-17,18 1 1,0 0-1,0 34 1,0-34 0,0 0-16,18 17 15,-1 0 1,1-35 0,0 18-1,-1 0 32,1-18 31,-18-18-78,18 0 16,-18 1-16,0-19 15,0 19 1,0-1 0</inkml:trace>
  <inkml:trace contextRef="#ctx0" brushRef="#br0" timeOffset="5119.79">6121 9648 0,'-18'0'46,"18"18"-46,0 17 16,-18-17 0,18 35-1,0-35 1,0-1 0,0 1-1,18-18 1,-18 17-1,18 1 1,-1-18 0,1 0-1,0 18 1,-1-18 0,1 0-1,35-53 16,-36 18-15,-17 17 0,0 0-16,18 1 15,-18-1 1,0 0 15,0 1 0,-18-1-15,1 18 15,-1 0 1,1 0-1,-1 0-16,0 0 1,1 18 15,17-1-31,-18 1 16,18 0 0,0-1-1,0 19 1,0-1-1,0 0 17,18-35 30,-1 0-46,1 0-1,0 0 1,-1 0 0,-17-35-16,18 17 15,-1 1 1,1-36 0,-18 35-1,0 0 95,-35 18-79,17 0-31,-17 0 31,17 18-31,1-18 16,17 18-1,-36 17-15,36-17 16,0-1 31,0 1-16,18 17-15,0-35 46,-1 0-46,1-18-16,0 1 15,34-36 1,-34 18 0,-18-18-1,0 17 1,0 19 0,-18 34 93,18 1-109,-17 0 16,-1 17-16,1-35 15,17 18 1,-18 35-1,0-36 1,18 1 0</inkml:trace>
  <inkml:trace contextRef="#ctx0" brushRef="#br0" timeOffset="8038.76">7955 9648 0,'-17'18'156,"-1"17"-156,18 1 16,0-19 0,-18-17-16,18 18 15,0 17 1,0-17 0,0 17-1,18-35 16,-18 18 1,18-18-32,34 0 15,-34 0 17,53 0-17,-36 0 1,-17 0-1,-1 0 1,-17-18 0,18 0-1,-18 1-15,0-36 16,0 18 0,0 17-1,0 0 1,-35-17-1,17 35 17,-17-18-17,17 1 17,-17 17 14,17 0-30,18 17 0,-53 19-1,36 17 1,-1-36 0,18 1-1,0 0 1,0-1-1,0 1 1,0-1 0,0 1 15,18 0-15,-1-1-16,1-17 31,-1 0 0,1 0-31,17 0 16,1-35-1,-19 0-15,1 17 16,17-35 0,-35 36-1,0-19 1,0 1 15,-17 17 0,-1 18-15,0-35 0,1 35-1,-1 0 32,0 0-31,18 18-1,0-1-15,-17-17 16,17 36 0,0-19-1,0 19 1,0-1-1,0-17 1,17-18 93,-17-18-109,18 18 16,0-35-16,-18 17 16,0 0-1,0-17 1,-18 35 31,18-18-16,-18 18-31,1 0 31,-1 0-15,0 0 0,1 36-1,17-19 1,0 1-16,-18 17 15,18 1 1,0-19 0,0 1-1,18-18 1,-1 17 0,1-17 46,0-35-46,17-18-1,-35 36 1,0-1-16,0-17 16,0 17-1,-18 18 95,18 18-64,0-1-30,0 1-16,18 0 16,-18 17-1,18-17 1,-1-18 0,-17-53 62</inkml:trace>
  <inkml:trace contextRef="#ctx0" brushRef="#br0" timeOffset="17119.08">9208 8520 0,'0'17'172,"0"1"-172,0-1 31,0 1-31,0 0 15,0-1 17,17-17 77,1 0-93,-1 0-1,1 0 1,0 0 0,-18-17 15,17 17-31,-17-18 15,18-17 1,0 35 0,-18-18-1,0 1 17,0-1-1,0 0-16,0 1 32,-18 17 47,0 0-94,1 0 16,-1 0 31,0 0-32,1 0 1,-1 0 46,18 17-62,0 1 16,-17-18 0,17 18-1,0-1 1,0 1-1,0-1 1,0 1-16,0 0 16,0-1 15,0 1-15,0 17-1,17-35 1,-17 18-1,18-18 17,-1 0-17,1 0 1,17 0 0,-17 0-1,0 0 1,-1-18-1,19-17 1,-36 17-16,17-17 31,1 17-15,-1-17 0,-17 18 15,0-1-16,0 0 1,0 1 0,-17-1-1,-1 18 17,1 0-17,17-18-15,-36 18 16,1 0-1,0 0 1,17 0 31,0 0-16,18 18 16,0 0-47,0-1 16,0 1-16,-17 0 15,17-1 1,0 1 0,0-1-1,0 1 1,17 0 15,-17-1 0,36 1-15,-19-18 46,1 0-15,-18-18-47,18 18 16,-18-17-16,17-19 16,1 19-1,-18-1 48</inkml:trace>
  <inkml:trace contextRef="#ctx0" brushRef="#br0" timeOffset="19455.84">5186 7179 0,'-18'0'31,"1"18"-15,17 17-16,-18 35 16,-17-17-16,17 18 15,-35 123 1,35-141-1,1 35 1,17-70 0,0-1-1,0-34 63,0-1-78,0-35 16</inkml:trace>
  <inkml:trace contextRef="#ctx0" brushRef="#br0" timeOffset="20111.08">5133 7214 0,'18'18'94,"17"52"-78,-18-17-1,19 18-15,-1 0 16,36 70-1,-18-88 1,-53-36 0,0 1-1</inkml:trace>
  <inkml:trace contextRef="#ctx0" brushRef="#br0" timeOffset="20742.84">5062 7585 0,'36'-18'94,"-1"18"-94,18-18 15,53-17 1,-36 35 0,-34 0-1,-19-17 1</inkml:trace>
  <inkml:trace contextRef="#ctx0" brushRef="#br0" timeOffset="21742.46">7391 6844 0,'0'53'78,"0"35"-63,17-35-15,-17 0 0,18 0 16,0 17 0,-18-34-1,0-19 17</inkml:trace>
  <inkml:trace contextRef="#ctx0" brushRef="#br0" timeOffset="23174.99">7391 6879 0,'0'-17'15,"0"-1"1,17 0 0,1 18-16,17 0 0,1-17 15,-19 17 1,54-18 0,-54 18 93,-17 18-93,0-1-1,0 19-15,0-19 16,0 18-16,0-17 15,0 0 1,-35-1 0,35 19-1,-18-19 1,1-17 0,-1 0-1,36 0 157,17 0-156,18 0-16,-18 0 15,1 0-15,-1 0 16,-18 0 78,-17 18-94,0 17 47,0-17-32,0 17-15,0 0 31,0 1-31,-17-1 16,-18-35 0,35 35-16,-18-35 15,-53 35 1,18-35 0,1 0-1,34 0 1</inkml:trace>
  <inkml:trace contextRef="#ctx0" brushRef="#br0" timeOffset="24591.5">5750 10530 0,'0'-70'16,"0"52"-16,-17-17 47,-1 35 93,18 18-109,-18-18-15,18 17-16,0 1 16,0 17-1,0-17 1,0-1 0,0 1-1,0 0 1,0-1-16,0 1 15,0 0 1,0 17 0,18 0-1,0-17 1,-18-1 0,17 1-1,1 0 1,0-18-1,-1 17 1,18 1 15,-17 0-15,35-18 0,18 0-1,-71 17-15,35-17 16,-17 0-1,-1 0 1,1-17 0,-1-1-1</inkml:trace>
  <inkml:trace contextRef="#ctx0" brushRef="#br0" timeOffset="25446.48">7867 10231 0,'18'0'93,"-18"17"-77,17 18-16,-17-17 16,0 17-16,0-17 15,18 17 1,-18-17-16,18 53 31,-1-19-31,-17-34 16,0 0 15</inkml:trace>
  <inkml:trace contextRef="#ctx0" brushRef="#br0" timeOffset="26526.85">7902 10195 0,'18'0'94,"0"0"-78,17 18-1,0-18-15,-17 0 16,-1 0-16,-17 18 16,36-18-1,-19 17 32,-17 1-31,36-1-16,-36 1 31,0 0-15,17-18-1,-17 35 1,18 0 0,-1 54-1,-17-54 1,0-18-1,0 1 1,0 0 0,0-1-1,-17 1 17,-1-18-17,1 0-15,-19 35 31,19-35-31,-1 0 32,0 0 46,1 0-63</inkml:trace>
  <inkml:trace contextRef="#ctx0" brushRef="#br0" timeOffset="27551.57">9913 8502 0,'0'53'110,"0"17"-110,18 36 15,-1-35-15,1-18 16,-18 35 0,18 18-1,-18-71 1</inkml:trace>
  <inkml:trace contextRef="#ctx0" brushRef="#br0" timeOffset="28310.78">9948 8537 0,'36'-17'94,"-1"-1"-94,18 18 15,-18 0-15,0-18 16,18 1 0,-35 17-1</inkml:trace>
  <inkml:trace contextRef="#ctx0" brushRef="#br0" timeOffset="29014.64">9931 8802 0,'35'0'78,"-17"0"-63,-1 0-15,1 0 16,0 0-16,-1 0 16,1 0-1</inkml:trace>
  <inkml:trace contextRef="#ctx0" brushRef="#br0" timeOffset="29894.82">10054 9119 0,'18'0'109,"17"0"-93,18 0-16,0-17 16,53-1-16,-89 18 15,1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6:46:14.71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6050 7938 0,'18'0'109,"35"-18"-93,-36 18-16,1 0 15,17 0 1,18 0-16,-35 0 31,35 0-15,0-18 0,0 1-1,-18 17-15,0 0 16,0 0-1,18 0 1,53 0 15,-71-18-15,36 18 0,0-18-1,-54 18 1,18 0-1,-17-17 17,0 17-17,-1 0-15,1 0 16,17 0 0,18 0-1,-18 0 1,36 0-1,-53 0 1,-1 0 0,1-18 15,17 18-15,1 0 15,-19 0-31,18-18 31,-17 18-15,0 0-1,17 0 1,-17 0 0,-1 0-1,1 0 1,0 0 15,-1 0-15,18 0-1,1 0 17,-19 0-17,1 0 1,0 0-1,17 0 1,-17 0 15,-1 0-15,1-17 0</inkml:trace>
  <inkml:trace contextRef="#ctx0" brushRef="#br0" timeOffset="4184.1">14728 10795 0,'-17'0'31,"17"18"-15,-18-18-16,18 17 15,0 1 32,18-18-16,-18 18-31,17-18 16,1 0 0,0 0 15,-1-18-15,-17 0-1,18-17 1,-18 17 15,0 1 16,-35 17 47,35 17-79,-18-17-15,18 18 16,0 0 0,0-1-1,0 19 1,0-1-1,18-35 1,-1 0 0,19 0 15,-19 0-15,1-18-1,-18 1 1,0-19-1,0 19 1,0-1 0,0 0 31,-18 18-32,1 0-15,-1 0 16,0 0-1,1 0 1,-1 0 0,18 18 15,0 0-15,0-1-1,0 1 1,0 0-1,18-1 1,-1-17 31,-17-17-16,0-1-31,0 0 16,0 1-16,0-1 78,-17 18-31,17 18-32,0 17-15,0-17 16,0-1 0,0 1-16,17-18 15,-17 17 1,36-17 0,-19 0-1,-17-17 1,0-18-1,0-1 1,0 19 0</inkml:trace>
  <inkml:trace contextRef="#ctx0" brushRef="#br0" timeOffset="6400.25">16316 10654 0,'0'18'32,"-18"-1"-32,18 1 15,0-1 1,0 1-16,0 0 31,18-18 63,0 0-78,-18-18-1,17 18-15,-17-18 16,0 1-1,0-1 1,0 1 47,-17-1-32,-1 18-16,0 0 48,18 18-47,-17-18-1,17 17 1,0 1-16,0-1 15,0 19 1,17-19 0,19 19-1,-19-36 1,19 0 0,-19 0 30,1-18-14,-18 0-17,0 1 17,0-1-1,0 0-16,-35 18 1,-18-17 0,35 17 46,0 0-46,1 0-1,17 35 1,0-17 0,0-1-1,0 1 1,0 0 0,35-1-1,-17-17 1,-1 0-1,1 0 1,-18-17 0,0-1-1,0 0 1,0-17 15,-18 35 63,18 18-78,0 17-16,0-17 31,0-36 31,18 0-62,-18-17 16,0 17-16,0 1 16</inkml:trace>
  <inkml:trace contextRef="#ctx0" brushRef="#br0" timeOffset="8212.58">18009 10619 0,'0'17'94,"-17"-17"-78,17 18-16,-18-18 15,18 18-15,0-1 16,0 1 0,18-1 30,-1-17-30,1 0 15,0 0-15,-1-17 0,-17-1-16,0 1 15,0-1 1,0 0-1,0 1 1,0-1 15,-17 18 1,-1-18-17,-35 1 1,35 17-1,1 0 17,-1 0-17,18 17-15,0 36 16,0-35 0,0 17-1,18-35 48,-1 18-63,1-18 15,17 0 1,1 0 0,-1 0-1,-35-18 16,0-17-15,0 17 15,-18 18 47,1 0-62,-1 18 15,0 0-31,18-1 16,0 1 0,0-36 77,0 1-77,0-1-16,0 0 16,-17 1-16,-1 17 46,0 0-14,18 17 15,0 1-47,0 17 15,18 0 1,17-17-1,-17 0-15,0-18 16,17 0-16</inkml:trace>
  <inkml:trace contextRef="#ctx0" brushRef="#br0" timeOffset="9932.29">19597 10530 0,'0'0'0,"-18"0"15,1 0 1,17-17 0,-18 17-16,0 0 62,18 17-46,0 19-1,0-19 1,18-17 78,0 0-79,-18-17 1,17 17 0,-17-18-16,0 0 15,0 1 1,0-1-16,0 1 16,-17 17 15,-1 0 0,0 0-31,1 0 16,17 17-1,-18 1 1,18 35 0,0-36 15,18 1-31,-1 0 31,1-18-15,0 0-1,-1 0 17,1 0-17,-18-36 1,0 19 15,-18 17 63,1 0-79,17 35 17,0-17 15,0-54 31,0 19-63,0-1-15,0 0 16,-18 1 0,0-1-1,1 18 16,17 18 16,0 17-31,0 0-16,0-17 31,17-18-15,54 18-1</inkml:trace>
  <inkml:trace contextRef="#ctx0" brushRef="#br0" timeOffset="11528.97">20867 10372 0,'-18'0'78,"18"17"-63,0 1 1,-17 0-16,17 17 16,0-17-1,0-1 1,17-17 46,1 0-30,-1-17-17,-17-1 1,0-17-1,0-1 1,-17 36 0,17-35 15,-18 35-15,1 0 46,17 18-31,0-1-15,0 1 0,17 0-1,1-18 1,-18 17-1,0-34 79,0-1-78,0 0 15,0 36 94,0 0-109,17-1-1,1-17-15,0 0 32,-1 0-17,-17-17 32,0-1-31,-17 18-1,-1-18 1</inkml:trace>
  <inkml:trace contextRef="#ctx0" brushRef="#br0" timeOffset="12504.68">14623 11307 0,'0'17'63,"-18"18"-48,18 36-15,-18-18 16,-17 0-16,17-18 16,1 18-1,-1-35 1,18-1 0</inkml:trace>
  <inkml:trace contextRef="#ctx0" brushRef="#br0" timeOffset="13144.89">14658 11254 0,'18'0'47,"-1"35"-31,-17-17-1,18-18-15,-1 35 16,1 0-16,35 18 15,-35-35 1,35 52 15,-36-35-31,1-17 16,-18 0 15,0-1-15</inkml:trace>
  <inkml:trace contextRef="#ctx0" brushRef="#br0" timeOffset="13923.77">14623 11465 0,'17'0'78,"1"0"-62,35 0-16,-18 0 16,18 0-1,-18 0-15,-17 0 16,0 0 0,-1 0 109</inkml:trace>
  <inkml:trace contextRef="#ctx0" brushRef="#br0" timeOffset="14704.949">16245 11201 0,'0'35'78,"0"0"-62,0 1-16,0-19 16,0 18-16,0 18 15,0 0 1,0 0-1</inkml:trace>
  <inkml:trace contextRef="#ctx0" brushRef="#br0" timeOffset="16151.849">16245 11218 0,'0'0'0,"18"0"16,17 0-1,-17-17-15,0 17 16,-1 0 0,-17-18-1,18 18 32,0 0 47,-1 18-63,-17-1-31,0 1 16,0 0-16,0-1 15,0 1 1,0 0 0,-17-1 15,17 1-31,-18-1 15,36-34 189,17 17-204,-35-18 15,17 18-15,19 0 16,-19 0-1,1 0 1,0 0 31,-1 0-16,-17 18 0,0-1 1,18 1-17,-18 0 1,0 17-16,0-17 16,0 17-1,-53 0 1,18 0 15,-36 1-15,18-36-1,18 0 1,0 17 0,-1-17-1,1 0 1,17 0-1,1 0 1</inkml:trace>
  <inkml:trace contextRef="#ctx0" brushRef="#br0" timeOffset="17176">18221 11165 0,'0'0'0,"-35"0"110,17-17-110,-35 17 15,36 0-15,-19 0 16,1 0-1,0 0 1,-1 0 0,19 35-1,-1 0 1,18-17-16,0 0 16,0 17-1,0 0 1,0 0 15,18 18-31,35 0 31,0-17-15,17-1 0,18-18-1,-17-17 1,17 0-1,18-52 1,-71 16 0,-17 19-1</inkml:trace>
  <inkml:trace contextRef="#ctx0" brushRef="#br0" timeOffset="17952.08">19438 11024 0,'18'71'125,"-1"-54"-125,-17 19 15,0-19-15,0 1 16,18 35-1,0-18 1,-18 1 0</inkml:trace>
  <inkml:trace contextRef="#ctx0" brushRef="#br0" timeOffset="19023">19473 11077 0,'18'-35'32,"0"35"-1,-18-18-16,17 18-15,19 0 32,-1 0-32,-18 0 15,36 0 1,71 0 0,-89 0-1,-17 0 1,-1 18 31,1 17-47,0 0 15,-18-17 1,0 17 0,0-17-1,0 17 1,0-17 15,0 0-15,-18-1-1,0 1 1,-35 35 0,36-36-1,-1 1 1,1-18-1,-1 0 1,-17 0 0,-1 0-1,19 0 1,-1 0 0,18-18-1,-18 18 16,1-17-15,-1-1 0,18 1-1,-17-1 1,-1 0 0</inkml:trace>
  <inkml:trace contextRef="#ctx0" brushRef="#br0" timeOffset="19872.53">20761 10918 0,'18'0'78,"-18"18"-62,17 17-16,19 71 31,-19-35-16,1-18 1,-18-18 0,35 0-1</inkml:trace>
  <inkml:trace contextRef="#ctx0" brushRef="#br0" timeOffset="20560.29">20779 10936 0,'17'-18'78,"1"1"-78,17 17 16,0 0-16,18-18 16,-35 18-1,17-17 1</inkml:trace>
  <inkml:trace contextRef="#ctx0" brushRef="#br0" timeOffset="21368.21">20920 11165 0,'17'0'78,"19"-17"-78,-19-1 16,36 18 0,-35-18-1,-1 1 1</inkml:trace>
  <inkml:trace contextRef="#ctx0" brushRef="#br0" timeOffset="22408.309">20955 11342 0,'35'0'172,"-17"0"-156,0 0-16,17 0 15,0 0-15,0 0 16,1-18-16,-19 18 31,1 0-15,0 0 46</inkml:trace>
  <inkml:trace contextRef="#ctx0" brushRef="#br0" timeOffset="24680.74">14676 9966 0,'0'18'78,"0"17"-62,0 0-1,0 0-15,0 1 16,0-19-16,0 1 16,0 17-16,0 36 15,0-36 17,0 18-17,0-35 1,0 52-1,0-34 17,0 16-17,0-16 1,0-19 0,0 1-1,17 35 1,1 0-1,-18-36 1,0 19 0,0-19-1,0 1 1,17 0 15</inkml:trace>
  <inkml:trace contextRef="#ctx0" brushRef="#br0" timeOffset="26712.6">14676 10001 0,'17'0'110,"18"-17"-95,18 17-15,0 0 16,0 0-16,71 0 16,-18 0-1,-18 0 1,35 0 15,-105 0-15,70-18-16,18 18 15,35 0 17,0 0-17,-53 0 1,0 0-16,1 0 16,-1 0-1,-53 0 1,-17 0-1,-1 0 376,-17 18-375,18 17-16,-18 35 15,35 72 17,-17-72-17,-18-52 1,0-1 15,18 1-15,-18 0-1,0-1 1,0 1-16,17 17 16,-17-17-1,18 17 1,-18 0 15,0-17-15,18 17-1,-18-17 1,0 17 0,0 1-1,17-36 1,-17 35-1,0-18 1,0 1-16,0 0 63</inkml:trace>
  <inkml:trace contextRef="#ctx0" brushRef="#br0" timeOffset="39641">6279 9790 0,'18'0'140,"0"0"-140,-1 0 16,1 0-16,17 0 16,1-18-16,87 18 31,-70 0-31,35 0 16,-53 0-1,54 0 1,-54 0-1,18 0 1,0 0 0,-18 0-1,0 0 1,1 0 0,16 0 15,-16 0-31,-1 0 15,-17 0 1,35 0 0,-36 0-1,54 0 17,-36 0-17,36 0 1,-36 0-1,-17 0 1,-1 0 15,1 0-31,17 0 32,0 0-17,-17 0 1,0 0-1,-1 0 17,19 0-17,-19 0 1,54 0 0,-54 0-1,19 0 1,-19 0-1,1 0 1,0 0 0,-1 0-1,1 0 1,0 0 15,-1 0-15,1 0 46</inkml:trace>
  <inkml:trace contextRef="#ctx0" brushRef="#br0" timeOffset="56537.39">19473 9684 0,'18'17'94,"-18"19"-78,0-19-16,0 19 15,0-19-15,0 18 16,0 18-1,0 0 1,0 18 15,0-53-15,0 17 0,18 0-1,-18-17 1,0 17-1,0 0 1,0-17 0,0 17-1,0 0 1,0 18 0,0-35-1,0 17 1,0-17-1,0 35 1</inkml:trace>
  <inkml:trace contextRef="#ctx0" brushRef="#br0" timeOffset="59593.189">19491 9737 0,'-35'0'156,"17"0"-156,0 0 16,-17 0-16,-18 0 15,18 0-15,-18 17 16,0-17 0,18 0 15,0 0-15,17 0-16,-17 0 15,-1 18 1,1-18-1,0 0 1,17 0 0,-17 18-1,-36-18 1,1 0 0,17 0-1,18 0 1,-1 0-1,19 0 1,-36 0 15,-18 0-15,1 0 0,17 0-1,17 0 1,-34 0-1,52 0 1,-17 0 0,17 0-1,1 0 1,-1 0 15,-35 0-15,36 0-1,-19 0 1,19 0 15,-1 0-15,0 0 0,1 0-1,-19 0 1,19 0-1,-36 0 1,35 0 0,18 35 359,0-18-375,0 1 15,0 0-15,0-1 16,0 19 0,18-19-1,-18 19 1,17-19-1,-17 19 1,0-19 0,0 18-1,0-17 1,18 0 0,-18 17-1,0 0 1,0-17-1,0 0-15,18-1 32,-18 1-17,0-1 1,0 1 0,17 17-1,-17 18 16,0-35-15,0 0 0,0-1-1,0 1 1,0 0 0,0-1-1,18 18 1,-18-17-1,0 17 17,0-17-17,0 0 1,0-1 0</inkml:trace>
  <inkml:trace contextRef="#ctx0" brushRef="#br0" timeOffset="82825.709">6879 7814 0</inkml:trace>
  <inkml:trace contextRef="#ctx0" brushRef="#br0" timeOffset="84792.61">6932 7832 0,'0'17'78,"-18"19"-47,18-19-15,0 1-1,0 0 16,18-18 63,-18-18-78,18 0-1,-18 1-15,17-19 16,-17 19 0,0-19-1,0 19 1,0-1 15,0 36 110,0-1-126,0 19-15,0-1 16,0-17 0,0-1 31,18-17 46,-18-35-93,18 0 16,-18 17-16,0 0 16,0 1-1,0-1-15,0-17 16,-18 35 78,0 17-79,1 1-15,17 0 16,0 17-1,0-17 1,0-1 0,17 1-1,-17 0 1,18-18 0,0 0 46,-1-18-62,-17-17 16,0 17-1,18 0-15,-18-17 16,0 17 31,-18 18 31,18 18-62,-17-18-16,17 35 15,-18-17-15,18 0 16,0 17-1,0 0 1,0 1 0,0-54 109,0 0-125,0 1 31</inkml:trace>
  <inkml:trace contextRef="#ctx0" brushRef="#br0" timeOffset="88736.33">7056 9754 0,'0'18'125,"17"0"-110,1-1 1,-18 1-1,17-18 64,1 0-79,0 0 15,-1-35-15,19 17 16,-19 0-16,1 1 15,-18-1 1,0 0 0,0 1 46,-18 17 1,-17 0-48,17 17 1,18 1 0,0 0-16,0-1 31,0 1-16,0 0 17,0-1-1,18-17 31,17-17-46,-17-1-16,17 0 16,-35 1-16,18-1 15,-18-17 1,0 17 0,0-17-1,0 0 1,-18 35-1,18-18 1,-17 18 15,-1 0-31,0 0 16,-17 35 0,35 0 15,-18 18-16,18-35 1,0 17 0,0-17-1,0 0 1,18-1 0,17-17 62,-35-17-63,0-1 1,0-17-16,0 17 16,0 0 15,-17 1-16,-1-1 1,0 18 0,1 0 15,-1 0-15,0 18-1,18 17 1,0 0-1,0-17-15,0 0 16,0-1-16,0 1 16,18-18 46,0 0-46,-18-18-1,0-17 1,0 0 0,0 17-1,0 0 1,0 36 62,-18 0-78,18-1 16,0 1-16,-18 17 15,18-17-15,0 35 32,0-18-17,18-35 1,0 0 46,-18-53-62,0 35 16,0-17-16,0 18 16,0-1-1,0 0 1,0 36 78,0 35-94,0-18 15,0-17 1,0-1-1,0-87 64,0 52-79,17 1 15,-17-1 1,0 53 109,0-17-110,0-1-15,0 1 16,0 0-16,0-1 16,18-52 62,-18 17-63,0 1 1</inkml:trace>
  <inkml:trace contextRef="#ctx0" brushRef="#br0" timeOffset="100424.87">7020 7902 0,'18'0'219,"0"0"-219,17 18 16,-18-18-1,1 0 17,0 18 61</inkml:trace>
  <inkml:trace contextRef="#ctx0" brushRef="#br0" timeOffset="101183.64">7285 8008 0,'18'0'62,"17"0"-46,0 18-1,-17-1 1,35 1 0,0 0-1,-53-1 1,17-17-16,1 0 31</inkml:trace>
  <inkml:trace contextRef="#ctx0" brushRef="#br0" timeOffset="101936.89">7832 8237 0,'17'0'78,"19"0"-62,-19 0 0,1 0-1,0 0-15,-18 18 16,17-18-16,1 18 109</inkml:trace>
  <inkml:trace contextRef="#ctx0" brushRef="#br0" timeOffset="102744.409">8467 8431 0,'17'0'94,"1"0"-94,17 0 16,-35 18-16,35-18 15,-17 18 1,17-1-1,-17 1 1,0-18 0</inkml:trace>
  <inkml:trace contextRef="#ctx0" brushRef="#br0" timeOffset="103423.939">8943 8625 0,'18'0'47,"-1"18"-31,36 0-1,0 17 1,0 0 0,-35-35-1</inkml:trace>
  <inkml:trace contextRef="#ctx0" brushRef="#br0" timeOffset="116135.83">7867 7779 0,'18'0'579,"-1"0"-548,1 17 0,0 1 63,-1-18-32,1 18-46,-1-1 0,1-17-1,-18 18-15,35-18 47,-35 18-31,18-18-1,0 35-15,-1-35 16,1 0 0,17 18-1,-17 17 1,-1-35-1,1 17 1,0 1 0,17 0 15,-17-1-15,-18 1-1,35 0-15,-17-1 31,-1 1-15,1-18 0,17 35-1,18-17 1,-18 17 0,1 0-1,-1-17 16,-18-18-15,1 35 0,0-35-1,17 18 1,-17 0 0,-1-1-1,36 1 1,-35-1-16,0 19 15,52-19 1,-35-17 0,-17 36-1,0-36 32,-1 0-16,1 0 1,0 17-17,-1 1 1,18 0 0,-17-1-1,35 1 1,-35-1-1,17 1 1,-17-18 0,-18 18 15,17-18-15,1 0 30,-18 17-14,18-17-1,-1 0 16,1 18 15,-1-18-30,1 18-32</inkml:trace>
  <inkml:trace contextRef="#ctx0" brushRef="#br0" timeOffset="119368.57">20920 10425 0</inkml:trace>
  <inkml:trace contextRef="#ctx0" brushRef="#br0" timeOffset="122904.7">20796 8661 0,'0'53'110,"0"-36"-95,0 54 1,0-54 0,0 19-1,0-19 1,0 1-16,0 0 15,0-1 1,0 1 0,0 17-1,0-17-15,0 35 16,0 0 15,0 0-15,18 0-1,-18-36 1,0 54 0,18-18-1,-18-18 1,17 53 0,-17-17-1,18-18 1,-18-36-1,17 18 1,-17-17 0,0 0-1,0-1-15,18 36 32,0 35-17,-1-35 1,-17 0-1,18-17 1,-18-19 0,0 36-1,0-18 1,18 36 0,-18-53-16,0-1 15,0 19-15,0-19 16,0 18-1,0-17 1,0 17 0,0 1-1,17-19 1</inkml:trace>
  <inkml:trace contextRef="#ctx0" brushRef="#br0" timeOffset="125481">15663 8819 0,'0'18'157,"0"0"-142,0-1-15,0 1 16,0 17-16,0 53 15,0 1 17,0-54-17,0 0-15,0 1 32,0-19-17,0 1 1,0-1-1,0 19 1,0-19 0,0 36-1,0-17 1,0-19 15,0 1-15,0-1-16,0 19 31,0-19-31,0 19 16,0-1 15,0 0-15,0-17-1,0 35 1,0-36-1,0 1-15,0 0 16,0-1 0,0 19 15,0-19-15,0 1 15,0-1 47,0 1-62,0 0-1,0-1 1,0 1-1,0 0 95,18-89 77</inkml:trace>
  <inkml:trace contextRef="#ctx0" brushRef="#br0" timeOffset="127728.05">15681 8837 0,'18'0'63,"17"0"-16,-17 0-32,17 0 1,18-18 0,70 18-1,1 0 1,-36 0 0,0-17-1,-17 17 1,17 0-1,-18 0-15,54 0 16,-1 0 0,71 0-1,0 17 1,-17-17 0,-36 0-1,-53 0 16,18 0-15,-36 0 0,-34 0-1,52 0 1,-18 0 0,36 0-1,0 0 1,-35 0-1,-18 0 1,-18 0 0,35 0-1,72 0 1,52 0 0,-53 18-1,-53-18 1,-18 0 15,-34 0-15,-19 0-16,54 0 15,-18 0 1,35-18 0,36 18-1,-54 0 1,-17 0-1,18-17 1,-1 17 0,36 0-1,-18 0 1,0 0 0,0 0-1,-17-18 16,-36 18-15,71 0 0,-18 0-1,1-17 1,-1 17 0,-35 0-1,-18-18 1,-17 18-1,17 0 1,-35-18 0,35 18-1,18 0 1,0 0 15,-35 0 110,-1 0-94,1 0-47,0 0 15,-1 0 1</inkml:trace>
  <inkml:trace contextRef="#ctx0" brushRef="#br0" timeOffset="129968.19">18309 8802 0,'0'-18'235,"0"-17"-235,0 17 15,0-17-15,0 17 16,0 1 0,0-54-1,0 18-15,0 18 16,0-18 0,0 0-1,-17 0 1,17 18-1,0 0 1,0 17 0,-18-35 15,18 35-31,0 1 16,0-1 15,0-17-16,0 17 79,0 1 0</inkml:trace>
  <inkml:trace contextRef="#ctx0" brushRef="#br0" timeOffset="139760.19">7990 8290 0,'18'0'141,"0"0"-126,-1 0 1,1 0 0,0 0 15,-18-17 31,-18 17 63,0 17-109,18 1-16,-17-18 16,17 18-16,0-1 15,0 1 1,0-1 0,0-34 93,0-1-93,0 1 15,0-1-16,0 0 1,0 36 125,0 0-126,0-1 1,0 1 15,0-36 79,17 18-110,-17-17 15,0-1-15,0 36 188,0-1-173,0 18-15,18-35 32,0 0-17,-1 0 32,1-17-31,0 17-1,-1-18-15,1-17 16,-18 17 15,17 1-15,-52 17 62,18 0-47,-1 0-31,0 0 16,1 0-1,17 17 1,-18 1 15,18 0-15,0-1 0,0 1-1,18-18 95,-1-18-79,-17 1-31,0-1 15,0 0 1,0 1 0,-17 17 15,-1 0 16,0 0-32,18 17 1,-17 36 0,17-18-1,17-35 95,-17-17-63,0-1-47,0 36 109,0-1-93,0 1-1,0 0-15,18-1 31,0-17-15,-1-17 31,-17-1-31,0-17-16,0 17 15,0-17 1,0 70 78,0-17-79,0-1-15,18 1 16,0-18-1,-1 0 64,-17-35-79,0 17 15,0 1 1</inkml:trace>
  <inkml:trace contextRef="#ctx0" brushRef="#br0" timeOffset="145272.25">19121 9772 0,'0'-18'297,"0"1"-282,17-19 1,-17 19-1,0-1 1,0-17 0,0-18-1,0 35 1,0 1 187,0-19-203,0 19 16,0-19-1,0 19-15,0-18 16,0-1 0,0-17-16,0 36 15,0-19 1,0 1-1,0 0 1,0 0 0,0 17 31,-17 0-32,17 1 1,0-1-16,0-17 31,-18-1-15,0-16-16,18-1 15,-17 17 1,17 19-16,0-1 16,-18 0-1,18-17 1,0 18-1,-18-19 1,18-17 0,0 36-1,-17-36 1,17 35 0,0-35 15,0 18-16,-18 17 1,18-17 0,0-18-1,0 35-15,0-17 16,0 0 0,-18 0-1,18-1 1,0 19 15,0-1-15,-17 0 15,17 1-15,0-1-16,0 1 15,0-1 16,0-17-15,0 17 0,0-17-1,-18 17 1,18 0 31,0 1-16,0-1 0,0 1 1,0-1-17,0 0 16,0 1-15</inkml:trace>
  <inkml:trace contextRef="#ctx0" brushRef="#br0" timeOffset="146543.819">18274 7902 0,'0'36'125,"0"-19"-125,0 1 16,0-1-16,-18 19 15,18-1 1,0-17 0,0-1-1,0 1 1</inkml:trace>
  <inkml:trace contextRef="#ctx0" brushRef="#br0" timeOffset="147673.13">18256 7973 0,'18'0'93,"0"0"-77,17 0-16,0-18 16,0 1-1,18-1-15,0 18 16,18-18 15,-18 18-15,-36 0-1,19 0 1,-19 0 0,1 0 15,-1 0-15,1 0-1,0 0 32,-1 0-31,1 0-1,0 0 1,-1 0 0,1 0-1,17 0 1,-17 0-1,0 0 1,-1 0 0,1 0 31,-1 0 31,1 0-31,0 0-16</inkml:trace>
  <inkml:trace contextRef="#ctx0" brushRef="#br0" timeOffset="149056.4">18680 7885 0,'0'-36'156,"0"19"-140,0-19-1,0 19-15,-18-19 16,18 19-16,0-36 16,0 35-1,0-17 1,0 17 15,-18 18 0,18-17-15,0-1 0,0-17-1,-17 17 1,17 1-1,0-1 1,0-17 0,0-1-1,0 19 1,0-1 0,-18-17-1,18 17 1</inkml:trace>
  <inkml:trace contextRef="#ctx0" brushRef="#br1" timeOffset="168584.07">6103 13600 0,'-18'17'15,"18"1"63,-17-18-78,17 17 16,0 19 0,0-1 15,0-17-16,17-18 32,1-18-15,0 18-32,-18-35 15,17 17 1,-17-17-1,-17 35 48,-1 0-47,0 17 15,1-17-16,17 18-15,0 0 16,0-1 0,0 1-1,17 0 1,1-1 0,0-17-16,-1 0 15,1 0 1,17 0-1,-17-53 1,0 18 0,-1 0-1,-34 17 1,-19 1 0,19 17-1,-1 0 16,-17 0-15,17 17 0,18 18-1,0 18 1,0-70 78,0-1-79,18 18 79,-1 0-78,1 0-1,0 0-15,-1 0 63,1 0-48</inkml:trace>
  <inkml:trace contextRef="#ctx0" brushRef="#br1" timeOffset="170760.65">8184 13600 0,'0'17'109,"18"-17"-109,-18 18 16,18-18 46,-18-18-46,17 1-16,-17-1 15,0-17 1,0 17 0,0 0-16,-17 18 15,-1-17 1,0 17 0,1 0-1,-18 17 1,17 1-16,18 0 15,-18-1-15,1 19 16,17-19 0,0 18 15,17-17-31,19-18 16,16 18 15,-34-18 0,-18-18-15,0-17-1,0 17 1,-18 18 46,1 0-30,-1 35-32,18-17 15,0 17 1,18-35 62,-1-17-62,-17-1-1,0 0-15,0 1 16,0-1-16,0 53 78,0-17-78,0 0 16,0-1-16,18 1 15,0 0 1,-1-18 0,1 0-16,0-18 46,-18-17-30,-18-36 0,-53 36-1,19 17 1,16 18 0,19 0-1,17 53 1,0-18-1,0-17 1,0-53 78,0 0-79,0 17 1,0 0-16,-18 71 63</inkml:trace>
  <inkml:trace contextRef="#ctx0" brushRef="#br1" timeOffset="178128.57">10266 14340 0,'0'-17'234,"0"34"-93,0 19-141,0-19 15,0 1-15,0 0 16,17-18 0,1 0 30,0 0-46,-1-36 16,1 19 0,-18-1-1,0 0 1,-18 18 78,1 0-79,-1 0-15,0 18 16,18 17 0,0-17-1,18-18 48,-18-18-48,18-17 1,-18 17-16,0 1 16,0-1-1,-18 18 32,-17 18-31,17 17-16,1-35 15,17 35-15,0-17 16,0 17 0,0-52 93,17 34-15,1 1-94,-1-18 15,1 0 1,0 0 0,-18-35 15,0 17-31</inkml:trace>
  <inkml:trace contextRef="#ctx0" brushRef="#br1" timeOffset="179043.73">5733 12753 0,'0'18'47,"0"17"-47,-36 0 15,19 18 1,-1 53 0,-35-36-1,53 36 1,-17-18-1,-1-70 1,18 0 0,0-36 62</inkml:trace>
  <inkml:trace contextRef="#ctx0" brushRef="#br1" timeOffset="179728.37">5733 12806 0,'17'35'79,"36"36"-79,-53-18 15,35-18-15,-17 0 16,17 18-1,-17 53 1,17-53 0,-35-36-16,18-17 15,0 0 1</inkml:trace>
  <inkml:trace contextRef="#ctx0" brushRef="#br1" timeOffset="180586.69">5662 13141 0,'88'-18'109,"-70"18"-93,17 0-16,18 0 15,-35-17-15,35-1 16,0 0 15,-36 18-31,1 0 16,17-17 15</inkml:trace>
  <inkml:trace contextRef="#ctx0" brushRef="#br1" timeOffset="181416">7955 12718 0,'0'17'78,"18"19"-78,-18 16 15,0-16 1,0 87 0,0-87-16,0 34 15,17-70 1,-17 18-16</inkml:trace>
  <inkml:trace contextRef="#ctx0" brushRef="#br1" timeOffset="182895.7">7973 12788 0,'0'-17'63,"0"-1"-32,17 18-31,36-18 16,-35 1-1,17-1 1,-17 18-16,0 0 16,-1 0-1,1 0 32,-18 18-47,0-1 31,17 19-15,-17-19 0,0 18-1,0-17 1,-17 17-1,-1-17 1,1 0 0,17-1-1,-18-17 1,0 0 109,54 0-63,-19 0-46,-17-17 0,18 17-16,-1 0 15,1 0 32,0 0 0,-18 17-47,17 1 16,1-18-16,-18 18 15,18-1 1,-18 1 0,0 0 30,0-1-30,17-17-16,-17 18 16,0-1 46,-17-17-31,17 18-31,-18-18 16,-35 35 0,0-35-1,0 18 1,36-18 0,-1 0-1,0 0 1,1 0 15</inkml:trace>
  <inkml:trace contextRef="#ctx0" brushRef="#br1" timeOffset="186968.44">10425 13635 0,'0'17'109,"17"19"-109,19 34 16,-19-17-16,-17-17 15,18 16-15,-1 19 16,-17-36-1,0 1 1</inkml:trace>
  <inkml:trace contextRef="#ctx0" brushRef="#br1" timeOffset="187671.78">10407 13617 0,'35'0'47,"18"0"-31,18 0-16,-18 0 15,35 0-15,0 0 16,-35 0-1,-35 0 1</inkml:trace>
  <inkml:trace contextRef="#ctx0" brushRef="#br1" timeOffset="188512.36">10513 13847 0,'17'0'63,"19"0"-48,17 0-15,0 0 16,-1 0-16,-16 0 31,-19 0-15</inkml:trace>
  <inkml:trace contextRef="#ctx0" brushRef="#br1" timeOffset="189416.52">10548 14041 0,'18'0'110,"17"0"-110,18 0 15,-18 0-15,18 0 16,35 0 0,-35 0-1,-35 0 1</inkml:trace>
  <inkml:trace contextRef="#ctx0" brushRef="#br0" timeOffset="-201920.75">15469 17127 0,'-17'0'16,"-1"18"15,18 0-15,0-1-1,0 1 1,0 0 0,18-18 30,-18-18-30,0 0 0,0 1-1,0-1-15,0 0 16,-18 1 0,0 17-1,1 0 1,-1 0 15,18 53-15,0-18-1,0-17 1,18-18 31,-1 0-32,-17-36 1,0 1 0,0-18-1,0 71 48,36 17-48,-36 0-15,35-17 16,-17 0 0,35 17-1,-36-35 1,1 0 0,-18-18-1,-35-17 1,-1 0-1,-17-1-15,0-17 16,53 71 31,0 17-31,18 1-16,0-1 31</inkml:trace>
  <inkml:trace contextRef="#ctx0" brushRef="#br0" timeOffset="-200763.8">17039 17057 0,'0'0'0,"-17"0"31,-1 0-16,18 17 1,0 1-16,0 0 16,-18-1-16,18 19 15,0-1 1,0-53 62,0 1-62,0-1-16,0 0 15,0 1 1,0-19 0,-17 36-1,-1 0 1,0 0 15,18 18-31,0 17 16,-17 1-1,52 17 1,0-53 0,-17 0 15,-18-36-16,0 19 1,0-36 0,-18-18-1,18 54 1,0 34 15,0 18-15,0-17-1,18 17 1,0-17 0,87-18-1</inkml:trace>
  <inkml:trace contextRef="#ctx0" brushRef="#br0" timeOffset="-199745.85">18574 17004 0,'0'18'62,"0"-1"-46,0 1-16,0-1 15,0-52 79,0 18-78,-18 17 15,18-18-15,-18 18-16,1 0 15,-1 18 1,1-18-16,-1 35 15,18-18 1,18 1 0,-1 0-1,-17-36 48,0 0-48,0-17-15,-17 18 16,17-1 0,-18 0-16,18 54 47,0-19-32,18 36 1,-1-18-1,1-35 17,-1 0-17,36-53 1</inkml:trace>
  <inkml:trace contextRef="#ctx0" brushRef="#br0" timeOffset="-198678.741">20179 16933 0,'0'18'62,"0"17"-46,0 1-16,0-19 15,0 18 1,0-17 0,18-18-1,-1 0 1,18-18 15,-35 1-15,0-18-1,0 17-15,-17 0 16,-1 18 15,-17 0-15,17 0-16,1 36 15,17-1 1,0 0 0,17-17-1,19-18 1,-19 0 0,-17-18 15,-17-17-16,-54-36 1,53 54 0,54 52 31,-19 0-32,19 124 1,-19-106-1,1-18-15</inkml:trace>
  <inkml:trace contextRef="#ctx0" brushRef="#br0" timeOffset="-197688.76">21908 16880 0,'-18'0'31,"0"0"-16,-17 18 1,35 0-16,0 17 16,0-17 15,0-54 63,0 19-94,0-1 15,0 0-15,0 1 16,-18 52 46,18-17-46,0-1-16,0 1 16,18-18 46,-18-18-46,0 1-1,18 17 79,-18 17-94,0 1 16,17 0-16,1-18 15</inkml:trace>
  <inkml:trace contextRef="#ctx0" brushRef="#br0" timeOffset="-196760.87">15575 17639 0,'-17'18'31,"-1"34"-15,18 54-16,-35-70 15,-1 69 1,1-34 0,35-53-1</inkml:trace>
  <inkml:trace contextRef="#ctx0" brushRef="#br0" timeOffset="-196152.97">15593 17745 0,'17'0'63,"1"0"-47,0 0-16,17 17 15,-35 19-15,71 17 16,-54-18-1,1 0 1,17-17 15,-35-1-15</inkml:trace>
  <inkml:trace contextRef="#ctx0" brushRef="#br0" timeOffset="-195544.04">15558 17921 0,'17'0'78,"1"-18"-62,35 18-16,-36 0 15,36 0-15,-17 0 16,16 0 0</inkml:trace>
  <inkml:trace contextRef="#ctx0" brushRef="#br0" timeOffset="-194864.66">17127 17674 0,'0'53'78,"0"-18"-62,18 36-16,-18-1 15,0-52-15,0 35 16,18 18 0</inkml:trace>
  <inkml:trace contextRef="#ctx0" brushRef="#br0" timeOffset="-193655.82">17039 17727 0,'18'-18'46,"-1"1"-30,19 17 0,-1-18-16,0 18 15,-17 0 1,0 0 15,-1 0-15,1 53-1,17-18 1,0-17 0,-35 0 46,0-1-62,0 1 16,0 17-1,0-17 1,-17 35 0,-19-53-1,36 17 1,-17-17 62,17-35-62,0 17 15,35 1-31,18-1 16,-18 1-1,-17 17 16,0 0 1,17 35-17,-35-18 1,17 1 0,1-18-1,-18 18 1,0-1-1,0 1 1,0 17 0,0-17-1,-18 17 1,-17-17-16,-18 0 16,0-18-1,-52 0 16,16 0-15,1-18 0,18 0-1,34 18 1,19 0 0,70-17 30,-18 17-46,35 0 16,-17 0-16</inkml:trace>
  <inkml:trace contextRef="#ctx0" brushRef="#br0" timeOffset="-192655.75">18715 17745 0,'0'-18'63,"0"0"-32,-18 18 0,1 0-15,-1 0 15,-17 0-15,-18 0-16,35 0 15,-52 71 1,70-53-16,-18-1 16,-17 89-1,35-35 1,17-36 0,19 18 15,-1-35-16,-18-1 1,72 18 0,-36-35-1,-36 0 1,18 0 0,-17 0-1,17 0 1,-17-52-1,0 34 1</inkml:trace>
  <inkml:trace contextRef="#ctx0" brushRef="#br0" timeOffset="-191944.85">20038 17568 0,'17'36'94,"19"-1"-79,-36 35-15,17 1 16,1 0-16,0 17 15,-18-71 1,0 1 0</inkml:trace>
  <inkml:trace contextRef="#ctx0" brushRef="#br0" timeOffset="-191072.67">20073 17551 0,'0'0'0,"18"-18"16,-1 18-16,1 0 31,17 0-15,-17 0-1,35 35 1,0 1 0,-18-19-1,-17 19-15,17-19 16,-17-17 0,-1 18 15,1-1-16,-1 19 1,1-19 0,-18 19-1,18-1 1,-1-17 0,-17 17-1,-53 0 16,1 0-15,-19 1 0,36-19-1,17 1 1</inkml:trace>
  <inkml:trace contextRef="#ctx0" brushRef="#br0" timeOffset="-190288.42">21978 17427 0,'18'18'78,"-1"17"-62,1-17-16,0 17 16,-1 18-16,-17-35 15,36 52 1,-19 1-1,-17-54 17,0 1-17</inkml:trace>
  <inkml:trace contextRef="#ctx0" brushRef="#br0" timeOffset="-189584.73">21996 17445 0,'0'-18'110,"35"18"-110,-17-17 15,-1 17-15,19-18 16,-1 0 0,-18 18-1,1 0 1</inkml:trace>
  <inkml:trace contextRef="#ctx0" brushRef="#br0" timeOffset="-188880.37">22137 17674 0,'17'0'78,"-17"-17"-78,18 17 15,0-18 17,-1 18-32,1-18 15,0 18 1,-1 0 0,1-17-16</inkml:trace>
  <inkml:trace contextRef="#ctx0" brushRef="#br0" timeOffset="-187536.72">22190 17815 0,'0'18'78,"0"0"-62,0 17-16,0 0 16,0-17-1,0-1 1,17-17 312,1 0-328,0 0 16,-1 0-16,19 0 15,-36-17 1,35-1-1,-18 18 1,1 0 78</inkml:trace>
  <inkml:trace contextRef="#ctx0" brushRef="#br1" timeOffset="-164856.79">6174 16245 0,'17'0'125,"1"0"-125,0 18 16,-1-18 0,-17-35 93,0 17-93,0 0-16,-17 18 125,-1 0-110,18 18-15,0 17 16,0-17-1,0 0-15,0-1 16,0 19 0,18-19-1,-1-17 32,1 0-47,-1-53 16,-17 18-1,0 17 1,0 1-16,0-1 16,0 0-1,0 36 110,0 0-125,-17-1 16,17 1-16,0 0 16,0-1-1,17 19 1,1-36-1,0 0 17,-18-18-1,0 0-15,0 1-1,-36-1 1,1 18-1,0-18 1,17 18 0,1 0-1,17 18 17,0 0-32,0-1 31,0-34 63,0-1-94</inkml:trace>
  <inkml:trace contextRef="#ctx0" brushRef="#br1" timeOffset="-162744.39">8449 16122 0,'-18'0'31,"1"0"-16,-19 0 1,19 0 0,17 18-16,0-1 15,0 1 1,0-1 0,0 19 15,17-19-16,1 1 1,0-18 31,-1 0-31,1-18-1,-18 1 1,0-1-16,0 0 15,0 1 1,-53-36 0,35 53 15,-17-18-15,18 18-1,-19 0 1,19 0-1,17 18 1,0 0-16,0-1 16,-18 18-1,18-17 1,0 0 0,18-18-1,17 17 1,-17-17 15,-1 0 0,1-17-15,-1-1-16,-17 0 31,0 1-15,0 34 93,0 1-109,0 0 16,0-1-16,0 1 15,18-18 64,-18-35-48,0 17-31,0-17 31,-18 35-15,1 0 15,-1 0-31,1 17 16,17 1-1,0 0 16,0-1-15,17-17 0,-17-17 46,0-1-46,0 0-16,0 1 15,0-1 1,-17 18 15,-1 18-15,18-1 15</inkml:trace>
  <inkml:trace contextRef="#ctx0" brushRef="#br1" timeOffset="-161550.6">6138 16775 0,'0'-18'62,"-17"18"-46,-19 0 0,1 18-16,0-18 15,0 35-15,-54 35 16,36-34 0,18-1 15,35 0-16,0 1 1,0-1 0,0-18-1,35 1 1,1 0 0,-1-1-1,18-17 1,0 0-1,-18 0-15,36 0 16,-1-17 0,-17-1-1,-53 0 1,18 18 0</inkml:trace>
  <inkml:trace contextRef="#ctx0" brushRef="#br1" timeOffset="-153208.92">8220 16739 0,'17'36'141,"-17"-1"-141,0 18 15,18 17-15,-18-17 16,0 35 0,0-35-1,0-17 1,18-36-1</inkml:trace>
  <inkml:trace contextRef="#ctx0" brushRef="#br1" timeOffset="-151960.39">8167 16739 0,'17'0'94,"54"0"-94,0 0 16,52 0-1,0 18-15,72 0 16,-90-18 0,-105 35 46,18-35-46,-18 35-16,0-17 15,0 17 1,0 0 0,0 36-1,35-53 1,-35 17-1,-35 0 1,-53 0 0,17 1-1,18-19 1,36 1 0,-1-18-1,0 0 1,-17 0-1,-53 0 1,17 0 0,18 0-1,36 0 1,-1 0 0,1 0 109,-1 0-110,18-18 1,-35 1-1,17-1 1,0 18 47,1 0-48,-1 0-15,0 0 16</inkml:trace>
  <inkml:trace contextRef="#ctx0" brushRef="#br1" timeOffset="-149200.66">6174 13758 0,'0'36'203,"0"-1"-187,0-17-16,0 17 16,0-18-16,0 54 31,0-36-16,0 36 1,0-36 0,0 0-1,0-17 1,0 17 0,0-17-1,0 35 1,0-18-1,0-17-15,0-1 16,0 19 47,0-19-48,0 19 1,0-19-1,0 36 1,0-35 0,0 17-1,0 36 1,0-54 0,0 1-16,0 17 15,0 18 1,0-18-1,0 1 1,0 34 0,0-17-1,0 18 1,0-54 0,0 36 15,0-17-16,0 52 1,17-18 0,-17-34-1,0 16 1,0 1 0,0 0-1,0 18 1,0-18-1,18 0 1,-18 0 15,0-36-15,0 19 0,0-19 15,0 54-16,0-54 1,0 19 0,0-19-1,0 1 1,0 0 0,0-1-1,0 36 1,0 0-1,0-18 1,0-17 0,0 0 15,0-1-15,18 1-1,-18-1 32,0 1-47,0 0 16,0-1-16,0 19 15</inkml:trace>
  <inkml:trace contextRef="#ctx0" brushRef="#br1" timeOffset="-146728.66">8237 13635 0,'0'17'141,"0"1"-95,0 0-30,0-1-16,0 1 16,0 17 15,0-17-15,0 0-1,0 35 1,0-18-1,0-18 1,0 1-16,0 0 16,0-1-1,0 19 1,0 17 15,0-36-31,0 36 31,0-18-15,0 1 0,0 17-1,0 0 1,0 17 0,18-70-1,-18 35-15,0 18 31,18 0-15,-18 18 0,0-1-1,0 18 1,0 18 0,0-70-1,0-19-15,0 18 16,0 1-1,17 34 17,1-17-17,0-17 1,-1 34 0,-17-17-1,18 53 1,-18-71-1,0 0 1,17 18 0,-17-35-1,0 0-15,18 35 16,-18-18 15,0 0-31,0 36 31,0-1-15,18-35 0,-18 18 15,0 18-15,0-53-1,0 17 1,0-18-1,0 1 1,0 0 0,0-1-1,0 19 1,0-19 0,0 1-1,0 0 1,0-1 15,0 1-15,0-1 46</inkml:trace>
  <inkml:trace contextRef="#ctx0" brushRef="#br1" timeOffset="-140056.89">15293 15928 0,'0'18'125,"0"17"-125,0 18 16,0 17-16,0 36 16,0-71-1,35 89 1,-17-71-1,-18 35-15,17-17 16,1-1 0,0 1-1,-18-36 1,17 0 0,1 36-1,-18-18 1,18 17-1,-1-52 1,-17 17 15,0-17-15,0 17 15,18-17-15,-18-1 15,0 1-15,0 0-16,0-1 15,0 1 17,0 0-1</inkml:trace>
  <inkml:trace contextRef="#ctx0" brushRef="#br1" timeOffset="-136544.23">15328 15910 0,'35'0'141,"36"0"-126,0 0-15,52 0 16,18 0-16,88-17 16,-70-1 15,-71 18-15,-35 0-1,0 0 1,0 0-16,-18 0 15,71 0 1,0 0 0,18 0-1,-36 0-15,0 0 16,-17 0 0,-36 0-1,18 0 1,-18 0-1,18 0 1,0 0 15,106 0-15,-107 0 0,37 0-1,-36 0 1,-18 0-1,-17 0-15,70 0 16,18 0 0,-18 0-1,-18 0 1,-34 0 0,-19 0 30,1 0 79,0 0-109,-1 0-16,1 0 16,-1 0-16,1 0 15,0 0 1,-1 0 0,19 0-1,-1 0 1,18 0-1,-53 18 282,17 52-281,-17-17-16,18-18 16,-18 1-16,0 17 15,18-1 1,-18 19-16,0-53 15,0 52 1,35-17 0,-35-18-1,0 1 1,0-1 0,18 36-1,-1-1 1,-17-35-1,18 1 17,-18-19-17,18 36 1,-1-17 0,-17-1-1,18-18-15,-1 54 16,-17-18-1,18-18 1,0-17 0,-18 17-1,17-17 1,-17 35 0,18-53 15</inkml:trace>
  <inkml:trace contextRef="#ctx0" brushRef="#br1" timeOffset="-130576.45">16669 15875 0</inkml:trace>
  <inkml:trace contextRef="#ctx0" brushRef="#br1" timeOffset="-128864.54">16334 15857 0,'0'-17'187,"0"-1"-171,0 0-1,0 1 1,0-18 0,0 17-1,-18-17-15,18 17 16,0 0-16,0 1 16,-18-1-16,18 0 15,-17-34 1,17 34 15,0 0-15,-18-17-1,18 17 1,0 1 0,-18-19-1,1 19 16,17-1 32,0 0-47,0 1-1,0-1 1,0 1-16,0-1 15,0 0-15,-18 18 32,18-17-17,0-1 1,0 0 62</inkml:trace>
  <inkml:trace contextRef="#ctx0" brushRef="#br1" timeOffset="-103841.16">16175 14499 0,'0'35'78,"0"18"-62,0-17-16,0 87 31,0-52-16,17-36 1,1 18 15,-18-18-15,0 36 0,0-36-1,0 18 1,0 0-1,18-18 1,-18 18 0,0-35-1,0-1 17,0 1-1,17 0 0</inkml:trace>
  <inkml:trace contextRef="#ctx0" brushRef="#br1" timeOffset="-73400.81">16863 15293 0,'0'18'0,"0"52"31,0-35 47,0 1-62,0 34 0,17 18-16,-17-35 15,0 106 1,18-53-16,-18 0 15,0-53 1,18 35 0,-18-35-1,0 53 17,17-1-17,1-16 1,0 69-1,-18-140 1,0 53 0,0-54 15,0 1-31,0 17 16,0-17-1,0 17 16,0-17-15,0 17 0,17-17-1,-17 17 17,0-17-17,18-1 1,0 1-1,-18-1 32,0 1-31,0 0 0,0-1-1,0-105 63</inkml:trace>
  <inkml:trace contextRef="#ctx0" brushRef="#br1" timeOffset="-71280.77">16986 15363 0,'36'0'172,"34"0"-156,89 0-16,-53 0 15,-1 0-15,142 0 16,-53 0-1,-70 0 1,-36 18 0,18-18-1,70 18 17,-140-18-17,52 0-15,53 0 16,18 0-1,-1 17 1,-69-17 0,-1 0-1,-35 0 1,-36 0 0,19 0 15,-19 0-16,1 0 1,0 0 0,-1 0 15,1 0 16,0 0-32,17 0-15,-18 0 16,36 0 0,0 0-1,-17 0 1,-19 36 234,-17-1-250,18 18 16,17 17-16,-35-52 15,18 35-15,17 70 16,0 1-1,-17-71 1,0-18 0,-18 18 15,35-35-15,-35 17-1,17 0 1,-17 18-1,18 53 1,17-71 0,-17 1-1,0 16 1,-1-16 0,1 34-1,17 1 1,-35-18-1,35-18 1,-35 0 0,0 1 15,18-19-15,17 36-1,-35-35 1,18-1-1,-18 19 1,18-19 0,-1 1-1,-17 0 1,0-1 0,18 19-1,-18-19 1,0 1-1,18-18 32,-18 17-31,-18-69 78</inkml:trace>
  <inkml:trace contextRef="#ctx0" brushRef="#br1" timeOffset="-69832.59">18433 15399 0,'0'-36'125,"0"1"-110,-18 18-15,18-19 16,0 1-16,-18 0 16,-17-36-1,35 1 1,-18 17 0,18 35-16,0 0 15,-17-17 1,17 0 15,0-36-15,-18 36-1,1-18 1,17 0 0,0 36-1,0-19 1,0 19-1,0-1 1,-18 0 0,18 1 31</inkml:trace>
  <inkml:trace contextRef="#ctx0" brushRef="#br1" timeOffset="-65382.14">6174 14887 0,'17'0'110,"-17"18"-95,18-18-15,-18 17 16,18-17 0,-1 0 46,-17-17-46,0-1 15,0 1 0,-17 17 79,17 17-95,0 18 1,-18-17 0,18 0-1,0-54 110,0 19-109,0-1-1,-35 1 17,17 17-1,0 0-15,1 0-1,-19 0-15,36 17 16,-17-17-1,17 18 17,0 17-32,0-17 47,17-18-1,1 0-30,17-18 0,-17-17-1,-18 17 1,0-17 0,0 53 109,0-1-110,0 1 1,0-1 15,18-17 0,-1 0-15,1 0 0,-18-17 15,0-1 0,0 1-15,-18 34 62,1 1-63,17 17 1,0-53 93,17 18-93,-17-17-16,0-1 16,0 1-1,0-1-15,-17 18 63,17 35-32,-18-17-31,18-1 16,0 19-1,0-19 1,18-17 46,-1-17-62,-17-19 16,0 19-16,18 17 16,-18-35-1,0 52 79,0 18-94,0-17 16,0 0-16,0-1 31,0-34 31,0-1-46,0-17-16,0 17 16,0 1-16,0-1 15,0 36 32,0-1-31,0 18-1</inkml:trace>
  <inkml:trace contextRef="#ctx0" brushRef="#br1" timeOffset="-62928.9">8308 14817 0,'-18'17'63,"18"1"-63,-17 17 15,17-17 17,17-18 77,1 0-109,17 0 16,-35-18-16,35 1 15,-35-1 1,-17 18 109,-1 0-109,1 18-1,-1-1-15,0 1 16,1-18-16,17 17 15,0 19 1,0-19 0,17-17 77,-17-17-93,36-19 16,-36 19 0,17 17-16,-17-35 15,-35 35 48,17 0-48,1 0 1,-1 17-16,18 1 16,-18-18-1,18 17 1,0 19 0,0-19-1,36 1 1,-19-18-1,1 0 1,0-18 0,-1-17-1,-17-35 1,0 52 0,0-17-1,0 52 63,0 19-78,0-54 125,0 0-109,-17 18 46,-1 0-46,18 36 0,0-19-1,0 1 1,0-1 0,18-17 46,-18-17-46,0-1-1,-18 18 1</inkml:trace>
  <inkml:trace contextRef="#ctx0" brushRef="#br1" timeOffset="-42561.15">6262 16351 0,'17'-17'250,"1"17"-234,0-36-16,-1 36 15,89-53 17,-53 18-1,53 0 0,-35 17-15,-19 18-1,19 0 1,-53-17 0,17-1-1,0 18 1,18-18 0,18 1-1,-1-19 1,18 19-1,-52 17-15,-1-18 16,88 0 0,-52-17-1,0 18 17,34-1-32,1-35 31,-35 35-16,-1 1 1,1-1 0,-71 0-16,53 1 15,-36-1 1,36 1 0,0-1-1,35-35 1,-17 18-1,17-1 1,-35-16 15,88 16-31,-70-17 32,35 0-32,-18 18 31,-18 0-16,19-36 1,-54 54 0,-18-1-1,19 0 1,17-17 0,17-18-1,-17 0 1,53 0-1,17-35 1,-52 35 0,0 0 15,-54 36 0,1 17-15,17-36-16,18-34 31,-18 52-15,-17 1-1,-18-1 1,35 18 0,-35-35-1,35-1 1,1 1-1,17 0 1,-36 35 0,19-35-1,-19 17 17,1 18-1,0-18-16,17 1 1,-18-1 0,1 0-1,0 18 63,-1 0-62,1 0-16,0-17 16,-1 17-1,1 0 1,0 0 0,-18-18-16,0 0 15</inkml:trace>
  <inkml:trace contextRef="#ctx0" brushRef="#br1" timeOffset="-24432.6">12365 3863 0,'0'18'63,"0"-1"-48,0 1 1,0-1-16,0 1 16,0-36 62,0 1-63,0-1 1,0 1 0,-18 17 15,1 0-16,-1 17 17,18 1-1,0 17-31,0-70 109,0 17-109,0-35 16,0 71 78,35 17-79</inkml:trace>
  <inkml:trace contextRef="#ctx0" brushRef="#br1" timeOffset="-22600.7">12400 5627 0,'0'17'47,"18"-17"-32,-18-17 79,0-1-78,0 36 140,17-18-141,-17-18 64,0 1-64,-17 52 79,17-18-94,0 19 16,0 17-16,0-36 15,0 1-15,17 0 16,1-18 31,-18-18-32,0 0-15,0-35 32,0 18-17,0 17 1,0 71 62,0-35-62,0 0-1,18-18 1,-18-18 62,-18 0-78,0 1 16,18-1-16</inkml:trace>
  <inkml:trace contextRef="#ctx0" brushRef="#br1" timeOffset="-21360.58">14146 3845 0,'-17'0'63,"-1"0"-47,18 36-16,0-19 15,0 1-15,-18-1 16,18 1-1,0 0 1,18-18 0,17 0-1,-35-53 1,18 35 0,-18-35-1,0 36 1,0-1-1,-18 18 1,-17 18 31,35-1-31,-18 1-1,18 17-15,0-17 31,0-1-15,18-17 0,0 0 46,-18-17-62,0-1 16</inkml:trace>
  <inkml:trace contextRef="#ctx0" brushRef="#br1" timeOffset="-20094.58">14199 5433 0,'0'0'0,"0"17"16,0 1-1,18-18 17,-18-18 77,-18 1-93,1 17 46,17 17-46,0 1-16,0 0 15,0-1 1,17-17-16,1 0 78,-18-35-62,0 17-1,0 1 1,0 34 47,0 1-63,0 17 15,18-35-15,-1 18 16,1-18-1,-18-35 48,0-36-63,0 36 16,0 17-16,0-17 15,18 70 32,-1 1-31,36 34-1,-35-17 1,17-71 15</inkml:trace>
  <inkml:trace contextRef="#ctx0" brushRef="#br1" timeOffset="-18962.4">16016 3828 0,'0'53'46,"0"-36"-30,0 1 0,18-1-1,-1-17 48,-17-17-63,0-18 15,0 17 1,-17 18 47,-1 18-17,18-1-30,0 1 0,0-1-1,0-34 48,0-1-63,0-17 15,0 17-15,0 1 16,0 34 47,0 36-63,0 0 15,0 35-15</inkml:trace>
  <inkml:trace contextRef="#ctx0" brushRef="#br1" timeOffset="-17953.07">16104 5292 0,'0'0'0,"0"17"0,0 19 31,0-1-15,0-17 0,36-1-1,-19-34 63,-17-1-62,0 0 0,0 36 46,-17 17-46,17-17-16,0-1 15,0 1 1,17 0 172,1-1-173,17-17 1</inkml:trace>
  <inkml:trace contextRef="#ctx0" brushRef="#br1" timeOffset="-16984.56">17815 3828 0,'0'17'94,"0"1"62,0 0-140,0-1-16,0 1 15,0-1-15,0-34 110,0 70-32,0 17-78,-35 19 16,17-54-16</inkml:trace>
  <inkml:trace contextRef="#ctx0" brushRef="#br1" timeOffset="-16015.78">17833 5309 0,'0'18'16,"0"0"-16,0-1 15,0 1-15,0 0 16,18-18 0,-1 17 15,-17 1 156,0-53-124,0 17-47,0 0-1,18 18 63</inkml:trace>
  <inkml:trace contextRef="#ctx0" brushRef="#br1" timeOffset="-14937.131">19773 4533 0,'0'18'109,"18"-18"-109,-1 17 16,1-17 30,-18-17-14,0-1-32,0 36 109,0-36-15,0 1-94</inkml:trace>
  <inkml:trace contextRef="#ctx0" brushRef="#br1" timeOffset="-10489.28">12365 3916 0,'0'17'63,"0"36"-63,0 0 15,0 18-15,0-18 16,0 123 0,0-123-1,0 0-15,0 53 16,17-53 0,1 35-1,0 141 1,-18-193-1,17 69 1,-17-34 0,0 17-1,0 0 17,0-17-32,0 35 31,0-89-16,0 1 126,0 0-125,0-1-1,18-17-15,-18 18 16,0 17 0,0-17 15,0-1 125,35-17-140,18 0-1,18 0-15,17-35 16,71 18-16,35-1 16,-88 18-1,88 0 1,35 0-1,-123 0-15,-36 0 16,-17 0 15,-53-18-15,18 18 15,0 0-15,52 0-1,-52 0-15,-1 0 16,1 0 15,0 0 1,17 0-17,-17 0-15,34 0 16,-16 0 15,-19 0-31,1 0 94,0 0 0,17 0-48,-35-17-46,18 17 16,-1 0 15,1 0-15,0 0 46,-18-18 126,0-17-188,0-53 16,-18 52-16,18-34 15,-18-36 1,-17-71-1,17 142-15,1-35 16,17-19 0,-18-16-1,-17-19 1,35 36 0,0-36-1,0 72 1,0-19 15,0 36-15,0-18-1,0 18 1,0-36 0,0 18-1,0 0 1,0 18-1,0 17 1,0 1 0,-18-36-1,18 17 1,0 1 0,0 17-1,0-17 16,-18 35 204,-17 18-220,18-1-15,-36-17 16,17 0-16,19 18 16,-54 0-1,36-18 1,0 0-16,-54 17 16,-16 1-1,34-18 1,53 0-1,-35 0 1,1 0 15,16 0-31,-34 0 16,-1 0 0,1 0-1,34 0 1,-17 0 15,36 0-31,-54 0 16,-17 0-1,-18 0 1,36 0 0,52 0-1,0 0 1,1 0-1,-19 0 1,1 0 0,-124 18-1,124-18 1,0 0 0</inkml:trace>
  <inkml:trace contextRef="#ctx0" brushRef="#br1" timeOffset="-5504.6">16069 3881 0,'0'17'78,"0"36"-78,0-18 16,0 18-16,0-17 15,0 105 1,18 35 0,-18-105-1,17 52 1,1 18-1,-18-106 1,0-17-16,0 35 16,0-35-1,18 17 1,-18 71 15,0 35-15,0-35-1,0-71 1,0-17 0,0 17-1,0 0 142,0-17-157,0 0 15,0-1-15,0 1 16,0-1-1,0 19 1,35-36 78,-18-18-79,1 18-15,35-18 16,35 18-16,-17-17 16,88-1-1,-36 1 1,-52 17 15,-54 0-31,1 0 16,17 0-1,0 0 1,36 0 0,141 0-1,-18 0 1,-53 0 0,-18 17-1,-105-17 1,0 0 62,-1 0-62,1 0-1,-1 0 16,1 0-15,0 0 0,-1 0-1,1 0-15,0 0 16,17 0 0,18 0-1,0 0 1,-53-17 203,0-19-204,0-17-15,0 0 16,0-35-16,0-123 15,0 69 1,0 54 0,-36-35-1,19 70 17,17 0-17,-18-35 1,18 52-1,-17-16-15,-1-72 16,18 106 0,0-34-1,-18 16 1,18 1 0,0 17-1,-17-17 1,17-18-1,-18 18 1,18 0 0,0 17-1,0-35 17,0 18-17,-18 35 188,1 0-203,-1 0 16,-17 0-16,-18 17 16,0 1-1,0-18 1,-18 0-1,19 0 1,-19 0 0,-17 0-1,35 0 1,0 0 0,-18 0-1,36 0-15,-18 0 16,-35 0-1,0 18 1,0-18 0,35 0 15,0 0-15,0 0-1,18 0 1,-18 0-1,17 17 1,19-17 0,-54 0-1,-17 0 1,-18 0 0,36 0-1,17 18 1,-18-18-1,54 0 1,-1 0 15</inkml:trace>
  <inkml:trace contextRef="#ctx0" brushRef="#br1" timeOffset="-3208.61">17815 3775 0,'18'0'94,"0"17"-78,-1-17-16,54 36 15,52-1-15,1 0 16,70 53 0,106-17-1,-71 17 16,-106-70-31,-17 17 16,-53-17-16,88 17 31,-105-35-15,16 18 0,1-1-16,71 19 15,35-1 1,-54 0-1,-69-35 1,-19 0 0,1 0 62,0 18-78,-1-1 15,1 1 1,-1-18-16,1 0 16,-18 18-1,0-1 204,-18 1-219,-17-18 16,0 35-16,0-35 15,-1 18 1,-52 17 0,53-17-1,0-1-15,-36 1 16,1 17-1,-89 18 1,106-18 0,35-17-1,1-18 17,-1 18-17,-17-1 16,-18 19-15,-18-1-16,-17 0 31,35 1-15,35-36 0,-70 17-1,53 1-15,-18 17 16,0-17-1,18-18 1,-36 35 0,36 0 15,0-35-15,-1 36-1,1-19-15,-35 18 31,17 1-15,35-19 0,-17 1-1,-53 0 1,52-1 0,-17 1-1,36 0 1,-1-18 62,1 17-62,17 1 15,-18-18-16,0 18 1,1-18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6:54:42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5045 12629 0,'35'0'94,"18"0"-94,0 0 15,53 0-15,-71 0 16,106 0 0,-17 0-1,-36 0 1,-18-35-1,-34 35-15,-19 0 16,-17-17 140,35 17-140,1 0-16</inkml:trace>
  <inkml:trace contextRef="#ctx0" brushRef="#br0" timeOffset="1391.75">9137 10142 0,'35'0'125,"36"0"-109,105 0-16,-52 0 15,34-17-15,107 17 16,-36 0 15,-70 0-15,-88-18 0,-36 18-1,-17 0 1,17 0-1,106 0 1,-53 0 0,-17 0-1,-36 0 1</inkml:trace>
  <inkml:trace contextRef="#ctx0" brushRef="#br0" timeOffset="2639.81">15205 11130 0,'17'0'109,"1"0"-109,0 0 16,35 0-16,-1-18 16,107 18-1,18 0 1,70 0-1,-106 0 1,-53 0 0,-18 18-1</inkml:trace>
  <inkml:trace contextRef="#ctx0" brushRef="#br0" timeOffset="3696.4">17286 7920 0,'35'0'94,"-17"0"-94,53 0 15,-54 0-15,18 0 16,1 0-1,-19 0 1</inkml:trace>
  <inkml:trace contextRef="#ctx0" brushRef="#br0" timeOffset="4888.62">17921 13458 0,'35'0'78,"18"0"-62,-17 0-16,17 0 15,-1 0 1,1 0-16,18-17 16,70-18-1,-53 35 1,-17 0 0,-18-18-1,-36 18 1,1 0-1</inkml:trace>
  <inkml:trace contextRef="#ctx0" brushRef="#br0" timeOffset="7967.969">14852 10707 0,'18'17'94,"17"19"-94,53 17 16,-17 35-16,123 71 15,53 17 1,-71-35 0,-123-106-1,35 18 1,-53 0 0,-17-53-1,0 18 1,17-18-1,-17 35-15,70 18 32,-35 0-32,52 18 31,-34-1-15,70 18-1,-88-52 1,35-1-1,-17 18 1,35 0 0,-53-18-1,17 18 17,-35-53-32,1 35 15,70 36 16,-89-54-15,36 1 0,-18 17-1,-17-35 1,0 18 0,17-1-1,-17 1 1,-1-18-1</inkml:trace>
  <inkml:trace contextRef="#ctx0" brushRef="#br0" timeOffset="28711.92">8326 9878 0,'-36'0'78,"19"0"-78,-19 17 16,1 19-16,-18-19 16,-53 72-1,-35-19 1,0 18 0,-71 18 15,195-71-31,-71 1 31,52-19-31,-34 19 16,35-19-1,-54 19 1,19 16 0,-36 1-1,35 0 1,-17-17-1,-18 16 1,1-16 0,-37 52-1,107-53 1,-141 53 0,35-17-1,0 35 16,35-18-15,17-17 0,19-36-1,17 0 1,18 0 0,-18 1-1,18-1 1,-18 18-1,35-36-15,-35 19 16,18-1-16,-53 36 16,-54-1-1,1 1 1,0-1 0,71-17-1,17-18 1,35-17 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6:56:03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5256 15434 0,'18'0'125,"88"0"-109,-18 0-16,36 18 16,17-18-16,-71 0 15,89 0 1,-106 0 0,-18 0 93,0 0-93,36 0-16,105 0 15</inkml:trace>
  <inkml:trace contextRef="#ctx0" brushRef="#br0" timeOffset="757.42">7444 15434 0,'17'-18'78,"19"18"-62,-19 0-16,18 18 16,1-18-16,-1 0 15,88 0 1,-87 18-16,105-18 15,-18 17 1,-70-17 0,18 18-1,-18-18 17,-36 0-17,1 0 1</inkml:trace>
  <inkml:trace contextRef="#ctx0" brushRef="#br0" timeOffset="2605.52">11042 15416 0,'35'0'141,"36"0"-141,-36 0 15,89 0 1,-54 0-16,36 0 0,70 0 16,-123 0-1,159-17 1,-142 17 0,-34 0-1</inkml:trace>
  <inkml:trace contextRef="#ctx0" brushRef="#br0" timeOffset="3462.11">13458 15487 0,'18'0'93,"35"0"-93,0 0 16,17 0-16,-17-18 16,18 18-1,105 0 1,-158 0 0,0 0-1,-1 0 1,1 0 15,0 0-31,-1 0 16,1 0-1</inkml:trace>
  <inkml:trace contextRef="#ctx0" brushRef="#br0" timeOffset="6654.14">18838 13705 0,'0'-17'125,"0"-19"-125,-17 19 15,17-36-15,-18 35 16,18-35-16,-35-17 15,35-1 17,-18 1-17,18-18 1,0-18 0,0 53-16,0-71 15,0-17 1,0 53-1,0 0 1,0 17 0,0 36-1,0-71 1,0-17 0,0-1-1,0 18 16,0 18-15,0-88 0,-18 35-1,18 0 1,-17-36 0,17-17-1,-18-70 1,1-1-1,17 53 1,-18 18 0,18 53-1,-18 53 1,18-36 0,-17-87-1,-1 17 16,18 70-15,0-52 0,0 17-1,0 0 1,-18 1 0,18-1-1,0 53 1,0-17-1,18-18 1,-18-1 0,18 72-16,-18-18 15,0-36 1,17 54 0,-17-1-1,0-17 1,0 53 15,0-18-15,0 17-1,0-52 1,0 35 0,18-17-1,-18-1 1,0 18-1,0 18 1,0 17 0,0-17-1,18 0 1,-18 17 0,0-17-1,0-18 16,0 0-15,0 18 0,0 0-1,0 17 1,0 0 0,0 1 46,0-19 235,0 19-250</inkml:trace>
  <inkml:trace contextRef="#ctx0" brushRef="#br0" timeOffset="8361.41">19773 9613 0,'0'18'125,"0"70"-125,0-17 16,18-1-16,-18 18 16,0 18-16,0-35 15,0 123 1,17-35 0,-17-107-1,18 54 1,0-35-1,-1-1 1,-17 1 0,0-53-1,0-1 1,0 1 0,0-53 93,0-71-109,0 0 16</inkml:trace>
  <inkml:trace contextRef="#ctx0" brushRef="#br0" timeOffset="9766.34">19738 9596 0,'-18'17'79,"1"1"-79,-19 17 15,1-35-15,17 35 16,1-35-1,-1 18-15,1-18 79,-1 0-48</inkml:trace>
  <inkml:trace contextRef="#ctx0" brushRef="#br0" timeOffset="10414.62">19756 9631 0,'35'0'47,"-18"0"-32,19 0 1,-19 0-16,19 17 16,52 19-1,-53-19-15,18 19 0,35-1 31,-52-17-31,-19-18 32</inkml:trace>
  <inkml:trace contextRef="#ctx0" brushRef="#br0" timeOffset="13597.449">14640 12171 0,'18'0'31,"0"0"-15,-1 0-1,36 0 17,35 0-1,-35 0-15</inkml:trace>
  <inkml:trace contextRef="#ctx0" brushRef="#br0" timeOffset="14189.73">15505 12206 0,'17'0'16,"1"0"-1,0 0 1,-1 0-16,18 0 15,-17 0 1,53 0 0,-36 0-1,-17 0 1</inkml:trace>
  <inkml:trace contextRef="#ctx0" brushRef="#br0" timeOffset="14845.3">16439 12188 0,'18'0'47,"17"0"-1,-17 0-46,17 0 16,53 0-16,36 0 16,52 0-1,-35 0 1,-105 0 0</inkml:trace>
  <inkml:trace contextRef="#ctx0" brushRef="#br0" timeOffset="15518.49">17992 12224 0,'17'0'47,"1"0"-47,0-18 15,-1 18 1,54 0 0,35-18-1,17 18 1,-52 0-1,-36-17 1</inkml:trace>
  <inkml:trace contextRef="#ctx0" brushRef="#br0" timeOffset="27333.309">18397 10354 0,'18'0'125,"17"0"-109,-17 0 0,35 0-1,53 18 1,-1-18-1,-52 0 1,-35 0 0</inkml:trace>
  <inkml:trace contextRef="#ctx0" brushRef="#br0" timeOffset="43581.99">9648 7338 0,'0'17'94,"0"19"-94,0-1 16,0 71-1,-17-36 1,17-17 0,0 0-1,0 18 1,0-18-1,0 0 1,0 0 0,0-18-1,-18 35 17,18 36-17,0-88-15,0 17 16,0 36-1,0-18 1,0-18 0,0-18-1,0 36 1,0 18 15,0-53-15,0-1-1,0 1 1,0-1 187,0 1-187,0 0-16,0-1 31,0 1-15,0 0-16,0-1 15,0 1 17</inkml:trace>
  <inkml:trace contextRef="#ctx0" brushRef="#br0" timeOffset="45470.68">15998 8590 0</inkml:trace>
  <inkml:trace contextRef="#ctx0" brushRef="#br0" timeOffset="46334.4">16439 8590 0,'18'0'62,"0"0"-62,35 0 16,-18 0-1,0 0 1,-17 0 0,-1 0-16</inkml:trace>
  <inkml:trace contextRef="#ctx0" brushRef="#br0" timeOffset="46877.789">17251 8572 0,'17'0'62,"1"0"-46,17 0 0,-17 0-16,17 0 15,1 0-15,-1 0 16,18 0 0,-18 0-1,-17 0 1</inkml:trace>
  <inkml:trace contextRef="#ctx0" brushRef="#br0" timeOffset="47454.38">18186 8537 0,'17'0'63,"1"0"-47,0 0-16,-1 0 15,19 0-15,16 0 16,1 0-16,36 0 31,16 18-15,-34-18-1,-53 0 1</inkml:trace>
  <inkml:trace contextRef="#ctx0" brushRef="#br0" timeOffset="47958.31">19156 8537 0,'17'0'109,"1"0"-109,0 0 16,-1 0-16,19 0 16,70 0-1,-18 0 1,-106 0 93,-17-17-109</inkml:trace>
  <inkml:trace contextRef="#ctx0" brushRef="#br0" timeOffset="50158.1">19032 10372 0,'18'0'78,"17"0"-62,18 0 0,0 0-16,0 0 15,0 0 1,53 0-1,-71 0 1</inkml:trace>
  <inkml:trace contextRef="#ctx0" brushRef="#br0" timeOffset="50686.09">20038 10372 0,'17'0'47,"19"0"-31,-19 0-16,1 0 15,53 0-15,34 0 16,19 0 0,-54 0-1,-52 0 1,-36 0 46</inkml:trace>
  <inkml:trace contextRef="#ctx0" brushRef="#br0" timeOffset="51589.88">17956 10425 0,'-17'0'47,"-1"0"-32,-17 0-15,0 0 16,-1 0-16,1 0 16,0-18-1,17 18 1,0 0 62,1 0-62,-1 0 15,1 0 16</inkml:trace>
  <inkml:trace contextRef="#ctx0" brushRef="#br0" timeOffset="53861.38">18856 12241 0,'35'0'62,"-17"0"-62,0 0 16,34 0-16,-34 0 15,17 0 1,36 0 0,-18 0-1</inkml:trace>
  <inkml:trace contextRef="#ctx0" brushRef="#br0" timeOffset="62941.54">20567 8608 0,'18'53'93,"-18"35"-93,17-35 16,1 53-16,-18-89 16,18 54-16,-18 17 15,-36-141 157,19 0-156,-36 36-1,35-19-15,-17 19 16,17-1-16,-35-17 16,18-1-1,17 19 1,1 17 31,-1 0-32,-17 53 1,-18 17 0,53-52-16,-18 35 15,18-36 1,0 19-1,35-1 1,1-35 0,-19 18-1,1-18 1,35 17 0,53-17-1,-36 0 1,-34 0 15,-19 0-31,1-17 16</inkml:trace>
  <inkml:trace contextRef="#ctx0" brushRef="#br0" timeOffset="63470.57">20832 8908 0,'0'17'62,"17"19"-46,1 16-16,-18-16 16,0-1-16,17 0 15,-17-17 1,0 0 0,-35-89 93,18 0-109</inkml:trace>
  <inkml:trace contextRef="#ctx0" brushRef="#br0" timeOffset="63773.77">20761 8555 0,'0'17'156,"18"-17"-141</inkml:trace>
  <inkml:trace contextRef="#ctx0" brushRef="#br0" timeOffset="64685.4">21078 8802 0,'0'0'0,"-17"17"16,-1 19 0,18-1 15,0 0 16,35 1-16,-17-19-15,35-17-1,-35 0 1,-1 0-16,-17 18 16,18-18 15,0 17 47,-18 1-47,0 0-15,-18-18-1,18 17-15,-18 1 16,1-18 0</inkml:trace>
  <inkml:trace contextRef="#ctx0" brushRef="#br0" timeOffset="65302.789">21325 8484 0,'18'53'78,"-18"18"-63,53 35 1,-35 17-16,17-35 16,-17 0-1,-1 1 1,-17-54-1,0 0 1,0-17 0,-35-36 93</inkml:trace>
  <inkml:trace contextRef="#ctx0" brushRef="#br0" timeOffset="65894.479">21290 8837 0,'18'0'46,"-1"0"-46,19-18 16,17 18-16,0 0 16,17 0-16,54 0 31,-54 0-15,-52 0-1</inkml:trace>
  <inkml:trace contextRef="#ctx0" brushRef="#br0" timeOffset="66654.11">20108 9507 0,'124'-17'16,"-1"17"-1,18 0-15,18-18 16,88 18 0,212 0-1,-54 0 1,-246 0-16,176-35 31,-317 35-15</inkml:trace>
  <inkml:trace contextRef="#ctx0" brushRef="#br0" timeOffset="68957.48">21555 10160 0,'0'35'78,"0"36"-78,17-18 0,1 0 16,0-18 0,-18 0-16,0 36 15,0-54 1,0 1 0</inkml:trace>
  <inkml:trace contextRef="#ctx0" brushRef="#br0" timeOffset="69382.3">21484 9913 0</inkml:trace>
  <inkml:trace contextRef="#ctx0" brushRef="#br0" timeOffset="70102.03">21943 9842 0,'0'36'78,"17"70"-62,1-18-16,0 18 15,-1 52-15,-17 36 16,36 71 15,-19-194-15</inkml:trace>
  <inkml:trace contextRef="#ctx0" brushRef="#br0" timeOffset="70806.42">21872 10301 0,'18'0'94,"17"0"-79,18 0-15,0 0 16,0 0-16,35 0 31,-70 0-15,-18-18-1</inkml:trace>
  <inkml:trace contextRef="#ctx0" brushRef="#br0" timeOffset="71877.39">22384 10530 0,'17'0'78,"1"0"-62,17-35-16,1 18 16,-19-19-16,18 36 15,-17-35 1,0 0-1,-18 17-15,0-17 32,0 17 15,-18 18-16,0 0 0,1 0-31,-1 0 16,1 0 15,-19 0-15,19 35-1,-1 36 1,0-36-1,1-17 1,17 0 15,0-1-31,0 1 16,35-1 0,-17 1-1,-1 0 1,1-1-1,0 1 17,-1-18-17,107 18 1,-54-18 0,36 0-1,-88 0-15,17 0 16</inkml:trace>
  <inkml:trace contextRef="#ctx0" brushRef="#br0" timeOffset="72845.53">22842 10372 0,'18'0'62,"0"0"-62,-1 0 16,-17 17-16,18 19 15,17-1-15,-17 0 16,-1 53 0,1-52-16,-18-1 15,0 0 16,0-17-15,0-1 15,0-34 63,0-18-78,-18-1-16,1-17 15,17 36-15,0-19 16,0-34 0,35-1-1,18 18 16,18 18-15,-54 17 0,36-17-1,-35 35 1</inkml:trace>
  <inkml:trace contextRef="#ctx0" brushRef="#br0" timeOffset="74045.489">23548 10248 0,'0'0'0,"-35"0"31,17 0-15,0 0-1,1 18 1,-1-18-16,0 35 31,1 0 0,-1-17-31,18 17 16,0 36 0,0-36-1,0-17 17,0-1-17,0 1 1,18 0 15,-1-18-15,1 0-1,17 0 1,1 0 0,-19-36-1,1 1 1,17-18 15,-35-17-15,0 34-1,0 19 1,0-1 0,18 36 109,-18 35-110,35 17-15,-17-34 16,-18 16-16,35-16 15,-35-1 1,18-35 0</inkml:trace>
  <inkml:trace contextRef="#ctx0" brushRef="#br0" timeOffset="74725.459">24042 9719 0,'0'18'63,"0"17"-47,0 18-16,17 17 15,19 213 1,-36-178-1,17-34-15,-17 35 16,0-53 0,18-36-1</inkml:trace>
  <inkml:trace contextRef="#ctx0" brushRef="#br0" timeOffset="75830.03">23971 10266 0,'0'0'0,"53"-18"16,35 18-16,-17 0 16,-1-17-1,1-1 1,-53 18 46,17 0-30,-17-18-17,17 18-15,-17 0 16,-18 36 265,0-19-265,0 36-16,0-18 15,0 18-15,0-17 16,0 17 0,0-18-1,0-18-15,-18-17 125</inkml:trace>
  <inkml:trace contextRef="#ctx0" brushRef="#br0" timeOffset="76165.58">24324 9860 0</inkml:trace>
  <inkml:trace contextRef="#ctx0" brushRef="#br0" timeOffset="78429.72">24659 10195 0,'-17'18'62,"17"17"-62,-18-17 16,18 17 0,0-17-1,0 17 1,18-35 0,-18 35 30,17-35-46,1 0 16,-1 0 93,19-17-77,-36-1-17,17 18 1,-17-35-16,0 17 16,0-17-1,0 0 1,0-1-1,0 19 1,-17 17 62,-1 0-15,53 0 46,1 0-93,-1 0-16,0 0 15,-17 0 1,-1 17 109,-17 1-125,18-18 16,0 53-16,-18-18 15,17-17 1,-17-1-1,0 1-15,0 0 16,0-1 0,0-34 171,0-1-171,0 0-1,0 1-15,0-19 16,36 1-16,69-71 47,-105 89-47,53-1 31,-53 0-15,18 18 109,0 53-110,-1-53-15,1 36 16,-18-19-16,0 54 16,18-36 15,-18-17-15,0-1 46,0 1-46,17-18-1,-17 18 63,0-1-78,18 1 16,-18 0-16,0-1 16,0 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7:06:34.094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18397 5768 0,'-17'0'15,"-1"0"1,36 0 468,-36 18-359</inkml:trace>
  <inkml:trace contextRef="#ctx0" brushRef="#br0" timeOffset="2823.88">18327 5803 0,'17'0'156,"1"0"-109,-18-17-32,-18 17 1,18-18 46,-35 36 220,18-18-267,17 17 1,0 1 46,17-18 188</inkml:trace>
  <inkml:trace contextRef="#ctx0" brushRef="#br1" timeOffset="14504.05">15222 8008 0,'18'0'125,"0"0"-125,35 35 15,-18-17-15,0 0 16,0 35-16,18-18 15,-35-35 1,-18 17 62,-18-17 32</inkml:trace>
  <inkml:trace contextRef="#ctx0" brushRef="#br1" timeOffset="15185.3">15399 8008 0,'0'35'94,"-18"-17"-94,18 17 16,-18 1-16,18-19 15,0 18 1,0 1 0</inkml:trace>
  <inkml:trace contextRef="#ctx0" brushRef="#br1" timeOffset="16807.73">16334 6227 0,'17'0'141,"1"0"-94,0 0-16,-1 0-16,1 0 79,-1 0-63,1 17 94,0-17-125</inkml:trace>
  <inkml:trace contextRef="#ctx0" brushRef="#br1" timeOffset="17736.43">16492 6156 0,'-35'0'62,"35"35"-46,-18-35 0,18 18-16,-17-18 15,17 18-15,0-1 16,0 1-1,-18-18 79,18 17-78</inkml:trace>
  <inkml:trace contextRef="#ctx0" brushRef="#br1" timeOffset="19095.95">18327 5786 0,'17'0'125,"1"0"-125,0 17 15,17 1-15,-17-18 16,-1 17 0,1 1-1,0-18 1,-18 18 0</inkml:trace>
  <inkml:trace contextRef="#ctx0" brushRef="#br1" timeOffset="19896.14">18433 5715 0,'0'35'110,"0"-17"-95,0 0-15,-18 17 16,18 0-16,0-17 15</inkml:trace>
  <inkml:trace contextRef="#ctx0" brushRef="#br1" timeOffset="41063.789">17074 5980 0,'18'0'1453,"0"0"-1422,-36 0 172,18 17-187,-18-17-16,18 18 15,-17-18 1,-1 17 0,18 19-1,0-19 1,18-17 78,-1 0-79,-17-17 1,0-1 0,0 0-1,0 1 1,0-1 62,0 1 31,0 34-62,0 1-31,0-1-1,0 1 1,0-36 187,0 36-125,18-18-31,-18 18-31,18-18-16</inkml:trace>
  <inkml:trace contextRef="#ctx0" brushRef="#br1" timeOffset="43233.25">17709 5927 0,'0'-18'94,"18"18"-63,0 0 0,-1 0 16,-17-18-16,0 1-15,0 34 124,0 1-108,-17-18 124,-1 0-140,0 0 15,1 0 0,34 0 110,-17 18-16</inkml:trace>
  <inkml:trace contextRef="#ctx0" brushRef="#br1" timeOffset="60907.04">21625 6985 0,'0'0'0,"-211"0"16,87 0-1,-88 0 16,71 18-15,-88 70 0,176-71-1,-35 36 1,17 18 0,-17 123-1,53 35 1,17-141-1,1 36 1,-1-53 0,53 34-1,-17 1 1,17-35 0,18 17-1,18 18 1,-1 17 15,18-35-15,1 1-1,-36-54 1,-1-17 0,-16 17-1,70-18 1,35 1-1,53 0 1,-18-36 0,-52-17-1,-54 17 1,1-35 0,-18 0-1,-53-35-15,53 0 31,-1-18-15,-16-35 0,-19 0-1,-17 35 1,0-35 0,-17 35-1,34 36 1,-34 17-1,-19 0 1,19-35 0,-18 35-1,-36-18 1,0 0 15,1-17-31,-1 18 31,54 52-15,-19 0 0,19-17-1,-19 18 1,-34-19 0,17 36-1,0 0 1,18-17-1,17 17-15,0 0 16,1 0 15,17 35 1,17-17-17,1 17-15</inkml:trace>
  <inkml:trace contextRef="#ctx0" brushRef="#br1" timeOffset="62876.4">23954 6862 0,'0'0'0,"-18"0"0,-53 0 16,36 0 0,-18 0-16,-17 0 15,17 0 1,-71 0 15,-34 0-15,34 17-1,36 18 1,35-17 0,35 0 15,1-18-15,-19 35-1,19 18 1,-1-18-16,0 0 15,18 18 1,0-17 0,0-19-1,0 19 1,36-1 0,-19 18 15,19-36-16,17 36 1,17 0 0,1 0-1,70-18 1,-53-17 0,0 0-1,0-18 1,89 17-1,34 1 1,-17-18 0,-52 0-1,-54 0 1,-18-18 15,19 18-15,-1-35-1,-18 17 1,1 1 0,17-18-1,71-18 1,-89 35 0,-52 0-1,17-17 1,-35 17-1,0-35 1,0 36 0,-17-18-1,-1 17 17,0-17-17,-17 17 1,-18-35-1,18 18 1,-18 0 0,18 17-1,-18-17 1,17 17 0,-16-17-1,-19-1 1,18 19-1,18-1-15,-18 1 16,-18-1 0,18 0-1,18 18 17,-18-17-17,-17-1 1,-1 18-1,1 0 1,-1 0 0,18 18-1,-53-18 1,-17 35 0,-54-17-1,36 17 1,0-18-1,71 19 1,17-1 0,35-17-1,0 17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7:08:35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19050 5221 0,'35'0'94,"36"18"-94,-18-18 15,53 0 1,246 0 15,-263 0-31,263 0 31,-175 0 1,-142 0-17,0 0 1,1 0 15,-19 0-15,18 0-1,-17 0 17,0 0-17,-1 0-15,1 0 16</inkml:trace>
  <inkml:trace contextRef="#ctx0" brushRef="#br0" timeOffset="9248.54">21078 5186 0,'18'0'125,"0"0"-109,-1 17-16,1 1 15,0-18-15,-1 18 16,1-18 0,0 17 46,-1-17 1</inkml:trace>
  <inkml:trace contextRef="#ctx0" brushRef="#br0" timeOffset="9904.869">21202 5133 0,'0'18'62,"-18"-18"-46,18 17-16,0 1 16,-17-18-16,17 17 15,0 19 1,0-19-1</inkml:trace>
  <inkml:trace contextRef="#ctx0" brushRef="#br0" timeOffset="11119.58">20161 7267 0,'18'18'78,"0"-18"-47,17 35-31,0-17 16,-17-18 47,-18 17-32</inkml:trace>
  <inkml:trace contextRef="#ctx0" brushRef="#br0" timeOffset="11776.27">20249 7250 0,'0'17'94,"0"1"-79,-17-1-15,17 1 16</inkml:trace>
  <inkml:trace contextRef="#ctx0" brushRef="#br0" timeOffset="12951.9">18344 5168 0,'36'0'78,"-19"18"-78,1-1 16,0-17-1,-18 18-15,17-18 16,1 0 0,0 18-1,-18-1 1,17-17-16,1 0 31</inkml:trace>
  <inkml:trace contextRef="#ctx0" brushRef="#br0" timeOffset="13488.42">18503 5133 0,'0'18'47,"0"-1"-47,-17 1 15,17-1-15,0 1 16,-18 17-1,0-17 1</inkml:trace>
  <inkml:trace contextRef="#ctx0" brushRef="#br0" timeOffset="14464.52">21149 5433 0,'-18'0'47,"18"17"-47,0 36 15,0-17-15,-35-1 16,17 35-1,1-34-15,-1-36 16,18 17 0</inkml:trace>
  <inkml:trace contextRef="#ctx0" brushRef="#br0" timeOffset="15104.369">20920 6103 0,'0'18'63,"0"17"-63,-18 18 15,0-18 1,18-17-1,-17-1 1,17 1 0,-18 0-16</inkml:trace>
  <inkml:trace contextRef="#ctx0" brushRef="#br0" timeOffset="15720.13">20673 6756 0,'0'17'62,"-18"19"-46,18-19-16,0 1 16,-17-18-16,17 35 15,0-17 1</inkml:trace>
  <inkml:trace contextRef="#ctx0" brushRef="#br0" timeOffset="16336.58">20514 7144 0,'0'17'63,"0"19"-63,-18-36 15,18 17-15,0 1 16</inkml:trace>
  <inkml:trace contextRef="#ctx0" brushRef="#br0" timeOffset="43024.31">13282 10813 0,'53'53'63,"70"105"-48,107 54-15,317 370 32,-71-88-17,-176-141 1,-106-106-1,-18-36 1,-52-70 0,-36-52-1,-18-1 1,1 0 0,-53-70-1</inkml:trace>
  <inkml:trace contextRef="#ctx0" brushRef="#br0" timeOffset="44520.2">15752 13582 0,'-36'53'79,"-34"17"-64,-18 54-15,17-18 16,0 0-16,-140 229 15,-19-18 1,-122 159 15,263-317-15,-87 141 0,106-229-16,-19 52 15,36-35 1,18-35-1,0 18 1,0-18 0,17-18-1,0-17 1</inkml:trace>
  <inkml:trace contextRef="#ctx0" brushRef="#br0" timeOffset="45632.5">15787 13617 0,'35'0'110,"0"0"-110,36-17 15,35-1-15,-18 18 16,247-18 0,18-17-1,0 17 1,-212 18 0,35-17-16,195 17 15,-248 0-15,142 0 31,-36 0-31,-106 0 32,-87 0-17</inkml:trace>
  <inkml:trace contextRef="#ctx0" brushRef="#br0" timeOffset="47576.43">15822 13635 0,'18'17'109,"35"36"-93,52 106-16,372 229 31,-195-88-15,-123-176-16,-53 52 15,158 89 1,-52-54-1,123 124 17,-265-246-32,160 122 31,-124-123-31,-53-17 31,-36-71-15</inkml:trace>
  <inkml:trace contextRef="#ctx0" brushRef="#br0" timeOffset="50951.36">14446 12982 0,'0'0'0,"-247"-17"16,159 17-1,-88 0 1,70 0 0,18 0-1,-18 53 1,-18 17 15,54-17-15,17 0-1,18 0 1,17-18-16,0-17 16,-17 88-1,-53 52 1,70-34-1,18 17 1,0-71 0,0 36-1,71-18 1,17 1 0,35-1-1,-52-35 1,-18-36-1,17 1 1,19-18 15,17 0-15,-1 0 0,1 0-1,53-35 1,-124 35-1,53-35 1,18 17 0,71-35-1,-107 35 1,-17-17 0,-18 0-1,-17-18 1,17 0 15,-17 0-31,0-18 16,-18 1 15,17-18-15,-17 17-1,0 36-15,0 0 16,35-18-1,-35-18 1,-70-17 0,17 0-1,-18 17 1,19 18 0,-19 0-1,0 0 1,-52 18-1,52 0 1,-70 17 0,-17 18 15,-107-35-15,194 35-1,36 0-15</inkml:trace>
  <inkml:trace contextRef="#ctx0" brushRef="#br0" timeOffset="52272.8">16192 11853 0,'0'0'0,"-35"0"0,-18 0 15,0 0 1,-88 36 0,53 17-1,18-18 1,34 18 0,36 0-1,0 35 1,0-18-1,36 36 1,-1 35 0,0-52 15,0-19-15,18 1-1,18-1 1,17 18-1,35 18 1,-52-70-16,53-1 16,17 0-1,-71-35 1,-17 0 0,18 0-1,-36-35 1,53-18-1,0-18 1,36-35 15,17-70-15,-106 88 0,-17 0-1,-18 17 1,0 1-1,-35 17 1,-1-36 0,-17 19-1,-35-1 1,-53-34 0,-35 16-1,-36-16 1,-53 16-1,142 72 1,-53 17 15,70 0-15,35 0 0,1 0-1,52 0 16,18 35-15,0-17 0,0 35-16</inkml:trace>
  <inkml:trace contextRef="#ctx0" brushRef="#br0" timeOffset="53487.28">18292 14005 0,'-18'0'15,"0"0"-15,-17 0 31,17 0-31,-35 0 16,18 0-16,-141 0 31,123 18-31,-53 52 16,18 1 0,35-18-1,35 18 1,18-19-1,0 37 1,53 52 0,35-35-1,-17-36 1,35 18 0,-53-35-16,17-18 15,36 36 1,141 35 15,-141-88-15,-18-1-1,0-17 1,0 0 0,-35 0-1,0 0 1,-17-70-1,-1-1 1,-35-35 0,0 0-1,-53-70 1,-35 53 0,35-1-1,-71 36 1,71 35-1,-35-18 1,-18 36 15,36 0-15,-54 35 0,36 0-1,35 0 1,18 0-16,17 0 15,-17 35 1</inkml:trace>
  <inkml:trace contextRef="#ctx0" brushRef="#br0" timeOffset="54689.97">15963 14834 0,'0'0'0,"-194"71"31,106-1-31,-18 19 16,-53 69-1,54-34 1,34-36 0,53-35-16,-17 0 15,35 0 1,0-18 15,35 53-15,36 0-1,52 36 1,1-18 0,-36-18-1,18-18 1,0-52-1,-18 0 1,35-18 0,-70 0-16,159-18 15,-124-17 1,53 0 0,-88-1-1,0 1 16,-53 0-15,35-18 0,-35-35-1,18-1 1,-18-34 0,-35-36-1,-71-52 1,35 122-1,1 19 1,-18-1 0,-1 1-1,-69-1 1,-54-17 0,71 53-1,-71-18 1,106 35 15,1 18-15,87 0-1,-17 71 1,17-1 0,0-17-1</inkml:trace>
  <inkml:trace contextRef="#ctx0" brushRef="#br0" timeOffset="63728.81">23089 12277 0,'-17'0'16,"-1"0"46,0 0-46,1 0-16,-1 0 15,0 0 1,-17 0 0,-18 0-1,-17-36 1,34 36 0,1 0-1,0 0 1,17 0 15,1 0-15,-1 0-1,0 0-15,1 18 16,-19 0 0,19-1 15,-36 1-16,35 0-15,-35-1 0,-35 36 32,35-18-17,36-17 1,-19 17 0,36-17-1,0 0 1,0-1-1,0 1 1,0 17 0,0 18-1,18 0 17,17 18-17,0-54 1,-17 18-16,17 1 31,1-19-15,-19 1-1,71 35 1,-17-18 0,17 1-1,18-19 1,0 18-1,-71-35-15,18 18 16,-35-18 0,-1 0-16,36 18 15,-35-18 32,0 17-47,-1 1 31,19 0-15,-19-18 0,-17 17-1,18-17 1,-1 18 15,1 17-15,0-17-1,-1-1 1,-17 1-16,18 17 16,0-17-1,-18 0 17,17 17-17,1-17-15,-18-1 16,18-17 15,-18 18-15,0-1-1,0 1 1,0 0 0,17-18-1,-17 17 1,0 1-1,0 0-15,0 17 32,0 0-17,0-17 1,0-1 15,0 1-31,0 17 31,0-17-15,-35 17 0,17 1-1,-17-19 1,17 19 0,1-19-1,-1-17 1,0 18-1,-17-1 1,18 1 0,-19 0 15,36-1-15,-35 1-1,0-18 1,17 18-1,-17-1 1,-1-17 0,1 18-1,-18-18 1,0 0 0,-35 18-1,18-18 1,52 0-16,0 0 15,-52 0 1,17 0 0,18 0 15,17 0 16,0-18-32,1 0 1,-19 18 0,-17-53-1,1 0 1,-1 18 0,17-18-1,1 36 1,17-1-1,1 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7:11:42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10389 14464 0,'-17'0'16,"-19"0"0,19 0-1,-19 0-15,1 0 16,-35 18-1,-19-1 1,37 18-16,-72 54 16,-70 16-1,106 54 1,53-53 0,35 0-1,52-36 1,19-17-1,17-17 17,53 52-17,36-88 1,-124 0 0,-18-18-16,0-17 15,-35 0 1,35-1-1,-35 19 1,18 17 15,17 17-31</inkml:trace>
  <inkml:trace contextRef="#ctx0" brushRef="#br0" timeOffset="507.66">10760 15028 0,'0'18'62,"0"17"-46,0 195 15,53-19-15,-36-70-1,-17-105-15,18-1 16,0-35-1</inkml:trace>
  <inkml:trace contextRef="#ctx0" brushRef="#br0" timeOffset="1883.92">19844 7638 0,'-36'-18'31,"19"0"-15,-1 18 0,-17 0-1,-36 36 1,18-19 0,-35 71-16,-35 36 15,35 17 1,88-35-1,70 0 1,36 0 0,35-54-1,-35 1 1,-18-53 0,-53 0-1,-17 0 16,0 0-15,17-35 15,-17 35-31</inkml:trace>
  <inkml:trace contextRef="#ctx0" brushRef="#br0" timeOffset="2900.06">20144 8273 0,'0'-18'0,"0"0"16,-18 1-1,18-1 1,0 0 15,18 18 0,-1 0-31,-17 18 16,18 0 0,17 17-1,0-17 1,-35 70-1,18 0 1,-18 53 0,0-35-1,-35-35 1,-18-36 0,0 0 15,35-17-31,1-18 15,17 17 1,35-17 125,36 0-126,-1 0-15,89 0 16,158-35 0,-105 17-1,-177 1 1,-17 17-16</inkml:trace>
  <inkml:trace contextRef="#ctx0" brushRef="#br0" timeOffset="30077.149">9119 14552 0,'-17'-18'110,"-36"-17"-95,-18-18-15,-17-17 16,-18-36 0,18 35-16,0-17 15,-53-71 1,70 89-16,-35-36 16,53 53-1,-35-18 1,-18-17-1,1 0 1,34 35 0,36 0-1,-1 18 17,1 0-17,17 17 1,18 0-1</inkml:trace>
  <inkml:trace contextRef="#ctx0" brushRef="#br0" timeOffset="30587.34">7743 13264 0,'-17'0'62,"17"18"-46,-18 0 0,18-1-16,0 19 15,0-1 1,0 0-1</inkml:trace>
  <inkml:trace contextRef="#ctx0" brushRef="#br0" timeOffset="31219.97">7726 13264 0,'17'0'94,"1"0"-79,17 0 1,-17 0-16,35 0 15,-35 0-15,35-17 16,-36 17 0</inkml:trace>
  <inkml:trace contextRef="#ctx0" brushRef="#br0" timeOffset="32627.829">15699 10142 0,'17'0'78,"19"-17"-63,-1-1-15,18-35 16,105-17 0,-52 17-16,159-106 15,17 35 1,0-17 15,-123 88-31,370-123 31,-194 70-31,-88 53 32,-88 0-17,53-17 1,-177 52 0,88-52-1,-87 52 1,17-17-1,0 17 1,-18-17 0,-17 35-1,70-35 1,-71 17 0</inkml:trace>
  <inkml:trace contextRef="#ctx0" brushRef="#br0" timeOffset="33629.18">15875 9842 0,'-18'53'78,"18"-35"-63,-17 35-15,17-18 16,-18 18-16,-17 0 16,35-35-1,-18 17 1,18-17-1,0-1 1,0 1 0,-17-18-1</inkml:trace>
  <inkml:trace contextRef="#ctx0" brushRef="#br0" timeOffset="34155.36">15752 10213 0,'35'18'94,"-18"-18"-94,19 0 15,-1 17-15,-17-17 16,35 18 0,-18-1 15</inkml:trace>
  <inkml:trace contextRef="#ctx0" brushRef="#br0" timeOffset="36568.159">7585 12365 0,'-18'0'62,"0"-18"16,1 18-62,-1 0-16,-17 0 16,17 0-1,-17 0-15,-36 0 16,36 0-16,-53 0 16,35 0-1,35 0 1,-17 0 15,17 0 0,1 18-15,17-1 0,-35 19-16,17-19 31,18 1-31,0 35 31,0-35-15,0 87-1,18-87 1,17 35 0,-35-35-1,17 17 1,1-35-1,-18 35 1,18-17 0,-1-1 15,19 19-15,-19-36-1,-17 17 1,18-17-16,35 36 31,-53-19-15,35 1-1,0 0 1,-35-1 0,18-17-1,0 18 1,-1-18-1,1 0 1,0 18 0,-1-18-1,1 0 1,17 0 0,0 0 15,36-18-16,-18 0 1,-35 18 0,17-35-1,-18 17 1,-17 1-16,18 17 16,17-36-1,-35 1 1,18 17-1,-18-17 1,0 0 0,0 0 15,0-1-15,0 1-1,-18 0 1,-17-18-1,17 0 17,1 35-17,-1 1 1,18-1 0,-17 0-1,-19-17 1,19 35 15,-1-18-15,0 1-1,1 17 1,17-18-16,-36 18 16,1-17-16,0 17 31,-18-36-16,35 36-15</inkml:trace>
  <inkml:trace contextRef="#ctx0" brushRef="#br0" timeOffset="39523.98">14781 9948 0,'-17'0'16,"-1"0"30,0-17-46,-17 17 32,18 0-17,-1 0-15,0 0 16,1 0-16,-1 0 31,0 0 16,1 0-31,-1 0-16,0 0 15,-34 0 1,34 0 0,-35 17-1,35 1 1,-17 0-1,17-1-15,1 1 16,-1 0 0,-17-1 15,35 18 0,-18 1-15,1 17-1,-1-18 1,18-17 0,0 17-1,0 0 1,0-17-16,0 52 16,18-34-1,-1 17 1,1-18-1,17 0 1,-17 0 15,-18-17-31,35 0 32,-17-1-17,-18 1 16,35-18-31,-35 35 16,18-35 0,35 18-1,-36-1 1,1-17 0,17 18-1,-17-18 1,-1 0-1,1 0 1,17 0 0,-17 0-1,17 0 17,0 0-17,-17 0 1,17-18-1,-17 18 1,0-17 0,17-18-1,0 17 1,-17 0 0,-1 18-1,-17-35 1,18 17-1,-18 1 1,18-1-16,-1 0 16,-17-17-1,36 0 17,-36-18-17,0 35 1,0-17-1,0 17 1,0-17 0,0 17-1,0-17 17,0 18-17,-18-1 1,18 0-1,-18 1 1,18-1 0,-17 0-1,17-17 17,-18 35-17,0 0 1,18-18-1,-17 1 17,-1-1-17,1 1 1,-1 17 0,-17-36-1,35 19 1,-36-19-1,19 36 17,-1-17-1,-17 17-15,35-18-1</inkml:trace>
  <inkml:trace contextRef="#ctx0" brushRef="#br0" timeOffset="64699.11">11165 12929 0,'18'0'47,"0"0"0,-1 0-31,19-17-16,-19 17 15,19-36 1,34-17-1,-17 1 1,-18-19 0,-17 18-1,-18 18 1,0 17 0,0-17-1,0 17 1,0 1-16,0-36 15,0 17 1,0 1 0,0 0-1,0 17 17,0 1-17,-18 17 1,-17-36-1,0 19 1,-1-1 0,19 0-1,-18 18 1,17-17 0,0 17-1,-17 0 1,17 0-1,1-18 17,-1 18-32,-17 0 31,17 0-15,-35 18-1,36-18 1,-1 0-1,18 17 1,-18 1 0,1 0-1,-1 17 1,0 0 0,1-17-1,17-1 1,0 19 15,0-19-15,0 36-1,0 0 1,35-17 15,-35-19-31,35 18 16,-17-17 15,0 0-15,-1 17-1,18-35 1,-35 18 0,18-1-16,17 1 31,-35 0-16,36-1 17,-19 1-32,1-18 62,-18 17-62,18-17 16,-1 18 124</inkml:trace>
  <inkml:trace contextRef="#ctx0" brushRef="#br0" timeOffset="69660.08">11377 12224 0,'18'0'78,"-1"-18"-78,19 0 15,-1-17-15,0 0 16,53 0-16,1-54 16,-54 54-1,0 0 16</inkml:trace>
  <inkml:trace contextRef="#ctx0" brushRef="#br0" timeOffset="70267.5">12418 11606 0,'17'-17'46,"1"-1"-30,0 0 0,17-17-16,0 0 15,1 17-15,16-17 16,1-18 0,0-17-1,-17 17 1,-19 35-1</inkml:trace>
  <inkml:trace contextRef="#ctx0" brushRef="#br0" timeOffset="70923.63">13476 10883 0,'18'0'62,"-1"-17"-31,1 17-31,0 0 16,-1-36-16,19 36 16,-1-35-16,53-36 31,-35 54-16,-35-1 1,-18 1 0</inkml:trace>
  <inkml:trace contextRef="#ctx0" brushRef="#br0" timeOffset="71493.34">14199 10548 0,'0'-18'46,"18"1"-30,0-1 0,-1-17-16,1 35 15,0-35 1,-1 35-16,1-36 16,-18 19-1</inkml:trace>
  <inkml:trace contextRef="#ctx0" brushRef="#br0" timeOffset="94931.19">7444 12541 0,'-18'0'93,"18"-17"-93,0-36 16,0 35 0,0-17-16,0 17 15,0-35 1,0 0-1,-18 0-15,1 36 16,-1-19 0,0 19-1,-17-18 1,-18 17 0,18-17-1,0-1 1,17 36-1,-17-17 17,-36-1-32,1 18 31,-19 0-31,-16 0 31,16 0-15,37 0-1,-37 18 1,54-1 0,-18 19-1,18-36 1,17 17 0</inkml:trace>
  <inkml:trace contextRef="#ctx0" brushRef="#br0" timeOffset="95827.15">6597 11906 0,'-35'53'32,"17"-53"-17,0 35-15,1-17 16,-1 35-1,0-35 1,18-1 312,71 36-328,-18 0 16,-18-35-1,36 17-15,-54-17 16,1-18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1-12-23T07:19:36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1976 6332 0,'0'-17'79,"70"-1"-64,18 18-15,71-18 16,0 1-16,88-1 15,70 1-15,371 17 16,35 0 0,-88 0 15,-211 17-15,-160 1-1,-140-1 1,-107-17-1</inkml:trace>
  <inkml:trace contextRef="#ctx0" brushRef="#br0" timeOffset="959.8">2822 7073 0,'53'18'109,"53"-18"-109,88 17 16,0-17-16,141 18 15,-35 0-15,811 17 16,-141-35-1,-387 35 1,-284-17 0,-246-18 15</inkml:trace>
  <inkml:trace contextRef="#ctx0" brushRef="#br0" timeOffset="2176.48">3316 10866 0,'0'123'46,"53"71"-46,-18 0 16,53 141 0,-35-141-1,-53-88-15,18 35 16,0-88 0,-18 18-16,0-36 15,17-35 1,-17-18 31,0-52-32,0-1 1</inkml:trace>
  <inkml:trace contextRef="#ctx0" brushRef="#br0" timeOffset="2912.47">3898 11395 0,'0'0'0,"-35"70"0,-89 160 31,1-89-15,52-18-1,54-70 1,-1-53 0,18 18 187,18-18-203,35 17 15,-18 1-15,0 0 16,1 17 0,16 0-16,1-17 15,0 35 1,-35-53 0</inkml:trace>
  <inkml:trace contextRef="#ctx0" brushRef="#br0" timeOffset="3415.49">4251 11818 0,'18'0'93,"35"-18"-93,17 1 16,18 17-16,-35 0 16,35-18-1,-70 18 1</inkml:trace>
  <inkml:trace contextRef="#ctx0" brushRef="#br0" timeOffset="3895.34">4410 12118 0,'35'0'63,"0"0"-63,18-18 15,71 18 1,-89 0 0,-17 0-1</inkml:trace>
  <inkml:trace contextRef="#ctx0" brushRef="#br0" timeOffset="5303.74">5292 11448 0,'0'-36'16,"0"1"-1,0 0 1,0-18-16,0 0 15,0-18 1,35 36 0,36-18-1,-19 53 1,-34 0-16,17 0 16,18 18 15,35 52-16,-35 1 1,18 35 0,-53-89-16,-1 1 15,1 70 1,-18-52 0,0 105-1,-53-53 1,0-18-1,0-34 17,35-1-32,-17-35 15,18 0 48,-1-18-32,18 1-31,0-1 16,18-17-1,52 17 1,18-17 0,0 17-1,-17 18 1,0 0-1,-1 0 1,-52 0 0,-1 18-1,1-18 1,17 18 0,1 34-1,-19-16 1,1-19-1,0 19 1,-18 17 0,0-1-1,0 1 1,-36-17 0,-17 17-1,-17-1 1,-18 1-1,-1-35-15,-87 35 32,35-35-17,35-18 1,18 0 0,53 0-1</inkml:trace>
  <inkml:trace contextRef="#ctx0" brushRef="#br0" timeOffset="6032.48">3069 13141 0,'53'-18'93,"35"18"-93,124 0 16,88 0-16,123 0 16,724 0-1,105 0 1,-194 0-1,-211-53 17,-706 53-17,-106 0 1</inkml:trace>
  <inkml:trace contextRef="#ctx0" brushRef="#br0" timeOffset="7439.33">7267 11024 0,'18'0'47,"-18"36"-31,18 69-16,34 54 15,1 53 1,18 194 0,17 34-1,-53 54 1,-35-158-1,18 34 1,0-35 0,-18-53-1,0-17 1,0-159 0,0-36-1,0-52 16</inkml:trace>
  <inkml:trace contextRef="#ctx0" brushRef="#br0" timeOffset="8311.49">7355 14235 0,'18'35'63,"35"53"-48,18 0-15,-1-17 16,-17-1 0,-35-52-16,35 53 15,-36-36 17,1-18-32,-1-17 203,1-70-203,35-36 15,18 36 1,-18-1-16,-1-35 16,54 0-1,-70 71 1,-19 17-1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E18CB36-612C-4E4A-AC83-E89476AEC2BF}" type="datetimeFigureOut">
              <a:rPr lang="en-US" smtClean="0"/>
              <a:pPr/>
              <a:t>5/6/2023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E707532-839C-41A2-9E71-D5288AEAE6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5400" b="1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257800"/>
            <a:ext cx="8077200" cy="1295400"/>
          </a:xfrm>
        </p:spPr>
        <p:txBody>
          <a:bodyPr lIns="118872" tIns="0" rIns="45720" bIns="0" anchor="t">
            <a:normAutofit/>
          </a:bodyPr>
          <a:lstStyle>
            <a:lvl1pPr marL="0" indent="0" algn="l">
              <a:buNone/>
              <a:defRPr sz="3200" b="1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aseline="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686800" cy="987552"/>
          </a:xfrm>
        </p:spPr>
        <p:txBody>
          <a:bodyPr>
            <a:noAutofit/>
          </a:bodyPr>
          <a:lstStyle>
            <a:lvl1pPr>
              <a:defRPr lang="en-US" dirty="0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aseline="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257800"/>
          </a:xfrm>
        </p:spPr>
        <p:txBody>
          <a:bodyPr lIns="91440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25780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aseline="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8226720" cy="1143480"/>
          </a:xfrm>
        </p:spPr>
        <p:txBody>
          <a:bodyPr tIns="41473" bIns="414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920" y="1604329"/>
            <a:ext cx="4043520" cy="4524955"/>
          </a:xfrm>
        </p:spPr>
        <p:txBody>
          <a:bodyPr rIns="82945" bIns="4147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39680" y="1604329"/>
            <a:ext cx="4044960" cy="4524955"/>
          </a:xfrm>
        </p:spPr>
        <p:txBody>
          <a:bodyPr rIns="82945" bIns="41473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>
          <a:xfrm>
            <a:off x="6554880" y="6247376"/>
            <a:ext cx="2128320" cy="472370"/>
          </a:xfrm>
        </p:spPr>
        <p:txBody>
          <a:bodyPr lIns="82945" tIns="41473" rIns="82945"/>
          <a:lstStyle>
            <a:lvl1pPr>
              <a:defRPr/>
            </a:lvl1pPr>
          </a:lstStyle>
          <a:p>
            <a:fld id="{10066599-523B-4641-9CCC-17D83CD935E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02108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1"/>
            <a:ext cx="9143999" cy="1021079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152400"/>
            <a:ext cx="8686799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534400" cy="52578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583680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 baseline="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5" r:id="rId12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8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100000"/>
        <a:buFont typeface="Wingdings" pitchFamily="2" charset="2"/>
        <a:buChar char="§"/>
        <a:defRPr kumimoji="0"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SzPct val="100000"/>
        <a:buFont typeface="Wingdings" pitchFamily="2" charset="2"/>
        <a:buChar char="§"/>
        <a:defRPr kumimoji="0"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itchFamily="2" charset="2"/>
        <a:buChar char="§"/>
        <a:defRPr kumimoji="0"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SzPct val="100000"/>
        <a:buFont typeface="Wingdings" pitchFamily="2" charset="2"/>
        <a:buChar char="§"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2202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9144000" cy="5133975"/>
            </a:xfrm>
            <a:custGeom>
              <a:avLst/>
              <a:gdLst/>
              <a:ahLst/>
              <a:cxnLst/>
              <a:rect l="l" t="t" r="r" b="b"/>
              <a:pathLst>
                <a:path w="9144000" h="5133975">
                  <a:moveTo>
                    <a:pt x="9144000" y="0"/>
                  </a:moveTo>
                  <a:lnTo>
                    <a:pt x="0" y="0"/>
                  </a:lnTo>
                  <a:lnTo>
                    <a:pt x="0" y="5133975"/>
                  </a:lnTo>
                  <a:lnTo>
                    <a:pt x="9144000" y="51339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86286"/>
              <a:ext cx="9144000" cy="13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4450"/>
              <a:ext cx="9144000" cy="47625"/>
            </a:xfrm>
            <a:custGeom>
              <a:avLst/>
              <a:gdLst/>
              <a:ahLst/>
              <a:cxnLst/>
              <a:rect l="l" t="t" r="r" b="b"/>
              <a:pathLst>
                <a:path w="9144000" h="47625">
                  <a:moveTo>
                    <a:pt x="91440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9144000" y="476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3300" y="5224398"/>
            <a:ext cx="4330700" cy="11174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Dr. Mohammad Rezwanul Huq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Associate Professor</a:t>
            </a:r>
          </a:p>
          <a:p>
            <a:pPr marL="12700">
              <a:lnSpc>
                <a:spcPts val="2870"/>
              </a:lnSpc>
            </a:pPr>
            <a:r>
              <a:rPr lang="en-AU" sz="2400" spc="10" dirty="0">
                <a:solidFill>
                  <a:srgbClr val="FFFFFF"/>
                </a:solidFill>
                <a:latin typeface="Corbel"/>
                <a:cs typeface="Corbel"/>
              </a:rPr>
              <a:t>East West University</a:t>
            </a:r>
            <a:endParaRPr sz="2000" dirty="0">
              <a:latin typeface="Corbel"/>
              <a:cs typeface="Corbe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8D84B-8AF9-4ABB-AF8C-ED978638D2A0}"/>
              </a:ext>
            </a:extLst>
          </p:cNvPr>
          <p:cNvSpPr txBox="1"/>
          <p:nvPr/>
        </p:nvSpPr>
        <p:spPr>
          <a:xfrm>
            <a:off x="304800" y="1905000"/>
            <a:ext cx="883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FFFF00"/>
                </a:solidFill>
                <a:latin typeface="Palatino Linotype" panose="02040502050505030304" pitchFamily="18" charset="0"/>
              </a:rPr>
              <a:t>CSE488: Big Data Analytics</a:t>
            </a:r>
          </a:p>
          <a:p>
            <a:pPr algn="ctr"/>
            <a:endParaRPr lang="en-AU" sz="3200" dirty="0">
              <a:solidFill>
                <a:srgbClr val="FFFF00"/>
              </a:solidFill>
              <a:latin typeface="Palatino Linotype" panose="02040502050505030304" pitchFamily="18" charset="0"/>
            </a:endParaRPr>
          </a:p>
          <a:p>
            <a:pPr algn="ctr"/>
            <a:r>
              <a:rPr lang="en-AU" sz="3600" dirty="0">
                <a:solidFill>
                  <a:srgbClr val="00B0F0"/>
                </a:solidFill>
                <a:latin typeface="Palatino Linotype" panose="02040502050505030304" pitchFamily="18" charset="0"/>
              </a:rPr>
              <a:t>Lecture 10: Clustering  </a:t>
            </a:r>
            <a:endParaRPr lang="en-US" sz="3600" dirty="0">
              <a:solidFill>
                <a:srgbClr val="00B0F0"/>
              </a:solidFill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727553" y="304800"/>
            <a:ext cx="7772400" cy="1143000"/>
          </a:xfrm>
          <a:prstGeom prst="rect">
            <a:avLst/>
          </a:prstGeo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4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dirty="0">
                <a:solidFill>
                  <a:srgbClr val="CC0000"/>
                </a:solidFill>
              </a:rPr>
              <a:t>Clustering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66800" y="1832453"/>
            <a:ext cx="7848600" cy="304434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9900"/>
                </a:solidFill>
              </a:rPr>
              <a:t>Hierarchical /Agglomerative and Point-	Assignment Approaches</a:t>
            </a:r>
            <a:br>
              <a:rPr lang="en-US" sz="3600" dirty="0">
                <a:solidFill>
                  <a:srgbClr val="FF9900"/>
                </a:solidFill>
              </a:rPr>
            </a:br>
            <a:r>
              <a:rPr lang="en-US" sz="3600" dirty="0">
                <a:solidFill>
                  <a:srgbClr val="FF9900"/>
                </a:solidFill>
              </a:rPr>
              <a:t>Measures of “Goodness” for Clusters</a:t>
            </a:r>
            <a:br>
              <a:rPr lang="en-US" sz="3600" dirty="0">
                <a:solidFill>
                  <a:srgbClr val="FF9900"/>
                </a:solidFill>
              </a:rPr>
            </a:br>
            <a:r>
              <a:rPr lang="en-US" sz="3600" dirty="0">
                <a:solidFill>
                  <a:srgbClr val="FF9900"/>
                </a:solidFill>
              </a:rPr>
              <a:t>BFR Algorithm</a:t>
            </a:r>
            <a:br>
              <a:rPr lang="en-US" sz="3600" dirty="0">
                <a:solidFill>
                  <a:srgbClr val="FF9900"/>
                </a:solidFill>
              </a:rPr>
            </a:br>
            <a:r>
              <a:rPr lang="en-US" sz="3600" dirty="0">
                <a:solidFill>
                  <a:srgbClr val="FF9900"/>
                </a:solidFill>
              </a:rPr>
              <a:t>CURE Algorithm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6B63B-8D1C-4A6E-80F9-7E4FDEC2973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Problem of Clustering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Given a set of points, with a notion of distance between points, group the points into some number of </a:t>
            </a:r>
            <a:r>
              <a:rPr lang="en-US" altLang="en-US" i="1" dirty="0">
                <a:solidFill>
                  <a:srgbClr val="FF0066"/>
                </a:solidFill>
              </a:rPr>
              <a:t>clusters</a:t>
            </a:r>
            <a:r>
              <a:rPr lang="en-US" altLang="en-US" dirty="0"/>
              <a:t>, so that members of a cluster are “close” to each other, while members of different clusters are “far.”</a:t>
            </a:r>
          </a:p>
        </p:txBody>
      </p:sp>
    </p:spTree>
    <p:extLst>
      <p:ext uri="{BB962C8B-B14F-4D97-AF65-F5344CB8AC3E}">
        <p14:creationId xmlns:p14="http://schemas.microsoft.com/office/powerpoint/2010/main" val="203380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5D114-0F15-41C7-8C24-19E977C17B4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Clusters</a:t>
            </a:r>
          </a:p>
        </p:txBody>
      </p:sp>
      <p:sp>
        <p:nvSpPr>
          <p:cNvPr id="90115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    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 x  x     </a:t>
            </a:r>
          </a:p>
          <a:p>
            <a:pPr algn="ctr"/>
            <a:r>
              <a:rPr lang="en-US" altLang="en-US">
                <a:latin typeface="Times New Roman" charset="0"/>
              </a:rPr>
              <a:t>x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</a:t>
            </a:r>
          </a:p>
        </p:txBody>
      </p:sp>
      <p:sp>
        <p:nvSpPr>
          <p:cNvPr id="90116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solidFill>
            <a:srgbClr val="8080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xx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  </a:t>
            </a:r>
          </a:p>
          <a:p>
            <a:pPr algn="ctr"/>
            <a:r>
              <a:rPr lang="en-US" altLang="en-US">
                <a:latin typeface="Times New Roman" charset="0"/>
              </a:rPr>
              <a:t>x    x  x   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 x   x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90117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     x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x    x</a:t>
            </a:r>
          </a:p>
          <a:p>
            <a:pPr algn="ctr"/>
            <a:r>
              <a:rPr lang="en-US" altLang="en-US">
                <a:latin typeface="Times New Roman" charset="0"/>
              </a:rPr>
              <a:t>  x    x     x</a:t>
            </a:r>
          </a:p>
          <a:p>
            <a:pPr algn="ctr"/>
            <a:r>
              <a:rPr lang="en-US" altLang="en-US">
                <a:latin typeface="Times New Roman" charset="0"/>
              </a:rPr>
              <a:t>x  </a:t>
            </a: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90119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7007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82E5B-9AAB-4051-B66C-B3702E3766FD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Problems With Clustering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Clustering in two dimensions looks easy.</a:t>
            </a:r>
          </a:p>
          <a:p>
            <a:r>
              <a:rPr lang="en-US" altLang="en-US" dirty="0"/>
              <a:t>Clustering small amounts of data looks easy.</a:t>
            </a:r>
          </a:p>
          <a:p>
            <a:r>
              <a:rPr lang="en-US" altLang="en-US" dirty="0"/>
              <a:t>And in most cases, looks are </a:t>
            </a:r>
            <a:r>
              <a:rPr lang="en-US" altLang="en-US" i="1" dirty="0">
                <a:solidFill>
                  <a:srgbClr val="33CC33"/>
                </a:solidFill>
              </a:rPr>
              <a:t>not</a:t>
            </a:r>
            <a:r>
              <a:rPr lang="en-US" altLang="en-US" dirty="0"/>
              <a:t> deceiving.</a:t>
            </a:r>
          </a:p>
        </p:txBody>
      </p:sp>
    </p:spTree>
    <p:extLst>
      <p:ext uri="{BB962C8B-B14F-4D97-AF65-F5344CB8AC3E}">
        <p14:creationId xmlns:p14="http://schemas.microsoft.com/office/powerpoint/2010/main" val="139336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45E41-AA5E-4C05-95DC-BBE99DA71AA0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Curse of Dimensionality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Many applications involve not 2, but 10 or 10,000 dimensions.</a:t>
            </a:r>
          </a:p>
          <a:p>
            <a:pPr lvl="1"/>
            <a:r>
              <a:rPr lang="en-US" altLang="en-US" dirty="0">
                <a:solidFill>
                  <a:srgbClr val="00B050"/>
                </a:solidFill>
              </a:rPr>
              <a:t>Example</a:t>
            </a:r>
            <a:r>
              <a:rPr lang="en-US" altLang="en-US" dirty="0"/>
              <a:t>: clustering documents by the vector of word counts (one dimension for each word).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High-dimensional spaces look different</a:t>
            </a:r>
            <a:r>
              <a:rPr lang="en-US" altLang="en-US" dirty="0"/>
              <a:t>: almost all pairs of points are at about the same distance.</a:t>
            </a:r>
          </a:p>
        </p:txBody>
      </p:sp>
    </p:spTree>
    <p:extLst>
      <p:ext uri="{BB962C8B-B14F-4D97-AF65-F5344CB8AC3E}">
        <p14:creationId xmlns:p14="http://schemas.microsoft.com/office/powerpoint/2010/main" val="333771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168F1-F22F-47F1-933A-7EEFE1EC0B27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-14614" y="0"/>
            <a:ext cx="91440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33CC33"/>
                </a:solidFill>
              </a:rPr>
              <a:t>Example</a:t>
            </a:r>
            <a:r>
              <a:rPr lang="en-US" altLang="en-US" dirty="0"/>
              <a:t>: Curse of Dimensionality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34400" cy="4419600"/>
          </a:xfrm>
        </p:spPr>
        <p:txBody>
          <a:bodyPr/>
          <a:lstStyle/>
          <a:p>
            <a:r>
              <a:rPr lang="en-US" altLang="en-US" dirty="0"/>
              <a:t>Assume random points between 0 and 1 in each dimension.</a:t>
            </a:r>
          </a:p>
          <a:p>
            <a:r>
              <a:rPr lang="en-US" altLang="en-US" dirty="0"/>
              <a:t>In 2 dimensions: a variety of distances between 0 and 1.41.</a:t>
            </a:r>
          </a:p>
          <a:p>
            <a:r>
              <a:rPr lang="en-US" altLang="en-US" dirty="0"/>
              <a:t>In any number of dimensions, the distance between two random points in any one dimension is distributed as a triangle.</a:t>
            </a:r>
          </a:p>
        </p:txBody>
      </p:sp>
      <p:sp>
        <p:nvSpPr>
          <p:cNvPr id="93188" name="AutoShape 4"/>
          <p:cNvSpPr>
            <a:spLocks noChangeArrowheads="1"/>
          </p:cNvSpPr>
          <p:nvPr/>
        </p:nvSpPr>
        <p:spPr bwMode="auto">
          <a:xfrm>
            <a:off x="3126288" y="5585564"/>
            <a:ext cx="2438400" cy="685800"/>
          </a:xfrm>
          <a:prstGeom prst="rtTriangle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52400" y="4939233"/>
            <a:ext cx="2973888" cy="646331"/>
            <a:chOff x="304800" y="5400898"/>
            <a:chExt cx="2973888" cy="646331"/>
          </a:xfrm>
        </p:grpSpPr>
        <p:sp>
          <p:nvSpPr>
            <p:cNvPr id="2" name="TextBox 1"/>
            <p:cNvSpPr txBox="1"/>
            <p:nvPr/>
          </p:nvSpPr>
          <p:spPr>
            <a:xfrm>
              <a:off x="304800" y="5400898"/>
              <a:ext cx="21499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Any point is distance</a:t>
              </a:r>
            </a:p>
            <a:p>
              <a:r>
                <a:rPr lang="en-US" dirty="0"/>
                <a:t>zero from itself.</a:t>
              </a:r>
            </a:p>
          </p:txBody>
        </p:sp>
        <p:cxnSp>
          <p:nvCxnSpPr>
            <p:cNvPr id="4" name="Straight Arrow Connector 3"/>
            <p:cNvCxnSpPr>
              <a:stCxn id="2" idx="3"/>
              <a:endCxn id="93188" idx="0"/>
            </p:cNvCxnSpPr>
            <p:nvPr/>
          </p:nvCxnSpPr>
          <p:spPr>
            <a:xfrm>
              <a:off x="2454748" y="5724064"/>
              <a:ext cx="823940" cy="323165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4345488" y="4788671"/>
            <a:ext cx="3923749" cy="1139793"/>
            <a:chOff x="4345488" y="4788671"/>
            <a:chExt cx="3923749" cy="1139793"/>
          </a:xfrm>
        </p:grpSpPr>
        <p:sp>
          <p:nvSpPr>
            <p:cNvPr id="7" name="TextBox 6"/>
            <p:cNvSpPr txBox="1"/>
            <p:nvPr/>
          </p:nvSpPr>
          <p:spPr>
            <a:xfrm>
              <a:off x="5543811" y="4788671"/>
              <a:ext cx="272542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Half the points are the first</a:t>
              </a:r>
            </a:p>
            <a:p>
              <a:r>
                <a:rPr lang="en-US" dirty="0"/>
                <a:t>of points at distance ½.</a:t>
              </a:r>
            </a:p>
          </p:txBody>
        </p:sp>
        <p:cxnSp>
          <p:nvCxnSpPr>
            <p:cNvPr id="10" name="Straight Arrow Connector 9"/>
            <p:cNvCxnSpPr>
              <a:stCxn id="7" idx="1"/>
              <a:endCxn id="93188" idx="5"/>
            </p:cNvCxnSpPr>
            <p:nvPr/>
          </p:nvCxnSpPr>
          <p:spPr>
            <a:xfrm flipH="1">
              <a:off x="4345488" y="5111837"/>
              <a:ext cx="1198323" cy="816627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5564688" y="5625033"/>
            <a:ext cx="3065695" cy="646331"/>
            <a:chOff x="5564688" y="5625033"/>
            <a:chExt cx="3065695" cy="646331"/>
          </a:xfrm>
        </p:grpSpPr>
        <p:sp>
          <p:nvSpPr>
            <p:cNvPr id="12" name="TextBox 11"/>
            <p:cNvSpPr txBox="1"/>
            <p:nvPr/>
          </p:nvSpPr>
          <p:spPr>
            <a:xfrm>
              <a:off x="6781800" y="5625033"/>
              <a:ext cx="18485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Only points 0 and</a:t>
              </a:r>
            </a:p>
            <a:p>
              <a:r>
                <a:rPr lang="en-US" dirty="0"/>
                <a:t>1 are distance 1.</a:t>
              </a:r>
            </a:p>
          </p:txBody>
        </p:sp>
        <p:cxnSp>
          <p:nvCxnSpPr>
            <p:cNvPr id="14" name="Straight Arrow Connector 13"/>
            <p:cNvCxnSpPr>
              <a:stCxn id="12" idx="1"/>
              <a:endCxn id="93188" idx="4"/>
            </p:cNvCxnSpPr>
            <p:nvPr/>
          </p:nvCxnSpPr>
          <p:spPr>
            <a:xfrm flipH="1">
              <a:off x="5564688" y="5948199"/>
              <a:ext cx="1217112" cy="323165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171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uiExpand="1" build="p"/>
      <p:bldP spid="9318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7E27A-68A1-43BD-B1F3-7EA60DA8ECD8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 – Continued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distance between two random points in n dimensions, with each dimension distributed as a triangle, becomes normally distributed as n gets large.</a:t>
            </a:r>
          </a:p>
          <a:p>
            <a:r>
              <a:rPr lang="en-US" altLang="en-US" dirty="0"/>
              <a:t>And the standard deviation grows as the square root of the average distance.</a:t>
            </a:r>
          </a:p>
          <a:p>
            <a:pPr lvl="1"/>
            <a:r>
              <a:rPr lang="en-US" altLang="en-US" dirty="0"/>
              <a:t>I.e., “all points are the same distance apart.”</a:t>
            </a:r>
          </a:p>
        </p:txBody>
      </p:sp>
    </p:spTree>
    <p:extLst>
      <p:ext uri="{BB962C8B-B14F-4D97-AF65-F5344CB8AC3E}">
        <p14:creationId xmlns:p14="http://schemas.microsoft.com/office/powerpoint/2010/main" val="61788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987552"/>
          </a:xfrm>
        </p:spPr>
        <p:txBody>
          <a:bodyPr/>
          <a:lstStyle/>
          <a:p>
            <a:r>
              <a:rPr lang="en-US" sz="4000" dirty="0"/>
              <a:t>Euclidean and Non-Euclidean 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Euclidean spaces have dimensions, and points have coordinates in each dimension.</a:t>
            </a:r>
          </a:p>
          <a:p>
            <a:r>
              <a:rPr lang="en-US" dirty="0"/>
              <a:t>Distance between points is usually the square-root of the sum of the squares of the distances in each dimension.</a:t>
            </a:r>
          </a:p>
          <a:p>
            <a:r>
              <a:rPr lang="en-US" dirty="0"/>
              <a:t>Non-Euclidean spaces have a distance measure, but points do not really have a position in the space.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Big problem</a:t>
            </a:r>
            <a:r>
              <a:rPr lang="en-US" dirty="0"/>
              <a:t>: cannot “average”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22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8564F-E4A2-4267-B7B4-09BDADF34ABC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DNA Sequences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5562600"/>
          </a:xfrm>
        </p:spPr>
        <p:txBody>
          <a:bodyPr>
            <a:normAutofit/>
          </a:bodyPr>
          <a:lstStyle/>
          <a:p>
            <a:r>
              <a:rPr lang="en-US" altLang="en-US" dirty="0"/>
              <a:t>Objects are sequences of {C,A,T,G}.</a:t>
            </a:r>
          </a:p>
          <a:p>
            <a:r>
              <a:rPr lang="en-US" altLang="en-US" dirty="0"/>
              <a:t>Distance between sequences = </a:t>
            </a:r>
            <a:r>
              <a:rPr lang="en-US" altLang="en-US" i="1" dirty="0">
                <a:solidFill>
                  <a:srgbClr val="FF0066"/>
                </a:solidFill>
              </a:rPr>
              <a:t>edit distance</a:t>
            </a:r>
            <a:r>
              <a:rPr lang="en-US" altLang="en-US" dirty="0"/>
              <a:t> = the minimum number of inserts and deletes needed to turn one into the other.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Notice</a:t>
            </a:r>
            <a:r>
              <a:rPr lang="en-US" altLang="en-US" dirty="0"/>
              <a:t>: no way to “average” two strings.</a:t>
            </a:r>
          </a:p>
          <a:p>
            <a:pPr lvl="1"/>
            <a:r>
              <a:rPr lang="en-US" altLang="en-US" dirty="0">
                <a:solidFill>
                  <a:srgbClr val="00B050"/>
                </a:solidFill>
              </a:rPr>
              <a:t>Question for thought</a:t>
            </a:r>
            <a:r>
              <a:rPr lang="en-US" altLang="en-US" dirty="0"/>
              <a:t>: why not make half the changes and call that the “average”?</a:t>
            </a:r>
          </a:p>
          <a:p>
            <a:r>
              <a:rPr lang="en-US" altLang="en-US" dirty="0"/>
              <a:t>In practice, the distance for DNA sequences is more complicated: allows other operations like </a:t>
            </a:r>
            <a:r>
              <a:rPr lang="en-US" altLang="en-US" i="1" dirty="0">
                <a:solidFill>
                  <a:srgbClr val="FF0000"/>
                </a:solidFill>
              </a:rPr>
              <a:t>mutations</a:t>
            </a:r>
            <a:r>
              <a:rPr lang="en-US" altLang="en-US" dirty="0"/>
              <a:t> (change of a symbol into another) or reversal of substrings.</a:t>
            </a:r>
          </a:p>
        </p:txBody>
      </p:sp>
    </p:spTree>
    <p:extLst>
      <p:ext uri="{BB962C8B-B14F-4D97-AF65-F5344CB8AC3E}">
        <p14:creationId xmlns:p14="http://schemas.microsoft.com/office/powerpoint/2010/main" val="361871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3EE89-9F53-4C44-A78D-2EBBD0C99199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Methods of Clustering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CC33"/>
                </a:solidFill>
              </a:rPr>
              <a:t>Hierarchical (Agglomerative)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Initially, each point in cluster by itself.</a:t>
            </a:r>
          </a:p>
          <a:p>
            <a:pPr lvl="1"/>
            <a:r>
              <a:rPr lang="en-US" altLang="en-US" dirty="0"/>
              <a:t>Repeatedly combine the two “nearest” clusters into one.</a:t>
            </a:r>
          </a:p>
          <a:p>
            <a:r>
              <a:rPr lang="en-US" altLang="en-US" dirty="0">
                <a:solidFill>
                  <a:srgbClr val="33CC33"/>
                </a:solidFill>
              </a:rPr>
              <a:t>Point Assignment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Maintain a set of clusters.</a:t>
            </a:r>
          </a:p>
          <a:p>
            <a:pPr lvl="1"/>
            <a:r>
              <a:rPr lang="en-US" altLang="en-US" dirty="0"/>
              <a:t>Place points into their nearest cluster.</a:t>
            </a:r>
          </a:p>
          <a:p>
            <a:pPr lvl="1"/>
            <a:r>
              <a:rPr lang="en-US" altLang="en-US" dirty="0"/>
              <a:t>Possibly split clusters or combine clusters as we go.</a:t>
            </a:r>
          </a:p>
        </p:txBody>
      </p:sp>
    </p:spTree>
    <p:extLst>
      <p:ext uri="{BB962C8B-B14F-4D97-AF65-F5344CB8AC3E}">
        <p14:creationId xmlns:p14="http://schemas.microsoft.com/office/powerpoint/2010/main" val="133566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6720" cy="1143480"/>
          </a:xfrm>
        </p:spPr>
        <p:txBody>
          <a:bodyPr/>
          <a:lstStyle/>
          <a:p>
            <a:r>
              <a:rPr lang="en-US" dirty="0"/>
              <a:t>Which is Better?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399" y="1604329"/>
            <a:ext cx="5180035" cy="4524955"/>
          </a:xfrm>
        </p:spPr>
        <p:txBody>
          <a:bodyPr/>
          <a:lstStyle/>
          <a:p>
            <a:r>
              <a:rPr lang="en-US" dirty="0"/>
              <a:t>Point assignment good when clusters are nice, convex shapes.</a:t>
            </a:r>
          </a:p>
          <a:p>
            <a:r>
              <a:rPr lang="en-US" dirty="0"/>
              <a:t>Hierarchical can win when shapes are weird.</a:t>
            </a:r>
          </a:p>
          <a:p>
            <a:pPr lvl="1"/>
            <a:r>
              <a:rPr lang="en-US" dirty="0"/>
              <a:t>Note both clusters have essentially the same centroid.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066599-523B-4641-9CCC-17D83CD935ED}" type="slidenum">
              <a:rPr lang="en-GB" smtClean="0"/>
              <a:pPr/>
              <a:t>12</a:t>
            </a:fld>
            <a:endParaRPr lang="en-GB"/>
          </a:p>
        </p:txBody>
      </p:sp>
      <p:grpSp>
        <p:nvGrpSpPr>
          <p:cNvPr id="22" name="Group 21"/>
          <p:cNvGrpSpPr/>
          <p:nvPr/>
        </p:nvGrpSpPr>
        <p:grpSpPr>
          <a:xfrm>
            <a:off x="5332435" y="2164393"/>
            <a:ext cx="2961361" cy="1125255"/>
            <a:chOff x="5517716" y="2040177"/>
            <a:chExt cx="2961361" cy="1125255"/>
          </a:xfrm>
        </p:grpSpPr>
        <p:sp>
          <p:nvSpPr>
            <p:cNvPr id="6" name="Oval 5"/>
            <p:cNvSpPr/>
            <p:nvPr/>
          </p:nvSpPr>
          <p:spPr>
            <a:xfrm>
              <a:off x="5517716" y="2286000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966566" y="2056878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822516" y="2349152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203516" y="2350718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670116" y="2708232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974916" y="2612721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88066" y="2612721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983266" y="2936832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508316" y="2056878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7924800" y="2363766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077200" y="2516166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326677" y="2349152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847556" y="2062098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771356" y="2636729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224381" y="2040177"/>
              <a:ext cx="152400" cy="228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428469" y="3764068"/>
            <a:ext cx="2865327" cy="2196230"/>
            <a:chOff x="5428469" y="3764068"/>
            <a:chExt cx="2865327" cy="2196230"/>
          </a:xfrm>
        </p:grpSpPr>
        <p:grpSp>
          <p:nvGrpSpPr>
            <p:cNvPr id="43" name="Group 42"/>
            <p:cNvGrpSpPr/>
            <p:nvPr/>
          </p:nvGrpSpPr>
          <p:grpSpPr>
            <a:xfrm>
              <a:off x="5428469" y="3764068"/>
              <a:ext cx="2865327" cy="2179532"/>
              <a:chOff x="5428469" y="3764068"/>
              <a:chExt cx="2865327" cy="217953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28469" y="4196738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5877319" y="3967616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7323030" y="3840266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6553200" y="5715000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5580869" y="4589745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7718643" y="5522412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7838162" y="5105400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5781285" y="5446212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705600" y="3764068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6884618" y="4301645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842865" y="4621582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7086600" y="4415945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6626269" y="4396113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6557898" y="4735882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7041716" y="4751017"/>
                <a:ext cx="152400" cy="2286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7194116" y="5524500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8141396" y="4735882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6246835" y="5475440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7814675" y="4273984"/>
                <a:ext cx="152400" cy="228600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Oval 43"/>
            <p:cNvSpPr/>
            <p:nvPr/>
          </p:nvSpPr>
          <p:spPr>
            <a:xfrm>
              <a:off x="6995788" y="5731698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7688372" y="3999975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5705085" y="5113750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5430037" y="4964482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6450385" y="3885675"/>
              <a:ext cx="152400" cy="2286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233977" y="5245833"/>
            <a:ext cx="42722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Aside</a:t>
            </a:r>
            <a:r>
              <a:rPr lang="en-US" dirty="0"/>
              <a:t>: if you realized you had concentric</a:t>
            </a:r>
          </a:p>
          <a:p>
            <a:r>
              <a:rPr lang="en-US" dirty="0"/>
              <a:t>clusters, you could map points based on</a:t>
            </a:r>
          </a:p>
          <a:p>
            <a:r>
              <a:rPr lang="en-US" dirty="0"/>
              <a:t>distance from center, and turn the problem</a:t>
            </a:r>
          </a:p>
          <a:p>
            <a:r>
              <a:rPr lang="en-US" dirty="0"/>
              <a:t>into a simple, one-dimensional case.</a:t>
            </a:r>
          </a:p>
        </p:txBody>
      </p:sp>
    </p:spTree>
    <p:extLst>
      <p:ext uri="{BB962C8B-B14F-4D97-AF65-F5344CB8AC3E}">
        <p14:creationId xmlns:p14="http://schemas.microsoft.com/office/powerpoint/2010/main" val="5569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730DF-FFBF-4157-8D66-2A65B43DB4B6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 dirty="0"/>
              <a:t>Two important questions: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How do you determine the “nearness” of clusters?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How do you represent a cluster of more than one point?</a:t>
            </a:r>
          </a:p>
        </p:txBody>
      </p:sp>
    </p:spTree>
    <p:extLst>
      <p:ext uri="{BB962C8B-B14F-4D97-AF65-F5344CB8AC3E}">
        <p14:creationId xmlns:p14="http://schemas.microsoft.com/office/powerpoint/2010/main" val="162056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1A10-71FE-4ADD-BD4D-895BE4C1187C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Locating Clusters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3CC33"/>
                </a:solidFill>
              </a:rPr>
              <a:t>Euclidean case</a:t>
            </a:r>
            <a:r>
              <a:rPr lang="en-US" altLang="en-US" dirty="0"/>
              <a:t>: each cluster has a </a:t>
            </a:r>
            <a:r>
              <a:rPr lang="en-US" altLang="en-US" i="1" dirty="0">
                <a:solidFill>
                  <a:srgbClr val="FF0066"/>
                </a:solidFill>
              </a:rPr>
              <a:t>centroid</a:t>
            </a:r>
            <a:r>
              <a:rPr lang="en-US" altLang="en-US" dirty="0">
                <a:solidFill>
                  <a:srgbClr val="FF0066"/>
                </a:solidFill>
              </a:rPr>
              <a:t> </a:t>
            </a:r>
            <a:r>
              <a:rPr lang="en-US" altLang="en-US" dirty="0"/>
              <a:t>= average of its points.</a:t>
            </a:r>
          </a:p>
          <a:p>
            <a:pPr lvl="1"/>
            <a:r>
              <a:rPr lang="en-US" altLang="en-US" dirty="0"/>
              <a:t>Represent cluster by centroid + count of points.</a:t>
            </a:r>
          </a:p>
          <a:p>
            <a:pPr lvl="1"/>
            <a:r>
              <a:rPr lang="en-US" altLang="en-US" dirty="0"/>
              <a:t>Measure </a:t>
            </a:r>
            <a:r>
              <a:rPr lang="en-US" altLang="en-US" dirty="0" err="1"/>
              <a:t>intercluster</a:t>
            </a:r>
            <a:r>
              <a:rPr lang="en-US" altLang="en-US" dirty="0"/>
              <a:t> distances by distances of centroids.</a:t>
            </a:r>
          </a:p>
          <a:p>
            <a:pPr lvl="2"/>
            <a:r>
              <a:rPr lang="en-US" altLang="en-US" dirty="0"/>
              <a:t>That is only one of several options.</a:t>
            </a:r>
          </a:p>
        </p:txBody>
      </p:sp>
    </p:spTree>
    <p:extLst>
      <p:ext uri="{BB962C8B-B14F-4D97-AF65-F5344CB8AC3E}">
        <p14:creationId xmlns:p14="http://schemas.microsoft.com/office/powerpoint/2010/main" val="293471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A37FC-D281-4D09-8477-B9538F1D3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5091C-58E2-41FC-AA27-80B4D8054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9568C-9045-40AF-958F-1B2ECD35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0B4D6A-43CE-496A-A2DE-86462C5323A3}"/>
                  </a:ext>
                </a:extLst>
              </p14:cNvPr>
              <p14:cNvContentPartPr/>
              <p14:nvPr/>
            </p14:nvContentPartPr>
            <p14:xfrm>
              <a:off x="1797120" y="2444760"/>
              <a:ext cx="1930680" cy="1454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0B4D6A-43CE-496A-A2DE-86462C5323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7760" y="2435400"/>
                <a:ext cx="1949400" cy="14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7B69D8-6333-492B-A68D-62C44DA5D4F6}"/>
                  </a:ext>
                </a:extLst>
              </p14:cNvPr>
              <p14:cNvContentPartPr/>
              <p14:nvPr/>
            </p14:nvContentPartPr>
            <p14:xfrm>
              <a:off x="2006640" y="1333440"/>
              <a:ext cx="6045480" cy="5200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7B69D8-6333-492B-A68D-62C44DA5D4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97280" y="1324080"/>
                <a:ext cx="6064200" cy="521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4097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33F7-A6C0-4468-B86C-76A4558E8E9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508125" y="2244725"/>
            <a:ext cx="5530850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					  </a:t>
            </a:r>
            <a:r>
              <a:rPr lang="en-US" altLang="en-US">
                <a:latin typeface="Times New Roman" charset="0"/>
              </a:rPr>
              <a:t>(5,3)</a:t>
            </a:r>
          </a:p>
          <a:p>
            <a:r>
              <a:rPr lang="en-US" altLang="en-US">
                <a:latin typeface="Times New Roman" charset="0"/>
              </a:rPr>
              <a:t>					o</a:t>
            </a:r>
          </a:p>
          <a:p>
            <a:r>
              <a:rPr lang="en-US" altLang="en-US">
                <a:latin typeface="Times New Roman" charset="0"/>
              </a:rPr>
              <a:t>	  (1,2)</a:t>
            </a:r>
          </a:p>
          <a:p>
            <a:r>
              <a:rPr lang="en-US" altLang="en-US">
                <a:latin typeface="Times New Roman" charset="0"/>
              </a:rPr>
              <a:t>	o</a:t>
            </a:r>
          </a:p>
          <a:p>
            <a:endParaRPr lang="en-US" altLang="en-US">
              <a:latin typeface="Times New Roman" charset="0"/>
            </a:endParaRPr>
          </a:p>
          <a:p>
            <a:r>
              <a:rPr lang="en-US" altLang="en-US">
                <a:latin typeface="Times New Roman" charset="0"/>
              </a:rPr>
              <a:t>		o  (2,1)		o  (4,1)</a:t>
            </a:r>
          </a:p>
          <a:p>
            <a:endParaRPr lang="en-US" altLang="en-US"/>
          </a:p>
          <a:p>
            <a:r>
              <a:rPr lang="en-US" altLang="en-US">
                <a:latin typeface="Times New Roman" charset="0"/>
              </a:rPr>
              <a:t>o  (0,0)					o</a:t>
            </a:r>
          </a:p>
          <a:p>
            <a:r>
              <a:rPr lang="en-US" altLang="en-US">
                <a:latin typeface="Times New Roman" charset="0"/>
              </a:rPr>
              <a:t>					  (5,0)</a:t>
            </a:r>
            <a:endParaRPr lang="en-US" altLang="en-US"/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2133600" y="2781300"/>
            <a:ext cx="1676400" cy="1676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latin typeface="Times New Roman" charset="0"/>
            </a:endParaRP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2860675" y="3317875"/>
            <a:ext cx="145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charset="0"/>
              </a:rPr>
              <a:t>x (1.5,1.5)</a:t>
            </a:r>
          </a:p>
        </p:txBody>
      </p:sp>
      <p:sp>
        <p:nvSpPr>
          <p:cNvPr id="20492" name="Oval 12"/>
          <p:cNvSpPr>
            <a:spLocks noChangeArrowheads="1"/>
          </p:cNvSpPr>
          <p:nvPr/>
        </p:nvSpPr>
        <p:spPr bwMode="auto">
          <a:xfrm>
            <a:off x="4876800" y="3339796"/>
            <a:ext cx="1676400" cy="1676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5650195" y="3962574"/>
            <a:ext cx="145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charset="0"/>
              </a:rPr>
              <a:t>x (4.5,0.5)</a:t>
            </a:r>
          </a:p>
        </p:txBody>
      </p:sp>
      <p:sp>
        <p:nvSpPr>
          <p:cNvPr id="20494" name="Oval 14"/>
          <p:cNvSpPr>
            <a:spLocks noChangeArrowheads="1"/>
          </p:cNvSpPr>
          <p:nvPr/>
        </p:nvSpPr>
        <p:spPr bwMode="auto">
          <a:xfrm>
            <a:off x="1336675" y="2514600"/>
            <a:ext cx="3048000" cy="2743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2473325" y="3619500"/>
            <a:ext cx="99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charset="0"/>
              </a:rPr>
              <a:t>x (1,1)</a:t>
            </a:r>
          </a:p>
        </p:txBody>
      </p:sp>
      <p:sp>
        <p:nvSpPr>
          <p:cNvPr id="20497" name="Oval 17"/>
          <p:cNvSpPr>
            <a:spLocks noChangeArrowheads="1"/>
          </p:cNvSpPr>
          <p:nvPr/>
        </p:nvSpPr>
        <p:spPr bwMode="auto">
          <a:xfrm>
            <a:off x="4800600" y="2362200"/>
            <a:ext cx="2286000" cy="3581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5857440" y="3429000"/>
            <a:ext cx="145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Times New Roman" charset="0"/>
              </a:rPr>
              <a:t>x (4.7,1.3)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6D052F-6152-4631-B41C-D3C5FA8B7B36}"/>
                  </a:ext>
                </a:extLst>
              </p14:cNvPr>
              <p14:cNvContentPartPr/>
              <p14:nvPr/>
            </p14:nvContentPartPr>
            <p14:xfrm>
              <a:off x="1720800" y="2851200"/>
              <a:ext cx="4997880" cy="1994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6D052F-6152-4631-B41C-D3C5FA8B7B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1440" y="2841840"/>
                <a:ext cx="5016600" cy="201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38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9" grpId="0" animBg="1" autoUpdateAnimBg="0"/>
      <p:bldP spid="20491" grpId="0" autoUpdateAnimBg="0"/>
      <p:bldP spid="20492" grpId="0" animBg="1"/>
      <p:bldP spid="20493" grpId="0" autoUpdateAnimBg="0"/>
      <p:bldP spid="20494" grpId="0" animBg="1"/>
      <p:bldP spid="20496" grpId="0" autoUpdateAnimBg="0"/>
      <p:bldP spid="20497" grpId="0" animBg="1"/>
      <p:bldP spid="2049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>
                <a:solidFill>
                  <a:srgbClr val="FF0000"/>
                </a:solidFill>
              </a:rPr>
              <a:t>Dendrogram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981200" y="4343400"/>
            <a:ext cx="838200" cy="609600"/>
            <a:chOff x="1981200" y="4343400"/>
            <a:chExt cx="838200" cy="609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1981200" y="4343400"/>
              <a:ext cx="0" cy="60960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2819400" y="4343400"/>
              <a:ext cx="0" cy="60960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981200" y="4343400"/>
              <a:ext cx="83820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4114800" y="4343400"/>
            <a:ext cx="838200" cy="609600"/>
            <a:chOff x="1981200" y="4343400"/>
            <a:chExt cx="838200" cy="6096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1981200" y="4343400"/>
              <a:ext cx="0" cy="60960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819400" y="4343400"/>
              <a:ext cx="0" cy="60960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981200" y="4343400"/>
              <a:ext cx="83820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/>
          <p:cNvCxnSpPr/>
          <p:nvPr/>
        </p:nvCxnSpPr>
        <p:spPr>
          <a:xfrm flipV="1">
            <a:off x="1143000" y="3733800"/>
            <a:ext cx="0" cy="12192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2400300" y="3733800"/>
            <a:ext cx="0" cy="6096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143000" y="3733800"/>
            <a:ext cx="1257300" cy="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791200" y="3749458"/>
            <a:ext cx="0" cy="12192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533900" y="3749458"/>
            <a:ext cx="1257300" cy="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4533900" y="3733800"/>
            <a:ext cx="0" cy="6096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771650" y="3124200"/>
            <a:ext cx="0" cy="6096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5162550" y="3124200"/>
            <a:ext cx="0" cy="60960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71650" y="3124200"/>
            <a:ext cx="3390900" cy="0"/>
          </a:xfrm>
          <a:prstGeom prst="line">
            <a:avLst/>
          </a:prstGeom>
          <a:ln w="28575" cmpd="sng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2658" y="519326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87483" y="5193268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(1,2)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09058" y="5193268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(2,1)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3800" y="5193268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(4,1)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2658" y="5193268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(5,0)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92079" y="519544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(5,3)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B03670-3DAB-4DF1-9D2C-AFE34A29B6B2}"/>
                  </a:ext>
                </a:extLst>
              </p14:cNvPr>
              <p14:cNvContentPartPr/>
              <p14:nvPr/>
            </p14:nvContentPartPr>
            <p14:xfrm>
              <a:off x="1892160" y="2362320"/>
              <a:ext cx="7201440" cy="3213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B03670-3DAB-4DF1-9D2C-AFE34A29B6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2800" y="2352960"/>
                <a:ext cx="7220160" cy="323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6941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2A85A-CC0C-44AF-AE4D-5AE2938CB66D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9227" y="-16701"/>
            <a:ext cx="9144000" cy="1143000"/>
          </a:xfrm>
        </p:spPr>
        <p:txBody>
          <a:bodyPr/>
          <a:lstStyle/>
          <a:p>
            <a:r>
              <a:rPr lang="en-US" altLang="en-US" dirty="0"/>
              <a:t>And in the Non-Euclidean Case?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only “locations” we can talk about are the points themselves.</a:t>
            </a:r>
          </a:p>
          <a:p>
            <a:pPr lvl="1"/>
            <a:r>
              <a:rPr lang="en-US" altLang="en-US" dirty="0"/>
              <a:t>I.e., there is no “average” of two points.</a:t>
            </a:r>
          </a:p>
          <a:p>
            <a:r>
              <a:rPr lang="en-US" altLang="en-US" dirty="0">
                <a:solidFill>
                  <a:srgbClr val="00B050"/>
                </a:solidFill>
              </a:rPr>
              <a:t>Approach 1</a:t>
            </a:r>
            <a:r>
              <a:rPr lang="en-US" altLang="en-US" dirty="0"/>
              <a:t>: </a:t>
            </a:r>
            <a:r>
              <a:rPr lang="en-US" altLang="en-US" i="1" dirty="0" err="1">
                <a:solidFill>
                  <a:srgbClr val="FF0066"/>
                </a:solidFill>
              </a:rPr>
              <a:t>clustroid</a:t>
            </a:r>
            <a:r>
              <a:rPr lang="en-US" altLang="en-US" dirty="0"/>
              <a:t>  = point “closest” to other points.</a:t>
            </a:r>
          </a:p>
          <a:p>
            <a:pPr lvl="1"/>
            <a:r>
              <a:rPr lang="en-US" altLang="en-US" dirty="0"/>
              <a:t>Treat </a:t>
            </a:r>
            <a:r>
              <a:rPr lang="en-US" altLang="en-US" dirty="0" err="1"/>
              <a:t>clustroid</a:t>
            </a:r>
            <a:r>
              <a:rPr lang="en-US" altLang="en-US" dirty="0"/>
              <a:t> as if it were centroid, when computing </a:t>
            </a:r>
            <a:r>
              <a:rPr lang="en-US" altLang="en-US" dirty="0" err="1"/>
              <a:t>intercluster</a:t>
            </a:r>
            <a:r>
              <a:rPr lang="en-US" altLang="en-US" dirty="0"/>
              <a:t> distances. </a:t>
            </a:r>
          </a:p>
        </p:txBody>
      </p:sp>
    </p:spTree>
    <p:extLst>
      <p:ext uri="{BB962C8B-B14F-4D97-AF65-F5344CB8AC3E}">
        <p14:creationId xmlns:p14="http://schemas.microsoft.com/office/powerpoint/2010/main" val="369660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DBDC5-D284-4B30-87FE-58DCB417B1C1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“Closest” Point?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 dirty="0"/>
              <a:t>Possible meanings: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Smallest maximum distance to the other points.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Smallest average distance to other points.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Smallest sum of squares of distances to other points.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Etc., etc.</a:t>
            </a:r>
          </a:p>
        </p:txBody>
      </p:sp>
    </p:spTree>
    <p:extLst>
      <p:ext uri="{BB962C8B-B14F-4D97-AF65-F5344CB8AC3E}">
        <p14:creationId xmlns:p14="http://schemas.microsoft.com/office/powerpoint/2010/main" val="26362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A6612-F275-4A61-BEF0-93A045594141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</a:t>
            </a:r>
            <a:r>
              <a:rPr lang="en-US" altLang="en-US" dirty="0" err="1"/>
              <a:t>Intercluster</a:t>
            </a:r>
            <a:r>
              <a:rPr lang="en-US" altLang="en-US" dirty="0"/>
              <a:t> Distance</a:t>
            </a:r>
          </a:p>
        </p:txBody>
      </p:sp>
      <p:sp>
        <p:nvSpPr>
          <p:cNvPr id="22531" name="AutoShape 3"/>
          <p:cNvSpPr>
            <a:spLocks noChangeArrowheads="1"/>
          </p:cNvSpPr>
          <p:nvPr/>
        </p:nvSpPr>
        <p:spPr bwMode="auto">
          <a:xfrm>
            <a:off x="2667000" y="3048000"/>
            <a:ext cx="1066800" cy="1066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2" name="AutoShape 4"/>
          <p:cNvSpPr>
            <a:spLocks noChangeArrowheads="1"/>
          </p:cNvSpPr>
          <p:nvPr/>
        </p:nvSpPr>
        <p:spPr bwMode="auto">
          <a:xfrm>
            <a:off x="6172200" y="3429000"/>
            <a:ext cx="1371600" cy="12954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2533" name="AutoShape 5"/>
          <p:cNvCxnSpPr>
            <a:cxnSpLocks noChangeShapeType="1"/>
            <a:stCxn id="22531" idx="0"/>
            <a:endCxn id="22532" idx="4"/>
          </p:cNvCxnSpPr>
          <p:nvPr/>
        </p:nvCxnSpPr>
        <p:spPr bwMode="auto">
          <a:xfrm rot="5400000" flipV="1">
            <a:off x="4533900" y="1714500"/>
            <a:ext cx="1676400" cy="4343400"/>
          </a:xfrm>
          <a:prstGeom prst="curvedConnector5">
            <a:avLst>
              <a:gd name="adj1" fmla="val -13634"/>
              <a:gd name="adj2" fmla="val 40352"/>
              <a:gd name="adj3" fmla="val 11363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2651125" y="30813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3413125" y="30813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3108325" y="40719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</a:t>
            </a: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7299325" y="36909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6705600" y="4335463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6232525" y="3690938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4800600" y="5097463"/>
            <a:ext cx="16843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intercluster</a:t>
            </a:r>
          </a:p>
          <a:p>
            <a:r>
              <a:rPr lang="en-US" altLang="en-US"/>
              <a:t>distance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2243279" y="2624552"/>
            <a:ext cx="1316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clustroid</a:t>
            </a: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7604125" y="4452938"/>
            <a:ext cx="1316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 err="1"/>
              <a:t>clustroid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3315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93BA5-496B-4C0F-8930-7C915A708D0A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76200"/>
            <a:ext cx="7772400" cy="1143000"/>
          </a:xfrm>
        </p:spPr>
        <p:txBody>
          <a:bodyPr/>
          <a:lstStyle/>
          <a:p>
            <a:r>
              <a:rPr lang="en-US" altLang="en-US" sz="3600" dirty="0"/>
              <a:t>Other Approaches to Defining “Nearness” of Clusters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4343400"/>
          </a:xfrm>
        </p:spPr>
        <p:txBody>
          <a:bodyPr/>
          <a:lstStyle/>
          <a:p>
            <a:r>
              <a:rPr lang="en-US" altLang="en-US" dirty="0">
                <a:solidFill>
                  <a:srgbClr val="00B050"/>
                </a:solidFill>
              </a:rPr>
              <a:t>Approach 2</a:t>
            </a:r>
            <a:r>
              <a:rPr lang="en-US" altLang="en-US" dirty="0"/>
              <a:t>: </a:t>
            </a:r>
            <a:r>
              <a:rPr lang="en-US" altLang="en-US" dirty="0" err="1"/>
              <a:t>intercluster</a:t>
            </a:r>
            <a:r>
              <a:rPr lang="en-US" altLang="en-US" dirty="0"/>
              <a:t> distance = minimum of the distances between any two points, one from each cluster.</a:t>
            </a:r>
          </a:p>
          <a:p>
            <a:r>
              <a:rPr lang="en-US" altLang="en-US" dirty="0">
                <a:solidFill>
                  <a:srgbClr val="00B050"/>
                </a:solidFill>
              </a:rPr>
              <a:t>Approach 3</a:t>
            </a:r>
            <a:r>
              <a:rPr lang="en-US" altLang="en-US" dirty="0"/>
              <a:t>: Pick a notion of “cohesion” of clusters, e.g., maximum distance from the centroid or </a:t>
            </a:r>
            <a:r>
              <a:rPr lang="en-US" altLang="en-US" dirty="0" err="1"/>
              <a:t>clustroid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Merge clusters whose </a:t>
            </a:r>
            <a:r>
              <a:rPr lang="en-US" altLang="en-US" i="1" dirty="0">
                <a:solidFill>
                  <a:srgbClr val="00B050"/>
                </a:solidFill>
              </a:rPr>
              <a:t>union</a:t>
            </a:r>
            <a:r>
              <a:rPr lang="en-US" altLang="en-US" dirty="0"/>
              <a:t> is most cohesive.</a:t>
            </a:r>
          </a:p>
        </p:txBody>
      </p:sp>
    </p:spTree>
    <p:extLst>
      <p:ext uri="{BB962C8B-B14F-4D97-AF65-F5344CB8AC3E}">
        <p14:creationId xmlns:p14="http://schemas.microsoft.com/office/powerpoint/2010/main" val="216114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447-E12B-4180-9153-91D662115BE6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Cohesion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5486400"/>
          </a:xfrm>
        </p:spPr>
        <p:txBody>
          <a:bodyPr/>
          <a:lstStyle/>
          <a:p>
            <a:pPr marL="609600" indent="-609600"/>
            <a:r>
              <a:rPr lang="en-US" altLang="en-US" dirty="0">
                <a:solidFill>
                  <a:srgbClr val="00B050"/>
                </a:solidFill>
              </a:rPr>
              <a:t>Approach 1</a:t>
            </a:r>
            <a:r>
              <a:rPr lang="en-US" altLang="en-US" dirty="0"/>
              <a:t>: Use the </a:t>
            </a:r>
            <a:r>
              <a:rPr lang="en-US" altLang="en-US" i="1" dirty="0">
                <a:solidFill>
                  <a:srgbClr val="FF0066"/>
                </a:solidFill>
              </a:rPr>
              <a:t>diameter</a:t>
            </a:r>
            <a:r>
              <a:rPr lang="en-US" altLang="en-US" dirty="0"/>
              <a:t> of the merged cluster = maximum distance between points in the cluster.</a:t>
            </a:r>
          </a:p>
          <a:p>
            <a:pPr marL="609600" indent="-609600"/>
            <a:r>
              <a:rPr lang="en-US" altLang="en-US" dirty="0">
                <a:solidFill>
                  <a:srgbClr val="00B050"/>
                </a:solidFill>
              </a:rPr>
              <a:t>Approach 2</a:t>
            </a:r>
            <a:r>
              <a:rPr lang="en-US" altLang="en-US" dirty="0"/>
              <a:t>: Use the average distance between points in the cluster.</a:t>
            </a:r>
          </a:p>
        </p:txBody>
      </p:sp>
    </p:spTree>
    <p:extLst>
      <p:ext uri="{BB962C8B-B14F-4D97-AF65-F5344CB8AC3E}">
        <p14:creationId xmlns:p14="http://schemas.microsoft.com/office/powerpoint/2010/main" val="168773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20447-E12B-4180-9153-91D662115BE6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Cohesion – (2)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5486400"/>
          </a:xfrm>
        </p:spPr>
        <p:txBody>
          <a:bodyPr/>
          <a:lstStyle/>
          <a:p>
            <a:pPr marL="609600" indent="-609600"/>
            <a:r>
              <a:rPr lang="en-US" altLang="en-US" dirty="0">
                <a:solidFill>
                  <a:srgbClr val="00B050"/>
                </a:solidFill>
              </a:rPr>
              <a:t>Approach 3</a:t>
            </a:r>
            <a:r>
              <a:rPr lang="en-US" altLang="en-US" dirty="0"/>
              <a:t>: Density-based approach: take the diameter or average distance, e.g., and divide by the number of points in the cluster.</a:t>
            </a:r>
          </a:p>
          <a:p>
            <a:pPr lvl="1"/>
            <a:r>
              <a:rPr lang="en-US" altLang="en-US" dirty="0"/>
              <a:t>Perhaps raise the number of points to a power first, e.g., square-root.</a:t>
            </a:r>
          </a:p>
        </p:txBody>
      </p:sp>
    </p:spTree>
    <p:extLst>
      <p:ext uri="{BB962C8B-B14F-4D97-AF65-F5344CB8AC3E}">
        <p14:creationId xmlns:p14="http://schemas.microsoft.com/office/powerpoint/2010/main" val="125334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is Best?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really depends on the shape of clusters.</a:t>
            </a:r>
          </a:p>
          <a:p>
            <a:pPr lvl="1"/>
            <a:r>
              <a:rPr lang="en-US" dirty="0"/>
              <a:t>Which you may not know in advance.</a:t>
            </a:r>
          </a:p>
          <a:p>
            <a:r>
              <a:rPr lang="en-US" dirty="0">
                <a:solidFill>
                  <a:srgbClr val="00B050"/>
                </a:solidFill>
              </a:rPr>
              <a:t>Example</a:t>
            </a:r>
            <a:r>
              <a:rPr lang="en-US" dirty="0"/>
              <a:t>: we’ll compare two approaches: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Merge clusters with smallest distance between centroids (or </a:t>
            </a:r>
            <a:r>
              <a:rPr lang="en-US" dirty="0" err="1"/>
              <a:t>clustroids</a:t>
            </a:r>
            <a:r>
              <a:rPr lang="en-US" dirty="0"/>
              <a:t> for non-Euclidean).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Merge clusters with the smallest distance between two points, one from each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49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6720" cy="1143480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Case 1</a:t>
            </a:r>
            <a:r>
              <a:rPr lang="en-US" dirty="0"/>
              <a:t>: Convex Clusters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dirty="0"/>
              <a:t>Centroid-based merging works well.</a:t>
            </a:r>
          </a:p>
          <a:p>
            <a:r>
              <a:rPr lang="en-US" dirty="0"/>
              <a:t>But merger based on closest members might accidentally merge incorrectly.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066599-523B-4641-9CCC-17D83CD935ED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5130588" y="3505200"/>
            <a:ext cx="31615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and B have closer centroids</a:t>
            </a:r>
          </a:p>
          <a:p>
            <a:r>
              <a:rPr lang="en-US" dirty="0"/>
              <a:t>than A and C, but closest points</a:t>
            </a:r>
          </a:p>
          <a:p>
            <a:r>
              <a:rPr lang="en-US" dirty="0"/>
              <a:t>are from A and C.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934095" y="1528436"/>
            <a:ext cx="2685905" cy="1600200"/>
            <a:chOff x="4934095" y="1528436"/>
            <a:chExt cx="2685905" cy="1600200"/>
          </a:xfrm>
        </p:grpSpPr>
        <p:sp>
          <p:nvSpPr>
            <p:cNvPr id="4" name="Oval 3"/>
            <p:cNvSpPr/>
            <p:nvPr/>
          </p:nvSpPr>
          <p:spPr>
            <a:xfrm>
              <a:off x="4934095" y="1528436"/>
              <a:ext cx="1278080" cy="160020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6324600" y="1723112"/>
              <a:ext cx="1295400" cy="609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5544430" y="1945710"/>
              <a:ext cx="609600" cy="533400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7" name="Oval 26"/>
            <p:cNvSpPr/>
            <p:nvPr/>
          </p:nvSpPr>
          <p:spPr>
            <a:xfrm>
              <a:off x="5197354" y="2595236"/>
              <a:ext cx="609600" cy="533400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353924" y="1799312"/>
              <a:ext cx="609600" cy="529224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</p:grpSp>
      <p:sp>
        <p:nvSpPr>
          <p:cNvPr id="25" name="Oval 24"/>
          <p:cNvSpPr/>
          <p:nvPr/>
        </p:nvSpPr>
        <p:spPr>
          <a:xfrm>
            <a:off x="5472502" y="1671965"/>
            <a:ext cx="1573582" cy="923272"/>
          </a:xfrm>
          <a:prstGeom prst="ellipse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13A81D2-4B89-45EA-9E1E-38DA7791C1B4}"/>
                  </a:ext>
                </a:extLst>
              </p14:cNvPr>
              <p14:cNvContentPartPr/>
              <p14:nvPr/>
            </p14:nvContentPartPr>
            <p14:xfrm>
              <a:off x="5479920" y="2057400"/>
              <a:ext cx="3607200" cy="1130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13A81D2-4B89-45EA-9E1E-38DA7791C1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0560" y="2048040"/>
                <a:ext cx="3625920" cy="114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874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9" grpId="0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6720" cy="1143480"/>
          </a:xfrm>
        </p:spPr>
        <p:txBody>
          <a:bodyPr/>
          <a:lstStyle/>
          <a:p>
            <a:r>
              <a:rPr lang="en-US" dirty="0"/>
              <a:t>Case 2: Concentric Clusters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dirty="0"/>
              <a:t>Linking based on closest members works well.</a:t>
            </a:r>
          </a:p>
          <a:p>
            <a:r>
              <a:rPr lang="en-US" dirty="0"/>
              <a:t>But Centroid-based linking might cause errors.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066599-523B-4641-9CCC-17D83CD935ED}" type="slidenum">
              <a:rPr lang="en-GB" smtClean="0"/>
              <a:pPr/>
              <a:t>26</a:t>
            </a:fld>
            <a:endParaRPr lang="en-GB"/>
          </a:p>
        </p:txBody>
      </p:sp>
      <p:grpSp>
        <p:nvGrpSpPr>
          <p:cNvPr id="37" name="Group 36"/>
          <p:cNvGrpSpPr/>
          <p:nvPr/>
        </p:nvGrpSpPr>
        <p:grpSpPr>
          <a:xfrm>
            <a:off x="5767190" y="1577236"/>
            <a:ext cx="2590800" cy="2514600"/>
            <a:chOff x="5767190" y="1577236"/>
            <a:chExt cx="2590800" cy="2514600"/>
          </a:xfrm>
        </p:grpSpPr>
        <p:grpSp>
          <p:nvGrpSpPr>
            <p:cNvPr id="36" name="Group 35"/>
            <p:cNvGrpSpPr/>
            <p:nvPr/>
          </p:nvGrpSpPr>
          <p:grpSpPr>
            <a:xfrm>
              <a:off x="5767190" y="1577236"/>
              <a:ext cx="2590800" cy="2514600"/>
              <a:chOff x="5638800" y="1600200"/>
              <a:chExt cx="2590800" cy="2514600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5638800" y="1600200"/>
                <a:ext cx="2590800" cy="251460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026062" y="2057400"/>
                <a:ext cx="1730157" cy="1600200"/>
              </a:xfrm>
              <a:prstGeom prst="ellipse">
                <a:avLst/>
              </a:prstGeom>
              <a:solidFill>
                <a:schemeClr val="bg1"/>
              </a:solidFill>
              <a:ln w="9525" cmpd="sng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6416194" y="2400300"/>
                <a:ext cx="975205" cy="914400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Oval 28"/>
            <p:cNvSpPr/>
            <p:nvPr/>
          </p:nvSpPr>
          <p:spPr>
            <a:xfrm>
              <a:off x="6154452" y="1663859"/>
              <a:ext cx="966590" cy="420681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7138787" y="1663858"/>
              <a:ext cx="838203" cy="420681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6941502" y="2427440"/>
              <a:ext cx="609600" cy="432148"/>
            </a:xfrm>
            <a:prstGeom prst="ellipse">
              <a:avLst/>
            </a:prstGeom>
            <a:noFill/>
            <a:ln w="952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Oval 25"/>
          <p:cNvSpPr/>
          <p:nvPr/>
        </p:nvSpPr>
        <p:spPr>
          <a:xfrm>
            <a:off x="6858000" y="1526610"/>
            <a:ext cx="1295400" cy="1472852"/>
          </a:xfrm>
          <a:prstGeom prst="ellipse">
            <a:avLst/>
          </a:prstGeom>
          <a:noFill/>
          <a:ln w="952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0422CC-10CD-4B26-9915-DC0499B16F31}"/>
                  </a:ext>
                </a:extLst>
              </p14:cNvPr>
              <p14:cNvContentPartPr/>
              <p14:nvPr/>
            </p14:nvContentPartPr>
            <p14:xfrm>
              <a:off x="4743360" y="1847880"/>
              <a:ext cx="3677040" cy="3994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0422CC-10CD-4B26-9915-DC0499B16F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4000" y="1838520"/>
                <a:ext cx="3695760" cy="401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065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06679-6BF5-44AC-BDF7-4C8B0176E7A9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k</a:t>
            </a:r>
            <a:r>
              <a:rPr lang="en-US" altLang="en-US" dirty="0"/>
              <a:t>–Means Algorithm(s)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5486400"/>
          </a:xfrm>
        </p:spPr>
        <p:txBody>
          <a:bodyPr/>
          <a:lstStyle/>
          <a:p>
            <a:r>
              <a:rPr lang="en-US" altLang="en-US" dirty="0"/>
              <a:t>An example of point-assignment.</a:t>
            </a:r>
          </a:p>
          <a:p>
            <a:r>
              <a:rPr lang="en-US" altLang="en-US" dirty="0"/>
              <a:t>Assumes Euclidean space.</a:t>
            </a:r>
          </a:p>
          <a:p>
            <a:r>
              <a:rPr lang="en-US" altLang="en-US" dirty="0"/>
              <a:t>Start by picking </a:t>
            </a:r>
            <a:r>
              <a:rPr lang="en-US" altLang="en-US" i="1" dirty="0"/>
              <a:t>k</a:t>
            </a:r>
            <a:r>
              <a:rPr lang="en-US" altLang="en-US" dirty="0"/>
              <a:t>, the number of clusters.</a:t>
            </a:r>
          </a:p>
          <a:p>
            <a:r>
              <a:rPr lang="en-US" altLang="en-US" dirty="0"/>
              <a:t>Initialize clusters with a </a:t>
            </a:r>
            <a:r>
              <a:rPr lang="en-US" altLang="en-US" i="1" dirty="0">
                <a:solidFill>
                  <a:srgbClr val="FF0000"/>
                </a:solidFill>
              </a:rPr>
              <a:t>seed</a:t>
            </a:r>
            <a:r>
              <a:rPr lang="en-US" altLang="en-US" dirty="0"/>
              <a:t> (= one point per cluster).</a:t>
            </a:r>
          </a:p>
          <a:p>
            <a:pPr lvl="1"/>
            <a:r>
              <a:rPr lang="en-US" altLang="en-US" dirty="0">
                <a:solidFill>
                  <a:srgbClr val="00B050"/>
                </a:solidFill>
              </a:rPr>
              <a:t>Example</a:t>
            </a:r>
            <a:r>
              <a:rPr lang="en-US" altLang="en-US" dirty="0"/>
              <a:t>: pick one point at random, then  </a:t>
            </a:r>
            <a:r>
              <a:rPr lang="en-US" altLang="en-US" i="1" dirty="0"/>
              <a:t>k</a:t>
            </a:r>
            <a:r>
              <a:rPr lang="en-US" altLang="en-US" dirty="0"/>
              <a:t>-1 other points, each as far away as possible from the previous points.</a:t>
            </a:r>
          </a:p>
          <a:p>
            <a:pPr lvl="2"/>
            <a:r>
              <a:rPr lang="en-US" altLang="en-US" dirty="0"/>
              <a:t>OK, as long as there are no </a:t>
            </a:r>
            <a:r>
              <a:rPr lang="en-US" altLang="en-US" i="1" dirty="0">
                <a:solidFill>
                  <a:srgbClr val="FF0000"/>
                </a:solidFill>
              </a:rPr>
              <a:t>outliers</a:t>
            </a:r>
            <a:r>
              <a:rPr lang="en-US" altLang="en-US" dirty="0"/>
              <a:t> (points that are far from any reasonable cluster).</a:t>
            </a:r>
          </a:p>
        </p:txBody>
      </p:sp>
    </p:spTree>
    <p:extLst>
      <p:ext uri="{BB962C8B-B14F-4D97-AF65-F5344CB8AC3E}">
        <p14:creationId xmlns:p14="http://schemas.microsoft.com/office/powerpoint/2010/main" val="267490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Basic idea</a:t>
            </a:r>
            <a:r>
              <a:rPr lang="en-US" dirty="0"/>
              <a:t>: pick a small sample of points, cluster them by any algorithm, and use the centroids as a seed.</a:t>
            </a:r>
          </a:p>
          <a:p>
            <a:r>
              <a:rPr lang="en-US" dirty="0"/>
              <a:t>In k-means++, sample size = k times a factor that is logarithmic in the total number of points.</a:t>
            </a:r>
          </a:p>
          <a:p>
            <a:r>
              <a:rPr lang="en-US" dirty="0">
                <a:solidFill>
                  <a:srgbClr val="0070C0"/>
                </a:solidFill>
              </a:rPr>
              <a:t>How to pick sample points</a:t>
            </a:r>
            <a:r>
              <a:rPr lang="en-US" dirty="0"/>
              <a:t>: Visit points in random order, but the probability of adding a point p to the sample is proportional to D(p)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D(p) = distance between p and the nearest picked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38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| |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562600"/>
          </a:xfrm>
        </p:spPr>
        <p:txBody>
          <a:bodyPr>
            <a:normAutofit/>
          </a:bodyPr>
          <a:lstStyle/>
          <a:p>
            <a:r>
              <a:rPr lang="en-US" dirty="0"/>
              <a:t>k-means++, like other seed methods, is sequential.</a:t>
            </a:r>
          </a:p>
          <a:p>
            <a:pPr lvl="1"/>
            <a:r>
              <a:rPr lang="en-US" dirty="0"/>
              <a:t>You need to update D(p) for each unpicked p due to new point.</a:t>
            </a:r>
          </a:p>
          <a:p>
            <a:r>
              <a:rPr lang="en-US" dirty="0">
                <a:solidFill>
                  <a:srgbClr val="0070C0"/>
                </a:solidFill>
              </a:rPr>
              <a:t>Parallel approach</a:t>
            </a:r>
            <a:r>
              <a:rPr lang="en-US" dirty="0"/>
              <a:t>: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compute nodes can each handle a small set of points.</a:t>
            </a:r>
          </a:p>
          <a:p>
            <a:pPr lvl="1"/>
            <a:r>
              <a:rPr lang="en-US" dirty="0"/>
              <a:t>Each picks a few new sample points using same D(p).</a:t>
            </a:r>
          </a:p>
          <a:p>
            <a:r>
              <a:rPr lang="en-US" dirty="0">
                <a:solidFill>
                  <a:srgbClr val="FF0000"/>
                </a:solidFill>
              </a:rPr>
              <a:t>Really important and common trick</a:t>
            </a:r>
            <a:r>
              <a:rPr lang="en-US" dirty="0"/>
              <a:t>: don’t update after every selection; rather make many selections at one round.</a:t>
            </a:r>
          </a:p>
          <a:p>
            <a:pPr lvl="1"/>
            <a:r>
              <a:rPr lang="en-US" dirty="0"/>
              <a:t>Suboptimal picks don’t really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16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3815E-8581-42DE-A2FA-ACF3BBAA9405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Populating Clusters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dirty="0"/>
              <a:t>For each point, place it in the cluster whose current centroid it is nearest.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dirty="0"/>
              <a:t>After all points are assigned, fix the centroids of the </a:t>
            </a:r>
            <a:r>
              <a:rPr lang="en-US" altLang="en-US" i="1" dirty="0"/>
              <a:t>k</a:t>
            </a:r>
            <a:r>
              <a:rPr lang="en-US" altLang="en-US" dirty="0"/>
              <a:t> clusters.</a:t>
            </a:r>
          </a:p>
          <a:p>
            <a:pPr marL="609600" indent="-6096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 altLang="en-US" dirty="0">
                <a:solidFill>
                  <a:srgbClr val="00B0F0"/>
                </a:solidFill>
              </a:rPr>
              <a:t>Optional</a:t>
            </a:r>
            <a:r>
              <a:rPr lang="en-US" altLang="en-US" dirty="0"/>
              <a:t>: reassign all points to their closest centroid.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dirty="0"/>
              <a:t>Sometimes moves points between clusters.</a:t>
            </a:r>
          </a:p>
          <a:p>
            <a:pPr marL="990600" lvl="1" indent="-533400">
              <a:lnSpc>
                <a:spcPct val="90000"/>
              </a:lnSpc>
            </a:pPr>
            <a:r>
              <a:rPr lang="en-US" altLang="en-US" dirty="0"/>
              <a:t>You could then iterate, since new clusters have new centroids, which could change the assignment of some points.</a:t>
            </a:r>
          </a:p>
        </p:txBody>
      </p:sp>
    </p:spTree>
    <p:extLst>
      <p:ext uri="{BB962C8B-B14F-4D97-AF65-F5344CB8AC3E}">
        <p14:creationId xmlns:p14="http://schemas.microsoft.com/office/powerpoint/2010/main" val="78750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EA191-7567-4E7D-89B9-33D15B12783D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Assigning Clusters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870325" y="4308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1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5851525" y="2403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2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108325" y="4308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3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318125" y="30892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4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057400" y="4343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5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4784725" y="3775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6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1295400" y="4343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7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4479925" y="4308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8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2514600" y="43434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5089525" y="34702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grpSp>
        <p:nvGrpSpPr>
          <p:cNvPr id="26644" name="Group 20"/>
          <p:cNvGrpSpPr>
            <a:grpSpLocks/>
          </p:cNvGrpSpPr>
          <p:nvPr/>
        </p:nvGrpSpPr>
        <p:grpSpPr bwMode="auto">
          <a:xfrm>
            <a:off x="1219200" y="2133600"/>
            <a:ext cx="5580063" cy="3919538"/>
            <a:chOff x="768" y="1344"/>
            <a:chExt cx="3515" cy="2469"/>
          </a:xfrm>
        </p:grpSpPr>
        <p:sp>
          <p:nvSpPr>
            <p:cNvPr id="26638" name="Oval 14"/>
            <p:cNvSpPr>
              <a:spLocks noChangeArrowheads="1"/>
            </p:cNvSpPr>
            <p:nvPr/>
          </p:nvSpPr>
          <p:spPr bwMode="auto">
            <a:xfrm>
              <a:off x="768" y="2640"/>
              <a:ext cx="1968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Oval 15"/>
            <p:cNvSpPr>
              <a:spLocks noChangeArrowheads="1"/>
            </p:cNvSpPr>
            <p:nvPr/>
          </p:nvSpPr>
          <p:spPr bwMode="auto">
            <a:xfrm rot="-14180680">
              <a:off x="2424" y="2040"/>
              <a:ext cx="1872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2" name="Text Box 18"/>
            <p:cNvSpPr txBox="1">
              <a:spLocks noChangeArrowheads="1"/>
            </p:cNvSpPr>
            <p:nvPr/>
          </p:nvSpPr>
          <p:spPr bwMode="auto">
            <a:xfrm>
              <a:off x="2102" y="3525"/>
              <a:ext cx="21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Clusters after first round</a:t>
              </a:r>
            </a:p>
          </p:txBody>
        </p:sp>
      </p:grpSp>
      <p:grpSp>
        <p:nvGrpSpPr>
          <p:cNvPr id="26645" name="Group 21"/>
          <p:cNvGrpSpPr>
            <a:grpSpLocks/>
          </p:cNvGrpSpPr>
          <p:nvPr/>
        </p:nvGrpSpPr>
        <p:grpSpPr bwMode="auto">
          <a:xfrm>
            <a:off x="1050925" y="1905000"/>
            <a:ext cx="4968875" cy="3352800"/>
            <a:chOff x="662" y="1200"/>
            <a:chExt cx="3130" cy="2112"/>
          </a:xfrm>
        </p:grpSpPr>
        <p:sp>
          <p:nvSpPr>
            <p:cNvPr id="26640" name="Oval 16"/>
            <p:cNvSpPr>
              <a:spLocks noChangeArrowheads="1"/>
            </p:cNvSpPr>
            <p:nvPr/>
          </p:nvSpPr>
          <p:spPr bwMode="auto">
            <a:xfrm>
              <a:off x="768" y="2496"/>
              <a:ext cx="1440" cy="720"/>
            </a:xfrm>
            <a:prstGeom prst="ellipse">
              <a:avLst/>
            </a:prstGeom>
            <a:solidFill>
              <a:srgbClr val="CCFFCC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1" name="Oval 17"/>
            <p:cNvSpPr>
              <a:spLocks noChangeArrowheads="1"/>
            </p:cNvSpPr>
            <p:nvPr/>
          </p:nvSpPr>
          <p:spPr bwMode="auto">
            <a:xfrm rot="2080527">
              <a:off x="2640" y="1200"/>
              <a:ext cx="1152" cy="2112"/>
            </a:xfrm>
            <a:prstGeom prst="ellipse">
              <a:avLst/>
            </a:prstGeom>
            <a:solidFill>
              <a:srgbClr val="FFCC0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3" name="Text Box 19"/>
            <p:cNvSpPr txBox="1">
              <a:spLocks noChangeArrowheads="1"/>
            </p:cNvSpPr>
            <p:nvPr/>
          </p:nvSpPr>
          <p:spPr bwMode="auto">
            <a:xfrm>
              <a:off x="662" y="1557"/>
              <a:ext cx="1073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Reassigned</a:t>
              </a:r>
            </a:p>
            <a:p>
              <a:r>
                <a:rPr lang="en-US" altLang="en-US"/>
                <a:t>points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EC8C43-8A02-4034-AA42-43935B0A8A16}"/>
                  </a:ext>
                </a:extLst>
              </p14:cNvPr>
              <p14:cNvContentPartPr/>
              <p14:nvPr/>
            </p14:nvContentPartPr>
            <p14:xfrm>
              <a:off x="2317680" y="2736720"/>
              <a:ext cx="5245560" cy="292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EC8C43-8A02-4034-AA42-43935B0A8A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8320" y="2727360"/>
                <a:ext cx="5264280" cy="294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047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utoUpdateAnimBg="0"/>
      <p:bldP spid="26630" grpId="0" autoUpdateAnimBg="0"/>
      <p:bldP spid="26631" grpId="0" autoUpdateAnimBg="0"/>
      <p:bldP spid="26632" grpId="0" autoUpdateAnimBg="0"/>
      <p:bldP spid="26633" grpId="0" autoUpdateAnimBg="0"/>
      <p:bldP spid="26634" grpId="0" autoUpdateAnimBg="0"/>
      <p:bldP spid="26636" grpId="0" autoUpdateAnimBg="0"/>
      <p:bldP spid="2663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92D01-A06D-4D9E-874E-6B82ED0E38EF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Getting </a:t>
            </a:r>
            <a:r>
              <a:rPr lang="en-US" altLang="en-US" i="1" dirty="0"/>
              <a:t>k</a:t>
            </a:r>
            <a:r>
              <a:rPr lang="en-US" altLang="en-US" dirty="0"/>
              <a:t> Right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Try different </a:t>
            </a:r>
            <a:r>
              <a:rPr lang="en-US" altLang="en-US" i="1" dirty="0"/>
              <a:t>k</a:t>
            </a:r>
            <a:r>
              <a:rPr lang="en-US" altLang="en-US" dirty="0"/>
              <a:t>, looking at the change in the average distance to centroid, as </a:t>
            </a:r>
            <a:r>
              <a:rPr lang="en-US" altLang="en-US" i="1" dirty="0"/>
              <a:t>k</a:t>
            </a:r>
            <a:r>
              <a:rPr lang="en-US" altLang="en-US" dirty="0"/>
              <a:t>  increases.</a:t>
            </a:r>
          </a:p>
          <a:p>
            <a:r>
              <a:rPr lang="en-US" altLang="en-US" dirty="0"/>
              <a:t>Average falls rapidly until right </a:t>
            </a:r>
            <a:r>
              <a:rPr lang="en-US" altLang="en-US" i="1" dirty="0"/>
              <a:t>k</a:t>
            </a:r>
            <a:r>
              <a:rPr lang="en-US" altLang="en-US" dirty="0"/>
              <a:t>, then changes little.</a:t>
            </a:r>
          </a:p>
        </p:txBody>
      </p:sp>
      <p:grpSp>
        <p:nvGrpSpPr>
          <p:cNvPr id="43025" name="Group 17"/>
          <p:cNvGrpSpPr>
            <a:grpSpLocks/>
          </p:cNvGrpSpPr>
          <p:nvPr/>
        </p:nvGrpSpPr>
        <p:grpSpPr bwMode="auto">
          <a:xfrm>
            <a:off x="822325" y="3581400"/>
            <a:ext cx="4130675" cy="2928938"/>
            <a:chOff x="518" y="2976"/>
            <a:chExt cx="2602" cy="1125"/>
          </a:xfrm>
        </p:grpSpPr>
        <p:grpSp>
          <p:nvGrpSpPr>
            <p:cNvPr id="43023" name="Group 15"/>
            <p:cNvGrpSpPr>
              <a:grpSpLocks/>
            </p:cNvGrpSpPr>
            <p:nvPr/>
          </p:nvGrpSpPr>
          <p:grpSpPr bwMode="auto">
            <a:xfrm>
              <a:off x="1632" y="3024"/>
              <a:ext cx="1488" cy="768"/>
              <a:chOff x="1632" y="3024"/>
              <a:chExt cx="1488" cy="768"/>
            </a:xfrm>
          </p:grpSpPr>
          <p:sp>
            <p:nvSpPr>
              <p:cNvPr id="43012" name="Line 4"/>
              <p:cNvSpPr>
                <a:spLocks noChangeShapeType="1"/>
              </p:cNvSpPr>
              <p:nvPr/>
            </p:nvSpPr>
            <p:spPr bwMode="auto">
              <a:xfrm>
                <a:off x="1632" y="3024"/>
                <a:ext cx="24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13" name="Line 5"/>
              <p:cNvSpPr>
                <a:spLocks noChangeShapeType="1"/>
              </p:cNvSpPr>
              <p:nvPr/>
            </p:nvSpPr>
            <p:spPr bwMode="auto">
              <a:xfrm>
                <a:off x="1872" y="3360"/>
                <a:ext cx="336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14" name="Line 6"/>
              <p:cNvSpPr>
                <a:spLocks noChangeShapeType="1"/>
              </p:cNvSpPr>
              <p:nvPr/>
            </p:nvSpPr>
            <p:spPr bwMode="auto">
              <a:xfrm>
                <a:off x="2208" y="3600"/>
                <a:ext cx="336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15" name="Line 7"/>
              <p:cNvSpPr>
                <a:spLocks noChangeShapeType="1"/>
              </p:cNvSpPr>
              <p:nvPr/>
            </p:nvSpPr>
            <p:spPr bwMode="auto">
              <a:xfrm>
                <a:off x="2544" y="3744"/>
                <a:ext cx="576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022" name="Group 14"/>
            <p:cNvGrpSpPr>
              <a:grpSpLocks/>
            </p:cNvGrpSpPr>
            <p:nvPr/>
          </p:nvGrpSpPr>
          <p:grpSpPr bwMode="auto">
            <a:xfrm>
              <a:off x="518" y="2976"/>
              <a:ext cx="1738" cy="1125"/>
              <a:chOff x="518" y="2976"/>
              <a:chExt cx="1738" cy="1125"/>
            </a:xfrm>
          </p:grpSpPr>
          <p:sp>
            <p:nvSpPr>
              <p:cNvPr id="43016" name="Text Box 8"/>
              <p:cNvSpPr txBox="1">
                <a:spLocks noChangeArrowheads="1"/>
              </p:cNvSpPr>
              <p:nvPr/>
            </p:nvSpPr>
            <p:spPr bwMode="auto">
              <a:xfrm>
                <a:off x="1814" y="3813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i="1"/>
                  <a:t>k</a:t>
                </a:r>
              </a:p>
            </p:txBody>
          </p:sp>
          <p:sp>
            <p:nvSpPr>
              <p:cNvPr id="43017" name="Text Box 9"/>
              <p:cNvSpPr txBox="1">
                <a:spLocks noChangeArrowheads="1"/>
              </p:cNvSpPr>
              <p:nvPr/>
            </p:nvSpPr>
            <p:spPr bwMode="auto">
              <a:xfrm>
                <a:off x="518" y="3141"/>
                <a:ext cx="1042" cy="7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/>
                  <a:t>Average</a:t>
                </a:r>
              </a:p>
              <a:p>
                <a:r>
                  <a:rPr lang="en-US" altLang="en-US"/>
                  <a:t>distance to</a:t>
                </a:r>
              </a:p>
              <a:p>
                <a:r>
                  <a:rPr lang="en-US" altLang="en-US"/>
                  <a:t>centroid</a:t>
                </a:r>
              </a:p>
            </p:txBody>
          </p:sp>
          <p:sp>
            <p:nvSpPr>
              <p:cNvPr id="43018" name="Line 10"/>
              <p:cNvSpPr>
                <a:spLocks noChangeShapeType="1"/>
              </p:cNvSpPr>
              <p:nvPr/>
            </p:nvSpPr>
            <p:spPr bwMode="auto">
              <a:xfrm flipV="1">
                <a:off x="912" y="297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19" name="Line 11"/>
              <p:cNvSpPr>
                <a:spLocks noChangeShapeType="1"/>
              </p:cNvSpPr>
              <p:nvPr/>
            </p:nvSpPr>
            <p:spPr bwMode="auto">
              <a:xfrm>
                <a:off x="2064" y="3909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3024" name="Group 16"/>
          <p:cNvGrpSpPr>
            <a:grpSpLocks/>
          </p:cNvGrpSpPr>
          <p:nvPr/>
        </p:nvGrpSpPr>
        <p:grpSpPr bwMode="auto">
          <a:xfrm>
            <a:off x="4038600" y="4471226"/>
            <a:ext cx="1630363" cy="1109662"/>
            <a:chOff x="2544" y="2997"/>
            <a:chExt cx="1027" cy="699"/>
          </a:xfrm>
        </p:grpSpPr>
        <p:sp>
          <p:nvSpPr>
            <p:cNvPr id="43020" name="Text Box 12"/>
            <p:cNvSpPr txBox="1">
              <a:spLocks noChangeArrowheads="1"/>
            </p:cNvSpPr>
            <p:nvPr/>
          </p:nvSpPr>
          <p:spPr bwMode="auto">
            <a:xfrm>
              <a:off x="2582" y="2997"/>
              <a:ext cx="98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Best value</a:t>
              </a:r>
            </a:p>
            <a:p>
              <a:r>
                <a:rPr lang="en-US" altLang="en-US" dirty="0"/>
                <a:t>of </a:t>
              </a:r>
              <a:r>
                <a:rPr lang="en-US" altLang="en-US" i="1" dirty="0"/>
                <a:t>k</a:t>
              </a: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2544" y="336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668963" y="3706368"/>
            <a:ext cx="26581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Note: binary search</a:t>
            </a:r>
          </a:p>
          <a:p>
            <a:r>
              <a:rPr lang="en-US" sz="2400" dirty="0"/>
              <a:t>for k is possible.</a:t>
            </a:r>
          </a:p>
        </p:txBody>
      </p:sp>
    </p:spTree>
    <p:extLst>
      <p:ext uri="{BB962C8B-B14F-4D97-AF65-F5344CB8AC3E}">
        <p14:creationId xmlns:p14="http://schemas.microsoft.com/office/powerpoint/2010/main" val="100708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3708-D8D7-4751-8527-A9244DA69CF4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Picking </a:t>
            </a:r>
            <a:r>
              <a:rPr lang="en-US" altLang="en-US" i="1" dirty="0"/>
              <a:t>k</a:t>
            </a:r>
          </a:p>
        </p:txBody>
      </p:sp>
      <p:sp>
        <p:nvSpPr>
          <p:cNvPr id="44035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    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 x  x     </a:t>
            </a:r>
          </a:p>
          <a:p>
            <a:pPr algn="ctr"/>
            <a:r>
              <a:rPr lang="en-US" altLang="en-US">
                <a:latin typeface="Times New Roman" charset="0"/>
              </a:rPr>
              <a:t>x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</a:t>
            </a: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xx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  </a:t>
            </a:r>
          </a:p>
          <a:p>
            <a:pPr algn="ctr"/>
            <a:r>
              <a:rPr lang="en-US" altLang="en-US">
                <a:latin typeface="Times New Roman" charset="0"/>
              </a:rPr>
              <a:t>x    x  x   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 x   x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     x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x    x</a:t>
            </a:r>
          </a:p>
          <a:p>
            <a:pPr algn="ctr"/>
            <a:r>
              <a:rPr lang="en-US" altLang="en-US">
                <a:latin typeface="Times New Roman" charset="0"/>
              </a:rPr>
              <a:t>  x    x     x</a:t>
            </a:r>
          </a:p>
          <a:p>
            <a:pPr algn="ctr"/>
            <a:r>
              <a:rPr lang="en-US" altLang="en-US">
                <a:latin typeface="Times New Roman" charset="0"/>
              </a:rPr>
              <a:t>x  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2438400" y="1600200"/>
            <a:ext cx="5334000" cy="3048000"/>
          </a:xfrm>
          <a:prstGeom prst="ellipse">
            <a:avLst/>
          </a:prstGeom>
          <a:solidFill>
            <a:srgbClr val="CCFF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1" name="Oval 9"/>
          <p:cNvSpPr>
            <a:spLocks noChangeArrowheads="1"/>
          </p:cNvSpPr>
          <p:nvPr/>
        </p:nvSpPr>
        <p:spPr bwMode="auto">
          <a:xfrm>
            <a:off x="3505200" y="4724400"/>
            <a:ext cx="3581400" cy="16764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048" name="Group 16"/>
          <p:cNvGrpSpPr>
            <a:grpSpLocks/>
          </p:cNvGrpSpPr>
          <p:nvPr/>
        </p:nvGrpSpPr>
        <p:grpSpPr bwMode="auto">
          <a:xfrm>
            <a:off x="441325" y="1709738"/>
            <a:ext cx="5959475" cy="2328862"/>
            <a:chOff x="278" y="1077"/>
            <a:chExt cx="3754" cy="1467"/>
          </a:xfrm>
        </p:grpSpPr>
        <p:sp>
          <p:nvSpPr>
            <p:cNvPr id="44042" name="Line 10"/>
            <p:cNvSpPr>
              <a:spLocks noChangeShapeType="1"/>
            </p:cNvSpPr>
            <p:nvPr/>
          </p:nvSpPr>
          <p:spPr bwMode="auto">
            <a:xfrm flipH="1" flipV="1">
              <a:off x="2112" y="1728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3" name="Line 11"/>
            <p:cNvSpPr>
              <a:spLocks noChangeShapeType="1"/>
            </p:cNvSpPr>
            <p:nvPr/>
          </p:nvSpPr>
          <p:spPr bwMode="auto">
            <a:xfrm flipH="1">
              <a:off x="2112" y="2016"/>
              <a:ext cx="105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4" name="Line 12"/>
            <p:cNvSpPr>
              <a:spLocks noChangeShapeType="1"/>
            </p:cNvSpPr>
            <p:nvPr/>
          </p:nvSpPr>
          <p:spPr bwMode="auto">
            <a:xfrm>
              <a:off x="3168" y="2016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5" name="Line 13"/>
            <p:cNvSpPr>
              <a:spLocks noChangeShapeType="1"/>
            </p:cNvSpPr>
            <p:nvPr/>
          </p:nvSpPr>
          <p:spPr bwMode="auto">
            <a:xfrm flipV="1">
              <a:off x="3168" y="1680"/>
              <a:ext cx="72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6" name="Line 14"/>
            <p:cNvSpPr>
              <a:spLocks noChangeShapeType="1"/>
            </p:cNvSpPr>
            <p:nvPr/>
          </p:nvSpPr>
          <p:spPr bwMode="auto">
            <a:xfrm flipV="1">
              <a:off x="3168" y="1200"/>
              <a:ext cx="81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7" name="Text Box 15"/>
            <p:cNvSpPr txBox="1">
              <a:spLocks noChangeArrowheads="1"/>
            </p:cNvSpPr>
            <p:nvPr/>
          </p:nvSpPr>
          <p:spPr bwMode="auto">
            <a:xfrm>
              <a:off x="278" y="1077"/>
              <a:ext cx="1125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Too few clusters;</a:t>
              </a:r>
            </a:p>
            <a:p>
              <a:r>
                <a:rPr lang="en-US" altLang="en-US" dirty="0"/>
                <a:t>many long</a:t>
              </a:r>
            </a:p>
            <a:p>
              <a:r>
                <a:rPr lang="en-US" altLang="en-US" dirty="0"/>
                <a:t>distances</a:t>
              </a:r>
            </a:p>
            <a:p>
              <a:r>
                <a:rPr lang="en-US" altLang="en-US" dirty="0"/>
                <a:t>to centroid.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080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8CB1F-61F8-48E4-85CA-2369E9F7EFB6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Picking </a:t>
            </a:r>
            <a:r>
              <a:rPr lang="en-US" altLang="en-US" i="1"/>
              <a:t>k</a:t>
            </a:r>
          </a:p>
        </p:txBody>
      </p:sp>
      <p:sp>
        <p:nvSpPr>
          <p:cNvPr id="47107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    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 x  x     </a:t>
            </a:r>
          </a:p>
          <a:p>
            <a:pPr algn="ctr"/>
            <a:r>
              <a:rPr lang="en-US" altLang="en-US">
                <a:latin typeface="Times New Roman" charset="0"/>
              </a:rPr>
              <a:t>x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xx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  </a:t>
            </a:r>
          </a:p>
          <a:p>
            <a:pPr algn="ctr"/>
            <a:r>
              <a:rPr lang="en-US" altLang="en-US">
                <a:latin typeface="Times New Roman" charset="0"/>
              </a:rPr>
              <a:t>x    x  x   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 x   x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     x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x    x</a:t>
            </a:r>
          </a:p>
          <a:p>
            <a:pPr algn="ctr"/>
            <a:r>
              <a:rPr lang="en-US" altLang="en-US">
                <a:latin typeface="Times New Roman" charset="0"/>
              </a:rPr>
              <a:t>  x    x     x</a:t>
            </a:r>
          </a:p>
          <a:p>
            <a:pPr algn="ctr"/>
            <a:r>
              <a:rPr lang="en-US" altLang="en-US">
                <a:latin typeface="Times New Roman" charset="0"/>
              </a:rPr>
              <a:t>x  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7113" name="Oval 9"/>
          <p:cNvSpPr>
            <a:spLocks noChangeArrowheads="1"/>
          </p:cNvSpPr>
          <p:nvPr/>
        </p:nvSpPr>
        <p:spPr bwMode="auto">
          <a:xfrm>
            <a:off x="3505200" y="4724400"/>
            <a:ext cx="3581400" cy="16764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1" name="Oval 17"/>
          <p:cNvSpPr>
            <a:spLocks noChangeArrowheads="1"/>
          </p:cNvSpPr>
          <p:nvPr/>
        </p:nvSpPr>
        <p:spPr bwMode="auto">
          <a:xfrm>
            <a:off x="2743200" y="2514600"/>
            <a:ext cx="1905000" cy="1905000"/>
          </a:xfrm>
          <a:prstGeom prst="ellipse">
            <a:avLst/>
          </a:prstGeom>
          <a:solidFill>
            <a:srgbClr val="CCFF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2" name="Oval 18"/>
          <p:cNvSpPr>
            <a:spLocks noChangeArrowheads="1"/>
          </p:cNvSpPr>
          <p:nvPr/>
        </p:nvSpPr>
        <p:spPr bwMode="auto">
          <a:xfrm>
            <a:off x="4648200" y="1447800"/>
            <a:ext cx="2819400" cy="28956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7133" name="Group 29"/>
          <p:cNvGrpSpPr>
            <a:grpSpLocks/>
          </p:cNvGrpSpPr>
          <p:nvPr/>
        </p:nvGrpSpPr>
        <p:grpSpPr bwMode="auto">
          <a:xfrm>
            <a:off x="669925" y="1862138"/>
            <a:ext cx="5807075" cy="4081462"/>
            <a:chOff x="422" y="1173"/>
            <a:chExt cx="3658" cy="2571"/>
          </a:xfrm>
        </p:grpSpPr>
        <p:sp>
          <p:nvSpPr>
            <p:cNvPr id="47123" name="Line 19"/>
            <p:cNvSpPr>
              <a:spLocks noChangeShapeType="1"/>
            </p:cNvSpPr>
            <p:nvPr/>
          </p:nvSpPr>
          <p:spPr bwMode="auto">
            <a:xfrm flipH="1" flipV="1">
              <a:off x="2112" y="196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4" name="Line 20"/>
            <p:cNvSpPr>
              <a:spLocks noChangeShapeType="1"/>
            </p:cNvSpPr>
            <p:nvPr/>
          </p:nvSpPr>
          <p:spPr bwMode="auto">
            <a:xfrm flipV="1">
              <a:off x="2304" y="1968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5" name="Line 21"/>
            <p:cNvSpPr>
              <a:spLocks noChangeShapeType="1"/>
            </p:cNvSpPr>
            <p:nvPr/>
          </p:nvSpPr>
          <p:spPr bwMode="auto">
            <a:xfrm flipH="1">
              <a:off x="2208" y="2160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6" name="Line 22"/>
            <p:cNvSpPr>
              <a:spLocks noChangeShapeType="1"/>
            </p:cNvSpPr>
            <p:nvPr/>
          </p:nvSpPr>
          <p:spPr bwMode="auto">
            <a:xfrm flipH="1" flipV="1">
              <a:off x="3120" y="3408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7" name="Line 23"/>
            <p:cNvSpPr>
              <a:spLocks noChangeShapeType="1"/>
            </p:cNvSpPr>
            <p:nvPr/>
          </p:nvSpPr>
          <p:spPr bwMode="auto">
            <a:xfrm flipV="1">
              <a:off x="3312" y="3168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8" name="Line 24"/>
            <p:cNvSpPr>
              <a:spLocks noChangeShapeType="1"/>
            </p:cNvSpPr>
            <p:nvPr/>
          </p:nvSpPr>
          <p:spPr bwMode="auto">
            <a:xfrm>
              <a:off x="3312" y="345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9" name="Line 25"/>
            <p:cNvSpPr>
              <a:spLocks noChangeShapeType="1"/>
            </p:cNvSpPr>
            <p:nvPr/>
          </p:nvSpPr>
          <p:spPr bwMode="auto">
            <a:xfrm flipH="1" flipV="1">
              <a:off x="3312" y="1296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0" name="Line 26"/>
            <p:cNvSpPr>
              <a:spLocks noChangeShapeType="1"/>
            </p:cNvSpPr>
            <p:nvPr/>
          </p:nvSpPr>
          <p:spPr bwMode="auto">
            <a:xfrm>
              <a:off x="3792" y="182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1" name="Line 27"/>
            <p:cNvSpPr>
              <a:spLocks noChangeShapeType="1"/>
            </p:cNvSpPr>
            <p:nvPr/>
          </p:nvSpPr>
          <p:spPr bwMode="auto">
            <a:xfrm>
              <a:off x="3792" y="1824"/>
              <a:ext cx="14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32" name="Text Box 28"/>
            <p:cNvSpPr txBox="1">
              <a:spLocks noChangeArrowheads="1"/>
            </p:cNvSpPr>
            <p:nvPr/>
          </p:nvSpPr>
          <p:spPr bwMode="auto">
            <a:xfrm>
              <a:off x="422" y="1173"/>
              <a:ext cx="1175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Just right;</a:t>
              </a:r>
            </a:p>
            <a:p>
              <a:r>
                <a:rPr lang="en-US" altLang="en-US"/>
                <a:t>distances</a:t>
              </a:r>
            </a:p>
            <a:p>
              <a:r>
                <a:rPr lang="en-US" altLang="en-US"/>
                <a:t>rather short.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4819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56B7B-BCB3-4C24-AC3F-B8A7D6CA636A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33CC33"/>
                </a:solidFill>
              </a:rPr>
              <a:t>Example</a:t>
            </a:r>
            <a:r>
              <a:rPr lang="en-US" altLang="en-US"/>
              <a:t>: Picking </a:t>
            </a:r>
            <a:r>
              <a:rPr lang="en-US" altLang="en-US" i="1"/>
              <a:t>k</a:t>
            </a:r>
          </a:p>
        </p:txBody>
      </p:sp>
      <p:sp>
        <p:nvSpPr>
          <p:cNvPr id="48131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    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 x  x     </a:t>
            </a:r>
          </a:p>
          <a:p>
            <a:pPr algn="ctr"/>
            <a:r>
              <a:rPr lang="en-US" altLang="en-US">
                <a:latin typeface="Times New Roman" charset="0"/>
              </a:rPr>
              <a:t>x     x  x</a:t>
            </a:r>
          </a:p>
          <a:p>
            <a:pPr algn="ctr"/>
            <a:r>
              <a:rPr lang="en-US" altLang="en-US">
                <a:latin typeface="Times New Roman" charset="0"/>
              </a:rPr>
              <a:t>x   x</a:t>
            </a:r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80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xx 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    </a:t>
            </a:r>
          </a:p>
          <a:p>
            <a:pPr algn="ctr"/>
            <a:r>
              <a:rPr lang="en-US" altLang="en-US">
                <a:latin typeface="Times New Roman" charset="0"/>
              </a:rPr>
              <a:t>x    x  x   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  <a:p>
            <a:pPr algn="ctr"/>
            <a:r>
              <a:rPr lang="en-US" altLang="en-US">
                <a:latin typeface="Times New Roman" charset="0"/>
              </a:rPr>
              <a:t>x x   x</a:t>
            </a:r>
          </a:p>
          <a:p>
            <a:pPr algn="ctr"/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8133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>
                <a:latin typeface="Times New Roman" charset="0"/>
              </a:rPr>
              <a:t>     x   x</a:t>
            </a:r>
          </a:p>
          <a:p>
            <a:pPr algn="ctr"/>
            <a:r>
              <a:rPr lang="en-US" altLang="en-US">
                <a:latin typeface="Times New Roman" charset="0"/>
              </a:rPr>
              <a:t>x  x    x    x</a:t>
            </a:r>
          </a:p>
          <a:p>
            <a:pPr algn="ctr"/>
            <a:r>
              <a:rPr lang="en-US" altLang="en-US">
                <a:latin typeface="Times New Roman" charset="0"/>
              </a:rPr>
              <a:t>  x    x     x</a:t>
            </a:r>
          </a:p>
          <a:p>
            <a:pPr algn="ctr"/>
            <a:r>
              <a:rPr lang="en-US" altLang="en-US">
                <a:latin typeface="Times New Roman" charset="0"/>
              </a:rPr>
              <a:t>x  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</a:rPr>
              <a:t>x</a:t>
            </a:r>
          </a:p>
        </p:txBody>
      </p:sp>
      <p:sp>
        <p:nvSpPr>
          <p:cNvPr id="48137" name="Oval 9"/>
          <p:cNvSpPr>
            <a:spLocks noChangeArrowheads="1"/>
          </p:cNvSpPr>
          <p:nvPr/>
        </p:nvSpPr>
        <p:spPr bwMode="auto">
          <a:xfrm>
            <a:off x="3505200" y="4724400"/>
            <a:ext cx="3581400" cy="16764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5" name="Oval 17"/>
          <p:cNvSpPr>
            <a:spLocks noChangeArrowheads="1"/>
          </p:cNvSpPr>
          <p:nvPr/>
        </p:nvSpPr>
        <p:spPr bwMode="auto">
          <a:xfrm>
            <a:off x="2819400" y="2514600"/>
            <a:ext cx="1752600" cy="1905000"/>
          </a:xfrm>
          <a:prstGeom prst="ellipse">
            <a:avLst/>
          </a:prstGeom>
          <a:solidFill>
            <a:srgbClr val="CCFF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6" name="Oval 18"/>
          <p:cNvSpPr>
            <a:spLocks noChangeArrowheads="1"/>
          </p:cNvSpPr>
          <p:nvPr/>
        </p:nvSpPr>
        <p:spPr bwMode="auto">
          <a:xfrm>
            <a:off x="5029200" y="1524000"/>
            <a:ext cx="2133600" cy="16002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7" name="Oval 19"/>
          <p:cNvSpPr>
            <a:spLocks noChangeArrowheads="1"/>
          </p:cNvSpPr>
          <p:nvPr/>
        </p:nvSpPr>
        <p:spPr bwMode="auto">
          <a:xfrm>
            <a:off x="5867400" y="3200400"/>
            <a:ext cx="990600" cy="1066800"/>
          </a:xfrm>
          <a:prstGeom prst="ellipse">
            <a:avLst/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8156" name="Group 28"/>
          <p:cNvGrpSpPr>
            <a:grpSpLocks/>
          </p:cNvGrpSpPr>
          <p:nvPr/>
        </p:nvGrpSpPr>
        <p:grpSpPr bwMode="auto">
          <a:xfrm>
            <a:off x="593725" y="1633538"/>
            <a:ext cx="5959475" cy="2328862"/>
            <a:chOff x="374" y="1029"/>
            <a:chExt cx="3754" cy="1467"/>
          </a:xfrm>
        </p:grpSpPr>
        <p:sp>
          <p:nvSpPr>
            <p:cNvPr id="48148" name="Line 20"/>
            <p:cNvSpPr>
              <a:spLocks noChangeShapeType="1"/>
            </p:cNvSpPr>
            <p:nvPr/>
          </p:nvSpPr>
          <p:spPr bwMode="auto">
            <a:xfrm flipH="1" flipV="1">
              <a:off x="3360" y="1296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9" name="Line 21"/>
            <p:cNvSpPr>
              <a:spLocks noChangeShapeType="1"/>
            </p:cNvSpPr>
            <p:nvPr/>
          </p:nvSpPr>
          <p:spPr bwMode="auto">
            <a:xfrm flipV="1">
              <a:off x="3792" y="1440"/>
              <a:ext cx="33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0" name="Line 22"/>
            <p:cNvSpPr>
              <a:spLocks noChangeShapeType="1"/>
            </p:cNvSpPr>
            <p:nvPr/>
          </p:nvSpPr>
          <p:spPr bwMode="auto">
            <a:xfrm>
              <a:off x="3792" y="148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2" name="Line 24"/>
            <p:cNvSpPr>
              <a:spLocks noChangeShapeType="1"/>
            </p:cNvSpPr>
            <p:nvPr/>
          </p:nvSpPr>
          <p:spPr bwMode="auto">
            <a:xfrm flipV="1">
              <a:off x="3984" y="21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3" name="Line 25"/>
            <p:cNvSpPr>
              <a:spLocks noChangeShapeType="1"/>
            </p:cNvSpPr>
            <p:nvPr/>
          </p:nvSpPr>
          <p:spPr bwMode="auto">
            <a:xfrm>
              <a:off x="3984" y="23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4" name="Line 26"/>
            <p:cNvSpPr>
              <a:spLocks noChangeShapeType="1"/>
            </p:cNvSpPr>
            <p:nvPr/>
          </p:nvSpPr>
          <p:spPr bwMode="auto">
            <a:xfrm flipH="1">
              <a:off x="3936" y="2352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5" name="Text Box 27"/>
            <p:cNvSpPr txBox="1">
              <a:spLocks noChangeArrowheads="1"/>
            </p:cNvSpPr>
            <p:nvPr/>
          </p:nvSpPr>
          <p:spPr bwMode="auto">
            <a:xfrm>
              <a:off x="374" y="1029"/>
              <a:ext cx="1310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Too many clusters;</a:t>
              </a:r>
            </a:p>
            <a:p>
              <a:r>
                <a:rPr lang="en-US" altLang="en-US" dirty="0"/>
                <a:t>little improvement</a:t>
              </a:r>
            </a:p>
            <a:p>
              <a:r>
                <a:rPr lang="en-US" altLang="en-US" dirty="0"/>
                <a:t>in average distance.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628A6D-175B-48B7-B34C-59ED1CDA993C}"/>
                  </a:ext>
                </a:extLst>
              </p14:cNvPr>
              <p14:cNvContentPartPr/>
              <p14:nvPr/>
            </p14:nvContentPartPr>
            <p14:xfrm>
              <a:off x="711360" y="2241720"/>
              <a:ext cx="2394000" cy="3060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628A6D-175B-48B7-B34C-59ED1CDA99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000" y="2232360"/>
                <a:ext cx="2412720" cy="30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9430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68C33-EF5A-415A-A538-406A91D4DCB7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BFR Algorithm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763000" cy="5257801"/>
          </a:xfrm>
        </p:spPr>
        <p:txBody>
          <a:bodyPr/>
          <a:lstStyle/>
          <a:p>
            <a:r>
              <a:rPr lang="en-US" altLang="en-US" dirty="0"/>
              <a:t>BFR (</a:t>
            </a:r>
            <a:r>
              <a:rPr lang="en-US" altLang="en-US" dirty="0">
                <a:solidFill>
                  <a:srgbClr val="00B050"/>
                </a:solidFill>
              </a:rPr>
              <a:t>Bradley-Fayyad-Reina</a:t>
            </a:r>
            <a:r>
              <a:rPr lang="en-US" altLang="en-US" dirty="0"/>
              <a:t>) is a variant of </a:t>
            </a:r>
            <a:r>
              <a:rPr lang="en-US" altLang="en-US" i="1" dirty="0"/>
              <a:t>k</a:t>
            </a:r>
            <a:r>
              <a:rPr lang="en-US" altLang="en-US" dirty="0"/>
              <a:t>-means designed to handle very large (disk-resident) data sets.</a:t>
            </a:r>
          </a:p>
          <a:p>
            <a:r>
              <a:rPr lang="en-US" altLang="en-US" dirty="0"/>
              <a:t>It assumes that clusters are normally distributed around a centroid in a Euclidean space.</a:t>
            </a:r>
          </a:p>
          <a:p>
            <a:pPr lvl="1"/>
            <a:r>
              <a:rPr lang="en-US" altLang="en-US" dirty="0"/>
              <a:t>Standard deviations in different dimensions may be different.</a:t>
            </a:r>
          </a:p>
          <a:p>
            <a:pPr lvl="2"/>
            <a:r>
              <a:rPr lang="en-US" altLang="en-US" dirty="0"/>
              <a:t>E.g., cigar-shaped clusters.</a:t>
            </a:r>
          </a:p>
          <a:p>
            <a:r>
              <a:rPr lang="en-US" altLang="en-US" dirty="0"/>
              <a:t>Goal is to find cluster centroids; point assignment can be done in a second pass through the data.</a:t>
            </a:r>
          </a:p>
        </p:txBody>
      </p:sp>
    </p:spTree>
    <p:extLst>
      <p:ext uri="{BB962C8B-B14F-4D97-AF65-F5344CB8AC3E}">
        <p14:creationId xmlns:p14="http://schemas.microsoft.com/office/powerpoint/2010/main" val="259937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1BC9-E575-4354-B9D2-6A738F7EA4C6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BFR – (2)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534400" cy="5257800"/>
          </a:xfrm>
        </p:spPr>
        <p:txBody>
          <a:bodyPr/>
          <a:lstStyle/>
          <a:p>
            <a:r>
              <a:rPr lang="en-US" altLang="en-US" dirty="0"/>
              <a:t>Points are read one main-memory-full at a time.</a:t>
            </a:r>
          </a:p>
          <a:p>
            <a:r>
              <a:rPr lang="en-US" altLang="en-US" dirty="0"/>
              <a:t>Most points from previous memory loads are summarized by simple statistics.</a:t>
            </a:r>
          </a:p>
          <a:p>
            <a:pPr lvl="1"/>
            <a:r>
              <a:rPr lang="en-US" altLang="en-US" dirty="0"/>
              <a:t>Also kept in main memory, which limits how many points can be read in one “memory full.”</a:t>
            </a:r>
          </a:p>
          <a:p>
            <a:r>
              <a:rPr lang="en-US" altLang="en-US" dirty="0"/>
              <a:t>To begin, from the initial load we select the initial </a:t>
            </a:r>
            <a:r>
              <a:rPr lang="en-US" altLang="en-US" i="1" dirty="0"/>
              <a:t>k</a:t>
            </a:r>
            <a:r>
              <a:rPr lang="en-US" altLang="en-US" dirty="0"/>
              <a:t> centroids by some sensible approach.</a:t>
            </a:r>
          </a:p>
        </p:txBody>
      </p:sp>
    </p:spTree>
    <p:extLst>
      <p:ext uri="{BB962C8B-B14F-4D97-AF65-F5344CB8AC3E}">
        <p14:creationId xmlns:p14="http://schemas.microsoft.com/office/powerpoint/2010/main" val="347097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6E4B0-3D97-439F-B3CD-423B1631640F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Three Classes of Points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10600" cy="4267200"/>
          </a:xfrm>
        </p:spPr>
        <p:txBody>
          <a:bodyPr/>
          <a:lstStyle/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The </a:t>
            </a:r>
            <a:r>
              <a:rPr lang="en-US" altLang="en-US" i="1" dirty="0">
                <a:solidFill>
                  <a:srgbClr val="FF0066"/>
                </a:solidFill>
              </a:rPr>
              <a:t>discard set </a:t>
            </a:r>
            <a:r>
              <a:rPr lang="en-US" altLang="en-US" dirty="0">
                <a:solidFill>
                  <a:srgbClr val="FF0066"/>
                </a:solidFill>
              </a:rPr>
              <a:t>(</a:t>
            </a:r>
            <a:r>
              <a:rPr lang="en-US" altLang="en-US" i="1" dirty="0">
                <a:solidFill>
                  <a:srgbClr val="FF0066"/>
                </a:solidFill>
              </a:rPr>
              <a:t>DS</a:t>
            </a:r>
            <a:r>
              <a:rPr lang="en-US" altLang="en-US" dirty="0">
                <a:solidFill>
                  <a:srgbClr val="FF0066"/>
                </a:solidFill>
              </a:rPr>
              <a:t>)</a:t>
            </a:r>
            <a:r>
              <a:rPr lang="en-US" altLang="en-US" dirty="0"/>
              <a:t>: points close enough to a centroid to be summarized.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The</a:t>
            </a:r>
            <a:r>
              <a:rPr lang="en-US" altLang="en-US" i="1" dirty="0">
                <a:solidFill>
                  <a:srgbClr val="FF0066"/>
                </a:solidFill>
              </a:rPr>
              <a:t> compression set </a:t>
            </a:r>
            <a:r>
              <a:rPr lang="en-US" altLang="en-US" dirty="0">
                <a:solidFill>
                  <a:srgbClr val="FF0066"/>
                </a:solidFill>
              </a:rPr>
              <a:t>(</a:t>
            </a:r>
            <a:r>
              <a:rPr lang="en-US" altLang="en-US" i="1" dirty="0">
                <a:solidFill>
                  <a:srgbClr val="FF0066"/>
                </a:solidFill>
              </a:rPr>
              <a:t>CS</a:t>
            </a:r>
            <a:r>
              <a:rPr lang="en-US" altLang="en-US" dirty="0">
                <a:solidFill>
                  <a:srgbClr val="FF0066"/>
                </a:solidFill>
              </a:rPr>
              <a:t>)</a:t>
            </a:r>
            <a:r>
              <a:rPr lang="en-US" altLang="en-US" dirty="0"/>
              <a:t>: groups of points that are close together but not close to any centroid.  They are summarized, but not assigned to a cluster.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The </a:t>
            </a:r>
            <a:r>
              <a:rPr lang="en-US" altLang="en-US" i="1" dirty="0">
                <a:solidFill>
                  <a:srgbClr val="FF0066"/>
                </a:solidFill>
              </a:rPr>
              <a:t>retained set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F0066"/>
                </a:solidFill>
              </a:rPr>
              <a:t>(</a:t>
            </a:r>
            <a:r>
              <a:rPr lang="en-US" altLang="en-US" i="1" dirty="0">
                <a:solidFill>
                  <a:srgbClr val="FF0066"/>
                </a:solidFill>
              </a:rPr>
              <a:t>RS</a:t>
            </a:r>
            <a:r>
              <a:rPr lang="en-US" altLang="en-US" dirty="0">
                <a:solidFill>
                  <a:srgbClr val="FF0066"/>
                </a:solidFill>
              </a:rPr>
              <a:t>)</a:t>
            </a:r>
            <a:r>
              <a:rPr lang="en-US" altLang="en-US" dirty="0"/>
              <a:t>: isolated points.</a:t>
            </a:r>
          </a:p>
        </p:txBody>
      </p:sp>
    </p:spTree>
    <p:extLst>
      <p:ext uri="{BB962C8B-B14F-4D97-AF65-F5344CB8AC3E}">
        <p14:creationId xmlns:p14="http://schemas.microsoft.com/office/powerpoint/2010/main" val="391023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784B-FE8A-4C76-91E1-8127C1CA312A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“Galaxies” Picture</a:t>
            </a:r>
          </a:p>
        </p:txBody>
      </p:sp>
      <p:grpSp>
        <p:nvGrpSpPr>
          <p:cNvPr id="57388" name="Group 44"/>
          <p:cNvGrpSpPr>
            <a:grpSpLocks/>
          </p:cNvGrpSpPr>
          <p:nvPr/>
        </p:nvGrpSpPr>
        <p:grpSpPr bwMode="auto">
          <a:xfrm>
            <a:off x="1219200" y="4343401"/>
            <a:ext cx="5210175" cy="1712913"/>
            <a:chOff x="768" y="2736"/>
            <a:chExt cx="3282" cy="1079"/>
          </a:xfrm>
        </p:grpSpPr>
        <p:sp>
          <p:nvSpPr>
            <p:cNvPr id="57347" name="Oval 3"/>
            <p:cNvSpPr>
              <a:spLocks noChangeArrowheads="1"/>
            </p:cNvSpPr>
            <p:nvPr/>
          </p:nvSpPr>
          <p:spPr bwMode="auto">
            <a:xfrm>
              <a:off x="1680" y="2736"/>
              <a:ext cx="1680" cy="624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48" name="Text Box 4"/>
            <p:cNvSpPr txBox="1">
              <a:spLocks noChangeArrowheads="1"/>
            </p:cNvSpPr>
            <p:nvPr/>
          </p:nvSpPr>
          <p:spPr bwMode="auto">
            <a:xfrm>
              <a:off x="768" y="3408"/>
              <a:ext cx="139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en-US" dirty="0"/>
                <a:t>A cluster.  Its points</a:t>
              </a:r>
            </a:p>
            <a:p>
              <a:r>
                <a:rPr lang="en-US" altLang="en-US" dirty="0"/>
                <a:t>are in DS.</a:t>
              </a:r>
            </a:p>
          </p:txBody>
        </p:sp>
        <p:grpSp>
          <p:nvGrpSpPr>
            <p:cNvPr id="57351" name="Group 7"/>
            <p:cNvGrpSpPr>
              <a:grpSpLocks/>
            </p:cNvGrpSpPr>
            <p:nvPr/>
          </p:nvGrpSpPr>
          <p:grpSpPr bwMode="auto">
            <a:xfrm>
              <a:off x="2448" y="2928"/>
              <a:ext cx="192" cy="192"/>
              <a:chOff x="2448" y="2928"/>
              <a:chExt cx="192" cy="192"/>
            </a:xfrm>
          </p:grpSpPr>
          <p:sp>
            <p:nvSpPr>
              <p:cNvPr id="57349" name="Line 5"/>
              <p:cNvSpPr>
                <a:spLocks noChangeShapeType="1"/>
              </p:cNvSpPr>
              <p:nvPr/>
            </p:nvSpPr>
            <p:spPr bwMode="auto">
              <a:xfrm>
                <a:off x="2544" y="29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0" name="Line 6"/>
              <p:cNvSpPr>
                <a:spLocks noChangeShapeType="1"/>
              </p:cNvSpPr>
              <p:nvPr/>
            </p:nvSpPr>
            <p:spPr bwMode="auto">
              <a:xfrm>
                <a:off x="2448" y="302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61" name="Text Box 17"/>
            <p:cNvSpPr txBox="1">
              <a:spLocks noChangeArrowheads="1"/>
            </p:cNvSpPr>
            <p:nvPr/>
          </p:nvSpPr>
          <p:spPr bwMode="auto">
            <a:xfrm>
              <a:off x="2870" y="3477"/>
              <a:ext cx="1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The centroid</a:t>
              </a:r>
            </a:p>
          </p:txBody>
        </p:sp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 flipH="1" flipV="1">
              <a:off x="2544" y="3024"/>
              <a:ext cx="9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89" name="Group 45"/>
          <p:cNvGrpSpPr>
            <a:grpSpLocks/>
          </p:cNvGrpSpPr>
          <p:nvPr/>
        </p:nvGrpSpPr>
        <p:grpSpPr bwMode="auto">
          <a:xfrm>
            <a:off x="1524000" y="1828800"/>
            <a:ext cx="5562600" cy="1981200"/>
            <a:chOff x="960" y="1152"/>
            <a:chExt cx="3504" cy="1248"/>
          </a:xfrm>
        </p:grpSpPr>
        <p:sp>
          <p:nvSpPr>
            <p:cNvPr id="57363" name="Oval 19"/>
            <p:cNvSpPr>
              <a:spLocks noChangeArrowheads="1"/>
            </p:cNvSpPr>
            <p:nvPr/>
          </p:nvSpPr>
          <p:spPr bwMode="auto">
            <a:xfrm>
              <a:off x="960" y="1824"/>
              <a:ext cx="288" cy="528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6" name="Oval 22"/>
            <p:cNvSpPr>
              <a:spLocks noChangeArrowheads="1"/>
            </p:cNvSpPr>
            <p:nvPr/>
          </p:nvSpPr>
          <p:spPr bwMode="auto">
            <a:xfrm>
              <a:off x="3936" y="2016"/>
              <a:ext cx="528" cy="384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67" name="Oval 23"/>
            <p:cNvSpPr>
              <a:spLocks noChangeArrowheads="1"/>
            </p:cNvSpPr>
            <p:nvPr/>
          </p:nvSpPr>
          <p:spPr bwMode="auto">
            <a:xfrm>
              <a:off x="2256" y="1152"/>
              <a:ext cx="432" cy="480"/>
            </a:xfrm>
            <a:prstGeom prst="ellipse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7368" name="Group 24"/>
            <p:cNvGrpSpPr>
              <a:grpSpLocks/>
            </p:cNvGrpSpPr>
            <p:nvPr/>
          </p:nvGrpSpPr>
          <p:grpSpPr bwMode="auto">
            <a:xfrm>
              <a:off x="1008" y="1968"/>
              <a:ext cx="192" cy="192"/>
              <a:chOff x="2448" y="2928"/>
              <a:chExt cx="192" cy="192"/>
            </a:xfrm>
          </p:grpSpPr>
          <p:sp>
            <p:nvSpPr>
              <p:cNvPr id="57369" name="Line 25"/>
              <p:cNvSpPr>
                <a:spLocks noChangeShapeType="1"/>
              </p:cNvSpPr>
              <p:nvPr/>
            </p:nvSpPr>
            <p:spPr bwMode="auto">
              <a:xfrm>
                <a:off x="2544" y="29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0" name="Line 26"/>
              <p:cNvSpPr>
                <a:spLocks noChangeShapeType="1"/>
              </p:cNvSpPr>
              <p:nvPr/>
            </p:nvSpPr>
            <p:spPr bwMode="auto">
              <a:xfrm>
                <a:off x="2448" y="302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71" name="Group 27"/>
            <p:cNvGrpSpPr>
              <a:grpSpLocks/>
            </p:cNvGrpSpPr>
            <p:nvPr/>
          </p:nvGrpSpPr>
          <p:grpSpPr bwMode="auto">
            <a:xfrm>
              <a:off x="4080" y="2112"/>
              <a:ext cx="192" cy="192"/>
              <a:chOff x="2448" y="2928"/>
              <a:chExt cx="192" cy="192"/>
            </a:xfrm>
          </p:grpSpPr>
          <p:sp>
            <p:nvSpPr>
              <p:cNvPr id="57372" name="Line 28"/>
              <p:cNvSpPr>
                <a:spLocks noChangeShapeType="1"/>
              </p:cNvSpPr>
              <p:nvPr/>
            </p:nvSpPr>
            <p:spPr bwMode="auto">
              <a:xfrm>
                <a:off x="2544" y="29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3" name="Line 29"/>
              <p:cNvSpPr>
                <a:spLocks noChangeShapeType="1"/>
              </p:cNvSpPr>
              <p:nvPr/>
            </p:nvSpPr>
            <p:spPr bwMode="auto">
              <a:xfrm>
                <a:off x="2448" y="302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374" name="Group 30"/>
            <p:cNvGrpSpPr>
              <a:grpSpLocks/>
            </p:cNvGrpSpPr>
            <p:nvPr/>
          </p:nvGrpSpPr>
          <p:grpSpPr bwMode="auto">
            <a:xfrm>
              <a:off x="2352" y="1296"/>
              <a:ext cx="192" cy="192"/>
              <a:chOff x="2448" y="2928"/>
              <a:chExt cx="192" cy="192"/>
            </a:xfrm>
          </p:grpSpPr>
          <p:sp>
            <p:nvSpPr>
              <p:cNvPr id="57375" name="Line 31"/>
              <p:cNvSpPr>
                <a:spLocks noChangeShapeType="1"/>
              </p:cNvSpPr>
              <p:nvPr/>
            </p:nvSpPr>
            <p:spPr bwMode="auto">
              <a:xfrm>
                <a:off x="2544" y="292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76" name="Line 32"/>
              <p:cNvSpPr>
                <a:spLocks noChangeShapeType="1"/>
              </p:cNvSpPr>
              <p:nvPr/>
            </p:nvSpPr>
            <p:spPr bwMode="auto">
              <a:xfrm>
                <a:off x="2448" y="302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7377" name="Text Box 33"/>
            <p:cNvSpPr txBox="1">
              <a:spLocks noChangeArrowheads="1"/>
            </p:cNvSpPr>
            <p:nvPr/>
          </p:nvSpPr>
          <p:spPr bwMode="auto">
            <a:xfrm>
              <a:off x="1920" y="1920"/>
              <a:ext cx="144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en-US" dirty="0"/>
                <a:t>Compression sets.</a:t>
              </a:r>
            </a:p>
            <a:p>
              <a:r>
                <a:rPr lang="en-US" altLang="en-US" dirty="0"/>
                <a:t>Their points are in CS.</a:t>
              </a:r>
            </a:p>
          </p:txBody>
        </p:sp>
        <p:sp>
          <p:nvSpPr>
            <p:cNvPr id="57378" name="Line 34"/>
            <p:cNvSpPr>
              <a:spLocks noChangeShapeType="1"/>
            </p:cNvSpPr>
            <p:nvPr/>
          </p:nvSpPr>
          <p:spPr bwMode="auto">
            <a:xfrm flipH="1" flipV="1">
              <a:off x="1248" y="2112"/>
              <a:ext cx="67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79" name="Line 35"/>
            <p:cNvSpPr>
              <a:spLocks noChangeShapeType="1"/>
            </p:cNvSpPr>
            <p:nvPr/>
          </p:nvSpPr>
          <p:spPr bwMode="auto">
            <a:xfrm flipV="1">
              <a:off x="2448" y="16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0" name="Line 36"/>
            <p:cNvSpPr>
              <a:spLocks noChangeShapeType="1"/>
            </p:cNvSpPr>
            <p:nvPr/>
          </p:nvSpPr>
          <p:spPr bwMode="auto">
            <a:xfrm>
              <a:off x="3168" y="2160"/>
              <a:ext cx="768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390" name="Group 46"/>
          <p:cNvGrpSpPr>
            <a:grpSpLocks/>
          </p:cNvGrpSpPr>
          <p:nvPr/>
        </p:nvGrpSpPr>
        <p:grpSpPr bwMode="auto">
          <a:xfrm>
            <a:off x="1676400" y="1785938"/>
            <a:ext cx="6702426" cy="3090862"/>
            <a:chOff x="1056" y="1125"/>
            <a:chExt cx="4222" cy="1947"/>
          </a:xfrm>
        </p:grpSpPr>
        <p:sp>
          <p:nvSpPr>
            <p:cNvPr id="57381" name="Oval 37"/>
            <p:cNvSpPr>
              <a:spLocks noChangeArrowheads="1"/>
            </p:cNvSpPr>
            <p:nvPr/>
          </p:nvSpPr>
          <p:spPr bwMode="auto">
            <a:xfrm>
              <a:off x="1056" y="1296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2" name="Oval 38"/>
            <p:cNvSpPr>
              <a:spLocks noChangeArrowheads="1"/>
            </p:cNvSpPr>
            <p:nvPr/>
          </p:nvSpPr>
          <p:spPr bwMode="auto">
            <a:xfrm>
              <a:off x="1200" y="2784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3" name="Oval 39"/>
            <p:cNvSpPr>
              <a:spLocks noChangeArrowheads="1"/>
            </p:cNvSpPr>
            <p:nvPr/>
          </p:nvSpPr>
          <p:spPr bwMode="auto">
            <a:xfrm>
              <a:off x="4272" y="3024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4" name="Oval 40"/>
            <p:cNvSpPr>
              <a:spLocks noChangeArrowheads="1"/>
            </p:cNvSpPr>
            <p:nvPr/>
          </p:nvSpPr>
          <p:spPr bwMode="auto">
            <a:xfrm>
              <a:off x="3840" y="1344"/>
              <a:ext cx="48" cy="48"/>
            </a:xfrm>
            <a:prstGeom prst="ellipse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85" name="Text Box 41"/>
            <p:cNvSpPr txBox="1">
              <a:spLocks noChangeArrowheads="1"/>
            </p:cNvSpPr>
            <p:nvPr/>
          </p:nvSpPr>
          <p:spPr bwMode="auto">
            <a:xfrm>
              <a:off x="4454" y="1125"/>
              <a:ext cx="8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Points in RS</a:t>
              </a:r>
            </a:p>
          </p:txBody>
        </p:sp>
        <p:sp>
          <p:nvSpPr>
            <p:cNvPr id="57386" name="Line 42"/>
            <p:cNvSpPr>
              <a:spLocks noChangeShapeType="1"/>
            </p:cNvSpPr>
            <p:nvPr/>
          </p:nvSpPr>
          <p:spPr bwMode="auto">
            <a:xfrm flipH="1">
              <a:off x="3888" y="139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87" name="Line 43"/>
            <p:cNvSpPr>
              <a:spLocks noChangeShapeType="1"/>
            </p:cNvSpPr>
            <p:nvPr/>
          </p:nvSpPr>
          <p:spPr bwMode="auto">
            <a:xfrm flipH="1">
              <a:off x="4320" y="1680"/>
              <a:ext cx="528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965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ADD2-D6D1-485E-9864-768A3BA756EF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Summarizing Sets of Points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4572000"/>
          </a:xfrm>
        </p:spPr>
        <p:txBody>
          <a:bodyPr/>
          <a:lstStyle/>
          <a:p>
            <a:pPr marL="609600" indent="-609600"/>
            <a:r>
              <a:rPr lang="en-US" altLang="en-US" dirty="0"/>
              <a:t>Each cluster in the discard set and each compression set is summarized by: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The number of points, </a:t>
            </a:r>
            <a:r>
              <a:rPr lang="en-US" altLang="en-US" i="1" dirty="0"/>
              <a:t>N</a:t>
            </a:r>
            <a:r>
              <a:rPr lang="en-US" altLang="en-US" dirty="0"/>
              <a:t>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The vector SUM, whose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  <a:r>
              <a:rPr lang="en-US" altLang="en-US" baseline="30000" dirty="0" err="1"/>
              <a:t>th</a:t>
            </a:r>
            <a:r>
              <a:rPr lang="en-US" altLang="en-US" dirty="0"/>
              <a:t> component is the sum of the coordinates of the points in the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  <a:r>
              <a:rPr lang="en-US" altLang="en-US" baseline="30000" dirty="0" err="1"/>
              <a:t>th</a:t>
            </a:r>
            <a:r>
              <a:rPr lang="en-US" altLang="en-US" dirty="0"/>
              <a:t> dimension.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The vector SUMSQ: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  <a:r>
              <a:rPr lang="en-US" altLang="en-US" baseline="30000" dirty="0" err="1"/>
              <a:t>th</a:t>
            </a:r>
            <a:r>
              <a:rPr lang="en-US" altLang="en-US" dirty="0"/>
              <a:t> component = sum of squares of coordinates in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  <a:r>
              <a:rPr lang="en-US" altLang="en-US" baseline="30000" dirty="0" err="1"/>
              <a:t>th</a:t>
            </a:r>
            <a:r>
              <a:rPr lang="en-US" altLang="en-US" dirty="0"/>
              <a:t> dimension.</a:t>
            </a:r>
          </a:p>
        </p:txBody>
      </p:sp>
    </p:spTree>
    <p:extLst>
      <p:ext uri="{BB962C8B-B14F-4D97-AF65-F5344CB8AC3E}">
        <p14:creationId xmlns:p14="http://schemas.microsoft.com/office/powerpoint/2010/main" val="271609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467B7-C82E-41CF-8A82-5C6A108B5BE1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Comments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534400" cy="5410200"/>
          </a:xfrm>
        </p:spPr>
        <p:txBody>
          <a:bodyPr>
            <a:normAutofit/>
          </a:bodyPr>
          <a:lstStyle/>
          <a:p>
            <a:r>
              <a:rPr lang="en-US" altLang="en-US" dirty="0"/>
              <a:t>2</a:t>
            </a:r>
            <a:r>
              <a:rPr lang="en-US" altLang="en-US" i="1" dirty="0"/>
              <a:t>d </a:t>
            </a:r>
            <a:r>
              <a:rPr lang="en-US" altLang="en-US" dirty="0"/>
              <a:t>+ 1 values represent any number of points.</a:t>
            </a:r>
          </a:p>
          <a:p>
            <a:pPr lvl="1"/>
            <a:r>
              <a:rPr lang="en-US" altLang="en-US" i="1" dirty="0"/>
              <a:t>d</a:t>
            </a:r>
            <a:r>
              <a:rPr lang="en-US" altLang="en-US" dirty="0"/>
              <a:t>  = number of dimensions.</a:t>
            </a:r>
          </a:p>
          <a:p>
            <a:r>
              <a:rPr lang="en-US" altLang="en-US" dirty="0"/>
              <a:t>Averages in each dimension (centroid coordinates) can be calculated easily as </a:t>
            </a:r>
            <a:r>
              <a:rPr lang="en-US" altLang="en-US" dirty="0" err="1"/>
              <a:t>SUM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/</a:t>
            </a:r>
            <a:r>
              <a:rPr lang="en-US" altLang="en-US" i="1" dirty="0"/>
              <a:t>N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SUM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=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  <a:r>
              <a:rPr lang="en-US" altLang="en-US" baseline="30000" dirty="0" err="1"/>
              <a:t>th</a:t>
            </a:r>
            <a:r>
              <a:rPr lang="en-US" altLang="en-US" dirty="0"/>
              <a:t> component of SUM.</a:t>
            </a:r>
          </a:p>
          <a:p>
            <a:r>
              <a:rPr lang="en-US" altLang="en-US" dirty="0"/>
              <a:t>Variance in dimension </a:t>
            </a:r>
            <a:r>
              <a:rPr lang="en-US" altLang="en-US" i="1" dirty="0" err="1"/>
              <a:t>i</a:t>
            </a:r>
            <a:r>
              <a:rPr lang="en-US" altLang="en-US" dirty="0"/>
              <a:t> can be computed by: (</a:t>
            </a:r>
            <a:r>
              <a:rPr lang="en-US" altLang="en-US" dirty="0" err="1"/>
              <a:t>SUMSQ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/</a:t>
            </a:r>
            <a:r>
              <a:rPr lang="en-US" altLang="en-US" i="1" dirty="0"/>
              <a:t>N</a:t>
            </a:r>
            <a:r>
              <a:rPr lang="en-US" altLang="en-US" dirty="0"/>
              <a:t> ) – (</a:t>
            </a:r>
            <a:r>
              <a:rPr lang="en-US" altLang="en-US" dirty="0" err="1"/>
              <a:t>SUM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/</a:t>
            </a:r>
            <a:r>
              <a:rPr lang="en-US" altLang="en-US" i="1" dirty="0"/>
              <a:t>N</a:t>
            </a:r>
            <a:r>
              <a:rPr lang="en-US" altLang="en-US" dirty="0"/>
              <a:t> )</a:t>
            </a:r>
            <a:r>
              <a:rPr lang="en-US" altLang="en-US" baseline="30000" dirty="0"/>
              <a:t>2</a:t>
            </a:r>
          </a:p>
          <a:p>
            <a:pPr lvl="1"/>
            <a:r>
              <a:rPr lang="en-US" altLang="en-US" dirty="0"/>
              <a:t>And the standard deviation is the square root of that.</a:t>
            </a:r>
          </a:p>
        </p:txBody>
      </p:sp>
    </p:spTree>
    <p:extLst>
      <p:ext uri="{BB962C8B-B14F-4D97-AF65-F5344CB8AC3E}">
        <p14:creationId xmlns:p14="http://schemas.microsoft.com/office/powerpoint/2010/main" val="51194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630C2-C997-4DE3-9873-7191A547B86F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839200" cy="987552"/>
          </a:xfrm>
        </p:spPr>
        <p:txBody>
          <a:bodyPr/>
          <a:lstStyle/>
          <a:p>
            <a:r>
              <a:rPr lang="en-US" altLang="en-US" sz="4000" dirty="0"/>
              <a:t>Processing a </a:t>
            </a:r>
            <a:r>
              <a:rPr lang="en-US" altLang="en-US" sz="4000"/>
              <a:t>“Memory-Full” </a:t>
            </a:r>
            <a:r>
              <a:rPr lang="en-US" altLang="en-US" sz="4000" dirty="0"/>
              <a:t>of Points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334000"/>
          </a:xfrm>
        </p:spPr>
        <p:txBody>
          <a:bodyPr/>
          <a:lstStyle/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Find those points that are “sufficiently close” to a cluster centroid; add those points to that cluster and the DS.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Use any main-memory clustering algorithm to cluster the remaining points and the old RS.</a:t>
            </a:r>
          </a:p>
          <a:p>
            <a:pPr marL="902208" lvl="1" indent="-609600"/>
            <a:r>
              <a:rPr lang="en-US" altLang="en-US" dirty="0"/>
              <a:t>Clusters go to the CS; outlying points to the RS.</a:t>
            </a:r>
          </a:p>
          <a:p>
            <a:pPr marL="1167384" lvl="2" indent="-609600"/>
            <a:r>
              <a:rPr lang="en-US" altLang="en-US" dirty="0"/>
              <a:t>These are not “clusters” in the sense of being one of the k clusters of the final answer.</a:t>
            </a:r>
          </a:p>
        </p:txBody>
      </p:sp>
    </p:spTree>
    <p:extLst>
      <p:ext uri="{BB962C8B-B14F-4D97-AF65-F5344CB8AC3E}">
        <p14:creationId xmlns:p14="http://schemas.microsoft.com/office/powerpoint/2010/main" val="219413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86603-FFC4-4703-A8BC-CDAB517B25F5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Processing – (2)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US" altLang="en-US" dirty="0"/>
              <a:t>Adjust statistics of the clusters to account for the new points.</a:t>
            </a:r>
          </a:p>
          <a:p>
            <a:pPr marL="902208" lvl="1" indent="-609600">
              <a:lnSpc>
                <a:spcPct val="90000"/>
              </a:lnSpc>
            </a:pPr>
            <a:r>
              <a:rPr lang="en-US" altLang="en-US" dirty="0"/>
              <a:t>Consider merging compressed sets in the </a:t>
            </a:r>
            <a:r>
              <a:rPr lang="en-US" altLang="en-US"/>
              <a:t>CS.</a:t>
            </a:r>
            <a:endParaRPr lang="en-US" altLang="en-US" dirty="0"/>
          </a:p>
          <a:p>
            <a:pPr marL="609600" indent="-609600">
              <a:lnSpc>
                <a:spcPct val="90000"/>
              </a:lnSpc>
              <a:buFont typeface="Monotype Sorts" pitchFamily="2" charset="2"/>
              <a:buAutoNum type="arabicPeriod" startAt="3"/>
            </a:pPr>
            <a:r>
              <a:rPr lang="en-US" altLang="en-US" dirty="0"/>
              <a:t>If this is the last round, merge all compressed sets in the CS and all RS points into their nearest cluster.</a:t>
            </a:r>
          </a:p>
        </p:txBody>
      </p:sp>
    </p:spTree>
    <p:extLst>
      <p:ext uri="{BB962C8B-B14F-4D97-AF65-F5344CB8AC3E}">
        <p14:creationId xmlns:p14="http://schemas.microsoft.com/office/powerpoint/2010/main" val="149724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154A-3FCB-41DB-9BAD-C4AEABA8329F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Few Details . . .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How do we decide if a point is “close enough” to a cluster that we will add the point to that cluster?</a:t>
            </a:r>
          </a:p>
          <a:p>
            <a:r>
              <a:rPr lang="en-US" altLang="en-US" dirty="0"/>
              <a:t>How do we decide whether two compressed sets deserve to be combined into one?</a:t>
            </a:r>
          </a:p>
        </p:txBody>
      </p:sp>
    </p:spTree>
    <p:extLst>
      <p:ext uri="{BB962C8B-B14F-4D97-AF65-F5344CB8AC3E}">
        <p14:creationId xmlns:p14="http://schemas.microsoft.com/office/powerpoint/2010/main" val="37082063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5E0CA-7C82-4965-991E-0F76F355EBCE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Close is Close Enough?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en-US" dirty="0"/>
              <a:t>We need a way to decide whether to put a new point into a cluster.</a:t>
            </a:r>
          </a:p>
          <a:p>
            <a:pPr marL="609600" indent="-609600"/>
            <a:r>
              <a:rPr lang="en-US" altLang="en-US" dirty="0"/>
              <a:t>BFR suggest two ways: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The</a:t>
            </a:r>
            <a:r>
              <a:rPr lang="en-US" altLang="en-US" dirty="0">
                <a:solidFill>
                  <a:srgbClr val="FF0066"/>
                </a:solidFill>
              </a:rPr>
              <a:t> </a:t>
            </a:r>
            <a:r>
              <a:rPr lang="en-US" altLang="en-US" i="1" dirty="0" err="1">
                <a:solidFill>
                  <a:srgbClr val="FF0066"/>
                </a:solidFill>
              </a:rPr>
              <a:t>Mahalanobis</a:t>
            </a:r>
            <a:r>
              <a:rPr lang="en-US" altLang="en-US" i="1" dirty="0">
                <a:solidFill>
                  <a:srgbClr val="FF0066"/>
                </a:solidFill>
              </a:rPr>
              <a:t> distance</a:t>
            </a:r>
            <a:r>
              <a:rPr lang="en-US" altLang="en-US" dirty="0"/>
              <a:t> is less than a threshold.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Low likelihood of the currently nearest centroid changing.</a:t>
            </a:r>
          </a:p>
        </p:txBody>
      </p:sp>
    </p:spTree>
    <p:extLst>
      <p:ext uri="{BB962C8B-B14F-4D97-AF65-F5344CB8AC3E}">
        <p14:creationId xmlns:p14="http://schemas.microsoft.com/office/powerpoint/2010/main" val="416651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822D9-0852-4218-AB04-DA3D9B788307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Mahalanobis Distance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4114800"/>
          </a:xfrm>
        </p:spPr>
        <p:txBody>
          <a:bodyPr/>
          <a:lstStyle/>
          <a:p>
            <a:pPr marL="609600" indent="-609600"/>
            <a:r>
              <a:rPr lang="en-US" altLang="en-US" dirty="0"/>
              <a:t>Normalized Euclidean distance from centroid.</a:t>
            </a:r>
          </a:p>
          <a:p>
            <a:pPr marL="609600" indent="-609600"/>
            <a:r>
              <a:rPr lang="en-US" altLang="en-US" dirty="0"/>
              <a:t>For point (</a:t>
            </a:r>
            <a:r>
              <a:rPr lang="en-US" altLang="en-US" i="1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,…,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d</a:t>
            </a:r>
            <a:r>
              <a:rPr lang="en-US" altLang="en-US" dirty="0"/>
              <a:t>) and centroid (</a:t>
            </a:r>
            <a:r>
              <a:rPr lang="en-US" altLang="en-US" i="1" dirty="0"/>
              <a:t>c</a:t>
            </a:r>
            <a:r>
              <a:rPr lang="en-US" altLang="en-US" baseline="-25000" dirty="0"/>
              <a:t>1</a:t>
            </a:r>
            <a:r>
              <a:rPr lang="en-US" altLang="en-US"/>
              <a:t>,…, </a:t>
            </a:r>
            <a:r>
              <a:rPr lang="en-US" altLang="en-US" i="1"/>
              <a:t>c</a:t>
            </a:r>
            <a:r>
              <a:rPr lang="en-US" altLang="en-US" i="1" baseline="-25000"/>
              <a:t>d</a:t>
            </a:r>
            <a:r>
              <a:rPr lang="en-US" altLang="en-US"/>
              <a:t>):</a:t>
            </a:r>
            <a:endParaRPr lang="en-US" altLang="en-US" dirty="0"/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Normalize in each dimension: </a:t>
            </a:r>
            <a:r>
              <a:rPr lang="en-US" altLang="en-US" i="1" dirty="0" err="1"/>
              <a:t>y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= (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i </a:t>
            </a:r>
            <a:r>
              <a:rPr lang="en-US" altLang="en-US" dirty="0"/>
              <a:t>-</a:t>
            </a:r>
            <a:r>
              <a:rPr lang="en-US" altLang="en-US" i="1" dirty="0"/>
              <a:t>c</a:t>
            </a:r>
            <a:r>
              <a:rPr lang="en-US" altLang="en-US" i="1" baseline="-25000" dirty="0"/>
              <a:t>i</a:t>
            </a:r>
            <a:r>
              <a:rPr lang="en-US" altLang="en-US" dirty="0"/>
              <a:t>)/</a:t>
            </a:r>
            <a:r>
              <a:rPr lang="en-US" altLang="en-US" dirty="0">
                <a:sym typeface="Symbol" pitchFamily="18" charset="2"/>
              </a:rPr>
              <a:t></a:t>
            </a:r>
            <a:r>
              <a:rPr lang="en-US" altLang="en-US" i="1" baseline="-25000" dirty="0" err="1">
                <a:sym typeface="Symbol" pitchFamily="18" charset="2"/>
              </a:rPr>
              <a:t>i</a:t>
            </a:r>
            <a:r>
              <a:rPr lang="en-US" altLang="en-US" i="1" baseline="-25000" dirty="0">
                <a:sym typeface="Symbol" pitchFamily="18" charset="2"/>
              </a:rPr>
              <a:t> </a:t>
            </a:r>
          </a:p>
          <a:p>
            <a:pPr marL="1255776" lvl="2" indent="-533400"/>
            <a:r>
              <a:rPr lang="en-US" altLang="en-US" dirty="0">
                <a:sym typeface="Symbol" pitchFamily="18" charset="2"/>
              </a:rPr>
              <a:t></a:t>
            </a:r>
            <a:r>
              <a:rPr lang="en-US" altLang="en-US" i="1" baseline="-25000" dirty="0" err="1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= standard deviation in </a:t>
            </a:r>
            <a:r>
              <a:rPr lang="en-US" altLang="en-US" i="1" dirty="0" err="1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baseline="30000" dirty="0" err="1">
                <a:sym typeface="Symbol" pitchFamily="18" charset="2"/>
              </a:rPr>
              <a:t>th</a:t>
            </a:r>
            <a:r>
              <a:rPr lang="en-US" altLang="en-US" dirty="0">
                <a:sym typeface="Symbol" pitchFamily="18" charset="2"/>
              </a:rPr>
              <a:t> dimension for this cluster.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Take sum of the squares of the </a:t>
            </a:r>
            <a:r>
              <a:rPr lang="en-US" altLang="en-US" i="1" dirty="0" err="1"/>
              <a:t>y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</a:t>
            </a:r>
            <a:r>
              <a:rPr lang="en-US" altLang="en-US" dirty="0"/>
              <a:t>’s.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 altLang="en-US" dirty="0"/>
              <a:t>Take the square root.</a:t>
            </a:r>
          </a:p>
        </p:txBody>
      </p:sp>
    </p:spTree>
    <p:extLst>
      <p:ext uri="{BB962C8B-B14F-4D97-AF65-F5344CB8AC3E}">
        <p14:creationId xmlns:p14="http://schemas.microsoft.com/office/powerpoint/2010/main" val="79088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93983-6D7C-4943-8E30-C862E55276DC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Mahalanobis Distance – (2)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458200" cy="4267200"/>
          </a:xfrm>
        </p:spPr>
        <p:txBody>
          <a:bodyPr/>
          <a:lstStyle/>
          <a:p>
            <a:r>
              <a:rPr lang="en-US" altLang="en-US" dirty="0"/>
              <a:t>If clusters are normally distributed in </a:t>
            </a:r>
            <a:r>
              <a:rPr lang="en-US" altLang="en-US" i="1" dirty="0"/>
              <a:t>d</a:t>
            </a:r>
            <a:r>
              <a:rPr lang="en-US" altLang="en-US" dirty="0"/>
              <a:t>  dimensions, then after transformation, one standard deviation = </a:t>
            </a:r>
            <a:r>
              <a:rPr lang="en-US" altLang="en-US" dirty="0">
                <a:sym typeface="Symbol" pitchFamily="18" charset="2"/>
              </a:rPr>
              <a:t></a:t>
            </a:r>
            <a:r>
              <a:rPr lang="en-US" altLang="en-US" i="1" dirty="0">
                <a:sym typeface="Symbol" pitchFamily="18" charset="2"/>
              </a:rPr>
              <a:t>d</a:t>
            </a:r>
            <a:r>
              <a:rPr lang="en-US" altLang="en-US" dirty="0">
                <a:sym typeface="Symbol" pitchFamily="18" charset="2"/>
              </a:rPr>
              <a:t>.</a:t>
            </a:r>
          </a:p>
          <a:p>
            <a:pPr lvl="1"/>
            <a:r>
              <a:rPr lang="en-US" altLang="en-US" dirty="0"/>
              <a:t>I.e., 70% of the points of the cluster will have a </a:t>
            </a:r>
            <a:r>
              <a:rPr lang="en-US" altLang="en-US" dirty="0" err="1"/>
              <a:t>Mahalanobis</a:t>
            </a:r>
            <a:r>
              <a:rPr lang="en-US" altLang="en-US" dirty="0"/>
              <a:t> distance &lt; </a:t>
            </a:r>
            <a:r>
              <a:rPr lang="en-US" altLang="en-US" dirty="0">
                <a:sym typeface="Symbol" pitchFamily="18" charset="2"/>
              </a:rPr>
              <a:t></a:t>
            </a:r>
            <a:r>
              <a:rPr lang="en-US" altLang="en-US" i="1" dirty="0">
                <a:sym typeface="Symbol" pitchFamily="18" charset="2"/>
              </a:rPr>
              <a:t>d</a:t>
            </a:r>
            <a:r>
              <a:rPr lang="en-US" altLang="en-US" dirty="0">
                <a:sym typeface="Symbol" pitchFamily="18" charset="2"/>
              </a:rPr>
              <a:t>.</a:t>
            </a:r>
          </a:p>
          <a:p>
            <a:r>
              <a:rPr lang="en-US" altLang="en-US" dirty="0">
                <a:sym typeface="Symbol" pitchFamily="18" charset="2"/>
              </a:rPr>
              <a:t>Accept a point for a cluster if its M.D. is &lt; some threshold, e.g. 4 standard deviations.</a:t>
            </a:r>
          </a:p>
        </p:txBody>
      </p:sp>
    </p:spTree>
    <p:extLst>
      <p:ext uri="{BB962C8B-B14F-4D97-AF65-F5344CB8AC3E}">
        <p14:creationId xmlns:p14="http://schemas.microsoft.com/office/powerpoint/2010/main" val="31764074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BA02F-A923-4D2A-9F7F-D0436CEEEB17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Picture: Equal M.D. Regions</a:t>
            </a:r>
          </a:p>
        </p:txBody>
      </p:sp>
      <p:sp>
        <p:nvSpPr>
          <p:cNvPr id="64515" name="Oval 3"/>
          <p:cNvSpPr>
            <a:spLocks noChangeArrowheads="1"/>
          </p:cNvSpPr>
          <p:nvPr/>
        </p:nvSpPr>
        <p:spPr bwMode="auto">
          <a:xfrm>
            <a:off x="1219200" y="2819400"/>
            <a:ext cx="6019800" cy="17526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16" name="Oval 4"/>
          <p:cNvSpPr>
            <a:spLocks noChangeArrowheads="1"/>
          </p:cNvSpPr>
          <p:nvPr/>
        </p:nvSpPr>
        <p:spPr bwMode="auto">
          <a:xfrm>
            <a:off x="2743200" y="3200400"/>
            <a:ext cx="2971800" cy="914400"/>
          </a:xfrm>
          <a:prstGeom prst="ellipse">
            <a:avLst/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4519" name="Group 7"/>
          <p:cNvGrpSpPr>
            <a:grpSpLocks/>
          </p:cNvGrpSpPr>
          <p:nvPr/>
        </p:nvGrpSpPr>
        <p:grpSpPr bwMode="auto">
          <a:xfrm>
            <a:off x="4038600" y="3429000"/>
            <a:ext cx="304800" cy="304800"/>
            <a:chOff x="2592" y="2160"/>
            <a:chExt cx="192" cy="192"/>
          </a:xfrm>
        </p:grpSpPr>
        <p:sp>
          <p:nvSpPr>
            <p:cNvPr id="64517" name="Line 5"/>
            <p:cNvSpPr>
              <a:spLocks noChangeShapeType="1"/>
            </p:cNvSpPr>
            <p:nvPr/>
          </p:nvSpPr>
          <p:spPr bwMode="auto">
            <a:xfrm>
              <a:off x="2688" y="21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518" name="Line 6"/>
            <p:cNvSpPr>
              <a:spLocks noChangeShapeType="1"/>
            </p:cNvSpPr>
            <p:nvPr/>
          </p:nvSpPr>
          <p:spPr bwMode="auto">
            <a:xfrm>
              <a:off x="2592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5394325" y="4530725"/>
            <a:ext cx="368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Times New Roman" charset="0"/>
                <a:sym typeface="Symbol" pitchFamily="18" charset="2"/>
              </a:rPr>
              <a:t></a:t>
            </a:r>
            <a:endParaRPr lang="en-US" altLang="en-US">
              <a:latin typeface="Times New Roman" charset="0"/>
            </a:endParaRP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8001000" y="3505200"/>
            <a:ext cx="534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ym typeface="Symbol" pitchFamily="18" charset="2"/>
              </a:rPr>
              <a:t>2</a:t>
            </a:r>
            <a:r>
              <a:rPr lang="en-US" altLang="en-US">
                <a:latin typeface="Times New Roman" charset="0"/>
                <a:sym typeface="Symbol" pitchFamily="18" charset="2"/>
              </a:rPr>
              <a:t></a:t>
            </a:r>
            <a:endParaRPr lang="en-US" altLang="en-US">
              <a:latin typeface="Times New Roman" charset="0"/>
            </a:endParaRPr>
          </a:p>
        </p:txBody>
      </p:sp>
      <p:sp>
        <p:nvSpPr>
          <p:cNvPr id="64522" name="Line 10"/>
          <p:cNvSpPr>
            <a:spLocks noChangeShapeType="1"/>
          </p:cNvSpPr>
          <p:nvPr/>
        </p:nvSpPr>
        <p:spPr bwMode="auto">
          <a:xfrm flipH="1" flipV="1">
            <a:off x="5105400" y="40386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3" name="Line 11"/>
          <p:cNvSpPr>
            <a:spLocks noChangeShapeType="1"/>
          </p:cNvSpPr>
          <p:nvPr/>
        </p:nvSpPr>
        <p:spPr bwMode="auto">
          <a:xfrm flipH="1">
            <a:off x="7239000" y="3657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06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B8ACE-4197-4B1B-8556-EAA6E98ABEF9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5052"/>
            <a:ext cx="8737948" cy="987552"/>
          </a:xfrm>
        </p:spPr>
        <p:txBody>
          <a:bodyPr/>
          <a:lstStyle/>
          <a:p>
            <a:r>
              <a:rPr lang="en-US" altLang="en-US" sz="3600" dirty="0"/>
              <a:t>Should Two CS </a:t>
            </a:r>
            <a:r>
              <a:rPr lang="en-US" altLang="en-US" sz="3600" dirty="0" err="1"/>
              <a:t>Subclusters</a:t>
            </a:r>
            <a:r>
              <a:rPr lang="en-US" altLang="en-US" sz="3600" dirty="0"/>
              <a:t> Be Combined?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5181600"/>
          </a:xfrm>
        </p:spPr>
        <p:txBody>
          <a:bodyPr/>
          <a:lstStyle/>
          <a:p>
            <a:r>
              <a:rPr lang="en-US" altLang="en-US" dirty="0"/>
              <a:t>Similar to measuring cohesion. For </a:t>
            </a:r>
            <a:r>
              <a:rPr lang="en-US" altLang="en-US" dirty="0">
                <a:solidFill>
                  <a:srgbClr val="00B050"/>
                </a:solidFill>
              </a:rPr>
              <a:t>example</a:t>
            </a:r>
            <a:r>
              <a:rPr lang="en-US" altLang="en-US" dirty="0"/>
              <a:t>:</a:t>
            </a:r>
          </a:p>
          <a:p>
            <a:r>
              <a:rPr lang="en-US" altLang="en-US" dirty="0"/>
              <a:t>Compute the variance of the combined </a:t>
            </a:r>
            <a:r>
              <a:rPr lang="en-US" altLang="en-US" dirty="0" err="1"/>
              <a:t>subcluster</a:t>
            </a:r>
            <a:r>
              <a:rPr lang="en-US" altLang="en-US" dirty="0"/>
              <a:t>, in each dimension.</a:t>
            </a:r>
          </a:p>
          <a:p>
            <a:pPr lvl="1"/>
            <a:r>
              <a:rPr lang="en-US" altLang="en-US" i="1" dirty="0"/>
              <a:t>N</a:t>
            </a:r>
            <a:r>
              <a:rPr lang="en-US" altLang="en-US" dirty="0"/>
              <a:t>, SUM, and SUMSQ allow us to make that calculation quickly.</a:t>
            </a:r>
          </a:p>
          <a:p>
            <a:r>
              <a:rPr lang="en-US" altLang="en-US" dirty="0"/>
              <a:t>Combine if the sum of the variances is below some threshold.</a:t>
            </a:r>
          </a:p>
          <a:p>
            <a:r>
              <a:rPr lang="en-US" altLang="en-US" dirty="0">
                <a:solidFill>
                  <a:srgbClr val="00B0F0"/>
                </a:solidFill>
              </a:rPr>
              <a:t>Many alternatives</a:t>
            </a:r>
            <a:r>
              <a:rPr lang="en-US" altLang="en-US" dirty="0"/>
              <a:t>: treat dimensions differently, consider density.</a:t>
            </a:r>
          </a:p>
        </p:txBody>
      </p:sp>
    </p:spTree>
    <p:extLst>
      <p:ext uri="{BB962C8B-B14F-4D97-AF65-F5344CB8AC3E}">
        <p14:creationId xmlns:p14="http://schemas.microsoft.com/office/powerpoint/2010/main" val="229139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9232-1666-4AD3-85A4-094566B70627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CURE Algorithm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Problem with BFR/</a:t>
            </a:r>
            <a:r>
              <a:rPr lang="en-US" altLang="en-US" i="1" dirty="0"/>
              <a:t>k</a:t>
            </a:r>
            <a:r>
              <a:rPr lang="en-US" altLang="en-US" dirty="0"/>
              <a:t>-means:</a:t>
            </a:r>
          </a:p>
          <a:p>
            <a:pPr lvl="1"/>
            <a:r>
              <a:rPr lang="en-US" altLang="en-US" dirty="0"/>
              <a:t>Assumes clusters are normally distributed in each dimension.</a:t>
            </a:r>
          </a:p>
          <a:p>
            <a:pPr lvl="1"/>
            <a:r>
              <a:rPr lang="en-US" altLang="en-US" dirty="0"/>
              <a:t>And axes are fixed – ellipses at an angle are </a:t>
            </a:r>
            <a:r>
              <a:rPr lang="en-US" altLang="en-US" i="1" dirty="0">
                <a:solidFill>
                  <a:srgbClr val="33CC33"/>
                </a:solidFill>
              </a:rPr>
              <a:t>not</a:t>
            </a:r>
            <a:r>
              <a:rPr lang="en-US" altLang="en-US" dirty="0"/>
              <a:t> OK.</a:t>
            </a:r>
          </a:p>
          <a:p>
            <a:r>
              <a:rPr lang="en-US" altLang="en-US" dirty="0"/>
              <a:t>CURE:</a:t>
            </a:r>
          </a:p>
          <a:p>
            <a:pPr lvl="1"/>
            <a:r>
              <a:rPr lang="en-US" altLang="en-US" dirty="0"/>
              <a:t>Assumes a Euclidean distance.</a:t>
            </a:r>
          </a:p>
          <a:p>
            <a:pPr lvl="1"/>
            <a:r>
              <a:rPr lang="en-US" altLang="en-US" dirty="0"/>
              <a:t>Allows clusters to assume any shape.</a:t>
            </a:r>
          </a:p>
        </p:txBody>
      </p:sp>
    </p:spTree>
    <p:extLst>
      <p:ext uri="{BB962C8B-B14F-4D97-AF65-F5344CB8AC3E}">
        <p14:creationId xmlns:p14="http://schemas.microsoft.com/office/powerpoint/2010/main" val="88193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CEA3F-AC17-4166-9094-0BE498FF0325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-19833" y="4175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Stanford Faculty Salaries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1660525" y="338613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3200400" y="34290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4114800" y="2743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5410200" y="3200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5562600" y="2438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6705600" y="2514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09" name="Text Box 9"/>
          <p:cNvSpPr txBox="1">
            <a:spLocks noChangeArrowheads="1"/>
          </p:cNvSpPr>
          <p:nvPr/>
        </p:nvSpPr>
        <p:spPr bwMode="auto">
          <a:xfrm>
            <a:off x="1981200" y="3886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2667000" y="3276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11" name="Text Box 11"/>
          <p:cNvSpPr txBox="1">
            <a:spLocks noChangeArrowheads="1"/>
          </p:cNvSpPr>
          <p:nvPr/>
        </p:nvSpPr>
        <p:spPr bwMode="auto">
          <a:xfrm>
            <a:off x="41148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12" name="Text Box 12"/>
          <p:cNvSpPr txBox="1">
            <a:spLocks noChangeArrowheads="1"/>
          </p:cNvSpPr>
          <p:nvPr/>
        </p:nvSpPr>
        <p:spPr bwMode="auto">
          <a:xfrm>
            <a:off x="6019800" y="2895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13" name="Text Box 13"/>
          <p:cNvSpPr txBox="1">
            <a:spLocks noChangeArrowheads="1"/>
          </p:cNvSpPr>
          <p:nvPr/>
        </p:nvSpPr>
        <p:spPr bwMode="auto">
          <a:xfrm>
            <a:off x="66294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6814" name="Text Box 14"/>
          <p:cNvSpPr txBox="1">
            <a:spLocks noChangeArrowheads="1"/>
          </p:cNvSpPr>
          <p:nvPr/>
        </p:nvSpPr>
        <p:spPr bwMode="auto">
          <a:xfrm>
            <a:off x="1736725" y="483393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15" name="Text Box 15"/>
          <p:cNvSpPr txBox="1">
            <a:spLocks noChangeArrowheads="1"/>
          </p:cNvSpPr>
          <p:nvPr/>
        </p:nvSpPr>
        <p:spPr bwMode="auto">
          <a:xfrm>
            <a:off x="5181600" y="2895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16" name="Text Box 16"/>
          <p:cNvSpPr txBox="1">
            <a:spLocks noChangeArrowheads="1"/>
          </p:cNvSpPr>
          <p:nvPr/>
        </p:nvSpPr>
        <p:spPr bwMode="auto">
          <a:xfrm>
            <a:off x="5257800" y="4114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17" name="Text Box 17"/>
          <p:cNvSpPr txBox="1">
            <a:spLocks noChangeArrowheads="1"/>
          </p:cNvSpPr>
          <p:nvPr/>
        </p:nvSpPr>
        <p:spPr bwMode="auto">
          <a:xfrm>
            <a:off x="5791200" y="3276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18" name="Text Box 18"/>
          <p:cNvSpPr txBox="1">
            <a:spLocks noChangeArrowheads="1"/>
          </p:cNvSpPr>
          <p:nvPr/>
        </p:nvSpPr>
        <p:spPr bwMode="auto">
          <a:xfrm>
            <a:off x="6248400" y="2133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19" name="Text Box 19"/>
          <p:cNvSpPr txBox="1">
            <a:spLocks noChangeArrowheads="1"/>
          </p:cNvSpPr>
          <p:nvPr/>
        </p:nvSpPr>
        <p:spPr bwMode="auto">
          <a:xfrm>
            <a:off x="67818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0" name="Text Box 20"/>
          <p:cNvSpPr txBox="1">
            <a:spLocks noChangeArrowheads="1"/>
          </p:cNvSpPr>
          <p:nvPr/>
        </p:nvSpPr>
        <p:spPr bwMode="auto">
          <a:xfrm>
            <a:off x="32766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1" name="Text Box 21"/>
          <p:cNvSpPr txBox="1">
            <a:spLocks noChangeArrowheads="1"/>
          </p:cNvSpPr>
          <p:nvPr/>
        </p:nvSpPr>
        <p:spPr bwMode="auto">
          <a:xfrm>
            <a:off x="38100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2" name="Text Box 22"/>
          <p:cNvSpPr txBox="1">
            <a:spLocks noChangeArrowheads="1"/>
          </p:cNvSpPr>
          <p:nvPr/>
        </p:nvSpPr>
        <p:spPr bwMode="auto">
          <a:xfrm>
            <a:off x="4648200" y="3733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3" name="Text Box 23"/>
          <p:cNvSpPr txBox="1">
            <a:spLocks noChangeArrowheads="1"/>
          </p:cNvSpPr>
          <p:nvPr/>
        </p:nvSpPr>
        <p:spPr bwMode="auto">
          <a:xfrm>
            <a:off x="4572000" y="4343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4" name="Text Box 24"/>
          <p:cNvSpPr txBox="1">
            <a:spLocks noChangeArrowheads="1"/>
          </p:cNvSpPr>
          <p:nvPr/>
        </p:nvSpPr>
        <p:spPr bwMode="auto">
          <a:xfrm>
            <a:off x="59436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5" name="Text Box 25"/>
          <p:cNvSpPr txBox="1">
            <a:spLocks noChangeArrowheads="1"/>
          </p:cNvSpPr>
          <p:nvPr/>
        </p:nvSpPr>
        <p:spPr bwMode="auto">
          <a:xfrm>
            <a:off x="2209800" y="4800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6" name="Text Box 26"/>
          <p:cNvSpPr txBox="1">
            <a:spLocks noChangeArrowheads="1"/>
          </p:cNvSpPr>
          <p:nvPr/>
        </p:nvSpPr>
        <p:spPr bwMode="auto">
          <a:xfrm>
            <a:off x="2590800" y="4724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6827" name="Text Box 27"/>
          <p:cNvSpPr txBox="1">
            <a:spLocks noChangeArrowheads="1"/>
          </p:cNvSpPr>
          <p:nvPr/>
        </p:nvSpPr>
        <p:spPr bwMode="auto">
          <a:xfrm>
            <a:off x="441325" y="3995738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salary</a:t>
            </a:r>
          </a:p>
        </p:txBody>
      </p:sp>
      <p:sp>
        <p:nvSpPr>
          <p:cNvPr id="76828" name="Text Box 28"/>
          <p:cNvSpPr txBox="1">
            <a:spLocks noChangeArrowheads="1"/>
          </p:cNvSpPr>
          <p:nvPr/>
        </p:nvSpPr>
        <p:spPr bwMode="auto">
          <a:xfrm>
            <a:off x="3946525" y="5672138"/>
            <a:ext cx="67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age</a:t>
            </a:r>
          </a:p>
        </p:txBody>
      </p:sp>
      <p:sp>
        <p:nvSpPr>
          <p:cNvPr id="76829" name="Line 29"/>
          <p:cNvSpPr>
            <a:spLocks noChangeShapeType="1"/>
          </p:cNvSpPr>
          <p:nvPr/>
        </p:nvSpPr>
        <p:spPr bwMode="auto">
          <a:xfrm>
            <a:off x="4648200" y="594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0" name="Line 30"/>
          <p:cNvSpPr>
            <a:spLocks noChangeShapeType="1"/>
          </p:cNvSpPr>
          <p:nvPr/>
        </p:nvSpPr>
        <p:spPr bwMode="auto">
          <a:xfrm flipV="1">
            <a:off x="8382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1" name="Freeform 31"/>
          <p:cNvSpPr>
            <a:spLocks/>
          </p:cNvSpPr>
          <p:nvPr/>
        </p:nvSpPr>
        <p:spPr bwMode="auto">
          <a:xfrm>
            <a:off x="1385888" y="2543175"/>
            <a:ext cx="6042025" cy="1728788"/>
          </a:xfrm>
          <a:custGeom>
            <a:avLst/>
            <a:gdLst>
              <a:gd name="T0" fmla="*/ 126 w 3806"/>
              <a:gd name="T1" fmla="*/ 558 h 1089"/>
              <a:gd name="T2" fmla="*/ 261 w 3806"/>
              <a:gd name="T3" fmla="*/ 522 h 1089"/>
              <a:gd name="T4" fmla="*/ 396 w 3806"/>
              <a:gd name="T5" fmla="*/ 468 h 1089"/>
              <a:gd name="T6" fmla="*/ 540 w 3806"/>
              <a:gd name="T7" fmla="*/ 450 h 1089"/>
              <a:gd name="T8" fmla="*/ 738 w 3806"/>
              <a:gd name="T9" fmla="*/ 378 h 1089"/>
              <a:gd name="T10" fmla="*/ 819 w 3806"/>
              <a:gd name="T11" fmla="*/ 333 h 1089"/>
              <a:gd name="T12" fmla="*/ 1017 w 3806"/>
              <a:gd name="T13" fmla="*/ 306 h 1089"/>
              <a:gd name="T14" fmla="*/ 1269 w 3806"/>
              <a:gd name="T15" fmla="*/ 279 h 1089"/>
              <a:gd name="T16" fmla="*/ 1386 w 3806"/>
              <a:gd name="T17" fmla="*/ 243 h 1089"/>
              <a:gd name="T18" fmla="*/ 2178 w 3806"/>
              <a:gd name="T19" fmla="*/ 171 h 1089"/>
              <a:gd name="T20" fmla="*/ 2313 w 3806"/>
              <a:gd name="T21" fmla="*/ 117 h 1089"/>
              <a:gd name="T22" fmla="*/ 2475 w 3806"/>
              <a:gd name="T23" fmla="*/ 45 h 1089"/>
              <a:gd name="T24" fmla="*/ 2556 w 3806"/>
              <a:gd name="T25" fmla="*/ 9 h 1089"/>
              <a:gd name="T26" fmla="*/ 2961 w 3806"/>
              <a:gd name="T27" fmla="*/ 0 h 1089"/>
              <a:gd name="T28" fmla="*/ 3474 w 3806"/>
              <a:gd name="T29" fmla="*/ 72 h 1089"/>
              <a:gd name="T30" fmla="*/ 3600 w 3806"/>
              <a:gd name="T31" fmla="*/ 108 h 1089"/>
              <a:gd name="T32" fmla="*/ 3708 w 3806"/>
              <a:gd name="T33" fmla="*/ 198 h 1089"/>
              <a:gd name="T34" fmla="*/ 3762 w 3806"/>
              <a:gd name="T35" fmla="*/ 306 h 1089"/>
              <a:gd name="T36" fmla="*/ 3618 w 3806"/>
              <a:gd name="T37" fmla="*/ 882 h 1089"/>
              <a:gd name="T38" fmla="*/ 3483 w 3806"/>
              <a:gd name="T39" fmla="*/ 954 h 1089"/>
              <a:gd name="T40" fmla="*/ 3069 w 3806"/>
              <a:gd name="T41" fmla="*/ 909 h 1089"/>
              <a:gd name="T42" fmla="*/ 2907 w 3806"/>
              <a:gd name="T43" fmla="*/ 864 h 1089"/>
              <a:gd name="T44" fmla="*/ 2583 w 3806"/>
              <a:gd name="T45" fmla="*/ 792 h 1089"/>
              <a:gd name="T46" fmla="*/ 2493 w 3806"/>
              <a:gd name="T47" fmla="*/ 765 h 1089"/>
              <a:gd name="T48" fmla="*/ 2142 w 3806"/>
              <a:gd name="T49" fmla="*/ 747 h 1089"/>
              <a:gd name="T50" fmla="*/ 1755 w 3806"/>
              <a:gd name="T51" fmla="*/ 756 h 1089"/>
              <a:gd name="T52" fmla="*/ 1458 w 3806"/>
              <a:gd name="T53" fmla="*/ 828 h 1089"/>
              <a:gd name="T54" fmla="*/ 1305 w 3806"/>
              <a:gd name="T55" fmla="*/ 846 h 1089"/>
              <a:gd name="T56" fmla="*/ 900 w 3806"/>
              <a:gd name="T57" fmla="*/ 963 h 1089"/>
              <a:gd name="T58" fmla="*/ 684 w 3806"/>
              <a:gd name="T59" fmla="*/ 1017 h 1089"/>
              <a:gd name="T60" fmla="*/ 504 w 3806"/>
              <a:gd name="T61" fmla="*/ 1089 h 1089"/>
              <a:gd name="T62" fmla="*/ 270 w 3806"/>
              <a:gd name="T63" fmla="*/ 1062 h 1089"/>
              <a:gd name="T64" fmla="*/ 171 w 3806"/>
              <a:gd name="T65" fmla="*/ 954 h 1089"/>
              <a:gd name="T66" fmla="*/ 117 w 3806"/>
              <a:gd name="T67" fmla="*/ 918 h 1089"/>
              <a:gd name="T68" fmla="*/ 36 w 3806"/>
              <a:gd name="T69" fmla="*/ 783 h 1089"/>
              <a:gd name="T70" fmla="*/ 9 w 3806"/>
              <a:gd name="T71" fmla="*/ 702 h 1089"/>
              <a:gd name="T72" fmla="*/ 0 w 3806"/>
              <a:gd name="T73" fmla="*/ 675 h 1089"/>
              <a:gd name="T74" fmla="*/ 90 w 3806"/>
              <a:gd name="T75" fmla="*/ 594 h 1089"/>
              <a:gd name="T76" fmla="*/ 144 w 3806"/>
              <a:gd name="T77" fmla="*/ 576 h 1089"/>
              <a:gd name="T78" fmla="*/ 126 w 3806"/>
              <a:gd name="T79" fmla="*/ 558 h 1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806" h="1089">
                <a:moveTo>
                  <a:pt x="126" y="558"/>
                </a:moveTo>
                <a:cubicBezTo>
                  <a:pt x="171" y="547"/>
                  <a:pt x="216" y="533"/>
                  <a:pt x="261" y="522"/>
                </a:cubicBezTo>
                <a:cubicBezTo>
                  <a:pt x="302" y="495"/>
                  <a:pt x="349" y="484"/>
                  <a:pt x="396" y="468"/>
                </a:cubicBezTo>
                <a:cubicBezTo>
                  <a:pt x="442" y="453"/>
                  <a:pt x="540" y="450"/>
                  <a:pt x="540" y="450"/>
                </a:cubicBezTo>
                <a:cubicBezTo>
                  <a:pt x="607" y="428"/>
                  <a:pt x="670" y="401"/>
                  <a:pt x="738" y="378"/>
                </a:cubicBezTo>
                <a:cubicBezTo>
                  <a:pt x="765" y="369"/>
                  <a:pt x="792" y="344"/>
                  <a:pt x="819" y="333"/>
                </a:cubicBezTo>
                <a:cubicBezTo>
                  <a:pt x="876" y="308"/>
                  <a:pt x="958" y="313"/>
                  <a:pt x="1017" y="306"/>
                </a:cubicBezTo>
                <a:cubicBezTo>
                  <a:pt x="1101" y="296"/>
                  <a:pt x="1184" y="286"/>
                  <a:pt x="1269" y="279"/>
                </a:cubicBezTo>
                <a:cubicBezTo>
                  <a:pt x="1313" y="270"/>
                  <a:pt x="1341" y="248"/>
                  <a:pt x="1386" y="243"/>
                </a:cubicBezTo>
                <a:cubicBezTo>
                  <a:pt x="1650" y="215"/>
                  <a:pt x="1912" y="183"/>
                  <a:pt x="2178" y="171"/>
                </a:cubicBezTo>
                <a:cubicBezTo>
                  <a:pt x="2219" y="144"/>
                  <a:pt x="2266" y="133"/>
                  <a:pt x="2313" y="117"/>
                </a:cubicBezTo>
                <a:cubicBezTo>
                  <a:pt x="2369" y="98"/>
                  <a:pt x="2418" y="64"/>
                  <a:pt x="2475" y="45"/>
                </a:cubicBezTo>
                <a:cubicBezTo>
                  <a:pt x="2501" y="36"/>
                  <a:pt x="2529" y="10"/>
                  <a:pt x="2556" y="9"/>
                </a:cubicBezTo>
                <a:cubicBezTo>
                  <a:pt x="2691" y="3"/>
                  <a:pt x="2826" y="3"/>
                  <a:pt x="2961" y="0"/>
                </a:cubicBezTo>
                <a:cubicBezTo>
                  <a:pt x="3134" y="12"/>
                  <a:pt x="3302" y="51"/>
                  <a:pt x="3474" y="72"/>
                </a:cubicBezTo>
                <a:cubicBezTo>
                  <a:pt x="3514" y="85"/>
                  <a:pt x="3563" y="87"/>
                  <a:pt x="3600" y="108"/>
                </a:cubicBezTo>
                <a:cubicBezTo>
                  <a:pt x="3656" y="139"/>
                  <a:pt x="3661" y="151"/>
                  <a:pt x="3708" y="198"/>
                </a:cubicBezTo>
                <a:cubicBezTo>
                  <a:pt x="3737" y="227"/>
                  <a:pt x="3739" y="272"/>
                  <a:pt x="3762" y="306"/>
                </a:cubicBezTo>
                <a:cubicBezTo>
                  <a:pt x="3806" y="526"/>
                  <a:pt x="3745" y="713"/>
                  <a:pt x="3618" y="882"/>
                </a:cubicBezTo>
                <a:cubicBezTo>
                  <a:pt x="3595" y="950"/>
                  <a:pt x="3548" y="946"/>
                  <a:pt x="3483" y="954"/>
                </a:cubicBezTo>
                <a:cubicBezTo>
                  <a:pt x="3264" y="940"/>
                  <a:pt x="3237" y="943"/>
                  <a:pt x="3069" y="909"/>
                </a:cubicBezTo>
                <a:cubicBezTo>
                  <a:pt x="3014" y="898"/>
                  <a:pt x="2961" y="875"/>
                  <a:pt x="2907" y="864"/>
                </a:cubicBezTo>
                <a:cubicBezTo>
                  <a:pt x="2798" y="842"/>
                  <a:pt x="2691" y="816"/>
                  <a:pt x="2583" y="792"/>
                </a:cubicBezTo>
                <a:cubicBezTo>
                  <a:pt x="2552" y="785"/>
                  <a:pt x="2524" y="769"/>
                  <a:pt x="2493" y="765"/>
                </a:cubicBezTo>
                <a:cubicBezTo>
                  <a:pt x="2329" y="744"/>
                  <a:pt x="2445" y="757"/>
                  <a:pt x="2142" y="747"/>
                </a:cubicBezTo>
                <a:cubicBezTo>
                  <a:pt x="2013" y="750"/>
                  <a:pt x="1884" y="751"/>
                  <a:pt x="1755" y="756"/>
                </a:cubicBezTo>
                <a:cubicBezTo>
                  <a:pt x="1657" y="760"/>
                  <a:pt x="1551" y="797"/>
                  <a:pt x="1458" y="828"/>
                </a:cubicBezTo>
                <a:cubicBezTo>
                  <a:pt x="1441" y="834"/>
                  <a:pt x="1309" y="846"/>
                  <a:pt x="1305" y="846"/>
                </a:cubicBezTo>
                <a:cubicBezTo>
                  <a:pt x="1164" y="862"/>
                  <a:pt x="1042" y="954"/>
                  <a:pt x="900" y="963"/>
                </a:cubicBezTo>
                <a:cubicBezTo>
                  <a:pt x="804" y="979"/>
                  <a:pt x="776" y="986"/>
                  <a:pt x="684" y="1017"/>
                </a:cubicBezTo>
                <a:cubicBezTo>
                  <a:pt x="661" y="1025"/>
                  <a:pt x="527" y="1081"/>
                  <a:pt x="504" y="1089"/>
                </a:cubicBezTo>
                <a:cubicBezTo>
                  <a:pt x="408" y="1086"/>
                  <a:pt x="366" y="1067"/>
                  <a:pt x="270" y="1062"/>
                </a:cubicBezTo>
                <a:cubicBezTo>
                  <a:pt x="261" y="1062"/>
                  <a:pt x="184" y="961"/>
                  <a:pt x="171" y="954"/>
                </a:cubicBezTo>
                <a:cubicBezTo>
                  <a:pt x="152" y="943"/>
                  <a:pt x="117" y="918"/>
                  <a:pt x="117" y="918"/>
                </a:cubicBezTo>
                <a:cubicBezTo>
                  <a:pt x="88" y="874"/>
                  <a:pt x="57" y="831"/>
                  <a:pt x="36" y="783"/>
                </a:cubicBezTo>
                <a:cubicBezTo>
                  <a:pt x="24" y="757"/>
                  <a:pt x="18" y="729"/>
                  <a:pt x="9" y="702"/>
                </a:cubicBezTo>
                <a:cubicBezTo>
                  <a:pt x="6" y="693"/>
                  <a:pt x="0" y="675"/>
                  <a:pt x="0" y="675"/>
                </a:cubicBezTo>
                <a:cubicBezTo>
                  <a:pt x="25" y="599"/>
                  <a:pt x="11" y="615"/>
                  <a:pt x="90" y="594"/>
                </a:cubicBezTo>
                <a:cubicBezTo>
                  <a:pt x="108" y="589"/>
                  <a:pt x="157" y="589"/>
                  <a:pt x="144" y="576"/>
                </a:cubicBezTo>
                <a:cubicBezTo>
                  <a:pt x="138" y="570"/>
                  <a:pt x="132" y="564"/>
                  <a:pt x="126" y="558"/>
                </a:cubicBezTo>
                <a:close/>
              </a:path>
            </a:pathLst>
          </a:cu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2" name="Freeform 32"/>
          <p:cNvSpPr>
            <a:spLocks/>
          </p:cNvSpPr>
          <p:nvPr/>
        </p:nvSpPr>
        <p:spPr bwMode="auto">
          <a:xfrm>
            <a:off x="1614488" y="1443038"/>
            <a:ext cx="5557837" cy="3957637"/>
          </a:xfrm>
          <a:custGeom>
            <a:avLst/>
            <a:gdLst>
              <a:gd name="T0" fmla="*/ 81 w 3501"/>
              <a:gd name="T1" fmla="*/ 2367 h 2493"/>
              <a:gd name="T2" fmla="*/ 342 w 3501"/>
              <a:gd name="T3" fmla="*/ 2493 h 2493"/>
              <a:gd name="T4" fmla="*/ 1017 w 3501"/>
              <a:gd name="T5" fmla="*/ 2412 h 2493"/>
              <a:gd name="T6" fmla="*/ 1413 w 3501"/>
              <a:gd name="T7" fmla="*/ 2322 h 2493"/>
              <a:gd name="T8" fmla="*/ 1710 w 3501"/>
              <a:gd name="T9" fmla="*/ 2241 h 2493"/>
              <a:gd name="T10" fmla="*/ 1917 w 3501"/>
              <a:gd name="T11" fmla="*/ 2160 h 2493"/>
              <a:gd name="T12" fmla="*/ 2088 w 3501"/>
              <a:gd name="T13" fmla="*/ 2088 h 2493"/>
              <a:gd name="T14" fmla="*/ 2259 w 3501"/>
              <a:gd name="T15" fmla="*/ 1998 h 2493"/>
              <a:gd name="T16" fmla="*/ 2529 w 3501"/>
              <a:gd name="T17" fmla="*/ 1845 h 2493"/>
              <a:gd name="T18" fmla="*/ 2664 w 3501"/>
              <a:gd name="T19" fmla="*/ 1764 h 2493"/>
              <a:gd name="T20" fmla="*/ 2862 w 3501"/>
              <a:gd name="T21" fmla="*/ 1602 h 2493"/>
              <a:gd name="T22" fmla="*/ 2934 w 3501"/>
              <a:gd name="T23" fmla="*/ 1494 h 2493"/>
              <a:gd name="T24" fmla="*/ 3042 w 3501"/>
              <a:gd name="T25" fmla="*/ 1269 h 2493"/>
              <a:gd name="T26" fmla="*/ 3159 w 3501"/>
              <a:gd name="T27" fmla="*/ 1026 h 2493"/>
              <a:gd name="T28" fmla="*/ 3213 w 3501"/>
              <a:gd name="T29" fmla="*/ 945 h 2493"/>
              <a:gd name="T30" fmla="*/ 3312 w 3501"/>
              <a:gd name="T31" fmla="*/ 720 h 2493"/>
              <a:gd name="T32" fmla="*/ 3384 w 3501"/>
              <a:gd name="T33" fmla="*/ 576 h 2493"/>
              <a:gd name="T34" fmla="*/ 3420 w 3501"/>
              <a:gd name="T35" fmla="*/ 495 h 2493"/>
              <a:gd name="T36" fmla="*/ 3492 w 3501"/>
              <a:gd name="T37" fmla="*/ 333 h 2493"/>
              <a:gd name="T38" fmla="*/ 3483 w 3501"/>
              <a:gd name="T39" fmla="*/ 171 h 2493"/>
              <a:gd name="T40" fmla="*/ 3087 w 3501"/>
              <a:gd name="T41" fmla="*/ 27 h 2493"/>
              <a:gd name="T42" fmla="*/ 2790 w 3501"/>
              <a:gd name="T43" fmla="*/ 9 h 2493"/>
              <a:gd name="T44" fmla="*/ 2637 w 3501"/>
              <a:gd name="T45" fmla="*/ 117 h 2493"/>
              <a:gd name="T46" fmla="*/ 2583 w 3501"/>
              <a:gd name="T47" fmla="*/ 198 h 2493"/>
              <a:gd name="T48" fmla="*/ 2475 w 3501"/>
              <a:gd name="T49" fmla="*/ 414 h 2493"/>
              <a:gd name="T50" fmla="*/ 2313 w 3501"/>
              <a:gd name="T51" fmla="*/ 603 h 2493"/>
              <a:gd name="T52" fmla="*/ 2250 w 3501"/>
              <a:gd name="T53" fmla="*/ 711 h 2493"/>
              <a:gd name="T54" fmla="*/ 2178 w 3501"/>
              <a:gd name="T55" fmla="*/ 846 h 2493"/>
              <a:gd name="T56" fmla="*/ 2088 w 3501"/>
              <a:gd name="T57" fmla="*/ 1035 h 2493"/>
              <a:gd name="T58" fmla="*/ 2061 w 3501"/>
              <a:gd name="T59" fmla="*/ 1035 h 2493"/>
              <a:gd name="T60" fmla="*/ 1917 w 3501"/>
              <a:gd name="T61" fmla="*/ 1269 h 2493"/>
              <a:gd name="T62" fmla="*/ 1746 w 3501"/>
              <a:gd name="T63" fmla="*/ 1557 h 2493"/>
              <a:gd name="T64" fmla="*/ 1647 w 3501"/>
              <a:gd name="T65" fmla="*/ 1674 h 2493"/>
              <a:gd name="T66" fmla="*/ 1512 w 3501"/>
              <a:gd name="T67" fmla="*/ 1782 h 2493"/>
              <a:gd name="T68" fmla="*/ 1332 w 3501"/>
              <a:gd name="T69" fmla="*/ 1890 h 2493"/>
              <a:gd name="T70" fmla="*/ 1125 w 3501"/>
              <a:gd name="T71" fmla="*/ 1926 h 2493"/>
              <a:gd name="T72" fmla="*/ 792 w 3501"/>
              <a:gd name="T73" fmla="*/ 2034 h 2493"/>
              <a:gd name="T74" fmla="*/ 621 w 3501"/>
              <a:gd name="T75" fmla="*/ 2079 h 2493"/>
              <a:gd name="T76" fmla="*/ 297 w 3501"/>
              <a:gd name="T77" fmla="*/ 2115 h 2493"/>
              <a:gd name="T78" fmla="*/ 108 w 3501"/>
              <a:gd name="T79" fmla="*/ 2160 h 2493"/>
              <a:gd name="T80" fmla="*/ 36 w 3501"/>
              <a:gd name="T81" fmla="*/ 2232 h 2493"/>
              <a:gd name="T82" fmla="*/ 27 w 3501"/>
              <a:gd name="T83" fmla="*/ 2349 h 2493"/>
              <a:gd name="T84" fmla="*/ 0 w 3501"/>
              <a:gd name="T85" fmla="*/ 2313 h 2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501" h="2493">
                <a:moveTo>
                  <a:pt x="0" y="2313"/>
                </a:moveTo>
                <a:cubicBezTo>
                  <a:pt x="34" y="2324"/>
                  <a:pt x="58" y="2339"/>
                  <a:pt x="81" y="2367"/>
                </a:cubicBezTo>
                <a:cubicBezTo>
                  <a:pt x="104" y="2395"/>
                  <a:pt x="91" y="2387"/>
                  <a:pt x="99" y="2394"/>
                </a:cubicBezTo>
                <a:cubicBezTo>
                  <a:pt x="168" y="2455"/>
                  <a:pt x="254" y="2475"/>
                  <a:pt x="342" y="2493"/>
                </a:cubicBezTo>
                <a:cubicBezTo>
                  <a:pt x="525" y="2484"/>
                  <a:pt x="708" y="2469"/>
                  <a:pt x="891" y="2457"/>
                </a:cubicBezTo>
                <a:cubicBezTo>
                  <a:pt x="946" y="2446"/>
                  <a:pt x="969" y="2425"/>
                  <a:pt x="1017" y="2412"/>
                </a:cubicBezTo>
                <a:cubicBezTo>
                  <a:pt x="1092" y="2392"/>
                  <a:pt x="1167" y="2368"/>
                  <a:pt x="1242" y="2349"/>
                </a:cubicBezTo>
                <a:cubicBezTo>
                  <a:pt x="1298" y="2335"/>
                  <a:pt x="1357" y="2336"/>
                  <a:pt x="1413" y="2322"/>
                </a:cubicBezTo>
                <a:cubicBezTo>
                  <a:pt x="1545" y="2289"/>
                  <a:pt x="1384" y="2316"/>
                  <a:pt x="1530" y="2295"/>
                </a:cubicBezTo>
                <a:cubicBezTo>
                  <a:pt x="1589" y="2275"/>
                  <a:pt x="1650" y="2261"/>
                  <a:pt x="1710" y="2241"/>
                </a:cubicBezTo>
                <a:cubicBezTo>
                  <a:pt x="1731" y="2234"/>
                  <a:pt x="1746" y="2217"/>
                  <a:pt x="1764" y="2205"/>
                </a:cubicBezTo>
                <a:cubicBezTo>
                  <a:pt x="1810" y="2174"/>
                  <a:pt x="1862" y="2167"/>
                  <a:pt x="1917" y="2160"/>
                </a:cubicBezTo>
                <a:cubicBezTo>
                  <a:pt x="1955" y="2141"/>
                  <a:pt x="1998" y="2144"/>
                  <a:pt x="2034" y="2124"/>
                </a:cubicBezTo>
                <a:cubicBezTo>
                  <a:pt x="2053" y="2113"/>
                  <a:pt x="2067" y="2095"/>
                  <a:pt x="2088" y="2088"/>
                </a:cubicBezTo>
                <a:cubicBezTo>
                  <a:pt x="2128" y="2075"/>
                  <a:pt x="2169" y="2054"/>
                  <a:pt x="2205" y="2034"/>
                </a:cubicBezTo>
                <a:cubicBezTo>
                  <a:pt x="2224" y="2023"/>
                  <a:pt x="2238" y="2005"/>
                  <a:pt x="2259" y="1998"/>
                </a:cubicBezTo>
                <a:cubicBezTo>
                  <a:pt x="2286" y="1989"/>
                  <a:pt x="2315" y="1976"/>
                  <a:pt x="2340" y="1962"/>
                </a:cubicBezTo>
                <a:cubicBezTo>
                  <a:pt x="2404" y="1927"/>
                  <a:pt x="2469" y="1885"/>
                  <a:pt x="2529" y="1845"/>
                </a:cubicBezTo>
                <a:cubicBezTo>
                  <a:pt x="2552" y="1830"/>
                  <a:pt x="2585" y="1821"/>
                  <a:pt x="2610" y="1809"/>
                </a:cubicBezTo>
                <a:cubicBezTo>
                  <a:pt x="2642" y="1793"/>
                  <a:pt x="2636" y="1788"/>
                  <a:pt x="2664" y="1764"/>
                </a:cubicBezTo>
                <a:cubicBezTo>
                  <a:pt x="2715" y="1720"/>
                  <a:pt x="2756" y="1677"/>
                  <a:pt x="2817" y="1647"/>
                </a:cubicBezTo>
                <a:cubicBezTo>
                  <a:pt x="2838" y="1584"/>
                  <a:pt x="2806" y="1658"/>
                  <a:pt x="2862" y="1602"/>
                </a:cubicBezTo>
                <a:cubicBezTo>
                  <a:pt x="2876" y="1588"/>
                  <a:pt x="2876" y="1563"/>
                  <a:pt x="2889" y="1548"/>
                </a:cubicBezTo>
                <a:cubicBezTo>
                  <a:pt x="2914" y="1518"/>
                  <a:pt x="2917" y="1528"/>
                  <a:pt x="2934" y="1494"/>
                </a:cubicBezTo>
                <a:cubicBezTo>
                  <a:pt x="2971" y="1419"/>
                  <a:pt x="2909" y="1517"/>
                  <a:pt x="2961" y="1440"/>
                </a:cubicBezTo>
                <a:cubicBezTo>
                  <a:pt x="2975" y="1383"/>
                  <a:pt x="3009" y="1318"/>
                  <a:pt x="3042" y="1269"/>
                </a:cubicBezTo>
                <a:cubicBezTo>
                  <a:pt x="3056" y="1212"/>
                  <a:pt x="3044" y="1243"/>
                  <a:pt x="3087" y="1179"/>
                </a:cubicBezTo>
                <a:cubicBezTo>
                  <a:pt x="3114" y="1138"/>
                  <a:pt x="3143" y="1073"/>
                  <a:pt x="3159" y="1026"/>
                </a:cubicBezTo>
                <a:cubicBezTo>
                  <a:pt x="3166" y="1005"/>
                  <a:pt x="3183" y="990"/>
                  <a:pt x="3195" y="972"/>
                </a:cubicBezTo>
                <a:cubicBezTo>
                  <a:pt x="3201" y="963"/>
                  <a:pt x="3213" y="945"/>
                  <a:pt x="3213" y="945"/>
                </a:cubicBezTo>
                <a:cubicBezTo>
                  <a:pt x="3226" y="892"/>
                  <a:pt x="3255" y="846"/>
                  <a:pt x="3285" y="801"/>
                </a:cubicBezTo>
                <a:cubicBezTo>
                  <a:pt x="3301" y="777"/>
                  <a:pt x="3296" y="744"/>
                  <a:pt x="3312" y="720"/>
                </a:cubicBezTo>
                <a:cubicBezTo>
                  <a:pt x="3335" y="686"/>
                  <a:pt x="3350" y="649"/>
                  <a:pt x="3366" y="612"/>
                </a:cubicBezTo>
                <a:cubicBezTo>
                  <a:pt x="3371" y="600"/>
                  <a:pt x="3377" y="588"/>
                  <a:pt x="3384" y="576"/>
                </a:cubicBezTo>
                <a:cubicBezTo>
                  <a:pt x="3389" y="567"/>
                  <a:pt x="3398" y="559"/>
                  <a:pt x="3402" y="549"/>
                </a:cubicBezTo>
                <a:cubicBezTo>
                  <a:pt x="3410" y="532"/>
                  <a:pt x="3409" y="511"/>
                  <a:pt x="3420" y="495"/>
                </a:cubicBezTo>
                <a:cubicBezTo>
                  <a:pt x="3436" y="471"/>
                  <a:pt x="3453" y="441"/>
                  <a:pt x="3465" y="414"/>
                </a:cubicBezTo>
                <a:cubicBezTo>
                  <a:pt x="3465" y="414"/>
                  <a:pt x="3487" y="347"/>
                  <a:pt x="3492" y="333"/>
                </a:cubicBezTo>
                <a:cubicBezTo>
                  <a:pt x="3495" y="324"/>
                  <a:pt x="3501" y="306"/>
                  <a:pt x="3501" y="306"/>
                </a:cubicBezTo>
                <a:cubicBezTo>
                  <a:pt x="3499" y="282"/>
                  <a:pt x="3501" y="208"/>
                  <a:pt x="3483" y="171"/>
                </a:cubicBezTo>
                <a:cubicBezTo>
                  <a:pt x="3461" y="128"/>
                  <a:pt x="3422" y="118"/>
                  <a:pt x="3384" y="99"/>
                </a:cubicBezTo>
                <a:cubicBezTo>
                  <a:pt x="3288" y="51"/>
                  <a:pt x="3194" y="39"/>
                  <a:pt x="3087" y="27"/>
                </a:cubicBezTo>
                <a:cubicBezTo>
                  <a:pt x="3031" y="8"/>
                  <a:pt x="2974" y="6"/>
                  <a:pt x="2916" y="0"/>
                </a:cubicBezTo>
                <a:cubicBezTo>
                  <a:pt x="2874" y="3"/>
                  <a:pt x="2832" y="4"/>
                  <a:pt x="2790" y="9"/>
                </a:cubicBezTo>
                <a:cubicBezTo>
                  <a:pt x="2750" y="14"/>
                  <a:pt x="2721" y="50"/>
                  <a:pt x="2682" y="63"/>
                </a:cubicBezTo>
                <a:cubicBezTo>
                  <a:pt x="2679" y="68"/>
                  <a:pt x="2638" y="116"/>
                  <a:pt x="2637" y="117"/>
                </a:cubicBezTo>
                <a:cubicBezTo>
                  <a:pt x="2632" y="125"/>
                  <a:pt x="2633" y="136"/>
                  <a:pt x="2628" y="144"/>
                </a:cubicBezTo>
                <a:cubicBezTo>
                  <a:pt x="2588" y="204"/>
                  <a:pt x="2612" y="139"/>
                  <a:pt x="2583" y="198"/>
                </a:cubicBezTo>
                <a:cubicBezTo>
                  <a:pt x="2556" y="252"/>
                  <a:pt x="2527" y="309"/>
                  <a:pt x="2493" y="360"/>
                </a:cubicBezTo>
                <a:cubicBezTo>
                  <a:pt x="2482" y="376"/>
                  <a:pt x="2486" y="398"/>
                  <a:pt x="2475" y="414"/>
                </a:cubicBezTo>
                <a:cubicBezTo>
                  <a:pt x="2444" y="460"/>
                  <a:pt x="2404" y="540"/>
                  <a:pt x="2349" y="558"/>
                </a:cubicBezTo>
                <a:cubicBezTo>
                  <a:pt x="2316" y="656"/>
                  <a:pt x="2371" y="510"/>
                  <a:pt x="2313" y="603"/>
                </a:cubicBezTo>
                <a:cubicBezTo>
                  <a:pt x="2303" y="619"/>
                  <a:pt x="2301" y="639"/>
                  <a:pt x="2295" y="657"/>
                </a:cubicBezTo>
                <a:cubicBezTo>
                  <a:pt x="2289" y="676"/>
                  <a:pt x="2263" y="698"/>
                  <a:pt x="2250" y="711"/>
                </a:cubicBezTo>
                <a:cubicBezTo>
                  <a:pt x="2241" y="738"/>
                  <a:pt x="2228" y="767"/>
                  <a:pt x="2214" y="792"/>
                </a:cubicBezTo>
                <a:cubicBezTo>
                  <a:pt x="2203" y="811"/>
                  <a:pt x="2185" y="825"/>
                  <a:pt x="2178" y="846"/>
                </a:cubicBezTo>
                <a:cubicBezTo>
                  <a:pt x="2159" y="904"/>
                  <a:pt x="2171" y="971"/>
                  <a:pt x="2115" y="990"/>
                </a:cubicBezTo>
                <a:cubicBezTo>
                  <a:pt x="2109" y="999"/>
                  <a:pt x="2096" y="1027"/>
                  <a:pt x="2088" y="1035"/>
                </a:cubicBezTo>
                <a:cubicBezTo>
                  <a:pt x="2080" y="1043"/>
                  <a:pt x="2076" y="1035"/>
                  <a:pt x="2070" y="1044"/>
                </a:cubicBezTo>
                <a:cubicBezTo>
                  <a:pt x="2063" y="1053"/>
                  <a:pt x="2069" y="1025"/>
                  <a:pt x="2061" y="1035"/>
                </a:cubicBezTo>
                <a:cubicBezTo>
                  <a:pt x="2053" y="1045"/>
                  <a:pt x="2049" y="1068"/>
                  <a:pt x="2025" y="1107"/>
                </a:cubicBezTo>
                <a:cubicBezTo>
                  <a:pt x="1986" y="1165"/>
                  <a:pt x="1948" y="1207"/>
                  <a:pt x="1917" y="1269"/>
                </a:cubicBezTo>
                <a:cubicBezTo>
                  <a:pt x="1904" y="1295"/>
                  <a:pt x="1861" y="1357"/>
                  <a:pt x="1854" y="1377"/>
                </a:cubicBezTo>
                <a:cubicBezTo>
                  <a:pt x="1837" y="1429"/>
                  <a:pt x="1791" y="1527"/>
                  <a:pt x="1746" y="1557"/>
                </a:cubicBezTo>
                <a:cubicBezTo>
                  <a:pt x="1733" y="1576"/>
                  <a:pt x="1714" y="1592"/>
                  <a:pt x="1701" y="1611"/>
                </a:cubicBezTo>
                <a:cubicBezTo>
                  <a:pt x="1678" y="1646"/>
                  <a:pt x="1697" y="1657"/>
                  <a:pt x="1647" y="1674"/>
                </a:cubicBezTo>
                <a:cubicBezTo>
                  <a:pt x="1622" y="1699"/>
                  <a:pt x="1594" y="1725"/>
                  <a:pt x="1566" y="1746"/>
                </a:cubicBezTo>
                <a:cubicBezTo>
                  <a:pt x="1549" y="1759"/>
                  <a:pt x="1512" y="1782"/>
                  <a:pt x="1512" y="1782"/>
                </a:cubicBezTo>
                <a:cubicBezTo>
                  <a:pt x="1489" y="1817"/>
                  <a:pt x="1474" y="1817"/>
                  <a:pt x="1440" y="1836"/>
                </a:cubicBezTo>
                <a:cubicBezTo>
                  <a:pt x="1335" y="1894"/>
                  <a:pt x="1437" y="1855"/>
                  <a:pt x="1332" y="1890"/>
                </a:cubicBezTo>
                <a:cubicBezTo>
                  <a:pt x="1290" y="1904"/>
                  <a:pt x="1322" y="1913"/>
                  <a:pt x="1278" y="1917"/>
                </a:cubicBezTo>
                <a:cubicBezTo>
                  <a:pt x="1227" y="1922"/>
                  <a:pt x="1176" y="1923"/>
                  <a:pt x="1125" y="1926"/>
                </a:cubicBezTo>
                <a:cubicBezTo>
                  <a:pt x="1074" y="1936"/>
                  <a:pt x="946" y="1966"/>
                  <a:pt x="900" y="1989"/>
                </a:cubicBezTo>
                <a:cubicBezTo>
                  <a:pt x="865" y="2007"/>
                  <a:pt x="831" y="2024"/>
                  <a:pt x="792" y="2034"/>
                </a:cubicBezTo>
                <a:cubicBezTo>
                  <a:pt x="762" y="2041"/>
                  <a:pt x="732" y="2045"/>
                  <a:pt x="702" y="2052"/>
                </a:cubicBezTo>
                <a:cubicBezTo>
                  <a:pt x="674" y="2059"/>
                  <a:pt x="649" y="2076"/>
                  <a:pt x="621" y="2079"/>
                </a:cubicBezTo>
                <a:cubicBezTo>
                  <a:pt x="480" y="2093"/>
                  <a:pt x="561" y="2086"/>
                  <a:pt x="378" y="2097"/>
                </a:cubicBezTo>
                <a:cubicBezTo>
                  <a:pt x="357" y="2100"/>
                  <a:pt x="319" y="2104"/>
                  <a:pt x="297" y="2115"/>
                </a:cubicBezTo>
                <a:cubicBezTo>
                  <a:pt x="262" y="2133"/>
                  <a:pt x="281" y="2134"/>
                  <a:pt x="243" y="2142"/>
                </a:cubicBezTo>
                <a:cubicBezTo>
                  <a:pt x="222" y="2146"/>
                  <a:pt x="126" y="2158"/>
                  <a:pt x="108" y="2160"/>
                </a:cubicBezTo>
                <a:cubicBezTo>
                  <a:pt x="90" y="2166"/>
                  <a:pt x="72" y="2172"/>
                  <a:pt x="54" y="2178"/>
                </a:cubicBezTo>
                <a:cubicBezTo>
                  <a:pt x="36" y="2184"/>
                  <a:pt x="42" y="2214"/>
                  <a:pt x="36" y="2232"/>
                </a:cubicBezTo>
                <a:cubicBezTo>
                  <a:pt x="24" y="2269"/>
                  <a:pt x="32" y="2251"/>
                  <a:pt x="9" y="2286"/>
                </a:cubicBezTo>
                <a:cubicBezTo>
                  <a:pt x="9" y="2286"/>
                  <a:pt x="23" y="2345"/>
                  <a:pt x="27" y="2349"/>
                </a:cubicBezTo>
                <a:cubicBezTo>
                  <a:pt x="57" y="2379"/>
                  <a:pt x="54" y="2342"/>
                  <a:pt x="54" y="2367"/>
                </a:cubicBezTo>
                <a:lnTo>
                  <a:pt x="0" y="2313"/>
                </a:lnTo>
                <a:close/>
              </a:path>
            </a:pathLst>
          </a:cu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3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31" grpId="0" animBg="1"/>
      <p:bldP spid="768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2E4A-053A-46AC-B7C5-F9CD9D35C11A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772400" cy="1143000"/>
          </a:xfrm>
        </p:spPr>
        <p:txBody>
          <a:bodyPr/>
          <a:lstStyle/>
          <a:p>
            <a:r>
              <a:rPr lang="en-US" altLang="en-US" dirty="0"/>
              <a:t>Starting CURE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5334000"/>
          </a:xfrm>
        </p:spPr>
        <p:txBody>
          <a:bodyPr/>
          <a:lstStyle/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Pick a random sample of points that fit in main memory.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Cluster these points hierarchically.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For each cluster, pick a sample of points, as dispersed as possible.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 altLang="en-US" dirty="0"/>
              <a:t>Pick </a:t>
            </a:r>
            <a:r>
              <a:rPr lang="en-US" altLang="en-US" i="1" dirty="0">
                <a:solidFill>
                  <a:srgbClr val="FF0000"/>
                </a:solidFill>
              </a:rPr>
              <a:t>representatives</a:t>
            </a:r>
            <a:r>
              <a:rPr lang="en-US" altLang="en-US" dirty="0"/>
              <a:t> for the cluster by moving the sample points (say) 20% toward the centroid of the cluster.</a:t>
            </a:r>
          </a:p>
        </p:txBody>
      </p:sp>
    </p:spTree>
    <p:extLst>
      <p:ext uri="{BB962C8B-B14F-4D97-AF65-F5344CB8AC3E}">
        <p14:creationId xmlns:p14="http://schemas.microsoft.com/office/powerpoint/2010/main" val="41859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83A0D-0CB0-4D2D-B4D3-211DA0D8780F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-15277" y="17745"/>
            <a:ext cx="91440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Initial Clusters</a:t>
            </a:r>
          </a:p>
        </p:txBody>
      </p:sp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1660525" y="338613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3200400" y="34290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4114800" y="2743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4" name="Text Box 6"/>
          <p:cNvSpPr txBox="1">
            <a:spLocks noChangeArrowheads="1"/>
          </p:cNvSpPr>
          <p:nvPr/>
        </p:nvSpPr>
        <p:spPr bwMode="auto">
          <a:xfrm>
            <a:off x="5410200" y="3200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5" name="Text Box 7"/>
          <p:cNvSpPr txBox="1">
            <a:spLocks noChangeArrowheads="1"/>
          </p:cNvSpPr>
          <p:nvPr/>
        </p:nvSpPr>
        <p:spPr bwMode="auto">
          <a:xfrm>
            <a:off x="5562600" y="2438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6705600" y="2514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7" name="Text Box 9"/>
          <p:cNvSpPr txBox="1">
            <a:spLocks noChangeArrowheads="1"/>
          </p:cNvSpPr>
          <p:nvPr/>
        </p:nvSpPr>
        <p:spPr bwMode="auto">
          <a:xfrm>
            <a:off x="1981200" y="3886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8" name="Text Box 10"/>
          <p:cNvSpPr txBox="1">
            <a:spLocks noChangeArrowheads="1"/>
          </p:cNvSpPr>
          <p:nvPr/>
        </p:nvSpPr>
        <p:spPr bwMode="auto">
          <a:xfrm>
            <a:off x="2667000" y="3276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41148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6019800" y="2895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61" name="Text Box 13"/>
          <p:cNvSpPr txBox="1">
            <a:spLocks noChangeArrowheads="1"/>
          </p:cNvSpPr>
          <p:nvPr/>
        </p:nvSpPr>
        <p:spPr bwMode="auto">
          <a:xfrm>
            <a:off x="66294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8862" name="Text Box 14"/>
          <p:cNvSpPr txBox="1">
            <a:spLocks noChangeArrowheads="1"/>
          </p:cNvSpPr>
          <p:nvPr/>
        </p:nvSpPr>
        <p:spPr bwMode="auto">
          <a:xfrm>
            <a:off x="1736725" y="483393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3" name="Text Box 15"/>
          <p:cNvSpPr txBox="1">
            <a:spLocks noChangeArrowheads="1"/>
          </p:cNvSpPr>
          <p:nvPr/>
        </p:nvSpPr>
        <p:spPr bwMode="auto">
          <a:xfrm>
            <a:off x="5181600" y="2895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4" name="Text Box 16"/>
          <p:cNvSpPr txBox="1">
            <a:spLocks noChangeArrowheads="1"/>
          </p:cNvSpPr>
          <p:nvPr/>
        </p:nvSpPr>
        <p:spPr bwMode="auto">
          <a:xfrm>
            <a:off x="5257800" y="4114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5" name="Text Box 17"/>
          <p:cNvSpPr txBox="1">
            <a:spLocks noChangeArrowheads="1"/>
          </p:cNvSpPr>
          <p:nvPr/>
        </p:nvSpPr>
        <p:spPr bwMode="auto">
          <a:xfrm>
            <a:off x="5791200" y="3276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6" name="Text Box 18"/>
          <p:cNvSpPr txBox="1">
            <a:spLocks noChangeArrowheads="1"/>
          </p:cNvSpPr>
          <p:nvPr/>
        </p:nvSpPr>
        <p:spPr bwMode="auto">
          <a:xfrm>
            <a:off x="6248400" y="2133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7" name="Text Box 19"/>
          <p:cNvSpPr txBox="1">
            <a:spLocks noChangeArrowheads="1"/>
          </p:cNvSpPr>
          <p:nvPr/>
        </p:nvSpPr>
        <p:spPr bwMode="auto">
          <a:xfrm>
            <a:off x="67818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8" name="Text Box 20"/>
          <p:cNvSpPr txBox="1">
            <a:spLocks noChangeArrowheads="1"/>
          </p:cNvSpPr>
          <p:nvPr/>
        </p:nvSpPr>
        <p:spPr bwMode="auto">
          <a:xfrm>
            <a:off x="32766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69" name="Text Box 21"/>
          <p:cNvSpPr txBox="1">
            <a:spLocks noChangeArrowheads="1"/>
          </p:cNvSpPr>
          <p:nvPr/>
        </p:nvSpPr>
        <p:spPr bwMode="auto">
          <a:xfrm>
            <a:off x="38100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0" name="Text Box 22"/>
          <p:cNvSpPr txBox="1">
            <a:spLocks noChangeArrowheads="1"/>
          </p:cNvSpPr>
          <p:nvPr/>
        </p:nvSpPr>
        <p:spPr bwMode="auto">
          <a:xfrm>
            <a:off x="4648200" y="3733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4572000" y="4343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59436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3" name="Text Box 25"/>
          <p:cNvSpPr txBox="1">
            <a:spLocks noChangeArrowheads="1"/>
          </p:cNvSpPr>
          <p:nvPr/>
        </p:nvSpPr>
        <p:spPr bwMode="auto">
          <a:xfrm>
            <a:off x="2209800" y="4800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4" name="Text Box 26"/>
          <p:cNvSpPr txBox="1">
            <a:spLocks noChangeArrowheads="1"/>
          </p:cNvSpPr>
          <p:nvPr/>
        </p:nvSpPr>
        <p:spPr bwMode="auto">
          <a:xfrm>
            <a:off x="2590800" y="4724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8875" name="Text Box 27"/>
          <p:cNvSpPr txBox="1">
            <a:spLocks noChangeArrowheads="1"/>
          </p:cNvSpPr>
          <p:nvPr/>
        </p:nvSpPr>
        <p:spPr bwMode="auto">
          <a:xfrm>
            <a:off x="441325" y="3995738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salary</a:t>
            </a:r>
          </a:p>
        </p:txBody>
      </p:sp>
      <p:sp>
        <p:nvSpPr>
          <p:cNvPr id="78876" name="Text Box 28"/>
          <p:cNvSpPr txBox="1">
            <a:spLocks noChangeArrowheads="1"/>
          </p:cNvSpPr>
          <p:nvPr/>
        </p:nvSpPr>
        <p:spPr bwMode="auto">
          <a:xfrm>
            <a:off x="3946525" y="5672138"/>
            <a:ext cx="67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age</a:t>
            </a:r>
          </a:p>
        </p:txBody>
      </p:sp>
      <p:sp>
        <p:nvSpPr>
          <p:cNvPr id="78877" name="Line 29"/>
          <p:cNvSpPr>
            <a:spLocks noChangeShapeType="1"/>
          </p:cNvSpPr>
          <p:nvPr/>
        </p:nvSpPr>
        <p:spPr bwMode="auto">
          <a:xfrm>
            <a:off x="4648200" y="594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8" name="Line 30"/>
          <p:cNvSpPr>
            <a:spLocks noChangeShapeType="1"/>
          </p:cNvSpPr>
          <p:nvPr/>
        </p:nvSpPr>
        <p:spPr bwMode="auto">
          <a:xfrm flipV="1">
            <a:off x="8382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9" name="Oval 31"/>
          <p:cNvSpPr>
            <a:spLocks noChangeArrowheads="1"/>
          </p:cNvSpPr>
          <p:nvPr/>
        </p:nvSpPr>
        <p:spPr bwMode="auto">
          <a:xfrm rot="-765715">
            <a:off x="1524000" y="2971800"/>
            <a:ext cx="3200400" cy="12192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80" name="Oval 32"/>
          <p:cNvSpPr>
            <a:spLocks noChangeArrowheads="1"/>
          </p:cNvSpPr>
          <p:nvPr/>
        </p:nvSpPr>
        <p:spPr bwMode="auto">
          <a:xfrm>
            <a:off x="5105400" y="1524000"/>
            <a:ext cx="2438400" cy="24384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81" name="Oval 33"/>
          <p:cNvSpPr>
            <a:spLocks noChangeArrowheads="1"/>
          </p:cNvSpPr>
          <p:nvPr/>
        </p:nvSpPr>
        <p:spPr bwMode="auto">
          <a:xfrm rot="-867123">
            <a:off x="1524000" y="4114800"/>
            <a:ext cx="4419600" cy="10668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4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79" grpId="0" animBg="1"/>
      <p:bldP spid="78880" grpId="0" animBg="1"/>
      <p:bldP spid="7888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DC6A6-B8EA-4C4F-AACA-632B39A7C133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Pick Dispersed Points</a:t>
            </a:r>
          </a:p>
        </p:txBody>
      </p:sp>
      <p:sp>
        <p:nvSpPr>
          <p:cNvPr id="79875" name="Text Box 3"/>
          <p:cNvSpPr txBox="1">
            <a:spLocks noChangeArrowheads="1"/>
          </p:cNvSpPr>
          <p:nvPr/>
        </p:nvSpPr>
        <p:spPr bwMode="auto">
          <a:xfrm>
            <a:off x="1660525" y="338613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3200400" y="34290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77" name="Text Box 5"/>
          <p:cNvSpPr txBox="1">
            <a:spLocks noChangeArrowheads="1"/>
          </p:cNvSpPr>
          <p:nvPr/>
        </p:nvSpPr>
        <p:spPr bwMode="auto">
          <a:xfrm>
            <a:off x="4114800" y="2743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5410200" y="3200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5562600" y="2438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0" name="Text Box 8"/>
          <p:cNvSpPr txBox="1">
            <a:spLocks noChangeArrowheads="1"/>
          </p:cNvSpPr>
          <p:nvPr/>
        </p:nvSpPr>
        <p:spPr bwMode="auto">
          <a:xfrm>
            <a:off x="6705600" y="2514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1" name="Text Box 9"/>
          <p:cNvSpPr txBox="1">
            <a:spLocks noChangeArrowheads="1"/>
          </p:cNvSpPr>
          <p:nvPr/>
        </p:nvSpPr>
        <p:spPr bwMode="auto">
          <a:xfrm>
            <a:off x="1981200" y="3886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2" name="Text Box 10"/>
          <p:cNvSpPr txBox="1">
            <a:spLocks noChangeArrowheads="1"/>
          </p:cNvSpPr>
          <p:nvPr/>
        </p:nvSpPr>
        <p:spPr bwMode="auto">
          <a:xfrm>
            <a:off x="2667000" y="3276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3" name="Text Box 11"/>
          <p:cNvSpPr txBox="1">
            <a:spLocks noChangeArrowheads="1"/>
          </p:cNvSpPr>
          <p:nvPr/>
        </p:nvSpPr>
        <p:spPr bwMode="auto">
          <a:xfrm>
            <a:off x="41148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4" name="Text Box 12"/>
          <p:cNvSpPr txBox="1">
            <a:spLocks noChangeArrowheads="1"/>
          </p:cNvSpPr>
          <p:nvPr/>
        </p:nvSpPr>
        <p:spPr bwMode="auto">
          <a:xfrm>
            <a:off x="6019800" y="2895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66294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79886" name="Text Box 14"/>
          <p:cNvSpPr txBox="1">
            <a:spLocks noChangeArrowheads="1"/>
          </p:cNvSpPr>
          <p:nvPr/>
        </p:nvSpPr>
        <p:spPr bwMode="auto">
          <a:xfrm>
            <a:off x="1736725" y="483393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5181600" y="2895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88" name="Text Box 16"/>
          <p:cNvSpPr txBox="1">
            <a:spLocks noChangeArrowheads="1"/>
          </p:cNvSpPr>
          <p:nvPr/>
        </p:nvSpPr>
        <p:spPr bwMode="auto">
          <a:xfrm>
            <a:off x="5257800" y="4114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89" name="Text Box 17"/>
          <p:cNvSpPr txBox="1">
            <a:spLocks noChangeArrowheads="1"/>
          </p:cNvSpPr>
          <p:nvPr/>
        </p:nvSpPr>
        <p:spPr bwMode="auto">
          <a:xfrm>
            <a:off x="5791200" y="3276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0" name="Text Box 18"/>
          <p:cNvSpPr txBox="1">
            <a:spLocks noChangeArrowheads="1"/>
          </p:cNvSpPr>
          <p:nvPr/>
        </p:nvSpPr>
        <p:spPr bwMode="auto">
          <a:xfrm>
            <a:off x="6248400" y="2133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1" name="Text Box 19"/>
          <p:cNvSpPr txBox="1">
            <a:spLocks noChangeArrowheads="1"/>
          </p:cNvSpPr>
          <p:nvPr/>
        </p:nvSpPr>
        <p:spPr bwMode="auto">
          <a:xfrm>
            <a:off x="67818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2" name="Text Box 20"/>
          <p:cNvSpPr txBox="1">
            <a:spLocks noChangeArrowheads="1"/>
          </p:cNvSpPr>
          <p:nvPr/>
        </p:nvSpPr>
        <p:spPr bwMode="auto">
          <a:xfrm>
            <a:off x="32766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3" name="Text Box 21"/>
          <p:cNvSpPr txBox="1">
            <a:spLocks noChangeArrowheads="1"/>
          </p:cNvSpPr>
          <p:nvPr/>
        </p:nvSpPr>
        <p:spPr bwMode="auto">
          <a:xfrm>
            <a:off x="38100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4" name="Text Box 22"/>
          <p:cNvSpPr txBox="1">
            <a:spLocks noChangeArrowheads="1"/>
          </p:cNvSpPr>
          <p:nvPr/>
        </p:nvSpPr>
        <p:spPr bwMode="auto">
          <a:xfrm>
            <a:off x="4648200" y="3733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5" name="Text Box 23"/>
          <p:cNvSpPr txBox="1">
            <a:spLocks noChangeArrowheads="1"/>
          </p:cNvSpPr>
          <p:nvPr/>
        </p:nvSpPr>
        <p:spPr bwMode="auto">
          <a:xfrm>
            <a:off x="4572000" y="4343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6" name="Text Box 24"/>
          <p:cNvSpPr txBox="1">
            <a:spLocks noChangeArrowheads="1"/>
          </p:cNvSpPr>
          <p:nvPr/>
        </p:nvSpPr>
        <p:spPr bwMode="auto">
          <a:xfrm>
            <a:off x="59436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7" name="Text Box 25"/>
          <p:cNvSpPr txBox="1">
            <a:spLocks noChangeArrowheads="1"/>
          </p:cNvSpPr>
          <p:nvPr/>
        </p:nvSpPr>
        <p:spPr bwMode="auto">
          <a:xfrm>
            <a:off x="2209800" y="4800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8" name="Text Box 26"/>
          <p:cNvSpPr txBox="1">
            <a:spLocks noChangeArrowheads="1"/>
          </p:cNvSpPr>
          <p:nvPr/>
        </p:nvSpPr>
        <p:spPr bwMode="auto">
          <a:xfrm>
            <a:off x="2590800" y="4724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79899" name="Text Box 27"/>
          <p:cNvSpPr txBox="1">
            <a:spLocks noChangeArrowheads="1"/>
          </p:cNvSpPr>
          <p:nvPr/>
        </p:nvSpPr>
        <p:spPr bwMode="auto">
          <a:xfrm>
            <a:off x="441325" y="3995738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salary</a:t>
            </a:r>
          </a:p>
        </p:txBody>
      </p:sp>
      <p:sp>
        <p:nvSpPr>
          <p:cNvPr id="79900" name="Text Box 28"/>
          <p:cNvSpPr txBox="1">
            <a:spLocks noChangeArrowheads="1"/>
          </p:cNvSpPr>
          <p:nvPr/>
        </p:nvSpPr>
        <p:spPr bwMode="auto">
          <a:xfrm>
            <a:off x="3946525" y="5672138"/>
            <a:ext cx="67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age</a:t>
            </a:r>
          </a:p>
        </p:txBody>
      </p:sp>
      <p:sp>
        <p:nvSpPr>
          <p:cNvPr id="79901" name="Line 29"/>
          <p:cNvSpPr>
            <a:spLocks noChangeShapeType="1"/>
          </p:cNvSpPr>
          <p:nvPr/>
        </p:nvSpPr>
        <p:spPr bwMode="auto">
          <a:xfrm>
            <a:off x="4648200" y="594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 flipV="1">
            <a:off x="8382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3" name="Oval 31"/>
          <p:cNvSpPr>
            <a:spLocks noChangeArrowheads="1"/>
          </p:cNvSpPr>
          <p:nvPr/>
        </p:nvSpPr>
        <p:spPr bwMode="auto">
          <a:xfrm rot="-765715">
            <a:off x="1524000" y="2971800"/>
            <a:ext cx="3200400" cy="12192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4" name="Oval 32"/>
          <p:cNvSpPr>
            <a:spLocks noChangeArrowheads="1"/>
          </p:cNvSpPr>
          <p:nvPr/>
        </p:nvSpPr>
        <p:spPr bwMode="auto">
          <a:xfrm>
            <a:off x="5105400" y="1524000"/>
            <a:ext cx="2438400" cy="24384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5" name="Oval 33"/>
          <p:cNvSpPr>
            <a:spLocks noChangeArrowheads="1"/>
          </p:cNvSpPr>
          <p:nvPr/>
        </p:nvSpPr>
        <p:spPr bwMode="auto">
          <a:xfrm rot="-867123">
            <a:off x="1524000" y="4114800"/>
            <a:ext cx="4419600" cy="10668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6" name="Oval 34"/>
          <p:cNvSpPr>
            <a:spLocks noChangeArrowheads="1"/>
          </p:cNvSpPr>
          <p:nvPr/>
        </p:nvSpPr>
        <p:spPr bwMode="auto">
          <a:xfrm>
            <a:off x="5867400" y="15240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7" name="Oval 35"/>
          <p:cNvSpPr>
            <a:spLocks noChangeArrowheads="1"/>
          </p:cNvSpPr>
          <p:nvPr/>
        </p:nvSpPr>
        <p:spPr bwMode="auto">
          <a:xfrm>
            <a:off x="6705600" y="15240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8" name="Oval 36"/>
          <p:cNvSpPr>
            <a:spLocks noChangeArrowheads="1"/>
          </p:cNvSpPr>
          <p:nvPr/>
        </p:nvSpPr>
        <p:spPr bwMode="auto">
          <a:xfrm>
            <a:off x="5105400" y="28956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09" name="Oval 37"/>
          <p:cNvSpPr>
            <a:spLocks noChangeArrowheads="1"/>
          </p:cNvSpPr>
          <p:nvPr/>
        </p:nvSpPr>
        <p:spPr bwMode="auto">
          <a:xfrm>
            <a:off x="6553200" y="33528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910" name="Text Box 38"/>
          <p:cNvSpPr txBox="1">
            <a:spLocks noChangeArrowheads="1"/>
          </p:cNvSpPr>
          <p:nvPr/>
        </p:nvSpPr>
        <p:spPr bwMode="auto">
          <a:xfrm>
            <a:off x="6994525" y="3995738"/>
            <a:ext cx="2043113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Pick (say) 4</a:t>
            </a:r>
          </a:p>
          <a:p>
            <a:r>
              <a:rPr lang="en-US" altLang="en-US"/>
              <a:t>remote points</a:t>
            </a:r>
          </a:p>
          <a:p>
            <a:r>
              <a:rPr lang="en-US" altLang="en-US"/>
              <a:t>for each</a:t>
            </a:r>
          </a:p>
          <a:p>
            <a:r>
              <a:rPr lang="en-US" altLang="en-US"/>
              <a:t>cluster.</a:t>
            </a:r>
          </a:p>
        </p:txBody>
      </p:sp>
    </p:spTree>
    <p:extLst>
      <p:ext uri="{BB962C8B-B14F-4D97-AF65-F5344CB8AC3E}">
        <p14:creationId xmlns:p14="http://schemas.microsoft.com/office/powerpoint/2010/main" val="351089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06" grpId="0" animBg="1"/>
      <p:bldP spid="79907" grpId="0" animBg="1"/>
      <p:bldP spid="79908" grpId="0" animBg="1"/>
      <p:bldP spid="7990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9AFB4-15C2-44E6-9E1C-72D1D72B319F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altLang="en-US" dirty="0">
                <a:solidFill>
                  <a:srgbClr val="92D050"/>
                </a:solidFill>
              </a:rPr>
              <a:t>Example</a:t>
            </a:r>
            <a:r>
              <a:rPr lang="en-US" altLang="en-US" dirty="0"/>
              <a:t>: Pick Dispersed Points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1660525" y="3386138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3200400" y="34290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4114800" y="2743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5410200" y="3200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5562600" y="24384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6705600" y="2514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5" name="Text Box 9"/>
          <p:cNvSpPr txBox="1">
            <a:spLocks noChangeArrowheads="1"/>
          </p:cNvSpPr>
          <p:nvPr/>
        </p:nvSpPr>
        <p:spPr bwMode="auto">
          <a:xfrm>
            <a:off x="1981200" y="38862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6" name="Text Box 10"/>
          <p:cNvSpPr txBox="1">
            <a:spLocks noChangeArrowheads="1"/>
          </p:cNvSpPr>
          <p:nvPr/>
        </p:nvSpPr>
        <p:spPr bwMode="auto">
          <a:xfrm>
            <a:off x="2667000" y="3276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7" name="Text Box 11"/>
          <p:cNvSpPr txBox="1">
            <a:spLocks noChangeArrowheads="1"/>
          </p:cNvSpPr>
          <p:nvPr/>
        </p:nvSpPr>
        <p:spPr bwMode="auto">
          <a:xfrm>
            <a:off x="41148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8" name="Text Box 12"/>
          <p:cNvSpPr txBox="1">
            <a:spLocks noChangeArrowheads="1"/>
          </p:cNvSpPr>
          <p:nvPr/>
        </p:nvSpPr>
        <p:spPr bwMode="auto">
          <a:xfrm>
            <a:off x="6019800" y="28956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09" name="Text Box 13"/>
          <p:cNvSpPr txBox="1">
            <a:spLocks noChangeArrowheads="1"/>
          </p:cNvSpPr>
          <p:nvPr/>
        </p:nvSpPr>
        <p:spPr bwMode="auto">
          <a:xfrm>
            <a:off x="6629400" y="3352800"/>
            <a:ext cx="34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e</a:t>
            </a:r>
          </a:p>
        </p:txBody>
      </p:sp>
      <p:sp>
        <p:nvSpPr>
          <p:cNvPr id="80910" name="Text Box 14"/>
          <p:cNvSpPr txBox="1">
            <a:spLocks noChangeArrowheads="1"/>
          </p:cNvSpPr>
          <p:nvPr/>
        </p:nvSpPr>
        <p:spPr bwMode="auto">
          <a:xfrm>
            <a:off x="1736725" y="4833938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1" name="Text Box 15"/>
          <p:cNvSpPr txBox="1">
            <a:spLocks noChangeArrowheads="1"/>
          </p:cNvSpPr>
          <p:nvPr/>
        </p:nvSpPr>
        <p:spPr bwMode="auto">
          <a:xfrm>
            <a:off x="5181600" y="2895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2" name="Text Box 16"/>
          <p:cNvSpPr txBox="1">
            <a:spLocks noChangeArrowheads="1"/>
          </p:cNvSpPr>
          <p:nvPr/>
        </p:nvSpPr>
        <p:spPr bwMode="auto">
          <a:xfrm>
            <a:off x="5257800" y="4114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3" name="Text Box 17"/>
          <p:cNvSpPr txBox="1">
            <a:spLocks noChangeArrowheads="1"/>
          </p:cNvSpPr>
          <p:nvPr/>
        </p:nvSpPr>
        <p:spPr bwMode="auto">
          <a:xfrm>
            <a:off x="5791200" y="3276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4" name="Text Box 18"/>
          <p:cNvSpPr txBox="1">
            <a:spLocks noChangeArrowheads="1"/>
          </p:cNvSpPr>
          <p:nvPr/>
        </p:nvSpPr>
        <p:spPr bwMode="auto">
          <a:xfrm>
            <a:off x="6248400" y="2133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5" name="Text Box 19"/>
          <p:cNvSpPr txBox="1">
            <a:spLocks noChangeArrowheads="1"/>
          </p:cNvSpPr>
          <p:nvPr/>
        </p:nvSpPr>
        <p:spPr bwMode="auto">
          <a:xfrm>
            <a:off x="67818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6" name="Text Box 20"/>
          <p:cNvSpPr txBox="1">
            <a:spLocks noChangeArrowheads="1"/>
          </p:cNvSpPr>
          <p:nvPr/>
        </p:nvSpPr>
        <p:spPr bwMode="auto">
          <a:xfrm>
            <a:off x="32766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7" name="Text Box 21"/>
          <p:cNvSpPr txBox="1">
            <a:spLocks noChangeArrowheads="1"/>
          </p:cNvSpPr>
          <p:nvPr/>
        </p:nvSpPr>
        <p:spPr bwMode="auto">
          <a:xfrm>
            <a:off x="3810000" y="4495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8" name="Text Box 22"/>
          <p:cNvSpPr txBox="1">
            <a:spLocks noChangeArrowheads="1"/>
          </p:cNvSpPr>
          <p:nvPr/>
        </p:nvSpPr>
        <p:spPr bwMode="auto">
          <a:xfrm>
            <a:off x="4648200" y="37338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19" name="Text Box 23"/>
          <p:cNvSpPr txBox="1">
            <a:spLocks noChangeArrowheads="1"/>
          </p:cNvSpPr>
          <p:nvPr/>
        </p:nvSpPr>
        <p:spPr bwMode="auto">
          <a:xfrm>
            <a:off x="4572000" y="4343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20" name="Text Box 24"/>
          <p:cNvSpPr txBox="1">
            <a:spLocks noChangeArrowheads="1"/>
          </p:cNvSpPr>
          <p:nvPr/>
        </p:nvSpPr>
        <p:spPr bwMode="auto">
          <a:xfrm>
            <a:off x="5943600" y="15240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21" name="Text Box 25"/>
          <p:cNvSpPr txBox="1">
            <a:spLocks noChangeArrowheads="1"/>
          </p:cNvSpPr>
          <p:nvPr/>
        </p:nvSpPr>
        <p:spPr bwMode="auto">
          <a:xfrm>
            <a:off x="2209800" y="48006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22" name="Text Box 26"/>
          <p:cNvSpPr txBox="1">
            <a:spLocks noChangeArrowheads="1"/>
          </p:cNvSpPr>
          <p:nvPr/>
        </p:nvSpPr>
        <p:spPr bwMode="auto">
          <a:xfrm>
            <a:off x="2590800" y="472440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0066"/>
                </a:solidFill>
              </a:rPr>
              <a:t>h</a:t>
            </a:r>
          </a:p>
        </p:txBody>
      </p:sp>
      <p:sp>
        <p:nvSpPr>
          <p:cNvPr id="80923" name="Text Box 27"/>
          <p:cNvSpPr txBox="1">
            <a:spLocks noChangeArrowheads="1"/>
          </p:cNvSpPr>
          <p:nvPr/>
        </p:nvSpPr>
        <p:spPr bwMode="auto">
          <a:xfrm>
            <a:off x="441325" y="3995738"/>
            <a:ext cx="973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salary</a:t>
            </a:r>
          </a:p>
        </p:txBody>
      </p:sp>
      <p:sp>
        <p:nvSpPr>
          <p:cNvPr id="80924" name="Text Box 28"/>
          <p:cNvSpPr txBox="1">
            <a:spLocks noChangeArrowheads="1"/>
          </p:cNvSpPr>
          <p:nvPr/>
        </p:nvSpPr>
        <p:spPr bwMode="auto">
          <a:xfrm>
            <a:off x="3946525" y="5672138"/>
            <a:ext cx="673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age</a:t>
            </a:r>
          </a:p>
        </p:txBody>
      </p:sp>
      <p:sp>
        <p:nvSpPr>
          <p:cNvPr id="80925" name="Line 29"/>
          <p:cNvSpPr>
            <a:spLocks noChangeShapeType="1"/>
          </p:cNvSpPr>
          <p:nvPr/>
        </p:nvSpPr>
        <p:spPr bwMode="auto">
          <a:xfrm>
            <a:off x="4648200" y="5943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26" name="Line 30"/>
          <p:cNvSpPr>
            <a:spLocks noChangeShapeType="1"/>
          </p:cNvSpPr>
          <p:nvPr/>
        </p:nvSpPr>
        <p:spPr bwMode="auto">
          <a:xfrm flipV="1">
            <a:off x="8382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27" name="Oval 31"/>
          <p:cNvSpPr>
            <a:spLocks noChangeArrowheads="1"/>
          </p:cNvSpPr>
          <p:nvPr/>
        </p:nvSpPr>
        <p:spPr bwMode="auto">
          <a:xfrm rot="-765715">
            <a:off x="1524000" y="2971800"/>
            <a:ext cx="3200400" cy="12192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28" name="Oval 32"/>
          <p:cNvSpPr>
            <a:spLocks noChangeArrowheads="1"/>
          </p:cNvSpPr>
          <p:nvPr/>
        </p:nvSpPr>
        <p:spPr bwMode="auto">
          <a:xfrm>
            <a:off x="5105400" y="1524000"/>
            <a:ext cx="2438400" cy="24384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29" name="Oval 33"/>
          <p:cNvSpPr>
            <a:spLocks noChangeArrowheads="1"/>
          </p:cNvSpPr>
          <p:nvPr/>
        </p:nvSpPr>
        <p:spPr bwMode="auto">
          <a:xfrm rot="-867123">
            <a:off x="1524000" y="4114800"/>
            <a:ext cx="4419600" cy="10668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30" name="Oval 34"/>
          <p:cNvSpPr>
            <a:spLocks noChangeArrowheads="1"/>
          </p:cNvSpPr>
          <p:nvPr/>
        </p:nvSpPr>
        <p:spPr bwMode="auto">
          <a:xfrm>
            <a:off x="5943600" y="18288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31" name="Oval 35"/>
          <p:cNvSpPr>
            <a:spLocks noChangeArrowheads="1"/>
          </p:cNvSpPr>
          <p:nvPr/>
        </p:nvSpPr>
        <p:spPr bwMode="auto">
          <a:xfrm>
            <a:off x="6553200" y="18288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32" name="Oval 36"/>
          <p:cNvSpPr>
            <a:spLocks noChangeArrowheads="1"/>
          </p:cNvSpPr>
          <p:nvPr/>
        </p:nvSpPr>
        <p:spPr bwMode="auto">
          <a:xfrm>
            <a:off x="5410200" y="28194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33" name="Oval 37"/>
          <p:cNvSpPr>
            <a:spLocks noChangeArrowheads="1"/>
          </p:cNvSpPr>
          <p:nvPr/>
        </p:nvSpPr>
        <p:spPr bwMode="auto">
          <a:xfrm>
            <a:off x="6400800" y="3048000"/>
            <a:ext cx="457200" cy="4572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34" name="Text Box 38"/>
          <p:cNvSpPr txBox="1">
            <a:spLocks noChangeArrowheads="1"/>
          </p:cNvSpPr>
          <p:nvPr/>
        </p:nvSpPr>
        <p:spPr bwMode="auto">
          <a:xfrm>
            <a:off x="6994525" y="3995738"/>
            <a:ext cx="1803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Move points</a:t>
            </a:r>
          </a:p>
          <a:p>
            <a:r>
              <a:rPr lang="en-US" altLang="en-US"/>
              <a:t>(say) 20%</a:t>
            </a:r>
          </a:p>
          <a:p>
            <a:r>
              <a:rPr lang="en-US" altLang="en-US"/>
              <a:t>toward the</a:t>
            </a:r>
          </a:p>
          <a:p>
            <a:r>
              <a:rPr lang="en-US" altLang="en-US"/>
              <a:t>centroid.</a:t>
            </a:r>
          </a:p>
        </p:txBody>
      </p:sp>
    </p:spTree>
    <p:extLst>
      <p:ext uri="{BB962C8B-B14F-4D97-AF65-F5344CB8AC3E}">
        <p14:creationId xmlns:p14="http://schemas.microsoft.com/office/powerpoint/2010/main" val="35097868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20% Move Inward?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large, dispersed cluster will have large moves from its boundary.</a:t>
            </a:r>
          </a:p>
          <a:p>
            <a:r>
              <a:rPr lang="en-US" dirty="0"/>
              <a:t>A small, dense cluster will have little move.</a:t>
            </a:r>
          </a:p>
          <a:p>
            <a:r>
              <a:rPr lang="en-US" dirty="0"/>
              <a:t>Favors a small, dense cluster that is near a larger dispersed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362200" y="4343400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514600" y="4495800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86000" y="4599140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590800" y="4343400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514600" y="4725705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209800" y="4484840"/>
            <a:ext cx="152400" cy="114300"/>
          </a:xfrm>
          <a:prstGeom prst="ellipse">
            <a:avLst/>
          </a:prstGeom>
          <a:solidFill>
            <a:srgbClr val="FF0000"/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276600" y="525780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657600" y="4988751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048000" y="4880975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514600" y="4995275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470753" y="467534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161773" y="495300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14173" y="424006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733800" y="444674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870548" y="456104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048000" y="4229100"/>
            <a:ext cx="152400" cy="1143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179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19555-6F9E-4B55-9BEC-C01F9DD75887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Finishing CURE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Now, visit each point </a:t>
            </a:r>
            <a:r>
              <a:rPr lang="en-US" altLang="en-US" i="1" dirty="0"/>
              <a:t>p</a:t>
            </a:r>
            <a:r>
              <a:rPr lang="en-US" altLang="en-US" dirty="0"/>
              <a:t> in the data set.</a:t>
            </a:r>
          </a:p>
          <a:p>
            <a:r>
              <a:rPr lang="en-US" altLang="en-US" dirty="0"/>
              <a:t>Place it in the “closest cluster.”</a:t>
            </a:r>
          </a:p>
          <a:p>
            <a:pPr lvl="1"/>
            <a:r>
              <a:rPr lang="en-US" altLang="en-US"/>
              <a:t>CURE </a:t>
            </a:r>
            <a:r>
              <a:rPr lang="en-US" altLang="en-US" dirty="0"/>
              <a:t>definition of “closest”: that cluster with the closest (to </a:t>
            </a:r>
            <a:r>
              <a:rPr lang="en-US" altLang="en-US" i="1" dirty="0"/>
              <a:t>p</a:t>
            </a:r>
            <a:r>
              <a:rPr lang="en-US" altLang="en-US" dirty="0"/>
              <a:t>) among all the representative points of all the clusters.</a:t>
            </a:r>
          </a:p>
        </p:txBody>
      </p:sp>
    </p:spTree>
    <p:extLst>
      <p:ext uri="{BB962C8B-B14F-4D97-AF65-F5344CB8AC3E}">
        <p14:creationId xmlns:p14="http://schemas.microsoft.com/office/powerpoint/2010/main" val="2231416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Jure Color Schem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7030A0"/>
      </a:accent2>
      <a:accent3>
        <a:srgbClr val="00B0F0"/>
      </a:accent3>
      <a:accent4>
        <a:srgbClr val="D60093"/>
      </a:accent4>
      <a:accent5>
        <a:srgbClr val="008000"/>
      </a:accent5>
      <a:accent6>
        <a:srgbClr val="FF6600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cmpd="sng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 cmpd="sng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9653</TotalTime>
  <Words>2907</Words>
  <Application>Microsoft Office PowerPoint</Application>
  <PresentationFormat>On-screen Show (4:3)</PresentationFormat>
  <Paragraphs>538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Calibri</vt:lpstr>
      <vt:lpstr>Corbel</vt:lpstr>
      <vt:lpstr>Monotype Sorts</vt:lpstr>
      <vt:lpstr>Palatino Linotype</vt:lpstr>
      <vt:lpstr>Symbol</vt:lpstr>
      <vt:lpstr>Times New Roman</vt:lpstr>
      <vt:lpstr>Wingdings</vt:lpstr>
      <vt:lpstr>Wingdings 2</vt:lpstr>
      <vt:lpstr>Module</vt:lpstr>
      <vt:lpstr>PowerPoint Presentation</vt:lpstr>
      <vt:lpstr>Hierarchical /Agglomerative and Point- Assignment Approaches Measures of “Goodness” for Clusters BFR Algorithm CURE Algorithm</vt:lpstr>
      <vt:lpstr>The Problem of Clustering</vt:lpstr>
      <vt:lpstr>Example: Clusters</vt:lpstr>
      <vt:lpstr>Problems With Clustering</vt:lpstr>
      <vt:lpstr>The Curse of Dimensionality</vt:lpstr>
      <vt:lpstr>Example: Curse of Dimensionality</vt:lpstr>
      <vt:lpstr>Example – Continued</vt:lpstr>
      <vt:lpstr>Euclidean and Non-Euclidean Distances</vt:lpstr>
      <vt:lpstr>Example: DNA Sequences</vt:lpstr>
      <vt:lpstr>Methods of Clustering</vt:lpstr>
      <vt:lpstr>Which is Better?</vt:lpstr>
      <vt:lpstr>Hierarchical Clustering</vt:lpstr>
      <vt:lpstr>Locating Clusters</vt:lpstr>
      <vt:lpstr>PowerPoint Presentation</vt:lpstr>
      <vt:lpstr>Example</vt:lpstr>
      <vt:lpstr>Dendrogram</vt:lpstr>
      <vt:lpstr>And in the Non-Euclidean Case?</vt:lpstr>
      <vt:lpstr>“Closest” Point?</vt:lpstr>
      <vt:lpstr>Example: Intercluster Distance</vt:lpstr>
      <vt:lpstr>Other Approaches to Defining “Nearness” of Clusters</vt:lpstr>
      <vt:lpstr>Cohesion</vt:lpstr>
      <vt:lpstr>Cohesion – (2)</vt:lpstr>
      <vt:lpstr>Which is Best?</vt:lpstr>
      <vt:lpstr>Case 1: Convex Clusters</vt:lpstr>
      <vt:lpstr>Case 2: Concentric Clusters</vt:lpstr>
      <vt:lpstr>k–Means Algorithm(s)</vt:lpstr>
      <vt:lpstr>k-Means++</vt:lpstr>
      <vt:lpstr>k-Means | |</vt:lpstr>
      <vt:lpstr>Populating Clusters</vt:lpstr>
      <vt:lpstr>Example: Assigning Clusters</vt:lpstr>
      <vt:lpstr>Getting k Right</vt:lpstr>
      <vt:lpstr>Example: Picking k</vt:lpstr>
      <vt:lpstr>Example: Picking k</vt:lpstr>
      <vt:lpstr>Example: Picking k</vt:lpstr>
      <vt:lpstr>BFR Algorithm</vt:lpstr>
      <vt:lpstr>BFR – (2)</vt:lpstr>
      <vt:lpstr>Three Classes of Points</vt:lpstr>
      <vt:lpstr>“Galaxies” Picture</vt:lpstr>
      <vt:lpstr>Summarizing Sets of Points</vt:lpstr>
      <vt:lpstr>Comments</vt:lpstr>
      <vt:lpstr>Processing a “Memory-Full” of Points</vt:lpstr>
      <vt:lpstr>Processing – (2)</vt:lpstr>
      <vt:lpstr>A Few Details . . .</vt:lpstr>
      <vt:lpstr>How Close is Close Enough?</vt:lpstr>
      <vt:lpstr>Mahalanobis Distance</vt:lpstr>
      <vt:lpstr>Mahalanobis Distance – (2)</vt:lpstr>
      <vt:lpstr>Picture: Equal M.D. Regions</vt:lpstr>
      <vt:lpstr>Should Two CS Subclusters Be Combined?</vt:lpstr>
      <vt:lpstr>The CURE Algorithm</vt:lpstr>
      <vt:lpstr>Example: Stanford Faculty Salaries</vt:lpstr>
      <vt:lpstr>Starting CURE</vt:lpstr>
      <vt:lpstr>Example: Initial Clusters</vt:lpstr>
      <vt:lpstr>Example: Pick Dispersed Points</vt:lpstr>
      <vt:lpstr>Example: Pick Dispersed Points</vt:lpstr>
      <vt:lpstr>Why the 20% Move Inward?</vt:lpstr>
      <vt:lpstr>Finishing CURE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jure</dc:creator>
  <cp:lastModifiedBy>Dr. Mohammad Rezwanul Huq</cp:lastModifiedBy>
  <cp:revision>597</cp:revision>
  <dcterms:created xsi:type="dcterms:W3CDTF">2009-06-12T17:14:38Z</dcterms:created>
  <dcterms:modified xsi:type="dcterms:W3CDTF">2023-05-06T02:37:55Z</dcterms:modified>
</cp:coreProperties>
</file>