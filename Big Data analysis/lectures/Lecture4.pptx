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9144000"/>
  <p:notesSz cx="9144000" cy="6858000"/>
  <p:embeddedFontLst>
    <p:embeddedFont>
      <p:font typeface="Corbel"/>
      <p:regular r:id="rId32"/>
      <p:bold r:id="rId33"/>
      <p:italic r:id="rId34"/>
      <p:boldItalic r:id="rId35"/>
    </p:embeddedFont>
    <p:embeddedFont>
      <p:font typeface="Palatino Linotype"/>
      <p:regular r:id="rId36"/>
      <p:bold r:id="rId37"/>
      <p:italic r:id="rId38"/>
      <p:boldItalic r:id="rId39"/>
    </p:embeddedFont>
    <p:embeddedFont>
      <p:font typeface="Noto Sans Symbols"/>
      <p:regular r:id="rId40"/>
      <p:bold r:id="rId41"/>
    </p:embeddedFont>
    <p:embeddedFont>
      <p:font typeface="Cambria Math"/>
      <p:regular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jLfjaUzL4tCAeeDZaMeLvCxK3/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E990D3-C347-41EB-86D9-AD1BF09BC91A}">
  <a:tblStyle styleId="{83E990D3-C347-41EB-86D9-AD1BF09BC91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17AE584-C7AA-49E1-BE52-077580D899E3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toSansSymbols-regular.fntdata"/><Relationship Id="rId20" Type="http://schemas.openxmlformats.org/officeDocument/2006/relationships/slide" Target="slides/slide14.xml"/><Relationship Id="rId42" Type="http://schemas.openxmlformats.org/officeDocument/2006/relationships/font" Target="fonts/CambriaMath-regular.fntdata"/><Relationship Id="rId41" Type="http://schemas.openxmlformats.org/officeDocument/2006/relationships/font" Target="fonts/NotoSansSymbols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Corbel-bold.fntdata"/><Relationship Id="rId10" Type="http://schemas.openxmlformats.org/officeDocument/2006/relationships/slide" Target="slides/slide4.xml"/><Relationship Id="rId32" Type="http://schemas.openxmlformats.org/officeDocument/2006/relationships/font" Target="fonts/Corbel-regular.fntdata"/><Relationship Id="rId13" Type="http://schemas.openxmlformats.org/officeDocument/2006/relationships/slide" Target="slides/slide7.xml"/><Relationship Id="rId35" Type="http://schemas.openxmlformats.org/officeDocument/2006/relationships/font" Target="fonts/Corbel-boldItalic.fntdata"/><Relationship Id="rId12" Type="http://schemas.openxmlformats.org/officeDocument/2006/relationships/slide" Target="slides/slide6.xml"/><Relationship Id="rId34" Type="http://schemas.openxmlformats.org/officeDocument/2006/relationships/font" Target="fonts/Corbel-italic.fntdata"/><Relationship Id="rId15" Type="http://schemas.openxmlformats.org/officeDocument/2006/relationships/slide" Target="slides/slide9.xml"/><Relationship Id="rId37" Type="http://schemas.openxmlformats.org/officeDocument/2006/relationships/font" Target="fonts/PalatinoLinotype-bold.fntdata"/><Relationship Id="rId14" Type="http://schemas.openxmlformats.org/officeDocument/2006/relationships/slide" Target="slides/slide8.xml"/><Relationship Id="rId36" Type="http://schemas.openxmlformats.org/officeDocument/2006/relationships/font" Target="fonts/PalatinoLinotype-regular.fntdata"/><Relationship Id="rId17" Type="http://schemas.openxmlformats.org/officeDocument/2006/relationships/slide" Target="slides/slide11.xml"/><Relationship Id="rId39" Type="http://schemas.openxmlformats.org/officeDocument/2006/relationships/font" Target="fonts/PalatinoLinotype-boldItalic.fntdata"/><Relationship Id="rId16" Type="http://schemas.openxmlformats.org/officeDocument/2006/relationships/slide" Target="slides/slide10.xml"/><Relationship Id="rId38" Type="http://schemas.openxmlformats.org/officeDocument/2006/relationships/font" Target="fonts/PalatinoLinotype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554672" y="6713609"/>
            <a:ext cx="523875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8"/>
          <p:cNvSpPr txBox="1"/>
          <p:nvPr>
            <p:ph type="title"/>
          </p:nvPr>
        </p:nvSpPr>
        <p:spPr>
          <a:xfrm>
            <a:off x="938530" y="1716064"/>
            <a:ext cx="3696970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" type="body"/>
          </p:nvPr>
        </p:nvSpPr>
        <p:spPr>
          <a:xfrm>
            <a:off x="614362" y="2117695"/>
            <a:ext cx="7790180" cy="444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554672" y="6713609"/>
            <a:ext cx="523875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/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554672" y="6713609"/>
            <a:ext cx="523875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/>
          <p:nvPr>
            <p:ph type="title"/>
          </p:nvPr>
        </p:nvSpPr>
        <p:spPr>
          <a:xfrm>
            <a:off x="938530" y="1716064"/>
            <a:ext cx="3696970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554672" y="6713609"/>
            <a:ext cx="523875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/>
          <p:nvPr>
            <p:ph type="title"/>
          </p:nvPr>
        </p:nvSpPr>
        <p:spPr>
          <a:xfrm>
            <a:off x="938530" y="1716064"/>
            <a:ext cx="3696970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1" type="ftr"/>
          </p:nvPr>
        </p:nvSpPr>
        <p:spPr>
          <a:xfrm>
            <a:off x="554672" y="6713609"/>
            <a:ext cx="523875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1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999426"/>
            <a:ext cx="9144000" cy="11048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6"/>
          <p:cNvSpPr/>
          <p:nvPr/>
        </p:nvSpPr>
        <p:spPr>
          <a:xfrm>
            <a:off x="0" y="1019175"/>
            <a:ext cx="9144000" cy="47625"/>
          </a:xfrm>
          <a:custGeom>
            <a:rect b="b" l="l" r="r" t="t"/>
            <a:pathLst>
              <a:path extrusionOk="0" h="47625" w="9144000">
                <a:moveTo>
                  <a:pt x="9144000" y="0"/>
                </a:moveTo>
                <a:lnTo>
                  <a:pt x="0" y="0"/>
                </a:lnTo>
                <a:lnTo>
                  <a:pt x="0" y="47625"/>
                </a:lnTo>
                <a:lnTo>
                  <a:pt x="9144000" y="47625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6"/>
          <p:cNvSpPr/>
          <p:nvPr/>
        </p:nvSpPr>
        <p:spPr>
          <a:xfrm>
            <a:off x="0" y="0"/>
            <a:ext cx="9144000" cy="1019175"/>
          </a:xfrm>
          <a:custGeom>
            <a:rect b="b" l="l" r="r" t="t"/>
            <a:pathLst>
              <a:path extrusionOk="0" h="1019175" w="9144000">
                <a:moveTo>
                  <a:pt x="9144000" y="0"/>
                </a:moveTo>
                <a:lnTo>
                  <a:pt x="0" y="0"/>
                </a:lnTo>
                <a:lnTo>
                  <a:pt x="0" y="1019175"/>
                </a:lnTo>
                <a:lnTo>
                  <a:pt x="9144000" y="10191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6"/>
          <p:cNvSpPr txBox="1"/>
          <p:nvPr>
            <p:ph type="title"/>
          </p:nvPr>
        </p:nvSpPr>
        <p:spPr>
          <a:xfrm>
            <a:off x="938530" y="1716064"/>
            <a:ext cx="3696970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26"/>
          <p:cNvSpPr txBox="1"/>
          <p:nvPr>
            <p:ph idx="1" type="body"/>
          </p:nvPr>
        </p:nvSpPr>
        <p:spPr>
          <a:xfrm>
            <a:off x="614362" y="2117695"/>
            <a:ext cx="7790180" cy="444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6"/>
          <p:cNvSpPr txBox="1"/>
          <p:nvPr>
            <p:ph idx="11" type="ftr"/>
          </p:nvPr>
        </p:nvSpPr>
        <p:spPr>
          <a:xfrm>
            <a:off x="554672" y="6713609"/>
            <a:ext cx="523875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6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00000"/>
              </a:lnSpc>
              <a:spcBef>
                <a:spcPts val="0"/>
              </a:spcBef>
              <a:buNone/>
              <a:defRPr b="0" i="0" sz="900" u="none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rtl="0" algn="l">
              <a:lnSpc>
                <a:spcPct val="100000"/>
              </a:lnSpc>
              <a:spcBef>
                <a:spcPts val="0"/>
              </a:spcBef>
              <a:buNone/>
              <a:defRPr b="0" i="0" sz="900" u="none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rtl="0" algn="l">
              <a:lnSpc>
                <a:spcPct val="100000"/>
              </a:lnSpc>
              <a:spcBef>
                <a:spcPts val="0"/>
              </a:spcBef>
              <a:buNone/>
              <a:defRPr b="0" i="0" sz="900" u="none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rtl="0" algn="l">
              <a:lnSpc>
                <a:spcPct val="100000"/>
              </a:lnSpc>
              <a:spcBef>
                <a:spcPts val="0"/>
              </a:spcBef>
              <a:buNone/>
              <a:defRPr b="0" i="0" sz="900" u="none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rtl="0" algn="l">
              <a:lnSpc>
                <a:spcPct val="100000"/>
              </a:lnSpc>
              <a:spcBef>
                <a:spcPts val="0"/>
              </a:spcBef>
              <a:buNone/>
              <a:defRPr b="0" i="0" sz="900" u="none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rtl="0" algn="l">
              <a:lnSpc>
                <a:spcPct val="100000"/>
              </a:lnSpc>
              <a:spcBef>
                <a:spcPts val="0"/>
              </a:spcBef>
              <a:buNone/>
              <a:defRPr b="0" i="0" sz="900" u="none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rtl="0" algn="l">
              <a:lnSpc>
                <a:spcPct val="100000"/>
              </a:lnSpc>
              <a:spcBef>
                <a:spcPts val="0"/>
              </a:spcBef>
              <a:buNone/>
              <a:defRPr b="0" i="0" sz="900" u="none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rtl="0" algn="l">
              <a:lnSpc>
                <a:spcPct val="100000"/>
              </a:lnSpc>
              <a:spcBef>
                <a:spcPts val="0"/>
              </a:spcBef>
              <a:buNone/>
              <a:defRPr b="0" i="0" sz="900" u="none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rtl="0" algn="l">
              <a:lnSpc>
                <a:spcPct val="100000"/>
              </a:lnSpc>
              <a:spcBef>
                <a:spcPts val="0"/>
              </a:spcBef>
              <a:buNone/>
              <a:defRPr b="0" i="0" sz="900" u="none">
                <a:solidFill>
                  <a:srgbClr val="3E3E3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"/>
          <p:cNvGrpSpPr/>
          <p:nvPr/>
        </p:nvGrpSpPr>
        <p:grpSpPr>
          <a:xfrm>
            <a:off x="0" y="0"/>
            <a:ext cx="9220200" cy="6858000"/>
            <a:chOff x="0" y="0"/>
            <a:chExt cx="9144000" cy="6858000"/>
          </a:xfrm>
        </p:grpSpPr>
        <p:pic>
          <p:nvPicPr>
            <p:cNvPr id="51" name="Google Shape;51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" name="Google Shape;52;p1"/>
            <p:cNvSpPr/>
            <p:nvPr/>
          </p:nvSpPr>
          <p:spPr>
            <a:xfrm>
              <a:off x="0" y="0"/>
              <a:ext cx="9144000" cy="5133975"/>
            </a:xfrm>
            <a:custGeom>
              <a:rect b="b" l="l" r="r" t="t"/>
              <a:pathLst>
                <a:path extrusionOk="0" h="5133975" w="9144000">
                  <a:moveTo>
                    <a:pt x="9144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144000" y="51339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3" name="Google Shape;53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5086286"/>
              <a:ext cx="9144000" cy="1381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1"/>
            <p:cNvSpPr/>
            <p:nvPr/>
          </p:nvSpPr>
          <p:spPr>
            <a:xfrm>
              <a:off x="0" y="5124450"/>
              <a:ext cx="9144000" cy="47625"/>
            </a:xfrm>
            <a:custGeom>
              <a:rect b="b" l="l" r="r" t="t"/>
              <a:pathLst>
                <a:path extrusionOk="0" h="47625" w="9144000">
                  <a:moveTo>
                    <a:pt x="9144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44000" y="476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" name="Google Shape;55;p1"/>
          <p:cNvSpPr txBox="1"/>
          <p:nvPr/>
        </p:nvSpPr>
        <p:spPr>
          <a:xfrm>
            <a:off x="4813300" y="5224398"/>
            <a:ext cx="4330700" cy="1117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Dr. Mohammad Rezwanul Huq</a:t>
            </a:r>
            <a:endParaRPr/>
          </a:p>
          <a:p>
            <a:pPr indent="0" lvl="0" marL="12700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Associate Professor</a:t>
            </a:r>
            <a:endParaRPr/>
          </a:p>
          <a:p>
            <a:pPr indent="0" lvl="0" marL="12700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East West University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289560" y="1489626"/>
            <a:ext cx="88392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CSE488: Big Data Analytics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B0F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Lecture 4: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B0F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Data Flow Details &amp;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B0F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Algorithms using MapReduce</a:t>
            </a:r>
            <a:endParaRPr sz="3600">
              <a:solidFill>
                <a:srgbClr val="00B0F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57" name="Google Shape;57;p1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33311"/>
            <a:ext cx="5776976" cy="57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7300" y="1485900"/>
            <a:ext cx="657225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/>
          <p:nvPr/>
        </p:nvSpPr>
        <p:spPr>
          <a:xfrm>
            <a:off x="765492" y="6114097"/>
            <a:ext cx="7596505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All phases are distributed with many tasks doing the work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5" name="Google Shape;65;p2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33311"/>
            <a:ext cx="6358001" cy="57626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>
            <p:ph type="title"/>
          </p:nvPr>
        </p:nvSpPr>
        <p:spPr>
          <a:xfrm>
            <a:off x="614362" y="1347787"/>
            <a:ext cx="664464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MapReduce environment takes care of:</a:t>
            </a:r>
            <a:endParaRPr/>
          </a:p>
        </p:txBody>
      </p:sp>
      <p:sp>
        <p:nvSpPr>
          <p:cNvPr id="72" name="Google Shape;72;p3"/>
          <p:cNvSpPr txBox="1"/>
          <p:nvPr/>
        </p:nvSpPr>
        <p:spPr>
          <a:xfrm>
            <a:off x="614362" y="1833880"/>
            <a:ext cx="7678420" cy="3961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324485" lvl="0" marL="33655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Partitioning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input data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5080" rtl="0" algn="l">
              <a:lnSpc>
                <a:spcPct val="121875"/>
              </a:lnSpc>
              <a:spcBef>
                <a:spcPts val="75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Scheduling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program’s execution across a  set of machines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15468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Performing the </a:t>
            </a:r>
            <a:r>
              <a:rPr b="1" lang="en-US" sz="3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group by key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0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practice this is is the bottleneck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19843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Handling machine </a:t>
            </a:r>
            <a:r>
              <a:rPr b="1" lang="en-US" sz="32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failures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19656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Managing required inter-machine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3655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communication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/>
        </p:nvSpPr>
        <p:spPr>
          <a:xfrm>
            <a:off x="614362" y="1371600"/>
            <a:ext cx="7678420" cy="5428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324485" lvl="0" marL="33655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Input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Final Output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stored on the </a:t>
            </a:r>
            <a:r>
              <a:rPr lang="en-US" sz="32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DFS.</a:t>
            </a:r>
            <a:endParaRPr/>
          </a:p>
          <a:p>
            <a:pPr indent="-324485" lvl="1" marL="7937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Scheduler tries to schedule map tasks “close” to physical storage location of input data.</a:t>
            </a:r>
            <a:endParaRPr/>
          </a:p>
          <a:p>
            <a:pPr indent="-324485" lvl="1" marL="7937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Brings computation close to the data</a:t>
            </a:r>
            <a:endParaRPr/>
          </a:p>
          <a:p>
            <a:pPr indent="-324485" lvl="0" marL="3365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Intermediate results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stored on local file system of Map and Reduce worker nodes, if possible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reduce network traffic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24485" lvl="0" marL="3365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output could be an input of another MapReduce tasks.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614362" y="228600"/>
            <a:ext cx="60912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Data Flow Basics</a:t>
            </a:r>
            <a:endParaRPr sz="36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80" name="Google Shape;80;p4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 txBox="1"/>
          <p:nvPr/>
        </p:nvSpPr>
        <p:spPr>
          <a:xfrm>
            <a:off x="614362" y="1371600"/>
            <a:ext cx="7678420" cy="4953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324485" lvl="0" marL="33655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Master node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takes care of coordination. </a:t>
            </a:r>
            <a:endParaRPr/>
          </a:p>
          <a:p>
            <a:pPr indent="-324485" lvl="1" marL="7937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status: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idle, in-progress, completed</a:t>
            </a:r>
            <a:endParaRPr/>
          </a:p>
          <a:p>
            <a:pPr indent="-324485" lvl="1" marL="7937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Idle tasks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scheduled as worker becomes available</a:t>
            </a:r>
            <a:endParaRPr/>
          </a:p>
          <a:p>
            <a:pPr indent="-324485" lvl="1" marL="7937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map task completes, it sends the master the location and sizes of its R intermediate files, one for each reducer</a:t>
            </a:r>
            <a:endParaRPr/>
          </a:p>
          <a:p>
            <a:pPr indent="-324485" lvl="1" marL="7937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0" i="0" lang="en-US" sz="32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Master node pushes this info to reducers</a:t>
            </a:r>
            <a:endParaRPr/>
          </a:p>
          <a:p>
            <a:pPr indent="-324485" lvl="0" marL="3365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Master pings workers periodically to detect failures.</a:t>
            </a:r>
            <a:endParaRPr/>
          </a:p>
        </p:txBody>
      </p:sp>
      <p:sp>
        <p:nvSpPr>
          <p:cNvPr id="86" name="Google Shape;86;p5"/>
          <p:cNvSpPr txBox="1"/>
          <p:nvPr/>
        </p:nvSpPr>
        <p:spPr>
          <a:xfrm>
            <a:off x="614362" y="228600"/>
            <a:ext cx="60912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Coordination: Master Node</a:t>
            </a:r>
            <a:endParaRPr sz="36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87" name="Google Shape;87;p5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33311"/>
            <a:ext cx="5138801" cy="58578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 txBox="1"/>
          <p:nvPr/>
        </p:nvSpPr>
        <p:spPr>
          <a:xfrm>
            <a:off x="152400" y="919098"/>
            <a:ext cx="8763000" cy="5649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000">
            <a:spAutoFit/>
          </a:bodyPr>
          <a:lstStyle/>
          <a:p>
            <a:pPr indent="-324485" lvl="0" marL="336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Map worker failure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904240" rtl="0" algn="l">
              <a:lnSpc>
                <a:spcPct val="102400"/>
              </a:lnSpc>
              <a:spcBef>
                <a:spcPts val="66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 tasks completed or in-progress at  worker are reset to idle and rescheduled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82550" rtl="0" algn="l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workers are notified when map task is  rescheduled on another worker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Reduce worker failure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5080" rtl="0" algn="l">
              <a:lnSpc>
                <a:spcPct val="102400"/>
              </a:lnSpc>
              <a:spcBef>
                <a:spcPts val="66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in-progress tasks are reset to idle and the reduce task is restarted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5080" rtl="0" algn="l">
              <a:lnSpc>
                <a:spcPct val="102400"/>
              </a:lnSpc>
              <a:spcBef>
                <a:spcPts val="66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Idle reduce tasks rescheduled on other workers</a:t>
            </a:r>
            <a:endParaRPr/>
          </a:p>
          <a:p>
            <a:pPr indent="-175260" lvl="0" marL="175260" marR="5080" rtl="0" algn="l">
              <a:lnSpc>
                <a:spcPct val="102400"/>
              </a:lnSpc>
              <a:spcBef>
                <a:spcPts val="660"/>
              </a:spcBef>
              <a:spcAft>
                <a:spcPts val="0"/>
              </a:spcAft>
              <a:buClr>
                <a:srgbClr val="5FB5CC"/>
              </a:buClr>
              <a:buSzPts val="3200"/>
              <a:buFont typeface="Noto Sans Symbols"/>
              <a:buChar char="▪"/>
            </a:pPr>
            <a:r>
              <a:rPr b="1" lang="en-US" sz="3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Master Failure</a:t>
            </a:r>
            <a:endParaRPr/>
          </a:p>
          <a:p>
            <a:pPr indent="-276860" lvl="1" marL="632460" marR="5080" rtl="0" algn="l">
              <a:lnSpc>
                <a:spcPct val="102400"/>
              </a:lnSpc>
              <a:spcBef>
                <a:spcPts val="660"/>
              </a:spcBef>
              <a:spcAft>
                <a:spcPts val="0"/>
              </a:spcAft>
              <a:buClr>
                <a:srgbClr val="5FB5CC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MapReduce task is aborted and client is notified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951" y="1295400"/>
            <a:ext cx="7386098" cy="51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"/>
          <p:cNvSpPr txBox="1"/>
          <p:nvPr/>
        </p:nvSpPr>
        <p:spPr>
          <a:xfrm>
            <a:off x="614362" y="228600"/>
            <a:ext cx="78438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Execution of a MapReduce Program</a:t>
            </a:r>
            <a:endParaRPr sz="36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01" name="Google Shape;101;p7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/>
          <p:nvPr/>
        </p:nvSpPr>
        <p:spPr>
          <a:xfrm>
            <a:off x="614362" y="1219200"/>
            <a:ext cx="7678420" cy="5479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324485" lvl="0" marL="33655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map tasks, R reduce tasks</a:t>
            </a:r>
            <a:endParaRPr/>
          </a:p>
          <a:p>
            <a:pPr indent="-324485" lvl="0" marL="3365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Rule of thumb</a:t>
            </a:r>
            <a:endParaRPr/>
          </a:p>
          <a:p>
            <a:pPr indent="-324485" lvl="1" marL="7937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&gt; number of computing nodes</a:t>
            </a:r>
            <a:endParaRPr/>
          </a:p>
          <a:p>
            <a:pPr indent="-324485" lvl="1" marL="7937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DFS chunk per map task is common</a:t>
            </a:r>
            <a:endParaRPr/>
          </a:p>
          <a:p>
            <a:pPr indent="-324485" lvl="1" marL="7937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Improves dynamic load balancing and speeds up recovery from worker failures</a:t>
            </a:r>
            <a:endParaRPr/>
          </a:p>
          <a:p>
            <a:pPr indent="-324485" lvl="0" marL="3365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Usually R is smaller than M</a:t>
            </a:r>
            <a:endParaRPr/>
          </a:p>
          <a:p>
            <a:pPr indent="-324485" lvl="1" marL="7937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output is spread across R files</a:t>
            </a:r>
            <a:endParaRPr/>
          </a:p>
          <a:p>
            <a:pPr indent="-324485" lvl="1" marL="7937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0" i="0" lang="en-US" sz="32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Large number of files with partial output is troublesome.</a:t>
            </a:r>
            <a:endParaRPr/>
          </a:p>
          <a:p>
            <a:pPr indent="-162561" lvl="1" marL="7937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 txBox="1"/>
          <p:nvPr/>
        </p:nvSpPr>
        <p:spPr>
          <a:xfrm>
            <a:off x="614362" y="228600"/>
            <a:ext cx="74628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How many Map and Reduce jobs?</a:t>
            </a:r>
            <a:endParaRPr sz="36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08" name="Google Shape;108;p8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/>
          <p:nvPr/>
        </p:nvSpPr>
        <p:spPr>
          <a:xfrm>
            <a:off x="614362" y="1219200"/>
            <a:ext cx="7678500" cy="47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324485" lvl="0" marL="33655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Smaller number of reduce tasks, R &lt; M</a:t>
            </a:r>
            <a:endParaRPr/>
          </a:p>
          <a:p>
            <a:pPr indent="-324485" lvl="0" marL="3365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reduce tasks may contain multiple keys</a:t>
            </a:r>
            <a:endParaRPr/>
          </a:p>
          <a:p>
            <a:pPr indent="-324485" lvl="0" marL="3365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Different reducers may take different amount of time for a reduce tasks</a:t>
            </a:r>
            <a:endParaRPr/>
          </a:p>
          <a:p>
            <a:pPr indent="-324485" lvl="0" marL="3365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following situation – </a:t>
            </a:r>
            <a:r>
              <a:rPr lang="en-US" sz="32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one reduce task for each reducer</a:t>
            </a:r>
            <a:endParaRPr/>
          </a:p>
          <a:p>
            <a:pPr indent="-324485" lvl="0" marL="3365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Resulting into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Skew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 signiﬁcant diﬀerence in the amount of time each takes 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614362" y="228600"/>
            <a:ext cx="74628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Reduce Tasks, Reducer and Skew</a:t>
            </a:r>
            <a:endParaRPr sz="36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15" name="Google Shape;115;p9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/>
        </p:nvSpPr>
        <p:spPr>
          <a:xfrm>
            <a:off x="614362" y="1219200"/>
            <a:ext cx="76785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324485" lvl="0" marL="33655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Smaller number of reduce tasks than the number of reducers</a:t>
            </a:r>
            <a:endParaRPr/>
          </a:p>
          <a:p>
            <a:pPr indent="-324485" lvl="1" marL="7937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one reducer fails, immediately reschedule the reduce task in another node</a:t>
            </a:r>
            <a:endParaRPr/>
          </a:p>
          <a:p>
            <a:pPr indent="-324485" lvl="0" marL="3365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Larger number of reduce tasks than the number of reducers </a:t>
            </a:r>
            <a:endParaRPr/>
          </a:p>
          <a:p>
            <a:pPr indent="-324485" lvl="1" marL="7937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one reducer can execute a long reduce tasks, other reducers can execute multiple short reduce tasks.</a:t>
            </a:r>
            <a:endParaRPr/>
          </a:p>
        </p:txBody>
      </p:sp>
      <p:sp>
        <p:nvSpPr>
          <p:cNvPr id="121" name="Google Shape;121;p10"/>
          <p:cNvSpPr txBox="1"/>
          <p:nvPr/>
        </p:nvSpPr>
        <p:spPr>
          <a:xfrm>
            <a:off x="614362" y="228600"/>
            <a:ext cx="74628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Solution of Skew</a:t>
            </a:r>
            <a:endParaRPr sz="36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22" name="Google Shape;122;p10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/>
        </p:nvSpPr>
        <p:spPr>
          <a:xfrm>
            <a:off x="614362" y="1219200"/>
            <a:ext cx="7678420" cy="4914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324485" lvl="0" marL="33655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Smaller number of reduce tasks than the number of reducers</a:t>
            </a:r>
            <a:endParaRPr/>
          </a:p>
          <a:p>
            <a:pPr indent="-324485" lvl="1" marL="7937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one reducer fails, immediately reschedule the reduce task in another node</a:t>
            </a:r>
            <a:endParaRPr/>
          </a:p>
          <a:p>
            <a:pPr indent="0" lvl="0" marL="12065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Larger number of reduce tasks than the number of reducers </a:t>
            </a:r>
            <a:endParaRPr/>
          </a:p>
          <a:p>
            <a:pPr indent="-324485" lvl="1" marL="7937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one reducer can execute a long reduce tasks, other reducers can execute multiple short reduce tasks.</a:t>
            </a:r>
            <a:endParaRPr/>
          </a:p>
        </p:txBody>
      </p:sp>
      <p:sp>
        <p:nvSpPr>
          <p:cNvPr id="128" name="Google Shape;128;p11"/>
          <p:cNvSpPr txBox="1"/>
          <p:nvPr/>
        </p:nvSpPr>
        <p:spPr>
          <a:xfrm>
            <a:off x="614362" y="228600"/>
            <a:ext cx="74628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Solution of Skew</a:t>
            </a:r>
            <a:endParaRPr sz="36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29" name="Google Shape;129;p11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/>
          <p:nvPr/>
        </p:nvSpPr>
        <p:spPr>
          <a:xfrm>
            <a:off x="614362" y="1219200"/>
            <a:ext cx="7678420" cy="4928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324485" lvl="0" marL="33655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MapReduce is not a solution to every problem</a:t>
            </a:r>
            <a:endParaRPr/>
          </a:p>
          <a:p>
            <a:pPr indent="-324485" lvl="0" marL="3365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DFS makes sense only when ﬁles are very large and are rarely updated in place.</a:t>
            </a:r>
            <a:endParaRPr/>
          </a:p>
          <a:p>
            <a:pPr indent="-324485" lvl="0" marL="3365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Unlike a large online retailers.</a:t>
            </a:r>
            <a:endParaRPr/>
          </a:p>
          <a:p>
            <a:pPr indent="-324485" lvl="0" marL="3365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implementation of MapReduce was originally created to execute very large matrix-vector multiplications as are needed in the calculation of PageRank (search engine page ranking algorithm)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14362" y="228600"/>
            <a:ext cx="74628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Algorithms using MapReduce</a:t>
            </a:r>
            <a:endParaRPr sz="36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36" name="Google Shape;136;p12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/>
          <p:nvPr/>
        </p:nvSpPr>
        <p:spPr>
          <a:xfrm>
            <a:off x="614362" y="1219200"/>
            <a:ext cx="7678420" cy="249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324485" lvl="0" marL="33655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Given, a (n*n) matrix M and </a:t>
            </a:r>
            <a:endParaRPr/>
          </a:p>
          <a:p>
            <a:pPr indent="-324485" lvl="0" marL="3365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vector, V of length n. </a:t>
            </a:r>
            <a:endParaRPr/>
          </a:p>
          <a:p>
            <a:pPr indent="-324485" lvl="0" marL="3365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Find the result vector X.</a:t>
            </a:r>
            <a:endParaRPr/>
          </a:p>
          <a:p>
            <a:pPr indent="-162561" lvl="0" marL="3365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None/>
            </a:pPr>
            <a:r>
              <a:t/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1" lvl="0" marL="336550" marR="0" rtl="0" algn="l">
              <a:lnSpc>
                <a:spcPct val="119843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None/>
            </a:pPr>
            <a:r>
              <a:t/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614362" y="228600"/>
            <a:ext cx="74628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Matrix-Vector Multiplication (1)</a:t>
            </a:r>
            <a:endParaRPr sz="36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43" name="Google Shape;143;p13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228600" y="1143000"/>
            <a:ext cx="8686800" cy="5439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324485" lvl="0" marL="336550" marR="0" rtl="0" algn="l">
              <a:lnSpc>
                <a:spcPct val="136964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Assuming V can fit in the main memory of computing nodes</a:t>
            </a:r>
            <a:endParaRPr/>
          </a:p>
          <a:p>
            <a:pPr indent="-324485" lvl="0" marL="3365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lang="en-US" sz="2800">
                <a:solidFill>
                  <a:srgbClr val="528DD5"/>
                </a:solidFill>
                <a:latin typeface="Calibri"/>
                <a:ea typeface="Calibri"/>
                <a:cs typeface="Calibri"/>
                <a:sym typeface="Calibri"/>
              </a:rPr>
              <a:t>Map Function</a:t>
            </a:r>
            <a:endParaRPr/>
          </a:p>
          <a:p>
            <a:pPr indent="-324485" lvl="1" marL="7937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🡪 k, v where v = &lt;i, j,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  <a:p>
            <a:pPr indent="-324485" lvl="1" marL="7937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🡪 i,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*v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lang="en-US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Group by key</a:t>
            </a:r>
            <a:endParaRPr/>
          </a:p>
          <a:p>
            <a:pPr indent="-324485" lvl="1" marL="7937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terms of the sum that make up the component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matrix-vector product will get the same key, i.</a:t>
            </a:r>
            <a:endParaRPr/>
          </a:p>
          <a:p>
            <a:pPr indent="-324485" lvl="0" marL="3365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Reduce Function</a:t>
            </a:r>
            <a:endParaRPr/>
          </a:p>
          <a:p>
            <a:pPr indent="-324485" lvl="1" marL="7937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sums all the values associated  with  a  given  key  i. The result will be a pair (i,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614362" y="228600"/>
            <a:ext cx="74628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Matrix-Vector Multiplication (2)</a:t>
            </a:r>
            <a:endParaRPr sz="36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50" name="Google Shape;150;p14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/>
        </p:nvSpPr>
        <p:spPr>
          <a:xfrm>
            <a:off x="228600" y="1143000"/>
            <a:ext cx="8686800" cy="5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324485" lvl="0" marL="336550" marR="0" rtl="0" algn="l">
              <a:lnSpc>
                <a:spcPct val="136964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When V cannot fit in the main memory</a:t>
            </a:r>
            <a:endParaRPr/>
          </a:p>
          <a:p>
            <a:pPr indent="-324485" lvl="0" marL="3365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divide the matrix into vertical stripes of equal width and divide the vector into an equal number   of   horizontal stripes, of the same height.</a:t>
            </a:r>
            <a:endParaRPr/>
          </a:p>
          <a:p>
            <a:pPr indent="0" lvl="0" marL="12065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</a:t>
            </a:r>
            <a:endParaRPr/>
          </a:p>
          <a:p>
            <a:pPr indent="-182802" lvl="0" marL="3365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None/>
            </a:pPr>
            <a:r>
              <a:t/>
            </a:r>
            <a:endParaRPr sz="2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065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lang="en-US" sz="2800">
                <a:solidFill>
                  <a:srgbClr val="528DD5"/>
                </a:solidFill>
                <a:latin typeface="Calibri"/>
                <a:ea typeface="Calibri"/>
                <a:cs typeface="Calibri"/>
                <a:sym typeface="Calibri"/>
              </a:rPr>
              <a:t>The i</a:t>
            </a:r>
            <a:r>
              <a:rPr baseline="30000" lang="en-US" sz="2800">
                <a:solidFill>
                  <a:srgbClr val="528DD5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2800">
                <a:solidFill>
                  <a:srgbClr val="528DD5"/>
                </a:solidFill>
                <a:latin typeface="Calibri"/>
                <a:ea typeface="Calibri"/>
                <a:cs typeface="Calibri"/>
                <a:sym typeface="Calibri"/>
              </a:rPr>
              <a:t> stripe of the matrix multiplies only components from the i</a:t>
            </a:r>
            <a:r>
              <a:rPr baseline="30000" lang="en-US" sz="2800">
                <a:solidFill>
                  <a:srgbClr val="528DD5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2800">
                <a:solidFill>
                  <a:srgbClr val="528DD5"/>
                </a:solidFill>
                <a:latin typeface="Calibri"/>
                <a:ea typeface="Calibri"/>
                <a:cs typeface="Calibri"/>
                <a:sym typeface="Calibri"/>
              </a:rPr>
              <a:t> stripe of the vector.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614362" y="228600"/>
            <a:ext cx="74628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Matrix-Vector Multiplication (3)</a:t>
            </a:r>
            <a:endParaRPr sz="36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graphicFrame>
        <p:nvGraphicFramePr>
          <p:cNvPr id="157" name="Google Shape;157;p15"/>
          <p:cNvGraphicFramePr/>
          <p:nvPr/>
        </p:nvGraphicFramePr>
        <p:xfrm>
          <a:off x="614362" y="35204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{83E990D3-C347-41EB-86D9-AD1BF09BC91A}</a:tableStyleId>
              </a:tblPr>
              <a:tblGrid>
                <a:gridCol w="989400"/>
                <a:gridCol w="989400"/>
                <a:gridCol w="989400"/>
                <a:gridCol w="989400"/>
              </a:tblGrid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highlight>
                          <a:srgbClr val="00FF00"/>
                        </a:highlight>
                      </a:endParaRPr>
                    </a:p>
                  </a:txBody>
                  <a:tcPr marT="45725" marB="45725" marR="91450" marL="91450"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highlight>
                          <a:srgbClr val="00FF00"/>
                        </a:highlight>
                      </a:endParaRPr>
                    </a:p>
                  </a:txBody>
                  <a:tcPr marT="45725" marB="45725" marR="91450" marL="91450"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36609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highlight>
                          <a:srgbClr val="00FF00"/>
                        </a:highlight>
                      </a:endParaRPr>
                    </a:p>
                  </a:txBody>
                  <a:tcPr marT="45725" marB="45725" marR="91450" marL="91450"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highlight>
                          <a:srgbClr val="00FF00"/>
                        </a:highlight>
                      </a:endParaRPr>
                    </a:p>
                  </a:txBody>
                  <a:tcPr marT="45725" marB="45725" marR="91450" marL="91450"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36609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highlight>
                          <a:srgbClr val="00FF00"/>
                        </a:highlight>
                      </a:endParaRPr>
                    </a:p>
                  </a:txBody>
                  <a:tcPr marT="45725" marB="45725" marR="91450" marL="91450"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highlight>
                          <a:srgbClr val="00FF00"/>
                        </a:highlight>
                      </a:endParaRPr>
                    </a:p>
                  </a:txBody>
                  <a:tcPr marT="45725" marB="45725" marR="91450" marL="91450"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36609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highlight>
                          <a:srgbClr val="00FF00"/>
                        </a:highlight>
                      </a:endParaRPr>
                    </a:p>
                  </a:txBody>
                  <a:tcPr marT="45725" marB="45725" marR="91450" marL="91450"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highlight>
                          <a:srgbClr val="00FF00"/>
                        </a:highlight>
                      </a:endParaRPr>
                    </a:p>
                  </a:txBody>
                  <a:tcPr marT="45725" marB="45725" marR="91450" marL="91450"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36609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8" name="Google Shape;158;p15"/>
          <p:cNvGraphicFramePr/>
          <p:nvPr/>
        </p:nvGraphicFramePr>
        <p:xfrm>
          <a:off x="5399475" y="35204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{83E990D3-C347-41EB-86D9-AD1BF09BC91A}</a:tableStyleId>
              </a:tblPr>
              <a:tblGrid>
                <a:gridCol w="99060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93B3D7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93B3D7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366092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366092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15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 txBox="1"/>
          <p:nvPr/>
        </p:nvSpPr>
        <p:spPr>
          <a:xfrm>
            <a:off x="228600" y="1143000"/>
            <a:ext cx="8839200" cy="4439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324485" lvl="0" marL="336550" marR="0" rtl="0" algn="l">
              <a:lnSpc>
                <a:spcPct val="136964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many operations on data that can be described easily in terms of the common database-query primitives, even if the queries themselves are not executed within a database management system.</a:t>
            </a:r>
            <a:endParaRPr/>
          </a:p>
          <a:p>
            <a:pPr indent="-182802" lvl="0" marL="3365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None/>
            </a:pPr>
            <a:r>
              <a:t/>
            </a:r>
            <a:endParaRPr sz="2800">
              <a:solidFill>
                <a:srgbClr val="528DD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lang="en-US" sz="2800">
                <a:solidFill>
                  <a:srgbClr val="528DD5"/>
                </a:solidFill>
                <a:latin typeface="Calibri"/>
                <a:ea typeface="Calibri"/>
                <a:cs typeface="Calibri"/>
                <a:sym typeface="Calibri"/>
              </a:rPr>
              <a:t>Find the URLs referenced by ‘url1’.</a:t>
            </a:r>
            <a:endParaRPr/>
          </a:p>
          <a:p>
            <a:pPr indent="-324485" lvl="0" marL="3365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lang="en-US" sz="2800">
                <a:solidFill>
                  <a:srgbClr val="528DD5"/>
                </a:solidFill>
                <a:latin typeface="Calibri"/>
                <a:ea typeface="Calibri"/>
                <a:cs typeface="Calibri"/>
                <a:sym typeface="Calibri"/>
              </a:rPr>
              <a:t>Find the URLS referenced by ‘url1’ or </a:t>
            </a:r>
            <a:endParaRPr/>
          </a:p>
          <a:p>
            <a:pPr indent="0" lvl="0" marL="12065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28DD5"/>
                </a:solidFill>
                <a:latin typeface="Calibri"/>
                <a:ea typeface="Calibri"/>
                <a:cs typeface="Calibri"/>
                <a:sym typeface="Calibri"/>
              </a:rPr>
              <a:t>    ‘url2’.</a:t>
            </a:r>
            <a:endParaRPr/>
          </a:p>
          <a:p>
            <a:pPr indent="-315517" lvl="0" marL="469265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Arial"/>
              <a:buNone/>
            </a:pPr>
            <a:r>
              <a:t/>
            </a:r>
            <a:endParaRPr sz="2800">
              <a:solidFill>
                <a:srgbClr val="528DD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228600" y="228600"/>
            <a:ext cx="88392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Relational Algebra Operations in MapReduce</a:t>
            </a:r>
            <a:endParaRPr sz="32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166" name="Google Shape;1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9019" y="2884599"/>
            <a:ext cx="2781141" cy="281516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/>
        </p:nvSpPr>
        <p:spPr>
          <a:xfrm>
            <a:off x="228600" y="1219200"/>
            <a:ext cx="8839200" cy="4465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324485" lvl="0" marL="336550" marR="0" rtl="0" algn="l">
              <a:lnSpc>
                <a:spcPct val="136964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lang="en-US" sz="2800">
                <a:solidFill>
                  <a:srgbClr val="528DD5"/>
                </a:solidFill>
                <a:latin typeface="Calibri"/>
                <a:ea typeface="Calibri"/>
                <a:cs typeface="Calibri"/>
                <a:sym typeface="Calibri"/>
              </a:rPr>
              <a:t>Selection Operation</a:t>
            </a:r>
            <a:endParaRPr/>
          </a:p>
          <a:p>
            <a:pPr indent="-324485" lvl="1" marL="7937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Map Function:</a:t>
            </a:r>
            <a:endParaRPr/>
          </a:p>
          <a:p>
            <a:pPr indent="-324485" lvl="2" marL="12509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tuple t satisfies condition then emit (t,t) otherwise none</a:t>
            </a:r>
            <a:endParaRPr/>
          </a:p>
          <a:p>
            <a:pPr indent="-324485" lvl="1" marL="7937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Reduce Function:</a:t>
            </a:r>
            <a:endParaRPr/>
          </a:p>
          <a:p>
            <a:pPr indent="-324485" lvl="2" marL="12509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Identity function</a:t>
            </a:r>
            <a:endParaRPr/>
          </a:p>
          <a:p>
            <a:pPr indent="-324485" lvl="2" marL="12509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Emit (t,t) </a:t>
            </a:r>
            <a:endParaRPr/>
          </a:p>
          <a:p>
            <a:pPr indent="-324485" lvl="0" marL="3365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Projection Operation</a:t>
            </a:r>
            <a:endParaRPr/>
          </a:p>
          <a:p>
            <a:pPr indent="-324485" lvl="1" marL="793750" marR="0" rtl="0" algn="l">
              <a:lnSpc>
                <a:spcPct val="136964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231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2.3.5 from the textbook (MMDS)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228600" y="228600"/>
            <a:ext cx="8229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Selection and Projection in MapReduce</a:t>
            </a:r>
            <a:endParaRPr sz="32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74" name="Google Shape;174;p17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/>
        </p:nvSpPr>
        <p:spPr>
          <a:xfrm>
            <a:off x="228600" y="1143000"/>
            <a:ext cx="8839200" cy="4651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324485" lvl="0" marL="336550" marR="0" rtl="0" algn="l"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1912"/>
              <a:buFont typeface="Noto Sans Symbols"/>
              <a:buChar char="◼"/>
            </a:pPr>
            <a:r>
              <a:rPr lang="en-US" sz="2400">
                <a:solidFill>
                  <a:srgbClr val="528DD5"/>
                </a:solidFill>
                <a:latin typeface="Calibri"/>
                <a:ea typeface="Calibri"/>
                <a:cs typeface="Calibri"/>
                <a:sym typeface="Calibri"/>
              </a:rPr>
              <a:t>Set Union</a:t>
            </a:r>
            <a:endParaRPr/>
          </a:p>
          <a:p>
            <a:pPr indent="-324485" lvl="1" marL="793750" marR="0" rtl="0" algn="l"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1594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Map Function:</a:t>
            </a:r>
            <a:endParaRPr/>
          </a:p>
          <a:p>
            <a:pPr indent="-324485" lvl="1" marL="793750" marR="0" rtl="0" algn="l"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1594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Reduce Function:</a:t>
            </a:r>
            <a:endParaRPr/>
          </a:p>
          <a:p>
            <a:pPr indent="-223282" lvl="1" marL="793750" marR="0" rtl="0" algn="l"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1594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1912"/>
              <a:buFont typeface="Noto Sans Symbols"/>
              <a:buChar char="◼"/>
            </a:pPr>
            <a:r>
              <a:rPr lang="en-US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Set Intersection</a:t>
            </a:r>
            <a:endParaRPr/>
          </a:p>
          <a:p>
            <a:pPr indent="-324485" lvl="1" marL="793750" marR="0" rtl="0" algn="l"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1594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Map Function:</a:t>
            </a:r>
            <a:endParaRPr/>
          </a:p>
          <a:p>
            <a:pPr indent="-324485" lvl="1" marL="793750" marR="0" rtl="0" algn="l"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1594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Reduce Function:</a:t>
            </a:r>
            <a:endParaRPr/>
          </a:p>
          <a:p>
            <a:pPr indent="-223282" lvl="1" marL="793750" marR="0" rtl="0" algn="l"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1594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1912"/>
              <a:buFont typeface="Noto Sans Symbols"/>
              <a:buChar char="◼"/>
            </a:pPr>
            <a:r>
              <a:rPr lang="en-US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Set Difference</a:t>
            </a:r>
            <a:endParaRPr/>
          </a:p>
          <a:p>
            <a:pPr indent="-324485" lvl="1" marL="793750" marR="0" rtl="0" algn="l"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1594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Comparatively complicated</a:t>
            </a:r>
            <a:endParaRPr/>
          </a:p>
          <a:p>
            <a:pPr indent="-324485" lvl="1" marL="793750" marR="0" rtl="0" algn="l"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1594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Map Function: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tuple t in R, produce key-value   pair (t, R), and for a tuple t in S, produce a key-value   pair (t, S).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1" marL="793750" marR="0" rtl="0" algn="l"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1594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Reduce Function: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 each  key  t,  if  the  associated  value  list  is  [R],  then produce  (t, t).   Otherwise,  produce  nothing.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228600" y="228600"/>
            <a:ext cx="88392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Computing Set Operations in MapReduce</a:t>
            </a:r>
            <a:endParaRPr sz="32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81" name="Google Shape;181;p18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/>
        </p:nvSpPr>
        <p:spPr>
          <a:xfrm>
            <a:off x="614362" y="1347787"/>
            <a:ext cx="7237730" cy="1490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-324485" lvl="0" marL="33655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the natural join 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R(A,B) </a:t>
            </a:r>
            <a:r>
              <a:rPr b="1" lang="en-US" sz="3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⋈ 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S(B,C)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19656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each stored in files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Tuples are pairs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(a,b)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(b,c)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19"/>
          <p:cNvGraphicFramePr/>
          <p:nvPr/>
        </p:nvGraphicFramePr>
        <p:xfrm>
          <a:off x="298450" y="3575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{017AE584-C7AA-49E1-BE52-077580D899E3}</a:tableStyleId>
              </a:tblPr>
              <a:tblGrid>
                <a:gridCol w="1104900"/>
                <a:gridCol w="1104900"/>
              </a:tblGrid>
              <a:tr h="370850">
                <a:tc>
                  <a:txBody>
                    <a:bodyPr/>
                    <a:lstStyle/>
                    <a:p>
                      <a:pPr indent="0" lvl="0" marL="825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749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9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464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9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5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464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5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464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464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" name="Google Shape;188;p19"/>
          <p:cNvGraphicFramePr/>
          <p:nvPr/>
        </p:nvGraphicFramePr>
        <p:xfrm>
          <a:off x="3803650" y="3651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{017AE584-C7AA-49E1-BE52-077580D899E3}</a:tableStyleId>
              </a:tblPr>
              <a:tblGrid>
                <a:gridCol w="1104900"/>
                <a:gridCol w="1104900"/>
              </a:tblGrid>
              <a:tr h="370850">
                <a:tc>
                  <a:txBody>
                    <a:bodyPr/>
                    <a:lstStyle/>
                    <a:p>
                      <a:pPr indent="0" lvl="0" marL="1524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781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1079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9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91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9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1079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5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91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5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1079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91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19"/>
          <p:cNvSpPr txBox="1"/>
          <p:nvPr/>
        </p:nvSpPr>
        <p:spPr>
          <a:xfrm>
            <a:off x="2748533" y="4038917"/>
            <a:ext cx="532130" cy="758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⋈</a:t>
            </a:r>
            <a:endParaRPr sz="4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aphicFrame>
        <p:nvGraphicFramePr>
          <p:cNvPr id="190" name="Google Shape;190;p19"/>
          <p:cNvGraphicFramePr/>
          <p:nvPr/>
        </p:nvGraphicFramePr>
        <p:xfrm>
          <a:off x="6699250" y="3651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{017AE584-C7AA-49E1-BE52-077580D899E3}</a:tableStyleId>
              </a:tblPr>
              <a:tblGrid>
                <a:gridCol w="1104900"/>
                <a:gridCol w="1104900"/>
              </a:tblGrid>
              <a:tr h="370850">
                <a:tc>
                  <a:txBody>
                    <a:bodyPr/>
                    <a:lstStyle/>
                    <a:p>
                      <a:pPr indent="0" lvl="0" marL="2095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813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762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9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622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9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762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5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622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5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762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622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baseline="-25000"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aseline="-25000"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191" name="Google Shape;191;p19"/>
          <p:cNvSpPr txBox="1"/>
          <p:nvPr/>
        </p:nvSpPr>
        <p:spPr>
          <a:xfrm>
            <a:off x="6170929" y="4064317"/>
            <a:ext cx="338455" cy="758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=</a:t>
            </a:r>
            <a:endParaRPr sz="4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1306194" y="5593715"/>
            <a:ext cx="19113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4837684" y="5288597"/>
            <a:ext cx="17843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228600" y="228600"/>
            <a:ext cx="88392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Natural Join in MapReduce (1)</a:t>
            </a:r>
            <a:endParaRPr sz="32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95" name="Google Shape;195;p19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/>
        </p:nvSpPr>
        <p:spPr>
          <a:xfrm>
            <a:off x="614362" y="1347787"/>
            <a:ext cx="8153400" cy="526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-324485" lvl="0" marL="33655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 hash function 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B-values to 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1...k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A Map function turns: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0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input tuple </a:t>
            </a:r>
            <a:r>
              <a:rPr b="0" i="1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R(a,b) </a:t>
            </a: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into key-value pair </a:t>
            </a:r>
            <a:r>
              <a:rPr b="0" i="1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(b,(a,R))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0" rtl="0" algn="l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input tuple </a:t>
            </a:r>
            <a:r>
              <a:rPr b="0" i="1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S(b,c) </a:t>
            </a: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into </a:t>
            </a:r>
            <a:r>
              <a:rPr b="0" i="1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(b,(c,S))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316865" rtl="0" algn="l">
              <a:lnSpc>
                <a:spcPct val="101699"/>
              </a:lnSpc>
              <a:spcBef>
                <a:spcPts val="2495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Map task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 each key-value pair with  key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Reduce process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h(b)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0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Partitioner automatically do this. Only, set number of reduce tasks same as k. 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0" rtl="0" algn="l">
              <a:lnSpc>
                <a:spcPct val="119843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</a:t>
            </a:r>
            <a:r>
              <a:rPr b="1" lang="en-US" sz="32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Reduce task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matches all the pairs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3655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(b,(a,R))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all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(b,(c,S))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outputs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(a,b,c)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28600" y="228600"/>
            <a:ext cx="88392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Natural Join in MapReduce (2)</a:t>
            </a:r>
            <a:endParaRPr sz="3200">
              <a:solidFill>
                <a:srgbClr val="FFFF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02" name="Google Shape;202;p20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" y="342836"/>
            <a:ext cx="8682101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614362" y="1243913"/>
            <a:ext cx="8039100" cy="48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000">
            <a:spAutoFit/>
          </a:bodyPr>
          <a:lstStyle/>
          <a:p>
            <a:pPr indent="-324485" lvl="0" marL="336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MapReduce is great for: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0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Problems that require sequential data access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0" rtl="0" algn="l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batch jobs (</a:t>
            </a:r>
            <a:r>
              <a:rPr b="1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interactive, real-time)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5080" rtl="0" algn="l">
              <a:lnSpc>
                <a:spcPct val="119656"/>
              </a:lnSpc>
              <a:spcBef>
                <a:spcPts val="2695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MapReduce is inefficient for problems where  random (or irregular) access to data required: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Interdependent data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899160" marR="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E66C7C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89916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E66C7C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Comparisons of many pairs of items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450" y="323786"/>
            <a:ext cx="7234301" cy="59531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499744" y="1347787"/>
            <a:ext cx="7665720" cy="4932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-610235" lvl="0" marL="622935" marR="1168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In MapReduce we quantify the cost of an  algorithm using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10235" lvl="0" marL="622935" marR="890269" rtl="0" algn="l">
              <a:lnSpc>
                <a:spcPct val="121875"/>
              </a:lnSpc>
              <a:spcBef>
                <a:spcPts val="6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Calibri"/>
              <a:buAutoNum type="arabicPeriod"/>
            </a:pPr>
            <a:r>
              <a:rPr i="1" lang="en-US" sz="32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Communication cost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total I/O of all  processes</a:t>
            </a:r>
            <a:endParaRPr/>
          </a:p>
          <a:p>
            <a:pPr indent="-610235" lvl="0" marL="622935" marR="0" rtl="0" algn="l">
              <a:lnSpc>
                <a:spcPct val="115312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Calibri"/>
              <a:buAutoNum type="arabicPeriod"/>
            </a:pPr>
            <a:r>
              <a:rPr i="1" lang="en-US" sz="32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Elapsed communication cost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max of I/O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l">
              <a:lnSpc>
                <a:spcPct val="119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along any path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10235" lvl="0" marL="622935" marR="5080" rtl="0" algn="l">
              <a:lnSpc>
                <a:spcPct val="119656"/>
              </a:lnSpc>
              <a:spcBef>
                <a:spcPts val="13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Calibri"/>
              <a:buAutoNum type="arabicPeriod" startAt="3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32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Elapsed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i="1" lang="en-US" sz="32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computation cost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analogous, but  count only running time of processes</a:t>
            </a:r>
            <a:endParaRPr/>
          </a:p>
          <a:p>
            <a:pPr indent="0" lvl="0" marL="307975" marR="1184275" rtl="0" algn="l">
              <a:lnSpc>
                <a:spcPct val="100000"/>
              </a:lnSpc>
              <a:spcBef>
                <a:spcPts val="294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that here the big-O notation is not the most useful  (adding more machines is always an option)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2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33311"/>
            <a:ext cx="5977001" cy="57626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614362" y="1243913"/>
            <a:ext cx="7959090" cy="3785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000">
            <a:spAutoFit/>
          </a:bodyPr>
          <a:lstStyle/>
          <a:p>
            <a:pPr indent="-324485" lvl="0" marL="3365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rgbClr val="D50092"/>
                </a:solidFill>
                <a:latin typeface="Calibri"/>
                <a:ea typeface="Calibri"/>
                <a:cs typeface="Calibri"/>
                <a:sym typeface="Calibri"/>
              </a:rPr>
              <a:t>For a map-reduce algorithm: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5080" rtl="0" algn="just">
              <a:lnSpc>
                <a:spcPct val="102400"/>
              </a:lnSpc>
              <a:spcBef>
                <a:spcPts val="66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1" i="0" lang="en-US" sz="275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Communication cost = </a:t>
            </a: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file size + 2 </a:t>
            </a:r>
            <a:r>
              <a:rPr b="0" i="0" lang="en-US" sz="275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×</a:t>
            </a:r>
            <a:r>
              <a:rPr b="0" i="0" lang="en-US" sz="27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(sum of  the sizes of all files passed from Map processes to  Reduce processes) + the sum of the output sizes of  the Reduce processes.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451484" rtl="0" algn="l">
              <a:lnSpc>
                <a:spcPct val="102400"/>
              </a:lnSpc>
              <a:spcBef>
                <a:spcPts val="60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1" i="0" lang="en-US" sz="275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Elapsed communication cost </a:t>
            </a: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sum of the  largest input + output for any map process, plus  the same for any reduce process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333311"/>
            <a:ext cx="6529451" cy="452437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614362" y="1347787"/>
            <a:ext cx="7828280" cy="444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-324485" lvl="0" marL="33655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Either the I/O (communication) or processing  (computation) cost dominates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Ignore one or the other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5FB5CC"/>
              </a:buClr>
              <a:buSzPts val="3250"/>
              <a:buFont typeface="Noto Sans Symbols"/>
              <a:buNone/>
            </a:pPr>
            <a:r>
              <a:t/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774700" rtl="0" algn="l">
              <a:lnSpc>
                <a:spcPct val="119656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cost tells what you pay in rent from  your friendly neighborhood cloud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EFAC00"/>
              </a:buClr>
              <a:buSzPts val="3050"/>
              <a:buFont typeface="Noto Sans Symbols"/>
              <a:buNone/>
            </a:pPr>
            <a:r>
              <a:t/>
            </a:r>
            <a:endParaRPr sz="3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154495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Elapsed cost is wall-clock time using  parallelism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4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450" y="323786"/>
            <a:ext cx="6024626" cy="585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/>
        </p:nvSpPr>
        <p:spPr>
          <a:xfrm>
            <a:off x="614362" y="1300162"/>
            <a:ext cx="467360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-324485" lvl="0" marL="336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1" lang="en-US" sz="3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Total communication cost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 txBox="1"/>
          <p:nvPr>
            <p:ph type="title"/>
          </p:nvPr>
        </p:nvSpPr>
        <p:spPr>
          <a:xfrm>
            <a:off x="938530" y="1716064"/>
            <a:ext cx="3696970" cy="54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/>
              <a:t>O(|R|+|S|+|R </a:t>
            </a:r>
            <a:r>
              <a:rPr i="1" lang="en-US" sz="3400">
                <a:latin typeface="Cambria Math"/>
                <a:ea typeface="Cambria Math"/>
                <a:cs typeface="Cambria Math"/>
                <a:sym typeface="Cambria Math"/>
              </a:rPr>
              <a:t>⋈ </a:t>
            </a:r>
            <a:r>
              <a:rPr lang="en-US"/>
              <a:t>S|)</a:t>
            </a:r>
            <a:endParaRPr sz="3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38" name="Google Shape;238;p25"/>
          <p:cNvSpPr txBox="1"/>
          <p:nvPr>
            <p:ph idx="1" type="body"/>
          </p:nvPr>
        </p:nvSpPr>
        <p:spPr>
          <a:xfrm>
            <a:off x="614362" y="2117695"/>
            <a:ext cx="7790180" cy="444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550">
            <a:spAutoFit/>
          </a:bodyPr>
          <a:lstStyle/>
          <a:p>
            <a:pPr indent="-324485" lvl="0" marL="336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lang="en-US"/>
              <a:t>Elapsed communication cost </a:t>
            </a:r>
            <a:r>
              <a:rPr b="0"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b="0" i="1"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O(s)</a:t>
            </a:r>
            <a:endParaRPr/>
          </a:p>
          <a:p>
            <a:pPr indent="-276860" lvl="1" marL="632460" marR="588010" rtl="0" algn="l">
              <a:lnSpc>
                <a:spcPct val="109454"/>
              </a:lnSpc>
              <a:spcBef>
                <a:spcPts val="785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lang="en-US" sz="2750">
                <a:latin typeface="Calibri"/>
                <a:ea typeface="Calibri"/>
                <a:cs typeface="Calibri"/>
                <a:sym typeface="Calibri"/>
              </a:rPr>
              <a:t>We’re going to pick </a:t>
            </a:r>
            <a:r>
              <a:rPr b="1" i="1" lang="en-US" sz="2750"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lang="en-US" sz="2750">
                <a:latin typeface="Calibri"/>
                <a:ea typeface="Calibri"/>
                <a:cs typeface="Calibri"/>
                <a:sym typeface="Calibri"/>
              </a:rPr>
              <a:t>and the number of Map  processes so that the I/O limit </a:t>
            </a:r>
            <a:r>
              <a:rPr b="1" i="1" lang="en-US" sz="2750"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n-US" sz="2750">
                <a:latin typeface="Calibri"/>
                <a:ea typeface="Calibri"/>
                <a:cs typeface="Calibri"/>
                <a:sym typeface="Calibri"/>
              </a:rPr>
              <a:t>is respected</a:t>
            </a:r>
            <a:endParaRPr sz="2750">
              <a:latin typeface="Calibri"/>
              <a:ea typeface="Calibri"/>
              <a:cs typeface="Calibri"/>
              <a:sym typeface="Calibri"/>
            </a:endParaRPr>
          </a:p>
          <a:p>
            <a:pPr indent="-276860" lvl="1" marL="632460" marR="5080" rtl="0" algn="l">
              <a:lnSpc>
                <a:spcPct val="112000"/>
              </a:lnSpc>
              <a:spcBef>
                <a:spcPts val="605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lang="en-US" sz="2750">
                <a:latin typeface="Calibri"/>
                <a:ea typeface="Calibri"/>
                <a:cs typeface="Calibri"/>
                <a:sym typeface="Calibri"/>
              </a:rPr>
              <a:t>We put a limit </a:t>
            </a:r>
            <a:r>
              <a:rPr b="1" i="1" lang="en-US" sz="2750"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n-US" sz="2750">
                <a:latin typeface="Calibri"/>
                <a:ea typeface="Calibri"/>
                <a:cs typeface="Calibri"/>
                <a:sym typeface="Calibri"/>
              </a:rPr>
              <a:t>on the amount of input or output  that any one process can have. </a:t>
            </a:r>
            <a:r>
              <a:rPr b="1" i="1" lang="en-US" sz="2750"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b="1" lang="en-US" sz="2750">
                <a:latin typeface="Calibri"/>
                <a:ea typeface="Calibri"/>
                <a:cs typeface="Calibri"/>
                <a:sym typeface="Calibri"/>
              </a:rPr>
              <a:t>could be:</a:t>
            </a:r>
            <a:endParaRPr sz="2750"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89916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E66C7C"/>
              </a:buClr>
              <a:buSzPts val="2400"/>
              <a:buFont typeface="Noto Sans Symbols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What fits in main memory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899160" rtl="0" algn="l">
              <a:lnSpc>
                <a:spcPct val="112291"/>
              </a:lnSpc>
              <a:spcBef>
                <a:spcPts val="275"/>
              </a:spcBef>
              <a:spcAft>
                <a:spcPts val="0"/>
              </a:spcAft>
              <a:buClr>
                <a:srgbClr val="E66C7C"/>
              </a:buClr>
              <a:buSzPts val="2400"/>
              <a:buFont typeface="Noto Sans Symbols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What fits on local disk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24485" lvl="0" marL="336550" marR="665480" rtl="0" algn="l">
              <a:lnSpc>
                <a:spcPct val="107812"/>
              </a:lnSpc>
              <a:spcBef>
                <a:spcPts val="250"/>
              </a:spcBef>
              <a:spcAft>
                <a:spcPts val="0"/>
              </a:spcAft>
              <a:buClr>
                <a:srgbClr val="EFAC00"/>
              </a:buClr>
              <a:buSzPts val="2550"/>
              <a:buFont typeface="Noto Sans Symbols"/>
              <a:buChar char="◼"/>
            </a:pPr>
            <a:r>
              <a:rPr b="0"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proper indexes, computation cost is  linear in the input + output size</a:t>
            </a:r>
            <a:endParaRPr/>
          </a:p>
          <a:p>
            <a:pPr indent="-276860" lvl="1" marL="63246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5FB5CC"/>
              </a:buClr>
              <a:buSzPts val="2750"/>
              <a:buFont typeface="Noto Sans Symbols"/>
              <a:buChar char="▪"/>
            </a:pPr>
            <a:r>
              <a:rPr lang="en-US" sz="2750">
                <a:latin typeface="Calibri"/>
                <a:ea typeface="Calibri"/>
                <a:cs typeface="Calibri"/>
                <a:sym typeface="Calibri"/>
              </a:rPr>
              <a:t>So, computation cost is like communication cost</a:t>
            </a:r>
            <a:endParaRPr sz="27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 txBox="1"/>
          <p:nvPr>
            <p:ph idx="12" type="sldNum"/>
          </p:nvPr>
        </p:nvSpPr>
        <p:spPr>
          <a:xfrm>
            <a:off x="8704960" y="6713609"/>
            <a:ext cx="190500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2021-10-23T05:40:18Z</dcterms:created>
  <dc:creator>Rezwan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2021-03-30T00:00:00Z</vt:filetime>
  </property>
  <property fmtid="{D5CDD505-2E9C-101B-9397-08002B2CF9AE}" pid="3" name="LastSaved">
    <vt:filetime>2021-10-23T00:00:00Z</vt:filetime>
  </property>
</Properties>
</file>